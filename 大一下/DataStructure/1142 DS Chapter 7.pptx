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365" r:id="rId2"/>
    <p:sldId id="366" r:id="rId3"/>
    <p:sldId id="367" r:id="rId4"/>
    <p:sldId id="368" r:id="rId5"/>
    <p:sldId id="369" r:id="rId6"/>
    <p:sldId id="370" r:id="rId7"/>
    <p:sldId id="371" r:id="rId8"/>
    <p:sldId id="372" r:id="rId9"/>
    <p:sldId id="373" r:id="rId10"/>
  </p:sldIdLst>
  <p:sldSz cx="9144000" cy="6858000" type="screen4x3"/>
  <p:notesSz cx="6807200" cy="99393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DCDDE"/>
    <a:srgbClr val="E8E8EF"/>
    <a:srgbClr val="FFFFCC"/>
    <a:srgbClr val="820000"/>
    <a:srgbClr val="700000"/>
    <a:srgbClr val="9E0000"/>
    <a:srgbClr val="323232"/>
    <a:srgbClr val="333399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0932" autoAdjust="0"/>
  </p:normalViewPr>
  <p:slideViewPr>
    <p:cSldViewPr>
      <p:cViewPr varScale="1">
        <p:scale>
          <a:sx n="86" d="100"/>
          <a:sy n="86" d="100"/>
        </p:scale>
        <p:origin x="133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r">
              <a:defRPr sz="1200"/>
            </a:lvl1pPr>
          </a:lstStyle>
          <a:p>
            <a:fld id="{7F921807-99F1-4DF0-94D7-7548FA810751}" type="datetimeFigureOut">
              <a:rPr lang="zh-TW" altLang="en-US" smtClean="0"/>
              <a:pPr/>
              <a:t>2026/1/27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42" tIns="45921" rIns="91842" bIns="45921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3"/>
          </a:xfrm>
          <a:prstGeom prst="rect">
            <a:avLst/>
          </a:prstGeom>
        </p:spPr>
        <p:txBody>
          <a:bodyPr vert="horz" lIns="91842" tIns="45921" rIns="91842" bIns="45921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r">
              <a:defRPr sz="1200"/>
            </a:lvl1pPr>
          </a:lstStyle>
          <a:p>
            <a:fld id="{6C24E503-88D4-45A6-8EBB-14391082A01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5129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CA57-9D53-411D-9D3B-645A04C6A56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1220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075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3233" y="225653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2483768" y="4530498"/>
            <a:ext cx="6552728" cy="1676400"/>
          </a:xfrm>
        </p:spPr>
        <p:txBody>
          <a:bodyPr/>
          <a:lstStyle>
            <a:lvl1pPr marL="0" indent="0" algn="ctr">
              <a:buFontTx/>
              <a:buNone/>
              <a:defRPr b="1"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2026/03/18</a:t>
            </a:r>
            <a:endParaRPr lang="en-US" altLang="zh-TW"/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924896" y="2394158"/>
            <a:ext cx="6111600" cy="1860612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18" name="矩形 17"/>
          <p:cNvSpPr/>
          <p:nvPr userDrawn="1"/>
        </p:nvSpPr>
        <p:spPr>
          <a:xfrm>
            <a:off x="3233" y="425477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4300993" y="6581001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 smtClean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12" name="Picture 2" descr="C:\Users\admin\Dropbox\世暘&amp;莉淳\相片\DSC_9359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92" y="2382770"/>
            <a:ext cx="2812457" cy="1872000"/>
          </a:xfrm>
          <a:prstGeom prst="rect">
            <a:avLst/>
          </a:prstGeom>
          <a:noFill/>
        </p:spPr>
      </p:pic>
      <p:pic>
        <p:nvPicPr>
          <p:cNvPr id="20" name="圖片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458" y="1161633"/>
            <a:ext cx="3566038" cy="108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504" y="0"/>
            <a:ext cx="6861448" cy="1143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950" y="1268760"/>
            <a:ext cx="8928100" cy="532730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2026/03/18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3F35E6-A8E7-488D-BD9F-ED9A7F7FA10F}" type="slidenum">
              <a:rPr lang="en-US" altLang="zh-TW"/>
              <a:pPr/>
              <a:t>‹#›</a:t>
            </a:fld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2026/03/18</a:t>
            </a: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183EC-7050-45EB-9E88-B86B53D28D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0795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2026/03/18</a:t>
            </a: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B32F3C-BFB5-4433-80F2-31E4E599C271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2026/03/18</a:t>
            </a:r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C71ADB-DDEF-4830-B9BC-5050A26247AE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2026/03/18</a:t>
            </a:r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38238B-CE9D-4BC3-843E-48DE31256F2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2026/03/18</a:t>
            </a: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9989FA-7C75-4428-B4F8-334FD7721128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2026/03/18</a:t>
            </a: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4ED4DE-EAF4-4F9D-92A9-54CDF4DC460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2026/03/18</a:t>
            </a: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DBED88-20FD-46BD-AA27-41E91F90C6D7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2026/03/18</a:t>
            </a: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5973D2-4DDA-41F5-8DAD-51687E6176F5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04025" y="0"/>
            <a:ext cx="2232025" cy="6596063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07950" y="0"/>
            <a:ext cx="6543675" cy="6596063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2026/03/18</a:t>
            </a: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BEB42-A2EB-4830-8F53-FDF4A3AEB5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86816" y="0"/>
            <a:ext cx="6861448" cy="1143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按一下以編輯母片標題樣式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040" y="1250328"/>
            <a:ext cx="8940456" cy="53457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en-US" altLang="zh-TW" smtClean="0"/>
              <a:t>2026/03/18</a:t>
            </a:r>
            <a:endParaRPr lang="en-US" altLang="zh-TW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97650"/>
            <a:ext cx="28956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latin typeface="+mn-lt"/>
                <a:cs typeface="Angsana New" pitchFamily="18" charset="-34"/>
              </a:defRPr>
            </a:lvl1pPr>
          </a:lstStyle>
          <a:p>
            <a:fld id="{88815D73-EF14-4780-98ED-F121D5ADB135}" type="slidenum">
              <a:rPr lang="en-US" altLang="zh-TW"/>
              <a:pPr/>
              <a:t>‹#›</a:t>
            </a:fld>
            <a:endParaRPr lang="en-US" altLang="zh-TW"/>
          </a:p>
        </p:txBody>
      </p:sp>
      <p:sp>
        <p:nvSpPr>
          <p:cNvPr id="16" name="矩形 15"/>
          <p:cNvSpPr/>
          <p:nvPr userDrawn="1"/>
        </p:nvSpPr>
        <p:spPr>
          <a:xfrm>
            <a:off x="0" y="1160664"/>
            <a:ext cx="9144000" cy="72000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4343620" y="935059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 smtClean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43" y="18248"/>
            <a:ext cx="2133600" cy="64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chemeClr val="tx1"/>
          </a:solidFill>
          <a:latin typeface="+mj-lt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DATA</a:t>
            </a:r>
            <a:r>
              <a:rPr lang="zh-TW" altLang="en-US" dirty="0" smtClean="0"/>
              <a:t> </a:t>
            </a:r>
            <a:r>
              <a:rPr lang="en-US" altLang="zh-TW" dirty="0" smtClean="0"/>
              <a:t>STRUCTURES</a:t>
            </a:r>
            <a:br>
              <a:rPr lang="en-US" altLang="zh-TW" dirty="0" smtClean="0"/>
            </a:br>
            <a:r>
              <a:rPr lang="zh-TW" altLang="en-US" dirty="0" smtClean="0"/>
              <a:t>資料結構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zh-TW" dirty="0"/>
              <a:t>Chia-Wei Lee </a:t>
            </a:r>
            <a:r>
              <a:rPr lang="zh-TW" altLang="en-US" dirty="0"/>
              <a:t>李佳衛</a:t>
            </a:r>
          </a:p>
          <a:p>
            <a:pPr algn="r"/>
            <a:r>
              <a:rPr lang="en-US" altLang="zh-TW" dirty="0"/>
              <a:t>cwlee@utaipei.edu.tw</a:t>
            </a:r>
          </a:p>
          <a:p>
            <a:pPr algn="r"/>
            <a:r>
              <a:rPr lang="en-US" altLang="zh-TW" dirty="0"/>
              <a:t>Department of Computer Science</a:t>
            </a:r>
          </a:p>
          <a:p>
            <a:pPr algn="r"/>
            <a:r>
              <a:rPr lang="en-US" altLang="zh-TW" dirty="0"/>
              <a:t>University of Taipei</a:t>
            </a:r>
          </a:p>
        </p:txBody>
      </p:sp>
    </p:spTree>
    <p:extLst>
      <p:ext uri="{BB962C8B-B14F-4D97-AF65-F5344CB8AC3E}">
        <p14:creationId xmlns:p14="http://schemas.microsoft.com/office/powerpoint/2010/main" val="1714987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二元搜尋樹 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Binary Search Tree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定義：二元搜尋樹可以是空集合，若不是空集合，則每一個節點均含有一鍵值</a:t>
            </a:r>
            <a:r>
              <a:rPr lang="en-US" altLang="zh-TW" dirty="0" smtClean="0"/>
              <a:t>(key value)</a:t>
            </a:r>
            <a:r>
              <a:rPr lang="zh-TW" altLang="en-US" dirty="0" smtClean="0"/>
              <a:t>，且具有以下特性：</a:t>
            </a:r>
            <a:endParaRPr lang="en-US" altLang="zh-TW" dirty="0" smtClean="0"/>
          </a:p>
          <a:p>
            <a:pPr lvl="1"/>
            <a:r>
              <a:rPr lang="zh-TW" altLang="en-US" dirty="0">
                <a:solidFill>
                  <a:srgbClr val="C00000"/>
                </a:solidFill>
              </a:rPr>
              <a:t>左</a:t>
            </a:r>
            <a:r>
              <a:rPr lang="zh-TW" altLang="en-US" dirty="0" smtClean="0"/>
              <a:t>子樹的所有鍵值均</a:t>
            </a:r>
            <a:r>
              <a:rPr lang="zh-TW" altLang="en-US" dirty="0" smtClean="0">
                <a:solidFill>
                  <a:srgbClr val="C00000"/>
                </a:solidFill>
              </a:rPr>
              <a:t>小</a:t>
            </a:r>
            <a:r>
              <a:rPr lang="zh-TW" altLang="en-US" dirty="0" smtClean="0"/>
              <a:t>於樹根的鍵值</a:t>
            </a:r>
            <a:endParaRPr lang="en-US" altLang="zh-TW" dirty="0" smtClean="0"/>
          </a:p>
          <a:p>
            <a:pPr lvl="1"/>
            <a:r>
              <a:rPr lang="zh-TW" altLang="en-US" dirty="0" smtClean="0">
                <a:solidFill>
                  <a:srgbClr val="C00000"/>
                </a:solidFill>
              </a:rPr>
              <a:t>右</a:t>
            </a:r>
            <a:r>
              <a:rPr lang="zh-TW" altLang="en-US" dirty="0" smtClean="0"/>
              <a:t>子樹的所有鍵值均</a:t>
            </a:r>
            <a:r>
              <a:rPr lang="zh-TW" altLang="en-US" dirty="0" smtClean="0">
                <a:solidFill>
                  <a:srgbClr val="C00000"/>
                </a:solidFill>
              </a:rPr>
              <a:t>大</a:t>
            </a:r>
            <a:r>
              <a:rPr lang="zh-TW" altLang="en-US" dirty="0" smtClean="0"/>
              <a:t>於樹根的鍵值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左子樹和右子樹亦是二元搜尋樹</a:t>
            </a:r>
            <a:endParaRPr lang="en-US" altLang="zh-TW" dirty="0" smtClean="0"/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每個鍵值都不一</a:t>
            </a:r>
            <a:r>
              <a:rPr lang="zh-TW" altLang="en-US" dirty="0">
                <a:solidFill>
                  <a:srgbClr val="0000FF"/>
                </a:solidFill>
              </a:rPr>
              <a:t>樣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 smtClean="0"/>
              <a:t>對</a:t>
            </a:r>
            <a:r>
              <a:rPr lang="zh-TW" altLang="en-US" dirty="0"/>
              <a:t>二元搜尋樹中每一個</a:t>
            </a:r>
            <a:r>
              <a:rPr lang="zh-TW" altLang="en-US" dirty="0">
                <a:solidFill>
                  <a:srgbClr val="C00000"/>
                </a:solidFill>
              </a:rPr>
              <a:t>內部節點</a:t>
            </a:r>
            <a:r>
              <a:rPr lang="zh-TW" altLang="en-US" dirty="0"/>
              <a:t>而言，它的</a:t>
            </a:r>
            <a:r>
              <a:rPr lang="zh-TW" altLang="en-US" dirty="0">
                <a:solidFill>
                  <a:srgbClr val="C00000"/>
                </a:solidFill>
              </a:rPr>
              <a:t>左子樹</a:t>
            </a:r>
            <a:r>
              <a:rPr lang="zh-TW" altLang="en-US" dirty="0"/>
              <a:t>所有節點的資料值，都</a:t>
            </a:r>
            <a:r>
              <a:rPr lang="zh-TW" altLang="en-US" dirty="0">
                <a:solidFill>
                  <a:srgbClr val="C00000"/>
                </a:solidFill>
              </a:rPr>
              <a:t>小於</a:t>
            </a:r>
            <a:r>
              <a:rPr lang="zh-TW" altLang="en-US" dirty="0"/>
              <a:t>它的資料值，它的</a:t>
            </a:r>
            <a:r>
              <a:rPr lang="zh-TW" altLang="en-US" dirty="0">
                <a:solidFill>
                  <a:srgbClr val="C00000"/>
                </a:solidFill>
              </a:rPr>
              <a:t>右子樹</a:t>
            </a:r>
            <a:r>
              <a:rPr lang="zh-TW" altLang="en-US" dirty="0"/>
              <a:t>所有節點的資料值，都</a:t>
            </a:r>
            <a:r>
              <a:rPr lang="zh-TW" altLang="en-US" dirty="0">
                <a:solidFill>
                  <a:srgbClr val="C00000"/>
                </a:solidFill>
              </a:rPr>
              <a:t>大於</a:t>
            </a:r>
            <a:r>
              <a:rPr lang="zh-TW" altLang="en-US" dirty="0"/>
              <a:t>它的資料</a:t>
            </a:r>
            <a:r>
              <a:rPr lang="zh-TW" altLang="en-US" dirty="0" smtClean="0"/>
              <a:t>值。</a:t>
            </a:r>
            <a:endParaRPr lang="en-US" altLang="zh-TW" dirty="0" smtClean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899476" y="521837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1222583" y="469773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1914314" y="470352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2600574" y="469773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3292305" y="470352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8" idx="4"/>
            <a:endCxn id="7" idx="0"/>
          </p:cNvCxnSpPr>
          <p:nvPr/>
        </p:nvCxnSpPr>
        <p:spPr>
          <a:xfrm flipH="1">
            <a:off x="1043476" y="4985735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1564794" y="415139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2940330" y="415139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2240333" y="362230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4" idx="4"/>
            <a:endCxn id="11" idx="0"/>
          </p:cNvCxnSpPr>
          <p:nvPr/>
        </p:nvCxnSpPr>
        <p:spPr>
          <a:xfrm>
            <a:off x="3084330" y="4439395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4" idx="4"/>
            <a:endCxn id="10" idx="0"/>
          </p:cNvCxnSpPr>
          <p:nvPr/>
        </p:nvCxnSpPr>
        <p:spPr>
          <a:xfrm flipH="1">
            <a:off x="2744574" y="4439395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3" idx="4"/>
            <a:endCxn id="9" idx="0"/>
          </p:cNvCxnSpPr>
          <p:nvPr/>
        </p:nvCxnSpPr>
        <p:spPr>
          <a:xfrm>
            <a:off x="1708794" y="4439395"/>
            <a:ext cx="349520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3" idx="4"/>
            <a:endCxn id="8" idx="0"/>
          </p:cNvCxnSpPr>
          <p:nvPr/>
        </p:nvCxnSpPr>
        <p:spPr>
          <a:xfrm flipH="1">
            <a:off x="1366583" y="4439395"/>
            <a:ext cx="34221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2384333" y="3910308"/>
            <a:ext cx="699997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4"/>
            <a:endCxn id="13" idx="0"/>
          </p:cNvCxnSpPr>
          <p:nvPr/>
        </p:nvCxnSpPr>
        <p:spPr>
          <a:xfrm flipH="1">
            <a:off x="1708794" y="3910308"/>
            <a:ext cx="675539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2187452" y="357301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1508982" y="410210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2884683" y="4093477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1158833" y="464844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1852794" y="464844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2536824" y="4645602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3236956" y="464844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835726" y="5168858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橢圓 32"/>
          <p:cNvSpPr/>
          <p:nvPr/>
        </p:nvSpPr>
        <p:spPr>
          <a:xfrm>
            <a:off x="1559471" y="521977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/>
          <p:cNvSpPr/>
          <p:nvPr/>
        </p:nvSpPr>
        <p:spPr>
          <a:xfrm>
            <a:off x="2251202" y="521977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5" name="直線接點 34"/>
          <p:cNvCxnSpPr>
            <a:stCxn id="9" idx="4"/>
            <a:endCxn id="33" idx="0"/>
          </p:cNvCxnSpPr>
          <p:nvPr/>
        </p:nvCxnSpPr>
        <p:spPr>
          <a:xfrm flipH="1">
            <a:off x="1703471" y="4991520"/>
            <a:ext cx="354843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>
            <a:stCxn id="9" idx="4"/>
            <a:endCxn id="34" idx="0"/>
          </p:cNvCxnSpPr>
          <p:nvPr/>
        </p:nvCxnSpPr>
        <p:spPr>
          <a:xfrm>
            <a:off x="2058314" y="4991520"/>
            <a:ext cx="336888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橢圓 40"/>
          <p:cNvSpPr/>
          <p:nvPr/>
        </p:nvSpPr>
        <p:spPr>
          <a:xfrm>
            <a:off x="2984513" y="521815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2" name="直線接點 41"/>
          <p:cNvCxnSpPr>
            <a:stCxn id="41" idx="0"/>
            <a:endCxn id="11" idx="4"/>
          </p:cNvCxnSpPr>
          <p:nvPr/>
        </p:nvCxnSpPr>
        <p:spPr>
          <a:xfrm flipV="1">
            <a:off x="3128513" y="4991520"/>
            <a:ext cx="307792" cy="22663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/>
          <p:cNvSpPr txBox="1"/>
          <p:nvPr/>
        </p:nvSpPr>
        <p:spPr>
          <a:xfrm>
            <a:off x="1495721" y="5168858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2186425" y="5168858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2931704" y="517911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6" name="群組 35"/>
          <p:cNvGrpSpPr/>
          <p:nvPr/>
        </p:nvGrpSpPr>
        <p:grpSpPr>
          <a:xfrm>
            <a:off x="4075978" y="4153274"/>
            <a:ext cx="4598690" cy="769442"/>
            <a:chOff x="4075978" y="3500288"/>
            <a:chExt cx="4598690" cy="769442"/>
          </a:xfrm>
        </p:grpSpPr>
        <p:sp>
          <p:nvSpPr>
            <p:cNvPr id="45" name="文字方塊 44"/>
            <p:cNvSpPr txBox="1"/>
            <p:nvPr/>
          </p:nvSpPr>
          <p:spPr>
            <a:xfrm>
              <a:off x="4075978" y="3500288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中序</a:t>
              </a:r>
              <a:endPara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6597173" y="390039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文字方塊 46"/>
            <p:cNvSpPr txBox="1"/>
            <p:nvPr/>
          </p:nvSpPr>
          <p:spPr>
            <a:xfrm>
              <a:off x="4935177" y="390039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39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文字方塊 47"/>
            <p:cNvSpPr txBox="1"/>
            <p:nvPr/>
          </p:nvSpPr>
          <p:spPr>
            <a:xfrm>
              <a:off x="7428171" y="390039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4519678" y="390039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文字方塊 49"/>
            <p:cNvSpPr txBox="1"/>
            <p:nvPr/>
          </p:nvSpPr>
          <p:spPr>
            <a:xfrm>
              <a:off x="5766175" y="390039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文字方塊 50"/>
            <p:cNvSpPr txBox="1"/>
            <p:nvPr/>
          </p:nvSpPr>
          <p:spPr>
            <a:xfrm>
              <a:off x="7012672" y="390039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8259169" y="390039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文字方塊 52"/>
            <p:cNvSpPr txBox="1"/>
            <p:nvPr/>
          </p:nvSpPr>
          <p:spPr>
            <a:xfrm>
              <a:off x="4104179" y="390039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5350676" y="390039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6181674" y="390039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49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7843670" y="390039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4578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二元搜尋樹的插入與建立 </a:t>
            </a:r>
            <a:r>
              <a:rPr lang="en-US" altLang="zh-TW" dirty="0" smtClean="0"/>
              <a:t>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每讀入一個資料就依循下列原則，將新節點插入擴充中的二元搜尋樹</a:t>
            </a:r>
            <a:r>
              <a:rPr lang="zh-TW" altLang="en-US" dirty="0" smtClean="0"/>
              <a:t>：</a:t>
            </a:r>
            <a:endParaRPr lang="en-US" altLang="zh-TW" dirty="0" smtClean="0"/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/>
              <a:t>如果是空樹，則新節點為</a:t>
            </a:r>
            <a:r>
              <a:rPr lang="zh-TW" altLang="en-US" dirty="0" smtClean="0"/>
              <a:t>樹根</a:t>
            </a:r>
            <a:endParaRPr lang="en-US" altLang="zh-TW" dirty="0" smtClean="0"/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/>
              <a:t>否則將新節點的資料與樹根</a:t>
            </a:r>
            <a:r>
              <a:rPr lang="zh-TW" altLang="en-US" dirty="0" smtClean="0"/>
              <a:t>相比</a:t>
            </a:r>
            <a:endParaRPr lang="en-US" altLang="zh-TW" dirty="0" smtClean="0"/>
          </a:p>
          <a:p>
            <a:pPr lvl="2"/>
            <a:r>
              <a:rPr lang="zh-TW" altLang="en-US" dirty="0" smtClean="0">
                <a:solidFill>
                  <a:srgbClr val="C00000"/>
                </a:solidFill>
              </a:rPr>
              <a:t>小於</a:t>
            </a:r>
            <a:r>
              <a:rPr lang="zh-TW" altLang="en-US" dirty="0"/>
              <a:t>樹根則往</a:t>
            </a:r>
            <a:r>
              <a:rPr lang="zh-TW" altLang="en-US" dirty="0">
                <a:solidFill>
                  <a:srgbClr val="C00000"/>
                </a:solidFill>
              </a:rPr>
              <a:t>左</a:t>
            </a:r>
            <a:r>
              <a:rPr lang="zh-TW" altLang="en-US" dirty="0"/>
              <a:t>子</a:t>
            </a:r>
            <a:r>
              <a:rPr lang="zh-TW" altLang="en-US" dirty="0" smtClean="0"/>
              <a:t>樹</a:t>
            </a:r>
            <a:endParaRPr lang="en-US" altLang="zh-TW" dirty="0" smtClean="0"/>
          </a:p>
          <a:p>
            <a:pPr lvl="2"/>
            <a:r>
              <a:rPr lang="zh-TW" altLang="en-US" dirty="0" smtClean="0">
                <a:solidFill>
                  <a:srgbClr val="C00000"/>
                </a:solidFill>
              </a:rPr>
              <a:t>大於</a:t>
            </a:r>
            <a:r>
              <a:rPr lang="zh-TW" altLang="en-US" dirty="0"/>
              <a:t>樹根則往</a:t>
            </a:r>
            <a:r>
              <a:rPr lang="zh-TW" altLang="en-US" dirty="0">
                <a:solidFill>
                  <a:srgbClr val="C00000"/>
                </a:solidFill>
              </a:rPr>
              <a:t>右</a:t>
            </a:r>
            <a:r>
              <a:rPr lang="zh-TW" altLang="en-US" dirty="0"/>
              <a:t>子樹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/>
              <a:t>重複與此子樹的樹根比較，直到指標接地</a:t>
            </a:r>
            <a:r>
              <a:rPr lang="zh-TW" altLang="en-US" dirty="0" smtClean="0"/>
              <a:t>為止</a:t>
            </a:r>
            <a:endParaRPr lang="en-US" altLang="zh-TW" dirty="0" smtClean="0"/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/>
              <a:t>將新節點加在最後停留之處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506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二元搜尋樹的插入與</a:t>
            </a:r>
            <a:r>
              <a:rPr lang="zh-TW" altLang="en-US" dirty="0" smtClean="0"/>
              <a:t>建立 </a:t>
            </a:r>
            <a:r>
              <a:rPr lang="en-US" altLang="zh-TW" dirty="0" smtClean="0"/>
              <a:t>(2/3)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 smtClean="0"/>
              <a:t>Input: 51, 70, 39, 45, 63, 80, 20, 42, 75, 10, 49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cxnSp>
        <p:nvCxnSpPr>
          <p:cNvPr id="12" name="直線接點 11"/>
          <p:cNvCxnSpPr>
            <a:stCxn id="8" idx="4"/>
            <a:endCxn id="7" idx="0"/>
          </p:cNvCxnSpPr>
          <p:nvPr/>
        </p:nvCxnSpPr>
        <p:spPr>
          <a:xfrm flipH="1">
            <a:off x="3156465" y="474129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>
            <a:stCxn id="14" idx="4"/>
            <a:endCxn id="11" idx="0"/>
          </p:cNvCxnSpPr>
          <p:nvPr/>
        </p:nvCxnSpPr>
        <p:spPr>
          <a:xfrm>
            <a:off x="5197319" y="419495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4" idx="4"/>
            <a:endCxn id="10" idx="0"/>
          </p:cNvCxnSpPr>
          <p:nvPr/>
        </p:nvCxnSpPr>
        <p:spPr>
          <a:xfrm flipH="1">
            <a:off x="4857563" y="419495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3" idx="4"/>
            <a:endCxn id="9" idx="0"/>
          </p:cNvCxnSpPr>
          <p:nvPr/>
        </p:nvCxnSpPr>
        <p:spPr>
          <a:xfrm>
            <a:off x="3821783" y="4194952"/>
            <a:ext cx="349520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3" idx="4"/>
            <a:endCxn id="8" idx="0"/>
          </p:cNvCxnSpPr>
          <p:nvPr/>
        </p:nvCxnSpPr>
        <p:spPr>
          <a:xfrm flipH="1">
            <a:off x="3479572" y="4194952"/>
            <a:ext cx="34221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4497322" y="3665865"/>
            <a:ext cx="699997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4"/>
            <a:endCxn id="13" idx="0"/>
          </p:cNvCxnSpPr>
          <p:nvPr/>
        </p:nvCxnSpPr>
        <p:spPr>
          <a:xfrm flipH="1">
            <a:off x="3821783" y="3665865"/>
            <a:ext cx="675539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群組 49"/>
          <p:cNvGrpSpPr/>
          <p:nvPr/>
        </p:nvGrpSpPr>
        <p:grpSpPr>
          <a:xfrm>
            <a:off x="4300441" y="3328573"/>
            <a:ext cx="415499" cy="369332"/>
            <a:chOff x="4300441" y="3328573"/>
            <a:chExt cx="415499" cy="369332"/>
          </a:xfrm>
        </p:grpSpPr>
        <p:sp>
          <p:nvSpPr>
            <p:cNvPr id="15" name="橢圓 14"/>
            <p:cNvSpPr/>
            <p:nvPr/>
          </p:nvSpPr>
          <p:spPr>
            <a:xfrm>
              <a:off x="4353322" y="3377865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文字方塊 21"/>
            <p:cNvSpPr txBox="1"/>
            <p:nvPr/>
          </p:nvSpPr>
          <p:spPr>
            <a:xfrm>
              <a:off x="4300441" y="3328573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1" name="群組 50"/>
          <p:cNvGrpSpPr/>
          <p:nvPr/>
        </p:nvGrpSpPr>
        <p:grpSpPr>
          <a:xfrm>
            <a:off x="3621971" y="3857660"/>
            <a:ext cx="415499" cy="369332"/>
            <a:chOff x="3621971" y="3857660"/>
            <a:chExt cx="415499" cy="369332"/>
          </a:xfrm>
        </p:grpSpPr>
        <p:sp>
          <p:nvSpPr>
            <p:cNvPr id="13" name="橢圓 12"/>
            <p:cNvSpPr/>
            <p:nvPr/>
          </p:nvSpPr>
          <p:spPr>
            <a:xfrm>
              <a:off x="3677783" y="390695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3621971" y="3857660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39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4" name="群組 53"/>
          <p:cNvGrpSpPr/>
          <p:nvPr/>
        </p:nvGrpSpPr>
        <p:grpSpPr>
          <a:xfrm>
            <a:off x="4997672" y="3849034"/>
            <a:ext cx="415499" cy="369332"/>
            <a:chOff x="4997672" y="3849034"/>
            <a:chExt cx="415499" cy="369332"/>
          </a:xfrm>
        </p:grpSpPr>
        <p:sp>
          <p:nvSpPr>
            <p:cNvPr id="14" name="橢圓 13"/>
            <p:cNvSpPr/>
            <p:nvPr/>
          </p:nvSpPr>
          <p:spPr>
            <a:xfrm>
              <a:off x="5053319" y="390695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4997672" y="3849034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2" name="群組 51"/>
          <p:cNvGrpSpPr/>
          <p:nvPr/>
        </p:nvGrpSpPr>
        <p:grpSpPr>
          <a:xfrm>
            <a:off x="3271822" y="4404000"/>
            <a:ext cx="415499" cy="369332"/>
            <a:chOff x="3271822" y="4404000"/>
            <a:chExt cx="415499" cy="369332"/>
          </a:xfrm>
        </p:grpSpPr>
        <p:sp>
          <p:nvSpPr>
            <p:cNvPr id="8" name="橢圓 7"/>
            <p:cNvSpPr/>
            <p:nvPr/>
          </p:nvSpPr>
          <p:spPr>
            <a:xfrm>
              <a:off x="3335572" y="445329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3271822" y="4404000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9" name="群組 58"/>
          <p:cNvGrpSpPr/>
          <p:nvPr/>
        </p:nvGrpSpPr>
        <p:grpSpPr>
          <a:xfrm>
            <a:off x="3965783" y="4404000"/>
            <a:ext cx="415499" cy="369332"/>
            <a:chOff x="3965783" y="4404000"/>
            <a:chExt cx="415499" cy="369332"/>
          </a:xfrm>
        </p:grpSpPr>
        <p:sp>
          <p:nvSpPr>
            <p:cNvPr id="9" name="橢圓 8"/>
            <p:cNvSpPr/>
            <p:nvPr/>
          </p:nvSpPr>
          <p:spPr>
            <a:xfrm>
              <a:off x="4027303" y="445907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文字方塊 25"/>
            <p:cNvSpPr txBox="1"/>
            <p:nvPr/>
          </p:nvSpPr>
          <p:spPr>
            <a:xfrm>
              <a:off x="3965783" y="4404000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0" name="群組 59"/>
          <p:cNvGrpSpPr/>
          <p:nvPr/>
        </p:nvGrpSpPr>
        <p:grpSpPr>
          <a:xfrm>
            <a:off x="4649813" y="4401159"/>
            <a:ext cx="415499" cy="369332"/>
            <a:chOff x="4649813" y="4401159"/>
            <a:chExt cx="415499" cy="369332"/>
          </a:xfrm>
        </p:grpSpPr>
        <p:sp>
          <p:nvSpPr>
            <p:cNvPr id="10" name="橢圓 9"/>
            <p:cNvSpPr/>
            <p:nvPr/>
          </p:nvSpPr>
          <p:spPr>
            <a:xfrm>
              <a:off x="4713563" y="445329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4649813" y="4401159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5" name="群組 54"/>
          <p:cNvGrpSpPr/>
          <p:nvPr/>
        </p:nvGrpSpPr>
        <p:grpSpPr>
          <a:xfrm>
            <a:off x="5349945" y="4404000"/>
            <a:ext cx="415499" cy="369332"/>
            <a:chOff x="5349945" y="4404000"/>
            <a:chExt cx="415499" cy="369332"/>
          </a:xfrm>
        </p:grpSpPr>
        <p:sp>
          <p:nvSpPr>
            <p:cNvPr id="11" name="橢圓 10"/>
            <p:cNvSpPr/>
            <p:nvPr/>
          </p:nvSpPr>
          <p:spPr>
            <a:xfrm>
              <a:off x="5405294" y="445907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文字方塊 27"/>
            <p:cNvSpPr txBox="1"/>
            <p:nvPr/>
          </p:nvSpPr>
          <p:spPr>
            <a:xfrm>
              <a:off x="5349945" y="4404000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群組 52"/>
          <p:cNvGrpSpPr/>
          <p:nvPr/>
        </p:nvGrpSpPr>
        <p:grpSpPr>
          <a:xfrm>
            <a:off x="2948715" y="4924415"/>
            <a:ext cx="415499" cy="369332"/>
            <a:chOff x="2948715" y="4924415"/>
            <a:chExt cx="415499" cy="369332"/>
          </a:xfrm>
        </p:grpSpPr>
        <p:sp>
          <p:nvSpPr>
            <p:cNvPr id="7" name="橢圓 6"/>
            <p:cNvSpPr/>
            <p:nvPr/>
          </p:nvSpPr>
          <p:spPr>
            <a:xfrm>
              <a:off x="3012465" y="497393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文字方塊 28"/>
            <p:cNvSpPr txBox="1"/>
            <p:nvPr/>
          </p:nvSpPr>
          <p:spPr>
            <a:xfrm>
              <a:off x="2948715" y="4924415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2" name="直線接點 31"/>
          <p:cNvCxnSpPr>
            <a:stCxn id="9" idx="4"/>
            <a:endCxn id="30" idx="0"/>
          </p:cNvCxnSpPr>
          <p:nvPr/>
        </p:nvCxnSpPr>
        <p:spPr>
          <a:xfrm flipH="1">
            <a:off x="3816460" y="4747077"/>
            <a:ext cx="354843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9" idx="4"/>
            <a:endCxn id="31" idx="0"/>
          </p:cNvCxnSpPr>
          <p:nvPr/>
        </p:nvCxnSpPr>
        <p:spPr>
          <a:xfrm>
            <a:off x="4171303" y="4747077"/>
            <a:ext cx="336888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>
            <a:stCxn id="34" idx="0"/>
            <a:endCxn id="11" idx="4"/>
          </p:cNvCxnSpPr>
          <p:nvPr/>
        </p:nvCxnSpPr>
        <p:spPr>
          <a:xfrm flipV="1">
            <a:off x="5241502" y="4747077"/>
            <a:ext cx="307792" cy="22663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群組 57"/>
          <p:cNvGrpSpPr/>
          <p:nvPr/>
        </p:nvGrpSpPr>
        <p:grpSpPr>
          <a:xfrm>
            <a:off x="3608710" y="4924415"/>
            <a:ext cx="415499" cy="369332"/>
            <a:chOff x="3608710" y="4924415"/>
            <a:chExt cx="415499" cy="369332"/>
          </a:xfrm>
        </p:grpSpPr>
        <p:sp>
          <p:nvSpPr>
            <p:cNvPr id="30" name="橢圓 29"/>
            <p:cNvSpPr/>
            <p:nvPr/>
          </p:nvSpPr>
          <p:spPr>
            <a:xfrm>
              <a:off x="3672460" y="497533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文字方塊 35"/>
            <p:cNvSpPr txBox="1"/>
            <p:nvPr/>
          </p:nvSpPr>
          <p:spPr>
            <a:xfrm>
              <a:off x="3608710" y="4924415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7" name="群組 56"/>
          <p:cNvGrpSpPr/>
          <p:nvPr/>
        </p:nvGrpSpPr>
        <p:grpSpPr>
          <a:xfrm>
            <a:off x="4299414" y="4924415"/>
            <a:ext cx="415499" cy="369332"/>
            <a:chOff x="4299414" y="4924415"/>
            <a:chExt cx="415499" cy="369332"/>
          </a:xfrm>
        </p:grpSpPr>
        <p:sp>
          <p:nvSpPr>
            <p:cNvPr id="31" name="橢圓 30"/>
            <p:cNvSpPr/>
            <p:nvPr/>
          </p:nvSpPr>
          <p:spPr>
            <a:xfrm>
              <a:off x="4364191" y="497533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文字方塊 36"/>
            <p:cNvSpPr txBox="1"/>
            <p:nvPr/>
          </p:nvSpPr>
          <p:spPr>
            <a:xfrm>
              <a:off x="4299414" y="4924415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49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6" name="群組 55"/>
          <p:cNvGrpSpPr/>
          <p:nvPr/>
        </p:nvGrpSpPr>
        <p:grpSpPr>
          <a:xfrm>
            <a:off x="5044693" y="4934668"/>
            <a:ext cx="415499" cy="369332"/>
            <a:chOff x="5044693" y="4934668"/>
            <a:chExt cx="415499" cy="369332"/>
          </a:xfrm>
        </p:grpSpPr>
        <p:sp>
          <p:nvSpPr>
            <p:cNvPr id="34" name="橢圓 33"/>
            <p:cNvSpPr/>
            <p:nvPr/>
          </p:nvSpPr>
          <p:spPr>
            <a:xfrm>
              <a:off x="5097502" y="497370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文字方塊 37"/>
            <p:cNvSpPr txBox="1"/>
            <p:nvPr/>
          </p:nvSpPr>
          <p:spPr>
            <a:xfrm>
              <a:off x="5044693" y="493466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文字方塊 38"/>
          <p:cNvSpPr txBox="1"/>
          <p:nvPr/>
        </p:nvSpPr>
        <p:spPr>
          <a:xfrm>
            <a:off x="4898952" y="2339017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3236956" y="2339017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5729950" y="2339017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2821457" y="2339017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4067954" y="2339017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5314451" y="2339017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6560948" y="2339017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2405958" y="2339017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3652455" y="2339017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4483453" y="2339017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6145449" y="2339017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3747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5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75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5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750"/>
                            </p:stCondLst>
                            <p:childTnLst>
                              <p:par>
                                <p:cTn id="5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50"/>
                            </p:stCondLst>
                            <p:childTnLst>
                              <p:par>
                                <p:cTn id="6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5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50"/>
                            </p:stCondLst>
                            <p:childTnLst>
                              <p:par>
                                <p:cTn id="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50"/>
                            </p:stCondLst>
                            <p:childTnLst>
                              <p:par>
                                <p:cTn id="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50"/>
                            </p:stCondLst>
                            <p:childTnLst>
                              <p:par>
                                <p:cTn id="9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50"/>
                            </p:stCondLst>
                            <p:childTnLst>
                              <p:par>
                                <p:cTn id="10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750"/>
                            </p:stCondLst>
                            <p:childTnLst>
                              <p:par>
                                <p:cTn id="10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50"/>
                            </p:stCondLst>
                            <p:childTnLst>
                              <p:par>
                                <p:cTn id="1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750"/>
                            </p:stCondLst>
                            <p:childTnLst>
                              <p:par>
                                <p:cTn id="1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50"/>
                            </p:stCondLst>
                            <p:childTnLst>
                              <p:par>
                                <p:cTn id="1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750"/>
                            </p:stCondLst>
                            <p:childTnLst>
                              <p:par>
                                <p:cTn id="1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二元搜尋樹的插入與</a:t>
            </a:r>
            <a:r>
              <a:rPr lang="zh-TW" altLang="en-US" dirty="0" smtClean="0"/>
              <a:t>建立 </a:t>
            </a:r>
            <a:r>
              <a:rPr lang="en-US" altLang="zh-TW" dirty="0" smtClean="0"/>
              <a:t>(3/3)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278636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 smtClean="0"/>
              <a:t>Input: 10, 20, 39, 42, 45, 49, 51, 63, 70, 75, 80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zh-TW" altLang="en-US" dirty="0" smtClean="0"/>
              <a:t>形成</a:t>
            </a:r>
            <a:r>
              <a:rPr lang="zh-TW" altLang="en-US" dirty="0" smtClean="0">
                <a:solidFill>
                  <a:srgbClr val="C00000"/>
                </a:solidFill>
              </a:rPr>
              <a:t>歪斜樹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4080412" y="348202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3720412" y="312202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4440412" y="384202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5520412" y="492202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5880412" y="528202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15" idx="5"/>
            <a:endCxn id="14" idx="1"/>
          </p:cNvCxnSpPr>
          <p:nvPr/>
        </p:nvCxnSpPr>
        <p:spPr>
          <a:xfrm>
            <a:off x="2886235" y="2287851"/>
            <a:ext cx="156354" cy="15635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3360412" y="276202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3000412" y="240202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2640412" y="204202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31" idx="5"/>
            <a:endCxn id="30" idx="1"/>
          </p:cNvCxnSpPr>
          <p:nvPr/>
        </p:nvCxnSpPr>
        <p:spPr>
          <a:xfrm>
            <a:off x="5046235" y="4447851"/>
            <a:ext cx="156354" cy="15635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9" idx="5"/>
            <a:endCxn id="31" idx="1"/>
          </p:cNvCxnSpPr>
          <p:nvPr/>
        </p:nvCxnSpPr>
        <p:spPr>
          <a:xfrm>
            <a:off x="4686235" y="4087851"/>
            <a:ext cx="156354" cy="15635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4" idx="5"/>
            <a:endCxn id="13" idx="1"/>
          </p:cNvCxnSpPr>
          <p:nvPr/>
        </p:nvCxnSpPr>
        <p:spPr>
          <a:xfrm>
            <a:off x="3246235" y="2647851"/>
            <a:ext cx="156354" cy="15635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3" idx="5"/>
            <a:endCxn id="8" idx="1"/>
          </p:cNvCxnSpPr>
          <p:nvPr/>
        </p:nvCxnSpPr>
        <p:spPr>
          <a:xfrm>
            <a:off x="3606235" y="3007851"/>
            <a:ext cx="156354" cy="15635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7" idx="5"/>
            <a:endCxn id="9" idx="1"/>
          </p:cNvCxnSpPr>
          <p:nvPr/>
        </p:nvCxnSpPr>
        <p:spPr>
          <a:xfrm>
            <a:off x="4326235" y="3727851"/>
            <a:ext cx="156354" cy="15635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8" idx="5"/>
            <a:endCxn id="7" idx="1"/>
          </p:cNvCxnSpPr>
          <p:nvPr/>
        </p:nvCxnSpPr>
        <p:spPr>
          <a:xfrm>
            <a:off x="3966235" y="3367851"/>
            <a:ext cx="156354" cy="15635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/>
          <p:cNvSpPr txBox="1"/>
          <p:nvPr/>
        </p:nvSpPr>
        <p:spPr>
          <a:xfrm>
            <a:off x="3301337" y="27037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464913" y="486807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2945288" y="235669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4016101" y="3429482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576662" y="19888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5160412" y="456202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4800412" y="420202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10" idx="5"/>
            <a:endCxn id="11" idx="1"/>
          </p:cNvCxnSpPr>
          <p:nvPr/>
        </p:nvCxnSpPr>
        <p:spPr>
          <a:xfrm>
            <a:off x="5766235" y="5167851"/>
            <a:ext cx="156354" cy="15635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30" idx="5"/>
            <a:endCxn id="10" idx="1"/>
          </p:cNvCxnSpPr>
          <p:nvPr/>
        </p:nvCxnSpPr>
        <p:spPr>
          <a:xfrm>
            <a:off x="5406235" y="4807851"/>
            <a:ext cx="156354" cy="15635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橢圓 33"/>
          <p:cNvSpPr/>
          <p:nvPr/>
        </p:nvSpPr>
        <p:spPr>
          <a:xfrm>
            <a:off x="6240412" y="564202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5" name="直線接點 34"/>
          <p:cNvCxnSpPr>
            <a:stCxn id="34" idx="1"/>
            <a:endCxn id="11" idx="5"/>
          </p:cNvCxnSpPr>
          <p:nvPr/>
        </p:nvCxnSpPr>
        <p:spPr>
          <a:xfrm flipH="1" flipV="1">
            <a:off x="6126235" y="5527851"/>
            <a:ext cx="156354" cy="15635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3661337" y="306877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4374791" y="379669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5817038" y="523312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4745664" y="414807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5088412" y="451273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6185288" y="558411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768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二元搜尋樹的刪除 </a:t>
            </a:r>
            <a:r>
              <a:rPr lang="en-US" altLang="zh-TW" dirty="0" smtClean="0"/>
              <a:t>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狀況一：刪除的節點是</a:t>
            </a:r>
            <a:r>
              <a:rPr lang="zh-TW" altLang="en-US" dirty="0" smtClean="0">
                <a:solidFill>
                  <a:srgbClr val="C00000"/>
                </a:solidFill>
              </a:rPr>
              <a:t>樹葉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3012465" y="49739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3335572" y="44532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4027303" y="445907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4713563" y="44532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5405294" y="445907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8" idx="4"/>
            <a:endCxn id="7" idx="0"/>
          </p:cNvCxnSpPr>
          <p:nvPr/>
        </p:nvCxnSpPr>
        <p:spPr>
          <a:xfrm flipH="1">
            <a:off x="3156465" y="474129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3677783" y="390695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5053319" y="390695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4353322" y="337786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4" idx="4"/>
            <a:endCxn id="11" idx="0"/>
          </p:cNvCxnSpPr>
          <p:nvPr/>
        </p:nvCxnSpPr>
        <p:spPr>
          <a:xfrm>
            <a:off x="5197319" y="419495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4" idx="4"/>
            <a:endCxn id="10" idx="0"/>
          </p:cNvCxnSpPr>
          <p:nvPr/>
        </p:nvCxnSpPr>
        <p:spPr>
          <a:xfrm flipH="1">
            <a:off x="4857563" y="419495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3" idx="4"/>
            <a:endCxn id="9" idx="0"/>
          </p:cNvCxnSpPr>
          <p:nvPr/>
        </p:nvCxnSpPr>
        <p:spPr>
          <a:xfrm>
            <a:off x="3821783" y="4194952"/>
            <a:ext cx="349520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3" idx="4"/>
            <a:endCxn id="8" idx="0"/>
          </p:cNvCxnSpPr>
          <p:nvPr/>
        </p:nvCxnSpPr>
        <p:spPr>
          <a:xfrm flipH="1">
            <a:off x="3479572" y="4194952"/>
            <a:ext cx="34221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4497322" y="3665865"/>
            <a:ext cx="699997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4"/>
            <a:endCxn id="13" idx="0"/>
          </p:cNvCxnSpPr>
          <p:nvPr/>
        </p:nvCxnSpPr>
        <p:spPr>
          <a:xfrm flipH="1">
            <a:off x="3821783" y="3665865"/>
            <a:ext cx="675539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4300441" y="332857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621971" y="385766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4997672" y="384903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3271822" y="44040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965783" y="44040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649813" y="440115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349945" y="44040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948715" y="492441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3672460" y="497533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4364191" y="497533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9" idx="4"/>
            <a:endCxn id="30" idx="0"/>
          </p:cNvCxnSpPr>
          <p:nvPr/>
        </p:nvCxnSpPr>
        <p:spPr>
          <a:xfrm flipH="1">
            <a:off x="3816460" y="4747077"/>
            <a:ext cx="354843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9" idx="4"/>
            <a:endCxn id="31" idx="0"/>
          </p:cNvCxnSpPr>
          <p:nvPr/>
        </p:nvCxnSpPr>
        <p:spPr>
          <a:xfrm>
            <a:off x="4171303" y="4747077"/>
            <a:ext cx="336888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>
            <a:stCxn id="34" idx="0"/>
            <a:endCxn id="11" idx="4"/>
          </p:cNvCxnSpPr>
          <p:nvPr/>
        </p:nvCxnSpPr>
        <p:spPr>
          <a:xfrm flipV="1">
            <a:off x="5241502" y="4747077"/>
            <a:ext cx="307792" cy="22663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3608710" y="492441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4299414" y="492441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" name="群組 43"/>
          <p:cNvGrpSpPr/>
          <p:nvPr/>
        </p:nvGrpSpPr>
        <p:grpSpPr>
          <a:xfrm>
            <a:off x="5044693" y="4934668"/>
            <a:ext cx="415499" cy="369332"/>
            <a:chOff x="5044693" y="4934668"/>
            <a:chExt cx="415499" cy="369332"/>
          </a:xfrm>
        </p:grpSpPr>
        <p:sp>
          <p:nvSpPr>
            <p:cNvPr id="34" name="橢圓 33"/>
            <p:cNvSpPr/>
            <p:nvPr/>
          </p:nvSpPr>
          <p:spPr>
            <a:xfrm>
              <a:off x="5097502" y="497370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文字方塊 37"/>
            <p:cNvSpPr txBox="1"/>
            <p:nvPr/>
          </p:nvSpPr>
          <p:spPr>
            <a:xfrm>
              <a:off x="5044693" y="493466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向下箭號 38"/>
          <p:cNvSpPr/>
          <p:nvPr/>
        </p:nvSpPr>
        <p:spPr>
          <a:xfrm>
            <a:off x="4761056" y="4194952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向下箭號 39"/>
          <p:cNvSpPr/>
          <p:nvPr/>
        </p:nvSpPr>
        <p:spPr>
          <a:xfrm>
            <a:off x="3070200" y="4741292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向下箭號 40"/>
          <p:cNvSpPr/>
          <p:nvPr/>
        </p:nvSpPr>
        <p:spPr>
          <a:xfrm>
            <a:off x="3730195" y="4742687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向下箭號 41"/>
          <p:cNvSpPr/>
          <p:nvPr/>
        </p:nvSpPr>
        <p:spPr>
          <a:xfrm>
            <a:off x="4421927" y="4747077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向下箭號 42"/>
          <p:cNvSpPr/>
          <p:nvPr/>
        </p:nvSpPr>
        <p:spPr>
          <a:xfrm>
            <a:off x="5166178" y="4770491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4519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二元搜尋樹的刪除 </a:t>
            </a:r>
            <a:r>
              <a:rPr lang="en-US" altLang="zh-TW" dirty="0" smtClean="0"/>
              <a:t>(2/3)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狀況二：刪除的節點</a:t>
            </a:r>
            <a:r>
              <a:rPr lang="zh-TW" altLang="en-US" dirty="0" smtClean="0">
                <a:solidFill>
                  <a:srgbClr val="C00000"/>
                </a:solidFill>
              </a:rPr>
              <a:t>只有一棵子樹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3012465" y="49739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4027303" y="445907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4713563" y="44532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5405294" y="445907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8" idx="4"/>
            <a:endCxn id="7" idx="0"/>
          </p:cNvCxnSpPr>
          <p:nvPr/>
        </p:nvCxnSpPr>
        <p:spPr>
          <a:xfrm flipH="1">
            <a:off x="3156465" y="474129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3677783" y="390695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5053319" y="390695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4353322" y="337786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4" idx="4"/>
            <a:endCxn id="11" idx="0"/>
          </p:cNvCxnSpPr>
          <p:nvPr/>
        </p:nvCxnSpPr>
        <p:spPr>
          <a:xfrm>
            <a:off x="5197319" y="419495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4" idx="4"/>
            <a:endCxn id="10" idx="0"/>
          </p:cNvCxnSpPr>
          <p:nvPr/>
        </p:nvCxnSpPr>
        <p:spPr>
          <a:xfrm flipH="1">
            <a:off x="4857563" y="419495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3" idx="4"/>
            <a:endCxn id="9" idx="0"/>
          </p:cNvCxnSpPr>
          <p:nvPr/>
        </p:nvCxnSpPr>
        <p:spPr>
          <a:xfrm>
            <a:off x="3821783" y="4194952"/>
            <a:ext cx="349520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3" idx="4"/>
            <a:endCxn id="8" idx="0"/>
          </p:cNvCxnSpPr>
          <p:nvPr/>
        </p:nvCxnSpPr>
        <p:spPr>
          <a:xfrm flipH="1">
            <a:off x="3479572" y="4194952"/>
            <a:ext cx="34221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4497322" y="3665865"/>
            <a:ext cx="699997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4"/>
            <a:endCxn id="13" idx="0"/>
          </p:cNvCxnSpPr>
          <p:nvPr/>
        </p:nvCxnSpPr>
        <p:spPr>
          <a:xfrm flipH="1">
            <a:off x="3821783" y="3665865"/>
            <a:ext cx="675539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4300441" y="332857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621971" y="385766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4997672" y="384903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9" name="群組 38"/>
          <p:cNvGrpSpPr/>
          <p:nvPr/>
        </p:nvGrpSpPr>
        <p:grpSpPr>
          <a:xfrm>
            <a:off x="3271822" y="4404000"/>
            <a:ext cx="415499" cy="369332"/>
            <a:chOff x="3271822" y="4404000"/>
            <a:chExt cx="415499" cy="369332"/>
          </a:xfrm>
        </p:grpSpPr>
        <p:sp>
          <p:nvSpPr>
            <p:cNvPr id="8" name="橢圓 7"/>
            <p:cNvSpPr/>
            <p:nvPr/>
          </p:nvSpPr>
          <p:spPr>
            <a:xfrm>
              <a:off x="3335572" y="445329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3271822" y="4404000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6" name="文字方塊 25"/>
          <p:cNvSpPr txBox="1"/>
          <p:nvPr/>
        </p:nvSpPr>
        <p:spPr>
          <a:xfrm>
            <a:off x="3965783" y="44040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649813" y="440115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349945" y="44040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948715" y="492441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3672460" y="497533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4364191" y="497533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9" idx="4"/>
            <a:endCxn id="30" idx="0"/>
          </p:cNvCxnSpPr>
          <p:nvPr/>
        </p:nvCxnSpPr>
        <p:spPr>
          <a:xfrm flipH="1">
            <a:off x="3816460" y="4747077"/>
            <a:ext cx="354843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9" idx="4"/>
            <a:endCxn id="31" idx="0"/>
          </p:cNvCxnSpPr>
          <p:nvPr/>
        </p:nvCxnSpPr>
        <p:spPr>
          <a:xfrm>
            <a:off x="4171303" y="4747077"/>
            <a:ext cx="336888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橢圓 33"/>
          <p:cNvSpPr/>
          <p:nvPr/>
        </p:nvSpPr>
        <p:spPr>
          <a:xfrm>
            <a:off x="5097502" y="497370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5" name="直線接點 34"/>
          <p:cNvCxnSpPr>
            <a:stCxn id="34" idx="0"/>
            <a:endCxn id="11" idx="4"/>
          </p:cNvCxnSpPr>
          <p:nvPr/>
        </p:nvCxnSpPr>
        <p:spPr>
          <a:xfrm flipV="1">
            <a:off x="5241502" y="4747077"/>
            <a:ext cx="307792" cy="22663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3608710" y="492441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4299414" y="492441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5044693" y="4934668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向下箭號 39"/>
          <p:cNvSpPr/>
          <p:nvPr/>
        </p:nvSpPr>
        <p:spPr>
          <a:xfrm>
            <a:off x="3393308" y="4238994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向下箭號 42"/>
          <p:cNvSpPr/>
          <p:nvPr/>
        </p:nvSpPr>
        <p:spPr>
          <a:xfrm>
            <a:off x="5471430" y="4226992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2" name="直線接點 41"/>
          <p:cNvCxnSpPr>
            <a:stCxn id="13" idx="4"/>
            <a:endCxn id="7" idx="0"/>
          </p:cNvCxnSpPr>
          <p:nvPr/>
        </p:nvCxnSpPr>
        <p:spPr>
          <a:xfrm flipH="1">
            <a:off x="3156465" y="4194952"/>
            <a:ext cx="665318" cy="778980"/>
          </a:xfrm>
          <a:prstGeom prst="line">
            <a:avLst/>
          </a:prstGeom>
          <a:ln w="2857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3079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3" grpId="0" animBg="1"/>
      <p:bldP spid="43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/>
          <p:cNvSpPr/>
          <p:nvPr/>
        </p:nvSpPr>
        <p:spPr>
          <a:xfrm>
            <a:off x="5462572" y="44532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文字方塊 67"/>
          <p:cNvSpPr txBox="1"/>
          <p:nvPr/>
        </p:nvSpPr>
        <p:spPr>
          <a:xfrm>
            <a:off x="5398822" y="44040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橢圓 48"/>
          <p:cNvSpPr/>
          <p:nvPr/>
        </p:nvSpPr>
        <p:spPr>
          <a:xfrm>
            <a:off x="5139465" y="49739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文字方塊 71"/>
          <p:cNvSpPr txBox="1"/>
          <p:nvPr/>
        </p:nvSpPr>
        <p:spPr>
          <a:xfrm>
            <a:off x="5075715" y="492441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二元搜尋樹的刪除 </a:t>
            </a:r>
            <a:r>
              <a:rPr lang="en-US" altLang="zh-TW" dirty="0" smtClean="0"/>
              <a:t>(3/3)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狀況</a:t>
            </a:r>
            <a:r>
              <a:rPr lang="zh-TW" altLang="en-US" dirty="0"/>
              <a:t>三</a:t>
            </a:r>
            <a:r>
              <a:rPr lang="zh-TW" altLang="en-US" dirty="0" smtClean="0"/>
              <a:t>：刪除的節點</a:t>
            </a:r>
            <a:r>
              <a:rPr lang="zh-TW" altLang="en-US" dirty="0" smtClean="0">
                <a:solidFill>
                  <a:srgbClr val="C00000"/>
                </a:solidFill>
              </a:rPr>
              <a:t>有兩棵子樹</a:t>
            </a:r>
            <a:endParaRPr lang="en-US" altLang="zh-TW" dirty="0" smtClean="0">
              <a:solidFill>
                <a:srgbClr val="C00000"/>
              </a:solidFill>
            </a:endParaRPr>
          </a:p>
          <a:p>
            <a:pPr lvl="1"/>
            <a:r>
              <a:rPr lang="zh-TW" altLang="en-US" dirty="0">
                <a:solidFill>
                  <a:srgbClr val="C00000"/>
                </a:solidFill>
              </a:rPr>
              <a:t>右</a:t>
            </a:r>
            <a:r>
              <a:rPr lang="zh-TW" altLang="en-US" dirty="0"/>
              <a:t>子樹的</a:t>
            </a:r>
            <a:r>
              <a:rPr lang="zh-TW" altLang="en-US" dirty="0" smtClean="0"/>
              <a:t>最</a:t>
            </a:r>
            <a:r>
              <a:rPr lang="zh-TW" altLang="en-US" dirty="0" smtClean="0">
                <a:solidFill>
                  <a:srgbClr val="C00000"/>
                </a:solidFill>
              </a:rPr>
              <a:t>小</a:t>
            </a:r>
            <a:r>
              <a:rPr lang="zh-TW" altLang="en-US" dirty="0" smtClean="0"/>
              <a:t>值 </a:t>
            </a:r>
            <a:r>
              <a:rPr lang="en-US" altLang="zh-TW" dirty="0" smtClean="0"/>
              <a:t>(</a:t>
            </a:r>
            <a:r>
              <a:rPr lang="zh-TW" altLang="en-US" dirty="0" smtClean="0"/>
              <a:t>以</a:t>
            </a:r>
            <a:r>
              <a:rPr lang="zh-TW" altLang="en-US" dirty="0" smtClean="0">
                <a:solidFill>
                  <a:srgbClr val="C00000"/>
                </a:solidFill>
              </a:rPr>
              <a:t>中序立即後繼者</a:t>
            </a:r>
            <a:r>
              <a:rPr lang="zh-TW" altLang="en-US" dirty="0" smtClean="0"/>
              <a:t>取代刪除的節點</a:t>
            </a:r>
            <a:r>
              <a:rPr lang="en-US" altLang="zh-TW" dirty="0" smtClean="0"/>
              <a:t>)</a:t>
            </a:r>
          </a:p>
          <a:p>
            <a:pPr lvl="1"/>
            <a:r>
              <a:rPr lang="zh-TW" altLang="en-US" dirty="0">
                <a:solidFill>
                  <a:srgbClr val="C00000"/>
                </a:solidFill>
              </a:rPr>
              <a:t>左</a:t>
            </a:r>
            <a:r>
              <a:rPr lang="zh-TW" altLang="en-US" dirty="0"/>
              <a:t>子樹的</a:t>
            </a:r>
            <a:r>
              <a:rPr lang="zh-TW" altLang="en-US" dirty="0" smtClean="0"/>
              <a:t>最</a:t>
            </a:r>
            <a:r>
              <a:rPr lang="zh-TW" altLang="en-US" dirty="0" smtClean="0">
                <a:solidFill>
                  <a:srgbClr val="C00000"/>
                </a:solidFill>
              </a:rPr>
              <a:t>大</a:t>
            </a:r>
            <a:r>
              <a:rPr lang="zh-TW" altLang="en-US" dirty="0" smtClean="0"/>
              <a:t>值 </a:t>
            </a:r>
            <a:r>
              <a:rPr lang="en-US" altLang="zh-TW" dirty="0" smtClean="0"/>
              <a:t>(</a:t>
            </a:r>
            <a:r>
              <a:rPr lang="zh-TW" altLang="en-US" dirty="0" smtClean="0"/>
              <a:t>以</a:t>
            </a:r>
            <a:r>
              <a:rPr lang="zh-TW" altLang="en-US" dirty="0">
                <a:solidFill>
                  <a:srgbClr val="C00000"/>
                </a:solidFill>
              </a:rPr>
              <a:t>中序</a:t>
            </a:r>
            <a:r>
              <a:rPr lang="zh-TW" altLang="en-US" dirty="0" smtClean="0">
                <a:solidFill>
                  <a:srgbClr val="C00000"/>
                </a:solidFill>
              </a:rPr>
              <a:t>立即前行者</a:t>
            </a:r>
            <a:r>
              <a:rPr lang="zh-TW" altLang="en-US" dirty="0" smtClean="0"/>
              <a:t>取代</a:t>
            </a:r>
            <a:r>
              <a:rPr lang="zh-TW" altLang="en-US" dirty="0"/>
              <a:t>刪除的</a:t>
            </a:r>
            <a:r>
              <a:rPr lang="zh-TW" altLang="en-US" dirty="0" smtClean="0"/>
              <a:t>節點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1282521" y="49739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1605628" y="44532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2297359" y="445907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2983619" y="44532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3675350" y="445907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8" idx="4"/>
            <a:endCxn id="7" idx="0"/>
          </p:cNvCxnSpPr>
          <p:nvPr/>
        </p:nvCxnSpPr>
        <p:spPr>
          <a:xfrm flipH="1">
            <a:off x="1426521" y="474129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橢圓 13"/>
          <p:cNvSpPr/>
          <p:nvPr/>
        </p:nvSpPr>
        <p:spPr>
          <a:xfrm>
            <a:off x="3323375" y="390695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2623378" y="337786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4" idx="4"/>
            <a:endCxn id="11" idx="0"/>
          </p:cNvCxnSpPr>
          <p:nvPr/>
        </p:nvCxnSpPr>
        <p:spPr>
          <a:xfrm>
            <a:off x="3467375" y="419495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4" idx="4"/>
            <a:endCxn id="10" idx="0"/>
          </p:cNvCxnSpPr>
          <p:nvPr/>
        </p:nvCxnSpPr>
        <p:spPr>
          <a:xfrm flipH="1">
            <a:off x="3127619" y="419495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3" idx="4"/>
            <a:endCxn id="9" idx="0"/>
          </p:cNvCxnSpPr>
          <p:nvPr/>
        </p:nvCxnSpPr>
        <p:spPr>
          <a:xfrm>
            <a:off x="2091839" y="4194952"/>
            <a:ext cx="349520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3" idx="4"/>
            <a:endCxn id="8" idx="0"/>
          </p:cNvCxnSpPr>
          <p:nvPr/>
        </p:nvCxnSpPr>
        <p:spPr>
          <a:xfrm flipH="1">
            <a:off x="1749628" y="4194952"/>
            <a:ext cx="34221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2767378" y="3665865"/>
            <a:ext cx="699997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4"/>
            <a:endCxn id="13" idx="0"/>
          </p:cNvCxnSpPr>
          <p:nvPr/>
        </p:nvCxnSpPr>
        <p:spPr>
          <a:xfrm flipH="1">
            <a:off x="2091839" y="3665865"/>
            <a:ext cx="675539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2570497" y="332857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9" name="群組 38"/>
          <p:cNvGrpSpPr/>
          <p:nvPr/>
        </p:nvGrpSpPr>
        <p:grpSpPr>
          <a:xfrm>
            <a:off x="1892027" y="3857660"/>
            <a:ext cx="415499" cy="369332"/>
            <a:chOff x="3621971" y="3857660"/>
            <a:chExt cx="415499" cy="369332"/>
          </a:xfrm>
        </p:grpSpPr>
        <p:sp>
          <p:nvSpPr>
            <p:cNvPr id="13" name="橢圓 12"/>
            <p:cNvSpPr/>
            <p:nvPr/>
          </p:nvSpPr>
          <p:spPr>
            <a:xfrm>
              <a:off x="3677783" y="390695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3621971" y="3857660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39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4" name="文字方塊 23"/>
          <p:cNvSpPr txBox="1"/>
          <p:nvPr/>
        </p:nvSpPr>
        <p:spPr>
          <a:xfrm>
            <a:off x="3267728" y="384903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1541878" y="44040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2235839" y="44040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2919869" y="440115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3620001" y="44040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1218771" y="492441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橢圓 30"/>
          <p:cNvSpPr/>
          <p:nvPr/>
        </p:nvSpPr>
        <p:spPr>
          <a:xfrm>
            <a:off x="2634247" y="497533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9" idx="4"/>
            <a:endCxn id="30" idx="0"/>
          </p:cNvCxnSpPr>
          <p:nvPr/>
        </p:nvCxnSpPr>
        <p:spPr>
          <a:xfrm flipH="1">
            <a:off x="2086516" y="4747077"/>
            <a:ext cx="354843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9" idx="4"/>
            <a:endCxn id="31" idx="0"/>
          </p:cNvCxnSpPr>
          <p:nvPr/>
        </p:nvCxnSpPr>
        <p:spPr>
          <a:xfrm>
            <a:off x="2441359" y="4747077"/>
            <a:ext cx="336888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橢圓 33"/>
          <p:cNvSpPr/>
          <p:nvPr/>
        </p:nvSpPr>
        <p:spPr>
          <a:xfrm>
            <a:off x="3367558" y="497370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5" name="直線接點 34"/>
          <p:cNvCxnSpPr>
            <a:stCxn id="34" idx="0"/>
            <a:endCxn id="11" idx="4"/>
          </p:cNvCxnSpPr>
          <p:nvPr/>
        </p:nvCxnSpPr>
        <p:spPr>
          <a:xfrm flipV="1">
            <a:off x="3511558" y="4747077"/>
            <a:ext cx="307792" cy="22663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群組 43"/>
          <p:cNvGrpSpPr/>
          <p:nvPr/>
        </p:nvGrpSpPr>
        <p:grpSpPr>
          <a:xfrm>
            <a:off x="1878766" y="4924415"/>
            <a:ext cx="415499" cy="369332"/>
            <a:chOff x="3608710" y="4924415"/>
            <a:chExt cx="415499" cy="369332"/>
          </a:xfrm>
        </p:grpSpPr>
        <p:sp>
          <p:nvSpPr>
            <p:cNvPr id="30" name="橢圓 29"/>
            <p:cNvSpPr/>
            <p:nvPr/>
          </p:nvSpPr>
          <p:spPr>
            <a:xfrm>
              <a:off x="3672460" y="497533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文字方塊 35"/>
            <p:cNvSpPr txBox="1"/>
            <p:nvPr/>
          </p:nvSpPr>
          <p:spPr>
            <a:xfrm>
              <a:off x="3608710" y="4924415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7" name="文字方塊 36"/>
          <p:cNvSpPr txBox="1"/>
          <p:nvPr/>
        </p:nvSpPr>
        <p:spPr>
          <a:xfrm>
            <a:off x="2569470" y="492441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3314749" y="4934668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向下箭號 39"/>
          <p:cNvSpPr/>
          <p:nvPr/>
        </p:nvSpPr>
        <p:spPr>
          <a:xfrm>
            <a:off x="2013512" y="3677206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向下箭號 42"/>
          <p:cNvSpPr/>
          <p:nvPr/>
        </p:nvSpPr>
        <p:spPr>
          <a:xfrm>
            <a:off x="3389213" y="3665865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向下箭號 40"/>
          <p:cNvSpPr/>
          <p:nvPr/>
        </p:nvSpPr>
        <p:spPr>
          <a:xfrm>
            <a:off x="2681114" y="3152533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向下箭號 41"/>
          <p:cNvSpPr/>
          <p:nvPr/>
        </p:nvSpPr>
        <p:spPr>
          <a:xfrm>
            <a:off x="2355095" y="4227960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5" name="群組 44"/>
          <p:cNvGrpSpPr/>
          <p:nvPr/>
        </p:nvGrpSpPr>
        <p:grpSpPr>
          <a:xfrm>
            <a:off x="1887166" y="3851430"/>
            <a:ext cx="415499" cy="369332"/>
            <a:chOff x="3608710" y="4924415"/>
            <a:chExt cx="415499" cy="369332"/>
          </a:xfrm>
        </p:grpSpPr>
        <p:sp>
          <p:nvSpPr>
            <p:cNvPr id="46" name="橢圓 45"/>
            <p:cNvSpPr/>
            <p:nvPr/>
          </p:nvSpPr>
          <p:spPr>
            <a:xfrm>
              <a:off x="3672460" y="497533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文字方塊 46"/>
            <p:cNvSpPr txBox="1"/>
            <p:nvPr/>
          </p:nvSpPr>
          <p:spPr>
            <a:xfrm>
              <a:off x="3608710" y="4924415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42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8" name="圓角矩形 47"/>
          <p:cNvSpPr/>
          <p:nvPr/>
        </p:nvSpPr>
        <p:spPr>
          <a:xfrm>
            <a:off x="1868116" y="4924415"/>
            <a:ext cx="420360" cy="379585"/>
          </a:xfrm>
          <a:prstGeom prst="roundRect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橢圓 50"/>
          <p:cNvSpPr/>
          <p:nvPr/>
        </p:nvSpPr>
        <p:spPr>
          <a:xfrm>
            <a:off x="6154303" y="445907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橢圓 51"/>
          <p:cNvSpPr/>
          <p:nvPr/>
        </p:nvSpPr>
        <p:spPr>
          <a:xfrm>
            <a:off x="6840563" y="44532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橢圓 52"/>
          <p:cNvSpPr/>
          <p:nvPr/>
        </p:nvSpPr>
        <p:spPr>
          <a:xfrm>
            <a:off x="7532294" y="445907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4" name="直線接點 53"/>
          <p:cNvCxnSpPr>
            <a:stCxn id="50" idx="4"/>
            <a:endCxn id="49" idx="0"/>
          </p:cNvCxnSpPr>
          <p:nvPr/>
        </p:nvCxnSpPr>
        <p:spPr>
          <a:xfrm flipH="1">
            <a:off x="5283465" y="474129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橢圓 54"/>
          <p:cNvSpPr/>
          <p:nvPr/>
        </p:nvSpPr>
        <p:spPr>
          <a:xfrm>
            <a:off x="7180319" y="390695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橢圓 55"/>
          <p:cNvSpPr/>
          <p:nvPr/>
        </p:nvSpPr>
        <p:spPr>
          <a:xfrm>
            <a:off x="6480322" y="337786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7" name="直線接點 56"/>
          <p:cNvCxnSpPr>
            <a:stCxn id="55" idx="4"/>
            <a:endCxn id="53" idx="0"/>
          </p:cNvCxnSpPr>
          <p:nvPr/>
        </p:nvCxnSpPr>
        <p:spPr>
          <a:xfrm>
            <a:off x="7324319" y="419495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>
            <a:stCxn id="55" idx="4"/>
            <a:endCxn id="52" idx="0"/>
          </p:cNvCxnSpPr>
          <p:nvPr/>
        </p:nvCxnSpPr>
        <p:spPr>
          <a:xfrm flipH="1">
            <a:off x="6984563" y="419495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>
            <a:stCxn id="65" idx="4"/>
            <a:endCxn id="51" idx="0"/>
          </p:cNvCxnSpPr>
          <p:nvPr/>
        </p:nvCxnSpPr>
        <p:spPr>
          <a:xfrm>
            <a:off x="5948783" y="4194952"/>
            <a:ext cx="349520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>
            <a:stCxn id="65" idx="4"/>
            <a:endCxn id="50" idx="0"/>
          </p:cNvCxnSpPr>
          <p:nvPr/>
        </p:nvCxnSpPr>
        <p:spPr>
          <a:xfrm flipH="1">
            <a:off x="5606572" y="4194952"/>
            <a:ext cx="34221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>
            <a:stCxn id="56" idx="4"/>
            <a:endCxn id="55" idx="0"/>
          </p:cNvCxnSpPr>
          <p:nvPr/>
        </p:nvCxnSpPr>
        <p:spPr>
          <a:xfrm>
            <a:off x="6624322" y="3665865"/>
            <a:ext cx="699997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/>
          <p:cNvCxnSpPr>
            <a:stCxn id="56" idx="4"/>
            <a:endCxn id="65" idx="0"/>
          </p:cNvCxnSpPr>
          <p:nvPr/>
        </p:nvCxnSpPr>
        <p:spPr>
          <a:xfrm flipH="1">
            <a:off x="5948783" y="3665865"/>
            <a:ext cx="675539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6427441" y="332857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4" name="群組 63"/>
          <p:cNvGrpSpPr/>
          <p:nvPr/>
        </p:nvGrpSpPr>
        <p:grpSpPr>
          <a:xfrm>
            <a:off x="5748971" y="3857660"/>
            <a:ext cx="415499" cy="369332"/>
            <a:chOff x="3621971" y="3857660"/>
            <a:chExt cx="415499" cy="369332"/>
          </a:xfrm>
        </p:grpSpPr>
        <p:sp>
          <p:nvSpPr>
            <p:cNvPr id="65" name="橢圓 64"/>
            <p:cNvSpPr/>
            <p:nvPr/>
          </p:nvSpPr>
          <p:spPr>
            <a:xfrm>
              <a:off x="3677783" y="390695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文字方塊 65"/>
            <p:cNvSpPr txBox="1"/>
            <p:nvPr/>
          </p:nvSpPr>
          <p:spPr>
            <a:xfrm>
              <a:off x="3621971" y="3857660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39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7" name="文字方塊 66"/>
          <p:cNvSpPr txBox="1"/>
          <p:nvPr/>
        </p:nvSpPr>
        <p:spPr>
          <a:xfrm>
            <a:off x="7124672" y="384903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6092783" y="44040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6776813" y="440115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文字方塊 70"/>
          <p:cNvSpPr txBox="1"/>
          <p:nvPr/>
        </p:nvSpPr>
        <p:spPr>
          <a:xfrm>
            <a:off x="7476945" y="44040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橢圓 72"/>
          <p:cNvSpPr/>
          <p:nvPr/>
        </p:nvSpPr>
        <p:spPr>
          <a:xfrm>
            <a:off x="6491191" y="497533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4" name="直線接點 73"/>
          <p:cNvCxnSpPr>
            <a:stCxn id="51" idx="4"/>
            <a:endCxn id="79" idx="0"/>
          </p:cNvCxnSpPr>
          <p:nvPr/>
        </p:nvCxnSpPr>
        <p:spPr>
          <a:xfrm flipH="1">
            <a:off x="5943460" y="4747077"/>
            <a:ext cx="354843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接點 74"/>
          <p:cNvCxnSpPr>
            <a:stCxn id="51" idx="4"/>
            <a:endCxn id="73" idx="0"/>
          </p:cNvCxnSpPr>
          <p:nvPr/>
        </p:nvCxnSpPr>
        <p:spPr>
          <a:xfrm>
            <a:off x="6298303" y="4747077"/>
            <a:ext cx="336888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橢圓 75"/>
          <p:cNvSpPr/>
          <p:nvPr/>
        </p:nvSpPr>
        <p:spPr>
          <a:xfrm>
            <a:off x="7224502" y="497370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7" name="直線接點 76"/>
          <p:cNvCxnSpPr>
            <a:stCxn id="76" idx="0"/>
            <a:endCxn id="53" idx="4"/>
          </p:cNvCxnSpPr>
          <p:nvPr/>
        </p:nvCxnSpPr>
        <p:spPr>
          <a:xfrm flipV="1">
            <a:off x="7368502" y="4747077"/>
            <a:ext cx="307792" cy="22663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群組 77"/>
          <p:cNvGrpSpPr/>
          <p:nvPr/>
        </p:nvGrpSpPr>
        <p:grpSpPr>
          <a:xfrm>
            <a:off x="5735710" y="4924415"/>
            <a:ext cx="415499" cy="369332"/>
            <a:chOff x="3608710" y="4924415"/>
            <a:chExt cx="415499" cy="369332"/>
          </a:xfrm>
        </p:grpSpPr>
        <p:sp>
          <p:nvSpPr>
            <p:cNvPr id="79" name="橢圓 78"/>
            <p:cNvSpPr/>
            <p:nvPr/>
          </p:nvSpPr>
          <p:spPr>
            <a:xfrm>
              <a:off x="3672460" y="497533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文字方塊 79"/>
            <p:cNvSpPr txBox="1"/>
            <p:nvPr/>
          </p:nvSpPr>
          <p:spPr>
            <a:xfrm>
              <a:off x="3608710" y="4924415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文字方塊 80"/>
          <p:cNvSpPr txBox="1"/>
          <p:nvPr/>
        </p:nvSpPr>
        <p:spPr>
          <a:xfrm>
            <a:off x="6426414" y="492441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7171693" y="4934668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向下箭號 82"/>
          <p:cNvSpPr/>
          <p:nvPr/>
        </p:nvSpPr>
        <p:spPr>
          <a:xfrm>
            <a:off x="5870456" y="3677206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向下箭號 83"/>
          <p:cNvSpPr/>
          <p:nvPr/>
        </p:nvSpPr>
        <p:spPr>
          <a:xfrm>
            <a:off x="7246157" y="3665865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向下箭號 84"/>
          <p:cNvSpPr/>
          <p:nvPr/>
        </p:nvSpPr>
        <p:spPr>
          <a:xfrm>
            <a:off x="6538058" y="3152533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6" name="向下箭號 85"/>
          <p:cNvSpPr/>
          <p:nvPr/>
        </p:nvSpPr>
        <p:spPr>
          <a:xfrm>
            <a:off x="6212039" y="4227960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7" name="群組 86"/>
          <p:cNvGrpSpPr/>
          <p:nvPr/>
        </p:nvGrpSpPr>
        <p:grpSpPr>
          <a:xfrm>
            <a:off x="5744110" y="3851430"/>
            <a:ext cx="415499" cy="369332"/>
            <a:chOff x="3608710" y="4924415"/>
            <a:chExt cx="415499" cy="369332"/>
          </a:xfrm>
        </p:grpSpPr>
        <p:sp>
          <p:nvSpPr>
            <p:cNvPr id="88" name="橢圓 87"/>
            <p:cNvSpPr/>
            <p:nvPr/>
          </p:nvSpPr>
          <p:spPr>
            <a:xfrm>
              <a:off x="3672460" y="497533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文字方塊 88"/>
            <p:cNvSpPr txBox="1"/>
            <p:nvPr/>
          </p:nvSpPr>
          <p:spPr>
            <a:xfrm>
              <a:off x="3608710" y="4924415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0" name="圓角矩形 89"/>
          <p:cNvSpPr/>
          <p:nvPr/>
        </p:nvSpPr>
        <p:spPr>
          <a:xfrm>
            <a:off x="5387303" y="4405433"/>
            <a:ext cx="420360" cy="379585"/>
          </a:xfrm>
          <a:prstGeom prst="roundRect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1" name="直線接點 90"/>
          <p:cNvCxnSpPr>
            <a:stCxn id="65" idx="4"/>
            <a:endCxn id="49" idx="0"/>
          </p:cNvCxnSpPr>
          <p:nvPr/>
        </p:nvCxnSpPr>
        <p:spPr>
          <a:xfrm flipH="1">
            <a:off x="5283465" y="4194952"/>
            <a:ext cx="665318" cy="778980"/>
          </a:xfrm>
          <a:prstGeom prst="line">
            <a:avLst/>
          </a:prstGeom>
          <a:ln w="2857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字方塊 91"/>
          <p:cNvSpPr txBox="1"/>
          <p:nvPr/>
        </p:nvSpPr>
        <p:spPr>
          <a:xfrm>
            <a:off x="1007922" y="5779591"/>
            <a:ext cx="351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右子樹的最小值不會有左子樹</a:t>
            </a:r>
            <a:endParaRPr lang="zh-TW" altLang="en-US" sz="2000" b="1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3" name="文字方塊 92"/>
          <p:cNvSpPr txBox="1"/>
          <p:nvPr/>
        </p:nvSpPr>
        <p:spPr>
          <a:xfrm>
            <a:off x="4874707" y="5779591"/>
            <a:ext cx="351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左子樹的最大值不會有右子樹</a:t>
            </a:r>
            <a:endParaRPr lang="zh-TW" altLang="en-US" sz="2000" b="1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9784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8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0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1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68" grpId="0"/>
      <p:bldP spid="40" grpId="0" animBg="1"/>
      <p:bldP spid="43" grpId="0" animBg="1"/>
      <p:bldP spid="43" grpId="1" animBg="1"/>
      <p:bldP spid="41" grpId="0" animBg="1"/>
      <p:bldP spid="41" grpId="1" animBg="1"/>
      <p:bldP spid="42" grpId="0" animBg="1"/>
      <p:bldP spid="42" grpId="1" animBg="1"/>
      <p:bldP spid="48" grpId="0" animBg="1"/>
      <p:bldP spid="48" grpId="1" animBg="1"/>
      <p:bldP spid="83" grpId="0" animBg="1"/>
      <p:bldP spid="84" grpId="0" animBg="1"/>
      <p:bldP spid="84" grpId="1" animBg="1"/>
      <p:bldP spid="85" grpId="0" animBg="1"/>
      <p:bldP spid="85" grpId="1" animBg="1"/>
      <p:bldP spid="86" grpId="0" animBg="1"/>
      <p:bldP spid="86" grpId="1" animBg="1"/>
      <p:bldP spid="90" grpId="0" animBg="1"/>
      <p:bldP spid="90" grpId="1" animBg="1"/>
      <p:bldP spid="92" grpId="0"/>
      <p:bldP spid="9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二元搜尋樹</a:t>
            </a:r>
            <a:r>
              <a:rPr lang="zh-TW" altLang="en-US" dirty="0" smtClean="0"/>
              <a:t>的搜尋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鍵值</a:t>
            </a:r>
            <a:r>
              <a:rPr lang="en-US" altLang="zh-TW" dirty="0" smtClean="0"/>
              <a:t>(key value)</a:t>
            </a:r>
            <a:r>
              <a:rPr lang="zh-TW" altLang="en-US" dirty="0" smtClean="0"/>
              <a:t>：搜尋的值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zh-TW" altLang="en-US" dirty="0" smtClean="0"/>
              <a:t>最多需要比較次數為</a:t>
            </a:r>
            <a:r>
              <a:rPr lang="zh-TW" altLang="en-US" dirty="0" smtClean="0">
                <a:solidFill>
                  <a:srgbClr val="C00000"/>
                </a:solidFill>
              </a:rPr>
              <a:t>樹的高度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3012465" y="49739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3335572" y="44532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4027303" y="445907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4713563" y="44532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5405294" y="445907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8" idx="4"/>
            <a:endCxn id="7" idx="0"/>
          </p:cNvCxnSpPr>
          <p:nvPr/>
        </p:nvCxnSpPr>
        <p:spPr>
          <a:xfrm flipH="1">
            <a:off x="3156465" y="474129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3677783" y="390695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5053319" y="390695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4353322" y="337786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4" idx="4"/>
            <a:endCxn id="11" idx="0"/>
          </p:cNvCxnSpPr>
          <p:nvPr/>
        </p:nvCxnSpPr>
        <p:spPr>
          <a:xfrm>
            <a:off x="5197319" y="419495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4" idx="4"/>
            <a:endCxn id="10" idx="0"/>
          </p:cNvCxnSpPr>
          <p:nvPr/>
        </p:nvCxnSpPr>
        <p:spPr>
          <a:xfrm flipH="1">
            <a:off x="4857563" y="419495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3" idx="4"/>
            <a:endCxn id="9" idx="0"/>
          </p:cNvCxnSpPr>
          <p:nvPr/>
        </p:nvCxnSpPr>
        <p:spPr>
          <a:xfrm>
            <a:off x="3821783" y="4194952"/>
            <a:ext cx="349520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3" idx="4"/>
            <a:endCxn id="8" idx="0"/>
          </p:cNvCxnSpPr>
          <p:nvPr/>
        </p:nvCxnSpPr>
        <p:spPr>
          <a:xfrm flipH="1">
            <a:off x="3479572" y="4194952"/>
            <a:ext cx="34221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4497322" y="3665865"/>
            <a:ext cx="699997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4"/>
            <a:endCxn id="13" idx="0"/>
          </p:cNvCxnSpPr>
          <p:nvPr/>
        </p:nvCxnSpPr>
        <p:spPr>
          <a:xfrm flipH="1">
            <a:off x="3821783" y="3665865"/>
            <a:ext cx="675539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4300441" y="332857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621971" y="385766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4997672" y="384903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3271822" y="44040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965783" y="44040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649813" y="440115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349945" y="44040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948715" y="492441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3672460" y="497533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4364191" y="497533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9" idx="4"/>
            <a:endCxn id="30" idx="0"/>
          </p:cNvCxnSpPr>
          <p:nvPr/>
        </p:nvCxnSpPr>
        <p:spPr>
          <a:xfrm flipH="1">
            <a:off x="3816460" y="4747077"/>
            <a:ext cx="354843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9" idx="4"/>
            <a:endCxn id="31" idx="0"/>
          </p:cNvCxnSpPr>
          <p:nvPr/>
        </p:nvCxnSpPr>
        <p:spPr>
          <a:xfrm>
            <a:off x="4171303" y="4747077"/>
            <a:ext cx="336888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橢圓 33"/>
          <p:cNvSpPr/>
          <p:nvPr/>
        </p:nvSpPr>
        <p:spPr>
          <a:xfrm>
            <a:off x="5097502" y="497370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5" name="直線接點 34"/>
          <p:cNvCxnSpPr>
            <a:stCxn id="34" idx="0"/>
            <a:endCxn id="11" idx="4"/>
          </p:cNvCxnSpPr>
          <p:nvPr/>
        </p:nvCxnSpPr>
        <p:spPr>
          <a:xfrm flipV="1">
            <a:off x="5241502" y="4747077"/>
            <a:ext cx="307792" cy="22663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3608710" y="492441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4299414" y="492441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5044693" y="4934668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6312951" y="2136753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value: 69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1532573" y="2136753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value: 49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向下箭號 49"/>
          <p:cNvSpPr/>
          <p:nvPr/>
        </p:nvSpPr>
        <p:spPr>
          <a:xfrm>
            <a:off x="4420899" y="3190633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4057334" y="3327674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3927853" y="3849406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4272540" y="4418411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向下箭號 46"/>
          <p:cNvSpPr/>
          <p:nvPr/>
        </p:nvSpPr>
        <p:spPr>
          <a:xfrm>
            <a:off x="3730195" y="3697006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向下箭號 47"/>
          <p:cNvSpPr/>
          <p:nvPr/>
        </p:nvSpPr>
        <p:spPr>
          <a:xfrm>
            <a:off x="4100012" y="4261421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向下箭號 48"/>
          <p:cNvSpPr/>
          <p:nvPr/>
        </p:nvSpPr>
        <p:spPr>
          <a:xfrm>
            <a:off x="4420583" y="4778218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文字方塊 50"/>
          <p:cNvSpPr txBox="1"/>
          <p:nvPr/>
        </p:nvSpPr>
        <p:spPr>
          <a:xfrm>
            <a:off x="1949353" y="2506085"/>
            <a:ext cx="64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成功</a:t>
            </a:r>
            <a:endParaRPr lang="zh-TW" altLang="en-US" b="1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6729731" y="2506085"/>
            <a:ext cx="64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失敗</a:t>
            </a:r>
            <a:endParaRPr lang="zh-TW" altLang="en-US" b="1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4603222" y="3327674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4786730" y="3849034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4947909" y="4412626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向下箭號 55"/>
          <p:cNvSpPr/>
          <p:nvPr/>
        </p:nvSpPr>
        <p:spPr>
          <a:xfrm>
            <a:off x="5119157" y="3711862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向下箭號 56"/>
          <p:cNvSpPr/>
          <p:nvPr/>
        </p:nvSpPr>
        <p:spPr>
          <a:xfrm>
            <a:off x="4761278" y="4267727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0087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xit" presetSubtype="1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6" grpId="0"/>
      <p:bldP spid="50" grpId="0" animBg="1"/>
      <p:bldP spid="50" grpId="1" animBg="1"/>
      <p:bldP spid="50" grpId="2" animBg="1"/>
      <p:bldP spid="50" grpId="3" animBg="1"/>
      <p:bldP spid="43" grpId="0"/>
      <p:bldP spid="43" grpId="1"/>
      <p:bldP spid="44" grpId="0"/>
      <p:bldP spid="44" grpId="1"/>
      <p:bldP spid="45" grpId="0"/>
      <p:bldP spid="45" grpId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1" grpId="0"/>
      <p:bldP spid="52" grpId="0"/>
      <p:bldP spid="53" grpId="0"/>
      <p:bldP spid="54" grpId="0"/>
      <p:bldP spid="55" grpId="0"/>
      <p:bldP spid="56" grpId="0" animBg="1"/>
      <p:bldP spid="56" grpId="1" animBg="1"/>
      <p:bldP spid="57" grpId="0" animBg="1"/>
    </p:bldLst>
  </p:timing>
</p:sld>
</file>

<file path=ppt/theme/theme1.xml><?xml version="1.0" encoding="utf-8"?>
<a:theme xmlns:a="http://schemas.openxmlformats.org/drawingml/2006/main" name="NCKU3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NCKU3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CKU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簡報1" id="{1D2088C2-DF28-403B-A142-ABEFFB73DCD1}" vid="{F9685623-F412-4155-8B4F-1E431000369C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NTTU</Template>
  <TotalTime>14343</TotalTime>
  <Words>658</Words>
  <Application>Microsoft Office PowerPoint</Application>
  <PresentationFormat>如螢幕大小 (4:3)</PresentationFormat>
  <Paragraphs>216</Paragraphs>
  <Slides>9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8" baseType="lpstr">
      <vt:lpstr>新細明體</vt:lpstr>
      <vt:lpstr>標楷體</vt:lpstr>
      <vt:lpstr>Angsana New</vt:lpstr>
      <vt:lpstr>Arial</vt:lpstr>
      <vt:lpstr>Calibri</vt:lpstr>
      <vt:lpstr>Monotype Corsiva</vt:lpstr>
      <vt:lpstr>Nirmala UI</vt:lpstr>
      <vt:lpstr>Times New Roman</vt:lpstr>
      <vt:lpstr>NCKU3</vt:lpstr>
      <vt:lpstr>DATA STRUCTURES 資料結構</vt:lpstr>
      <vt:lpstr>二元搜尋樹  Binary Search Tree</vt:lpstr>
      <vt:lpstr>二元搜尋樹的插入與建立 (1/3)</vt:lpstr>
      <vt:lpstr>二元搜尋樹的插入與建立 (2/3)</vt:lpstr>
      <vt:lpstr>二元搜尋樹的插入與建立 (3/3)</vt:lpstr>
      <vt:lpstr>二元搜尋樹的刪除 (1/3)</vt:lpstr>
      <vt:lpstr>二元搜尋樹的刪除 (2/3)</vt:lpstr>
      <vt:lpstr>二元搜尋樹的刪除 (3/3)</vt:lpstr>
      <vt:lpstr>二元搜尋樹的搜尋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資料結構 Data Structure</dc:title>
  <dc:creator>C.-W. Lee</dc:creator>
  <cp:lastModifiedBy>admin</cp:lastModifiedBy>
  <cp:revision>92</cp:revision>
  <cp:lastPrinted>2022-09-24T09:12:24Z</cp:lastPrinted>
  <dcterms:created xsi:type="dcterms:W3CDTF">2018-01-10T03:26:15Z</dcterms:created>
  <dcterms:modified xsi:type="dcterms:W3CDTF">2026-01-27T06:31:07Z</dcterms:modified>
</cp:coreProperties>
</file>