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2026/3/11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3121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886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586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遞迴 </a:t>
            </a:r>
            <a:r>
              <a:rPr lang="en-US" altLang="zh-TW" dirty="0" smtClean="0"/>
              <a:t>Recursion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C00000"/>
                </a:solidFill>
              </a:rPr>
              <a:t>遞迴呼叫</a:t>
            </a:r>
            <a:r>
              <a:rPr lang="zh-TW" altLang="en-US" dirty="0" smtClean="0"/>
              <a:t>：呼叫的副程式就是自己 </a:t>
            </a:r>
            <a:r>
              <a:rPr lang="en-US" altLang="zh-TW" dirty="0" smtClean="0"/>
              <a:t>/</a:t>
            </a:r>
            <a:r>
              <a:rPr lang="zh-TW" altLang="en-US" dirty="0" smtClean="0"/>
              <a:t> 自己呼叫自己的現象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階乘函數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fact(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=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/>
              </a:rPr>
              <a:t> fact(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– 1) </a:t>
            </a:r>
          </a:p>
          <a:p>
            <a:pPr marL="0" indent="0">
              <a:buNone/>
            </a:pPr>
            <a:r>
              <a:rPr lang="en-US" altLang="zh-TW" dirty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           </a:t>
            </a:r>
            <a:r>
              <a:rPr lang="zh-TW" altLang="en-US" dirty="0" smtClean="0">
                <a:sym typeface="Symbol"/>
              </a:rPr>
              <a:t>  </a:t>
            </a:r>
            <a:r>
              <a:rPr lang="en-US" altLang="zh-TW" dirty="0" smtClean="0">
                <a:sym typeface="Symbol"/>
              </a:rPr>
              <a:t> =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 ((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– 1)  fact(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– 2))</a:t>
            </a:r>
          </a:p>
          <a:p>
            <a:pPr marL="0" indent="0">
              <a:buNone/>
            </a:pPr>
            <a:r>
              <a:rPr lang="en-US" altLang="zh-TW" dirty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           </a:t>
            </a:r>
            <a:r>
              <a:rPr lang="zh-TW" altLang="en-US" dirty="0" smtClean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=</a:t>
            </a:r>
            <a:r>
              <a:rPr lang="en-US" altLang="zh-TW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 ((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– 1)  </a:t>
            </a:r>
            <a:r>
              <a:rPr lang="en-US" altLang="zh-TW" dirty="0" smtClean="0">
                <a:sym typeface="Symbol"/>
              </a:rPr>
              <a:t>((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– 2)  fact(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– 3)))</a:t>
            </a:r>
          </a:p>
          <a:p>
            <a:pPr marL="0" indent="0">
              <a:buNone/>
            </a:pPr>
            <a:r>
              <a:rPr lang="en-US" altLang="zh-TW" dirty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           </a:t>
            </a:r>
            <a:r>
              <a:rPr lang="zh-TW" altLang="en-US" dirty="0" smtClean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= …</a:t>
            </a:r>
          </a:p>
          <a:p>
            <a:pPr marL="0" indent="0">
              <a:buNone/>
            </a:pPr>
            <a:r>
              <a:rPr lang="en-US" altLang="zh-TW" dirty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           </a:t>
            </a:r>
            <a:r>
              <a:rPr lang="zh-TW" altLang="en-US" dirty="0" smtClean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= 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 </a:t>
            </a:r>
            <a:r>
              <a:rPr lang="en-US" altLang="zh-TW" dirty="0" smtClean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– 1)  </a:t>
            </a:r>
            <a:r>
              <a:rPr lang="en-US" altLang="zh-TW" dirty="0" smtClean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– 2)  </a:t>
            </a:r>
            <a:r>
              <a:rPr lang="en-US" altLang="zh-TW" dirty="0" smtClean="0">
                <a:sym typeface="Symbol"/>
              </a:rPr>
              <a:t>…  2  1  fact(0)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720918" y="2362100"/>
                <a:ext cx="4147226" cy="7788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b="1" i="0" smtClean="0">
                          <a:latin typeface="Cambria Math"/>
                        </a:rPr>
                        <m:t>fact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  <a:ea typeface="Cambria Math"/>
                                </a:rPr>
                                <m:t>fact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/>
                                      <a:ea typeface="Cambria Math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  <a:ea typeface="Cambria Math"/>
                                </a:rPr>
                                <m:t>if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918" y="2362100"/>
                <a:ext cx="4147226" cy="7788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接點 8"/>
          <p:cNvCxnSpPr/>
          <p:nvPr/>
        </p:nvCxnSpPr>
        <p:spPr>
          <a:xfrm>
            <a:off x="1974731" y="3861048"/>
            <a:ext cx="1116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046817" y="4221088"/>
            <a:ext cx="1980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948748" y="4255592"/>
            <a:ext cx="108000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059863" y="4581128"/>
            <a:ext cx="198000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13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階層函數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fact(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f</a:t>
            </a:r>
            <a:r>
              <a:rPr lang="en-US" altLang="zh-TW" dirty="0" smtClean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if 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== 0)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     return 1;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i="1" dirty="0" smtClean="0"/>
              <a:t>     f</a:t>
            </a:r>
            <a:r>
              <a:rPr lang="en-US" altLang="zh-TW" dirty="0" smtClean="0"/>
              <a:t> = fact(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– 1);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return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/>
              </a:rPr>
              <a:t> </a:t>
            </a:r>
            <a:r>
              <a:rPr lang="en-US" altLang="zh-TW" i="1" dirty="0" smtClean="0">
                <a:sym typeface="Symbol"/>
              </a:rPr>
              <a:t>f</a:t>
            </a:r>
            <a:r>
              <a:rPr lang="en-US" altLang="zh-TW" dirty="0" smtClean="0">
                <a:sym typeface="Symbol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}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87925" y="2060848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終止條件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587925" y="2787106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遞迴呼叫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1785642" y="5227607"/>
            <a:ext cx="1173192" cy="552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fact(3)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3577061" y="5227606"/>
            <a:ext cx="1173192" cy="552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fact(2)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420239" y="5227607"/>
            <a:ext cx="1173192" cy="552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fact(1)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7257671" y="5227607"/>
            <a:ext cx="1173192" cy="552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fact(0)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線單箭頭接點 22"/>
          <p:cNvCxnSpPr>
            <a:stCxn id="18" idx="7"/>
            <a:endCxn id="19" idx="1"/>
          </p:cNvCxnSpPr>
          <p:nvPr/>
        </p:nvCxnSpPr>
        <p:spPr>
          <a:xfrm flipV="1">
            <a:off x="2787024" y="5308458"/>
            <a:ext cx="961847" cy="1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9" idx="7"/>
            <a:endCxn id="20" idx="1"/>
          </p:cNvCxnSpPr>
          <p:nvPr/>
        </p:nvCxnSpPr>
        <p:spPr>
          <a:xfrm>
            <a:off x="4578443" y="5308458"/>
            <a:ext cx="1013606" cy="1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20" idx="7"/>
            <a:endCxn id="21" idx="1"/>
          </p:cNvCxnSpPr>
          <p:nvPr/>
        </p:nvCxnSpPr>
        <p:spPr>
          <a:xfrm>
            <a:off x="6421621" y="5308459"/>
            <a:ext cx="100786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endCxn id="18" idx="1"/>
          </p:cNvCxnSpPr>
          <p:nvPr/>
        </p:nvCxnSpPr>
        <p:spPr>
          <a:xfrm>
            <a:off x="1001382" y="5308459"/>
            <a:ext cx="95607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群組 54"/>
          <p:cNvGrpSpPr/>
          <p:nvPr/>
        </p:nvGrpSpPr>
        <p:grpSpPr>
          <a:xfrm>
            <a:off x="6421621" y="5698846"/>
            <a:ext cx="1007860" cy="400110"/>
            <a:chOff x="6421621" y="5698846"/>
            <a:chExt cx="1007860" cy="400110"/>
          </a:xfrm>
        </p:grpSpPr>
        <p:cxnSp>
          <p:nvCxnSpPr>
            <p:cNvPr id="45" name="直線單箭頭接點 44"/>
            <p:cNvCxnSpPr>
              <a:stCxn id="21" idx="3"/>
              <a:endCxn id="20" idx="5"/>
            </p:cNvCxnSpPr>
            <p:nvPr/>
          </p:nvCxnSpPr>
          <p:spPr>
            <a:xfrm flipH="1">
              <a:off x="6421621" y="5698846"/>
              <a:ext cx="1007860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/>
            <p:cNvSpPr txBox="1"/>
            <p:nvPr/>
          </p:nvSpPr>
          <p:spPr>
            <a:xfrm>
              <a:off x="6769098" y="56988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4578443" y="5698845"/>
            <a:ext cx="1013606" cy="400111"/>
            <a:chOff x="4578443" y="5698845"/>
            <a:chExt cx="1013606" cy="400111"/>
          </a:xfrm>
        </p:grpSpPr>
        <p:cxnSp>
          <p:nvCxnSpPr>
            <p:cNvPr id="42" name="直線單箭頭接點 41"/>
            <p:cNvCxnSpPr>
              <a:stCxn id="20" idx="3"/>
              <a:endCxn id="19" idx="5"/>
            </p:cNvCxnSpPr>
            <p:nvPr/>
          </p:nvCxnSpPr>
          <p:spPr>
            <a:xfrm flipH="1" flipV="1">
              <a:off x="4578443" y="5698845"/>
              <a:ext cx="1013606" cy="1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4928793" y="56988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787024" y="5698845"/>
            <a:ext cx="961847" cy="400111"/>
            <a:chOff x="2787024" y="5698845"/>
            <a:chExt cx="961847" cy="400111"/>
          </a:xfrm>
        </p:grpSpPr>
        <p:cxnSp>
          <p:nvCxnSpPr>
            <p:cNvPr id="39" name="直線單箭頭接點 38"/>
            <p:cNvCxnSpPr>
              <a:stCxn id="19" idx="3"/>
              <a:endCxn id="18" idx="5"/>
            </p:cNvCxnSpPr>
            <p:nvPr/>
          </p:nvCxnSpPr>
          <p:spPr>
            <a:xfrm flipH="1">
              <a:off x="2787024" y="5698845"/>
              <a:ext cx="961847" cy="1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字方塊 49"/>
            <p:cNvSpPr txBox="1"/>
            <p:nvPr/>
          </p:nvSpPr>
          <p:spPr>
            <a:xfrm>
              <a:off x="3107298" y="56988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1001382" y="5698845"/>
            <a:ext cx="956070" cy="400110"/>
            <a:chOff x="1001382" y="5698845"/>
            <a:chExt cx="956070" cy="400110"/>
          </a:xfrm>
        </p:grpSpPr>
        <p:cxnSp>
          <p:nvCxnSpPr>
            <p:cNvPr id="36" name="直線單箭頭接點 35"/>
            <p:cNvCxnSpPr>
              <a:stCxn id="18" idx="3"/>
            </p:cNvCxnSpPr>
            <p:nvPr/>
          </p:nvCxnSpPr>
          <p:spPr>
            <a:xfrm flipH="1">
              <a:off x="1001382" y="5698846"/>
              <a:ext cx="956070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/>
            <p:cNvSpPr txBox="1"/>
            <p:nvPr/>
          </p:nvSpPr>
          <p:spPr>
            <a:xfrm>
              <a:off x="1322964" y="569884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67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階層</a:t>
            </a:r>
            <a:r>
              <a:rPr lang="zh-TW" altLang="en-US" dirty="0" smtClean="0"/>
              <a:t>函數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310056" y="2375942"/>
            <a:ext cx="89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fact(3)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334881" y="2375942"/>
            <a:ext cx="89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fact(2)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385065" y="2375942"/>
            <a:ext cx="89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fact(1)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317355" y="2375942"/>
            <a:ext cx="89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fact(0)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222679" y="4495551"/>
            <a:ext cx="1084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155737" y="4495551"/>
            <a:ext cx="1353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1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105553" y="4495551"/>
            <a:ext cx="1353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2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46076" y="4495972"/>
            <a:ext cx="1622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3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130518" y="3940594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= fact(2)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/>
          <p:cNvCxnSpPr>
            <a:stCxn id="7" idx="2"/>
            <a:endCxn id="15" idx="0"/>
          </p:cNvCxnSpPr>
          <p:nvPr/>
        </p:nvCxnSpPr>
        <p:spPr>
          <a:xfrm flipH="1">
            <a:off x="1757453" y="2776052"/>
            <a:ext cx="2" cy="116454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5" idx="3"/>
            <a:endCxn id="8" idx="1"/>
          </p:cNvCxnSpPr>
          <p:nvPr/>
        </p:nvCxnSpPr>
        <p:spPr>
          <a:xfrm flipV="1">
            <a:off x="2384387" y="2575997"/>
            <a:ext cx="950494" cy="156465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3155341" y="3940594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= fact(1)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單箭頭接點 25"/>
          <p:cNvCxnSpPr>
            <a:stCxn id="8" idx="2"/>
            <a:endCxn id="25" idx="0"/>
          </p:cNvCxnSpPr>
          <p:nvPr/>
        </p:nvCxnSpPr>
        <p:spPr>
          <a:xfrm flipH="1">
            <a:off x="3782276" y="2776052"/>
            <a:ext cx="4" cy="116454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3" idx="1"/>
            <a:endCxn id="14" idx="3"/>
          </p:cNvCxnSpPr>
          <p:nvPr/>
        </p:nvCxnSpPr>
        <p:spPr>
          <a:xfrm flipH="1">
            <a:off x="2568828" y="4695606"/>
            <a:ext cx="536725" cy="42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25" idx="3"/>
            <a:endCxn id="9" idx="1"/>
          </p:cNvCxnSpPr>
          <p:nvPr/>
        </p:nvCxnSpPr>
        <p:spPr>
          <a:xfrm flipV="1">
            <a:off x="4409210" y="2575997"/>
            <a:ext cx="975855" cy="156465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5205525" y="3940594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= fact(0)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線單箭頭接點 38"/>
          <p:cNvCxnSpPr>
            <a:stCxn id="9" idx="2"/>
            <a:endCxn id="38" idx="0"/>
          </p:cNvCxnSpPr>
          <p:nvPr/>
        </p:nvCxnSpPr>
        <p:spPr>
          <a:xfrm flipH="1">
            <a:off x="5832460" y="2776052"/>
            <a:ext cx="4" cy="116454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38" idx="3"/>
            <a:endCxn id="10" idx="1"/>
          </p:cNvCxnSpPr>
          <p:nvPr/>
        </p:nvCxnSpPr>
        <p:spPr>
          <a:xfrm flipV="1">
            <a:off x="6459394" y="2575997"/>
            <a:ext cx="857961" cy="156465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10" idx="2"/>
            <a:endCxn id="11" idx="0"/>
          </p:cNvCxnSpPr>
          <p:nvPr/>
        </p:nvCxnSpPr>
        <p:spPr>
          <a:xfrm flipH="1">
            <a:off x="7764751" y="2776052"/>
            <a:ext cx="3" cy="171949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1" idx="1"/>
            <a:endCxn id="12" idx="3"/>
          </p:cNvCxnSpPr>
          <p:nvPr/>
        </p:nvCxnSpPr>
        <p:spPr>
          <a:xfrm flipH="1">
            <a:off x="6509184" y="4695606"/>
            <a:ext cx="713495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12" idx="1"/>
            <a:endCxn id="13" idx="3"/>
          </p:cNvCxnSpPr>
          <p:nvPr/>
        </p:nvCxnSpPr>
        <p:spPr>
          <a:xfrm flipH="1">
            <a:off x="4459000" y="4695606"/>
            <a:ext cx="69673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endCxn id="7" idx="0"/>
          </p:cNvCxnSpPr>
          <p:nvPr/>
        </p:nvCxnSpPr>
        <p:spPr>
          <a:xfrm>
            <a:off x="1757455" y="2057184"/>
            <a:ext cx="0" cy="31875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14" idx="2"/>
          </p:cNvCxnSpPr>
          <p:nvPr/>
        </p:nvCxnSpPr>
        <p:spPr>
          <a:xfrm>
            <a:off x="1757452" y="4896082"/>
            <a:ext cx="3" cy="49621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78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河內塔 </a:t>
            </a:r>
            <a:r>
              <a:rPr lang="en-US" altLang="zh-TW" dirty="0" smtClean="0"/>
              <a:t>Towers of Hanoi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目標：把</a:t>
            </a:r>
            <a:r>
              <a:rPr lang="en-US" altLang="zh-TW" i="1" dirty="0" smtClean="0"/>
              <a:t>n</a:t>
            </a:r>
            <a:r>
              <a:rPr lang="zh-TW" altLang="en-US" dirty="0" smtClean="0"/>
              <a:t>個盤子由</a:t>
            </a:r>
            <a:r>
              <a:rPr lang="en-US" altLang="zh-TW" dirty="0" smtClean="0"/>
              <a:t>A</a:t>
            </a:r>
            <a:r>
              <a:rPr lang="zh-TW" altLang="en-US" dirty="0" smtClean="0"/>
              <a:t>塔柱搬至</a:t>
            </a:r>
            <a:r>
              <a:rPr lang="en-US" altLang="zh-TW" dirty="0" smtClean="0"/>
              <a:t>C</a:t>
            </a:r>
            <a:r>
              <a:rPr lang="zh-TW" altLang="en-US" dirty="0" smtClean="0"/>
              <a:t>塔柱</a:t>
            </a:r>
            <a:r>
              <a:rPr lang="en-US" altLang="zh-TW" dirty="0" smtClean="0"/>
              <a:t>	</a:t>
            </a:r>
          </a:p>
          <a:p>
            <a:pPr lvl="1"/>
            <a:r>
              <a:rPr lang="zh-TW" altLang="en-US" dirty="0" smtClean="0"/>
              <a:t>一次只能搬動一個盤子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大盤子不能壓在小盤子上面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不違反規則</a:t>
            </a:r>
            <a:r>
              <a:rPr lang="en-US" altLang="zh-TW" dirty="0" smtClean="0"/>
              <a:t>2</a:t>
            </a:r>
            <a:r>
              <a:rPr lang="zh-TW" altLang="en-US" dirty="0" smtClean="0"/>
              <a:t>的情況下，盤子可暫放任何塔柱上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1275161" y="5825849"/>
            <a:ext cx="637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圓柱 8"/>
          <p:cNvSpPr/>
          <p:nvPr/>
        </p:nvSpPr>
        <p:spPr>
          <a:xfrm>
            <a:off x="2027229" y="3406633"/>
            <a:ext cx="301925" cy="241921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柱 9"/>
          <p:cNvSpPr/>
          <p:nvPr/>
        </p:nvSpPr>
        <p:spPr>
          <a:xfrm>
            <a:off x="4344835" y="3406633"/>
            <a:ext cx="301925" cy="241921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1319863" y="5591025"/>
            <a:ext cx="1647645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柱 12"/>
          <p:cNvSpPr/>
          <p:nvPr/>
        </p:nvSpPr>
        <p:spPr>
          <a:xfrm>
            <a:off x="6715530" y="3406632"/>
            <a:ext cx="301925" cy="241921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>
            <a:off x="1436164" y="5356202"/>
            <a:ext cx="1440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1553386" y="5121379"/>
            <a:ext cx="1188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966340" y="582584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A</a:t>
            </a:r>
            <a:endParaRPr lang="zh-TW" altLang="en-US" b="1" dirty="0">
              <a:latin typeface="+mj-lt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310490" y="5831525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B</a:t>
            </a:r>
            <a:endParaRPr lang="zh-TW" altLang="en-US" b="1" dirty="0">
              <a:latin typeface="+mj-lt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681185" y="583720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C</a:t>
            </a:r>
            <a:endParaRPr lang="zh-TW" altLang="en-US" b="1" dirty="0">
              <a:latin typeface="+mj-lt"/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6272492" y="5588219"/>
            <a:ext cx="1188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 19"/>
          <p:cNvSpPr/>
          <p:nvPr/>
        </p:nvSpPr>
        <p:spPr>
          <a:xfrm>
            <a:off x="3768584" y="5591024"/>
            <a:ext cx="1440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3899145" y="5352378"/>
            <a:ext cx="1188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6044218" y="5599571"/>
            <a:ext cx="1647645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圓角矩形 22"/>
          <p:cNvSpPr/>
          <p:nvPr/>
        </p:nvSpPr>
        <p:spPr>
          <a:xfrm>
            <a:off x="1553386" y="5596702"/>
            <a:ext cx="1188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圓角矩形 23"/>
          <p:cNvSpPr/>
          <p:nvPr/>
        </p:nvSpPr>
        <p:spPr>
          <a:xfrm>
            <a:off x="6146634" y="5358556"/>
            <a:ext cx="1440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圓角矩形 24"/>
          <p:cNvSpPr/>
          <p:nvPr/>
        </p:nvSpPr>
        <p:spPr>
          <a:xfrm>
            <a:off x="6272492" y="5121379"/>
            <a:ext cx="1188000" cy="2348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52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3" grpId="0" animBg="1"/>
      <p:bldP spid="23" grpId="1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8</a:t>
            </a:r>
            <a:r>
              <a:rPr lang="zh-TW" altLang="en-US" dirty="0" smtClean="0"/>
              <a:t>后遊戲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目標：擺放</a:t>
            </a:r>
            <a:r>
              <a:rPr lang="en-US" altLang="zh-TW" dirty="0" smtClean="0"/>
              <a:t>8</a:t>
            </a:r>
            <a:r>
              <a:rPr lang="zh-TW" altLang="en-US" dirty="0" smtClean="0"/>
              <a:t>個皇后至適當的位置，讓她們能和平相處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任兩個皇后不會位於</a:t>
            </a:r>
            <a:r>
              <a:rPr lang="zh-TW" altLang="en-US" dirty="0" smtClean="0">
                <a:solidFill>
                  <a:srgbClr val="0000FF"/>
                </a:solidFill>
              </a:rPr>
              <a:t>同一列</a:t>
            </a:r>
            <a:r>
              <a:rPr lang="zh-TW" altLang="en-US" dirty="0" smtClean="0"/>
              <a:t>、</a:t>
            </a:r>
            <a:r>
              <a:rPr lang="zh-TW" altLang="en-US" dirty="0" smtClean="0">
                <a:solidFill>
                  <a:srgbClr val="00B050"/>
                </a:solidFill>
              </a:rPr>
              <a:t>同一行</a:t>
            </a:r>
            <a:r>
              <a:rPr lang="zh-TW" altLang="en-US" dirty="0" smtClean="0"/>
              <a:t>、</a:t>
            </a:r>
            <a:r>
              <a:rPr lang="zh-TW" altLang="en-US" dirty="0" smtClean="0">
                <a:solidFill>
                  <a:srgbClr val="C00000"/>
                </a:solidFill>
              </a:rPr>
              <a:t>同一對角線</a:t>
            </a:r>
            <a:r>
              <a:rPr lang="zh-TW" altLang="en-US" dirty="0" smtClean="0"/>
              <a:t>上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869822"/>
            <a:ext cx="3094007" cy="2125177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355976" y="2276872"/>
          <a:ext cx="4182752" cy="36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988" y="2321762"/>
            <a:ext cx="405000" cy="3600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92" y="2321762"/>
            <a:ext cx="405000" cy="3600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92" y="3212976"/>
            <a:ext cx="405000" cy="36000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806" y="4581128"/>
            <a:ext cx="405000" cy="36000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808" y="4118230"/>
            <a:ext cx="405000" cy="360000"/>
          </a:xfrm>
          <a:prstGeom prst="rect">
            <a:avLst/>
          </a:prstGeom>
        </p:spPr>
      </p:pic>
      <p:cxnSp>
        <p:nvCxnSpPr>
          <p:cNvPr id="15" name="直線接點 14"/>
          <p:cNvCxnSpPr/>
          <p:nvPr/>
        </p:nvCxnSpPr>
        <p:spPr>
          <a:xfrm flipH="1">
            <a:off x="4351432" y="2276036"/>
            <a:ext cx="3626875" cy="3130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688994" y="2276872"/>
            <a:ext cx="0" cy="3600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4355976" y="2276872"/>
            <a:ext cx="4182752" cy="3600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4355976" y="2511430"/>
            <a:ext cx="4182752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2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</a:t>
            </a:r>
            <a:r>
              <a:rPr lang="zh-TW" altLang="en-US" dirty="0"/>
              <a:t>后遊戲 </a:t>
            </a:r>
            <a:r>
              <a:rPr lang="en-US" altLang="zh-TW" dirty="0" smtClean="0"/>
              <a:t>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回溯 </a:t>
            </a:r>
            <a:r>
              <a:rPr lang="en-US" altLang="zh-TW" dirty="0" smtClean="0"/>
              <a:t>/ </a:t>
            </a:r>
            <a:r>
              <a:rPr lang="zh-TW" altLang="en-US" dirty="0" smtClean="0"/>
              <a:t>往回追蹤 </a:t>
            </a:r>
            <a:r>
              <a:rPr lang="en-US" altLang="zh-TW" dirty="0" smtClean="0"/>
              <a:t>(backtracking)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11434" y="1969772"/>
          <a:ext cx="2091376" cy="18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8" y="2017108"/>
            <a:ext cx="405000" cy="3600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66" y="2467650"/>
            <a:ext cx="405000" cy="36000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2387048" y="1969772"/>
          <a:ext cx="2091376" cy="18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82" y="2017108"/>
            <a:ext cx="405000" cy="3600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2467650"/>
            <a:ext cx="405000" cy="360000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4662662" y="1977373"/>
          <a:ext cx="2091376" cy="18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496" y="2024709"/>
            <a:ext cx="405000" cy="36000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494" y="2475251"/>
            <a:ext cx="405000" cy="360000"/>
          </a:xfrm>
          <a:prstGeom prst="rect">
            <a:avLst/>
          </a:prstGeom>
        </p:spPr>
      </p:pic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6932611" y="1977373"/>
          <a:ext cx="2091376" cy="18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445" y="2024709"/>
            <a:ext cx="405000" cy="36000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443" y="2475251"/>
            <a:ext cx="405000" cy="36000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8" y="2922322"/>
            <a:ext cx="405000" cy="360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216" y="2922322"/>
            <a:ext cx="405000" cy="360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494" y="2928935"/>
            <a:ext cx="405000" cy="360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009" y="2928935"/>
            <a:ext cx="405000" cy="360000"/>
          </a:xfrm>
          <a:prstGeom prst="rect">
            <a:avLst/>
          </a:prstGeom>
          <a:ln>
            <a:solidFill>
              <a:srgbClr val="C00000"/>
            </a:solidFill>
          </a:ln>
        </p:spPr>
      </p:pic>
      <p:graphicFrame>
        <p:nvGraphicFramePr>
          <p:cNvPr id="23" name="表格 22"/>
          <p:cNvGraphicFramePr>
            <a:graphicFrameLocks noGrp="1"/>
          </p:cNvGraphicFramePr>
          <p:nvPr>
            <p:extLst/>
          </p:nvPr>
        </p:nvGraphicFramePr>
        <p:xfrm>
          <a:off x="2387048" y="4367124"/>
          <a:ext cx="2091376" cy="18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" name="圖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82" y="4414460"/>
            <a:ext cx="405000" cy="3600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4865002"/>
            <a:ext cx="405000" cy="36000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57" y="5770056"/>
            <a:ext cx="405000" cy="360000"/>
          </a:xfrm>
          <a:prstGeom prst="rect">
            <a:avLst/>
          </a:prstGeom>
          <a:ln>
            <a:solidFill>
              <a:srgbClr val="C00000"/>
            </a:solidFill>
          </a:ln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4665861" y="4367124"/>
          <a:ext cx="2091376" cy="18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" name="圖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695" y="4414460"/>
            <a:ext cx="405000" cy="360000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4865002"/>
            <a:ext cx="405000" cy="360000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748" y="5313564"/>
            <a:ext cx="405000" cy="3600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19477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內容版面配置區 2"/>
          <p:cNvSpPr>
            <a:spLocks noGrp="1"/>
          </p:cNvSpPr>
          <p:nvPr>
            <p:ph idx="1"/>
          </p:nvPr>
        </p:nvSpPr>
        <p:spPr>
          <a:xfrm>
            <a:off x="152410" y="1257673"/>
            <a:ext cx="8833935" cy="5267671"/>
          </a:xfrm>
        </p:spPr>
        <p:txBody>
          <a:bodyPr/>
          <a:lstStyle/>
          <a:p>
            <a:r>
              <a:rPr lang="zh-TW" altLang="en-US" dirty="0" smtClean="0"/>
              <a:t>當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</a:t>
            </a:r>
            <a:r>
              <a:rPr lang="zh-TW" altLang="en-US" dirty="0"/>
              <a:t>后遊戲 </a:t>
            </a:r>
            <a:r>
              <a:rPr lang="en-US" altLang="zh-TW" dirty="0" smtClean="0"/>
              <a:t>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960607" y="14539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3"/>
          <a:srcRect l="2403" t="2997" r="2624" b="2527"/>
          <a:stretch/>
        </p:blipFill>
        <p:spPr>
          <a:xfrm>
            <a:off x="4045316" y="2191959"/>
            <a:ext cx="768355" cy="7200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4"/>
          <a:srcRect l="1067" t="1292" r="1523" b="2496"/>
          <a:stretch/>
        </p:blipFill>
        <p:spPr>
          <a:xfrm>
            <a:off x="5164083" y="2191959"/>
            <a:ext cx="772331" cy="72000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5"/>
          <a:srcRect l="2352" t="1978" r="3759" b="3092"/>
          <a:stretch/>
        </p:blipFill>
        <p:spPr>
          <a:xfrm>
            <a:off x="6286826" y="2191959"/>
            <a:ext cx="766683" cy="72000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6"/>
          <a:srcRect l="2392" t="1604" r="4447" b="3466"/>
          <a:stretch/>
        </p:blipFill>
        <p:spPr>
          <a:xfrm>
            <a:off x="7403921" y="2191959"/>
            <a:ext cx="768479" cy="72000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7"/>
          <a:srcRect l="4621" t="3413" r="6397" b="7203"/>
          <a:stretch/>
        </p:blipFill>
        <p:spPr>
          <a:xfrm>
            <a:off x="2980227" y="3293751"/>
            <a:ext cx="768479" cy="72000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 rotWithShape="1">
          <a:blip r:embed="rId8"/>
          <a:srcRect l="4931" t="3988" r="4511" b="6233"/>
          <a:stretch/>
        </p:blipFill>
        <p:spPr>
          <a:xfrm>
            <a:off x="4039671" y="3293751"/>
            <a:ext cx="774000" cy="720000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 rotWithShape="1">
          <a:blip r:embed="rId9"/>
          <a:srcRect l="4730" t="4480" r="4543" b="3932"/>
          <a:stretch/>
        </p:blipFill>
        <p:spPr>
          <a:xfrm>
            <a:off x="5104636" y="3293751"/>
            <a:ext cx="768479" cy="72000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 rotWithShape="1">
          <a:blip r:embed="rId10"/>
          <a:srcRect l="4247" t="3705" r="5826" b="5439"/>
          <a:stretch/>
        </p:blipFill>
        <p:spPr>
          <a:xfrm>
            <a:off x="6164080" y="3293751"/>
            <a:ext cx="764777" cy="72000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 rotWithShape="1">
          <a:blip r:embed="rId11"/>
          <a:srcRect l="743" t="2660" r="78311" b="7920"/>
          <a:stretch/>
        </p:blipFill>
        <p:spPr>
          <a:xfrm>
            <a:off x="1896574" y="4395543"/>
            <a:ext cx="772318" cy="720000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 rotWithShape="1">
          <a:blip r:embed="rId11"/>
          <a:srcRect l="25269" t="2660" r="53852" b="7920"/>
          <a:stretch/>
        </p:blipFill>
        <p:spPr>
          <a:xfrm>
            <a:off x="2964030" y="4395543"/>
            <a:ext cx="769827" cy="720000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11"/>
          <a:srcRect l="49769" t="2660" r="29328" b="7920"/>
          <a:stretch/>
        </p:blipFill>
        <p:spPr>
          <a:xfrm>
            <a:off x="4028995" y="4395543"/>
            <a:ext cx="770727" cy="720000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11"/>
          <a:srcRect l="74301" t="2660" r="4821" b="7920"/>
          <a:stretch/>
        </p:blipFill>
        <p:spPr>
          <a:xfrm>
            <a:off x="5083389" y="4395543"/>
            <a:ext cx="769827" cy="720000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 rotWithShape="1">
          <a:blip r:embed="rId12"/>
          <a:srcRect l="1081" t="4385" r="77635" b="5896"/>
          <a:stretch/>
        </p:blipFill>
        <p:spPr>
          <a:xfrm>
            <a:off x="841725" y="5497335"/>
            <a:ext cx="763636" cy="7200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12"/>
          <a:srcRect l="26164" t="4385" r="52552" b="5896"/>
          <a:stretch/>
        </p:blipFill>
        <p:spPr>
          <a:xfrm>
            <a:off x="1897466" y="5497335"/>
            <a:ext cx="763637" cy="72000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12"/>
          <a:srcRect l="51094" t="4385" r="27555" b="5896"/>
          <a:stretch/>
        </p:blipFill>
        <p:spPr>
          <a:xfrm>
            <a:off x="2967797" y="5497335"/>
            <a:ext cx="766060" cy="720000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 rotWithShape="1">
          <a:blip r:embed="rId12"/>
          <a:srcRect l="76176" t="4385" r="2540" b="5896"/>
          <a:stretch/>
        </p:blipFill>
        <p:spPr>
          <a:xfrm>
            <a:off x="4022953" y="5497335"/>
            <a:ext cx="763636" cy="720000"/>
          </a:xfrm>
          <a:prstGeom prst="rect">
            <a:avLst/>
          </a:prstGeom>
        </p:spPr>
      </p:pic>
      <p:cxnSp>
        <p:nvCxnSpPr>
          <p:cNvPr id="29" name="直線接點 28"/>
          <p:cNvCxnSpPr>
            <a:stCxn id="7" idx="4"/>
            <a:endCxn id="11" idx="0"/>
          </p:cNvCxnSpPr>
          <p:nvPr/>
        </p:nvCxnSpPr>
        <p:spPr>
          <a:xfrm flipH="1">
            <a:off x="4429494" y="1741968"/>
            <a:ext cx="1675113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7" idx="4"/>
            <a:endCxn id="12" idx="0"/>
          </p:cNvCxnSpPr>
          <p:nvPr/>
        </p:nvCxnSpPr>
        <p:spPr>
          <a:xfrm flipH="1">
            <a:off x="5550249" y="1741968"/>
            <a:ext cx="554358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7" idx="4"/>
            <a:endCxn id="13" idx="0"/>
          </p:cNvCxnSpPr>
          <p:nvPr/>
        </p:nvCxnSpPr>
        <p:spPr>
          <a:xfrm>
            <a:off x="6104607" y="1741968"/>
            <a:ext cx="565561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7" idx="4"/>
            <a:endCxn id="14" idx="0"/>
          </p:cNvCxnSpPr>
          <p:nvPr/>
        </p:nvCxnSpPr>
        <p:spPr>
          <a:xfrm>
            <a:off x="6104607" y="1741968"/>
            <a:ext cx="1683554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11" idx="2"/>
            <a:endCxn id="15" idx="0"/>
          </p:cNvCxnSpPr>
          <p:nvPr/>
        </p:nvCxnSpPr>
        <p:spPr>
          <a:xfrm flipH="1">
            <a:off x="3364467" y="2911959"/>
            <a:ext cx="1065027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11" idx="2"/>
            <a:endCxn id="16" idx="0"/>
          </p:cNvCxnSpPr>
          <p:nvPr/>
        </p:nvCxnSpPr>
        <p:spPr>
          <a:xfrm flipH="1">
            <a:off x="4426671" y="2911959"/>
            <a:ext cx="2823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11" idx="2"/>
            <a:endCxn id="17" idx="0"/>
          </p:cNvCxnSpPr>
          <p:nvPr/>
        </p:nvCxnSpPr>
        <p:spPr>
          <a:xfrm>
            <a:off x="4429494" y="2911959"/>
            <a:ext cx="1059382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11" idx="2"/>
            <a:endCxn id="18" idx="0"/>
          </p:cNvCxnSpPr>
          <p:nvPr/>
        </p:nvCxnSpPr>
        <p:spPr>
          <a:xfrm>
            <a:off x="4429494" y="2911959"/>
            <a:ext cx="2116975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15" idx="2"/>
            <a:endCxn id="23" idx="0"/>
          </p:cNvCxnSpPr>
          <p:nvPr/>
        </p:nvCxnSpPr>
        <p:spPr>
          <a:xfrm>
            <a:off x="3364467" y="4013751"/>
            <a:ext cx="2103836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15" idx="2"/>
            <a:endCxn id="22" idx="0"/>
          </p:cNvCxnSpPr>
          <p:nvPr/>
        </p:nvCxnSpPr>
        <p:spPr>
          <a:xfrm>
            <a:off x="3364467" y="4013751"/>
            <a:ext cx="1049892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15" idx="2"/>
            <a:endCxn id="21" idx="0"/>
          </p:cNvCxnSpPr>
          <p:nvPr/>
        </p:nvCxnSpPr>
        <p:spPr>
          <a:xfrm flipH="1">
            <a:off x="3348944" y="4013751"/>
            <a:ext cx="15523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15" idx="2"/>
            <a:endCxn id="19" idx="0"/>
          </p:cNvCxnSpPr>
          <p:nvPr/>
        </p:nvCxnSpPr>
        <p:spPr>
          <a:xfrm flipH="1">
            <a:off x="2282733" y="4013751"/>
            <a:ext cx="1081734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19" idx="2"/>
            <a:endCxn id="25" idx="0"/>
          </p:cNvCxnSpPr>
          <p:nvPr/>
        </p:nvCxnSpPr>
        <p:spPr>
          <a:xfrm flipH="1">
            <a:off x="2279285" y="5115543"/>
            <a:ext cx="3448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19" idx="2"/>
            <a:endCxn id="26" idx="0"/>
          </p:cNvCxnSpPr>
          <p:nvPr/>
        </p:nvCxnSpPr>
        <p:spPr>
          <a:xfrm>
            <a:off x="2282733" y="5115543"/>
            <a:ext cx="1068094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19" idx="2"/>
            <a:endCxn id="24" idx="0"/>
          </p:cNvCxnSpPr>
          <p:nvPr/>
        </p:nvCxnSpPr>
        <p:spPr>
          <a:xfrm flipH="1">
            <a:off x="1223543" y="5115543"/>
            <a:ext cx="1059190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19" idx="2"/>
            <a:endCxn id="27" idx="0"/>
          </p:cNvCxnSpPr>
          <p:nvPr/>
        </p:nvCxnSpPr>
        <p:spPr>
          <a:xfrm>
            <a:off x="2282733" y="5115543"/>
            <a:ext cx="2122038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十字形 78"/>
          <p:cNvSpPr/>
          <p:nvPr/>
        </p:nvSpPr>
        <p:spPr>
          <a:xfrm>
            <a:off x="3220466" y="350975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十字形 79"/>
          <p:cNvSpPr/>
          <p:nvPr/>
        </p:nvSpPr>
        <p:spPr>
          <a:xfrm>
            <a:off x="4270358" y="350604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十字形 80"/>
          <p:cNvSpPr/>
          <p:nvPr/>
        </p:nvSpPr>
        <p:spPr>
          <a:xfrm>
            <a:off x="2143981" y="461524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十字形 81"/>
          <p:cNvSpPr/>
          <p:nvPr/>
        </p:nvSpPr>
        <p:spPr>
          <a:xfrm>
            <a:off x="3193873" y="461154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十字形 82"/>
          <p:cNvSpPr/>
          <p:nvPr/>
        </p:nvSpPr>
        <p:spPr>
          <a:xfrm>
            <a:off x="4270358" y="462218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十字形 83"/>
          <p:cNvSpPr/>
          <p:nvPr/>
        </p:nvSpPr>
        <p:spPr>
          <a:xfrm>
            <a:off x="5320250" y="4618480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十字形 84"/>
          <p:cNvSpPr/>
          <p:nvPr/>
        </p:nvSpPr>
        <p:spPr>
          <a:xfrm>
            <a:off x="1079543" y="5756684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十字形 85"/>
          <p:cNvSpPr/>
          <p:nvPr/>
        </p:nvSpPr>
        <p:spPr>
          <a:xfrm>
            <a:off x="2129435" y="575298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十字形 86"/>
          <p:cNvSpPr/>
          <p:nvPr/>
        </p:nvSpPr>
        <p:spPr>
          <a:xfrm>
            <a:off x="3205920" y="576362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十字形 87"/>
          <p:cNvSpPr/>
          <p:nvPr/>
        </p:nvSpPr>
        <p:spPr>
          <a:xfrm>
            <a:off x="4255812" y="575991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6" name="表格 55"/>
          <p:cNvGraphicFramePr>
            <a:graphicFrameLocks noGrp="1"/>
          </p:cNvGraphicFramePr>
          <p:nvPr>
            <p:extLst/>
          </p:nvPr>
        </p:nvGraphicFramePr>
        <p:xfrm>
          <a:off x="6546469" y="4636417"/>
          <a:ext cx="2091376" cy="18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4" name="圖片 6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9940" y="4682475"/>
            <a:ext cx="405000" cy="360000"/>
          </a:xfrm>
          <a:prstGeom prst="rect">
            <a:avLst/>
          </a:prstGeom>
        </p:spPr>
      </p:pic>
      <p:pic>
        <p:nvPicPr>
          <p:cNvPr id="65" name="圖片 6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8578" y="5137335"/>
            <a:ext cx="405000" cy="360000"/>
          </a:xfrm>
          <a:prstGeom prst="rect">
            <a:avLst/>
          </a:prstGeom>
        </p:spPr>
      </p:pic>
      <p:pic>
        <p:nvPicPr>
          <p:cNvPr id="68" name="圖片 6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3967" y="5579918"/>
            <a:ext cx="405000" cy="360000"/>
          </a:xfrm>
          <a:prstGeom prst="rect">
            <a:avLst/>
          </a:prstGeom>
        </p:spPr>
      </p:pic>
      <p:pic>
        <p:nvPicPr>
          <p:cNvPr id="70" name="圖片 6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9488" y="6027675"/>
            <a:ext cx="405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96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何時不要使用遞迴？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遞迴不是萬靈丹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不當使用遞迴，可能導致花費時間更多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>
                <a:solidFill>
                  <a:srgbClr val="0000FF"/>
                </a:solidFill>
              </a:rPr>
              <a:t>費伯納西數列 </a:t>
            </a:r>
            <a:r>
              <a:rPr lang="en-US" altLang="zh-TW" dirty="0" smtClean="0">
                <a:solidFill>
                  <a:srgbClr val="0000FF"/>
                </a:solidFill>
              </a:rPr>
              <a:t>Fibonacci Sequence</a:t>
            </a:r>
          </a:p>
          <a:p>
            <a:pPr lvl="1"/>
            <a:r>
              <a:rPr lang="en-US" altLang="zh-TW" dirty="0"/>
              <a:t>0, 1, 1, 2, 3, 5, 8, 13, 21, 34,…</a:t>
            </a:r>
            <a:endParaRPr lang="en-US" altLang="zh-TW" i="1" dirty="0" smtClean="0"/>
          </a:p>
          <a:p>
            <a:pPr lvl="1"/>
            <a:r>
              <a:rPr lang="en-US" altLang="zh-TW" i="1" dirty="0" smtClean="0">
                <a:solidFill>
                  <a:srgbClr val="C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dirty="0" smtClean="0">
                <a:solidFill>
                  <a:srgbClr val="C00000"/>
                </a:solidFill>
              </a:rPr>
              <a:t> = 0, </a:t>
            </a:r>
            <a:r>
              <a:rPr lang="en-US" altLang="zh-TW" i="1" dirty="0" smtClean="0">
                <a:solidFill>
                  <a:srgbClr val="C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dirty="0" smtClean="0">
                <a:solidFill>
                  <a:srgbClr val="C00000"/>
                </a:solidFill>
              </a:rPr>
              <a:t> = 1 / </a:t>
            </a:r>
            <a:r>
              <a:rPr lang="en-US" altLang="zh-TW" i="1" dirty="0">
                <a:solidFill>
                  <a:srgbClr val="C00000"/>
                </a:solidFill>
              </a:rPr>
              <a:t>F</a:t>
            </a:r>
            <a:r>
              <a:rPr lang="en-US" altLang="zh-TW" baseline="-25000" dirty="0">
                <a:solidFill>
                  <a:srgbClr val="C00000"/>
                </a:solidFill>
              </a:rPr>
              <a:t>0</a:t>
            </a:r>
            <a:r>
              <a:rPr lang="en-US" altLang="zh-TW" dirty="0">
                <a:solidFill>
                  <a:srgbClr val="C00000"/>
                </a:solidFill>
              </a:rPr>
              <a:t> = 1, </a:t>
            </a:r>
            <a:r>
              <a:rPr lang="en-US" altLang="zh-TW" i="1" dirty="0">
                <a:solidFill>
                  <a:srgbClr val="C00000"/>
                </a:solidFill>
              </a:rPr>
              <a:t>F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C00000"/>
                </a:solidFill>
              </a:rPr>
              <a:t> = 1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i="1" dirty="0" err="1" smtClean="0"/>
              <a:t>F</a:t>
            </a:r>
            <a:r>
              <a:rPr lang="en-US" altLang="zh-TW" i="1" baseline="-25000" dirty="0" err="1" smtClean="0"/>
              <a:t>n</a:t>
            </a:r>
            <a:r>
              <a:rPr lang="en-US" altLang="zh-TW" dirty="0" smtClean="0"/>
              <a:t> = </a:t>
            </a:r>
            <a:r>
              <a:rPr lang="en-US" altLang="zh-TW" i="1" dirty="0" err="1" smtClean="0"/>
              <a:t>F</a:t>
            </a:r>
            <a:r>
              <a:rPr lang="en-US" altLang="zh-TW" i="1" baseline="-25000" dirty="0" err="1" smtClean="0"/>
              <a:t>n</a:t>
            </a:r>
            <a:r>
              <a:rPr lang="en-US" altLang="zh-TW" baseline="-25000" dirty="0" smtClean="0"/>
              <a:t>–1</a:t>
            </a:r>
            <a:r>
              <a:rPr lang="en-US" altLang="zh-TW" dirty="0" smtClean="0"/>
              <a:t> + </a:t>
            </a:r>
            <a:r>
              <a:rPr lang="en-US" altLang="zh-TW" i="1" dirty="0" err="1" smtClean="0"/>
              <a:t>F</a:t>
            </a:r>
            <a:r>
              <a:rPr lang="en-US" altLang="zh-TW" i="1" baseline="-25000" dirty="0" err="1" smtClean="0"/>
              <a:t>n</a:t>
            </a:r>
            <a:r>
              <a:rPr lang="en-US" altLang="zh-TW" baseline="-25000" dirty="0" smtClean="0"/>
              <a:t>–2</a:t>
            </a:r>
            <a:r>
              <a:rPr lang="zh-TW" altLang="en-US" dirty="0" smtClean="0"/>
              <a:t> </a:t>
            </a:r>
            <a:r>
              <a:rPr lang="en-US" altLang="zh-TW" dirty="0" smtClean="0"/>
              <a:t>for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anose="05050102010706020507" pitchFamily="18" charset="2"/>
              </a:rPr>
              <a:t> 2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>
                <a:solidFill>
                  <a:srgbClr val="0000FF"/>
                </a:solidFill>
              </a:rPr>
              <a:t>階乘 </a:t>
            </a:r>
            <a:r>
              <a:rPr lang="en-US" altLang="zh-TW" dirty="0" smtClean="0">
                <a:solidFill>
                  <a:srgbClr val="0000FF"/>
                </a:solidFill>
              </a:rPr>
              <a:t>Factorial</a:t>
            </a:r>
          </a:p>
          <a:p>
            <a:pPr lvl="1"/>
            <a:r>
              <a:rPr lang="en-US" altLang="zh-TW" i="1" dirty="0" smtClean="0"/>
              <a:t>n</a:t>
            </a:r>
            <a:r>
              <a:rPr lang="en-US" altLang="zh-TW" dirty="0" smtClean="0"/>
              <a:t>! = 1 </a:t>
            </a:r>
            <a:r>
              <a:rPr lang="en-US" altLang="zh-TW" dirty="0" smtClean="0">
                <a:sym typeface="Symbol" panose="05050102010706020507" pitchFamily="18" charset="2"/>
              </a:rPr>
              <a:t> 2  … 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dirty="0" smtClean="0">
                <a:sym typeface="Symbol" panose="05050102010706020507" pitchFamily="18" charset="2"/>
              </a:rPr>
              <a:t> – 1 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</a:p>
          <a:p>
            <a:pPr lvl="1"/>
            <a:r>
              <a:rPr lang="en-US" altLang="zh-TW" i="1" dirty="0" smtClean="0"/>
              <a:t>f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=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anose="05050102010706020507" pitchFamily="18" charset="2"/>
              </a:rPr>
              <a:t> </a:t>
            </a:r>
            <a:r>
              <a:rPr lang="en-US" altLang="zh-TW" i="1" dirty="0" smtClean="0">
                <a:sym typeface="Symbol" panose="05050102010706020507" pitchFamily="18" charset="2"/>
              </a:rPr>
              <a:t>f</a:t>
            </a:r>
            <a:r>
              <a:rPr lang="en-US" altLang="zh-TW" dirty="0" smtClean="0">
                <a:sym typeface="Symbol" panose="05050102010706020507" pitchFamily="18" charset="2"/>
              </a:rPr>
              <a:t>(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dirty="0" smtClean="0">
                <a:sym typeface="Symbol" panose="05050102010706020507" pitchFamily="18" charset="2"/>
              </a:rPr>
              <a:t> – 1)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7760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費伯納西數列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Fibonacci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207585" y="1250002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/>
              <a:t>0, 1, 1, 2, 3, 5, 8, 13, 21, 34,…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Fib (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if 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== 0)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     return 0;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if 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== 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     return 1;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return Fib(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– 1) + Fib(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– 2);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}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051720" y="1724370"/>
                <a:ext cx="5148141" cy="107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b="1" i="0" smtClean="0">
                          <a:latin typeface="Cambria Math"/>
                        </a:rPr>
                        <m:t>Fib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,               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              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Fib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Fib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1" i="0" smtClean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 ≥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1724370"/>
                <a:ext cx="5148141" cy="10749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4554748" y="4541058"/>
            <a:ext cx="2217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終止條件： </a:t>
            </a:r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554748" y="5301208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遞迴呼叫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554748" y="3820978"/>
            <a:ext cx="2217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終止條件： </a:t>
            </a:r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1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遞迴呼叫樹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費氏數列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105538" y="176149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F(5)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472266" y="259706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F(4)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2520484" y="348101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F(3)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1818869" y="429765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F(2)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219518" y="429765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2125663" y="512460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F(0)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499403" y="512460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10" idx="4"/>
            <a:endCxn id="13" idx="0"/>
          </p:cNvCxnSpPr>
          <p:nvPr/>
        </p:nvCxnSpPr>
        <p:spPr>
          <a:xfrm flipH="1">
            <a:off x="1769403" y="4837654"/>
            <a:ext cx="319466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10" idx="4"/>
            <a:endCxn id="12" idx="0"/>
          </p:cNvCxnSpPr>
          <p:nvPr/>
        </p:nvCxnSpPr>
        <p:spPr>
          <a:xfrm>
            <a:off x="2088869" y="4837654"/>
            <a:ext cx="306794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9" idx="4"/>
            <a:endCxn id="10" idx="0"/>
          </p:cNvCxnSpPr>
          <p:nvPr/>
        </p:nvCxnSpPr>
        <p:spPr>
          <a:xfrm flipH="1">
            <a:off x="2088869" y="4021018"/>
            <a:ext cx="701615" cy="276636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1" idx="0"/>
            <a:endCxn id="9" idx="4"/>
          </p:cNvCxnSpPr>
          <p:nvPr/>
        </p:nvCxnSpPr>
        <p:spPr>
          <a:xfrm flipH="1" flipV="1">
            <a:off x="2790484" y="4021018"/>
            <a:ext cx="699034" cy="27663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4364543" y="348101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F(2)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4671337" y="430797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F(0)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4045077" y="430797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接點 28"/>
          <p:cNvCxnSpPr>
            <a:stCxn id="26" idx="4"/>
            <a:endCxn id="28" idx="0"/>
          </p:cNvCxnSpPr>
          <p:nvPr/>
        </p:nvCxnSpPr>
        <p:spPr>
          <a:xfrm flipH="1">
            <a:off x="4315077" y="4021018"/>
            <a:ext cx="319466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6" idx="4"/>
            <a:endCxn id="27" idx="0"/>
          </p:cNvCxnSpPr>
          <p:nvPr/>
        </p:nvCxnSpPr>
        <p:spPr>
          <a:xfrm>
            <a:off x="4634543" y="4021018"/>
            <a:ext cx="306794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8" idx="4"/>
            <a:endCxn id="9" idx="0"/>
          </p:cNvCxnSpPr>
          <p:nvPr/>
        </p:nvCxnSpPr>
        <p:spPr>
          <a:xfrm flipH="1">
            <a:off x="2790484" y="3137063"/>
            <a:ext cx="951782" cy="343955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8" idx="4"/>
            <a:endCxn id="26" idx="0"/>
          </p:cNvCxnSpPr>
          <p:nvPr/>
        </p:nvCxnSpPr>
        <p:spPr>
          <a:xfrm>
            <a:off x="3742266" y="3137063"/>
            <a:ext cx="892277" cy="343955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6594252" y="266091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F(3)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5892637" y="347755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F(2)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293286" y="347755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6199431" y="430450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F(0)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5573171" y="430450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線接點 43"/>
          <p:cNvCxnSpPr>
            <a:stCxn id="40" idx="4"/>
            <a:endCxn id="43" idx="0"/>
          </p:cNvCxnSpPr>
          <p:nvPr/>
        </p:nvCxnSpPr>
        <p:spPr>
          <a:xfrm flipH="1">
            <a:off x="5843171" y="4017553"/>
            <a:ext cx="319466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40" idx="4"/>
            <a:endCxn id="42" idx="0"/>
          </p:cNvCxnSpPr>
          <p:nvPr/>
        </p:nvCxnSpPr>
        <p:spPr>
          <a:xfrm>
            <a:off x="6162637" y="4017553"/>
            <a:ext cx="306794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9" idx="4"/>
            <a:endCxn id="40" idx="0"/>
          </p:cNvCxnSpPr>
          <p:nvPr/>
        </p:nvCxnSpPr>
        <p:spPr>
          <a:xfrm flipH="1">
            <a:off x="6162637" y="3200917"/>
            <a:ext cx="701615" cy="276636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41" idx="0"/>
            <a:endCxn id="39" idx="4"/>
          </p:cNvCxnSpPr>
          <p:nvPr/>
        </p:nvCxnSpPr>
        <p:spPr>
          <a:xfrm flipH="1" flipV="1">
            <a:off x="6864252" y="3200917"/>
            <a:ext cx="699034" cy="27663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7" idx="4"/>
            <a:endCxn id="39" idx="0"/>
          </p:cNvCxnSpPr>
          <p:nvPr/>
        </p:nvCxnSpPr>
        <p:spPr>
          <a:xfrm>
            <a:off x="5375538" y="2301493"/>
            <a:ext cx="1488714" cy="359424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7" idx="4"/>
            <a:endCxn id="8" idx="0"/>
          </p:cNvCxnSpPr>
          <p:nvPr/>
        </p:nvCxnSpPr>
        <p:spPr>
          <a:xfrm flipH="1">
            <a:off x="3742266" y="2301493"/>
            <a:ext cx="1633272" cy="29557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圓角矩形 55"/>
          <p:cNvSpPr/>
          <p:nvPr/>
        </p:nvSpPr>
        <p:spPr>
          <a:xfrm>
            <a:off x="1397455" y="4208475"/>
            <a:ext cx="1358526" cy="153672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圓角矩形 56"/>
          <p:cNvSpPr/>
          <p:nvPr/>
        </p:nvSpPr>
        <p:spPr>
          <a:xfrm>
            <a:off x="3955280" y="3407435"/>
            <a:ext cx="1358526" cy="153672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圓角矩形 58"/>
          <p:cNvSpPr/>
          <p:nvPr/>
        </p:nvSpPr>
        <p:spPr>
          <a:xfrm>
            <a:off x="5479977" y="3396044"/>
            <a:ext cx="1358526" cy="153672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0" name="直線接點 59"/>
          <p:cNvCxnSpPr>
            <a:endCxn id="7" idx="0"/>
          </p:cNvCxnSpPr>
          <p:nvPr/>
        </p:nvCxnSpPr>
        <p:spPr>
          <a:xfrm>
            <a:off x="5375538" y="1392844"/>
            <a:ext cx="0" cy="368649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群組 132"/>
          <p:cNvGrpSpPr/>
          <p:nvPr/>
        </p:nvGrpSpPr>
        <p:grpSpPr>
          <a:xfrm>
            <a:off x="5375538" y="2135942"/>
            <a:ext cx="1488714" cy="524975"/>
            <a:chOff x="5375538" y="2135942"/>
            <a:chExt cx="1488714" cy="524975"/>
          </a:xfrm>
        </p:grpSpPr>
        <p:sp>
          <p:nvSpPr>
            <p:cNvPr id="65" name="文字方塊 64"/>
            <p:cNvSpPr txBox="1"/>
            <p:nvPr/>
          </p:nvSpPr>
          <p:spPr>
            <a:xfrm>
              <a:off x="5952172" y="213594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8" name="直線接點 67"/>
            <p:cNvCxnSpPr>
              <a:stCxn id="39" idx="0"/>
              <a:endCxn id="7" idx="4"/>
            </p:cNvCxnSpPr>
            <p:nvPr/>
          </p:nvCxnSpPr>
          <p:spPr>
            <a:xfrm flipH="1" flipV="1">
              <a:off x="5375538" y="2301493"/>
              <a:ext cx="1488714" cy="35942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1674741" y="4691046"/>
            <a:ext cx="414128" cy="433561"/>
            <a:chOff x="1674741" y="4691046"/>
            <a:chExt cx="414128" cy="433561"/>
          </a:xfrm>
        </p:grpSpPr>
        <p:cxnSp>
          <p:nvCxnSpPr>
            <p:cNvPr id="64" name="直線接點 63"/>
            <p:cNvCxnSpPr>
              <a:stCxn id="13" idx="0"/>
              <a:endCxn id="10" idx="4"/>
            </p:cNvCxnSpPr>
            <p:nvPr/>
          </p:nvCxnSpPr>
          <p:spPr>
            <a:xfrm flipV="1">
              <a:off x="1769403" y="4837654"/>
              <a:ext cx="319466" cy="28695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字方塊 68"/>
            <p:cNvSpPr txBox="1"/>
            <p:nvPr/>
          </p:nvSpPr>
          <p:spPr>
            <a:xfrm>
              <a:off x="1674741" y="46910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群組 74"/>
          <p:cNvGrpSpPr/>
          <p:nvPr/>
        </p:nvGrpSpPr>
        <p:grpSpPr>
          <a:xfrm>
            <a:off x="2088869" y="4691046"/>
            <a:ext cx="402865" cy="433561"/>
            <a:chOff x="2088869" y="4691046"/>
            <a:chExt cx="402865" cy="433561"/>
          </a:xfrm>
        </p:grpSpPr>
        <p:cxnSp>
          <p:nvCxnSpPr>
            <p:cNvPr id="71" name="直線接點 70"/>
            <p:cNvCxnSpPr>
              <a:stCxn id="12" idx="0"/>
              <a:endCxn id="10" idx="4"/>
            </p:cNvCxnSpPr>
            <p:nvPr/>
          </p:nvCxnSpPr>
          <p:spPr>
            <a:xfrm flipH="1" flipV="1">
              <a:off x="2088869" y="4837654"/>
              <a:ext cx="306794" cy="28695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字方塊 73"/>
            <p:cNvSpPr txBox="1"/>
            <p:nvPr/>
          </p:nvSpPr>
          <p:spPr>
            <a:xfrm>
              <a:off x="2178828" y="46910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2088869" y="3834243"/>
            <a:ext cx="701615" cy="463411"/>
            <a:chOff x="2088869" y="3834243"/>
            <a:chExt cx="701615" cy="463411"/>
          </a:xfrm>
        </p:grpSpPr>
        <p:cxnSp>
          <p:nvCxnSpPr>
            <p:cNvPr id="76" name="直線接點 75"/>
            <p:cNvCxnSpPr>
              <a:stCxn id="10" idx="0"/>
              <a:endCxn id="9" idx="4"/>
            </p:cNvCxnSpPr>
            <p:nvPr/>
          </p:nvCxnSpPr>
          <p:spPr>
            <a:xfrm flipV="1">
              <a:off x="2088869" y="4021018"/>
              <a:ext cx="701615" cy="27663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字方塊 78"/>
            <p:cNvSpPr txBox="1"/>
            <p:nvPr/>
          </p:nvSpPr>
          <p:spPr>
            <a:xfrm>
              <a:off x="2213332" y="383424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2790484" y="3843376"/>
            <a:ext cx="699034" cy="454278"/>
            <a:chOff x="2790484" y="3843376"/>
            <a:chExt cx="699034" cy="454278"/>
          </a:xfrm>
        </p:grpSpPr>
        <p:cxnSp>
          <p:nvCxnSpPr>
            <p:cNvPr id="81" name="直線接點 80"/>
            <p:cNvCxnSpPr>
              <a:stCxn id="11" idx="0"/>
              <a:endCxn id="9" idx="4"/>
            </p:cNvCxnSpPr>
            <p:nvPr/>
          </p:nvCxnSpPr>
          <p:spPr>
            <a:xfrm flipH="1" flipV="1">
              <a:off x="2790484" y="4021018"/>
              <a:ext cx="699034" cy="27663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字方塊 83"/>
            <p:cNvSpPr txBox="1"/>
            <p:nvPr/>
          </p:nvSpPr>
          <p:spPr>
            <a:xfrm>
              <a:off x="3030137" y="384337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0" name="群組 89"/>
          <p:cNvGrpSpPr/>
          <p:nvPr/>
        </p:nvGrpSpPr>
        <p:grpSpPr>
          <a:xfrm>
            <a:off x="2790484" y="2982255"/>
            <a:ext cx="951782" cy="498763"/>
            <a:chOff x="2790484" y="2982255"/>
            <a:chExt cx="951782" cy="498763"/>
          </a:xfrm>
        </p:grpSpPr>
        <p:cxnSp>
          <p:nvCxnSpPr>
            <p:cNvPr id="86" name="直線接點 85"/>
            <p:cNvCxnSpPr>
              <a:stCxn id="9" idx="0"/>
              <a:endCxn id="8" idx="4"/>
            </p:cNvCxnSpPr>
            <p:nvPr/>
          </p:nvCxnSpPr>
          <p:spPr>
            <a:xfrm flipV="1">
              <a:off x="2790484" y="3137063"/>
              <a:ext cx="951782" cy="34395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字方塊 88"/>
            <p:cNvSpPr txBox="1"/>
            <p:nvPr/>
          </p:nvSpPr>
          <p:spPr>
            <a:xfrm>
              <a:off x="3064641" y="298225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群組 94"/>
          <p:cNvGrpSpPr/>
          <p:nvPr/>
        </p:nvGrpSpPr>
        <p:grpSpPr>
          <a:xfrm>
            <a:off x="4227632" y="3880292"/>
            <a:ext cx="406911" cy="427679"/>
            <a:chOff x="4227632" y="3880292"/>
            <a:chExt cx="406911" cy="427679"/>
          </a:xfrm>
        </p:grpSpPr>
        <p:cxnSp>
          <p:nvCxnSpPr>
            <p:cNvPr id="91" name="直線接點 90"/>
            <p:cNvCxnSpPr>
              <a:stCxn id="28" idx="0"/>
              <a:endCxn id="26" idx="4"/>
            </p:cNvCxnSpPr>
            <p:nvPr/>
          </p:nvCxnSpPr>
          <p:spPr>
            <a:xfrm flipV="1">
              <a:off x="4315077" y="4021018"/>
              <a:ext cx="319466" cy="28695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字方塊 93"/>
            <p:cNvSpPr txBox="1"/>
            <p:nvPr/>
          </p:nvSpPr>
          <p:spPr>
            <a:xfrm>
              <a:off x="4227632" y="388029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0" name="群組 99"/>
          <p:cNvGrpSpPr/>
          <p:nvPr/>
        </p:nvGrpSpPr>
        <p:grpSpPr>
          <a:xfrm>
            <a:off x="4634543" y="3880292"/>
            <a:ext cx="400575" cy="427679"/>
            <a:chOff x="4634543" y="3880292"/>
            <a:chExt cx="400575" cy="427679"/>
          </a:xfrm>
        </p:grpSpPr>
        <p:cxnSp>
          <p:nvCxnSpPr>
            <p:cNvPr id="96" name="直線接點 95"/>
            <p:cNvCxnSpPr>
              <a:stCxn id="27" idx="0"/>
              <a:endCxn id="26" idx="4"/>
            </p:cNvCxnSpPr>
            <p:nvPr/>
          </p:nvCxnSpPr>
          <p:spPr>
            <a:xfrm flipH="1" flipV="1">
              <a:off x="4634543" y="4021018"/>
              <a:ext cx="306794" cy="28695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字方塊 98"/>
            <p:cNvSpPr txBox="1"/>
            <p:nvPr/>
          </p:nvSpPr>
          <p:spPr>
            <a:xfrm>
              <a:off x="4722212" y="388029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3742266" y="2982255"/>
            <a:ext cx="892277" cy="498763"/>
            <a:chOff x="3742266" y="2982255"/>
            <a:chExt cx="892277" cy="498763"/>
          </a:xfrm>
        </p:grpSpPr>
        <p:cxnSp>
          <p:nvCxnSpPr>
            <p:cNvPr id="101" name="直線接點 100"/>
            <p:cNvCxnSpPr>
              <a:stCxn id="26" idx="0"/>
              <a:endCxn id="8" idx="4"/>
            </p:cNvCxnSpPr>
            <p:nvPr/>
          </p:nvCxnSpPr>
          <p:spPr>
            <a:xfrm flipH="1" flipV="1">
              <a:off x="3742266" y="3137063"/>
              <a:ext cx="892277" cy="34395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文字方塊 103"/>
            <p:cNvSpPr txBox="1"/>
            <p:nvPr/>
          </p:nvSpPr>
          <p:spPr>
            <a:xfrm>
              <a:off x="4158624" y="298225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0" name="群組 109"/>
          <p:cNvGrpSpPr/>
          <p:nvPr/>
        </p:nvGrpSpPr>
        <p:grpSpPr>
          <a:xfrm>
            <a:off x="3742266" y="2101438"/>
            <a:ext cx="1633272" cy="495625"/>
            <a:chOff x="3742266" y="2101438"/>
            <a:chExt cx="1633272" cy="495625"/>
          </a:xfrm>
        </p:grpSpPr>
        <p:cxnSp>
          <p:nvCxnSpPr>
            <p:cNvPr id="106" name="直線接點 105"/>
            <p:cNvCxnSpPr>
              <a:stCxn id="8" idx="0"/>
              <a:endCxn id="7" idx="4"/>
            </p:cNvCxnSpPr>
            <p:nvPr/>
          </p:nvCxnSpPr>
          <p:spPr>
            <a:xfrm flipV="1">
              <a:off x="3742266" y="2301493"/>
              <a:ext cx="1633272" cy="295570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字方塊 108"/>
            <p:cNvSpPr txBox="1"/>
            <p:nvPr/>
          </p:nvSpPr>
          <p:spPr>
            <a:xfrm>
              <a:off x="4353738" y="210143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群組 114"/>
          <p:cNvGrpSpPr/>
          <p:nvPr/>
        </p:nvGrpSpPr>
        <p:grpSpPr>
          <a:xfrm>
            <a:off x="5770688" y="3871666"/>
            <a:ext cx="391949" cy="432840"/>
            <a:chOff x="5770688" y="3871666"/>
            <a:chExt cx="391949" cy="432840"/>
          </a:xfrm>
        </p:grpSpPr>
        <p:cxnSp>
          <p:nvCxnSpPr>
            <p:cNvPr id="111" name="直線接點 110"/>
            <p:cNvCxnSpPr>
              <a:stCxn id="43" idx="0"/>
              <a:endCxn id="40" idx="4"/>
            </p:cNvCxnSpPr>
            <p:nvPr/>
          </p:nvCxnSpPr>
          <p:spPr>
            <a:xfrm flipV="1">
              <a:off x="5843171" y="4017553"/>
              <a:ext cx="319466" cy="28695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文字方塊 113"/>
            <p:cNvSpPr txBox="1"/>
            <p:nvPr/>
          </p:nvSpPr>
          <p:spPr>
            <a:xfrm>
              <a:off x="5770688" y="387166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6162637" y="3877880"/>
            <a:ext cx="383323" cy="426626"/>
            <a:chOff x="6162637" y="3877880"/>
            <a:chExt cx="383323" cy="426626"/>
          </a:xfrm>
        </p:grpSpPr>
        <p:cxnSp>
          <p:nvCxnSpPr>
            <p:cNvPr id="116" name="直線接點 115"/>
            <p:cNvCxnSpPr>
              <a:stCxn id="42" idx="0"/>
              <a:endCxn id="40" idx="4"/>
            </p:cNvCxnSpPr>
            <p:nvPr/>
          </p:nvCxnSpPr>
          <p:spPr>
            <a:xfrm flipH="1" flipV="1">
              <a:off x="6162637" y="4017553"/>
              <a:ext cx="306794" cy="286953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文字方塊 118"/>
            <p:cNvSpPr txBox="1"/>
            <p:nvPr/>
          </p:nvSpPr>
          <p:spPr>
            <a:xfrm>
              <a:off x="6233054" y="387788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6162637" y="3024577"/>
            <a:ext cx="701615" cy="452976"/>
            <a:chOff x="6162637" y="3024577"/>
            <a:chExt cx="701615" cy="452976"/>
          </a:xfrm>
        </p:grpSpPr>
        <p:cxnSp>
          <p:nvCxnSpPr>
            <p:cNvPr id="121" name="直線接點 120"/>
            <p:cNvCxnSpPr>
              <a:stCxn id="40" idx="0"/>
              <a:endCxn id="39" idx="4"/>
            </p:cNvCxnSpPr>
            <p:nvPr/>
          </p:nvCxnSpPr>
          <p:spPr>
            <a:xfrm flipV="1">
              <a:off x="6162637" y="3200917"/>
              <a:ext cx="701615" cy="27663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6290956" y="302457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0" name="群組 129"/>
          <p:cNvGrpSpPr/>
          <p:nvPr/>
        </p:nvGrpSpPr>
        <p:grpSpPr>
          <a:xfrm>
            <a:off x="6864252" y="3024577"/>
            <a:ext cx="699034" cy="452976"/>
            <a:chOff x="6864252" y="3024577"/>
            <a:chExt cx="699034" cy="452976"/>
          </a:xfrm>
        </p:grpSpPr>
        <p:cxnSp>
          <p:nvCxnSpPr>
            <p:cNvPr id="126" name="直線接點 125"/>
            <p:cNvCxnSpPr>
              <a:stCxn id="41" idx="0"/>
              <a:endCxn id="39" idx="4"/>
            </p:cNvCxnSpPr>
            <p:nvPr/>
          </p:nvCxnSpPr>
          <p:spPr>
            <a:xfrm flipH="1" flipV="1">
              <a:off x="6864252" y="3200917"/>
              <a:ext cx="699034" cy="27663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字方塊 128"/>
            <p:cNvSpPr txBox="1"/>
            <p:nvPr/>
          </p:nvSpPr>
          <p:spPr>
            <a:xfrm>
              <a:off x="7117000" y="302457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9" name="群組 138"/>
          <p:cNvGrpSpPr/>
          <p:nvPr/>
        </p:nvGrpSpPr>
        <p:grpSpPr>
          <a:xfrm>
            <a:off x="5375538" y="1377113"/>
            <a:ext cx="312906" cy="400110"/>
            <a:chOff x="5375538" y="1377113"/>
            <a:chExt cx="312906" cy="400110"/>
          </a:xfrm>
        </p:grpSpPr>
        <p:cxnSp>
          <p:nvCxnSpPr>
            <p:cNvPr id="137" name="直線接點 136"/>
            <p:cNvCxnSpPr/>
            <p:nvPr/>
          </p:nvCxnSpPr>
          <p:spPr>
            <a:xfrm>
              <a:off x="5375538" y="1392844"/>
              <a:ext cx="0" cy="368649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字方塊 137"/>
            <p:cNvSpPr txBox="1"/>
            <p:nvPr/>
          </p:nvSpPr>
          <p:spPr>
            <a:xfrm>
              <a:off x="5375538" y="137711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圓角矩形 53"/>
          <p:cNvSpPr/>
          <p:nvPr/>
        </p:nvSpPr>
        <p:spPr>
          <a:xfrm>
            <a:off x="1337073" y="3416061"/>
            <a:ext cx="2484403" cy="2432648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圓角矩形 57"/>
          <p:cNvSpPr/>
          <p:nvPr/>
        </p:nvSpPr>
        <p:spPr>
          <a:xfrm>
            <a:off x="5419595" y="2603630"/>
            <a:ext cx="2484403" cy="2432648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250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00"/>
                            </p:stCondLst>
                            <p:childTnLst>
                              <p:par>
                                <p:cTn id="2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6" grpId="0" animBg="1"/>
      <p:bldP spid="27" grpId="0" animBg="1"/>
      <p:bldP spid="2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56" grpId="0" animBg="1"/>
      <p:bldP spid="57" grpId="0" animBg="1"/>
      <p:bldP spid="59" grpId="0" animBg="1"/>
      <p:bldP spid="54" grpId="0" animBg="1"/>
      <p:bldP spid="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遞迴呼叫樹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階乘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12</a:t>
            </a:fld>
            <a:endParaRPr lang="en-US" altLang="zh-TW" dirty="0"/>
          </a:p>
        </p:txBody>
      </p:sp>
      <p:sp>
        <p:nvSpPr>
          <p:cNvPr id="8" name="橢圓 7"/>
          <p:cNvSpPr/>
          <p:nvPr/>
        </p:nvSpPr>
        <p:spPr>
          <a:xfrm>
            <a:off x="3779913" y="191683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3779913" y="285293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779913" y="378904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789009" y="472514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789009" y="566124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弧形接點 13"/>
          <p:cNvCxnSpPr>
            <a:stCxn id="8" idx="6"/>
            <a:endCxn id="9" idx="6"/>
          </p:cNvCxnSpPr>
          <p:nvPr/>
        </p:nvCxnSpPr>
        <p:spPr>
          <a:xfrm>
            <a:off x="4319913" y="2186832"/>
            <a:ext cx="12700" cy="936104"/>
          </a:xfrm>
          <a:prstGeom prst="curvedConnector3">
            <a:avLst>
              <a:gd name="adj1" fmla="val 1800000"/>
            </a:avLst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弧形接點 14"/>
          <p:cNvCxnSpPr>
            <a:stCxn id="9" idx="6"/>
            <a:endCxn id="10" idx="6"/>
          </p:cNvCxnSpPr>
          <p:nvPr/>
        </p:nvCxnSpPr>
        <p:spPr>
          <a:xfrm>
            <a:off x="4319913" y="3122936"/>
            <a:ext cx="12700" cy="936104"/>
          </a:xfrm>
          <a:prstGeom prst="curvedConnector3">
            <a:avLst>
              <a:gd name="adj1" fmla="val 1800000"/>
            </a:avLst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弧形接點 17"/>
          <p:cNvCxnSpPr>
            <a:stCxn id="10" idx="6"/>
            <a:endCxn id="11" idx="6"/>
          </p:cNvCxnSpPr>
          <p:nvPr/>
        </p:nvCxnSpPr>
        <p:spPr>
          <a:xfrm>
            <a:off x="4319913" y="4059040"/>
            <a:ext cx="9096" cy="936104"/>
          </a:xfrm>
          <a:prstGeom prst="curvedConnector3">
            <a:avLst>
              <a:gd name="adj1" fmla="val 2613193"/>
            </a:avLst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弧形接點 20"/>
          <p:cNvCxnSpPr>
            <a:stCxn id="11" idx="6"/>
            <a:endCxn id="12" idx="6"/>
          </p:cNvCxnSpPr>
          <p:nvPr/>
        </p:nvCxnSpPr>
        <p:spPr>
          <a:xfrm>
            <a:off x="4329009" y="4995144"/>
            <a:ext cx="12700" cy="936104"/>
          </a:xfrm>
          <a:prstGeom prst="curvedConnector3">
            <a:avLst>
              <a:gd name="adj1" fmla="val 1800000"/>
            </a:avLst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弧形接點 23"/>
          <p:cNvCxnSpPr>
            <a:stCxn id="12" idx="2"/>
            <a:endCxn id="11" idx="2"/>
          </p:cNvCxnSpPr>
          <p:nvPr/>
        </p:nvCxnSpPr>
        <p:spPr>
          <a:xfrm rot="10800000">
            <a:off x="3789009" y="4995144"/>
            <a:ext cx="12700" cy="936104"/>
          </a:xfrm>
          <a:prstGeom prst="curvedConnector3">
            <a:avLst>
              <a:gd name="adj1" fmla="val 180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弧形接點 26"/>
          <p:cNvCxnSpPr>
            <a:stCxn id="11" idx="2"/>
            <a:endCxn id="10" idx="2"/>
          </p:cNvCxnSpPr>
          <p:nvPr/>
        </p:nvCxnSpPr>
        <p:spPr>
          <a:xfrm rot="10800000">
            <a:off x="3779913" y="4059040"/>
            <a:ext cx="9096" cy="936104"/>
          </a:xfrm>
          <a:prstGeom prst="curvedConnector3">
            <a:avLst>
              <a:gd name="adj1" fmla="val 2613193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弧形接點 29"/>
          <p:cNvCxnSpPr>
            <a:stCxn id="10" idx="2"/>
            <a:endCxn id="9" idx="2"/>
          </p:cNvCxnSpPr>
          <p:nvPr/>
        </p:nvCxnSpPr>
        <p:spPr>
          <a:xfrm rot="10800000">
            <a:off x="3779913" y="3122936"/>
            <a:ext cx="12700" cy="936104"/>
          </a:xfrm>
          <a:prstGeom prst="curvedConnector3">
            <a:avLst>
              <a:gd name="adj1" fmla="val 180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弧形接點 32"/>
          <p:cNvCxnSpPr>
            <a:stCxn id="9" idx="2"/>
            <a:endCxn id="8" idx="2"/>
          </p:cNvCxnSpPr>
          <p:nvPr/>
        </p:nvCxnSpPr>
        <p:spPr>
          <a:xfrm rot="10800000">
            <a:off x="3779913" y="2186832"/>
            <a:ext cx="12700" cy="936104"/>
          </a:xfrm>
          <a:prstGeom prst="curvedConnector3">
            <a:avLst>
              <a:gd name="adj1" fmla="val 180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755576" y="3820978"/>
            <a:ext cx="2337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+mj-lt"/>
              </a:rPr>
              <a:t>ans</a:t>
            </a:r>
            <a:r>
              <a:rPr lang="en-US" altLang="zh-TW" sz="2000" b="1" dirty="0" smtClean="0">
                <a:latin typeface="+mj-lt"/>
              </a:rPr>
              <a:t> = </a:t>
            </a:r>
            <a:r>
              <a:rPr lang="en-US" altLang="zh-TW" sz="2000" b="1" i="1" dirty="0" smtClean="0">
                <a:latin typeface="+mj-lt"/>
              </a:rPr>
              <a:t>n</a:t>
            </a:r>
            <a:r>
              <a:rPr lang="en-US" altLang="zh-TW" sz="2000" b="1" dirty="0" smtClean="0">
                <a:latin typeface="+mj-lt"/>
              </a:rPr>
              <a:t> * fact(</a:t>
            </a:r>
            <a:r>
              <a:rPr lang="en-US" altLang="zh-TW" sz="2000" b="1" i="1" dirty="0" smtClean="0">
                <a:latin typeface="+mj-lt"/>
              </a:rPr>
              <a:t>n</a:t>
            </a:r>
            <a:r>
              <a:rPr lang="en-US" altLang="zh-TW" sz="2000" b="1" dirty="0" smtClean="0">
                <a:latin typeface="+mj-lt"/>
              </a:rPr>
              <a:t> – 1)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220072" y="3675752"/>
            <a:ext cx="2385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for (</a:t>
            </a:r>
            <a:r>
              <a:rPr lang="en-US" altLang="zh-TW" sz="2000" b="1" dirty="0" err="1" smtClean="0">
                <a:latin typeface="+mj-lt"/>
              </a:rPr>
              <a:t>i</a:t>
            </a:r>
            <a:r>
              <a:rPr lang="en-US" altLang="zh-TW" sz="2000" b="1" dirty="0" smtClean="0">
                <a:latin typeface="+mj-lt"/>
              </a:rPr>
              <a:t> = n; </a:t>
            </a:r>
            <a:r>
              <a:rPr lang="en-US" altLang="zh-TW" sz="2000" b="1" dirty="0" err="1" smtClean="0">
                <a:latin typeface="+mj-lt"/>
              </a:rPr>
              <a:t>i</a:t>
            </a:r>
            <a:r>
              <a:rPr lang="en-US" altLang="zh-TW" sz="2000" b="1" dirty="0" smtClean="0">
                <a:latin typeface="+mj-lt"/>
              </a:rPr>
              <a:t> &gt;= 1; </a:t>
            </a:r>
            <a:r>
              <a:rPr lang="en-US" altLang="zh-TW" sz="2000" b="1" dirty="0" err="1" smtClean="0">
                <a:latin typeface="+mj-lt"/>
              </a:rPr>
              <a:t>i</a:t>
            </a:r>
            <a:r>
              <a:rPr lang="en-US" altLang="zh-TW" sz="2000" b="1" dirty="0" smtClean="0">
                <a:latin typeface="+mj-lt"/>
              </a:rPr>
              <a:t>--)</a:t>
            </a:r>
          </a:p>
          <a:p>
            <a:r>
              <a:rPr lang="en-US" altLang="zh-TW" sz="2000" b="1" dirty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   </a:t>
            </a:r>
            <a:r>
              <a:rPr lang="en-US" altLang="zh-TW" sz="2000" b="1" dirty="0" err="1" smtClean="0">
                <a:latin typeface="+mj-lt"/>
              </a:rPr>
              <a:t>ans</a:t>
            </a:r>
            <a:r>
              <a:rPr lang="en-US" altLang="zh-TW" sz="2000" b="1" dirty="0" smtClean="0">
                <a:latin typeface="+mj-lt"/>
              </a:rPr>
              <a:t> = </a:t>
            </a:r>
            <a:r>
              <a:rPr lang="en-US" altLang="zh-TW" sz="2000" b="1" dirty="0" err="1" smtClean="0">
                <a:latin typeface="+mj-lt"/>
              </a:rPr>
              <a:t>ans</a:t>
            </a:r>
            <a:r>
              <a:rPr lang="en-US" altLang="zh-TW" sz="2000" b="1" dirty="0" smtClean="0">
                <a:latin typeface="+mj-lt"/>
              </a:rPr>
              <a:t> * </a:t>
            </a:r>
            <a:r>
              <a:rPr lang="en-US" altLang="zh-TW" sz="2000" b="1" dirty="0" err="1" smtClean="0">
                <a:latin typeface="+mj-lt"/>
              </a:rPr>
              <a:t>i</a:t>
            </a:r>
            <a:r>
              <a:rPr lang="en-US" altLang="zh-TW" sz="2000" b="1" dirty="0" smtClean="0">
                <a:latin typeface="+mj-lt"/>
              </a:rPr>
              <a:t>;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7997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37" grpId="0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14360</TotalTime>
  <Words>709</Words>
  <Application>Microsoft Office PowerPoint</Application>
  <PresentationFormat>如螢幕大小 (4:3)</PresentationFormat>
  <Paragraphs>175</Paragraphs>
  <Slides>12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3" baseType="lpstr">
      <vt:lpstr>新細明體</vt:lpstr>
      <vt:lpstr>標楷體</vt:lpstr>
      <vt:lpstr>Angsana New</vt:lpstr>
      <vt:lpstr>Arial</vt:lpstr>
      <vt:lpstr>Calibri</vt:lpstr>
      <vt:lpstr>Cambria Math</vt:lpstr>
      <vt:lpstr>Monotype Corsiva</vt:lpstr>
      <vt:lpstr>Nirmala UI</vt:lpstr>
      <vt:lpstr>Symbol</vt:lpstr>
      <vt:lpstr>Times New Roman</vt:lpstr>
      <vt:lpstr>NCKU3</vt:lpstr>
      <vt:lpstr>DATA STRUCTURES 資料結構</vt:lpstr>
      <vt:lpstr>遞迴 Recursion</vt:lpstr>
      <vt:lpstr>階層函數 (1/2)</vt:lpstr>
      <vt:lpstr>階層函數 (2/2)</vt:lpstr>
      <vt:lpstr>河內塔 Towers of Hanoi</vt:lpstr>
      <vt:lpstr>8后遊戲 (1/3)</vt:lpstr>
      <vt:lpstr>8后遊戲 (2/3)</vt:lpstr>
      <vt:lpstr>8后遊戲 (3/3)</vt:lpstr>
      <vt:lpstr>何時不要使用遞迴？</vt:lpstr>
      <vt:lpstr>費伯納西數列  Fibonacci Sequence</vt:lpstr>
      <vt:lpstr>遞迴呼叫樹 (1/2)</vt:lpstr>
      <vt:lpstr>遞迴呼叫樹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88</cp:revision>
  <cp:lastPrinted>2026-03-11T10:06:43Z</cp:lastPrinted>
  <dcterms:created xsi:type="dcterms:W3CDTF">2018-01-10T03:26:15Z</dcterms:created>
  <dcterms:modified xsi:type="dcterms:W3CDTF">2026-03-11T10:06:43Z</dcterms:modified>
</cp:coreProperties>
</file>