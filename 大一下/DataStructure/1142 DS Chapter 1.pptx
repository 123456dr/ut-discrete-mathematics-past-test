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9"/>
  </p:notesMasterIdLst>
  <p:sldIdLst>
    <p:sldId id="365" r:id="rId2"/>
    <p:sldId id="366" r:id="rId3"/>
    <p:sldId id="367" r:id="rId4"/>
    <p:sldId id="368" r:id="rId5"/>
    <p:sldId id="369" r:id="rId6"/>
    <p:sldId id="370" r:id="rId7"/>
    <p:sldId id="371" r:id="rId8"/>
    <p:sldId id="372" r:id="rId9"/>
    <p:sldId id="373" r:id="rId10"/>
    <p:sldId id="374" r:id="rId11"/>
    <p:sldId id="375" r:id="rId12"/>
    <p:sldId id="376" r:id="rId13"/>
    <p:sldId id="377" r:id="rId14"/>
    <p:sldId id="378" r:id="rId15"/>
    <p:sldId id="379" r:id="rId16"/>
    <p:sldId id="380" r:id="rId17"/>
    <p:sldId id="381" r:id="rId18"/>
    <p:sldId id="382" r:id="rId19"/>
    <p:sldId id="383" r:id="rId20"/>
    <p:sldId id="384" r:id="rId21"/>
    <p:sldId id="385" r:id="rId22"/>
    <p:sldId id="386" r:id="rId23"/>
    <p:sldId id="387" r:id="rId24"/>
    <p:sldId id="388" r:id="rId25"/>
    <p:sldId id="389" r:id="rId26"/>
    <p:sldId id="390" r:id="rId27"/>
    <p:sldId id="391" r:id="rId28"/>
  </p:sldIdLst>
  <p:sldSz cx="9144000" cy="6858000" type="screen4x3"/>
  <p:notesSz cx="6807200" cy="9939338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DCDDE"/>
    <a:srgbClr val="E8E8EF"/>
    <a:srgbClr val="FFFFCC"/>
    <a:srgbClr val="820000"/>
    <a:srgbClr val="700000"/>
    <a:srgbClr val="9E0000"/>
    <a:srgbClr val="323232"/>
    <a:srgbClr val="333399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0932" autoAdjust="0"/>
  </p:normalViewPr>
  <p:slideViewPr>
    <p:cSldViewPr>
      <p:cViewPr varScale="1">
        <p:scale>
          <a:sx n="86" d="100"/>
          <a:sy n="86" d="100"/>
        </p:scale>
        <p:origin x="133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5839" y="1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/>
          <a:lstStyle>
            <a:lvl1pPr algn="r">
              <a:defRPr sz="1200"/>
            </a:lvl1pPr>
          </a:lstStyle>
          <a:p>
            <a:fld id="{7F921807-99F1-4DF0-94D7-7548FA810751}" type="datetimeFigureOut">
              <a:rPr lang="zh-TW" altLang="en-US" smtClean="0"/>
              <a:pPr/>
              <a:t>2026/1/27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842" tIns="45921" rIns="91842" bIns="45921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0721" y="4721186"/>
            <a:ext cx="5445760" cy="4472703"/>
          </a:xfrm>
          <a:prstGeom prst="rect">
            <a:avLst/>
          </a:prstGeom>
        </p:spPr>
        <p:txBody>
          <a:bodyPr vert="horz" lIns="91842" tIns="45921" rIns="91842" bIns="45921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440647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5839" y="9440647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 anchor="b"/>
          <a:lstStyle>
            <a:lvl1pPr algn="r">
              <a:defRPr sz="1200"/>
            </a:lvl1pPr>
          </a:lstStyle>
          <a:p>
            <a:fld id="{6C24E503-88D4-45A6-8EBB-14391082A01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5129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DCA57-9D53-411D-9D3B-645A04C6A569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12202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E503-88D4-45A6-8EBB-14391082A01A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1179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 userDrawn="1"/>
        </p:nvSpPr>
        <p:spPr>
          <a:xfrm>
            <a:off x="3233" y="2256530"/>
            <a:ext cx="9144000" cy="126032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81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2483768" y="4530498"/>
            <a:ext cx="6552728" cy="1676400"/>
          </a:xfrm>
        </p:spPr>
        <p:txBody>
          <a:bodyPr/>
          <a:lstStyle>
            <a:lvl1pPr marL="0" indent="0" algn="ctr">
              <a:buFontTx/>
              <a:buNone/>
              <a:defRPr b="1">
                <a:latin typeface="+mj-lt"/>
                <a:ea typeface="標楷體" panose="03000509000000000000" pitchFamily="65" charset="-120"/>
              </a:defRPr>
            </a:lvl1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3082" name="Rectangle 10"/>
          <p:cNvSpPr>
            <a:spLocks noGrp="1" noChangeArrowheads="1"/>
          </p:cNvSpPr>
          <p:nvPr>
            <p:ph type="dt" sz="half" idx="2"/>
          </p:nvPr>
        </p:nvSpPr>
        <p:spPr>
          <a:xfrm>
            <a:off x="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2026/02/25</a:t>
            </a:r>
            <a:endParaRPr lang="en-US" altLang="zh-TW"/>
          </a:p>
        </p:txBody>
      </p:sp>
      <p:sp>
        <p:nvSpPr>
          <p:cNvPr id="3083" name="Rectangle 11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4008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308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2924896" y="2394158"/>
            <a:ext cx="6111600" cy="1860612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  <a:latin typeface="+mj-lt"/>
                <a:ea typeface="標楷體" panose="03000509000000000000" pitchFamily="65" charset="-120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18" name="矩形 17"/>
          <p:cNvSpPr/>
          <p:nvPr userDrawn="1"/>
        </p:nvSpPr>
        <p:spPr>
          <a:xfrm>
            <a:off x="3233" y="4254770"/>
            <a:ext cx="9144000" cy="126032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 userDrawn="1"/>
        </p:nvSpPr>
        <p:spPr>
          <a:xfrm>
            <a:off x="4300993" y="6581001"/>
            <a:ext cx="484624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TW" sz="1800" b="1" i="1" dirty="0" smtClean="0">
                <a:latin typeface="Monotype Corsiva" panose="03010101010201010101" pitchFamily="66" charset="0"/>
                <a:cs typeface="Nirmala UI" panose="020B0502040204020203" pitchFamily="34" charset="0"/>
              </a:rPr>
              <a:t>Interconnection Networks and Algorithm Application Lab.</a:t>
            </a:r>
            <a:endParaRPr lang="zh-TW" altLang="en-US" sz="1800" b="1" i="1" dirty="0">
              <a:latin typeface="Monotype Corsiva" panose="03010101010201010101" pitchFamily="66" charset="0"/>
              <a:cs typeface="Nirmala UI" panose="020B0502040204020203" pitchFamily="34" charset="0"/>
            </a:endParaRPr>
          </a:p>
        </p:txBody>
      </p:sp>
      <p:pic>
        <p:nvPicPr>
          <p:cNvPr id="12" name="Picture 2" descr="C:\Users\admin\Dropbox\世暘&amp;莉淳\相片\DSC_9359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92" y="2382770"/>
            <a:ext cx="2812457" cy="1872000"/>
          </a:xfrm>
          <a:prstGeom prst="rect">
            <a:avLst/>
          </a:prstGeom>
          <a:noFill/>
        </p:spPr>
      </p:pic>
      <p:pic>
        <p:nvPicPr>
          <p:cNvPr id="20" name="圖片 1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0458" y="1161633"/>
            <a:ext cx="3566038" cy="108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7504" y="0"/>
            <a:ext cx="6861448" cy="1143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950" y="1268760"/>
            <a:ext cx="8928100" cy="5327303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2026/02/25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3F35E6-A8E7-488D-BD9F-ED9A7F7FA10F}" type="slidenum">
              <a:rPr lang="en-US" altLang="zh-TW"/>
              <a:pPr/>
              <a:t>‹#›</a:t>
            </a:fld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2026/02/25</a:t>
            </a: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3183EC-7050-45EB-9E88-B86B53D28DC6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07950" y="1482725"/>
            <a:ext cx="4387850" cy="5113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482725"/>
            <a:ext cx="4387850" cy="5113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2026/02/25</a:t>
            </a: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B32F3C-BFB5-4433-80F2-31E4E599C271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2026/02/25</a:t>
            </a:r>
            <a:endParaRPr lang="en-US" altLang="zh-TW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C71ADB-DDEF-4830-B9BC-5050A26247AE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2026/02/25</a:t>
            </a:r>
            <a:endParaRPr lang="en-US" alt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38238B-CE9D-4BC3-843E-48DE31256F23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2026/02/25</a:t>
            </a:r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9989FA-7C75-4428-B4F8-334FD7721128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2026/02/25</a:t>
            </a: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4ED4DE-EAF4-4F9D-92A9-54CDF4DC4603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2026/02/25</a:t>
            </a: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DBED88-20FD-46BD-AA27-41E91F90C6D7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2026/02/25</a:t>
            </a: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5973D2-4DDA-41F5-8DAD-51687E6176F5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804025" y="0"/>
            <a:ext cx="2232025" cy="6596063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107950" y="0"/>
            <a:ext cx="6543675" cy="6596063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2026/02/25</a:t>
            </a: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6BEB42-A2EB-4830-8F53-FDF4A3AEB5C6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86816" y="0"/>
            <a:ext cx="6861448" cy="1143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 smtClean="0"/>
              <a:t>按一下以編輯母片標題樣式</a:t>
            </a: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96040" y="1250328"/>
            <a:ext cx="8940456" cy="534573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6200" y="6597650"/>
            <a:ext cx="19050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1">
                <a:latin typeface="+mn-lt"/>
                <a:cs typeface="Angsana New" pitchFamily="18" charset="-34"/>
              </a:defRPr>
            </a:lvl1pPr>
          </a:lstStyle>
          <a:p>
            <a:r>
              <a:rPr lang="en-US" altLang="zh-TW" smtClean="0"/>
              <a:t>2026/02/25</a:t>
            </a:r>
            <a:endParaRPr lang="en-US" altLang="zh-TW"/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97650"/>
            <a:ext cx="28956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1">
                <a:latin typeface="+mn-lt"/>
                <a:cs typeface="Angsana New" pitchFamily="18" charset="-34"/>
              </a:defRPr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597650"/>
            <a:ext cx="19050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1">
                <a:latin typeface="+mn-lt"/>
                <a:cs typeface="Angsana New" pitchFamily="18" charset="-34"/>
              </a:defRPr>
            </a:lvl1pPr>
          </a:lstStyle>
          <a:p>
            <a:fld id="{88815D73-EF14-4780-98ED-F121D5ADB135}" type="slidenum">
              <a:rPr lang="en-US" altLang="zh-TW"/>
              <a:pPr/>
              <a:t>‹#›</a:t>
            </a:fld>
            <a:endParaRPr lang="en-US" altLang="zh-TW"/>
          </a:p>
        </p:txBody>
      </p:sp>
      <p:sp>
        <p:nvSpPr>
          <p:cNvPr id="16" name="矩形 15"/>
          <p:cNvSpPr/>
          <p:nvPr userDrawn="1"/>
        </p:nvSpPr>
        <p:spPr>
          <a:xfrm>
            <a:off x="0" y="1160664"/>
            <a:ext cx="9144000" cy="72000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 userDrawn="1"/>
        </p:nvSpPr>
        <p:spPr>
          <a:xfrm>
            <a:off x="4343620" y="935059"/>
            <a:ext cx="484624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TW" sz="1800" b="1" i="1" dirty="0" smtClean="0">
                <a:latin typeface="Monotype Corsiva" panose="03010101010201010101" pitchFamily="66" charset="0"/>
                <a:cs typeface="Nirmala UI" panose="020B0502040204020203" pitchFamily="34" charset="0"/>
              </a:rPr>
              <a:t>Interconnection Networks and Algorithm Application Lab.</a:t>
            </a:r>
            <a:endParaRPr lang="zh-TW" altLang="en-US" sz="1800" b="1" i="1" dirty="0">
              <a:latin typeface="Monotype Corsiva" panose="03010101010201010101" pitchFamily="66" charset="0"/>
              <a:cs typeface="Nirmala UI" panose="020B0502040204020203" pitchFamily="34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43" y="18248"/>
            <a:ext cx="2133600" cy="64617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chemeClr val="tx1"/>
          </a:solidFill>
          <a:latin typeface="+mj-lt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Blip>
          <a:blip r:embed="rId14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Blip>
          <a:blip r:embed="rId17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DATA</a:t>
            </a:r>
            <a:r>
              <a:rPr lang="zh-TW" altLang="en-US" dirty="0" smtClean="0"/>
              <a:t> </a:t>
            </a:r>
            <a:r>
              <a:rPr lang="en-US" altLang="zh-TW" dirty="0" smtClean="0"/>
              <a:t>STRUCTURES</a:t>
            </a:r>
            <a:br>
              <a:rPr lang="en-US" altLang="zh-TW" dirty="0" smtClean="0"/>
            </a:br>
            <a:r>
              <a:rPr lang="zh-TW" altLang="en-US" dirty="0" smtClean="0"/>
              <a:t>資料結構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zh-TW" dirty="0"/>
              <a:t>Chia-Wei Lee </a:t>
            </a:r>
            <a:r>
              <a:rPr lang="zh-TW" altLang="en-US" dirty="0"/>
              <a:t>李佳衛</a:t>
            </a:r>
          </a:p>
          <a:p>
            <a:pPr algn="r"/>
            <a:r>
              <a:rPr lang="en-US" altLang="zh-TW" dirty="0"/>
              <a:t>cwlee@utaipei.edu.tw</a:t>
            </a:r>
          </a:p>
          <a:p>
            <a:pPr algn="r"/>
            <a:r>
              <a:rPr lang="en-US" altLang="zh-TW" dirty="0"/>
              <a:t>Department of Computer Science</a:t>
            </a:r>
          </a:p>
          <a:p>
            <a:pPr algn="r"/>
            <a:r>
              <a:rPr lang="en-US" altLang="zh-TW" dirty="0"/>
              <a:t>University of Taipei</a:t>
            </a:r>
          </a:p>
        </p:txBody>
      </p:sp>
    </p:spTree>
    <p:extLst>
      <p:ext uri="{BB962C8B-B14F-4D97-AF65-F5344CB8AC3E}">
        <p14:creationId xmlns:p14="http://schemas.microsoft.com/office/powerpoint/2010/main" val="1714987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演算法的定義與表示法 </a:t>
            </a:r>
            <a:r>
              <a:rPr lang="en-US" altLang="zh-TW" dirty="0" smtClean="0"/>
              <a:t>(1/2)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</a:t>
            </a:fld>
            <a:endParaRPr lang="en-US" dirty="0"/>
          </a:p>
        </p:txBody>
      </p:sp>
      <p:grpSp>
        <p:nvGrpSpPr>
          <p:cNvPr id="3" name="群組 2"/>
          <p:cNvGrpSpPr/>
          <p:nvPr/>
        </p:nvGrpSpPr>
        <p:grpSpPr>
          <a:xfrm>
            <a:off x="533810" y="1343294"/>
            <a:ext cx="1872000" cy="2245598"/>
            <a:chOff x="533810" y="1343294"/>
            <a:chExt cx="1872000" cy="2245598"/>
          </a:xfrm>
        </p:grpSpPr>
        <p:pic>
          <p:nvPicPr>
            <p:cNvPr id="8" name="圖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5428" y="2148892"/>
              <a:ext cx="1108966" cy="1440000"/>
            </a:xfrm>
            <a:prstGeom prst="rect">
              <a:avLst/>
            </a:prstGeom>
          </p:spPr>
        </p:pic>
        <p:pic>
          <p:nvPicPr>
            <p:cNvPr id="10" name="圖片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3810" y="1343294"/>
              <a:ext cx="1872000" cy="800192"/>
            </a:xfrm>
            <a:prstGeom prst="rect">
              <a:avLst/>
            </a:prstGeom>
          </p:spPr>
        </p:pic>
      </p:grpSp>
      <p:grpSp>
        <p:nvGrpSpPr>
          <p:cNvPr id="7" name="群組 6"/>
          <p:cNvGrpSpPr/>
          <p:nvPr/>
        </p:nvGrpSpPr>
        <p:grpSpPr>
          <a:xfrm>
            <a:off x="503911" y="3905995"/>
            <a:ext cx="1872000" cy="2210584"/>
            <a:chOff x="503911" y="3905995"/>
            <a:chExt cx="1872000" cy="2210584"/>
          </a:xfrm>
        </p:grpSpPr>
        <p:pic>
          <p:nvPicPr>
            <p:cNvPr id="9" name="圖片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69722" y="4676579"/>
              <a:ext cx="1340378" cy="1440000"/>
            </a:xfrm>
            <a:prstGeom prst="rect">
              <a:avLst/>
            </a:prstGeom>
          </p:spPr>
        </p:pic>
        <p:pic>
          <p:nvPicPr>
            <p:cNvPr id="11" name="圖片 1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03911" y="3905995"/>
              <a:ext cx="1872000" cy="804371"/>
            </a:xfrm>
            <a:prstGeom prst="rect">
              <a:avLst/>
            </a:prstGeom>
          </p:spPr>
        </p:pic>
      </p:grpSp>
      <p:pic>
        <p:nvPicPr>
          <p:cNvPr id="14" name="圖片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2185" y="2250629"/>
            <a:ext cx="1905000" cy="981075"/>
          </a:xfrm>
          <a:prstGeom prst="rect">
            <a:avLst/>
          </a:prstGeom>
        </p:spPr>
      </p:pic>
      <p:pic>
        <p:nvPicPr>
          <p:cNvPr id="15" name="圖片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9690" y="4874366"/>
            <a:ext cx="2520000" cy="1015385"/>
          </a:xfrm>
          <a:prstGeom prst="rect">
            <a:avLst/>
          </a:prstGeom>
        </p:spPr>
      </p:pic>
      <p:grpSp>
        <p:nvGrpSpPr>
          <p:cNvPr id="20" name="群組 19"/>
          <p:cNvGrpSpPr/>
          <p:nvPr/>
        </p:nvGrpSpPr>
        <p:grpSpPr>
          <a:xfrm>
            <a:off x="2405810" y="1893442"/>
            <a:ext cx="3887535" cy="1695450"/>
            <a:chOff x="2405810" y="1893442"/>
            <a:chExt cx="3887535" cy="1695450"/>
          </a:xfrm>
        </p:grpSpPr>
        <p:pic>
          <p:nvPicPr>
            <p:cNvPr id="12" name="圖片 11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468515" y="1893442"/>
              <a:ext cx="1762125" cy="1695450"/>
            </a:xfrm>
            <a:prstGeom prst="rect">
              <a:avLst/>
            </a:prstGeom>
          </p:spPr>
        </p:pic>
        <p:sp>
          <p:nvSpPr>
            <p:cNvPr id="16" name="向右箭號 15"/>
            <p:cNvSpPr/>
            <p:nvPr/>
          </p:nvSpPr>
          <p:spPr>
            <a:xfrm>
              <a:off x="2405810" y="2496065"/>
              <a:ext cx="793865" cy="550261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向右箭號 16"/>
            <p:cNvSpPr/>
            <p:nvPr/>
          </p:nvSpPr>
          <p:spPr>
            <a:xfrm>
              <a:off x="5499480" y="2496065"/>
              <a:ext cx="793865" cy="550261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1" name="群組 20"/>
          <p:cNvGrpSpPr/>
          <p:nvPr/>
        </p:nvGrpSpPr>
        <p:grpSpPr>
          <a:xfrm>
            <a:off x="2405810" y="4430654"/>
            <a:ext cx="3887535" cy="1685925"/>
            <a:chOff x="2405810" y="4430654"/>
            <a:chExt cx="3887535" cy="1685925"/>
          </a:xfrm>
        </p:grpSpPr>
        <p:pic>
          <p:nvPicPr>
            <p:cNvPr id="13" name="圖片 12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463753" y="4430654"/>
              <a:ext cx="1771650" cy="1685925"/>
            </a:xfrm>
            <a:prstGeom prst="rect">
              <a:avLst/>
            </a:prstGeom>
          </p:spPr>
        </p:pic>
        <p:sp>
          <p:nvSpPr>
            <p:cNvPr id="18" name="向右箭號 17"/>
            <p:cNvSpPr/>
            <p:nvPr/>
          </p:nvSpPr>
          <p:spPr>
            <a:xfrm>
              <a:off x="2405810" y="5106929"/>
              <a:ext cx="793865" cy="550261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向右箭號 18"/>
            <p:cNvSpPr/>
            <p:nvPr/>
          </p:nvSpPr>
          <p:spPr>
            <a:xfrm>
              <a:off x="5499480" y="5106929"/>
              <a:ext cx="793865" cy="550261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06134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演算法的定義與表示</a:t>
            </a:r>
            <a:r>
              <a:rPr lang="zh-TW" altLang="en-US" dirty="0" smtClean="0"/>
              <a:t>法 </a:t>
            </a:r>
            <a:r>
              <a:rPr lang="en-US" altLang="zh-TW" dirty="0" smtClean="0"/>
              <a:t>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32800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zh-TW" altLang="en-US" dirty="0" smtClean="0"/>
              <a:t>資料結構 </a:t>
            </a:r>
            <a:r>
              <a:rPr lang="en-US" altLang="zh-TW" dirty="0" smtClean="0"/>
              <a:t>+ </a:t>
            </a:r>
            <a:r>
              <a:rPr lang="zh-TW" altLang="en-US" dirty="0" smtClean="0"/>
              <a:t>演算法 </a:t>
            </a:r>
            <a:r>
              <a:rPr lang="en-US" altLang="zh-TW" dirty="0" smtClean="0"/>
              <a:t>= </a:t>
            </a:r>
            <a:r>
              <a:rPr lang="zh-TW" altLang="en-US" dirty="0" smtClean="0"/>
              <a:t>程式</a:t>
            </a:r>
            <a:endParaRPr lang="en-US" altLang="zh-TW" dirty="0" smtClean="0"/>
          </a:p>
          <a:p>
            <a:endParaRPr lang="en-US" altLang="zh-TW" dirty="0" smtClean="0">
              <a:solidFill>
                <a:srgbClr val="FF0000"/>
              </a:solidFill>
            </a:endParaRPr>
          </a:p>
          <a:p>
            <a:r>
              <a:rPr lang="zh-TW" altLang="en-US" dirty="0" smtClean="0">
                <a:solidFill>
                  <a:srgbClr val="0000FF"/>
                </a:solidFill>
              </a:rPr>
              <a:t>演算法</a:t>
            </a:r>
            <a:r>
              <a:rPr lang="zh-TW" altLang="en-US" dirty="0" smtClean="0"/>
              <a:t>(</a:t>
            </a:r>
            <a:r>
              <a:rPr lang="en-US" altLang="zh-TW" dirty="0" smtClean="0">
                <a:solidFill>
                  <a:srgbClr val="0000FF"/>
                </a:solidFill>
              </a:rPr>
              <a:t>algorithm</a:t>
            </a:r>
            <a:r>
              <a:rPr lang="en-US" altLang="zh-TW" dirty="0" smtClean="0"/>
              <a:t>)</a:t>
            </a:r>
            <a:r>
              <a:rPr lang="zh-TW" altLang="en-US" dirty="0" smtClean="0"/>
              <a:t>的</a:t>
            </a:r>
            <a:r>
              <a:rPr lang="zh-TW" altLang="en-US" dirty="0"/>
              <a:t>定義</a:t>
            </a:r>
            <a:r>
              <a:rPr lang="zh-TW" altLang="en-US" dirty="0" smtClean="0"/>
              <a:t>：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在</a:t>
            </a:r>
            <a:r>
              <a:rPr lang="zh-TW" altLang="en-US" dirty="0"/>
              <a:t>有限步驟內解決數學問題的程序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在</a:t>
            </a:r>
            <a:r>
              <a:rPr lang="zh-TW" altLang="en-US" dirty="0"/>
              <a:t>計算機科學的領域中，演算法</a:t>
            </a:r>
            <a:r>
              <a:rPr lang="zh-TW" altLang="en-US" dirty="0" smtClean="0"/>
              <a:t>泛指「適合</a:t>
            </a:r>
            <a:r>
              <a:rPr lang="zh-TW" altLang="en-US" dirty="0"/>
              <a:t>被實作為計算機程式的解題</a:t>
            </a:r>
            <a:r>
              <a:rPr lang="zh-TW" altLang="en-US" dirty="0" smtClean="0"/>
              <a:t>方法」</a:t>
            </a:r>
            <a:endParaRPr lang="en-US" altLang="zh-TW" dirty="0" smtClean="0"/>
          </a:p>
          <a:p>
            <a:pPr lvl="1"/>
            <a:r>
              <a:rPr lang="zh-TW" altLang="en-US" dirty="0" smtClean="0">
                <a:solidFill>
                  <a:srgbClr val="C00000"/>
                </a:solidFill>
              </a:rPr>
              <a:t>解決問題</a:t>
            </a:r>
            <a:r>
              <a:rPr lang="en-US" altLang="zh-TW" dirty="0" smtClean="0">
                <a:solidFill>
                  <a:srgbClr val="C00000"/>
                </a:solidFill>
              </a:rPr>
              <a:t>(problems)</a:t>
            </a:r>
            <a:r>
              <a:rPr lang="zh-TW" altLang="en-US" dirty="0" smtClean="0">
                <a:solidFill>
                  <a:srgbClr val="C00000"/>
                </a:solidFill>
              </a:rPr>
              <a:t>的</a:t>
            </a:r>
            <a:r>
              <a:rPr lang="zh-TW" altLang="en-US" dirty="0">
                <a:solidFill>
                  <a:srgbClr val="C00000"/>
                </a:solidFill>
              </a:rPr>
              <a:t>有限步驟程序</a:t>
            </a:r>
            <a:r>
              <a:rPr lang="zh-TW" altLang="en-US" dirty="0"/>
              <a:t>。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zh-TW" altLang="en-US" dirty="0" smtClean="0"/>
              <a:t>演算法具有五</a:t>
            </a:r>
            <a:r>
              <a:rPr lang="zh-TW" altLang="en-US" dirty="0"/>
              <a:t>個</a:t>
            </a:r>
            <a:r>
              <a:rPr lang="zh-TW" altLang="en-US" dirty="0" smtClean="0"/>
              <a:t>特性：</a:t>
            </a:r>
            <a:endParaRPr lang="en-US" altLang="zh-TW" dirty="0" smtClean="0"/>
          </a:p>
          <a:p>
            <a:pPr marL="914400" lvl="1" indent="-457200">
              <a:buFont typeface="+mj-lt"/>
              <a:buAutoNum type="arabicPeriod"/>
            </a:pPr>
            <a:r>
              <a:rPr lang="zh-TW" altLang="en-US" dirty="0">
                <a:solidFill>
                  <a:srgbClr val="000000"/>
                </a:solidFill>
              </a:rPr>
              <a:t>輸入 (</a:t>
            </a:r>
            <a:r>
              <a:rPr lang="en-US" altLang="zh-TW" dirty="0">
                <a:solidFill>
                  <a:srgbClr val="000000"/>
                </a:solidFill>
              </a:rPr>
              <a:t>Input</a:t>
            </a:r>
            <a:r>
              <a:rPr lang="en-US" altLang="zh-TW" dirty="0" smtClean="0">
                <a:solidFill>
                  <a:srgbClr val="000000"/>
                </a:solidFill>
              </a:rPr>
              <a:t>)</a:t>
            </a:r>
          </a:p>
          <a:p>
            <a:pPr marL="914400" lvl="1" indent="-457200">
              <a:buFont typeface="+mj-lt"/>
              <a:buAutoNum type="arabicPeriod"/>
            </a:pPr>
            <a:r>
              <a:rPr lang="zh-TW" altLang="en-US" dirty="0">
                <a:solidFill>
                  <a:srgbClr val="000000"/>
                </a:solidFill>
              </a:rPr>
              <a:t>明確性 (</a:t>
            </a:r>
            <a:r>
              <a:rPr lang="en-US" altLang="zh-TW" dirty="0">
                <a:solidFill>
                  <a:srgbClr val="000000"/>
                </a:solidFill>
              </a:rPr>
              <a:t>Definiteness</a:t>
            </a:r>
            <a:r>
              <a:rPr lang="en-US" altLang="zh-TW" dirty="0" smtClean="0">
                <a:solidFill>
                  <a:srgbClr val="000000"/>
                </a:solidFill>
              </a:rPr>
              <a:t>)</a:t>
            </a:r>
          </a:p>
          <a:p>
            <a:pPr marL="914400" lvl="1" indent="-457200">
              <a:buFont typeface="+mj-lt"/>
              <a:buAutoNum type="arabicPeriod"/>
            </a:pPr>
            <a:r>
              <a:rPr lang="zh-TW" altLang="en-US" dirty="0">
                <a:solidFill>
                  <a:srgbClr val="000000"/>
                </a:solidFill>
              </a:rPr>
              <a:t>正確性 (</a:t>
            </a:r>
            <a:r>
              <a:rPr lang="en-US" altLang="zh-TW" dirty="0">
                <a:solidFill>
                  <a:srgbClr val="000000"/>
                </a:solidFill>
              </a:rPr>
              <a:t>Correctness</a:t>
            </a:r>
            <a:r>
              <a:rPr lang="en-US" altLang="zh-TW" dirty="0" smtClean="0">
                <a:solidFill>
                  <a:srgbClr val="000000"/>
                </a:solidFill>
              </a:rPr>
              <a:t>)/</a:t>
            </a:r>
            <a:r>
              <a:rPr lang="zh-TW" altLang="en-US" dirty="0" smtClean="0">
                <a:solidFill>
                  <a:srgbClr val="000000"/>
                </a:solidFill>
              </a:rPr>
              <a:t>有效性 </a:t>
            </a:r>
            <a:r>
              <a:rPr lang="zh-TW" altLang="en-US" dirty="0">
                <a:solidFill>
                  <a:srgbClr val="000000"/>
                </a:solidFill>
              </a:rPr>
              <a:t>(</a:t>
            </a:r>
            <a:r>
              <a:rPr lang="en-US" altLang="zh-TW" dirty="0">
                <a:solidFill>
                  <a:srgbClr val="000000"/>
                </a:solidFill>
              </a:rPr>
              <a:t>Effectiveness</a:t>
            </a:r>
            <a:r>
              <a:rPr lang="en-US" altLang="zh-TW" dirty="0" smtClean="0">
                <a:solidFill>
                  <a:srgbClr val="000000"/>
                </a:solidFill>
              </a:rPr>
              <a:t>)</a:t>
            </a:r>
          </a:p>
          <a:p>
            <a:pPr marL="914400" lvl="1" indent="-457200">
              <a:buFont typeface="+mj-lt"/>
              <a:buAutoNum type="arabicPeriod"/>
            </a:pPr>
            <a:r>
              <a:rPr lang="zh-TW" altLang="en-US" dirty="0">
                <a:solidFill>
                  <a:srgbClr val="000000"/>
                </a:solidFill>
              </a:rPr>
              <a:t>有限性 (</a:t>
            </a:r>
            <a:r>
              <a:rPr lang="en-US" altLang="zh-TW" dirty="0">
                <a:solidFill>
                  <a:srgbClr val="000000"/>
                </a:solidFill>
              </a:rPr>
              <a:t>Finiteness</a:t>
            </a:r>
            <a:r>
              <a:rPr lang="en-US" altLang="zh-TW" dirty="0" smtClean="0">
                <a:solidFill>
                  <a:srgbClr val="000000"/>
                </a:solidFill>
              </a:rPr>
              <a:t>)</a:t>
            </a:r>
          </a:p>
          <a:p>
            <a:pPr marL="914400" lvl="1" indent="-457200">
              <a:buFont typeface="+mj-lt"/>
              <a:buAutoNum type="arabicPeriod"/>
            </a:pPr>
            <a:r>
              <a:rPr lang="zh-TW" altLang="en-US" dirty="0">
                <a:solidFill>
                  <a:srgbClr val="000000"/>
                </a:solidFill>
              </a:rPr>
              <a:t>輸出 (</a:t>
            </a:r>
            <a:r>
              <a:rPr lang="en-US" altLang="zh-TW" dirty="0">
                <a:solidFill>
                  <a:srgbClr val="000000"/>
                </a:solidFill>
              </a:rPr>
              <a:t>Output)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1243" y="4147630"/>
            <a:ext cx="3065798" cy="2377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233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歐幾里得演算法 </a:t>
            </a:r>
            <a:r>
              <a:rPr lang="en-US" altLang="zh-TW" dirty="0" smtClean="0"/>
              <a:t>(1/3)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4927599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輾轉相除法</a:t>
            </a:r>
            <a:endParaRPr lang="en-US" altLang="zh-TW" dirty="0" smtClean="0"/>
          </a:p>
          <a:p>
            <a:r>
              <a:rPr lang="zh-TW" altLang="en-US" dirty="0" smtClean="0"/>
              <a:t>計算</a:t>
            </a:r>
            <a:r>
              <a:rPr lang="zh-TW" altLang="en-US" dirty="0"/>
              <a:t>兩個自然數的最大</a:t>
            </a:r>
            <a:r>
              <a:rPr lang="zh-TW" altLang="en-US" dirty="0" smtClean="0"/>
              <a:t>公因數(</a:t>
            </a:r>
            <a:r>
              <a:rPr lang="en-US" altLang="zh-TW" dirty="0" smtClean="0"/>
              <a:t>Greatest </a:t>
            </a:r>
            <a:r>
              <a:rPr lang="en-US" altLang="zh-TW" dirty="0"/>
              <a:t>Common Divisor, GCD</a:t>
            </a:r>
            <a:r>
              <a:rPr lang="en-US" altLang="zh-TW" dirty="0" smtClean="0"/>
              <a:t>)</a:t>
            </a:r>
          </a:p>
          <a:p>
            <a:r>
              <a:rPr lang="zh-TW" altLang="zh-TW" dirty="0"/>
              <a:t>歐幾里得</a:t>
            </a:r>
            <a:r>
              <a:rPr lang="en-US" altLang="zh-TW" dirty="0"/>
              <a:t>(Euclid)</a:t>
            </a:r>
            <a:r>
              <a:rPr lang="zh-TW" altLang="zh-TW" dirty="0"/>
              <a:t>是古希臘的數學家</a:t>
            </a:r>
            <a:r>
              <a:rPr lang="en-US" altLang="zh-TW" dirty="0"/>
              <a:t>(</a:t>
            </a:r>
            <a:r>
              <a:rPr lang="zh-TW" altLang="zh-TW" dirty="0"/>
              <a:t>西元前</a:t>
            </a:r>
            <a:r>
              <a:rPr lang="en-US" altLang="zh-TW" dirty="0"/>
              <a:t>325</a:t>
            </a:r>
            <a:r>
              <a:rPr lang="zh-TW" altLang="zh-TW" dirty="0" smtClean="0"/>
              <a:t>年</a:t>
            </a:r>
            <a:r>
              <a:rPr lang="en-US" altLang="zh-TW" dirty="0" smtClean="0"/>
              <a:t>~</a:t>
            </a:r>
            <a:r>
              <a:rPr lang="zh-TW" altLang="zh-TW" dirty="0" smtClean="0"/>
              <a:t>西元前</a:t>
            </a:r>
            <a:r>
              <a:rPr lang="en-US" altLang="zh-TW" dirty="0"/>
              <a:t>265</a:t>
            </a:r>
            <a:r>
              <a:rPr lang="zh-TW" altLang="zh-TW" dirty="0"/>
              <a:t>年</a:t>
            </a:r>
            <a:r>
              <a:rPr lang="en-US" altLang="zh-TW" dirty="0" smtClean="0"/>
              <a:t>)</a:t>
            </a:r>
          </a:p>
          <a:p>
            <a:r>
              <a:rPr lang="zh-TW" altLang="zh-TW" dirty="0"/>
              <a:t>歷史上第一個</a:t>
            </a:r>
            <a:r>
              <a:rPr lang="zh-TW" altLang="zh-TW" dirty="0" smtClean="0"/>
              <a:t>演算法</a:t>
            </a:r>
            <a:endParaRPr lang="en-US" altLang="zh-TW" dirty="0" smtClean="0"/>
          </a:p>
          <a:p>
            <a:r>
              <a:rPr lang="zh-TW" altLang="zh-TW" dirty="0"/>
              <a:t>在現代的密碼學中，它是在電子商務安全機制中被廣泛使用的「公鑰加密演算法」的重要</a:t>
            </a:r>
            <a:r>
              <a:rPr lang="zh-TW" altLang="zh-TW" dirty="0" smtClean="0"/>
              <a:t>元件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3459891" y="4489621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4142864" y="4489621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3459891" y="4889731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3524011" y="528984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4142864" y="4889731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4206984" y="528984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直線接點 13"/>
          <p:cNvCxnSpPr/>
          <p:nvPr/>
        </p:nvCxnSpPr>
        <p:spPr>
          <a:xfrm>
            <a:off x="3367428" y="4489621"/>
            <a:ext cx="0" cy="12003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4018214" y="4489621"/>
            <a:ext cx="0" cy="12003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4660004" y="4489621"/>
            <a:ext cx="0" cy="12003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>
            <a:off x="3369273" y="5320450"/>
            <a:ext cx="648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/>
          <p:cNvSpPr txBox="1"/>
          <p:nvPr/>
        </p:nvSpPr>
        <p:spPr>
          <a:xfrm>
            <a:off x="3008291" y="448962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08659" y="4489621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" name="直線接點 25"/>
          <p:cNvCxnSpPr/>
          <p:nvPr/>
        </p:nvCxnSpPr>
        <p:spPr>
          <a:xfrm>
            <a:off x="4012004" y="5320450"/>
            <a:ext cx="648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橢圓 26"/>
          <p:cNvSpPr/>
          <p:nvPr/>
        </p:nvSpPr>
        <p:spPr>
          <a:xfrm>
            <a:off x="4142864" y="5379308"/>
            <a:ext cx="441146" cy="247135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橢圓 27"/>
          <p:cNvSpPr/>
          <p:nvPr/>
        </p:nvSpPr>
        <p:spPr>
          <a:xfrm>
            <a:off x="3478364" y="5379307"/>
            <a:ext cx="441146" cy="247135"/>
          </a:xfrm>
          <a:prstGeom prst="ellipse">
            <a:avLst/>
          </a:prstGeom>
          <a:noFill/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8579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24" grpId="0"/>
      <p:bldP spid="25" grpId="0"/>
      <p:bldP spid="27" grpId="0" animBg="1"/>
      <p:bldP spid="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4927599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演算法敘述：</a:t>
            </a:r>
            <a:endParaRPr lang="en-US" altLang="zh-TW" dirty="0" smtClean="0"/>
          </a:p>
          <a:p>
            <a:pPr marL="914400" lvl="1" indent="-457200">
              <a:buFont typeface="+mj-lt"/>
              <a:buAutoNum type="arabicPeriod"/>
            </a:pPr>
            <a:r>
              <a:rPr lang="zh-TW" altLang="en-US" dirty="0">
                <a:solidFill>
                  <a:srgbClr val="000000"/>
                </a:solidFill>
              </a:rPr>
              <a:t>輸入兩個自然數 </a:t>
            </a:r>
            <a:r>
              <a:rPr lang="en-US" altLang="zh-TW" i="1" dirty="0" smtClean="0">
                <a:solidFill>
                  <a:srgbClr val="000000"/>
                </a:solidFill>
              </a:rPr>
              <a:t>A</a:t>
            </a:r>
            <a:r>
              <a:rPr lang="en-US" altLang="zh-TW" dirty="0" smtClean="0">
                <a:solidFill>
                  <a:srgbClr val="000000"/>
                </a:solidFill>
              </a:rPr>
              <a:t>, </a:t>
            </a:r>
            <a:r>
              <a:rPr lang="en-US" altLang="zh-TW" i="1" dirty="0" smtClean="0">
                <a:solidFill>
                  <a:srgbClr val="000000"/>
                </a:solidFill>
              </a:rPr>
              <a:t>B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i="1" dirty="0" smtClean="0">
                <a:solidFill>
                  <a:srgbClr val="000000"/>
                </a:solidFill>
              </a:rPr>
              <a:t>A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zh-TW" altLang="en-US" dirty="0" smtClean="0">
                <a:solidFill>
                  <a:srgbClr val="000000"/>
                </a:solidFill>
              </a:rPr>
              <a:t>除以 </a:t>
            </a:r>
            <a:r>
              <a:rPr lang="en-US" altLang="zh-TW" i="1" dirty="0" smtClean="0">
                <a:solidFill>
                  <a:srgbClr val="000000"/>
                </a:solidFill>
              </a:rPr>
              <a:t>B</a:t>
            </a:r>
            <a:r>
              <a:rPr lang="en-US" altLang="zh-TW" dirty="0" smtClean="0">
                <a:solidFill>
                  <a:srgbClr val="000000"/>
                </a:solidFill>
              </a:rPr>
              <a:t>，</a:t>
            </a:r>
            <a:r>
              <a:rPr lang="zh-TW" altLang="en-US" dirty="0" smtClean="0">
                <a:solidFill>
                  <a:srgbClr val="000000"/>
                </a:solidFill>
              </a:rPr>
              <a:t>餘數為 </a:t>
            </a:r>
            <a:r>
              <a:rPr lang="en-US" altLang="zh-TW" i="1" dirty="0" smtClean="0">
                <a:solidFill>
                  <a:srgbClr val="000000"/>
                </a:solidFill>
              </a:rPr>
              <a:t>R</a:t>
            </a:r>
          </a:p>
          <a:p>
            <a:pPr marL="914400" lvl="1" indent="-457200">
              <a:buFont typeface="+mj-lt"/>
              <a:buAutoNum type="arabicPeriod"/>
            </a:pPr>
            <a:r>
              <a:rPr lang="zh-TW" altLang="en-US" dirty="0" smtClean="0">
                <a:solidFill>
                  <a:srgbClr val="000000"/>
                </a:solidFill>
              </a:rPr>
              <a:t>如果 </a:t>
            </a:r>
            <a:r>
              <a:rPr lang="en-US" altLang="zh-TW" i="1" dirty="0">
                <a:solidFill>
                  <a:srgbClr val="000000"/>
                </a:solidFill>
              </a:rPr>
              <a:t>R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zh-TW" altLang="en-US" dirty="0">
                <a:solidFill>
                  <a:srgbClr val="000000"/>
                </a:solidFill>
              </a:rPr>
              <a:t>為零，則跳至敘述 </a:t>
            </a:r>
            <a:r>
              <a:rPr lang="zh-TW" altLang="en-US" dirty="0" smtClean="0">
                <a:solidFill>
                  <a:srgbClr val="000000"/>
                </a:solidFill>
              </a:rPr>
              <a:t>5</a:t>
            </a:r>
            <a:endParaRPr lang="en-US" altLang="zh-TW" dirty="0" smtClean="0">
              <a:solidFill>
                <a:srgbClr val="000000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altLang="zh-TW" i="1" dirty="0" smtClean="0">
                <a:solidFill>
                  <a:srgbClr val="000000"/>
                </a:solidFill>
              </a:rPr>
              <a:t>A</a:t>
            </a:r>
            <a:r>
              <a:rPr lang="zh-TW" altLang="en-US" i="1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</a:rPr>
              <a:t>←</a:t>
            </a:r>
            <a:r>
              <a:rPr lang="zh-TW" altLang="en-US" dirty="0" smtClean="0">
                <a:solidFill>
                  <a:srgbClr val="000000"/>
                </a:solidFill>
              </a:rPr>
              <a:t> </a:t>
            </a:r>
            <a:r>
              <a:rPr lang="en-US" altLang="zh-TW" i="1" dirty="0" smtClean="0">
                <a:solidFill>
                  <a:srgbClr val="000000"/>
                </a:solidFill>
              </a:rPr>
              <a:t>B</a:t>
            </a:r>
            <a:r>
              <a:rPr lang="en-US" altLang="zh-TW" dirty="0" smtClean="0">
                <a:solidFill>
                  <a:srgbClr val="000000"/>
                </a:solidFill>
              </a:rPr>
              <a:t>，</a:t>
            </a:r>
            <a:r>
              <a:rPr lang="en-US" altLang="zh-TW" i="1" dirty="0" smtClean="0">
                <a:solidFill>
                  <a:srgbClr val="000000"/>
                </a:solidFill>
              </a:rPr>
              <a:t>B</a:t>
            </a:r>
            <a:r>
              <a:rPr lang="zh-TW" altLang="en-US" i="1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</a:rPr>
              <a:t>←</a:t>
            </a:r>
            <a:r>
              <a:rPr lang="zh-TW" altLang="en-US" dirty="0" smtClean="0">
                <a:solidFill>
                  <a:srgbClr val="000000"/>
                </a:solidFill>
              </a:rPr>
              <a:t> </a:t>
            </a:r>
            <a:r>
              <a:rPr lang="en-US" altLang="zh-TW" i="1" dirty="0" smtClean="0">
                <a:solidFill>
                  <a:srgbClr val="000000"/>
                </a:solidFill>
              </a:rPr>
              <a:t>R</a:t>
            </a:r>
            <a:r>
              <a:rPr lang="en-US" altLang="zh-TW" dirty="0">
                <a:solidFill>
                  <a:srgbClr val="000000"/>
                </a:solidFill>
              </a:rPr>
              <a:t>，</a:t>
            </a:r>
            <a:r>
              <a:rPr lang="zh-TW" altLang="en-US" dirty="0">
                <a:solidFill>
                  <a:srgbClr val="000000"/>
                </a:solidFill>
              </a:rPr>
              <a:t>跳至敘述 </a:t>
            </a:r>
            <a:r>
              <a:rPr lang="zh-TW" altLang="en-US" dirty="0" smtClean="0">
                <a:solidFill>
                  <a:srgbClr val="000000"/>
                </a:solidFill>
              </a:rPr>
              <a:t>2</a:t>
            </a:r>
            <a:endParaRPr lang="en-US" altLang="zh-TW" dirty="0" smtClean="0">
              <a:solidFill>
                <a:srgbClr val="000000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altLang="zh-TW" i="1" dirty="0">
                <a:solidFill>
                  <a:srgbClr val="000000"/>
                </a:solidFill>
              </a:rPr>
              <a:t>B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zh-TW" altLang="en-US" dirty="0">
                <a:solidFill>
                  <a:srgbClr val="000000"/>
                </a:solidFill>
              </a:rPr>
              <a:t>即為 </a:t>
            </a:r>
            <a:r>
              <a:rPr lang="en-US" altLang="zh-TW" dirty="0">
                <a:solidFill>
                  <a:srgbClr val="000000"/>
                </a:solidFill>
              </a:rPr>
              <a:t>GCD</a:t>
            </a:r>
          </a:p>
        </p:txBody>
      </p:sp>
      <p:grpSp>
        <p:nvGrpSpPr>
          <p:cNvPr id="28" name="群組 27"/>
          <p:cNvGrpSpPr/>
          <p:nvPr/>
        </p:nvGrpSpPr>
        <p:grpSpPr>
          <a:xfrm>
            <a:off x="6832556" y="2465481"/>
            <a:ext cx="356188" cy="615469"/>
            <a:chOff x="6832556" y="2465481"/>
            <a:chExt cx="356188" cy="615469"/>
          </a:xfrm>
        </p:grpSpPr>
        <p:sp>
          <p:nvSpPr>
            <p:cNvPr id="23" name="文字方塊 22"/>
            <p:cNvSpPr txBox="1"/>
            <p:nvPr/>
          </p:nvSpPr>
          <p:spPr>
            <a:xfrm>
              <a:off x="6832556" y="2465481"/>
              <a:ext cx="356188" cy="40011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7" name="直線單箭頭接點 26"/>
            <p:cNvCxnSpPr>
              <a:stCxn id="8" idx="0"/>
              <a:endCxn id="23" idx="2"/>
            </p:cNvCxnSpPr>
            <p:nvPr/>
          </p:nvCxnSpPr>
          <p:spPr>
            <a:xfrm flipH="1" flipV="1">
              <a:off x="7010650" y="2865591"/>
              <a:ext cx="5371" cy="21535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群組 29"/>
          <p:cNvGrpSpPr/>
          <p:nvPr/>
        </p:nvGrpSpPr>
        <p:grpSpPr>
          <a:xfrm>
            <a:off x="6825050" y="2472826"/>
            <a:ext cx="356188" cy="621709"/>
            <a:chOff x="7303535" y="2462193"/>
            <a:chExt cx="356188" cy="621709"/>
          </a:xfrm>
        </p:grpSpPr>
        <p:sp>
          <p:nvSpPr>
            <p:cNvPr id="36" name="文字方塊 35"/>
            <p:cNvSpPr txBox="1"/>
            <p:nvPr/>
          </p:nvSpPr>
          <p:spPr>
            <a:xfrm>
              <a:off x="7303535" y="2462193"/>
              <a:ext cx="356188" cy="40011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8" name="直線單箭頭接點 37"/>
            <p:cNvCxnSpPr/>
            <p:nvPr/>
          </p:nvCxnSpPr>
          <p:spPr>
            <a:xfrm flipH="1" flipV="1">
              <a:off x="7486504" y="2868543"/>
              <a:ext cx="5371" cy="21535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歐幾里得演算法 </a:t>
            </a:r>
            <a:r>
              <a:rPr lang="en-US" altLang="zh-TW" dirty="0" smtClean="0"/>
              <a:t>(2/3)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6112475" y="3080950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6795448" y="3080950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6112475" y="3481060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6176595" y="388117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6795448" y="3481060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6859568" y="388117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直線接點 12"/>
          <p:cNvCxnSpPr/>
          <p:nvPr/>
        </p:nvCxnSpPr>
        <p:spPr>
          <a:xfrm>
            <a:off x="6020012" y="3080950"/>
            <a:ext cx="0" cy="12003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6670798" y="3080950"/>
            <a:ext cx="0" cy="12003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7312588" y="3080950"/>
            <a:ext cx="0" cy="12003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6021857" y="3911779"/>
            <a:ext cx="648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/>
          <p:cNvSpPr txBox="1"/>
          <p:nvPr/>
        </p:nvSpPr>
        <p:spPr>
          <a:xfrm>
            <a:off x="5660875" y="30809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7361243" y="308095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直線接點 18"/>
          <p:cNvCxnSpPr/>
          <p:nvPr/>
        </p:nvCxnSpPr>
        <p:spPr>
          <a:xfrm>
            <a:off x="6664588" y="3911779"/>
            <a:ext cx="648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橢圓 19"/>
          <p:cNvSpPr/>
          <p:nvPr/>
        </p:nvSpPr>
        <p:spPr>
          <a:xfrm>
            <a:off x="6795448" y="3970637"/>
            <a:ext cx="441146" cy="247135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/>
          <p:cNvSpPr/>
          <p:nvPr/>
        </p:nvSpPr>
        <p:spPr>
          <a:xfrm>
            <a:off x="6130948" y="3970636"/>
            <a:ext cx="441146" cy="247135"/>
          </a:xfrm>
          <a:prstGeom prst="ellipse">
            <a:avLst/>
          </a:prstGeom>
          <a:noFill/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5" name="群組 24"/>
          <p:cNvGrpSpPr/>
          <p:nvPr/>
        </p:nvGrpSpPr>
        <p:grpSpPr>
          <a:xfrm>
            <a:off x="6145841" y="2465481"/>
            <a:ext cx="356188" cy="615469"/>
            <a:chOff x="6145841" y="2465481"/>
            <a:chExt cx="356188" cy="615469"/>
          </a:xfrm>
        </p:grpSpPr>
        <p:sp>
          <p:nvSpPr>
            <p:cNvPr id="22" name="文字方塊 21"/>
            <p:cNvSpPr txBox="1"/>
            <p:nvPr/>
          </p:nvSpPr>
          <p:spPr>
            <a:xfrm>
              <a:off x="6145841" y="2465481"/>
              <a:ext cx="356188" cy="40011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6" name="直線單箭頭接點 25"/>
            <p:cNvCxnSpPr>
              <a:stCxn id="7" idx="0"/>
              <a:endCxn id="22" idx="2"/>
            </p:cNvCxnSpPr>
            <p:nvPr/>
          </p:nvCxnSpPr>
          <p:spPr>
            <a:xfrm flipH="1" flipV="1">
              <a:off x="6323935" y="2865591"/>
              <a:ext cx="9113" cy="21535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群組 28"/>
          <p:cNvGrpSpPr/>
          <p:nvPr/>
        </p:nvGrpSpPr>
        <p:grpSpPr>
          <a:xfrm>
            <a:off x="6146092" y="4281280"/>
            <a:ext cx="370614" cy="595392"/>
            <a:chOff x="6146092" y="4281280"/>
            <a:chExt cx="370614" cy="595392"/>
          </a:xfrm>
        </p:grpSpPr>
        <p:sp>
          <p:nvSpPr>
            <p:cNvPr id="24" name="文字方塊 23"/>
            <p:cNvSpPr txBox="1"/>
            <p:nvPr/>
          </p:nvSpPr>
          <p:spPr>
            <a:xfrm>
              <a:off x="6146092" y="4476562"/>
              <a:ext cx="370614" cy="40011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1" name="直線單箭頭接點 30"/>
            <p:cNvCxnSpPr>
              <a:stCxn id="10" idx="2"/>
              <a:endCxn id="24" idx="0"/>
            </p:cNvCxnSpPr>
            <p:nvPr/>
          </p:nvCxnSpPr>
          <p:spPr>
            <a:xfrm flipH="1">
              <a:off x="6331399" y="4281280"/>
              <a:ext cx="1649" cy="1952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群組 33"/>
          <p:cNvGrpSpPr/>
          <p:nvPr/>
        </p:nvGrpSpPr>
        <p:grpSpPr>
          <a:xfrm>
            <a:off x="6829499" y="4281280"/>
            <a:ext cx="356188" cy="595392"/>
            <a:chOff x="6829499" y="4281280"/>
            <a:chExt cx="356188" cy="595392"/>
          </a:xfrm>
        </p:grpSpPr>
        <p:sp>
          <p:nvSpPr>
            <p:cNvPr id="32" name="文字方塊 31"/>
            <p:cNvSpPr txBox="1"/>
            <p:nvPr/>
          </p:nvSpPr>
          <p:spPr>
            <a:xfrm>
              <a:off x="6829499" y="4476562"/>
              <a:ext cx="356188" cy="40011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zh-TW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3" name="直線單箭頭接點 32"/>
            <p:cNvCxnSpPr>
              <a:stCxn id="12" idx="2"/>
              <a:endCxn id="32" idx="0"/>
            </p:cNvCxnSpPr>
            <p:nvPr/>
          </p:nvCxnSpPr>
          <p:spPr>
            <a:xfrm flipH="1">
              <a:off x="7007593" y="4281280"/>
              <a:ext cx="8428" cy="1952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群組 34"/>
          <p:cNvGrpSpPr/>
          <p:nvPr/>
        </p:nvGrpSpPr>
        <p:grpSpPr>
          <a:xfrm>
            <a:off x="6150695" y="4281280"/>
            <a:ext cx="356188" cy="595392"/>
            <a:chOff x="7341591" y="4281280"/>
            <a:chExt cx="356188" cy="595392"/>
          </a:xfrm>
        </p:grpSpPr>
        <p:sp>
          <p:nvSpPr>
            <p:cNvPr id="37" name="文字方塊 36"/>
            <p:cNvSpPr txBox="1"/>
            <p:nvPr/>
          </p:nvSpPr>
          <p:spPr>
            <a:xfrm>
              <a:off x="7341591" y="4476562"/>
              <a:ext cx="356188" cy="40011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9" name="直線單箭頭接點 38"/>
            <p:cNvCxnSpPr/>
            <p:nvPr/>
          </p:nvCxnSpPr>
          <p:spPr>
            <a:xfrm flipH="1">
              <a:off x="7522675" y="4281280"/>
              <a:ext cx="1215" cy="1952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91711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歐幾里得演算法 </a:t>
            </a:r>
            <a:r>
              <a:rPr lang="en-US" altLang="zh-TW" dirty="0" smtClean="0"/>
              <a:t>(3/3)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4927599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以 </a:t>
            </a:r>
            <a:r>
              <a:rPr lang="en-US" altLang="zh-TW" i="1" dirty="0" smtClean="0"/>
              <a:t>A</a:t>
            </a:r>
            <a:r>
              <a:rPr lang="en-US" altLang="zh-TW" dirty="0" smtClean="0"/>
              <a:t> = 18, </a:t>
            </a:r>
            <a:r>
              <a:rPr lang="en-US" altLang="zh-TW" i="1" dirty="0" smtClean="0"/>
              <a:t>B</a:t>
            </a:r>
            <a:r>
              <a:rPr lang="en-US" altLang="zh-TW" dirty="0" smtClean="0"/>
              <a:t> = 12</a:t>
            </a:r>
            <a:r>
              <a:rPr lang="zh-TW" altLang="en-US" dirty="0" smtClean="0"/>
              <a:t>為例</a:t>
            </a:r>
            <a:endParaRPr lang="en-US" altLang="zh-TW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 smtClean="0"/>
              <a:t>(</a:t>
            </a:r>
            <a:r>
              <a:rPr lang="zh-TW" altLang="en-US" dirty="0" smtClean="0"/>
              <a:t>敘述</a:t>
            </a:r>
            <a:r>
              <a:rPr lang="en-US" altLang="zh-TW" dirty="0" smtClean="0"/>
              <a:t>1) </a:t>
            </a:r>
            <a:r>
              <a:rPr lang="zh-TW" altLang="en-US" dirty="0" smtClean="0"/>
              <a:t>輸入 </a:t>
            </a:r>
            <a:r>
              <a:rPr lang="en-US" altLang="zh-TW" i="1" dirty="0" smtClean="0"/>
              <a:t>A</a:t>
            </a:r>
            <a:r>
              <a:rPr lang="zh-TW" altLang="en-US" dirty="0" smtClean="0"/>
              <a:t> </a:t>
            </a:r>
            <a:r>
              <a:rPr lang="en-US" altLang="zh-TW" dirty="0" smtClean="0"/>
              <a:t>=</a:t>
            </a:r>
            <a:r>
              <a:rPr lang="zh-TW" altLang="en-US" dirty="0" smtClean="0"/>
              <a:t> </a:t>
            </a:r>
            <a:r>
              <a:rPr lang="en-US" altLang="zh-TW" dirty="0" smtClean="0"/>
              <a:t>18, </a:t>
            </a:r>
            <a:r>
              <a:rPr lang="en-US" altLang="zh-TW" i="1" dirty="0" smtClean="0"/>
              <a:t>B</a:t>
            </a:r>
            <a:r>
              <a:rPr lang="en-US" altLang="zh-TW" dirty="0" smtClean="0"/>
              <a:t> = 12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 smtClean="0"/>
              <a:t>(</a:t>
            </a:r>
            <a:r>
              <a:rPr lang="zh-TW" altLang="en-US" dirty="0" smtClean="0"/>
              <a:t>敘述</a:t>
            </a:r>
            <a:r>
              <a:rPr lang="en-US" altLang="zh-TW" dirty="0" smtClean="0"/>
              <a:t>2)</a:t>
            </a:r>
            <a:r>
              <a:rPr lang="zh-TW" altLang="en-US" dirty="0" smtClean="0"/>
              <a:t> </a:t>
            </a:r>
            <a:r>
              <a:rPr lang="en-US" altLang="zh-TW" dirty="0" smtClean="0"/>
              <a:t>18 </a:t>
            </a:r>
            <a:r>
              <a:rPr lang="en-US" altLang="zh-TW" dirty="0" smtClean="0">
                <a:sym typeface="Symbol" panose="05050102010706020507" pitchFamily="18" charset="2"/>
              </a:rPr>
              <a:t></a:t>
            </a:r>
            <a:r>
              <a:rPr lang="en-US" altLang="zh-TW" dirty="0" smtClean="0"/>
              <a:t> 12 = 1 </a:t>
            </a:r>
            <a:r>
              <a:rPr lang="zh-TW" altLang="en-US" dirty="0" smtClean="0"/>
              <a:t>餘 </a:t>
            </a:r>
            <a:r>
              <a:rPr lang="en-US" altLang="zh-TW" dirty="0" smtClean="0"/>
              <a:t>6 (</a:t>
            </a:r>
            <a:r>
              <a:rPr lang="en-US" altLang="zh-TW" i="1" dirty="0" smtClean="0"/>
              <a:t>R</a:t>
            </a:r>
            <a:r>
              <a:rPr lang="en-US" altLang="zh-TW" dirty="0" smtClean="0"/>
              <a:t>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 smtClean="0"/>
              <a:t>(</a:t>
            </a:r>
            <a:r>
              <a:rPr lang="zh-TW" altLang="en-US" dirty="0" smtClean="0"/>
              <a:t>敘述</a:t>
            </a:r>
            <a:r>
              <a:rPr lang="en-US" altLang="zh-TW" dirty="0" smtClean="0"/>
              <a:t>3) R </a:t>
            </a:r>
            <a:r>
              <a:rPr lang="en-US" altLang="zh-TW" dirty="0" smtClean="0">
                <a:sym typeface="Symbol" panose="05050102010706020507" pitchFamily="18" charset="2"/>
              </a:rPr>
              <a:t> 0</a:t>
            </a:r>
            <a:endParaRPr lang="en-US" altLang="zh-TW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 smtClean="0"/>
              <a:t>(</a:t>
            </a:r>
            <a:r>
              <a:rPr lang="zh-TW" altLang="en-US" dirty="0" smtClean="0"/>
              <a:t>敘述</a:t>
            </a:r>
            <a:r>
              <a:rPr lang="en-US" altLang="zh-TW" dirty="0" smtClean="0"/>
              <a:t>4) </a:t>
            </a:r>
            <a:r>
              <a:rPr lang="en-US" altLang="zh-TW" i="1" dirty="0" smtClean="0"/>
              <a:t>A</a:t>
            </a:r>
            <a:r>
              <a:rPr lang="en-US" altLang="zh-TW" dirty="0" smtClean="0"/>
              <a:t> = 12, </a:t>
            </a:r>
            <a:r>
              <a:rPr lang="en-US" altLang="zh-TW" i="1" dirty="0" smtClean="0"/>
              <a:t>B</a:t>
            </a:r>
            <a:r>
              <a:rPr lang="en-US" altLang="zh-TW" dirty="0" smtClean="0"/>
              <a:t> = 6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 smtClean="0"/>
              <a:t>(</a:t>
            </a:r>
            <a:r>
              <a:rPr lang="zh-TW" altLang="en-US" dirty="0" smtClean="0"/>
              <a:t>敘述</a:t>
            </a:r>
            <a:r>
              <a:rPr lang="en-US" altLang="zh-TW" dirty="0" smtClean="0"/>
              <a:t>2) 12 </a:t>
            </a:r>
            <a:r>
              <a:rPr lang="en-US" altLang="zh-TW" dirty="0" smtClean="0">
                <a:sym typeface="Symbol" panose="05050102010706020507" pitchFamily="18" charset="2"/>
              </a:rPr>
              <a:t> 6 = 2 </a:t>
            </a:r>
            <a:r>
              <a:rPr lang="zh-TW" altLang="en-US" dirty="0" smtClean="0">
                <a:sym typeface="Symbol" panose="05050102010706020507" pitchFamily="18" charset="2"/>
              </a:rPr>
              <a:t>餘 </a:t>
            </a:r>
            <a:r>
              <a:rPr lang="en-US" altLang="zh-TW" dirty="0" smtClean="0">
                <a:sym typeface="Symbol" panose="05050102010706020507" pitchFamily="18" charset="2"/>
              </a:rPr>
              <a:t>0 (</a:t>
            </a:r>
            <a:r>
              <a:rPr lang="en-US" altLang="zh-TW" i="1" dirty="0" smtClean="0">
                <a:sym typeface="Symbol" panose="05050102010706020507" pitchFamily="18" charset="2"/>
              </a:rPr>
              <a:t>R</a:t>
            </a:r>
            <a:r>
              <a:rPr lang="en-US" altLang="zh-TW" dirty="0" smtClean="0">
                <a:sym typeface="Symbol" panose="05050102010706020507" pitchFamily="18" charset="2"/>
              </a:rPr>
              <a:t>)</a:t>
            </a:r>
            <a:endParaRPr lang="en-US" altLang="zh-TW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 smtClean="0"/>
              <a:t>(</a:t>
            </a:r>
            <a:r>
              <a:rPr lang="zh-TW" altLang="en-US" dirty="0" smtClean="0"/>
              <a:t>敘述</a:t>
            </a:r>
            <a:r>
              <a:rPr lang="en-US" altLang="zh-TW" dirty="0" smtClean="0"/>
              <a:t>3) </a:t>
            </a:r>
            <a:r>
              <a:rPr lang="en-US" altLang="zh-TW" i="1" dirty="0" smtClean="0"/>
              <a:t>R</a:t>
            </a:r>
            <a:r>
              <a:rPr lang="en-US" altLang="zh-TW" dirty="0" smtClean="0"/>
              <a:t> = 0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 smtClean="0"/>
              <a:t>(</a:t>
            </a:r>
            <a:r>
              <a:rPr lang="zh-TW" altLang="en-US" dirty="0" smtClean="0"/>
              <a:t>敘述</a:t>
            </a:r>
            <a:r>
              <a:rPr lang="en-US" altLang="zh-TW" dirty="0" smtClean="0"/>
              <a:t>5) GCD = 6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矩形 6"/>
          <p:cNvSpPr/>
          <p:nvPr/>
        </p:nvSpPr>
        <p:spPr>
          <a:xfrm>
            <a:off x="5227713" y="27195"/>
            <a:ext cx="3880791" cy="16312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zh-TW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輸入兩個自然數 </a:t>
            </a:r>
            <a:r>
              <a:rPr lang="en-US" altLang="zh-TW" sz="20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en-US" altLang="zh-TW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除</a:t>
            </a:r>
            <a:r>
              <a:rPr lang="zh-TW" alt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 </a:t>
            </a:r>
            <a:r>
              <a:rPr lang="en-US" altLang="zh-TW" sz="20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en-US" altLang="zh-TW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餘數為 </a:t>
            </a:r>
            <a:r>
              <a:rPr lang="en-US" altLang="zh-TW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如果 </a:t>
            </a:r>
            <a:r>
              <a:rPr lang="en-US" altLang="zh-TW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</a:t>
            </a:r>
            <a:r>
              <a:rPr lang="en-US" altLang="zh-TW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為零，則跳至敘述 5</a:t>
            </a:r>
            <a:endParaRPr lang="en-US" altLang="zh-TW" sz="2000" b="1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TW" sz="20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zh-TW" alt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←</a:t>
            </a:r>
            <a:r>
              <a:rPr lang="zh-TW" alt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en-US" altLang="zh-TW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 sz="20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zh-TW" alt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←</a:t>
            </a:r>
            <a:r>
              <a:rPr lang="zh-TW" alt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</a:t>
            </a:r>
            <a:r>
              <a:rPr lang="en-US" altLang="zh-TW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跳至敘述 2</a:t>
            </a:r>
            <a:endParaRPr lang="en-US" altLang="zh-TW" sz="2000" b="1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TW" sz="2000" b="1" i="1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en-US" altLang="zh-TW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即為 </a:t>
            </a:r>
            <a:r>
              <a:rPr lang="en-US" altLang="zh-TW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GCD</a:t>
            </a:r>
          </a:p>
        </p:txBody>
      </p:sp>
      <p:sp>
        <p:nvSpPr>
          <p:cNvPr id="9" name="矩形 8"/>
          <p:cNvSpPr/>
          <p:nvPr/>
        </p:nvSpPr>
        <p:spPr>
          <a:xfrm>
            <a:off x="3461705" y="4928774"/>
            <a:ext cx="5615410" cy="1631216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zh-TW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輸入 (</a:t>
            </a:r>
            <a:r>
              <a:rPr lang="en-US" altLang="zh-TW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Input)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明確性 (</a:t>
            </a:r>
            <a:r>
              <a:rPr lang="en-US" altLang="zh-TW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Definiteness)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正確性 (</a:t>
            </a:r>
            <a:r>
              <a:rPr lang="en-US" altLang="zh-TW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Correctness)/</a:t>
            </a:r>
            <a:r>
              <a:rPr lang="zh-TW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有效性 (</a:t>
            </a:r>
            <a:r>
              <a:rPr lang="en-US" altLang="zh-TW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Effectiveness)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有限性 (</a:t>
            </a:r>
            <a:r>
              <a:rPr lang="en-US" altLang="zh-TW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Finiteness)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輸出 (</a:t>
            </a:r>
            <a:r>
              <a:rPr lang="en-US" altLang="zh-TW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Output)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6360028" y="2435878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7043001" y="2435878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6360028" y="2835988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424148" y="323609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7043001" y="2835988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7107121" y="323609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直線接點 15"/>
          <p:cNvCxnSpPr/>
          <p:nvPr/>
        </p:nvCxnSpPr>
        <p:spPr>
          <a:xfrm>
            <a:off x="6267565" y="2435878"/>
            <a:ext cx="0" cy="12003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>
            <a:off x="6918351" y="2435878"/>
            <a:ext cx="0" cy="12003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7560141" y="2435878"/>
            <a:ext cx="0" cy="12003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/>
          <p:nvPr/>
        </p:nvCxnSpPr>
        <p:spPr>
          <a:xfrm>
            <a:off x="6269410" y="3266707"/>
            <a:ext cx="648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/>
          <p:cNvSpPr txBox="1"/>
          <p:nvPr/>
        </p:nvSpPr>
        <p:spPr>
          <a:xfrm>
            <a:off x="5908428" y="243587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7608796" y="243587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直線接點 21"/>
          <p:cNvCxnSpPr/>
          <p:nvPr/>
        </p:nvCxnSpPr>
        <p:spPr>
          <a:xfrm>
            <a:off x="6912141" y="3266707"/>
            <a:ext cx="648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橢圓 22"/>
          <p:cNvSpPr/>
          <p:nvPr/>
        </p:nvSpPr>
        <p:spPr>
          <a:xfrm>
            <a:off x="7043001" y="3325565"/>
            <a:ext cx="441146" cy="247135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橢圓 23"/>
          <p:cNvSpPr/>
          <p:nvPr/>
        </p:nvSpPr>
        <p:spPr>
          <a:xfrm>
            <a:off x="6378501" y="3325564"/>
            <a:ext cx="441146" cy="247135"/>
          </a:xfrm>
          <a:prstGeom prst="ellipse">
            <a:avLst/>
          </a:prstGeom>
          <a:noFill/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2605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流程圖 </a:t>
            </a:r>
            <a:r>
              <a:rPr lang="en-US" altLang="zh-TW" dirty="0" smtClean="0"/>
              <a:t>flow chart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8" name="流程圖: 結束點 7"/>
          <p:cNvSpPr/>
          <p:nvPr/>
        </p:nvSpPr>
        <p:spPr>
          <a:xfrm>
            <a:off x="2553366" y="1345470"/>
            <a:ext cx="1606379" cy="576000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開始</a:t>
            </a:r>
            <a:endParaRPr lang="zh-TW" altLang="en-US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流程圖: 資料 8"/>
          <p:cNvSpPr/>
          <p:nvPr/>
        </p:nvSpPr>
        <p:spPr>
          <a:xfrm>
            <a:off x="1626245" y="2209571"/>
            <a:ext cx="3460619" cy="576000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輸入自然數 </a:t>
            </a:r>
            <a:r>
              <a:rPr lang="en-US" altLang="zh-TW" sz="2000" b="1" i="1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en-US" altLang="zh-TW" sz="20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endParaRPr lang="zh-TW" altLang="en-US" sz="2000" b="1" i="1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" name="流程圖: 程序 9"/>
          <p:cNvSpPr/>
          <p:nvPr/>
        </p:nvSpPr>
        <p:spPr>
          <a:xfrm>
            <a:off x="2396483" y="3075225"/>
            <a:ext cx="1920142" cy="576000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TW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zh-TW" sz="20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TW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MOD </a:t>
            </a:r>
            <a:r>
              <a:rPr lang="en-US" altLang="zh-TW" sz="20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endParaRPr lang="zh-TW" altLang="en-US" sz="20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流程圖: 決策 10"/>
          <p:cNvSpPr/>
          <p:nvPr/>
        </p:nvSpPr>
        <p:spPr>
          <a:xfrm>
            <a:off x="2580137" y="3940879"/>
            <a:ext cx="1552833" cy="57600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TW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0?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流程圖: 資料 11"/>
          <p:cNvSpPr/>
          <p:nvPr/>
        </p:nvSpPr>
        <p:spPr>
          <a:xfrm>
            <a:off x="1783126" y="4806533"/>
            <a:ext cx="3146854" cy="576000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輸出 </a:t>
            </a:r>
            <a:r>
              <a:rPr lang="en-US" altLang="zh-TW" sz="2000" b="1" i="1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zh-TW" alt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為 </a:t>
            </a:r>
            <a:r>
              <a:rPr lang="en-US" altLang="zh-TW" sz="20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GCD</a:t>
            </a:r>
            <a:endParaRPr lang="zh-TW" altLang="en-US" sz="2000" b="1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" name="流程圖: 程序 12"/>
          <p:cNvSpPr/>
          <p:nvPr/>
        </p:nvSpPr>
        <p:spPr>
          <a:xfrm>
            <a:off x="5967587" y="3940879"/>
            <a:ext cx="1508250" cy="576000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TW" alt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zh-TW" sz="20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</a:p>
          <a:p>
            <a:pPr algn="ctr"/>
            <a:r>
              <a:rPr lang="en-US" altLang="zh-TW" sz="20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zh-TW" alt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 </a:t>
            </a:r>
            <a:r>
              <a:rPr lang="en-US" altLang="zh-TW" sz="20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endParaRPr lang="zh-TW" altLang="en-US" sz="20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流程圖: 結束點 13"/>
          <p:cNvSpPr/>
          <p:nvPr/>
        </p:nvSpPr>
        <p:spPr>
          <a:xfrm>
            <a:off x="2553366" y="5672187"/>
            <a:ext cx="1606379" cy="576000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結束</a:t>
            </a:r>
            <a:endParaRPr lang="zh-TW" altLang="en-US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16" name="直線單箭頭接點 15"/>
          <p:cNvCxnSpPr>
            <a:stCxn id="8" idx="2"/>
            <a:endCxn id="9" idx="1"/>
          </p:cNvCxnSpPr>
          <p:nvPr/>
        </p:nvCxnSpPr>
        <p:spPr>
          <a:xfrm flipH="1">
            <a:off x="3356555" y="1921470"/>
            <a:ext cx="1" cy="288101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>
            <a:stCxn id="9" idx="4"/>
            <a:endCxn id="10" idx="0"/>
          </p:cNvCxnSpPr>
          <p:nvPr/>
        </p:nvCxnSpPr>
        <p:spPr>
          <a:xfrm flipH="1">
            <a:off x="3356554" y="2785571"/>
            <a:ext cx="1" cy="289654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>
            <a:stCxn id="10" idx="2"/>
            <a:endCxn id="11" idx="0"/>
          </p:cNvCxnSpPr>
          <p:nvPr/>
        </p:nvCxnSpPr>
        <p:spPr>
          <a:xfrm>
            <a:off x="3356554" y="3651225"/>
            <a:ext cx="0" cy="289654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>
            <a:stCxn id="11" idx="2"/>
            <a:endCxn id="12" idx="1"/>
          </p:cNvCxnSpPr>
          <p:nvPr/>
        </p:nvCxnSpPr>
        <p:spPr>
          <a:xfrm flipH="1">
            <a:off x="3356553" y="4516879"/>
            <a:ext cx="1" cy="289654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>
            <a:stCxn id="12" idx="4"/>
            <a:endCxn id="14" idx="0"/>
          </p:cNvCxnSpPr>
          <p:nvPr/>
        </p:nvCxnSpPr>
        <p:spPr>
          <a:xfrm>
            <a:off x="3356553" y="5382533"/>
            <a:ext cx="3" cy="289654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>
            <a:stCxn id="11" idx="3"/>
            <a:endCxn id="13" idx="1"/>
          </p:cNvCxnSpPr>
          <p:nvPr/>
        </p:nvCxnSpPr>
        <p:spPr>
          <a:xfrm>
            <a:off x="4132970" y="4228879"/>
            <a:ext cx="1834617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肘形接點 32"/>
          <p:cNvCxnSpPr>
            <a:stCxn id="13" idx="0"/>
            <a:endCxn id="10" idx="3"/>
          </p:cNvCxnSpPr>
          <p:nvPr/>
        </p:nvCxnSpPr>
        <p:spPr>
          <a:xfrm rot="16200000" flipV="1">
            <a:off x="5230342" y="2449508"/>
            <a:ext cx="577654" cy="2405087"/>
          </a:xfrm>
          <a:prstGeom prst="bentConnector2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字方塊 33"/>
          <p:cNvSpPr txBox="1"/>
          <p:nvPr/>
        </p:nvSpPr>
        <p:spPr>
          <a:xfrm>
            <a:off x="3356553" y="4438381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4864971" y="3917542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5883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34" grpId="0"/>
      <p:bldP spid="3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虛擬碼 </a:t>
            </a:r>
            <a:r>
              <a:rPr lang="en-US" altLang="zh-TW" dirty="0" smtClean="0"/>
              <a:t>pseudo code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4927599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TW" altLang="en-US" dirty="0" smtClean="0"/>
              <a:t>演算法：歐幾里得演算法計算兩個自然數的最大公因數</a:t>
            </a:r>
            <a:endParaRPr lang="en-US" altLang="zh-TW" dirty="0" smtClean="0"/>
          </a:p>
          <a:p>
            <a:pPr marL="457200" lvl="1" indent="0">
              <a:buNone/>
            </a:pPr>
            <a:r>
              <a:rPr lang="zh-TW" altLang="en-US" dirty="0" smtClean="0"/>
              <a:t>輸入自然數</a:t>
            </a:r>
            <a:r>
              <a:rPr lang="zh-TW" altLang="en-US" dirty="0"/>
              <a:t> </a:t>
            </a:r>
            <a:r>
              <a:rPr lang="en-US" altLang="zh-TW" i="1" dirty="0" smtClean="0"/>
              <a:t>A</a:t>
            </a:r>
            <a:r>
              <a:rPr lang="zh-TW" altLang="en-US" dirty="0"/>
              <a:t> </a:t>
            </a:r>
            <a:r>
              <a:rPr lang="zh-TW" altLang="en-US" dirty="0" smtClean="0"/>
              <a:t>與</a:t>
            </a:r>
            <a:r>
              <a:rPr lang="zh-TW" altLang="en-US" dirty="0"/>
              <a:t> </a:t>
            </a:r>
            <a:r>
              <a:rPr lang="en-US" altLang="zh-TW" i="1" dirty="0" smtClean="0"/>
              <a:t>B</a:t>
            </a:r>
          </a:p>
          <a:p>
            <a:pPr marL="457200" lvl="1" indent="0">
              <a:buNone/>
            </a:pPr>
            <a:r>
              <a:rPr lang="zh-TW" altLang="en-US" dirty="0" smtClean="0"/>
              <a:t>當</a:t>
            </a:r>
            <a:r>
              <a:rPr lang="zh-TW" altLang="en-US" dirty="0"/>
              <a:t> </a:t>
            </a:r>
            <a:r>
              <a:rPr lang="en-US" altLang="zh-TW" i="1" dirty="0" smtClean="0"/>
              <a:t>R</a:t>
            </a:r>
            <a:r>
              <a:rPr lang="zh-TW" altLang="en-US" dirty="0" smtClean="0"/>
              <a:t> </a:t>
            </a:r>
            <a:r>
              <a:rPr lang="en-US" altLang="zh-TW" dirty="0" smtClean="0"/>
              <a:t>(</a:t>
            </a:r>
            <a:r>
              <a:rPr lang="en-US" altLang="zh-TW" i="1" dirty="0" smtClean="0"/>
              <a:t>R</a:t>
            </a:r>
            <a:r>
              <a:rPr lang="en-US" altLang="zh-TW" dirty="0" smtClean="0"/>
              <a:t> = </a:t>
            </a:r>
            <a:r>
              <a:rPr lang="en-US" altLang="zh-TW" i="1" dirty="0" smtClean="0"/>
              <a:t>A</a:t>
            </a:r>
            <a:r>
              <a:rPr lang="en-US" altLang="zh-TW" dirty="0" smtClean="0"/>
              <a:t> MOD </a:t>
            </a:r>
            <a:r>
              <a:rPr lang="en-US" altLang="zh-TW" i="1" dirty="0" smtClean="0"/>
              <a:t>B</a:t>
            </a:r>
            <a:r>
              <a:rPr lang="en-US" altLang="zh-TW" dirty="0" smtClean="0"/>
              <a:t>)</a:t>
            </a:r>
            <a:r>
              <a:rPr lang="zh-TW" altLang="en-US" dirty="0" smtClean="0"/>
              <a:t>不為 </a:t>
            </a:r>
            <a:r>
              <a:rPr lang="en-US" altLang="zh-TW" dirty="0" smtClean="0"/>
              <a:t>0</a:t>
            </a:r>
            <a:r>
              <a:rPr lang="zh-TW" altLang="en-US" dirty="0" smtClean="0"/>
              <a:t> 時，重複迴圈</a:t>
            </a:r>
            <a:endParaRPr lang="en-US" altLang="zh-TW" dirty="0" smtClean="0"/>
          </a:p>
          <a:p>
            <a:pPr marL="914400" lvl="2" indent="0">
              <a:buNone/>
            </a:pPr>
            <a:r>
              <a:rPr lang="en-US" altLang="zh-TW" i="1" dirty="0" smtClean="0"/>
              <a:t>A</a:t>
            </a:r>
            <a:r>
              <a:rPr lang="zh-TW" altLang="en-US" dirty="0" smtClean="0"/>
              <a:t> </a:t>
            </a:r>
            <a:r>
              <a:rPr lang="zh-TW" altLang="en-US" dirty="0" smtClean="0">
                <a:sym typeface="Symbol" panose="05050102010706020507" pitchFamily="18" charset="2"/>
              </a:rPr>
              <a:t> </a:t>
            </a:r>
            <a:r>
              <a:rPr lang="en-US" altLang="zh-TW" i="1" dirty="0" smtClean="0">
                <a:sym typeface="Symbol" panose="05050102010706020507" pitchFamily="18" charset="2"/>
              </a:rPr>
              <a:t>B</a:t>
            </a:r>
          </a:p>
          <a:p>
            <a:pPr marL="914400" lvl="2" indent="0">
              <a:buNone/>
            </a:pPr>
            <a:r>
              <a:rPr lang="en-US" altLang="zh-TW" i="1" dirty="0" smtClean="0">
                <a:sym typeface="Symbol" panose="05050102010706020507" pitchFamily="18" charset="2"/>
              </a:rPr>
              <a:t>B</a:t>
            </a:r>
            <a:r>
              <a:rPr lang="zh-TW" altLang="en-US" dirty="0" smtClean="0">
                <a:sym typeface="Symbol" panose="05050102010706020507" pitchFamily="18" charset="2"/>
              </a:rPr>
              <a:t>  </a:t>
            </a:r>
            <a:r>
              <a:rPr lang="en-US" altLang="zh-TW" i="1" dirty="0" smtClean="0">
                <a:sym typeface="Symbol" panose="05050102010706020507" pitchFamily="18" charset="2"/>
              </a:rPr>
              <a:t>R</a:t>
            </a:r>
          </a:p>
          <a:p>
            <a:pPr marL="457200" lvl="1" indent="0">
              <a:buNone/>
            </a:pPr>
            <a:r>
              <a:rPr lang="zh-TW" altLang="en-US" dirty="0" smtClean="0">
                <a:sym typeface="Symbol" panose="05050102010706020507" pitchFamily="18" charset="2"/>
              </a:rPr>
              <a:t>迴圈結束</a:t>
            </a:r>
            <a:endParaRPr lang="en-US" altLang="zh-TW" dirty="0" smtClean="0">
              <a:sym typeface="Symbol" panose="05050102010706020507" pitchFamily="18" charset="2"/>
            </a:endParaRPr>
          </a:p>
          <a:p>
            <a:pPr marL="457200" lvl="1" indent="0">
              <a:buNone/>
            </a:pPr>
            <a:r>
              <a:rPr lang="zh-TW" altLang="en-US" dirty="0" smtClean="0">
                <a:sym typeface="Symbol" panose="05050102010706020507" pitchFamily="18" charset="2"/>
              </a:rPr>
              <a:t>輸出</a:t>
            </a:r>
            <a:r>
              <a:rPr lang="zh-TW" altLang="en-US" dirty="0">
                <a:sym typeface="Symbol" panose="05050102010706020507" pitchFamily="18" charset="2"/>
              </a:rPr>
              <a:t> </a:t>
            </a:r>
            <a:r>
              <a:rPr lang="en-US" altLang="zh-TW" i="1" dirty="0" smtClean="0">
                <a:sym typeface="Symbol" panose="05050102010706020507" pitchFamily="18" charset="2"/>
              </a:rPr>
              <a:t>B</a:t>
            </a:r>
            <a:r>
              <a:rPr lang="zh-TW" altLang="en-US" dirty="0" smtClean="0">
                <a:sym typeface="Symbol" panose="05050102010706020507" pitchFamily="18" charset="2"/>
              </a:rPr>
              <a:t> </a:t>
            </a:r>
            <a:r>
              <a:rPr lang="zh-TW" altLang="en-US" dirty="0">
                <a:sym typeface="Symbol" panose="05050102010706020507" pitchFamily="18" charset="2"/>
              </a:rPr>
              <a:t>為</a:t>
            </a:r>
            <a:r>
              <a:rPr lang="zh-TW" altLang="en-US" dirty="0" smtClean="0">
                <a:sym typeface="Symbol" panose="05050102010706020507" pitchFamily="18" charset="2"/>
              </a:rPr>
              <a:t>結果</a:t>
            </a:r>
            <a:endParaRPr lang="en-US" altLang="zh-TW" dirty="0" smtClean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zh-TW" altLang="en-US" dirty="0" smtClean="0">
                <a:sym typeface="Symbol" panose="05050102010706020507" pitchFamily="18" charset="2"/>
              </a:rPr>
              <a:t>演算法</a:t>
            </a:r>
            <a:r>
              <a:rPr lang="zh-TW" altLang="en-US" dirty="0">
                <a:sym typeface="Symbol" panose="05050102010706020507" pitchFamily="18" charset="2"/>
              </a:rPr>
              <a:t>結束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5134" y="2708920"/>
            <a:ext cx="4424676" cy="3717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134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程式的分析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4927599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正確達到</a:t>
            </a:r>
            <a:r>
              <a:rPr lang="zh-TW" altLang="en-US" dirty="0" smtClean="0"/>
              <a:t>目的</a:t>
            </a:r>
            <a:endParaRPr lang="en-US" altLang="zh-TW" dirty="0" smtClean="0"/>
          </a:p>
          <a:p>
            <a:r>
              <a:rPr lang="zh-TW" altLang="en-US" dirty="0"/>
              <a:t>可維護性</a:t>
            </a:r>
            <a:r>
              <a:rPr lang="zh-TW" altLang="en-US" dirty="0" smtClean="0"/>
              <a:t>高</a:t>
            </a:r>
            <a:endParaRPr lang="en-US" altLang="zh-TW" dirty="0" smtClean="0"/>
          </a:p>
          <a:p>
            <a:pPr lvl="1"/>
            <a:r>
              <a:rPr lang="zh-TW" altLang="en-US" dirty="0"/>
              <a:t>符合</a:t>
            </a:r>
            <a:r>
              <a:rPr lang="zh-TW" altLang="en-US" dirty="0">
                <a:solidFill>
                  <a:srgbClr val="C00000"/>
                </a:solidFill>
              </a:rPr>
              <a:t>模組化</a:t>
            </a:r>
            <a:r>
              <a:rPr lang="zh-TW" altLang="en-US" dirty="0"/>
              <a:t>原則，</a:t>
            </a:r>
            <a:r>
              <a:rPr lang="zh-TW" altLang="en-US" dirty="0" smtClean="0">
                <a:solidFill>
                  <a:srgbClr val="C00000"/>
                </a:solidFill>
              </a:rPr>
              <a:t>由上而下</a:t>
            </a:r>
            <a:r>
              <a:rPr lang="en-US" altLang="zh-TW" dirty="0" smtClean="0">
                <a:solidFill>
                  <a:srgbClr val="C00000"/>
                </a:solidFill>
              </a:rPr>
              <a:t>(top-down)</a:t>
            </a:r>
            <a:r>
              <a:rPr lang="zh-TW" altLang="en-US" dirty="0" smtClean="0"/>
              <a:t>的</a:t>
            </a:r>
            <a:r>
              <a:rPr lang="zh-TW" altLang="en-US" dirty="0"/>
              <a:t>理解</a:t>
            </a:r>
            <a:r>
              <a:rPr lang="zh-TW" altLang="en-US" dirty="0" smtClean="0"/>
              <a:t>思路</a:t>
            </a:r>
            <a:endParaRPr lang="en-US" altLang="zh-TW" dirty="0" smtClean="0"/>
          </a:p>
          <a:p>
            <a:pPr lvl="1"/>
            <a:r>
              <a:rPr lang="zh-TW" altLang="en-US" dirty="0"/>
              <a:t>常數、變數及函</a:t>
            </a:r>
            <a:r>
              <a:rPr lang="zh-TW" altLang="en-US" dirty="0" smtClean="0"/>
              <a:t>式</a:t>
            </a:r>
            <a:r>
              <a:rPr lang="en-US" altLang="zh-TW" dirty="0" smtClean="0"/>
              <a:t>(function)</a:t>
            </a:r>
            <a:r>
              <a:rPr lang="zh-TW" altLang="en-US" dirty="0" smtClean="0">
                <a:solidFill>
                  <a:srgbClr val="C00000"/>
                </a:solidFill>
              </a:rPr>
              <a:t>名稱是否有意義</a:t>
            </a:r>
            <a:r>
              <a:rPr lang="zh-TW" altLang="en-US" dirty="0" smtClean="0"/>
              <a:t>？</a:t>
            </a:r>
            <a:endParaRPr lang="en-US" altLang="zh-TW" dirty="0" smtClean="0"/>
          </a:p>
          <a:p>
            <a:pPr lvl="1"/>
            <a:r>
              <a:rPr lang="zh-TW" altLang="en-US" dirty="0"/>
              <a:t>函式的</a:t>
            </a:r>
            <a:r>
              <a:rPr lang="zh-TW" altLang="en-US" dirty="0">
                <a:solidFill>
                  <a:srgbClr val="C00000"/>
                </a:solidFill>
              </a:rPr>
              <a:t>輸入</a:t>
            </a:r>
            <a:r>
              <a:rPr lang="zh-TW" altLang="en-US" dirty="0"/>
              <a:t>、</a:t>
            </a:r>
            <a:r>
              <a:rPr lang="zh-TW" altLang="en-US" dirty="0">
                <a:solidFill>
                  <a:srgbClr val="C00000"/>
                </a:solidFill>
              </a:rPr>
              <a:t>輸出</a:t>
            </a:r>
            <a:r>
              <a:rPr lang="zh-TW" altLang="en-US" dirty="0"/>
              <a:t>及</a:t>
            </a:r>
            <a:r>
              <a:rPr lang="zh-TW" altLang="en-US" dirty="0">
                <a:solidFill>
                  <a:srgbClr val="C00000"/>
                </a:solidFill>
              </a:rPr>
              <a:t>功能</a:t>
            </a:r>
            <a:r>
              <a:rPr lang="zh-TW" altLang="en-US" dirty="0"/>
              <a:t>是否明確地</a:t>
            </a:r>
            <a:r>
              <a:rPr lang="zh-TW" altLang="en-US" dirty="0" smtClean="0"/>
              <a:t>定義？</a:t>
            </a:r>
            <a:endParaRPr lang="en-US" altLang="zh-TW" dirty="0" smtClean="0"/>
          </a:p>
          <a:p>
            <a:pPr lvl="1"/>
            <a:r>
              <a:rPr lang="zh-TW" altLang="en-US" dirty="0"/>
              <a:t>適當的地方加上</a:t>
            </a:r>
            <a:r>
              <a:rPr lang="zh-TW" altLang="en-US" dirty="0" smtClean="0">
                <a:solidFill>
                  <a:srgbClr val="C00000"/>
                </a:solidFill>
              </a:rPr>
              <a:t>註解</a:t>
            </a:r>
            <a:endParaRPr lang="en-US" altLang="zh-TW" dirty="0" smtClean="0">
              <a:solidFill>
                <a:srgbClr val="C00000"/>
              </a:solidFill>
            </a:endParaRPr>
          </a:p>
          <a:p>
            <a:pPr lvl="1"/>
            <a:r>
              <a:rPr lang="zh-TW" altLang="en-US" dirty="0">
                <a:solidFill>
                  <a:srgbClr val="C00000"/>
                </a:solidFill>
              </a:rPr>
              <a:t>說明</a:t>
            </a:r>
            <a:r>
              <a:rPr lang="zh-TW" altLang="en-US" dirty="0" smtClean="0">
                <a:solidFill>
                  <a:srgbClr val="C00000"/>
                </a:solidFill>
              </a:rPr>
              <a:t>文件</a:t>
            </a:r>
            <a:r>
              <a:rPr lang="zh-TW" altLang="en-US" dirty="0" smtClean="0"/>
              <a:t>使否詳實完備？</a:t>
            </a:r>
            <a:endParaRPr lang="en-US" altLang="zh-TW" dirty="0" smtClean="0"/>
          </a:p>
          <a:p>
            <a:r>
              <a:rPr lang="zh-TW" altLang="en-US" dirty="0"/>
              <a:t>效率</a:t>
            </a:r>
            <a:r>
              <a:rPr lang="zh-TW" altLang="en-US" dirty="0" smtClean="0"/>
              <a:t>高</a:t>
            </a:r>
            <a:endParaRPr lang="en-US" altLang="zh-TW" dirty="0" smtClean="0"/>
          </a:p>
          <a:p>
            <a:r>
              <a:rPr lang="zh-TW" altLang="en-US" dirty="0"/>
              <a:t>記憶體需求低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982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模組化 </a:t>
            </a:r>
            <a:r>
              <a:rPr lang="en-US" altLang="zh-TW" dirty="0" smtClean="0"/>
              <a:t>(1/2)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3913425" y="1905159"/>
            <a:ext cx="1260000" cy="432000"/>
          </a:xfrm>
          <a:prstGeom prst="rect">
            <a:avLst/>
          </a:prstGeom>
          <a:solidFill>
            <a:srgbClr val="DBE5F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 eaLnBrk="1" hangingPunct="1"/>
            <a:r>
              <a:rPr lang="zh-TW" altLang="en-US" sz="2000" b="1">
                <a:latin typeface="標楷體" panose="03000509000000000000" pitchFamily="65" charset="-120"/>
                <a:ea typeface="標楷體" panose="03000509000000000000" pitchFamily="65" charset="-120"/>
              </a:rPr>
              <a:t>汽車</a:t>
            </a:r>
            <a:endParaRPr lang="zh-TW" altLang="zh-TW" sz="2000" b="1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pSp>
        <p:nvGrpSpPr>
          <p:cNvPr id="108" name="群組 107"/>
          <p:cNvGrpSpPr/>
          <p:nvPr/>
        </p:nvGrpSpPr>
        <p:grpSpPr>
          <a:xfrm>
            <a:off x="1288405" y="2337159"/>
            <a:ext cx="6845033" cy="984916"/>
            <a:chOff x="1288405" y="2337159"/>
            <a:chExt cx="6845033" cy="984916"/>
          </a:xfrm>
        </p:grpSpPr>
        <p:sp>
          <p:nvSpPr>
            <p:cNvPr id="13" name="Text Box 13"/>
            <p:cNvSpPr txBox="1">
              <a:spLocks noChangeArrowheads="1"/>
            </p:cNvSpPr>
            <p:nvPr/>
          </p:nvSpPr>
          <p:spPr bwMode="auto">
            <a:xfrm>
              <a:off x="1288405" y="2890075"/>
              <a:ext cx="1260000" cy="432000"/>
            </a:xfrm>
            <a:prstGeom prst="rect">
              <a:avLst/>
            </a:prstGeom>
            <a:solidFill>
              <a:srgbClr val="DBE5F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9pPr>
            </a:lstStyle>
            <a:p>
              <a:pPr algn="ctr" eaLnBrk="1" hangingPunct="1"/>
              <a:r>
                <a:rPr lang="zh-TW" altLang="en-US" sz="2000" b="1">
                  <a:latin typeface="標楷體" panose="03000509000000000000" pitchFamily="65" charset="-120"/>
                  <a:ea typeface="標楷體" panose="03000509000000000000" pitchFamily="65" charset="-120"/>
                </a:rPr>
                <a:t>外殼</a:t>
              </a:r>
              <a:endParaRPr lang="zh-TW" altLang="zh-TW" sz="2000" b="1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4" name="Text Box 14"/>
            <p:cNvSpPr txBox="1">
              <a:spLocks noChangeArrowheads="1"/>
            </p:cNvSpPr>
            <p:nvPr/>
          </p:nvSpPr>
          <p:spPr bwMode="auto">
            <a:xfrm>
              <a:off x="3916600" y="2890075"/>
              <a:ext cx="1260000" cy="432000"/>
            </a:xfrm>
            <a:prstGeom prst="rect">
              <a:avLst/>
            </a:prstGeom>
            <a:solidFill>
              <a:srgbClr val="DBE5F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9pPr>
            </a:lstStyle>
            <a:p>
              <a:pPr algn="ctr" eaLnBrk="1" hangingPunct="1"/>
              <a:r>
                <a:rPr lang="zh-TW" altLang="en-US" sz="2000" b="1">
                  <a:latin typeface="標楷體" panose="03000509000000000000" pitchFamily="65" charset="-120"/>
                  <a:ea typeface="標楷體" panose="03000509000000000000" pitchFamily="65" charset="-120"/>
                </a:rPr>
                <a:t>動力系統</a:t>
              </a:r>
              <a:endParaRPr lang="zh-TW" altLang="zh-TW" sz="2000" b="1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5" name="Text Box 15"/>
            <p:cNvSpPr txBox="1">
              <a:spLocks noChangeArrowheads="1"/>
            </p:cNvSpPr>
            <p:nvPr/>
          </p:nvSpPr>
          <p:spPr bwMode="auto">
            <a:xfrm>
              <a:off x="6201423" y="2890075"/>
              <a:ext cx="1260000" cy="432000"/>
            </a:xfrm>
            <a:prstGeom prst="rect">
              <a:avLst/>
            </a:prstGeom>
            <a:solidFill>
              <a:srgbClr val="DBE5F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9pPr>
            </a:lstStyle>
            <a:p>
              <a:pPr algn="ctr" eaLnBrk="1" hangingPunct="1"/>
              <a:r>
                <a:rPr lang="zh-TW" altLang="en-US" sz="2000" b="1">
                  <a:latin typeface="標楷體" panose="03000509000000000000" pitchFamily="65" charset="-120"/>
                  <a:ea typeface="標楷體" panose="03000509000000000000" pitchFamily="65" charset="-120"/>
                </a:rPr>
                <a:t>電力系統</a:t>
              </a:r>
              <a:endParaRPr lang="zh-TW" altLang="zh-TW" sz="2000" b="1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55" name="肘形接點 54"/>
            <p:cNvCxnSpPr>
              <a:stCxn id="13" idx="0"/>
              <a:endCxn id="59" idx="0"/>
            </p:cNvCxnSpPr>
            <p:nvPr/>
          </p:nvCxnSpPr>
          <p:spPr>
            <a:xfrm rot="5400000" flipH="1" flipV="1">
              <a:off x="4935921" y="-127441"/>
              <a:ext cx="12700" cy="6035033"/>
            </a:xfrm>
            <a:prstGeom prst="bentConnector3">
              <a:avLst>
                <a:gd name="adj1" fmla="val 1800000"/>
              </a:avLst>
            </a:prstGeom>
            <a:ln w="190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線接點 56"/>
            <p:cNvCxnSpPr>
              <a:stCxn id="7" idx="2"/>
              <a:endCxn id="14" idx="0"/>
            </p:cNvCxnSpPr>
            <p:nvPr/>
          </p:nvCxnSpPr>
          <p:spPr>
            <a:xfrm>
              <a:off x="4543425" y="2337159"/>
              <a:ext cx="3175" cy="552916"/>
            </a:xfrm>
            <a:prstGeom prst="line">
              <a:avLst/>
            </a:prstGeom>
            <a:ln w="190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 Box 51"/>
            <p:cNvSpPr txBox="1">
              <a:spLocks noChangeArrowheads="1"/>
            </p:cNvSpPr>
            <p:nvPr/>
          </p:nvSpPr>
          <p:spPr bwMode="auto">
            <a:xfrm>
              <a:off x="7773438" y="2890075"/>
              <a:ext cx="360000" cy="43200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9pPr>
            </a:lstStyle>
            <a:p>
              <a:pPr algn="ctr" eaLnBrk="1" hangingPunct="1"/>
              <a:r>
                <a:rPr lang="en-US" altLang="zh-TW" sz="2000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…</a:t>
              </a:r>
              <a:endParaRPr lang="zh-TW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61" name="直線接點 60"/>
            <p:cNvCxnSpPr/>
            <p:nvPr/>
          </p:nvCxnSpPr>
          <p:spPr>
            <a:xfrm>
              <a:off x="6828248" y="2659489"/>
              <a:ext cx="3175" cy="252000"/>
            </a:xfrm>
            <a:prstGeom prst="line">
              <a:avLst/>
            </a:prstGeom>
            <a:ln w="190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9" name="群組 108"/>
          <p:cNvGrpSpPr/>
          <p:nvPr/>
        </p:nvGrpSpPr>
        <p:grpSpPr>
          <a:xfrm>
            <a:off x="461605" y="3322075"/>
            <a:ext cx="2433450" cy="973128"/>
            <a:chOff x="461605" y="3322075"/>
            <a:chExt cx="2433450" cy="973128"/>
          </a:xfrm>
        </p:grpSpPr>
        <p:sp>
          <p:nvSpPr>
            <p:cNvPr id="20" name="Text Box 20"/>
            <p:cNvSpPr txBox="1">
              <a:spLocks noChangeArrowheads="1"/>
            </p:cNvSpPr>
            <p:nvPr/>
          </p:nvSpPr>
          <p:spPr bwMode="auto">
            <a:xfrm>
              <a:off x="461605" y="3863203"/>
              <a:ext cx="900000" cy="432000"/>
            </a:xfrm>
            <a:prstGeom prst="rect">
              <a:avLst/>
            </a:prstGeom>
            <a:solidFill>
              <a:srgbClr val="DBE5F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rIns="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9pPr>
            </a:lstStyle>
            <a:p>
              <a:pPr algn="ctr" eaLnBrk="1" hangingPunct="1"/>
              <a:r>
                <a:rPr lang="zh-TW" altLang="en-US" sz="2000" b="1">
                  <a:latin typeface="標楷體" panose="03000509000000000000" pitchFamily="65" charset="-120"/>
                  <a:ea typeface="標楷體" panose="03000509000000000000" pitchFamily="65" charset="-120"/>
                </a:rPr>
                <a:t>車身</a:t>
              </a:r>
              <a:endParaRPr lang="zh-TW" altLang="zh-TW" sz="2000" b="1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21" name="Text Box 21"/>
            <p:cNvSpPr txBox="1">
              <a:spLocks noChangeArrowheads="1"/>
            </p:cNvSpPr>
            <p:nvPr/>
          </p:nvSpPr>
          <p:spPr bwMode="auto">
            <a:xfrm>
              <a:off x="1469166" y="3863203"/>
              <a:ext cx="900000" cy="432000"/>
            </a:xfrm>
            <a:prstGeom prst="rect">
              <a:avLst/>
            </a:prstGeom>
            <a:solidFill>
              <a:srgbClr val="DBE5F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rIns="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9pPr>
            </a:lstStyle>
            <a:p>
              <a:pPr algn="ctr" eaLnBrk="1" hangingPunct="1"/>
              <a:r>
                <a:rPr lang="zh-TW" altLang="en-US" sz="2000" b="1">
                  <a:latin typeface="標楷體" panose="03000509000000000000" pitchFamily="65" charset="-120"/>
                  <a:ea typeface="標楷體" panose="03000509000000000000" pitchFamily="65" charset="-120"/>
                </a:rPr>
                <a:t>車門</a:t>
              </a:r>
              <a:endParaRPr lang="zh-TW" altLang="zh-TW" sz="2000" b="1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51" name="Text Box 51"/>
            <p:cNvSpPr txBox="1">
              <a:spLocks noChangeArrowheads="1"/>
            </p:cNvSpPr>
            <p:nvPr/>
          </p:nvSpPr>
          <p:spPr bwMode="auto">
            <a:xfrm>
              <a:off x="2535055" y="3863203"/>
              <a:ext cx="360000" cy="43200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9pPr>
            </a:lstStyle>
            <a:p>
              <a:pPr algn="ctr" eaLnBrk="1" hangingPunct="1"/>
              <a:r>
                <a:rPr lang="en-US" altLang="zh-TW" sz="2000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…</a:t>
              </a:r>
              <a:endParaRPr lang="zh-TW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62" name="肘形接點 61"/>
            <p:cNvCxnSpPr>
              <a:stCxn id="20" idx="0"/>
              <a:endCxn id="51" idx="0"/>
            </p:cNvCxnSpPr>
            <p:nvPr/>
          </p:nvCxnSpPr>
          <p:spPr>
            <a:xfrm rot="5400000" flipH="1" flipV="1">
              <a:off x="1813330" y="2961478"/>
              <a:ext cx="12700" cy="1803450"/>
            </a:xfrm>
            <a:prstGeom prst="bentConnector3">
              <a:avLst>
                <a:gd name="adj1" fmla="val 1800000"/>
              </a:avLst>
            </a:prstGeom>
            <a:ln w="190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線接點 72"/>
            <p:cNvCxnSpPr>
              <a:stCxn id="13" idx="2"/>
              <a:endCxn id="21" idx="0"/>
            </p:cNvCxnSpPr>
            <p:nvPr/>
          </p:nvCxnSpPr>
          <p:spPr>
            <a:xfrm>
              <a:off x="1918405" y="3322075"/>
              <a:ext cx="761" cy="541128"/>
            </a:xfrm>
            <a:prstGeom prst="line">
              <a:avLst/>
            </a:prstGeom>
            <a:ln w="190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0" name="群組 109"/>
          <p:cNvGrpSpPr/>
          <p:nvPr/>
        </p:nvGrpSpPr>
        <p:grpSpPr>
          <a:xfrm>
            <a:off x="3093280" y="3322075"/>
            <a:ext cx="2461422" cy="973128"/>
            <a:chOff x="3093280" y="3322075"/>
            <a:chExt cx="2461422" cy="973128"/>
          </a:xfrm>
        </p:grpSpPr>
        <p:sp>
          <p:nvSpPr>
            <p:cNvPr id="27" name="Text Box 27"/>
            <p:cNvSpPr txBox="1">
              <a:spLocks noChangeArrowheads="1"/>
            </p:cNvSpPr>
            <p:nvPr/>
          </p:nvSpPr>
          <p:spPr bwMode="auto">
            <a:xfrm>
              <a:off x="3093280" y="3862784"/>
              <a:ext cx="900000" cy="432000"/>
            </a:xfrm>
            <a:prstGeom prst="rect">
              <a:avLst/>
            </a:prstGeom>
            <a:solidFill>
              <a:srgbClr val="DBE5F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rIns="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9pPr>
            </a:lstStyle>
            <a:p>
              <a:pPr algn="ctr" eaLnBrk="1" hangingPunct="1"/>
              <a:r>
                <a:rPr lang="zh-TW" altLang="en-US" sz="2000" b="1">
                  <a:latin typeface="標楷體" panose="03000509000000000000" pitchFamily="65" charset="-120"/>
                  <a:ea typeface="標楷體" panose="03000509000000000000" pitchFamily="65" charset="-120"/>
                </a:rPr>
                <a:t>引擎</a:t>
              </a:r>
              <a:endParaRPr lang="zh-TW" altLang="zh-TW" sz="2000" b="1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28" name="Text Box 28"/>
            <p:cNvSpPr txBox="1">
              <a:spLocks noChangeArrowheads="1"/>
            </p:cNvSpPr>
            <p:nvPr/>
          </p:nvSpPr>
          <p:spPr bwMode="auto">
            <a:xfrm>
              <a:off x="4103771" y="3862784"/>
              <a:ext cx="900000" cy="432000"/>
            </a:xfrm>
            <a:prstGeom prst="rect">
              <a:avLst/>
            </a:prstGeom>
            <a:solidFill>
              <a:srgbClr val="DBE5F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rIns="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9pPr>
            </a:lstStyle>
            <a:p>
              <a:pPr algn="ctr" eaLnBrk="1" hangingPunct="1"/>
              <a:r>
                <a:rPr lang="zh-TW" altLang="en-US" sz="2000" b="1">
                  <a:latin typeface="標楷體" panose="03000509000000000000" pitchFamily="65" charset="-120"/>
                  <a:ea typeface="標楷體" panose="03000509000000000000" pitchFamily="65" charset="-120"/>
                </a:rPr>
                <a:t>軸承</a:t>
              </a:r>
              <a:endParaRPr lang="zh-TW" altLang="zh-TW" sz="2000" b="1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58" name="Text Box 51"/>
            <p:cNvSpPr txBox="1">
              <a:spLocks noChangeArrowheads="1"/>
            </p:cNvSpPr>
            <p:nvPr/>
          </p:nvSpPr>
          <p:spPr bwMode="auto">
            <a:xfrm>
              <a:off x="5194702" y="3863203"/>
              <a:ext cx="360000" cy="43200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9pPr>
            </a:lstStyle>
            <a:p>
              <a:pPr algn="ctr" eaLnBrk="1" hangingPunct="1"/>
              <a:r>
                <a:rPr lang="en-US" altLang="zh-TW" sz="2000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…</a:t>
              </a:r>
              <a:endParaRPr lang="zh-TW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65" name="肘形接點 64"/>
            <p:cNvCxnSpPr>
              <a:stCxn id="27" idx="0"/>
              <a:endCxn id="58" idx="0"/>
            </p:cNvCxnSpPr>
            <p:nvPr/>
          </p:nvCxnSpPr>
          <p:spPr>
            <a:xfrm rot="16200000" flipH="1">
              <a:off x="4458781" y="2947282"/>
              <a:ext cx="419" cy="1831422"/>
            </a:xfrm>
            <a:prstGeom prst="bentConnector3">
              <a:avLst>
                <a:gd name="adj1" fmla="val -54558473"/>
              </a:avLst>
            </a:prstGeom>
            <a:ln w="190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線接點 75"/>
            <p:cNvCxnSpPr>
              <a:stCxn id="14" idx="2"/>
              <a:endCxn id="28" idx="0"/>
            </p:cNvCxnSpPr>
            <p:nvPr/>
          </p:nvCxnSpPr>
          <p:spPr>
            <a:xfrm>
              <a:off x="4546600" y="3322075"/>
              <a:ext cx="7171" cy="540709"/>
            </a:xfrm>
            <a:prstGeom prst="line">
              <a:avLst/>
            </a:prstGeom>
            <a:ln w="190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1" name="群組 110"/>
          <p:cNvGrpSpPr/>
          <p:nvPr/>
        </p:nvGrpSpPr>
        <p:grpSpPr>
          <a:xfrm>
            <a:off x="6004946" y="3332906"/>
            <a:ext cx="1403353" cy="961878"/>
            <a:chOff x="6004946" y="3332906"/>
            <a:chExt cx="1403353" cy="961878"/>
          </a:xfrm>
        </p:grpSpPr>
        <p:sp>
          <p:nvSpPr>
            <p:cNvPr id="34" name="Text Box 34"/>
            <p:cNvSpPr txBox="1">
              <a:spLocks noChangeArrowheads="1"/>
            </p:cNvSpPr>
            <p:nvPr/>
          </p:nvSpPr>
          <p:spPr bwMode="auto">
            <a:xfrm>
              <a:off x="6004946" y="3862784"/>
              <a:ext cx="900000" cy="432000"/>
            </a:xfrm>
            <a:prstGeom prst="rect">
              <a:avLst/>
            </a:prstGeom>
            <a:solidFill>
              <a:srgbClr val="DBE5F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rIns="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9pPr>
            </a:lstStyle>
            <a:p>
              <a:pPr algn="ctr" eaLnBrk="1" hangingPunct="1"/>
              <a:r>
                <a:rPr lang="zh-TW" altLang="en-US" sz="2000" b="1">
                  <a:latin typeface="標楷體" panose="03000509000000000000" pitchFamily="65" charset="-120"/>
                  <a:ea typeface="標楷體" panose="03000509000000000000" pitchFamily="65" charset="-120"/>
                </a:rPr>
                <a:t>電瓶</a:t>
              </a:r>
              <a:endParaRPr lang="zh-TW" altLang="zh-TW" sz="2000" b="1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68" name="Text Box 51"/>
            <p:cNvSpPr txBox="1">
              <a:spLocks noChangeArrowheads="1"/>
            </p:cNvSpPr>
            <p:nvPr/>
          </p:nvSpPr>
          <p:spPr bwMode="auto">
            <a:xfrm>
              <a:off x="7048299" y="3856853"/>
              <a:ext cx="360000" cy="43200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9pPr>
            </a:lstStyle>
            <a:p>
              <a:pPr algn="ctr" eaLnBrk="1" hangingPunct="1"/>
              <a:r>
                <a:rPr lang="en-US" altLang="zh-TW" sz="2000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…</a:t>
              </a:r>
              <a:endParaRPr lang="zh-TW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69" name="肘形接點 68"/>
            <p:cNvCxnSpPr>
              <a:stCxn id="34" idx="0"/>
              <a:endCxn id="68" idx="0"/>
            </p:cNvCxnSpPr>
            <p:nvPr/>
          </p:nvCxnSpPr>
          <p:spPr>
            <a:xfrm rot="5400000" flipH="1" flipV="1">
              <a:off x="6838657" y="3473143"/>
              <a:ext cx="5931" cy="773353"/>
            </a:xfrm>
            <a:prstGeom prst="bentConnector3">
              <a:avLst>
                <a:gd name="adj1" fmla="val 3954325"/>
              </a:avLst>
            </a:prstGeom>
            <a:ln w="190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線接點 78"/>
            <p:cNvCxnSpPr/>
            <p:nvPr/>
          </p:nvCxnSpPr>
          <p:spPr>
            <a:xfrm>
              <a:off x="6831786" y="3332906"/>
              <a:ext cx="3175" cy="288000"/>
            </a:xfrm>
            <a:prstGeom prst="line">
              <a:avLst/>
            </a:prstGeom>
            <a:ln w="190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" name="群組 111"/>
          <p:cNvGrpSpPr/>
          <p:nvPr/>
        </p:nvGrpSpPr>
        <p:grpSpPr>
          <a:xfrm>
            <a:off x="456129" y="4294949"/>
            <a:ext cx="6457297" cy="964262"/>
            <a:chOff x="456129" y="4294949"/>
            <a:chExt cx="6457297" cy="964262"/>
          </a:xfrm>
        </p:grpSpPr>
        <p:grpSp>
          <p:nvGrpSpPr>
            <p:cNvPr id="86" name="群組 85"/>
            <p:cNvGrpSpPr/>
            <p:nvPr/>
          </p:nvGrpSpPr>
          <p:grpSpPr>
            <a:xfrm>
              <a:off x="456129" y="4302044"/>
              <a:ext cx="917523" cy="953629"/>
              <a:chOff x="456129" y="3876724"/>
              <a:chExt cx="917523" cy="953629"/>
            </a:xfrm>
          </p:grpSpPr>
          <p:sp>
            <p:nvSpPr>
              <p:cNvPr id="80" name="Text Box 51"/>
              <p:cNvSpPr txBox="1">
                <a:spLocks noChangeArrowheads="1"/>
              </p:cNvSpPr>
              <p:nvPr/>
            </p:nvSpPr>
            <p:spPr bwMode="auto">
              <a:xfrm>
                <a:off x="456129" y="4398353"/>
                <a:ext cx="360000" cy="43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9pPr>
              </a:lstStyle>
              <a:p>
                <a:pPr algn="ctr" eaLnBrk="1" hangingPunct="1"/>
                <a:r>
                  <a:rPr lang="en-US" altLang="zh-TW" sz="2000" b="1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…</a:t>
                </a:r>
                <a:endParaRPr lang="zh-TW" altLang="zh-TW" sz="2000" b="1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  <p:sp>
            <p:nvSpPr>
              <p:cNvPr id="81" name="Text Box 51"/>
              <p:cNvSpPr txBox="1">
                <a:spLocks noChangeArrowheads="1"/>
              </p:cNvSpPr>
              <p:nvPr/>
            </p:nvSpPr>
            <p:spPr bwMode="auto">
              <a:xfrm>
                <a:off x="1013652" y="4398353"/>
                <a:ext cx="360000" cy="43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9pPr>
              </a:lstStyle>
              <a:p>
                <a:pPr algn="ctr" eaLnBrk="1" hangingPunct="1"/>
                <a:r>
                  <a:rPr lang="en-US" altLang="zh-TW" sz="2000" b="1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…</a:t>
                </a:r>
                <a:endParaRPr lang="zh-TW" altLang="zh-TW" sz="2000" b="1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  <p:cxnSp>
            <p:nvCxnSpPr>
              <p:cNvPr id="82" name="肘形接點 81"/>
              <p:cNvCxnSpPr>
                <a:stCxn id="80" idx="0"/>
                <a:endCxn id="81" idx="0"/>
              </p:cNvCxnSpPr>
              <p:nvPr/>
            </p:nvCxnSpPr>
            <p:spPr>
              <a:xfrm rot="5400000" flipH="1" flipV="1">
                <a:off x="914890" y="4119592"/>
                <a:ext cx="12700" cy="557523"/>
              </a:xfrm>
              <a:prstGeom prst="bentConnector3">
                <a:avLst>
                  <a:gd name="adj1" fmla="val 1800000"/>
                </a:avLst>
              </a:prstGeom>
              <a:ln w="1905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線接點 84"/>
              <p:cNvCxnSpPr/>
              <p:nvPr/>
            </p:nvCxnSpPr>
            <p:spPr>
              <a:xfrm>
                <a:off x="918137" y="3876724"/>
                <a:ext cx="3175" cy="288000"/>
              </a:xfrm>
              <a:prstGeom prst="line">
                <a:avLst/>
              </a:prstGeom>
              <a:ln w="1905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7" name="群組 86"/>
            <p:cNvGrpSpPr/>
            <p:nvPr/>
          </p:nvGrpSpPr>
          <p:grpSpPr>
            <a:xfrm>
              <a:off x="1459169" y="4294949"/>
              <a:ext cx="917523" cy="953629"/>
              <a:chOff x="456129" y="3876724"/>
              <a:chExt cx="917523" cy="953629"/>
            </a:xfrm>
          </p:grpSpPr>
          <p:sp>
            <p:nvSpPr>
              <p:cNvPr id="88" name="Text Box 51"/>
              <p:cNvSpPr txBox="1">
                <a:spLocks noChangeArrowheads="1"/>
              </p:cNvSpPr>
              <p:nvPr/>
            </p:nvSpPr>
            <p:spPr bwMode="auto">
              <a:xfrm>
                <a:off x="456129" y="4398353"/>
                <a:ext cx="360000" cy="43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9pPr>
              </a:lstStyle>
              <a:p>
                <a:pPr algn="ctr" eaLnBrk="1" hangingPunct="1"/>
                <a:r>
                  <a:rPr lang="en-US" altLang="zh-TW" sz="2000" b="1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…</a:t>
                </a:r>
                <a:endParaRPr lang="zh-TW" altLang="zh-TW" sz="2000" b="1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  <p:sp>
            <p:nvSpPr>
              <p:cNvPr id="89" name="Text Box 51"/>
              <p:cNvSpPr txBox="1">
                <a:spLocks noChangeArrowheads="1"/>
              </p:cNvSpPr>
              <p:nvPr/>
            </p:nvSpPr>
            <p:spPr bwMode="auto">
              <a:xfrm>
                <a:off x="1013652" y="4398353"/>
                <a:ext cx="360000" cy="43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9pPr>
              </a:lstStyle>
              <a:p>
                <a:pPr algn="ctr" eaLnBrk="1" hangingPunct="1"/>
                <a:r>
                  <a:rPr lang="en-US" altLang="zh-TW" sz="2000" b="1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…</a:t>
                </a:r>
                <a:endParaRPr lang="zh-TW" altLang="zh-TW" sz="2000" b="1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  <p:cxnSp>
            <p:nvCxnSpPr>
              <p:cNvPr id="90" name="肘形接點 89"/>
              <p:cNvCxnSpPr>
                <a:stCxn id="88" idx="0"/>
                <a:endCxn id="89" idx="0"/>
              </p:cNvCxnSpPr>
              <p:nvPr/>
            </p:nvCxnSpPr>
            <p:spPr>
              <a:xfrm rot="5400000" flipH="1" flipV="1">
                <a:off x="914890" y="4119592"/>
                <a:ext cx="12700" cy="557523"/>
              </a:xfrm>
              <a:prstGeom prst="bentConnector3">
                <a:avLst>
                  <a:gd name="adj1" fmla="val 1800000"/>
                </a:avLst>
              </a:prstGeom>
              <a:ln w="1905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直線接點 90"/>
              <p:cNvCxnSpPr/>
              <p:nvPr/>
            </p:nvCxnSpPr>
            <p:spPr>
              <a:xfrm>
                <a:off x="918137" y="3876724"/>
                <a:ext cx="3175" cy="288000"/>
              </a:xfrm>
              <a:prstGeom prst="line">
                <a:avLst/>
              </a:prstGeom>
              <a:ln w="1905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2" name="群組 91"/>
            <p:cNvGrpSpPr/>
            <p:nvPr/>
          </p:nvGrpSpPr>
          <p:grpSpPr>
            <a:xfrm>
              <a:off x="3075385" y="4305582"/>
              <a:ext cx="917523" cy="953629"/>
              <a:chOff x="456129" y="3876724"/>
              <a:chExt cx="917523" cy="953629"/>
            </a:xfrm>
          </p:grpSpPr>
          <p:sp>
            <p:nvSpPr>
              <p:cNvPr id="93" name="Text Box 51"/>
              <p:cNvSpPr txBox="1">
                <a:spLocks noChangeArrowheads="1"/>
              </p:cNvSpPr>
              <p:nvPr/>
            </p:nvSpPr>
            <p:spPr bwMode="auto">
              <a:xfrm>
                <a:off x="456129" y="4398353"/>
                <a:ext cx="360000" cy="43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9pPr>
              </a:lstStyle>
              <a:p>
                <a:pPr algn="ctr" eaLnBrk="1" hangingPunct="1"/>
                <a:r>
                  <a:rPr lang="en-US" altLang="zh-TW" sz="2000" b="1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…</a:t>
                </a:r>
                <a:endParaRPr lang="zh-TW" altLang="zh-TW" sz="2000" b="1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  <p:sp>
            <p:nvSpPr>
              <p:cNvPr id="94" name="Text Box 51"/>
              <p:cNvSpPr txBox="1">
                <a:spLocks noChangeArrowheads="1"/>
              </p:cNvSpPr>
              <p:nvPr/>
            </p:nvSpPr>
            <p:spPr bwMode="auto">
              <a:xfrm>
                <a:off x="1013652" y="4398353"/>
                <a:ext cx="360000" cy="43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9pPr>
              </a:lstStyle>
              <a:p>
                <a:pPr algn="ctr" eaLnBrk="1" hangingPunct="1"/>
                <a:r>
                  <a:rPr lang="en-US" altLang="zh-TW" sz="2000" b="1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…</a:t>
                </a:r>
                <a:endParaRPr lang="zh-TW" altLang="zh-TW" sz="2000" b="1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  <p:cxnSp>
            <p:nvCxnSpPr>
              <p:cNvPr id="95" name="肘形接點 94"/>
              <p:cNvCxnSpPr>
                <a:stCxn id="93" idx="0"/>
                <a:endCxn id="94" idx="0"/>
              </p:cNvCxnSpPr>
              <p:nvPr/>
            </p:nvCxnSpPr>
            <p:spPr>
              <a:xfrm rot="5400000" flipH="1" flipV="1">
                <a:off x="914890" y="4119592"/>
                <a:ext cx="12700" cy="557523"/>
              </a:xfrm>
              <a:prstGeom prst="bentConnector3">
                <a:avLst>
                  <a:gd name="adj1" fmla="val 1800000"/>
                </a:avLst>
              </a:prstGeom>
              <a:ln w="1905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直線接點 95"/>
              <p:cNvCxnSpPr/>
              <p:nvPr/>
            </p:nvCxnSpPr>
            <p:spPr>
              <a:xfrm>
                <a:off x="918137" y="3876724"/>
                <a:ext cx="3175" cy="288000"/>
              </a:xfrm>
              <a:prstGeom prst="line">
                <a:avLst/>
              </a:prstGeom>
              <a:ln w="1905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7" name="群組 96"/>
            <p:cNvGrpSpPr/>
            <p:nvPr/>
          </p:nvGrpSpPr>
          <p:grpSpPr>
            <a:xfrm>
              <a:off x="4099691" y="4298487"/>
              <a:ext cx="917523" cy="953629"/>
              <a:chOff x="456129" y="3876724"/>
              <a:chExt cx="917523" cy="953629"/>
            </a:xfrm>
          </p:grpSpPr>
          <p:sp>
            <p:nvSpPr>
              <p:cNvPr id="98" name="Text Box 51"/>
              <p:cNvSpPr txBox="1">
                <a:spLocks noChangeArrowheads="1"/>
              </p:cNvSpPr>
              <p:nvPr/>
            </p:nvSpPr>
            <p:spPr bwMode="auto">
              <a:xfrm>
                <a:off x="456129" y="4398353"/>
                <a:ext cx="360000" cy="43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9pPr>
              </a:lstStyle>
              <a:p>
                <a:pPr algn="ctr" eaLnBrk="1" hangingPunct="1"/>
                <a:r>
                  <a:rPr lang="en-US" altLang="zh-TW" sz="2000" b="1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…</a:t>
                </a:r>
                <a:endParaRPr lang="zh-TW" altLang="zh-TW" sz="2000" b="1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  <p:sp>
            <p:nvSpPr>
              <p:cNvPr id="99" name="Text Box 51"/>
              <p:cNvSpPr txBox="1">
                <a:spLocks noChangeArrowheads="1"/>
              </p:cNvSpPr>
              <p:nvPr/>
            </p:nvSpPr>
            <p:spPr bwMode="auto">
              <a:xfrm>
                <a:off x="1013652" y="4398353"/>
                <a:ext cx="360000" cy="43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9pPr>
              </a:lstStyle>
              <a:p>
                <a:pPr algn="ctr" eaLnBrk="1" hangingPunct="1"/>
                <a:r>
                  <a:rPr lang="en-US" altLang="zh-TW" sz="2000" b="1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…</a:t>
                </a:r>
                <a:endParaRPr lang="zh-TW" altLang="zh-TW" sz="2000" b="1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  <p:cxnSp>
            <p:nvCxnSpPr>
              <p:cNvPr id="100" name="肘形接點 99"/>
              <p:cNvCxnSpPr>
                <a:stCxn id="98" idx="0"/>
                <a:endCxn id="99" idx="0"/>
              </p:cNvCxnSpPr>
              <p:nvPr/>
            </p:nvCxnSpPr>
            <p:spPr>
              <a:xfrm rot="5400000" flipH="1" flipV="1">
                <a:off x="914890" y="4119592"/>
                <a:ext cx="12700" cy="557523"/>
              </a:xfrm>
              <a:prstGeom prst="bentConnector3">
                <a:avLst>
                  <a:gd name="adj1" fmla="val 1800000"/>
                </a:avLst>
              </a:prstGeom>
              <a:ln w="1905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直線接點 100"/>
              <p:cNvCxnSpPr/>
              <p:nvPr/>
            </p:nvCxnSpPr>
            <p:spPr>
              <a:xfrm>
                <a:off x="918137" y="3876724"/>
                <a:ext cx="3175" cy="288000"/>
              </a:xfrm>
              <a:prstGeom prst="line">
                <a:avLst/>
              </a:prstGeom>
              <a:ln w="1905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2" name="群組 101"/>
            <p:cNvGrpSpPr/>
            <p:nvPr/>
          </p:nvGrpSpPr>
          <p:grpSpPr>
            <a:xfrm>
              <a:off x="5995903" y="4302025"/>
              <a:ext cx="917523" cy="953629"/>
              <a:chOff x="456129" y="3876724"/>
              <a:chExt cx="917523" cy="953629"/>
            </a:xfrm>
          </p:grpSpPr>
          <p:sp>
            <p:nvSpPr>
              <p:cNvPr id="103" name="Text Box 51"/>
              <p:cNvSpPr txBox="1">
                <a:spLocks noChangeArrowheads="1"/>
              </p:cNvSpPr>
              <p:nvPr/>
            </p:nvSpPr>
            <p:spPr bwMode="auto">
              <a:xfrm>
                <a:off x="456129" y="4398353"/>
                <a:ext cx="360000" cy="43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9pPr>
              </a:lstStyle>
              <a:p>
                <a:pPr algn="ctr" eaLnBrk="1" hangingPunct="1"/>
                <a:r>
                  <a:rPr lang="en-US" altLang="zh-TW" sz="2000" b="1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…</a:t>
                </a:r>
                <a:endParaRPr lang="zh-TW" altLang="zh-TW" sz="2000" b="1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  <p:sp>
            <p:nvSpPr>
              <p:cNvPr id="104" name="Text Box 51"/>
              <p:cNvSpPr txBox="1">
                <a:spLocks noChangeArrowheads="1"/>
              </p:cNvSpPr>
              <p:nvPr/>
            </p:nvSpPr>
            <p:spPr bwMode="auto">
              <a:xfrm>
                <a:off x="1013652" y="4398353"/>
                <a:ext cx="360000" cy="43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新細明體" charset="-120"/>
                  </a:defRPr>
                </a:lvl9pPr>
              </a:lstStyle>
              <a:p>
                <a:pPr algn="ctr" eaLnBrk="1" hangingPunct="1"/>
                <a:r>
                  <a:rPr lang="en-US" altLang="zh-TW" sz="2000" b="1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…</a:t>
                </a:r>
                <a:endParaRPr lang="zh-TW" altLang="zh-TW" sz="2000" b="1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  <p:cxnSp>
            <p:nvCxnSpPr>
              <p:cNvPr id="105" name="肘形接點 104"/>
              <p:cNvCxnSpPr>
                <a:stCxn id="103" idx="0"/>
                <a:endCxn id="104" idx="0"/>
              </p:cNvCxnSpPr>
              <p:nvPr/>
            </p:nvCxnSpPr>
            <p:spPr>
              <a:xfrm rot="5400000" flipH="1" flipV="1">
                <a:off x="914890" y="4119592"/>
                <a:ext cx="12700" cy="557523"/>
              </a:xfrm>
              <a:prstGeom prst="bentConnector3">
                <a:avLst>
                  <a:gd name="adj1" fmla="val 1800000"/>
                </a:avLst>
              </a:prstGeom>
              <a:ln w="1905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直線接點 105"/>
              <p:cNvCxnSpPr/>
              <p:nvPr/>
            </p:nvCxnSpPr>
            <p:spPr>
              <a:xfrm>
                <a:off x="918137" y="3876724"/>
                <a:ext cx="3175" cy="288000"/>
              </a:xfrm>
              <a:prstGeom prst="line">
                <a:avLst/>
              </a:prstGeom>
              <a:ln w="1905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7" name="向下箭號 106"/>
          <p:cNvSpPr/>
          <p:nvPr/>
        </p:nvSpPr>
        <p:spPr>
          <a:xfrm>
            <a:off x="8133902" y="1711848"/>
            <a:ext cx="754911" cy="382772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由上而下</a:t>
            </a:r>
            <a:endParaRPr lang="zh-TW" altLang="en-US" sz="2000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1026" name="Picture 2" descr="C:\Users\Chia-Wei Lee\AppData\Local\Microsoft\Windows\INetCache\IE\5SFXLGJB\Lamborghini_Reventon[1]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073" y="1473960"/>
            <a:ext cx="2880000" cy="111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7884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模組化 </a:t>
            </a:r>
            <a:r>
              <a:rPr lang="en-US" altLang="zh-TW" dirty="0" smtClean="0"/>
              <a:t>(2/2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4083553" y="1905159"/>
            <a:ext cx="2016000" cy="432000"/>
          </a:xfrm>
          <a:prstGeom prst="rect">
            <a:avLst/>
          </a:prstGeom>
          <a:solidFill>
            <a:srgbClr val="DBE5F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 eaLnBrk="1" hangingPunct="1"/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圖書館管理系統</a:t>
            </a:r>
            <a:endParaRPr lang="zh-TW" altLang="zh-TW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Text Box 13"/>
          <p:cNvSpPr txBox="1">
            <a:spLocks noChangeArrowheads="1"/>
          </p:cNvSpPr>
          <p:nvPr/>
        </p:nvSpPr>
        <p:spPr bwMode="auto">
          <a:xfrm>
            <a:off x="1968917" y="2890075"/>
            <a:ext cx="1260000" cy="432000"/>
          </a:xfrm>
          <a:prstGeom prst="rect">
            <a:avLst/>
          </a:prstGeom>
          <a:solidFill>
            <a:srgbClr val="DBE5F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 eaLnBrk="1" hangingPunct="1"/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資料變更</a:t>
            </a:r>
            <a:endParaRPr lang="zh-TW" altLang="zh-TW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Text Box 14"/>
          <p:cNvSpPr txBox="1">
            <a:spLocks noChangeArrowheads="1"/>
          </p:cNvSpPr>
          <p:nvPr/>
        </p:nvSpPr>
        <p:spPr bwMode="auto">
          <a:xfrm>
            <a:off x="4469516" y="2890075"/>
            <a:ext cx="1260000" cy="432000"/>
          </a:xfrm>
          <a:prstGeom prst="rect">
            <a:avLst/>
          </a:prstGeom>
          <a:solidFill>
            <a:srgbClr val="DBE5F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 eaLnBrk="1" hangingPunct="1"/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資料查詢</a:t>
            </a:r>
            <a:endParaRPr lang="zh-TW" altLang="zh-TW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1" name="Text Box 15"/>
          <p:cNvSpPr txBox="1">
            <a:spLocks noChangeArrowheads="1"/>
          </p:cNvSpPr>
          <p:nvPr/>
        </p:nvSpPr>
        <p:spPr bwMode="auto">
          <a:xfrm>
            <a:off x="6201423" y="2890075"/>
            <a:ext cx="1260000" cy="432000"/>
          </a:xfrm>
          <a:prstGeom prst="rect">
            <a:avLst/>
          </a:prstGeom>
          <a:solidFill>
            <a:srgbClr val="DBE5F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 eaLnBrk="1" hangingPunct="1"/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圖書借還</a:t>
            </a:r>
            <a:endParaRPr lang="zh-TW" altLang="zh-TW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12" name="肘形接點 11"/>
          <p:cNvCxnSpPr>
            <a:stCxn id="9" idx="0"/>
            <a:endCxn id="14" idx="0"/>
          </p:cNvCxnSpPr>
          <p:nvPr/>
        </p:nvCxnSpPr>
        <p:spPr>
          <a:xfrm rot="5400000" flipH="1" flipV="1">
            <a:off x="5276177" y="212815"/>
            <a:ext cx="12700" cy="5354521"/>
          </a:xfrm>
          <a:prstGeom prst="bentConnector3">
            <a:avLst>
              <a:gd name="adj1" fmla="val 1800000"/>
            </a:avLst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>
            <a:stCxn id="7" idx="2"/>
            <a:endCxn id="10" idx="0"/>
          </p:cNvCxnSpPr>
          <p:nvPr/>
        </p:nvCxnSpPr>
        <p:spPr>
          <a:xfrm>
            <a:off x="5091553" y="2337159"/>
            <a:ext cx="7963" cy="552916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51"/>
          <p:cNvSpPr txBox="1">
            <a:spLocks noChangeArrowheads="1"/>
          </p:cNvSpPr>
          <p:nvPr/>
        </p:nvSpPr>
        <p:spPr bwMode="auto">
          <a:xfrm>
            <a:off x="7773438" y="2890075"/>
            <a:ext cx="360000" cy="4320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 eaLnBrk="1" hangingPunct="1"/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…</a:t>
            </a:r>
            <a:endParaRPr lang="zh-TW" altLang="zh-TW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15" name="直線接點 14"/>
          <p:cNvCxnSpPr/>
          <p:nvPr/>
        </p:nvCxnSpPr>
        <p:spPr>
          <a:xfrm>
            <a:off x="6828248" y="2659489"/>
            <a:ext cx="3175" cy="252000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Box 20"/>
          <p:cNvSpPr txBox="1">
            <a:spLocks noChangeArrowheads="1"/>
          </p:cNvSpPr>
          <p:nvPr/>
        </p:nvSpPr>
        <p:spPr bwMode="auto">
          <a:xfrm>
            <a:off x="302110" y="3863203"/>
            <a:ext cx="1080000" cy="432000"/>
          </a:xfrm>
          <a:prstGeom prst="rect">
            <a:avLst/>
          </a:prstGeom>
          <a:solidFill>
            <a:srgbClr val="DBE5F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rIns="0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 eaLnBrk="1" hangingPunct="1"/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新書登錄</a:t>
            </a:r>
            <a:endParaRPr lang="zh-TW" altLang="zh-TW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8" name="Text Box 21"/>
          <p:cNvSpPr txBox="1">
            <a:spLocks noChangeArrowheads="1"/>
          </p:cNvSpPr>
          <p:nvPr/>
        </p:nvSpPr>
        <p:spPr bwMode="auto">
          <a:xfrm>
            <a:off x="1469166" y="3863203"/>
            <a:ext cx="1080000" cy="432000"/>
          </a:xfrm>
          <a:prstGeom prst="rect">
            <a:avLst/>
          </a:prstGeom>
          <a:solidFill>
            <a:srgbClr val="DBE5F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rIns="0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 eaLnBrk="1" hangingPunct="1"/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舊書刪除</a:t>
            </a:r>
            <a:endParaRPr lang="zh-TW" altLang="zh-TW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9" name="Text Box 51"/>
          <p:cNvSpPr txBox="1">
            <a:spLocks noChangeArrowheads="1"/>
          </p:cNvSpPr>
          <p:nvPr/>
        </p:nvSpPr>
        <p:spPr bwMode="auto">
          <a:xfrm>
            <a:off x="3821648" y="3863203"/>
            <a:ext cx="360000" cy="4320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 eaLnBrk="1" hangingPunct="1"/>
            <a:r>
              <a:rPr lang="en-US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…</a:t>
            </a:r>
            <a:endParaRPr lang="zh-TW" altLang="zh-TW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20" name="肘形接點 19"/>
          <p:cNvCxnSpPr>
            <a:stCxn id="17" idx="0"/>
            <a:endCxn id="19" idx="0"/>
          </p:cNvCxnSpPr>
          <p:nvPr/>
        </p:nvCxnSpPr>
        <p:spPr>
          <a:xfrm rot="5400000" flipH="1" flipV="1">
            <a:off x="2421879" y="2283434"/>
            <a:ext cx="12700" cy="3159538"/>
          </a:xfrm>
          <a:prstGeom prst="bentConnector3">
            <a:avLst>
              <a:gd name="adj1" fmla="val 1800000"/>
            </a:avLst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群組 33"/>
          <p:cNvGrpSpPr/>
          <p:nvPr/>
        </p:nvGrpSpPr>
        <p:grpSpPr>
          <a:xfrm>
            <a:off x="456129" y="4302044"/>
            <a:ext cx="917523" cy="953629"/>
            <a:chOff x="456129" y="3876724"/>
            <a:chExt cx="917523" cy="953629"/>
          </a:xfrm>
        </p:grpSpPr>
        <p:sp>
          <p:nvSpPr>
            <p:cNvPr id="55" name="Text Box 51"/>
            <p:cNvSpPr txBox="1">
              <a:spLocks noChangeArrowheads="1"/>
            </p:cNvSpPr>
            <p:nvPr/>
          </p:nvSpPr>
          <p:spPr bwMode="auto">
            <a:xfrm>
              <a:off x="456129" y="4398353"/>
              <a:ext cx="360000" cy="43200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9pPr>
            </a:lstStyle>
            <a:p>
              <a:pPr algn="ctr" eaLnBrk="1" hangingPunct="1"/>
              <a:r>
                <a:rPr lang="en-US" altLang="zh-TW" sz="2000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…</a:t>
              </a:r>
              <a:endParaRPr lang="zh-TW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56" name="Text Box 51"/>
            <p:cNvSpPr txBox="1">
              <a:spLocks noChangeArrowheads="1"/>
            </p:cNvSpPr>
            <p:nvPr/>
          </p:nvSpPr>
          <p:spPr bwMode="auto">
            <a:xfrm>
              <a:off x="1013652" y="4398353"/>
              <a:ext cx="360000" cy="43200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9pPr>
            </a:lstStyle>
            <a:p>
              <a:pPr algn="ctr" eaLnBrk="1" hangingPunct="1"/>
              <a:r>
                <a:rPr lang="en-US" altLang="zh-TW" sz="2000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…</a:t>
              </a:r>
              <a:endParaRPr lang="zh-TW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57" name="肘形接點 56"/>
            <p:cNvCxnSpPr>
              <a:stCxn id="55" idx="0"/>
              <a:endCxn id="56" idx="0"/>
            </p:cNvCxnSpPr>
            <p:nvPr/>
          </p:nvCxnSpPr>
          <p:spPr>
            <a:xfrm rot="5400000" flipH="1" flipV="1">
              <a:off x="914890" y="4119592"/>
              <a:ext cx="12700" cy="557523"/>
            </a:xfrm>
            <a:prstGeom prst="bentConnector3">
              <a:avLst>
                <a:gd name="adj1" fmla="val 1800000"/>
              </a:avLst>
            </a:prstGeom>
            <a:ln w="190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線接點 57"/>
            <p:cNvCxnSpPr/>
            <p:nvPr/>
          </p:nvCxnSpPr>
          <p:spPr>
            <a:xfrm>
              <a:off x="918137" y="3876724"/>
              <a:ext cx="3175" cy="288000"/>
            </a:xfrm>
            <a:prstGeom prst="line">
              <a:avLst/>
            </a:prstGeom>
            <a:ln w="190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群組 34"/>
          <p:cNvGrpSpPr/>
          <p:nvPr/>
        </p:nvGrpSpPr>
        <p:grpSpPr>
          <a:xfrm>
            <a:off x="1459169" y="4294949"/>
            <a:ext cx="917523" cy="953629"/>
            <a:chOff x="456129" y="3876724"/>
            <a:chExt cx="917523" cy="953629"/>
          </a:xfrm>
        </p:grpSpPr>
        <p:sp>
          <p:nvSpPr>
            <p:cNvPr id="51" name="Text Box 51"/>
            <p:cNvSpPr txBox="1">
              <a:spLocks noChangeArrowheads="1"/>
            </p:cNvSpPr>
            <p:nvPr/>
          </p:nvSpPr>
          <p:spPr bwMode="auto">
            <a:xfrm>
              <a:off x="456129" y="4398353"/>
              <a:ext cx="360000" cy="43200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9pPr>
            </a:lstStyle>
            <a:p>
              <a:pPr algn="ctr" eaLnBrk="1" hangingPunct="1"/>
              <a:r>
                <a:rPr lang="en-US" altLang="zh-TW" sz="2000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…</a:t>
              </a:r>
              <a:endParaRPr lang="zh-TW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52" name="Text Box 51"/>
            <p:cNvSpPr txBox="1">
              <a:spLocks noChangeArrowheads="1"/>
            </p:cNvSpPr>
            <p:nvPr/>
          </p:nvSpPr>
          <p:spPr bwMode="auto">
            <a:xfrm>
              <a:off x="1013652" y="4398353"/>
              <a:ext cx="360000" cy="43200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9pPr>
            </a:lstStyle>
            <a:p>
              <a:pPr algn="ctr" eaLnBrk="1" hangingPunct="1"/>
              <a:r>
                <a:rPr lang="en-US" altLang="zh-TW" sz="2000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…</a:t>
              </a:r>
              <a:endParaRPr lang="zh-TW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53" name="肘形接點 52"/>
            <p:cNvCxnSpPr>
              <a:stCxn id="51" idx="0"/>
              <a:endCxn id="52" idx="0"/>
            </p:cNvCxnSpPr>
            <p:nvPr/>
          </p:nvCxnSpPr>
          <p:spPr>
            <a:xfrm rot="5400000" flipH="1" flipV="1">
              <a:off x="914890" y="4119592"/>
              <a:ext cx="12700" cy="557523"/>
            </a:xfrm>
            <a:prstGeom prst="bentConnector3">
              <a:avLst>
                <a:gd name="adj1" fmla="val 1800000"/>
              </a:avLst>
            </a:prstGeom>
            <a:ln w="190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接點 53"/>
            <p:cNvCxnSpPr/>
            <p:nvPr/>
          </p:nvCxnSpPr>
          <p:spPr>
            <a:xfrm>
              <a:off x="918137" y="3876724"/>
              <a:ext cx="3175" cy="288000"/>
            </a:xfrm>
            <a:prstGeom prst="line">
              <a:avLst/>
            </a:prstGeom>
            <a:ln w="190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群組 35"/>
          <p:cNvGrpSpPr/>
          <p:nvPr/>
        </p:nvGrpSpPr>
        <p:grpSpPr>
          <a:xfrm>
            <a:off x="2724496" y="4294949"/>
            <a:ext cx="917523" cy="953629"/>
            <a:chOff x="456129" y="3876724"/>
            <a:chExt cx="917523" cy="953629"/>
          </a:xfrm>
        </p:grpSpPr>
        <p:sp>
          <p:nvSpPr>
            <p:cNvPr id="47" name="Text Box 51"/>
            <p:cNvSpPr txBox="1">
              <a:spLocks noChangeArrowheads="1"/>
            </p:cNvSpPr>
            <p:nvPr/>
          </p:nvSpPr>
          <p:spPr bwMode="auto">
            <a:xfrm>
              <a:off x="456129" y="4398353"/>
              <a:ext cx="360000" cy="43200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9pPr>
            </a:lstStyle>
            <a:p>
              <a:pPr algn="ctr" eaLnBrk="1" hangingPunct="1"/>
              <a:r>
                <a:rPr lang="en-US" altLang="zh-TW" sz="2000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…</a:t>
              </a:r>
              <a:endParaRPr lang="zh-TW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48" name="Text Box 51"/>
            <p:cNvSpPr txBox="1">
              <a:spLocks noChangeArrowheads="1"/>
            </p:cNvSpPr>
            <p:nvPr/>
          </p:nvSpPr>
          <p:spPr bwMode="auto">
            <a:xfrm>
              <a:off x="1013652" y="4398353"/>
              <a:ext cx="360000" cy="43200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9pPr>
            </a:lstStyle>
            <a:p>
              <a:pPr algn="ctr" eaLnBrk="1" hangingPunct="1"/>
              <a:r>
                <a:rPr lang="en-US" altLang="zh-TW" sz="2000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…</a:t>
              </a:r>
              <a:endParaRPr lang="zh-TW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49" name="肘形接點 48"/>
            <p:cNvCxnSpPr>
              <a:stCxn id="47" idx="0"/>
              <a:endCxn id="48" idx="0"/>
            </p:cNvCxnSpPr>
            <p:nvPr/>
          </p:nvCxnSpPr>
          <p:spPr>
            <a:xfrm rot="5400000" flipH="1" flipV="1">
              <a:off x="914890" y="4119592"/>
              <a:ext cx="12700" cy="557523"/>
            </a:xfrm>
            <a:prstGeom prst="bentConnector3">
              <a:avLst>
                <a:gd name="adj1" fmla="val 1800000"/>
              </a:avLst>
            </a:prstGeom>
            <a:ln w="190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接點 49"/>
            <p:cNvCxnSpPr/>
            <p:nvPr/>
          </p:nvCxnSpPr>
          <p:spPr>
            <a:xfrm>
              <a:off x="918137" y="3876724"/>
              <a:ext cx="3175" cy="288000"/>
            </a:xfrm>
            <a:prstGeom prst="line">
              <a:avLst/>
            </a:prstGeom>
            <a:ln w="190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群組 36"/>
          <p:cNvGrpSpPr/>
          <p:nvPr/>
        </p:nvGrpSpPr>
        <p:grpSpPr>
          <a:xfrm>
            <a:off x="4640754" y="3330687"/>
            <a:ext cx="917523" cy="953629"/>
            <a:chOff x="456129" y="3876724"/>
            <a:chExt cx="917523" cy="953629"/>
          </a:xfrm>
        </p:grpSpPr>
        <p:sp>
          <p:nvSpPr>
            <p:cNvPr id="43" name="Text Box 51"/>
            <p:cNvSpPr txBox="1">
              <a:spLocks noChangeArrowheads="1"/>
            </p:cNvSpPr>
            <p:nvPr/>
          </p:nvSpPr>
          <p:spPr bwMode="auto">
            <a:xfrm>
              <a:off x="456129" y="4398353"/>
              <a:ext cx="360000" cy="43200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9pPr>
            </a:lstStyle>
            <a:p>
              <a:pPr algn="ctr" eaLnBrk="1" hangingPunct="1"/>
              <a:r>
                <a:rPr lang="en-US" altLang="zh-TW" sz="2000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…</a:t>
              </a:r>
              <a:endParaRPr lang="zh-TW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44" name="Text Box 51"/>
            <p:cNvSpPr txBox="1">
              <a:spLocks noChangeArrowheads="1"/>
            </p:cNvSpPr>
            <p:nvPr/>
          </p:nvSpPr>
          <p:spPr bwMode="auto">
            <a:xfrm>
              <a:off x="1013652" y="4398353"/>
              <a:ext cx="360000" cy="43200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9pPr>
            </a:lstStyle>
            <a:p>
              <a:pPr algn="ctr" eaLnBrk="1" hangingPunct="1"/>
              <a:r>
                <a:rPr lang="en-US" altLang="zh-TW" sz="2000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…</a:t>
              </a:r>
              <a:endParaRPr lang="zh-TW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45" name="肘形接點 44"/>
            <p:cNvCxnSpPr>
              <a:stCxn id="43" idx="0"/>
              <a:endCxn id="44" idx="0"/>
            </p:cNvCxnSpPr>
            <p:nvPr/>
          </p:nvCxnSpPr>
          <p:spPr>
            <a:xfrm rot="5400000" flipH="1" flipV="1">
              <a:off x="914890" y="4119592"/>
              <a:ext cx="12700" cy="557523"/>
            </a:xfrm>
            <a:prstGeom prst="bentConnector3">
              <a:avLst>
                <a:gd name="adj1" fmla="val 1800000"/>
              </a:avLst>
            </a:prstGeom>
            <a:ln w="190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接點 45"/>
            <p:cNvCxnSpPr/>
            <p:nvPr/>
          </p:nvCxnSpPr>
          <p:spPr>
            <a:xfrm>
              <a:off x="918137" y="3876724"/>
              <a:ext cx="3175" cy="288000"/>
            </a:xfrm>
            <a:prstGeom prst="line">
              <a:avLst/>
            </a:prstGeom>
            <a:ln w="190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群組 37"/>
          <p:cNvGrpSpPr/>
          <p:nvPr/>
        </p:nvGrpSpPr>
        <p:grpSpPr>
          <a:xfrm>
            <a:off x="6372661" y="3324591"/>
            <a:ext cx="917523" cy="953629"/>
            <a:chOff x="456129" y="3876724"/>
            <a:chExt cx="917523" cy="953629"/>
          </a:xfrm>
        </p:grpSpPr>
        <p:sp>
          <p:nvSpPr>
            <p:cNvPr id="39" name="Text Box 51"/>
            <p:cNvSpPr txBox="1">
              <a:spLocks noChangeArrowheads="1"/>
            </p:cNvSpPr>
            <p:nvPr/>
          </p:nvSpPr>
          <p:spPr bwMode="auto">
            <a:xfrm>
              <a:off x="456129" y="4398353"/>
              <a:ext cx="360000" cy="43200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9pPr>
            </a:lstStyle>
            <a:p>
              <a:pPr algn="ctr" eaLnBrk="1" hangingPunct="1"/>
              <a:r>
                <a:rPr lang="en-US" altLang="zh-TW" sz="2000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…</a:t>
              </a:r>
              <a:endParaRPr lang="zh-TW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40" name="Text Box 51"/>
            <p:cNvSpPr txBox="1">
              <a:spLocks noChangeArrowheads="1"/>
            </p:cNvSpPr>
            <p:nvPr/>
          </p:nvSpPr>
          <p:spPr bwMode="auto">
            <a:xfrm>
              <a:off x="1013652" y="4398353"/>
              <a:ext cx="360000" cy="43200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9pPr>
            </a:lstStyle>
            <a:p>
              <a:pPr algn="ctr" eaLnBrk="1" hangingPunct="1"/>
              <a:r>
                <a:rPr lang="en-US" altLang="zh-TW" sz="2000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…</a:t>
              </a:r>
              <a:endParaRPr lang="zh-TW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41" name="肘形接點 40"/>
            <p:cNvCxnSpPr>
              <a:stCxn id="39" idx="0"/>
              <a:endCxn id="40" idx="0"/>
            </p:cNvCxnSpPr>
            <p:nvPr/>
          </p:nvCxnSpPr>
          <p:spPr>
            <a:xfrm rot="5400000" flipH="1" flipV="1">
              <a:off x="914890" y="4119592"/>
              <a:ext cx="12700" cy="557523"/>
            </a:xfrm>
            <a:prstGeom prst="bentConnector3">
              <a:avLst>
                <a:gd name="adj1" fmla="val 1800000"/>
              </a:avLst>
            </a:prstGeom>
            <a:ln w="190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接點 41"/>
            <p:cNvCxnSpPr/>
            <p:nvPr/>
          </p:nvCxnSpPr>
          <p:spPr>
            <a:xfrm>
              <a:off x="918137" y="3876724"/>
              <a:ext cx="3175" cy="288000"/>
            </a:xfrm>
            <a:prstGeom prst="line">
              <a:avLst/>
            </a:prstGeom>
            <a:ln w="190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向下箭號 58"/>
          <p:cNvSpPr/>
          <p:nvPr/>
        </p:nvSpPr>
        <p:spPr>
          <a:xfrm>
            <a:off x="8133902" y="1711848"/>
            <a:ext cx="754911" cy="382772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由上而下</a:t>
            </a:r>
            <a:endParaRPr lang="zh-TW" altLang="en-US" sz="2000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1" name="Text Box 21"/>
          <p:cNvSpPr txBox="1">
            <a:spLocks noChangeArrowheads="1"/>
          </p:cNvSpPr>
          <p:nvPr/>
        </p:nvSpPr>
        <p:spPr bwMode="auto">
          <a:xfrm>
            <a:off x="2636659" y="3856853"/>
            <a:ext cx="1080000" cy="432000"/>
          </a:xfrm>
          <a:prstGeom prst="rect">
            <a:avLst/>
          </a:prstGeom>
          <a:solidFill>
            <a:srgbClr val="DBE5F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rIns="0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新細明體" charset="-120"/>
              </a:defRPr>
            </a:lvl9pPr>
          </a:lstStyle>
          <a:p>
            <a:pPr algn="ctr" eaLnBrk="1" hangingPunct="1"/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欄位修正</a:t>
            </a:r>
            <a:endParaRPr lang="zh-TW" altLang="zh-TW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63" name="直線接點 62"/>
          <p:cNvCxnSpPr/>
          <p:nvPr/>
        </p:nvCxnSpPr>
        <p:spPr>
          <a:xfrm>
            <a:off x="2597329" y="3324591"/>
            <a:ext cx="3175" cy="324000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/>
          <p:cNvCxnSpPr/>
          <p:nvPr/>
        </p:nvCxnSpPr>
        <p:spPr>
          <a:xfrm>
            <a:off x="2005991" y="3646112"/>
            <a:ext cx="3175" cy="216000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/>
          <p:cNvCxnSpPr/>
          <p:nvPr/>
        </p:nvCxnSpPr>
        <p:spPr>
          <a:xfrm>
            <a:off x="3189679" y="3646806"/>
            <a:ext cx="3175" cy="216000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1362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程式的效率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4927599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>
                <a:solidFill>
                  <a:srgbClr val="000000"/>
                </a:solidFill>
                <a:latin typeface="標楷體" pitchFamily="65" charset="-120"/>
              </a:rPr>
              <a:t>程式執行所花的</a:t>
            </a:r>
            <a:r>
              <a:rPr lang="zh-TW" altLang="en-US" dirty="0">
                <a:solidFill>
                  <a:srgbClr val="C00000"/>
                </a:solidFill>
                <a:latin typeface="標楷體" pitchFamily="65" charset="-120"/>
              </a:rPr>
              <a:t>時間</a:t>
            </a:r>
            <a:r>
              <a:rPr lang="zh-TW" altLang="en-US" dirty="0" smtClean="0">
                <a:solidFill>
                  <a:srgbClr val="C00000"/>
                </a:solidFill>
                <a:latin typeface="標楷體" pitchFamily="65" charset="-120"/>
              </a:rPr>
              <a:t>長短</a:t>
            </a:r>
            <a:endParaRPr lang="en-US" altLang="zh-TW" dirty="0" smtClean="0">
              <a:solidFill>
                <a:srgbClr val="C00000"/>
              </a:solidFill>
              <a:latin typeface="標楷體" pitchFamily="65" charset="-120"/>
            </a:endParaRPr>
          </a:p>
          <a:p>
            <a:r>
              <a:rPr lang="zh-TW" altLang="en-US" dirty="0">
                <a:solidFill>
                  <a:srgbClr val="000000"/>
                </a:solidFill>
                <a:latin typeface="標楷體" pitchFamily="65" charset="-120"/>
              </a:rPr>
              <a:t>最直接的</a:t>
            </a:r>
            <a:r>
              <a:rPr lang="zh-TW" altLang="en-US" dirty="0" smtClean="0">
                <a:solidFill>
                  <a:srgbClr val="000000"/>
                </a:solidFill>
                <a:latin typeface="標楷體" pitchFamily="65" charset="-120"/>
              </a:rPr>
              <a:t>方式：</a:t>
            </a:r>
            <a:r>
              <a:rPr lang="zh-TW" altLang="en-US" dirty="0" smtClean="0">
                <a:solidFill>
                  <a:srgbClr val="C00000"/>
                </a:solidFill>
                <a:latin typeface="標楷體" pitchFamily="65" charset="-120"/>
              </a:rPr>
              <a:t>量時間</a:t>
            </a:r>
            <a:endParaRPr lang="en-US" altLang="zh-TW" dirty="0" smtClean="0">
              <a:solidFill>
                <a:srgbClr val="C00000"/>
              </a:solidFill>
            </a:endParaRPr>
          </a:p>
          <a:p>
            <a:pPr lvl="1"/>
            <a:r>
              <a:rPr lang="zh-TW" altLang="en-US" dirty="0">
                <a:solidFill>
                  <a:srgbClr val="000000"/>
                </a:solidFill>
              </a:rPr>
              <a:t>在程式的開頭和結尾各記錄一次時間，兩個時間差就是執行的</a:t>
            </a:r>
            <a:r>
              <a:rPr lang="zh-TW" altLang="en-US" dirty="0" smtClean="0">
                <a:solidFill>
                  <a:srgbClr val="000000"/>
                </a:solidFill>
              </a:rPr>
              <a:t>時間</a:t>
            </a:r>
            <a:endParaRPr lang="en-US" altLang="zh-TW" dirty="0" smtClean="0">
              <a:solidFill>
                <a:srgbClr val="000000"/>
              </a:solidFill>
            </a:endParaRPr>
          </a:p>
          <a:p>
            <a:endParaRPr lang="en-US" altLang="zh-TW" u="sng" dirty="0" smtClean="0">
              <a:solidFill>
                <a:srgbClr val="000000"/>
              </a:solidFill>
              <a:latin typeface="標楷體" pitchFamily="65" charset="-120"/>
            </a:endParaRPr>
          </a:p>
          <a:p>
            <a:r>
              <a:rPr lang="zh-TW" altLang="en-US" u="sng" dirty="0" smtClean="0">
                <a:solidFill>
                  <a:srgbClr val="000000"/>
                </a:solidFill>
                <a:latin typeface="標楷體" pitchFamily="65" charset="-120"/>
              </a:rPr>
              <a:t>同樣</a:t>
            </a:r>
            <a:r>
              <a:rPr lang="zh-TW" altLang="en-US" dirty="0">
                <a:solidFill>
                  <a:srgbClr val="000000"/>
                </a:solidFill>
                <a:latin typeface="標楷體" pitchFamily="65" charset="-120"/>
              </a:rPr>
              <a:t>的程式，經過</a:t>
            </a:r>
            <a:r>
              <a:rPr lang="zh-TW" altLang="en-US" dirty="0">
                <a:solidFill>
                  <a:srgbClr val="C00000"/>
                </a:solidFill>
                <a:latin typeface="標楷體" pitchFamily="65" charset="-120"/>
              </a:rPr>
              <a:t>不同的編譯程式編譯</a:t>
            </a:r>
            <a:r>
              <a:rPr lang="zh-TW" altLang="en-US" dirty="0">
                <a:solidFill>
                  <a:srgbClr val="000000"/>
                </a:solidFill>
                <a:latin typeface="標楷體" pitchFamily="65" charset="-120"/>
              </a:rPr>
              <a:t>，或在</a:t>
            </a:r>
            <a:r>
              <a:rPr lang="zh-TW" altLang="en-US" dirty="0">
                <a:solidFill>
                  <a:srgbClr val="C00000"/>
                </a:solidFill>
                <a:latin typeface="標楷體" pitchFamily="65" charset="-120"/>
              </a:rPr>
              <a:t>不同的硬體或作業系統</a:t>
            </a:r>
            <a:r>
              <a:rPr lang="zh-TW" altLang="en-US" dirty="0">
                <a:solidFill>
                  <a:srgbClr val="000000"/>
                </a:solidFill>
                <a:latin typeface="標楷體" pitchFamily="65" charset="-120"/>
              </a:rPr>
              <a:t>上執行，都可能量測到不同的執行時間</a:t>
            </a:r>
            <a:r>
              <a:rPr lang="zh-TW" altLang="en-US" dirty="0" smtClean="0">
                <a:solidFill>
                  <a:srgbClr val="000000"/>
                </a:solidFill>
                <a:latin typeface="標楷體" pitchFamily="65" charset="-120"/>
              </a:rPr>
              <a:t>。</a:t>
            </a:r>
            <a:endParaRPr lang="en-US" altLang="zh-TW" dirty="0" smtClean="0">
              <a:solidFill>
                <a:srgbClr val="000000"/>
              </a:solidFill>
              <a:latin typeface="標楷體" pitchFamily="65" charset="-120"/>
            </a:endParaRPr>
          </a:p>
          <a:p>
            <a:endParaRPr lang="en-US" altLang="zh-TW" dirty="0" smtClean="0">
              <a:solidFill>
                <a:srgbClr val="C00000"/>
              </a:solidFill>
              <a:latin typeface="標楷體" pitchFamily="65" charset="-120"/>
            </a:endParaRPr>
          </a:p>
          <a:p>
            <a:r>
              <a:rPr lang="zh-TW" altLang="en-US" dirty="0" smtClean="0">
                <a:solidFill>
                  <a:srgbClr val="C00000"/>
                </a:solidFill>
                <a:latin typeface="標楷體" pitchFamily="65" charset="-120"/>
              </a:rPr>
              <a:t>看程式碼評估效率</a:t>
            </a:r>
            <a:r>
              <a:rPr lang="zh-TW" altLang="en-US" dirty="0" smtClean="0">
                <a:latin typeface="標楷體" pitchFamily="65" charset="-120"/>
              </a:rPr>
              <a:t>：</a:t>
            </a:r>
            <a:endParaRPr lang="en-US" altLang="zh-TW" dirty="0" smtClean="0">
              <a:latin typeface="標楷體" pitchFamily="65" charset="-120"/>
            </a:endParaRPr>
          </a:p>
          <a:p>
            <a:pPr lvl="1"/>
            <a:r>
              <a:rPr lang="zh-TW" altLang="en-US" dirty="0">
                <a:latin typeface="標楷體" pitchFamily="65" charset="-120"/>
              </a:rPr>
              <a:t>計算程式中所有敘述被執行的總次數，也就是「</a:t>
            </a:r>
            <a:r>
              <a:rPr lang="zh-TW" altLang="en-US" dirty="0">
                <a:solidFill>
                  <a:srgbClr val="C00000"/>
                </a:solidFill>
                <a:latin typeface="標楷體" pitchFamily="65" charset="-120"/>
              </a:rPr>
              <a:t>頻率計數</a:t>
            </a:r>
            <a:r>
              <a:rPr lang="zh-TW" altLang="en-US" dirty="0">
                <a:latin typeface="標楷體" pitchFamily="65" charset="-120"/>
              </a:rPr>
              <a:t>」</a:t>
            </a:r>
            <a:r>
              <a:rPr lang="en-US" altLang="zh-TW" sz="1800" dirty="0"/>
              <a:t>( frequency count )</a:t>
            </a:r>
            <a:r>
              <a:rPr lang="zh-TW" altLang="en-US" dirty="0" smtClean="0">
                <a:latin typeface="標楷體" pitchFamily="65" charset="-120"/>
              </a:rPr>
              <a:t>，</a:t>
            </a:r>
            <a:endParaRPr lang="en-US" altLang="zh-TW" dirty="0" smtClean="0">
              <a:latin typeface="標楷體" pitchFamily="65" charset="-120"/>
            </a:endParaRPr>
          </a:p>
          <a:p>
            <a:pPr lvl="1"/>
            <a:r>
              <a:rPr lang="zh-TW" altLang="en-US" dirty="0" smtClean="0">
                <a:latin typeface="標楷體" pitchFamily="65" charset="-120"/>
              </a:rPr>
              <a:t>用</a:t>
            </a:r>
            <a:r>
              <a:rPr lang="zh-TW" altLang="en-US" dirty="0">
                <a:solidFill>
                  <a:srgbClr val="C00000"/>
                </a:solidFill>
                <a:latin typeface="標楷體" pitchFamily="65" charset="-120"/>
              </a:rPr>
              <a:t>頻率計數</a:t>
            </a:r>
            <a:r>
              <a:rPr lang="zh-TW" altLang="en-US" dirty="0">
                <a:latin typeface="標楷體" pitchFamily="65" charset="-120"/>
              </a:rPr>
              <a:t>來比較程式的</a:t>
            </a:r>
            <a:r>
              <a:rPr lang="zh-TW" altLang="en-US" dirty="0" smtClean="0">
                <a:latin typeface="標楷體" pitchFamily="65" charset="-120"/>
              </a:rPr>
              <a:t>效率</a:t>
            </a:r>
            <a:endParaRPr lang="en-US" altLang="zh-TW" dirty="0" smtClean="0">
              <a:latin typeface="標楷體" pitchFamily="65" charset="-120"/>
            </a:endParaRPr>
          </a:p>
          <a:p>
            <a:pPr lvl="1"/>
            <a:r>
              <a:rPr lang="zh-TW" altLang="en-US" dirty="0" smtClean="0">
                <a:latin typeface="標楷體" pitchFamily="65" charset="-120"/>
              </a:rPr>
              <a:t>因為</a:t>
            </a:r>
            <a:r>
              <a:rPr lang="zh-TW" altLang="en-US" dirty="0">
                <a:latin typeface="標楷體" pitchFamily="65" charset="-120"/>
              </a:rPr>
              <a:t>頻率計數愈大，執行的時間也應該愈</a:t>
            </a:r>
            <a:r>
              <a:rPr lang="zh-TW" altLang="en-US" dirty="0" smtClean="0">
                <a:latin typeface="標楷體" pitchFamily="65" charset="-120"/>
              </a:rPr>
              <a:t>長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2672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Big-O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誰的程式比較好？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客觀的比較方法：</a:t>
            </a:r>
            <a:r>
              <a:rPr lang="zh-TW" altLang="en-US" dirty="0" smtClean="0">
                <a:solidFill>
                  <a:srgbClr val="C00000"/>
                </a:solidFill>
              </a:rPr>
              <a:t>複雜度分析 </a:t>
            </a:r>
            <a:r>
              <a:rPr lang="en-US" altLang="zh-TW" dirty="0" smtClean="0">
                <a:solidFill>
                  <a:srgbClr val="C00000"/>
                </a:solidFill>
              </a:rPr>
              <a:t>complexity analysis</a:t>
            </a:r>
          </a:p>
          <a:p>
            <a:pPr lvl="1"/>
            <a:r>
              <a:rPr lang="zh-TW" altLang="en-US" dirty="0"/>
              <a:t>求出程式中每一敘述的執行</a:t>
            </a:r>
            <a:r>
              <a:rPr lang="zh-TW" altLang="en-US" dirty="0" smtClean="0"/>
              <a:t>次數</a:t>
            </a:r>
            <a:r>
              <a:rPr lang="en-US" altLang="zh-TW" dirty="0" smtClean="0"/>
              <a:t>(</a:t>
            </a:r>
            <a:r>
              <a:rPr lang="zh-TW" altLang="en-US" dirty="0" smtClean="0"/>
              <a:t>其中</a:t>
            </a:r>
            <a:r>
              <a:rPr lang="en-US" altLang="zh-TW" dirty="0" smtClean="0"/>
              <a:t>{</a:t>
            </a:r>
            <a:r>
              <a:rPr lang="zh-TW" altLang="en-US" dirty="0" smtClean="0"/>
              <a:t>和</a:t>
            </a:r>
            <a:r>
              <a:rPr lang="en-US" altLang="zh-TW" dirty="0" smtClean="0"/>
              <a:t>}</a:t>
            </a:r>
            <a:r>
              <a:rPr lang="zh-TW" altLang="en-US" dirty="0" smtClean="0"/>
              <a:t>不</a:t>
            </a:r>
            <a:r>
              <a:rPr lang="zh-TW" altLang="en-US" dirty="0"/>
              <a:t>加以</a:t>
            </a:r>
            <a:r>
              <a:rPr lang="zh-TW" altLang="en-US" dirty="0" smtClean="0"/>
              <a:t>計算</a:t>
            </a:r>
            <a:r>
              <a:rPr lang="en-US" altLang="zh-TW" dirty="0" smtClean="0"/>
              <a:t>)</a:t>
            </a:r>
            <a:r>
              <a:rPr lang="zh-TW" altLang="en-US" dirty="0" smtClean="0"/>
              <a:t>，</a:t>
            </a:r>
            <a:r>
              <a:rPr lang="zh-TW" altLang="en-US" dirty="0"/>
              <a:t>將這些執行次數加總</a:t>
            </a:r>
            <a:r>
              <a:rPr lang="zh-TW" altLang="en-US" dirty="0" smtClean="0"/>
              <a:t>起來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然後</a:t>
            </a:r>
            <a:r>
              <a:rPr lang="zh-TW" altLang="en-US" dirty="0"/>
              <a:t>求出其</a:t>
            </a:r>
            <a:r>
              <a:rPr lang="en-US" altLang="zh-TW" dirty="0" smtClean="0">
                <a:solidFill>
                  <a:srgbClr val="C00000"/>
                </a:solidFill>
              </a:rPr>
              <a:t>Big-O</a:t>
            </a:r>
          </a:p>
          <a:p>
            <a:endParaRPr lang="en-US" altLang="zh-TW" dirty="0"/>
          </a:p>
          <a:p>
            <a:r>
              <a:rPr lang="zh-TW" altLang="en-US" dirty="0"/>
              <a:t>如何去計算演算法所需要的執行時間呢</a:t>
            </a:r>
            <a:r>
              <a:rPr lang="zh-TW" altLang="en-US" dirty="0" smtClean="0"/>
              <a:t>？</a:t>
            </a:r>
            <a:endParaRPr lang="en-US" altLang="zh-TW" dirty="0" smtClean="0"/>
          </a:p>
          <a:p>
            <a:pPr lvl="1"/>
            <a:r>
              <a:rPr lang="zh-TW" altLang="en-US" dirty="0"/>
              <a:t>每一</a:t>
            </a:r>
            <a:r>
              <a:rPr lang="zh-TW" altLang="en-US" dirty="0" smtClean="0"/>
              <a:t>敘述</a:t>
            </a:r>
            <a:r>
              <a:rPr lang="en-US" altLang="zh-TW" dirty="0" smtClean="0"/>
              <a:t>(statement)</a:t>
            </a:r>
            <a:r>
              <a:rPr lang="zh-TW" altLang="en-US" dirty="0" smtClean="0"/>
              <a:t>的</a:t>
            </a:r>
            <a:r>
              <a:rPr lang="zh-TW" altLang="en-US" dirty="0"/>
              <a:t>執行時間為</a:t>
            </a:r>
            <a:r>
              <a:rPr lang="zh-TW" altLang="en-US" dirty="0" smtClean="0"/>
              <a:t>：</a:t>
            </a:r>
            <a:endParaRPr lang="en-US" altLang="zh-TW" dirty="0" smtClean="0"/>
          </a:p>
          <a:p>
            <a:pPr lvl="2"/>
            <a:r>
              <a:rPr lang="zh-TW" altLang="en-US" dirty="0"/>
              <a:t>執行的</a:t>
            </a:r>
            <a:r>
              <a:rPr lang="zh-TW" altLang="en-US" dirty="0" smtClean="0"/>
              <a:t>次數</a:t>
            </a:r>
            <a:endParaRPr lang="en-US" altLang="zh-TW" dirty="0" smtClean="0"/>
          </a:p>
          <a:p>
            <a:pPr lvl="2"/>
            <a:r>
              <a:rPr lang="zh-TW" altLang="en-US" dirty="0"/>
              <a:t>每一次執行所需的</a:t>
            </a:r>
            <a:r>
              <a:rPr lang="zh-TW" altLang="en-US" dirty="0" smtClean="0"/>
              <a:t>時間</a:t>
            </a:r>
            <a:endParaRPr lang="en-US" altLang="zh-TW" dirty="0" smtClean="0"/>
          </a:p>
          <a:p>
            <a:pPr lvl="2"/>
            <a:r>
              <a:rPr lang="zh-TW" altLang="en-US" dirty="0"/>
              <a:t>兩者相乘即為此敘述的執行時間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13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890065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結構化程式的效率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434835" y="4978903"/>
            <a:ext cx="1569745" cy="509786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循序敘述</a:t>
            </a:r>
            <a:endParaRPr lang="en-US" altLang="zh-TW" dirty="0" smtClean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14</a:t>
            </a:fld>
            <a:endParaRPr lang="en-US" dirty="0"/>
          </a:p>
        </p:txBody>
      </p:sp>
      <p:grpSp>
        <p:nvGrpSpPr>
          <p:cNvPr id="47" name="群組 46"/>
          <p:cNvGrpSpPr/>
          <p:nvPr/>
        </p:nvGrpSpPr>
        <p:grpSpPr>
          <a:xfrm>
            <a:off x="499708" y="2477981"/>
            <a:ext cx="1440000" cy="1737042"/>
            <a:chOff x="3062176" y="1629934"/>
            <a:chExt cx="1440000" cy="1737042"/>
          </a:xfrm>
        </p:grpSpPr>
        <p:sp>
          <p:nvSpPr>
            <p:cNvPr id="7" name="流程圖: 程序 6"/>
            <p:cNvSpPr/>
            <p:nvPr/>
          </p:nvSpPr>
          <p:spPr>
            <a:xfrm>
              <a:off x="3062176" y="1913860"/>
              <a:ext cx="1440000" cy="432000"/>
            </a:xfrm>
            <a:prstGeom prst="flowChart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000" b="1" dirty="0" smtClean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程序</a:t>
              </a:r>
              <a:endParaRPr lang="zh-TW" altLang="en-US" sz="20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8" name="流程圖: 程序 7"/>
            <p:cNvSpPr/>
            <p:nvPr/>
          </p:nvSpPr>
          <p:spPr>
            <a:xfrm>
              <a:off x="3062176" y="2661683"/>
              <a:ext cx="1440000" cy="432000"/>
            </a:xfrm>
            <a:prstGeom prst="flowChart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000" b="1" dirty="0" smtClean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程序</a:t>
              </a:r>
              <a:endParaRPr lang="zh-TW" altLang="en-US" sz="20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10" name="直線單箭頭接點 9"/>
            <p:cNvCxnSpPr>
              <a:stCxn id="7" idx="2"/>
              <a:endCxn id="8" idx="0"/>
            </p:cNvCxnSpPr>
            <p:nvPr/>
          </p:nvCxnSpPr>
          <p:spPr>
            <a:xfrm>
              <a:off x="3782176" y="2345860"/>
              <a:ext cx="0" cy="315823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單箭頭接點 12"/>
            <p:cNvCxnSpPr>
              <a:stCxn id="8" idx="2"/>
            </p:cNvCxnSpPr>
            <p:nvPr/>
          </p:nvCxnSpPr>
          <p:spPr>
            <a:xfrm>
              <a:off x="3782176" y="3093683"/>
              <a:ext cx="0" cy="273293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單箭頭接點 15"/>
            <p:cNvCxnSpPr>
              <a:endCxn id="7" idx="0"/>
            </p:cNvCxnSpPr>
            <p:nvPr/>
          </p:nvCxnSpPr>
          <p:spPr>
            <a:xfrm>
              <a:off x="3782176" y="1629934"/>
              <a:ext cx="0" cy="283926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群組 52"/>
          <p:cNvGrpSpPr/>
          <p:nvPr/>
        </p:nvGrpSpPr>
        <p:grpSpPr>
          <a:xfrm>
            <a:off x="2724896" y="1953240"/>
            <a:ext cx="3112856" cy="2844603"/>
            <a:chOff x="2789228" y="2027671"/>
            <a:chExt cx="3112856" cy="2844603"/>
          </a:xfrm>
        </p:grpSpPr>
        <p:sp>
          <p:nvSpPr>
            <p:cNvPr id="20" name="流程圖: 程序 19"/>
            <p:cNvSpPr/>
            <p:nvPr/>
          </p:nvSpPr>
          <p:spPr>
            <a:xfrm>
              <a:off x="2789228" y="3195871"/>
              <a:ext cx="1440000" cy="432000"/>
            </a:xfrm>
            <a:prstGeom prst="flowChart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000" b="1" dirty="0" smtClean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程序</a:t>
              </a:r>
              <a:endParaRPr lang="zh-TW" altLang="en-US" sz="20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21" name="流程圖: 程序 20"/>
            <p:cNvSpPr/>
            <p:nvPr/>
          </p:nvSpPr>
          <p:spPr>
            <a:xfrm>
              <a:off x="4462084" y="3195871"/>
              <a:ext cx="1440000" cy="432000"/>
            </a:xfrm>
            <a:prstGeom prst="flowChart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000" b="1" dirty="0" smtClean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程序</a:t>
              </a:r>
              <a:endParaRPr lang="zh-TW" altLang="en-US" sz="20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22" name="流程圖: 決策 21"/>
            <p:cNvSpPr/>
            <p:nvPr/>
          </p:nvSpPr>
          <p:spPr>
            <a:xfrm>
              <a:off x="4462084" y="2401583"/>
              <a:ext cx="1440000" cy="432000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000" b="1" dirty="0" smtClean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條件</a:t>
              </a:r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24" name="直線單箭頭接點 23"/>
            <p:cNvCxnSpPr>
              <a:stCxn id="22" idx="2"/>
              <a:endCxn id="21" idx="0"/>
            </p:cNvCxnSpPr>
            <p:nvPr/>
          </p:nvCxnSpPr>
          <p:spPr>
            <a:xfrm>
              <a:off x="5182084" y="2833583"/>
              <a:ext cx="0" cy="362288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肘形接點 25"/>
            <p:cNvCxnSpPr>
              <a:stCxn id="22" idx="1"/>
              <a:endCxn id="20" idx="0"/>
            </p:cNvCxnSpPr>
            <p:nvPr/>
          </p:nvCxnSpPr>
          <p:spPr>
            <a:xfrm rot="10800000" flipV="1">
              <a:off x="3509228" y="2617583"/>
              <a:ext cx="952856" cy="578288"/>
            </a:xfrm>
            <a:prstGeom prst="bentConnector2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流程圖: 程序 26"/>
            <p:cNvSpPr/>
            <p:nvPr/>
          </p:nvSpPr>
          <p:spPr>
            <a:xfrm>
              <a:off x="4462084" y="4060652"/>
              <a:ext cx="1440000" cy="432000"/>
            </a:xfrm>
            <a:prstGeom prst="flowChart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000" b="1" dirty="0" smtClean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程序</a:t>
              </a:r>
              <a:endParaRPr lang="zh-TW" altLang="en-US" sz="20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28" name="直線單箭頭接點 27"/>
            <p:cNvCxnSpPr>
              <a:stCxn id="21" idx="2"/>
              <a:endCxn id="27" idx="0"/>
            </p:cNvCxnSpPr>
            <p:nvPr/>
          </p:nvCxnSpPr>
          <p:spPr>
            <a:xfrm>
              <a:off x="5182084" y="3627871"/>
              <a:ext cx="0" cy="432781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肘形接點 30"/>
            <p:cNvCxnSpPr>
              <a:stCxn id="20" idx="2"/>
              <a:endCxn id="27" idx="1"/>
            </p:cNvCxnSpPr>
            <p:nvPr/>
          </p:nvCxnSpPr>
          <p:spPr>
            <a:xfrm rot="16200000" flipH="1">
              <a:off x="3661266" y="3475833"/>
              <a:ext cx="648781" cy="952856"/>
            </a:xfrm>
            <a:prstGeom prst="bentConnector2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單箭頭接點 34"/>
            <p:cNvCxnSpPr>
              <a:stCxn id="27" idx="2"/>
            </p:cNvCxnSpPr>
            <p:nvPr/>
          </p:nvCxnSpPr>
          <p:spPr>
            <a:xfrm>
              <a:off x="5182084" y="4492652"/>
              <a:ext cx="1" cy="379622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單箭頭接點 38"/>
            <p:cNvCxnSpPr>
              <a:endCxn id="22" idx="0"/>
            </p:cNvCxnSpPr>
            <p:nvPr/>
          </p:nvCxnSpPr>
          <p:spPr>
            <a:xfrm>
              <a:off x="5182084" y="2027671"/>
              <a:ext cx="0" cy="373912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文字方塊 44"/>
            <p:cNvSpPr txBox="1"/>
            <p:nvPr/>
          </p:nvSpPr>
          <p:spPr>
            <a:xfrm>
              <a:off x="5184090" y="2806395"/>
              <a:ext cx="3706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文字方塊 45"/>
            <p:cNvSpPr txBox="1"/>
            <p:nvPr/>
          </p:nvSpPr>
          <p:spPr>
            <a:xfrm>
              <a:off x="4088936" y="2302537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8" name="群組 67"/>
          <p:cNvGrpSpPr/>
          <p:nvPr/>
        </p:nvGrpSpPr>
        <p:grpSpPr>
          <a:xfrm>
            <a:off x="6955665" y="2224705"/>
            <a:ext cx="1716947" cy="2573138"/>
            <a:chOff x="6602773" y="2299136"/>
            <a:chExt cx="1716947" cy="2573138"/>
          </a:xfrm>
        </p:grpSpPr>
        <p:sp>
          <p:nvSpPr>
            <p:cNvPr id="48" name="流程圖: 程序 47"/>
            <p:cNvSpPr/>
            <p:nvPr/>
          </p:nvSpPr>
          <p:spPr>
            <a:xfrm>
              <a:off x="6602773" y="3195871"/>
              <a:ext cx="1440000" cy="432000"/>
            </a:xfrm>
            <a:prstGeom prst="flowChart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000" b="1" dirty="0" smtClean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迴圈主體</a:t>
              </a:r>
              <a:endParaRPr lang="zh-TW" altLang="en-US" sz="20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49" name="流程圖: 決策 48"/>
            <p:cNvSpPr/>
            <p:nvPr/>
          </p:nvSpPr>
          <p:spPr>
            <a:xfrm>
              <a:off x="6602773" y="2401583"/>
              <a:ext cx="1440000" cy="432000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000" b="1" dirty="0" smtClean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條件</a:t>
              </a:r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50" name="直線單箭頭接點 49"/>
            <p:cNvCxnSpPr>
              <a:stCxn id="49" idx="2"/>
              <a:endCxn id="48" idx="0"/>
            </p:cNvCxnSpPr>
            <p:nvPr/>
          </p:nvCxnSpPr>
          <p:spPr>
            <a:xfrm>
              <a:off x="7322773" y="2833583"/>
              <a:ext cx="0" cy="362288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肘形接點 53"/>
            <p:cNvCxnSpPr>
              <a:stCxn id="48" idx="1"/>
              <a:endCxn id="49" idx="1"/>
            </p:cNvCxnSpPr>
            <p:nvPr/>
          </p:nvCxnSpPr>
          <p:spPr>
            <a:xfrm rot="10800000">
              <a:off x="6602773" y="2617583"/>
              <a:ext cx="12700" cy="794288"/>
            </a:xfrm>
            <a:prstGeom prst="bentConnector3">
              <a:avLst>
                <a:gd name="adj1" fmla="val 1800000"/>
              </a:avLst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流程圖: 程序 56"/>
            <p:cNvSpPr/>
            <p:nvPr/>
          </p:nvSpPr>
          <p:spPr>
            <a:xfrm>
              <a:off x="6615473" y="4060652"/>
              <a:ext cx="1440000" cy="432000"/>
            </a:xfrm>
            <a:prstGeom prst="flowChart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000" b="1" dirty="0" smtClean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程序</a:t>
              </a:r>
              <a:endParaRPr lang="zh-TW" altLang="en-US" sz="20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58" name="肘形接點 57"/>
            <p:cNvCxnSpPr>
              <a:stCxn id="49" idx="3"/>
              <a:endCxn id="57" idx="0"/>
            </p:cNvCxnSpPr>
            <p:nvPr/>
          </p:nvCxnSpPr>
          <p:spPr>
            <a:xfrm flipH="1">
              <a:off x="7335473" y="2617583"/>
              <a:ext cx="707300" cy="1443069"/>
            </a:xfrm>
            <a:prstGeom prst="bentConnector4">
              <a:avLst>
                <a:gd name="adj1" fmla="val -32320"/>
                <a:gd name="adj2" fmla="val 79588"/>
              </a:avLst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文字方塊 61"/>
            <p:cNvSpPr txBox="1"/>
            <p:nvPr/>
          </p:nvSpPr>
          <p:spPr>
            <a:xfrm>
              <a:off x="7315929" y="2806395"/>
              <a:ext cx="3706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文字方塊 62"/>
            <p:cNvSpPr txBox="1"/>
            <p:nvPr/>
          </p:nvSpPr>
          <p:spPr>
            <a:xfrm>
              <a:off x="7968342" y="2299136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5" name="直線單箭頭接點 64"/>
            <p:cNvCxnSpPr>
              <a:stCxn id="57" idx="2"/>
            </p:cNvCxnSpPr>
            <p:nvPr/>
          </p:nvCxnSpPr>
          <p:spPr>
            <a:xfrm>
              <a:off x="7335473" y="4492652"/>
              <a:ext cx="0" cy="379622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內容版面配置區 2"/>
          <p:cNvSpPr txBox="1">
            <a:spLocks/>
          </p:cNvSpPr>
          <p:nvPr/>
        </p:nvSpPr>
        <p:spPr>
          <a:xfrm>
            <a:off x="3444896" y="4988283"/>
            <a:ext cx="2224987" cy="5097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sz="2000" b="1" kern="1200" cap="none" baseline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sz="2000" b="1" kern="1200" cap="none" baseline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sz="2000" b="1" kern="1200" cap="none" baseline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sz="2000" b="1" kern="1200" cap="none" baseline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sz="2000" b="1" kern="1200" cap="none" baseline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 smtClean="0"/>
              <a:t>決策分支敘述</a:t>
            </a:r>
            <a:endParaRPr lang="en-US" altLang="zh-TW" dirty="0" smtClean="0"/>
          </a:p>
        </p:txBody>
      </p:sp>
      <p:sp>
        <p:nvSpPr>
          <p:cNvPr id="70" name="內容版面配置區 2"/>
          <p:cNvSpPr txBox="1">
            <a:spLocks/>
          </p:cNvSpPr>
          <p:nvPr/>
        </p:nvSpPr>
        <p:spPr>
          <a:xfrm>
            <a:off x="6903492" y="5026017"/>
            <a:ext cx="1569745" cy="5097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sz="2000" b="1" kern="1200" cap="none" baseline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sz="2000" b="1" kern="1200" cap="none" baseline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sz="2000" b="1" kern="1200" cap="none" baseline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sz="2000" b="1" kern="1200" cap="none" baseline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Wingdings" panose="05000000000000000000" pitchFamily="2" charset="2"/>
              <a:buChar char="Ø"/>
              <a:defRPr sz="2000" b="1" kern="1200" cap="none" baseline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 smtClean="0"/>
              <a:t>迴圈敘述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1486096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循序敘述的頻率計數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4927599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將敘述的行數加總</a:t>
            </a:r>
            <a:r>
              <a:rPr lang="zh-TW" altLang="en-US" dirty="0" smtClean="0"/>
              <a:t>即可</a:t>
            </a:r>
            <a:endParaRPr lang="en-US" altLang="zh-TW" dirty="0" smtClean="0"/>
          </a:p>
          <a:p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en-US" altLang="zh-TW" dirty="0" smtClean="0"/>
              <a:t>Q</a:t>
            </a:r>
            <a:r>
              <a:rPr lang="zh-TW" altLang="en-US" dirty="0" smtClean="0"/>
              <a:t> </a:t>
            </a:r>
            <a:r>
              <a:rPr lang="en-US" altLang="zh-TW" dirty="0" smtClean="0"/>
              <a:t>=</a:t>
            </a:r>
            <a:r>
              <a:rPr lang="zh-TW" altLang="en-US" dirty="0" smtClean="0"/>
              <a:t> </a:t>
            </a:r>
            <a:r>
              <a:rPr lang="en-US" altLang="zh-TW" dirty="0" smtClean="0"/>
              <a:t>m / n;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dirty="0" smtClean="0"/>
              <a:t>R = m mod n;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dirty="0" err="1" smtClean="0"/>
              <a:t>printf</a:t>
            </a:r>
            <a:r>
              <a:rPr lang="en-US" altLang="zh-TW" dirty="0" smtClean="0"/>
              <a:t> (“%d </a:t>
            </a:r>
            <a:r>
              <a:rPr lang="en-US" altLang="zh-TW" dirty="0" smtClean="0">
                <a:sym typeface="Symbol"/>
              </a:rPr>
              <a:t> %d = %d … %d”, m, n, Q, R);</a:t>
            </a:r>
          </a:p>
          <a:p>
            <a:endParaRPr lang="en-US" altLang="zh-TW" dirty="0">
              <a:sym typeface="Symbol"/>
            </a:endParaRPr>
          </a:p>
          <a:p>
            <a:r>
              <a:rPr lang="zh-TW" altLang="en-US" dirty="0">
                <a:sym typeface="Symbol" pitchFamily="18" charset="2"/>
              </a:rPr>
              <a:t>頻率計數</a:t>
            </a:r>
            <a:r>
              <a:rPr lang="zh-TW" altLang="en-US" dirty="0" smtClean="0">
                <a:sym typeface="Symbol" pitchFamily="18" charset="2"/>
              </a:rPr>
              <a:t>為：</a:t>
            </a:r>
            <a:r>
              <a:rPr lang="en-US" altLang="zh-TW" dirty="0" smtClean="0">
                <a:solidFill>
                  <a:srgbClr val="C00000"/>
                </a:solidFill>
                <a:sym typeface="Symbol" pitchFamily="18" charset="2"/>
              </a:rPr>
              <a:t>3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15</a:t>
            </a:fld>
            <a:endParaRPr lang="en-US" dirty="0"/>
          </a:p>
        </p:txBody>
      </p:sp>
      <p:grpSp>
        <p:nvGrpSpPr>
          <p:cNvPr id="10" name="群組 9"/>
          <p:cNvGrpSpPr/>
          <p:nvPr/>
        </p:nvGrpSpPr>
        <p:grpSpPr>
          <a:xfrm>
            <a:off x="6496496" y="2176447"/>
            <a:ext cx="1466040" cy="1718011"/>
            <a:chOff x="6496496" y="2176447"/>
            <a:chExt cx="1466040" cy="1718011"/>
          </a:xfrm>
        </p:grpSpPr>
        <p:sp>
          <p:nvSpPr>
            <p:cNvPr id="7" name="文字方塊 6"/>
            <p:cNvSpPr txBox="1"/>
            <p:nvPr/>
          </p:nvSpPr>
          <p:spPr>
            <a:xfrm>
              <a:off x="7649630" y="2319855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文字方塊 7"/>
            <p:cNvSpPr txBox="1"/>
            <p:nvPr/>
          </p:nvSpPr>
          <p:spPr>
            <a:xfrm>
              <a:off x="7649630" y="2826295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文字方塊 8"/>
            <p:cNvSpPr txBox="1"/>
            <p:nvPr/>
          </p:nvSpPr>
          <p:spPr>
            <a:xfrm>
              <a:off x="7649630" y="3354001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流程圖: 程序 12"/>
            <p:cNvSpPr/>
            <p:nvPr/>
          </p:nvSpPr>
          <p:spPr>
            <a:xfrm>
              <a:off x="6496496" y="2375910"/>
              <a:ext cx="1080000" cy="288000"/>
            </a:xfrm>
            <a:prstGeom prst="flowChart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000" b="1" dirty="0" smtClean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程序</a:t>
              </a:r>
              <a:endParaRPr lang="zh-TW" altLang="en-US" sz="20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4" name="流程圖: 程序 13"/>
            <p:cNvSpPr/>
            <p:nvPr/>
          </p:nvSpPr>
          <p:spPr>
            <a:xfrm>
              <a:off x="6496496" y="2882350"/>
              <a:ext cx="1080000" cy="288000"/>
            </a:xfrm>
            <a:prstGeom prst="flowChart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000" b="1" dirty="0" smtClean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程序</a:t>
              </a:r>
              <a:endParaRPr lang="zh-TW" altLang="en-US" sz="20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15" name="直線單箭頭接點 14"/>
            <p:cNvCxnSpPr>
              <a:stCxn id="13" idx="2"/>
              <a:endCxn id="14" idx="0"/>
            </p:cNvCxnSpPr>
            <p:nvPr/>
          </p:nvCxnSpPr>
          <p:spPr>
            <a:xfrm>
              <a:off x="7036496" y="2663910"/>
              <a:ext cx="0" cy="21844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流程圖: 程序 17"/>
            <p:cNvSpPr/>
            <p:nvPr/>
          </p:nvSpPr>
          <p:spPr>
            <a:xfrm>
              <a:off x="6496496" y="3410056"/>
              <a:ext cx="1080000" cy="288000"/>
            </a:xfrm>
            <a:prstGeom prst="flowChart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000" b="1" dirty="0" smtClean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程序</a:t>
              </a:r>
              <a:endParaRPr lang="zh-TW" altLang="en-US" sz="20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21" name="直線單箭頭接點 20"/>
            <p:cNvCxnSpPr>
              <a:stCxn id="14" idx="2"/>
              <a:endCxn id="18" idx="0"/>
            </p:cNvCxnSpPr>
            <p:nvPr/>
          </p:nvCxnSpPr>
          <p:spPr>
            <a:xfrm>
              <a:off x="7036496" y="3170350"/>
              <a:ext cx="0" cy="239706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單箭頭接點 25"/>
            <p:cNvCxnSpPr>
              <a:endCxn id="13" idx="0"/>
            </p:cNvCxnSpPr>
            <p:nvPr/>
          </p:nvCxnSpPr>
          <p:spPr>
            <a:xfrm>
              <a:off x="7036496" y="2176447"/>
              <a:ext cx="0" cy="199463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單箭頭接點 28"/>
            <p:cNvCxnSpPr>
              <a:stCxn id="18" idx="2"/>
            </p:cNvCxnSpPr>
            <p:nvPr/>
          </p:nvCxnSpPr>
          <p:spPr>
            <a:xfrm>
              <a:off x="7036496" y="3698056"/>
              <a:ext cx="0" cy="196402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98568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決策分支敘述的頻率計數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4927599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zh-TW" altLang="en-US" dirty="0">
                <a:solidFill>
                  <a:srgbClr val="C00000"/>
                </a:solidFill>
              </a:rPr>
              <a:t>分支中總行數的</a:t>
            </a:r>
            <a:r>
              <a:rPr lang="zh-TW" altLang="en-US" dirty="0" smtClean="0">
                <a:solidFill>
                  <a:srgbClr val="C00000"/>
                </a:solidFill>
              </a:rPr>
              <a:t>最大值 </a:t>
            </a:r>
            <a:r>
              <a:rPr lang="en-US" altLang="zh-TW" dirty="0" smtClean="0"/>
              <a:t>+</a:t>
            </a:r>
            <a:r>
              <a:rPr lang="zh-TW" altLang="en-US" dirty="0" smtClean="0"/>
              <a:t> 比較</a:t>
            </a:r>
            <a:r>
              <a:rPr lang="zh-TW" altLang="en-US" dirty="0"/>
              <a:t>敘述的</a:t>
            </a:r>
            <a:r>
              <a:rPr lang="zh-TW" altLang="en-US" dirty="0" smtClean="0"/>
              <a:t>次數</a:t>
            </a:r>
            <a:endParaRPr lang="en-US" altLang="zh-TW" dirty="0" smtClean="0"/>
          </a:p>
          <a:p>
            <a:endParaRPr lang="en-US" altLang="zh-TW" dirty="0"/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US" altLang="zh-TW" dirty="0" smtClean="0"/>
              <a:t>If (n == 0)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US" altLang="zh-TW" dirty="0" smtClean="0"/>
              <a:t>     </a:t>
            </a:r>
            <a:r>
              <a:rPr lang="en-US" altLang="zh-TW" dirty="0" err="1" smtClean="0"/>
              <a:t>printf</a:t>
            </a:r>
            <a:r>
              <a:rPr lang="en-US" altLang="zh-TW" dirty="0" smtClean="0"/>
              <a:t> (“Error!, Divisor cannot be Zero!”);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US" altLang="zh-TW" dirty="0" smtClean="0"/>
              <a:t>else {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US" altLang="zh-TW" dirty="0" smtClean="0"/>
              <a:t>     Q = m / n;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US" altLang="zh-TW" dirty="0" smtClean="0"/>
              <a:t>     R = m % n;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US" altLang="zh-TW" dirty="0" smtClean="0"/>
              <a:t>     </a:t>
            </a:r>
            <a:r>
              <a:rPr lang="en-US" altLang="zh-TW" dirty="0" err="1" smtClean="0"/>
              <a:t>printf</a:t>
            </a:r>
            <a:r>
              <a:rPr lang="en-US" altLang="zh-TW" dirty="0" smtClean="0"/>
              <a:t> (</a:t>
            </a:r>
            <a:r>
              <a:rPr lang="en-US" altLang="zh-TW" dirty="0"/>
              <a:t>“%d </a:t>
            </a:r>
            <a:r>
              <a:rPr lang="en-US" altLang="zh-TW" dirty="0">
                <a:sym typeface="Symbol"/>
              </a:rPr>
              <a:t> %d = %d … %d”, m, n, Q, R</a:t>
            </a:r>
            <a:r>
              <a:rPr lang="en-US" altLang="zh-TW" dirty="0" smtClean="0">
                <a:sym typeface="Symbol"/>
              </a:rPr>
              <a:t>);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en-US" altLang="zh-TW" dirty="0" smtClean="0">
                <a:sym typeface="Symbol"/>
              </a:rPr>
              <a:t>}</a:t>
            </a:r>
          </a:p>
          <a:p>
            <a:endParaRPr lang="en-US" altLang="zh-TW" dirty="0">
              <a:sym typeface="Symbol"/>
            </a:endParaRPr>
          </a:p>
          <a:p>
            <a:r>
              <a:rPr lang="zh-TW" altLang="en-US" dirty="0" smtClean="0"/>
              <a:t>頻率計數：</a:t>
            </a:r>
            <a:r>
              <a:rPr lang="en-US" altLang="zh-TW" dirty="0" smtClean="0"/>
              <a:t>1 + </a:t>
            </a:r>
            <a:r>
              <a:rPr lang="en-US" altLang="zh-TW" dirty="0" smtClean="0">
                <a:solidFill>
                  <a:srgbClr val="0000FF"/>
                </a:solidFill>
              </a:rPr>
              <a:t>max(1, 3)</a:t>
            </a:r>
            <a:r>
              <a:rPr lang="en-US" altLang="zh-TW" dirty="0" smtClean="0"/>
              <a:t> = 1 + 3 = </a:t>
            </a:r>
            <a:r>
              <a:rPr lang="en-US" altLang="zh-TW" dirty="0" smtClean="0">
                <a:solidFill>
                  <a:srgbClr val="C00000"/>
                </a:solidFill>
              </a:rPr>
              <a:t>4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16</a:t>
            </a:fld>
            <a:endParaRPr lang="en-US" dirty="0"/>
          </a:p>
        </p:txBody>
      </p:sp>
      <p:grpSp>
        <p:nvGrpSpPr>
          <p:cNvPr id="18" name="群組 17"/>
          <p:cNvGrpSpPr/>
          <p:nvPr/>
        </p:nvGrpSpPr>
        <p:grpSpPr>
          <a:xfrm>
            <a:off x="5999028" y="1755942"/>
            <a:ext cx="3018414" cy="2624163"/>
            <a:chOff x="5999028" y="1755942"/>
            <a:chExt cx="3018414" cy="2624163"/>
          </a:xfrm>
        </p:grpSpPr>
        <p:sp>
          <p:nvSpPr>
            <p:cNvPr id="7" name="文字方塊 6"/>
            <p:cNvSpPr txBox="1"/>
            <p:nvPr/>
          </p:nvSpPr>
          <p:spPr>
            <a:xfrm>
              <a:off x="7045832" y="2749904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文字方塊 7"/>
            <p:cNvSpPr txBox="1"/>
            <p:nvPr/>
          </p:nvSpPr>
          <p:spPr>
            <a:xfrm>
              <a:off x="7045832" y="3256344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文字方塊 8"/>
            <p:cNvSpPr txBox="1"/>
            <p:nvPr/>
          </p:nvSpPr>
          <p:spPr>
            <a:xfrm>
              <a:off x="7045832" y="3784050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流程圖: 程序 9"/>
            <p:cNvSpPr/>
            <p:nvPr/>
          </p:nvSpPr>
          <p:spPr>
            <a:xfrm>
              <a:off x="5999028" y="2805959"/>
              <a:ext cx="1080000" cy="288000"/>
            </a:xfrm>
            <a:prstGeom prst="flowChart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000" b="1" dirty="0" smtClean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程序</a:t>
              </a:r>
              <a:endParaRPr lang="zh-TW" altLang="en-US" sz="20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1" name="流程圖: 程序 10"/>
            <p:cNvSpPr/>
            <p:nvPr/>
          </p:nvSpPr>
          <p:spPr>
            <a:xfrm>
              <a:off x="5999028" y="3312399"/>
              <a:ext cx="1080000" cy="288000"/>
            </a:xfrm>
            <a:prstGeom prst="flowChart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000" b="1" dirty="0" smtClean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程序</a:t>
              </a:r>
              <a:endParaRPr lang="zh-TW" altLang="en-US" sz="20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12" name="直線單箭頭接點 11"/>
            <p:cNvCxnSpPr>
              <a:stCxn id="10" idx="2"/>
              <a:endCxn id="11" idx="0"/>
            </p:cNvCxnSpPr>
            <p:nvPr/>
          </p:nvCxnSpPr>
          <p:spPr>
            <a:xfrm>
              <a:off x="6539028" y="3093959"/>
              <a:ext cx="0" cy="21844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流程圖: 程序 12"/>
            <p:cNvSpPr/>
            <p:nvPr/>
          </p:nvSpPr>
          <p:spPr>
            <a:xfrm>
              <a:off x="5999028" y="3840105"/>
              <a:ext cx="1080000" cy="288000"/>
            </a:xfrm>
            <a:prstGeom prst="flowChart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000" b="1" dirty="0" smtClean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程序</a:t>
              </a:r>
              <a:endParaRPr lang="zh-TW" altLang="en-US" sz="20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14" name="直線單箭頭接點 13"/>
            <p:cNvCxnSpPr>
              <a:stCxn id="11" idx="2"/>
              <a:endCxn id="13" idx="0"/>
            </p:cNvCxnSpPr>
            <p:nvPr/>
          </p:nvCxnSpPr>
          <p:spPr>
            <a:xfrm>
              <a:off x="6539028" y="3600399"/>
              <a:ext cx="0" cy="239706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單箭頭接點 14"/>
            <p:cNvCxnSpPr>
              <a:stCxn id="26" idx="2"/>
              <a:endCxn id="17" idx="0"/>
            </p:cNvCxnSpPr>
            <p:nvPr/>
          </p:nvCxnSpPr>
          <p:spPr>
            <a:xfrm>
              <a:off x="8039222" y="2241763"/>
              <a:ext cx="0" cy="564196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單箭頭接點 15"/>
            <p:cNvCxnSpPr>
              <a:stCxn id="13" idx="2"/>
            </p:cNvCxnSpPr>
            <p:nvPr/>
          </p:nvCxnSpPr>
          <p:spPr>
            <a:xfrm>
              <a:off x="6539028" y="4128105"/>
              <a:ext cx="0" cy="25200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流程圖: 程序 16"/>
            <p:cNvSpPr/>
            <p:nvPr/>
          </p:nvSpPr>
          <p:spPr>
            <a:xfrm>
              <a:off x="7499222" y="2805959"/>
              <a:ext cx="1080000" cy="288000"/>
            </a:xfrm>
            <a:prstGeom prst="flowChart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000" b="1" dirty="0" smtClean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程序</a:t>
              </a:r>
              <a:endParaRPr lang="zh-TW" altLang="en-US" sz="20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22" name="肘形接點 21"/>
            <p:cNvCxnSpPr>
              <a:stCxn id="26" idx="1"/>
              <a:endCxn id="10" idx="0"/>
            </p:cNvCxnSpPr>
            <p:nvPr/>
          </p:nvCxnSpPr>
          <p:spPr>
            <a:xfrm rot="10800000" flipV="1">
              <a:off x="6539028" y="2079763"/>
              <a:ext cx="798194" cy="726196"/>
            </a:xfrm>
            <a:prstGeom prst="bentConnector2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文字方塊 23"/>
            <p:cNvSpPr txBox="1"/>
            <p:nvPr/>
          </p:nvSpPr>
          <p:spPr>
            <a:xfrm>
              <a:off x="8016704" y="2201526"/>
              <a:ext cx="3706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文字方塊 24"/>
            <p:cNvSpPr txBox="1"/>
            <p:nvPr/>
          </p:nvSpPr>
          <p:spPr>
            <a:xfrm>
              <a:off x="7010684" y="1755942"/>
              <a:ext cx="3706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流程圖: 決策 25"/>
            <p:cNvSpPr/>
            <p:nvPr/>
          </p:nvSpPr>
          <p:spPr>
            <a:xfrm>
              <a:off x="7337222" y="1917763"/>
              <a:ext cx="1404000" cy="324000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000" b="1" dirty="0" smtClean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條件</a:t>
              </a:r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30" name="文字方塊 29"/>
            <p:cNvSpPr txBox="1"/>
            <p:nvPr/>
          </p:nvSpPr>
          <p:spPr>
            <a:xfrm>
              <a:off x="8547323" y="2749904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文字方塊 30"/>
            <p:cNvSpPr txBox="1"/>
            <p:nvPr/>
          </p:nvSpPr>
          <p:spPr>
            <a:xfrm>
              <a:off x="8704536" y="1879707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3" name="直線單箭頭接點 32"/>
            <p:cNvCxnSpPr>
              <a:stCxn id="17" idx="2"/>
            </p:cNvCxnSpPr>
            <p:nvPr/>
          </p:nvCxnSpPr>
          <p:spPr>
            <a:xfrm>
              <a:off x="8039222" y="3093959"/>
              <a:ext cx="0" cy="1285539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圓角矩形 35"/>
          <p:cNvSpPr/>
          <p:nvPr/>
        </p:nvSpPr>
        <p:spPr>
          <a:xfrm>
            <a:off x="5846630" y="2586635"/>
            <a:ext cx="2981184" cy="1778469"/>
          </a:xfrm>
          <a:prstGeom prst="roundRect">
            <a:avLst/>
          </a:prstGeom>
          <a:solidFill>
            <a:srgbClr val="FFFFCC">
              <a:alpha val="30000"/>
            </a:srgbClr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8448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迴圈的頻率計數 </a:t>
            </a:r>
            <a:r>
              <a:rPr lang="en-US" altLang="zh-TW" dirty="0" smtClean="0"/>
              <a:t>(1/5)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4927599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>
                <a:latin typeface="標楷體" pitchFamily="65" charset="-120"/>
              </a:rPr>
              <a:t>先根據「迴圈計數器」的範圍算出迴圈</a:t>
            </a:r>
            <a:r>
              <a:rPr lang="zh-TW" altLang="en-US" dirty="0">
                <a:solidFill>
                  <a:srgbClr val="C00000"/>
                </a:solidFill>
                <a:latin typeface="標楷體" pitchFamily="65" charset="-120"/>
              </a:rPr>
              <a:t>重複的</a:t>
            </a:r>
            <a:r>
              <a:rPr lang="zh-TW" altLang="en-US" dirty="0" smtClean="0">
                <a:solidFill>
                  <a:srgbClr val="C00000"/>
                </a:solidFill>
                <a:latin typeface="標楷體" pitchFamily="65" charset="-120"/>
              </a:rPr>
              <a:t>次數</a:t>
            </a:r>
            <a:r>
              <a:rPr lang="zh-TW" altLang="en-US" dirty="0" smtClean="0">
                <a:latin typeface="標楷體" pitchFamily="65" charset="-120"/>
              </a:rPr>
              <a:t>，</a:t>
            </a:r>
            <a:r>
              <a:rPr lang="zh-TW" altLang="en-US" dirty="0">
                <a:latin typeface="標楷體" pitchFamily="65" charset="-120"/>
              </a:rPr>
              <a:t>再</a:t>
            </a:r>
            <a:r>
              <a:rPr lang="zh-TW" altLang="en-US" dirty="0">
                <a:solidFill>
                  <a:srgbClr val="C00000"/>
                </a:solidFill>
                <a:latin typeface="標楷體" pitchFamily="65" charset="-120"/>
              </a:rPr>
              <a:t>乘上迴圈主體的行數</a:t>
            </a:r>
            <a:r>
              <a:rPr lang="zh-TW" altLang="en-US" dirty="0" smtClean="0">
                <a:latin typeface="標楷體" pitchFamily="65" charset="-120"/>
              </a:rPr>
              <a:t>。</a:t>
            </a:r>
            <a:endParaRPr lang="en-US" altLang="zh-TW" dirty="0" smtClean="0">
              <a:latin typeface="標楷體" pitchFamily="65" charset="-120"/>
            </a:endParaRPr>
          </a:p>
          <a:p>
            <a:endParaRPr lang="en-US" altLang="zh-TW" dirty="0">
              <a:latin typeface="標楷體" pitchFamily="65" charset="-12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TW" dirty="0" smtClean="0"/>
              <a:t>for (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 = 0; 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 &lt; 10; 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++) {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dirty="0" smtClean="0"/>
              <a:t>     Q = m[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] / n[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];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dirty="0" smtClean="0"/>
              <a:t>     R = m[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] % n[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];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dirty="0" smtClean="0"/>
              <a:t>     </a:t>
            </a:r>
            <a:r>
              <a:rPr lang="en-US" altLang="zh-TW" dirty="0" err="1" smtClean="0"/>
              <a:t>printf</a:t>
            </a:r>
            <a:r>
              <a:rPr lang="en-US" altLang="zh-TW" dirty="0" smtClean="0"/>
              <a:t> (“%</a:t>
            </a:r>
            <a:r>
              <a:rPr lang="en-US" altLang="zh-TW" dirty="0"/>
              <a:t>d </a:t>
            </a:r>
            <a:r>
              <a:rPr lang="en-US" altLang="zh-TW" dirty="0">
                <a:sym typeface="Symbol"/>
              </a:rPr>
              <a:t> %d = %d … %d”, </a:t>
            </a:r>
            <a:r>
              <a:rPr lang="en-US" altLang="zh-TW" dirty="0" smtClean="0">
                <a:sym typeface="Symbol"/>
              </a:rPr>
              <a:t>m[</a:t>
            </a:r>
            <a:r>
              <a:rPr lang="en-US" altLang="zh-TW" i="1" dirty="0" err="1" smtClean="0">
                <a:sym typeface="Symbol"/>
              </a:rPr>
              <a:t>i</a:t>
            </a:r>
            <a:r>
              <a:rPr lang="en-US" altLang="zh-TW" dirty="0" smtClean="0">
                <a:sym typeface="Symbol"/>
              </a:rPr>
              <a:t>], n[</a:t>
            </a:r>
            <a:r>
              <a:rPr lang="en-US" altLang="zh-TW" i="1" dirty="0" err="1" smtClean="0">
                <a:sym typeface="Symbol"/>
              </a:rPr>
              <a:t>i</a:t>
            </a:r>
            <a:r>
              <a:rPr lang="en-US" altLang="zh-TW" dirty="0" smtClean="0">
                <a:sym typeface="Symbol"/>
              </a:rPr>
              <a:t>], </a:t>
            </a:r>
            <a:r>
              <a:rPr lang="en-US" altLang="zh-TW" dirty="0">
                <a:sym typeface="Symbol"/>
              </a:rPr>
              <a:t>Q, R</a:t>
            </a:r>
            <a:r>
              <a:rPr lang="en-US" altLang="zh-TW" dirty="0" smtClean="0">
                <a:sym typeface="Symbol"/>
              </a:rPr>
              <a:t>);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dirty="0" smtClean="0">
                <a:sym typeface="Symbol"/>
              </a:rPr>
              <a:t>}</a:t>
            </a:r>
          </a:p>
          <a:p>
            <a:endParaRPr lang="en-US" altLang="zh-TW" dirty="0">
              <a:sym typeface="Symbol"/>
            </a:endParaRPr>
          </a:p>
          <a:p>
            <a:r>
              <a:rPr lang="zh-TW" altLang="en-US" dirty="0" smtClean="0"/>
              <a:t>頻率計數：</a:t>
            </a:r>
            <a:r>
              <a:rPr lang="en-US" altLang="zh-TW" dirty="0" smtClean="0"/>
              <a:t>10 + </a:t>
            </a:r>
            <a:r>
              <a:rPr lang="en-US" altLang="zh-TW" dirty="0" smtClean="0">
                <a:solidFill>
                  <a:srgbClr val="0000FF"/>
                </a:solidFill>
              </a:rPr>
              <a:t>10 </a:t>
            </a:r>
            <a:r>
              <a:rPr lang="en-US" altLang="zh-TW" dirty="0" smtClean="0">
                <a:solidFill>
                  <a:srgbClr val="0000FF"/>
                </a:solidFill>
                <a:sym typeface="Symbol"/>
              </a:rPr>
              <a:t> 3</a:t>
            </a:r>
            <a:r>
              <a:rPr lang="en-US" altLang="zh-TW" dirty="0" smtClean="0">
                <a:sym typeface="Symbol"/>
              </a:rPr>
              <a:t> + 1 = 11 + 30 = </a:t>
            </a:r>
            <a:r>
              <a:rPr lang="en-US" altLang="zh-TW" dirty="0" smtClean="0">
                <a:solidFill>
                  <a:srgbClr val="C00000"/>
                </a:solidFill>
                <a:sym typeface="Symbol"/>
              </a:rPr>
              <a:t>41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17</a:t>
            </a:fld>
            <a:endParaRPr lang="en-US" dirty="0"/>
          </a:p>
        </p:txBody>
      </p:sp>
      <p:grpSp>
        <p:nvGrpSpPr>
          <p:cNvPr id="15" name="群組 14"/>
          <p:cNvGrpSpPr/>
          <p:nvPr/>
        </p:nvGrpSpPr>
        <p:grpSpPr>
          <a:xfrm>
            <a:off x="6986333" y="2112987"/>
            <a:ext cx="2049493" cy="2719922"/>
            <a:chOff x="6986333" y="2112987"/>
            <a:chExt cx="2049493" cy="2719922"/>
          </a:xfrm>
        </p:grpSpPr>
        <p:sp>
          <p:nvSpPr>
            <p:cNvPr id="7" name="文字方塊 6"/>
            <p:cNvSpPr txBox="1"/>
            <p:nvPr/>
          </p:nvSpPr>
          <p:spPr>
            <a:xfrm>
              <a:off x="8194196" y="3047628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文字方塊 7"/>
            <p:cNvSpPr txBox="1"/>
            <p:nvPr/>
          </p:nvSpPr>
          <p:spPr>
            <a:xfrm>
              <a:off x="8194196" y="3554068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文字方塊 8"/>
            <p:cNvSpPr txBox="1"/>
            <p:nvPr/>
          </p:nvSpPr>
          <p:spPr>
            <a:xfrm>
              <a:off x="8194196" y="4081774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流程圖: 程序 9"/>
            <p:cNvSpPr/>
            <p:nvPr/>
          </p:nvSpPr>
          <p:spPr>
            <a:xfrm>
              <a:off x="7147392" y="3103683"/>
              <a:ext cx="1080000" cy="288000"/>
            </a:xfrm>
            <a:prstGeom prst="flowChart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000" b="1" dirty="0" smtClean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程序</a:t>
              </a:r>
              <a:endParaRPr lang="zh-TW" altLang="en-US" sz="20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1" name="流程圖: 程序 10"/>
            <p:cNvSpPr/>
            <p:nvPr/>
          </p:nvSpPr>
          <p:spPr>
            <a:xfrm>
              <a:off x="7147392" y="3610123"/>
              <a:ext cx="1080000" cy="288000"/>
            </a:xfrm>
            <a:prstGeom prst="flowChart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000" b="1" dirty="0" smtClean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程序</a:t>
              </a:r>
              <a:endParaRPr lang="zh-TW" altLang="en-US" sz="20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12" name="直線單箭頭接點 11"/>
            <p:cNvCxnSpPr>
              <a:stCxn id="10" idx="2"/>
              <a:endCxn id="11" idx="0"/>
            </p:cNvCxnSpPr>
            <p:nvPr/>
          </p:nvCxnSpPr>
          <p:spPr>
            <a:xfrm>
              <a:off x="7687392" y="3391683"/>
              <a:ext cx="0" cy="21844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流程圖: 程序 12"/>
            <p:cNvSpPr/>
            <p:nvPr/>
          </p:nvSpPr>
          <p:spPr>
            <a:xfrm>
              <a:off x="7147392" y="4137829"/>
              <a:ext cx="1080000" cy="288000"/>
            </a:xfrm>
            <a:prstGeom prst="flowChart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000" b="1" dirty="0" smtClean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程序</a:t>
              </a:r>
              <a:endParaRPr lang="zh-TW" altLang="en-US" sz="20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14" name="直線單箭頭接點 13"/>
            <p:cNvCxnSpPr>
              <a:stCxn id="11" idx="2"/>
              <a:endCxn id="13" idx="0"/>
            </p:cNvCxnSpPr>
            <p:nvPr/>
          </p:nvCxnSpPr>
          <p:spPr>
            <a:xfrm>
              <a:off x="7687392" y="3898123"/>
              <a:ext cx="0" cy="239706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字方塊 15"/>
            <p:cNvSpPr txBox="1"/>
            <p:nvPr/>
          </p:nvSpPr>
          <p:spPr>
            <a:xfrm>
              <a:off x="7662521" y="2615776"/>
              <a:ext cx="3706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8291190" y="2112987"/>
              <a:ext cx="3706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流程圖: 決策 17"/>
            <p:cNvSpPr/>
            <p:nvPr/>
          </p:nvSpPr>
          <p:spPr>
            <a:xfrm>
              <a:off x="6986333" y="2291776"/>
              <a:ext cx="1404000" cy="324000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000" b="1" dirty="0" smtClean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條件</a:t>
              </a:r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19" name="直線單箭頭接點 18"/>
            <p:cNvCxnSpPr>
              <a:stCxn id="18" idx="2"/>
              <a:endCxn id="10" idx="0"/>
            </p:cNvCxnSpPr>
            <p:nvPr/>
          </p:nvCxnSpPr>
          <p:spPr>
            <a:xfrm flipH="1">
              <a:off x="7687392" y="2615776"/>
              <a:ext cx="941" cy="487907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肘形接點 22"/>
            <p:cNvCxnSpPr>
              <a:stCxn id="13" idx="1"/>
              <a:endCxn id="18" idx="1"/>
            </p:cNvCxnSpPr>
            <p:nvPr/>
          </p:nvCxnSpPr>
          <p:spPr>
            <a:xfrm rot="10800000">
              <a:off x="6986334" y="2453777"/>
              <a:ext cx="161059" cy="1828053"/>
            </a:xfrm>
            <a:prstGeom prst="bentConnector3">
              <a:avLst>
                <a:gd name="adj1" fmla="val 241936"/>
              </a:avLst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肘形接點 24"/>
            <p:cNvCxnSpPr>
              <a:stCxn id="18" idx="3"/>
            </p:cNvCxnSpPr>
            <p:nvPr/>
          </p:nvCxnSpPr>
          <p:spPr>
            <a:xfrm flipH="1">
              <a:off x="7688333" y="2453776"/>
              <a:ext cx="702000" cy="2379133"/>
            </a:xfrm>
            <a:prstGeom prst="bentConnector4">
              <a:avLst>
                <a:gd name="adj1" fmla="val -32564"/>
                <a:gd name="adj2" fmla="val 89158"/>
              </a:avLst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文字方塊 28"/>
            <p:cNvSpPr txBox="1"/>
            <p:nvPr/>
          </p:nvSpPr>
          <p:spPr>
            <a:xfrm>
              <a:off x="8517735" y="2113636"/>
              <a:ext cx="51809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/>
                </a:rPr>
                <a:t> 1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文字方塊 29"/>
            <p:cNvSpPr txBox="1"/>
            <p:nvPr/>
          </p:nvSpPr>
          <p:spPr>
            <a:xfrm>
              <a:off x="7906030" y="2615776"/>
              <a:ext cx="64633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/>
                </a:rPr>
                <a:t> 10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1" name="直線圖說文字 3 (加上強調線) 20"/>
          <p:cNvSpPr/>
          <p:nvPr/>
        </p:nvSpPr>
        <p:spPr>
          <a:xfrm>
            <a:off x="1189112" y="5373216"/>
            <a:ext cx="1584176" cy="648072"/>
          </a:xfrm>
          <a:prstGeom prst="accentCallout3">
            <a:avLst>
              <a:gd name="adj1" fmla="val 19704"/>
              <a:gd name="adj2" fmla="val -3653"/>
              <a:gd name="adj3" fmla="val 18750"/>
              <a:gd name="adj4" fmla="val -16667"/>
              <a:gd name="adj5" fmla="val -28702"/>
              <a:gd name="adj6" fmla="val -16667"/>
              <a:gd name="adj7" fmla="val -59593"/>
              <a:gd name="adj8" fmla="val 75518"/>
            </a:avLst>
          </a:prstGeom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條件</a:t>
            </a:r>
            <a:r>
              <a:rPr lang="zh-TW" altLang="en-US" sz="2000" b="1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成立</a:t>
            </a:r>
            <a:r>
              <a:rPr lang="zh-TW" altLang="en-US" sz="2000" b="1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時的執行次數</a:t>
            </a:r>
            <a:endParaRPr lang="zh-TW" altLang="en-US" sz="2000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pSp>
        <p:nvGrpSpPr>
          <p:cNvPr id="26" name="群組 25"/>
          <p:cNvGrpSpPr/>
          <p:nvPr/>
        </p:nvGrpSpPr>
        <p:grpSpPr>
          <a:xfrm>
            <a:off x="1878942" y="4916456"/>
            <a:ext cx="1588226" cy="6178"/>
            <a:chOff x="1878942" y="4916456"/>
            <a:chExt cx="1588226" cy="6178"/>
          </a:xfrm>
        </p:grpSpPr>
        <p:cxnSp>
          <p:nvCxnSpPr>
            <p:cNvPr id="24" name="直線接點 23"/>
            <p:cNvCxnSpPr/>
            <p:nvPr/>
          </p:nvCxnSpPr>
          <p:spPr>
            <a:xfrm>
              <a:off x="1878942" y="4916456"/>
              <a:ext cx="1188000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/>
            <p:cNvCxnSpPr/>
            <p:nvPr/>
          </p:nvCxnSpPr>
          <p:spPr>
            <a:xfrm>
              <a:off x="3287168" y="4922634"/>
              <a:ext cx="180000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直線圖說文字 3 (加上強調線) 30"/>
          <p:cNvSpPr/>
          <p:nvPr/>
        </p:nvSpPr>
        <p:spPr>
          <a:xfrm>
            <a:off x="3200400" y="5373216"/>
            <a:ext cx="1803648" cy="648072"/>
          </a:xfrm>
          <a:prstGeom prst="accentCallout3">
            <a:avLst>
              <a:gd name="adj1" fmla="val 19704"/>
              <a:gd name="adj2" fmla="val -3653"/>
              <a:gd name="adj3" fmla="val 18750"/>
              <a:gd name="adj4" fmla="val -16667"/>
              <a:gd name="adj5" fmla="val -28702"/>
              <a:gd name="adj6" fmla="val -16667"/>
              <a:gd name="adj7" fmla="val -61500"/>
              <a:gd name="adj8" fmla="val 13117"/>
            </a:avLst>
          </a:prstGeom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條件</a:t>
            </a:r>
            <a:r>
              <a:rPr lang="zh-TW" altLang="en-US" sz="2000" b="1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不成立</a:t>
            </a:r>
            <a:r>
              <a:rPr lang="zh-TW" altLang="en-US" sz="2000" b="1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時的執行次數</a:t>
            </a:r>
            <a:endParaRPr lang="zh-TW" altLang="en-US" sz="2000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47489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3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迴圈的頻率計數 </a:t>
            </a:r>
            <a:r>
              <a:rPr lang="en-US" altLang="zh-TW" dirty="0" smtClean="0"/>
              <a:t>(2/5)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sz="quarter" idx="4294967295"/>
              </p:nvPr>
            </p:nvSpPr>
            <p:spPr>
              <a:xfrm>
                <a:off x="170980" y="1319014"/>
                <a:ext cx="8826061" cy="4927599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rPr lang="zh-TW" altLang="en-US" dirty="0" smtClean="0">
                    <a:solidFill>
                      <a:srgbClr val="C00000"/>
                    </a:solidFill>
                  </a:rPr>
                  <a:t>單層迴圈</a:t>
                </a:r>
                <a:endParaRPr lang="en-US" altLang="zh-TW" dirty="0" smtClean="0">
                  <a:solidFill>
                    <a:srgbClr val="C00000"/>
                  </a:solidFill>
                </a:endParaRPr>
              </a:p>
              <a:p>
                <a:endParaRPr lang="en-US" altLang="zh-TW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dirty="0" smtClean="0"/>
                  <a:t>for (</a:t>
                </a:r>
                <a:r>
                  <a:rPr lang="en-US" altLang="zh-TW" i="1" dirty="0" err="1" smtClean="0"/>
                  <a:t>i</a:t>
                </a:r>
                <a:r>
                  <a:rPr lang="en-US" altLang="zh-TW" dirty="0" smtClean="0"/>
                  <a:t> = 1; </a:t>
                </a:r>
                <a:r>
                  <a:rPr lang="en-US" altLang="zh-TW" i="1" dirty="0" err="1" smtClean="0"/>
                  <a:t>i</a:t>
                </a:r>
                <a:r>
                  <a:rPr lang="en-US" altLang="zh-TW" dirty="0" smtClean="0"/>
                  <a:t> &lt;= </a:t>
                </a:r>
                <a:r>
                  <a:rPr lang="en-US" altLang="zh-TW" i="1" dirty="0" smtClean="0"/>
                  <a:t>n</a:t>
                </a:r>
                <a:r>
                  <a:rPr lang="en-US" altLang="zh-TW" dirty="0" smtClean="0"/>
                  <a:t>; </a:t>
                </a:r>
                <a:r>
                  <a:rPr lang="en-US" altLang="zh-TW" i="1" dirty="0" err="1" smtClean="0"/>
                  <a:t>i</a:t>
                </a:r>
                <a:r>
                  <a:rPr lang="en-US" altLang="zh-TW" dirty="0" smtClean="0"/>
                  <a:t>++)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dirty="0" smtClean="0"/>
                  <a:t>     result = result + 1;</a:t>
                </a:r>
              </a:p>
              <a:p>
                <a:endParaRPr lang="en-US" altLang="zh-TW" dirty="0"/>
              </a:p>
              <a:p>
                <a:r>
                  <a:rPr lang="zh-TW" altLang="en-US" dirty="0"/>
                  <a:t>迴圈計數器</a:t>
                </a:r>
                <a:r>
                  <a:rPr lang="zh-TW" altLang="en-US" dirty="0" smtClean="0"/>
                  <a:t>：</a:t>
                </a:r>
                <a:r>
                  <a:rPr lang="en-US" altLang="zh-TW" dirty="0" smtClean="0"/>
                  <a:t>1 ~ </a:t>
                </a:r>
                <a:r>
                  <a:rPr lang="en-US" altLang="zh-TW" i="1" dirty="0" smtClean="0"/>
                  <a:t>n</a:t>
                </a:r>
              </a:p>
              <a:p>
                <a:r>
                  <a:rPr lang="zh-TW" altLang="en-US" dirty="0" smtClean="0"/>
                  <a:t>迴圈主體：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zh-TW" alt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b="1" i="1" smtClean="0">
                            <a:latin typeface="Cambria Math"/>
                          </a:rPr>
                          <m:t>𝒊</m:t>
                        </m:r>
                        <m:r>
                          <a:rPr lang="en-US" altLang="zh-TW" b="1" i="1" smtClean="0">
                            <a:latin typeface="Cambria Math"/>
                          </a:rPr>
                          <m:t>=</m:t>
                        </m:r>
                        <m:r>
                          <a:rPr lang="en-US" altLang="zh-TW" b="1" i="1" smtClean="0">
                            <a:latin typeface="Cambria Math"/>
                          </a:rPr>
                          <m:t>𝟏</m:t>
                        </m:r>
                      </m:sub>
                      <m:sup>
                        <m:r>
                          <a:rPr lang="en-US" altLang="zh-TW" b="1" i="1" smtClean="0">
                            <a:latin typeface="Cambria Math"/>
                          </a:rPr>
                          <m:t>𝒏</m:t>
                        </m:r>
                      </m:sup>
                      <m:e>
                        <m:r>
                          <a:rPr lang="en-US" altLang="zh-TW" b="1" i="1" smtClean="0">
                            <a:latin typeface="Cambria Math"/>
                          </a:rPr>
                          <m:t>𝟏</m:t>
                        </m:r>
                      </m:e>
                    </m:nary>
                    <m:r>
                      <a:rPr lang="en-US" altLang="zh-TW" b="1" i="1" smtClean="0">
                        <a:latin typeface="Cambria Math"/>
                      </a:rPr>
                      <m:t>=</m:t>
                    </m:r>
                    <m:r>
                      <a:rPr lang="en-US" altLang="zh-TW" b="1" i="1" smtClean="0">
                        <a:latin typeface="Cambria Math"/>
                      </a:rPr>
                      <m:t>𝒏</m:t>
                    </m:r>
                  </m:oMath>
                </a14:m>
                <a:endParaRPr lang="en-US" altLang="zh-TW" dirty="0" smtClean="0"/>
              </a:p>
              <a:p>
                <a:r>
                  <a:rPr lang="zh-TW" altLang="en-US" dirty="0"/>
                  <a:t>頻率</a:t>
                </a:r>
                <a:r>
                  <a:rPr lang="zh-TW" altLang="en-US" dirty="0" smtClean="0"/>
                  <a:t>計數：</a:t>
                </a:r>
                <a:r>
                  <a:rPr lang="en-US" altLang="zh-TW" dirty="0" smtClean="0"/>
                  <a:t>(</a:t>
                </a:r>
                <a:r>
                  <a:rPr lang="en-US" altLang="zh-TW" i="1" dirty="0" smtClean="0"/>
                  <a:t>n</a:t>
                </a:r>
                <a:r>
                  <a:rPr lang="en-US" altLang="zh-TW" dirty="0" smtClean="0"/>
                  <a:t> + 1) + </a:t>
                </a:r>
                <a:r>
                  <a:rPr lang="en-US" altLang="zh-TW" i="1" dirty="0" smtClean="0"/>
                  <a:t>n</a:t>
                </a:r>
                <a:r>
                  <a:rPr lang="en-US" altLang="zh-TW" dirty="0" smtClean="0"/>
                  <a:t> = 2</a:t>
                </a:r>
                <a:r>
                  <a:rPr lang="en-US" altLang="zh-TW" i="1" dirty="0" smtClean="0"/>
                  <a:t>n</a:t>
                </a:r>
                <a:r>
                  <a:rPr lang="en-US" altLang="zh-TW" dirty="0" smtClean="0"/>
                  <a:t> + 1</a:t>
                </a:r>
              </a:p>
              <a:p>
                <a:pPr marL="0" indent="0">
                  <a:buNone/>
                </a:pPr>
                <a:r>
                  <a:rPr lang="zh-TW" altLang="en-US" dirty="0"/>
                  <a:t> </a:t>
                </a:r>
                <a:r>
                  <a:rPr lang="zh-TW" altLang="en-US" dirty="0" smtClean="0"/>
                  <a:t>                        </a:t>
                </a:r>
                <a:r>
                  <a:rPr lang="en-US" altLang="zh-TW" i="1" dirty="0" smtClean="0"/>
                  <a:t>n</a:t>
                </a:r>
                <a:r>
                  <a:rPr lang="en-US" altLang="zh-TW" dirty="0" smtClean="0"/>
                  <a:t> + </a:t>
                </a:r>
                <a:r>
                  <a:rPr lang="en-US" altLang="zh-TW" i="1" dirty="0" smtClean="0"/>
                  <a:t>n</a:t>
                </a:r>
                <a:r>
                  <a:rPr lang="en-US" altLang="zh-TW" dirty="0" smtClean="0"/>
                  <a:t> </a:t>
                </a:r>
                <a:r>
                  <a:rPr lang="en-US" altLang="zh-TW" dirty="0" smtClean="0">
                    <a:sym typeface="Symbol" panose="05050102010706020507" pitchFamily="18" charset="2"/>
                  </a:rPr>
                  <a:t> 1 + 1 = 2</a:t>
                </a:r>
                <a:r>
                  <a:rPr lang="en-US" altLang="zh-TW" i="1" dirty="0" smtClean="0">
                    <a:sym typeface="Symbol" panose="05050102010706020507" pitchFamily="18" charset="2"/>
                  </a:rPr>
                  <a:t>n</a:t>
                </a:r>
                <a:r>
                  <a:rPr lang="en-US" altLang="zh-TW" dirty="0" smtClean="0">
                    <a:sym typeface="Symbol" panose="05050102010706020507" pitchFamily="18" charset="2"/>
                  </a:rPr>
                  <a:t> + 1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294967295"/>
              </p:nvPr>
            </p:nvSpPr>
            <p:spPr>
              <a:xfrm>
                <a:off x="170980" y="1319014"/>
                <a:ext cx="8826061" cy="4927599"/>
              </a:xfrm>
              <a:prstGeom prst="rect">
                <a:avLst/>
              </a:prstGeom>
              <a:blipFill rotWithShape="0">
                <a:blip r:embed="rId2"/>
                <a:stretch>
                  <a:fillRect l="-552" t="-6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18</a:t>
            </a:fld>
            <a:endParaRPr lang="en-US" dirty="0"/>
          </a:p>
        </p:txBody>
      </p:sp>
      <p:grpSp>
        <p:nvGrpSpPr>
          <p:cNvPr id="7" name="群組 6"/>
          <p:cNvGrpSpPr/>
          <p:nvPr/>
        </p:nvGrpSpPr>
        <p:grpSpPr>
          <a:xfrm>
            <a:off x="6986333" y="2056605"/>
            <a:ext cx="2049493" cy="2104789"/>
            <a:chOff x="6986333" y="2056605"/>
            <a:chExt cx="2049493" cy="2104789"/>
          </a:xfrm>
        </p:grpSpPr>
        <p:sp>
          <p:nvSpPr>
            <p:cNvPr id="8" name="文字方塊 7"/>
            <p:cNvSpPr txBox="1"/>
            <p:nvPr/>
          </p:nvSpPr>
          <p:spPr>
            <a:xfrm>
              <a:off x="8194196" y="3146797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流程圖: 程序 10"/>
            <p:cNvSpPr/>
            <p:nvPr/>
          </p:nvSpPr>
          <p:spPr>
            <a:xfrm>
              <a:off x="7147392" y="3202852"/>
              <a:ext cx="1080000" cy="288000"/>
            </a:xfrm>
            <a:prstGeom prst="flowChart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000" b="1" dirty="0" smtClean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程序</a:t>
              </a:r>
              <a:endParaRPr lang="zh-TW" altLang="en-US" sz="20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14" name="直線單箭頭接點 13"/>
            <p:cNvCxnSpPr>
              <a:stCxn id="11" idx="2"/>
            </p:cNvCxnSpPr>
            <p:nvPr/>
          </p:nvCxnSpPr>
          <p:spPr>
            <a:xfrm>
              <a:off x="7687392" y="3490852"/>
              <a:ext cx="0" cy="239706"/>
            </a:xfrm>
            <a:prstGeom prst="straightConnector1">
              <a:avLst/>
            </a:prstGeom>
            <a:ln w="28575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字方塊 14"/>
            <p:cNvSpPr txBox="1"/>
            <p:nvPr/>
          </p:nvSpPr>
          <p:spPr>
            <a:xfrm>
              <a:off x="7662521" y="2633825"/>
              <a:ext cx="3706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文字方塊 15"/>
            <p:cNvSpPr txBox="1"/>
            <p:nvPr/>
          </p:nvSpPr>
          <p:spPr>
            <a:xfrm>
              <a:off x="8291190" y="2056605"/>
              <a:ext cx="3706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流程圖: 決策 16"/>
            <p:cNvSpPr/>
            <p:nvPr/>
          </p:nvSpPr>
          <p:spPr>
            <a:xfrm>
              <a:off x="6986333" y="2235394"/>
              <a:ext cx="1404000" cy="324000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000" b="1" dirty="0" smtClean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條件</a:t>
              </a:r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18" name="直線單箭頭接點 17"/>
            <p:cNvCxnSpPr>
              <a:stCxn id="17" idx="2"/>
              <a:endCxn id="11" idx="0"/>
            </p:cNvCxnSpPr>
            <p:nvPr/>
          </p:nvCxnSpPr>
          <p:spPr>
            <a:xfrm flipH="1">
              <a:off x="7687392" y="2559394"/>
              <a:ext cx="941" cy="643458"/>
            </a:xfrm>
            <a:prstGeom prst="straightConnector1">
              <a:avLst/>
            </a:prstGeom>
            <a:ln w="28575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肘形接點 18"/>
            <p:cNvCxnSpPr>
              <a:stCxn id="11" idx="1"/>
              <a:endCxn id="17" idx="1"/>
            </p:cNvCxnSpPr>
            <p:nvPr/>
          </p:nvCxnSpPr>
          <p:spPr>
            <a:xfrm rot="10800000">
              <a:off x="6986334" y="2397394"/>
              <a:ext cx="161059" cy="949458"/>
            </a:xfrm>
            <a:prstGeom prst="bentConnector3">
              <a:avLst>
                <a:gd name="adj1" fmla="val 241936"/>
              </a:avLst>
            </a:prstGeom>
            <a:ln w="28575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肘形接點 19"/>
            <p:cNvCxnSpPr>
              <a:stCxn id="17" idx="3"/>
            </p:cNvCxnSpPr>
            <p:nvPr/>
          </p:nvCxnSpPr>
          <p:spPr>
            <a:xfrm flipH="1">
              <a:off x="7688333" y="2397394"/>
              <a:ext cx="702000" cy="1764000"/>
            </a:xfrm>
            <a:prstGeom prst="bentConnector4">
              <a:avLst>
                <a:gd name="adj1" fmla="val -32564"/>
                <a:gd name="adj2" fmla="val 80291"/>
              </a:avLst>
            </a:prstGeom>
            <a:ln w="28575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字方塊 20"/>
            <p:cNvSpPr txBox="1"/>
            <p:nvPr/>
          </p:nvSpPr>
          <p:spPr>
            <a:xfrm>
              <a:off x="8517735" y="2057254"/>
              <a:ext cx="51809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/>
                </a:rPr>
                <a:t> 1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文字方塊 21"/>
            <p:cNvSpPr txBox="1"/>
            <p:nvPr/>
          </p:nvSpPr>
          <p:spPr>
            <a:xfrm>
              <a:off x="7906030" y="2633825"/>
              <a:ext cx="5325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/>
                </a:rPr>
                <a:t> </a:t>
              </a:r>
              <a:r>
                <a:rPr lang="en-US" altLang="zh-TW" sz="2000" b="1" i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/>
                </a:rPr>
                <a:t>n</a:t>
              </a:r>
              <a:endParaRPr lang="zh-TW" altLang="en-US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3" name="直線圖說文字 3 (加上強調線) 22"/>
          <p:cNvSpPr/>
          <p:nvPr/>
        </p:nvSpPr>
        <p:spPr>
          <a:xfrm>
            <a:off x="827584" y="5050244"/>
            <a:ext cx="1584176" cy="648072"/>
          </a:xfrm>
          <a:prstGeom prst="accentCallout3">
            <a:avLst>
              <a:gd name="adj1" fmla="val 19704"/>
              <a:gd name="adj2" fmla="val -3653"/>
              <a:gd name="adj3" fmla="val 18750"/>
              <a:gd name="adj4" fmla="val -16667"/>
              <a:gd name="adj5" fmla="val -28702"/>
              <a:gd name="adj6" fmla="val -16667"/>
              <a:gd name="adj7" fmla="val -60546"/>
              <a:gd name="adj8" fmla="val 84488"/>
            </a:avLst>
          </a:prstGeom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條件</a:t>
            </a:r>
            <a:r>
              <a:rPr lang="zh-TW" altLang="en-US" sz="2000" b="1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成立</a:t>
            </a:r>
            <a:r>
              <a:rPr lang="zh-TW" altLang="en-US" sz="2000" b="1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時的執行次數</a:t>
            </a:r>
            <a:endParaRPr lang="zh-TW" altLang="en-US" sz="2000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pSp>
        <p:nvGrpSpPr>
          <p:cNvPr id="24" name="群組 23"/>
          <p:cNvGrpSpPr/>
          <p:nvPr/>
        </p:nvGrpSpPr>
        <p:grpSpPr>
          <a:xfrm>
            <a:off x="1805446" y="4593484"/>
            <a:ext cx="1409674" cy="6178"/>
            <a:chOff x="1878942" y="4916456"/>
            <a:chExt cx="1409674" cy="6178"/>
          </a:xfrm>
        </p:grpSpPr>
        <p:cxnSp>
          <p:nvCxnSpPr>
            <p:cNvPr id="25" name="直線接點 24"/>
            <p:cNvCxnSpPr/>
            <p:nvPr/>
          </p:nvCxnSpPr>
          <p:spPr>
            <a:xfrm>
              <a:off x="1878942" y="4916456"/>
              <a:ext cx="1044000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接點 25"/>
            <p:cNvCxnSpPr/>
            <p:nvPr/>
          </p:nvCxnSpPr>
          <p:spPr>
            <a:xfrm>
              <a:off x="3108616" y="4922634"/>
              <a:ext cx="180000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直線圖說文字 3 (加上強調線) 26"/>
          <p:cNvSpPr/>
          <p:nvPr/>
        </p:nvSpPr>
        <p:spPr>
          <a:xfrm>
            <a:off x="2915816" y="5050244"/>
            <a:ext cx="1803648" cy="648072"/>
          </a:xfrm>
          <a:prstGeom prst="accentCallout3">
            <a:avLst>
              <a:gd name="adj1" fmla="val 19704"/>
              <a:gd name="adj2" fmla="val -3653"/>
              <a:gd name="adj3" fmla="val 18750"/>
              <a:gd name="adj4" fmla="val -16667"/>
              <a:gd name="adj5" fmla="val -28702"/>
              <a:gd name="adj6" fmla="val -16667"/>
              <a:gd name="adj7" fmla="val -61500"/>
              <a:gd name="adj8" fmla="val 13117"/>
            </a:avLst>
          </a:prstGeom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條件</a:t>
            </a:r>
            <a:r>
              <a:rPr lang="zh-TW" altLang="en-US" sz="2000" b="1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不成立</a:t>
            </a:r>
            <a:r>
              <a:rPr lang="zh-TW" altLang="en-US" sz="2000" b="1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時的執行次數</a:t>
            </a:r>
            <a:endParaRPr lang="zh-TW" altLang="en-US" sz="2000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25611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迴圈的頻率</a:t>
            </a:r>
            <a:r>
              <a:rPr lang="zh-TW" altLang="en-US" dirty="0" smtClean="0"/>
              <a:t>計數 </a:t>
            </a:r>
            <a:r>
              <a:rPr lang="en-US" altLang="zh-TW" dirty="0" smtClean="0"/>
              <a:t>(3/5)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sz="quarter" idx="4294967295"/>
              </p:nvPr>
            </p:nvSpPr>
            <p:spPr>
              <a:xfrm>
                <a:off x="170980" y="1319014"/>
                <a:ext cx="8826061" cy="4927599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r>
                  <a:rPr lang="zh-TW" altLang="en-US" dirty="0" smtClean="0">
                    <a:solidFill>
                      <a:srgbClr val="C00000"/>
                    </a:solidFill>
                  </a:rPr>
                  <a:t>雙層迴圈、內圈</a:t>
                </a:r>
                <a:r>
                  <a:rPr lang="zh-TW" altLang="en-US" u="sng" dirty="0" smtClean="0">
                    <a:solidFill>
                      <a:srgbClr val="C00000"/>
                    </a:solidFill>
                  </a:rPr>
                  <a:t>固定</a:t>
                </a:r>
                <a:r>
                  <a:rPr lang="zh-TW" altLang="en-US" dirty="0" smtClean="0">
                    <a:solidFill>
                      <a:srgbClr val="C00000"/>
                    </a:solidFill>
                  </a:rPr>
                  <a:t>次數</a:t>
                </a:r>
                <a:endParaRPr lang="en-US" altLang="zh-TW" dirty="0" smtClean="0">
                  <a:solidFill>
                    <a:srgbClr val="C00000"/>
                  </a:solidFill>
                </a:endParaRPr>
              </a:p>
              <a:p>
                <a:endParaRPr lang="en-US" altLang="zh-TW" dirty="0"/>
              </a:p>
              <a:p>
                <a:pPr marL="457200" indent="-45720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US" altLang="zh-TW" dirty="0" smtClean="0"/>
                  <a:t>for (</a:t>
                </a:r>
                <a:r>
                  <a:rPr lang="en-US" altLang="zh-TW" i="1" dirty="0" err="1" smtClean="0"/>
                  <a:t>i</a:t>
                </a:r>
                <a:r>
                  <a:rPr lang="en-US" altLang="zh-TW" dirty="0" smtClean="0"/>
                  <a:t> = 1; </a:t>
                </a:r>
                <a:r>
                  <a:rPr lang="en-US" altLang="zh-TW" i="1" dirty="0" err="1" smtClean="0"/>
                  <a:t>i</a:t>
                </a:r>
                <a:r>
                  <a:rPr lang="en-US" altLang="zh-TW" dirty="0" smtClean="0"/>
                  <a:t> &lt;= </a:t>
                </a:r>
                <a:r>
                  <a:rPr lang="en-US" altLang="zh-TW" i="1" dirty="0" smtClean="0"/>
                  <a:t>n</a:t>
                </a:r>
                <a:r>
                  <a:rPr lang="en-US" altLang="zh-TW" dirty="0" smtClean="0"/>
                  <a:t>; </a:t>
                </a:r>
                <a:r>
                  <a:rPr lang="en-US" altLang="zh-TW" i="1" dirty="0" err="1" smtClean="0"/>
                  <a:t>i</a:t>
                </a:r>
                <a:r>
                  <a:rPr lang="en-US" altLang="zh-TW" dirty="0" smtClean="0"/>
                  <a:t>++)</a:t>
                </a:r>
              </a:p>
              <a:p>
                <a:pPr marL="457200" indent="-45720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US" altLang="zh-TW" dirty="0" smtClean="0"/>
                  <a:t>     for (</a:t>
                </a:r>
                <a:r>
                  <a:rPr lang="en-US" altLang="zh-TW" i="1" dirty="0" smtClean="0"/>
                  <a:t>j</a:t>
                </a:r>
                <a:r>
                  <a:rPr lang="en-US" altLang="zh-TW" dirty="0" smtClean="0"/>
                  <a:t> = 1; </a:t>
                </a:r>
                <a:r>
                  <a:rPr lang="en-US" altLang="zh-TW" i="1" dirty="0" smtClean="0"/>
                  <a:t>j</a:t>
                </a:r>
                <a:r>
                  <a:rPr lang="en-US" altLang="zh-TW" dirty="0" smtClean="0"/>
                  <a:t> &lt; </a:t>
                </a:r>
                <a:r>
                  <a:rPr lang="en-US" altLang="zh-TW" i="1" dirty="0" smtClean="0"/>
                  <a:t>n</a:t>
                </a:r>
                <a:r>
                  <a:rPr lang="en-US" altLang="zh-TW" dirty="0" smtClean="0"/>
                  <a:t>; </a:t>
                </a:r>
                <a:r>
                  <a:rPr lang="en-US" altLang="zh-TW" i="1" dirty="0" err="1" smtClean="0"/>
                  <a:t>j</a:t>
                </a:r>
                <a:r>
                  <a:rPr lang="en-US" altLang="zh-TW" dirty="0" err="1" smtClean="0"/>
                  <a:t>++</a:t>
                </a:r>
                <a:r>
                  <a:rPr lang="en-US" altLang="zh-TW" dirty="0" smtClean="0"/>
                  <a:t>)</a:t>
                </a:r>
              </a:p>
              <a:p>
                <a:pPr marL="457200" indent="-45720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US" altLang="zh-TW" dirty="0" smtClean="0"/>
                  <a:t>          result = result + 1;</a:t>
                </a:r>
              </a:p>
              <a:p>
                <a:endParaRPr lang="en-US" altLang="zh-TW" dirty="0"/>
              </a:p>
              <a:p>
                <a:r>
                  <a:rPr lang="zh-TW" altLang="en-US" dirty="0" smtClean="0"/>
                  <a:t>外圈計數器：</a:t>
                </a:r>
                <a:r>
                  <a:rPr lang="en-US" altLang="zh-TW" dirty="0" smtClean="0"/>
                  <a:t>1 ~ </a:t>
                </a:r>
                <a:r>
                  <a:rPr lang="en-US" altLang="zh-TW" i="1" dirty="0" smtClean="0"/>
                  <a:t>n</a:t>
                </a:r>
              </a:p>
              <a:p>
                <a:r>
                  <a:rPr lang="zh-TW" altLang="en-US" dirty="0"/>
                  <a:t>內圈計數器</a:t>
                </a:r>
                <a:r>
                  <a:rPr lang="zh-TW" altLang="en-US" dirty="0" smtClean="0"/>
                  <a:t>：</a:t>
                </a:r>
                <a:r>
                  <a:rPr lang="en-US" altLang="zh-TW" dirty="0" smtClean="0"/>
                  <a:t>1 ~ </a:t>
                </a:r>
                <a:r>
                  <a:rPr lang="en-US" altLang="zh-TW" i="1" dirty="0" smtClean="0"/>
                  <a:t>n</a:t>
                </a:r>
                <a:r>
                  <a:rPr lang="en-US" altLang="zh-TW" dirty="0" smtClean="0"/>
                  <a:t> – 1</a:t>
                </a:r>
              </a:p>
              <a:p>
                <a:r>
                  <a:rPr lang="zh-TW" altLang="en-US" dirty="0"/>
                  <a:t>迴圈主體</a:t>
                </a:r>
                <a:r>
                  <a:rPr lang="zh-TW" altLang="en-US" dirty="0" smtClean="0"/>
                  <a:t>：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zh-TW" alt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b="1" i="1" smtClean="0">
                            <a:latin typeface="Cambria Math"/>
                          </a:rPr>
                          <m:t>𝒊</m:t>
                        </m:r>
                        <m:r>
                          <a:rPr lang="en-US" altLang="zh-TW" b="1" i="1" smtClean="0">
                            <a:latin typeface="Cambria Math"/>
                          </a:rPr>
                          <m:t>=</m:t>
                        </m:r>
                        <m:r>
                          <a:rPr lang="en-US" altLang="zh-TW" b="1" i="1" smtClean="0">
                            <a:latin typeface="Cambria Math"/>
                          </a:rPr>
                          <m:t>𝟏</m:t>
                        </m:r>
                      </m:sub>
                      <m:sup>
                        <m:r>
                          <a:rPr lang="en-US" altLang="zh-TW" b="1" i="1" smtClean="0">
                            <a:latin typeface="Cambria Math"/>
                          </a:rPr>
                          <m:t>𝒏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TW" b="1" i="1" smtClean="0">
                                <a:latin typeface="Cambria Math"/>
                              </a:rPr>
                              <m:t>𝒋</m:t>
                            </m:r>
                          </m:sub>
                          <m:sup>
                            <m:r>
                              <a:rPr lang="en-US" altLang="zh-TW" b="1" i="1" smtClean="0">
                                <a:latin typeface="Cambria Math"/>
                              </a:rPr>
                              <m:t>𝒏</m:t>
                            </m:r>
                            <m:r>
                              <a:rPr lang="en-US" altLang="zh-TW" b="1" i="1" smtClean="0">
                                <a:latin typeface="Cambria Math"/>
                              </a:rPr>
                              <m:t>−</m:t>
                            </m:r>
                            <m:r>
                              <a:rPr lang="en-US" altLang="zh-TW" b="1" i="1" smtClean="0">
                                <a:latin typeface="Cambria Math"/>
                              </a:rPr>
                              <m:t>𝟏</m:t>
                            </m:r>
                          </m:sup>
                          <m:e>
                            <m:r>
                              <a:rPr lang="en-US" altLang="zh-TW" b="1" i="1" smtClean="0">
                                <a:latin typeface="Cambria Math"/>
                              </a:rPr>
                              <m:t>𝟏</m:t>
                            </m:r>
                          </m:e>
                        </m:nary>
                        <m:r>
                          <a:rPr lang="en-US" altLang="zh-TW" b="1" i="1" smtClean="0">
                            <a:latin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TW" b="1" i="1" smtClean="0">
                                <a:latin typeface="Cambria Math"/>
                              </a:rPr>
                              <m:t>𝒊</m:t>
                            </m:r>
                            <m:r>
                              <a:rPr lang="en-US" altLang="zh-TW" b="1" i="1" smtClean="0">
                                <a:latin typeface="Cambria Math"/>
                              </a:rPr>
                              <m:t>=</m:t>
                            </m:r>
                            <m:r>
                              <a:rPr lang="en-US" altLang="zh-TW" b="1" i="1" smtClean="0">
                                <a:latin typeface="Cambria Math"/>
                              </a:rPr>
                              <m:t>𝟏</m:t>
                            </m:r>
                          </m:sub>
                          <m:sup>
                            <m:r>
                              <a:rPr lang="en-US" altLang="zh-TW" b="1" i="1" smtClean="0">
                                <a:latin typeface="Cambria Math"/>
                              </a:rPr>
                              <m:t>𝒏</m:t>
                            </m:r>
                          </m:sup>
                          <m:e>
                            <m:r>
                              <a:rPr lang="en-US" altLang="zh-TW" b="1" i="1" smtClean="0">
                                <a:latin typeface="Cambria Math"/>
                              </a:rPr>
                              <m:t>(</m:t>
                            </m:r>
                            <m:r>
                              <a:rPr lang="en-US" altLang="zh-TW" b="1" i="1" smtClean="0">
                                <a:latin typeface="Cambria Math"/>
                              </a:rPr>
                              <m:t>𝒏</m:t>
                            </m:r>
                            <m:r>
                              <a:rPr lang="en-US" altLang="zh-TW" b="1" i="1" smtClean="0">
                                <a:latin typeface="Cambria Math"/>
                              </a:rPr>
                              <m:t>−</m:t>
                            </m:r>
                            <m:r>
                              <a:rPr lang="en-US" altLang="zh-TW" b="1" i="1" smtClean="0">
                                <a:latin typeface="Cambria Math"/>
                              </a:rPr>
                              <m:t>𝟏</m:t>
                            </m:r>
                            <m:r>
                              <a:rPr lang="en-US" altLang="zh-TW" b="1" i="1" smtClean="0">
                                <a:latin typeface="Cambria Math"/>
                              </a:rPr>
                              <m:t>)</m:t>
                            </m:r>
                          </m:e>
                        </m:nary>
                        <m:r>
                          <a:rPr lang="en-US" altLang="zh-TW" b="1" i="1" smtClean="0">
                            <a:latin typeface="Cambria Math"/>
                          </a:rPr>
                          <m:t>=</m:t>
                        </m:r>
                        <m:r>
                          <a:rPr lang="en-US" altLang="zh-TW" b="1" i="1" smtClean="0">
                            <a:latin typeface="Cambria Math"/>
                          </a:rPr>
                          <m:t>𝒏</m:t>
                        </m:r>
                        <m:r>
                          <a:rPr lang="en-US" altLang="zh-TW" b="1" i="1" smtClean="0">
                            <a:latin typeface="Cambria Math"/>
                          </a:rPr>
                          <m:t>(</m:t>
                        </m:r>
                        <m:r>
                          <a:rPr lang="en-US" altLang="zh-TW" b="1" i="1" smtClean="0">
                            <a:latin typeface="Cambria Math"/>
                          </a:rPr>
                          <m:t>𝒏</m:t>
                        </m:r>
                        <m:r>
                          <a:rPr lang="en-US" altLang="zh-TW" b="1" i="1" smtClean="0">
                            <a:latin typeface="Cambria Math"/>
                          </a:rPr>
                          <m:t>−</m:t>
                        </m:r>
                        <m:r>
                          <a:rPr lang="en-US" altLang="zh-TW" b="1" i="1" smtClean="0">
                            <a:latin typeface="Cambria Math"/>
                          </a:rPr>
                          <m:t>𝟏</m:t>
                        </m:r>
                        <m:r>
                          <a:rPr lang="en-US" altLang="zh-TW" b="1" i="1" smtClean="0">
                            <a:latin typeface="Cambria Math"/>
                          </a:rPr>
                          <m:t>)</m:t>
                        </m:r>
                      </m:e>
                    </m:nary>
                  </m:oMath>
                </a14:m>
                <a:endParaRPr lang="en-US" altLang="zh-TW" dirty="0" smtClean="0"/>
              </a:p>
              <a:p>
                <a:r>
                  <a:rPr lang="zh-TW" altLang="en-US" dirty="0" smtClean="0"/>
                  <a:t>頻率計數：</a:t>
                </a:r>
                <a:r>
                  <a:rPr lang="en-US" altLang="zh-TW" dirty="0" smtClean="0"/>
                  <a:t>(</a:t>
                </a:r>
                <a:r>
                  <a:rPr lang="en-US" altLang="zh-TW" i="1" dirty="0" smtClean="0"/>
                  <a:t>n</a:t>
                </a:r>
                <a:r>
                  <a:rPr lang="en-US" altLang="zh-TW" dirty="0" smtClean="0"/>
                  <a:t> + 1) + (</a:t>
                </a:r>
                <a:r>
                  <a:rPr lang="en-US" altLang="zh-TW" i="1" dirty="0" smtClean="0"/>
                  <a:t>n</a:t>
                </a:r>
                <a:r>
                  <a:rPr lang="en-US" altLang="zh-TW" dirty="0" smtClean="0"/>
                  <a:t> </a:t>
                </a:r>
                <a:r>
                  <a:rPr lang="en-US" altLang="zh-TW" dirty="0" smtClean="0">
                    <a:sym typeface="Symbol"/>
                  </a:rPr>
                  <a:t> </a:t>
                </a:r>
                <a:r>
                  <a:rPr lang="en-US" altLang="zh-TW" i="1" dirty="0" smtClean="0">
                    <a:sym typeface="Symbol"/>
                  </a:rPr>
                  <a:t>n</a:t>
                </a:r>
                <a:r>
                  <a:rPr lang="en-US" altLang="zh-TW" dirty="0" smtClean="0">
                    <a:sym typeface="Symbol"/>
                  </a:rPr>
                  <a:t>) + </a:t>
                </a:r>
                <a:r>
                  <a:rPr lang="en-US" altLang="zh-TW" i="1" dirty="0" smtClean="0">
                    <a:sym typeface="Symbol"/>
                  </a:rPr>
                  <a:t>n</a:t>
                </a:r>
                <a:r>
                  <a:rPr lang="en-US" altLang="zh-TW" dirty="0" smtClean="0">
                    <a:sym typeface="Symbol"/>
                  </a:rPr>
                  <a:t>(</a:t>
                </a:r>
                <a:r>
                  <a:rPr lang="en-US" altLang="zh-TW" i="1" dirty="0" smtClean="0">
                    <a:sym typeface="Symbol"/>
                  </a:rPr>
                  <a:t>n</a:t>
                </a:r>
                <a:r>
                  <a:rPr lang="en-US" altLang="zh-TW" dirty="0" smtClean="0">
                    <a:sym typeface="Symbol"/>
                  </a:rPr>
                  <a:t> – 1) = 2</a:t>
                </a:r>
                <a:r>
                  <a:rPr lang="en-US" altLang="zh-TW" i="1" dirty="0" smtClean="0">
                    <a:sym typeface="Symbol"/>
                  </a:rPr>
                  <a:t>n</a:t>
                </a:r>
                <a:r>
                  <a:rPr lang="en-US" altLang="zh-TW" baseline="30000" dirty="0" smtClean="0">
                    <a:sym typeface="Symbol"/>
                  </a:rPr>
                  <a:t>2</a:t>
                </a:r>
                <a:r>
                  <a:rPr lang="en-US" altLang="zh-TW" dirty="0" smtClean="0">
                    <a:sym typeface="Symbol"/>
                  </a:rPr>
                  <a:t> + 1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294967295"/>
              </p:nvPr>
            </p:nvSpPr>
            <p:spPr>
              <a:xfrm>
                <a:off x="170980" y="1319014"/>
                <a:ext cx="8826061" cy="4927599"/>
              </a:xfrm>
              <a:prstGeom prst="rect">
                <a:avLst/>
              </a:prstGeom>
              <a:blipFill rotWithShape="1">
                <a:blip r:embed="rId2"/>
                <a:stretch>
                  <a:fillRect l="-552" t="-6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19</a:t>
            </a:fld>
            <a:endParaRPr lang="en-US" dirty="0"/>
          </a:p>
        </p:txBody>
      </p:sp>
      <p:grpSp>
        <p:nvGrpSpPr>
          <p:cNvPr id="19" name="群組 18"/>
          <p:cNvGrpSpPr/>
          <p:nvPr/>
        </p:nvGrpSpPr>
        <p:grpSpPr>
          <a:xfrm>
            <a:off x="6218265" y="1932837"/>
            <a:ext cx="2834505" cy="2968772"/>
            <a:chOff x="6218265" y="1932837"/>
            <a:chExt cx="2834505" cy="2968772"/>
          </a:xfrm>
        </p:grpSpPr>
        <p:sp>
          <p:nvSpPr>
            <p:cNvPr id="7" name="文字方塊 6"/>
            <p:cNvSpPr txBox="1"/>
            <p:nvPr/>
          </p:nvSpPr>
          <p:spPr>
            <a:xfrm>
              <a:off x="7907105" y="3742245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流程圖: 程序 7"/>
            <p:cNvSpPr/>
            <p:nvPr/>
          </p:nvSpPr>
          <p:spPr>
            <a:xfrm>
              <a:off x="6860301" y="3798300"/>
              <a:ext cx="1080000" cy="288000"/>
            </a:xfrm>
            <a:prstGeom prst="flowChart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000" b="1" dirty="0" smtClean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程序</a:t>
              </a:r>
              <a:endParaRPr lang="zh-TW" altLang="en-US" sz="20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9" name="直線單箭頭接點 8"/>
            <p:cNvCxnSpPr>
              <a:stCxn id="8" idx="2"/>
            </p:cNvCxnSpPr>
            <p:nvPr/>
          </p:nvCxnSpPr>
          <p:spPr>
            <a:xfrm>
              <a:off x="7400301" y="4086300"/>
              <a:ext cx="0" cy="239706"/>
            </a:xfrm>
            <a:prstGeom prst="straightConnector1">
              <a:avLst/>
            </a:prstGeom>
            <a:ln w="28575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字方塊 9"/>
            <p:cNvSpPr txBox="1"/>
            <p:nvPr/>
          </p:nvSpPr>
          <p:spPr>
            <a:xfrm>
              <a:off x="7375430" y="2506229"/>
              <a:ext cx="3706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文字方塊 10"/>
            <p:cNvSpPr txBox="1"/>
            <p:nvPr/>
          </p:nvSpPr>
          <p:spPr>
            <a:xfrm>
              <a:off x="8308134" y="2558745"/>
              <a:ext cx="3706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流程圖: 決策 11"/>
            <p:cNvSpPr/>
            <p:nvPr/>
          </p:nvSpPr>
          <p:spPr>
            <a:xfrm>
              <a:off x="6699242" y="2118431"/>
              <a:ext cx="1404000" cy="324000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600" b="1" dirty="0" smtClean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條件</a:t>
              </a:r>
              <a:r>
                <a:rPr lang="en-US" altLang="zh-TW" sz="1600" b="1" dirty="0" smtClean="0">
                  <a:solidFill>
                    <a:schemeClr val="tx1"/>
                  </a:solidFill>
                  <a:latin typeface="+mj-lt"/>
                  <a:ea typeface="標楷體" panose="03000509000000000000" pitchFamily="65" charset="-120"/>
                </a:rPr>
                <a:t>1</a:t>
              </a:r>
              <a:endParaRPr lang="zh-TW" altLang="en-US" b="1" dirty="0">
                <a:solidFill>
                  <a:schemeClr val="tx1"/>
                </a:solidFill>
                <a:latin typeface="+mj-lt"/>
                <a:ea typeface="標楷體" panose="03000509000000000000" pitchFamily="65" charset="-120"/>
              </a:endParaRPr>
            </a:p>
          </p:txBody>
        </p:sp>
        <p:cxnSp>
          <p:nvCxnSpPr>
            <p:cNvPr id="13" name="直線單箭頭接點 12"/>
            <p:cNvCxnSpPr>
              <a:stCxn id="12" idx="2"/>
              <a:endCxn id="18" idx="0"/>
            </p:cNvCxnSpPr>
            <p:nvPr/>
          </p:nvCxnSpPr>
          <p:spPr>
            <a:xfrm>
              <a:off x="7401242" y="2442431"/>
              <a:ext cx="0" cy="517073"/>
            </a:xfrm>
            <a:prstGeom prst="straightConnector1">
              <a:avLst/>
            </a:prstGeom>
            <a:ln w="28575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肘形接點 13"/>
            <p:cNvCxnSpPr>
              <a:stCxn id="8" idx="1"/>
              <a:endCxn id="18" idx="1"/>
            </p:cNvCxnSpPr>
            <p:nvPr/>
          </p:nvCxnSpPr>
          <p:spPr>
            <a:xfrm rot="10800000">
              <a:off x="6699243" y="3121504"/>
              <a:ext cx="161059" cy="820796"/>
            </a:xfrm>
            <a:prstGeom prst="bentConnector3">
              <a:avLst>
                <a:gd name="adj1" fmla="val 241936"/>
              </a:avLst>
            </a:prstGeom>
            <a:ln w="28575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肘形接點 14"/>
            <p:cNvCxnSpPr>
              <a:stCxn id="12" idx="1"/>
            </p:cNvCxnSpPr>
            <p:nvPr/>
          </p:nvCxnSpPr>
          <p:spPr>
            <a:xfrm rot="10800000" flipH="1" flipV="1">
              <a:off x="6699241" y="2280431"/>
              <a:ext cx="701059" cy="2621178"/>
            </a:xfrm>
            <a:prstGeom prst="bentConnector4">
              <a:avLst>
                <a:gd name="adj1" fmla="val -55358"/>
                <a:gd name="adj2" fmla="val 86759"/>
              </a:avLst>
            </a:prstGeom>
            <a:ln w="28575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字方塊 15"/>
            <p:cNvSpPr txBox="1"/>
            <p:nvPr/>
          </p:nvSpPr>
          <p:spPr>
            <a:xfrm>
              <a:off x="8534679" y="2559394"/>
              <a:ext cx="51809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/>
                </a:rPr>
                <a:t> 1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618939" y="2506229"/>
              <a:ext cx="5325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/>
                </a:rPr>
                <a:t> </a:t>
              </a:r>
              <a:r>
                <a:rPr lang="en-US" altLang="zh-TW" sz="2000" b="1" i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/>
                </a:rPr>
                <a:t>n</a:t>
              </a:r>
              <a:endParaRPr lang="zh-TW" altLang="en-US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流程圖: 決策 17"/>
            <p:cNvSpPr/>
            <p:nvPr/>
          </p:nvSpPr>
          <p:spPr>
            <a:xfrm>
              <a:off x="6699242" y="2959504"/>
              <a:ext cx="1404000" cy="324000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600" b="1" dirty="0" smtClean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條件</a:t>
              </a:r>
              <a:r>
                <a:rPr lang="en-US" altLang="zh-TW" sz="1600" b="1" dirty="0" smtClean="0">
                  <a:solidFill>
                    <a:schemeClr val="tx1"/>
                  </a:solidFill>
                  <a:latin typeface="+mj-lt"/>
                  <a:ea typeface="標楷體" panose="03000509000000000000" pitchFamily="65" charset="-120"/>
                </a:rPr>
                <a:t>2</a:t>
              </a:r>
              <a:endParaRPr lang="zh-TW" altLang="en-US" b="1" dirty="0">
                <a:solidFill>
                  <a:schemeClr val="tx1"/>
                </a:solidFill>
                <a:latin typeface="+mj-lt"/>
                <a:ea typeface="標楷體" panose="03000509000000000000" pitchFamily="65" charset="-120"/>
              </a:endParaRPr>
            </a:p>
          </p:txBody>
        </p:sp>
        <p:cxnSp>
          <p:nvCxnSpPr>
            <p:cNvPr id="20" name="直線單箭頭接點 19"/>
            <p:cNvCxnSpPr>
              <a:stCxn id="18" idx="2"/>
              <a:endCxn id="8" idx="0"/>
            </p:cNvCxnSpPr>
            <p:nvPr/>
          </p:nvCxnSpPr>
          <p:spPr>
            <a:xfrm flipH="1">
              <a:off x="7400301" y="3283504"/>
              <a:ext cx="941" cy="514796"/>
            </a:xfrm>
            <a:prstGeom prst="straightConnector1">
              <a:avLst/>
            </a:prstGeom>
            <a:ln w="28575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文字方塊 23"/>
            <p:cNvSpPr txBox="1"/>
            <p:nvPr/>
          </p:nvSpPr>
          <p:spPr>
            <a:xfrm>
              <a:off x="7384564" y="3310581"/>
              <a:ext cx="3706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文字方塊 24"/>
            <p:cNvSpPr txBox="1"/>
            <p:nvPr/>
          </p:nvSpPr>
          <p:spPr>
            <a:xfrm>
              <a:off x="7628073" y="3310581"/>
              <a:ext cx="91723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/>
                </a:rPr>
                <a:t> </a:t>
              </a:r>
              <a:r>
                <a:rPr lang="en-US" altLang="zh-TW" sz="2000" b="1" i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/>
                </a:rPr>
                <a:t>n</a:t>
              </a:r>
              <a:r>
                <a:rPr lang="en-US" altLang="zh-TW" sz="2000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/>
                </a:rPr>
                <a:t> – 1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文字方塊 28"/>
            <p:cNvSpPr txBox="1"/>
            <p:nvPr/>
          </p:nvSpPr>
          <p:spPr>
            <a:xfrm>
              <a:off x="6218265" y="1932837"/>
              <a:ext cx="3706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文字方塊 29"/>
            <p:cNvSpPr txBox="1"/>
            <p:nvPr/>
          </p:nvSpPr>
          <p:spPr>
            <a:xfrm>
              <a:off x="6444810" y="1933486"/>
              <a:ext cx="51809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/>
                </a:rPr>
                <a:t> 1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1" name="肘形接點 30"/>
            <p:cNvCxnSpPr>
              <a:stCxn id="18" idx="3"/>
              <a:endCxn id="12" idx="3"/>
            </p:cNvCxnSpPr>
            <p:nvPr/>
          </p:nvCxnSpPr>
          <p:spPr>
            <a:xfrm flipV="1">
              <a:off x="8103242" y="2280431"/>
              <a:ext cx="12700" cy="841073"/>
            </a:xfrm>
            <a:prstGeom prst="bentConnector3">
              <a:avLst>
                <a:gd name="adj1" fmla="val 1800000"/>
              </a:avLst>
            </a:prstGeom>
            <a:ln w="28575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直線圖說文字 3 (加上強調線) 25"/>
          <p:cNvSpPr/>
          <p:nvPr/>
        </p:nvSpPr>
        <p:spPr>
          <a:xfrm>
            <a:off x="638260" y="5515984"/>
            <a:ext cx="1368152" cy="911392"/>
          </a:xfrm>
          <a:prstGeom prst="accentCallout3">
            <a:avLst>
              <a:gd name="adj1" fmla="val 19704"/>
              <a:gd name="adj2" fmla="val -3653"/>
              <a:gd name="adj3" fmla="val 18750"/>
              <a:gd name="adj4" fmla="val -16667"/>
              <a:gd name="adj5" fmla="val -15144"/>
              <a:gd name="adj6" fmla="val -16667"/>
              <a:gd name="adj7" fmla="val -40209"/>
              <a:gd name="adj8" fmla="val 95326"/>
            </a:avLst>
          </a:prstGeom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chemeClr val="tx1"/>
                </a:solidFill>
                <a:latin typeface="+mj-lt"/>
                <a:ea typeface="標楷體" panose="03000509000000000000" pitchFamily="65" charset="-120"/>
              </a:rPr>
              <a:t>判斷</a:t>
            </a:r>
            <a:r>
              <a:rPr lang="zh-TW" altLang="en-US" sz="2000" b="1" dirty="0" smtClean="0">
                <a:solidFill>
                  <a:schemeClr val="tx1"/>
                </a:solidFill>
                <a:latin typeface="+mj-lt"/>
                <a:ea typeface="標楷體" panose="03000509000000000000" pitchFamily="65" charset="-120"/>
              </a:rPr>
              <a:t>條件</a:t>
            </a:r>
            <a:r>
              <a:rPr lang="en-US" altLang="zh-TW" sz="2000" b="1" dirty="0" smtClean="0">
                <a:solidFill>
                  <a:schemeClr val="tx1"/>
                </a:solidFill>
                <a:latin typeface="+mj-lt"/>
                <a:ea typeface="標楷體" panose="03000509000000000000" pitchFamily="65" charset="-120"/>
              </a:rPr>
              <a:t>1</a:t>
            </a:r>
          </a:p>
          <a:p>
            <a:pPr algn="ctr"/>
            <a:r>
              <a:rPr lang="zh-TW" altLang="en-US" sz="2000" b="1" dirty="0" smtClean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是否成立</a:t>
            </a:r>
            <a:endParaRPr lang="en-US" altLang="zh-TW" sz="2000" b="1" dirty="0" smtClean="0">
              <a:solidFill>
                <a:srgbClr val="C00000"/>
              </a:solidFill>
              <a:latin typeface="+mj-lt"/>
              <a:ea typeface="標楷體" panose="03000509000000000000" pitchFamily="65" charset="-120"/>
            </a:endParaRPr>
          </a:p>
          <a:p>
            <a:pPr algn="ctr"/>
            <a:r>
              <a:rPr lang="zh-TW" altLang="en-US" sz="2000" b="1" dirty="0" smtClean="0">
                <a:solidFill>
                  <a:schemeClr val="tx1"/>
                </a:solidFill>
                <a:latin typeface="+mj-lt"/>
                <a:ea typeface="標楷體" panose="03000509000000000000" pitchFamily="65" charset="-120"/>
              </a:rPr>
              <a:t>執行次數</a:t>
            </a:r>
            <a:endParaRPr lang="zh-TW" altLang="en-US" sz="2000" b="1" dirty="0">
              <a:solidFill>
                <a:schemeClr val="tx1"/>
              </a:solidFill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33" name="直線圖說文字 3 (加上強調線) 32"/>
          <p:cNvSpPr/>
          <p:nvPr/>
        </p:nvSpPr>
        <p:spPr>
          <a:xfrm>
            <a:off x="2384664" y="5515984"/>
            <a:ext cx="1631472" cy="1199424"/>
          </a:xfrm>
          <a:prstGeom prst="accentCallout3">
            <a:avLst>
              <a:gd name="adj1" fmla="val 19704"/>
              <a:gd name="adj2" fmla="val -3653"/>
              <a:gd name="adj3" fmla="val 18750"/>
              <a:gd name="adj4" fmla="val -14395"/>
              <a:gd name="adj5" fmla="val -8097"/>
              <a:gd name="adj6" fmla="val -14016"/>
              <a:gd name="adj7" fmla="val -30593"/>
              <a:gd name="adj8" fmla="val 40762"/>
            </a:avLst>
          </a:prstGeom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 smtClean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條件</a:t>
            </a:r>
            <a:r>
              <a:rPr lang="en-US" altLang="zh-TW" sz="2000" b="1" dirty="0" smtClean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1</a:t>
            </a:r>
            <a:r>
              <a:rPr lang="zh-TW" altLang="en-US" sz="2000" b="1" dirty="0" smtClean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成立時</a:t>
            </a:r>
            <a:r>
              <a:rPr lang="zh-TW" altLang="en-US" sz="2000" b="1" dirty="0" smtClean="0">
                <a:solidFill>
                  <a:schemeClr val="tx1"/>
                </a:solidFill>
                <a:latin typeface="+mj-lt"/>
                <a:ea typeface="標楷體" panose="03000509000000000000" pitchFamily="65" charset="-120"/>
              </a:rPr>
              <a:t>判斷條件</a:t>
            </a:r>
            <a:r>
              <a:rPr lang="en-US" altLang="zh-TW" sz="2000" b="1" dirty="0" smtClean="0">
                <a:solidFill>
                  <a:schemeClr val="tx1"/>
                </a:solidFill>
                <a:latin typeface="+mj-lt"/>
                <a:ea typeface="標楷體" panose="03000509000000000000" pitchFamily="65" charset="-120"/>
              </a:rPr>
              <a:t>2</a:t>
            </a:r>
          </a:p>
          <a:p>
            <a:pPr algn="ctr"/>
            <a:r>
              <a:rPr lang="zh-TW" altLang="en-US" sz="2000" b="1" dirty="0" smtClean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是</a:t>
            </a:r>
            <a:r>
              <a:rPr lang="zh-TW" altLang="en-US" sz="2000" b="1" dirty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否</a:t>
            </a:r>
            <a:r>
              <a:rPr lang="zh-TW" altLang="en-US" sz="2000" b="1" dirty="0" smtClean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成立</a:t>
            </a:r>
            <a:endParaRPr lang="en-US" altLang="zh-TW" sz="2000" b="1" dirty="0" smtClean="0">
              <a:solidFill>
                <a:srgbClr val="C00000"/>
              </a:solidFill>
              <a:latin typeface="+mj-lt"/>
              <a:ea typeface="標楷體" panose="03000509000000000000" pitchFamily="65" charset="-120"/>
            </a:endParaRPr>
          </a:p>
          <a:p>
            <a:pPr algn="ctr"/>
            <a:r>
              <a:rPr lang="zh-TW" altLang="en-US" sz="2000" b="1" dirty="0" smtClean="0">
                <a:solidFill>
                  <a:schemeClr val="tx1"/>
                </a:solidFill>
                <a:latin typeface="+mj-lt"/>
                <a:ea typeface="標楷體" panose="03000509000000000000" pitchFamily="65" charset="-120"/>
              </a:rPr>
              <a:t>執行次數</a:t>
            </a:r>
            <a:endParaRPr lang="zh-TW" altLang="en-US" sz="2000" b="1" dirty="0">
              <a:solidFill>
                <a:schemeClr val="tx1"/>
              </a:solidFill>
              <a:latin typeface="+mj-lt"/>
              <a:ea typeface="標楷體" panose="03000509000000000000" pitchFamily="65" charset="-120"/>
            </a:endParaRPr>
          </a:p>
        </p:txBody>
      </p:sp>
      <p:grpSp>
        <p:nvGrpSpPr>
          <p:cNvPr id="21" name="群組 20"/>
          <p:cNvGrpSpPr/>
          <p:nvPr/>
        </p:nvGrpSpPr>
        <p:grpSpPr>
          <a:xfrm>
            <a:off x="1830158" y="5079006"/>
            <a:ext cx="2849754" cy="6178"/>
            <a:chOff x="1830158" y="5079006"/>
            <a:chExt cx="2849754" cy="6178"/>
          </a:xfrm>
        </p:grpSpPr>
        <p:cxnSp>
          <p:nvCxnSpPr>
            <p:cNvPr id="28" name="直線接點 27"/>
            <p:cNvCxnSpPr/>
            <p:nvPr/>
          </p:nvCxnSpPr>
          <p:spPr>
            <a:xfrm>
              <a:off x="1830158" y="5085184"/>
              <a:ext cx="756000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/>
            <p:cNvCxnSpPr/>
            <p:nvPr/>
          </p:nvCxnSpPr>
          <p:spPr>
            <a:xfrm>
              <a:off x="2843808" y="5085184"/>
              <a:ext cx="720000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/>
            <p:cNvCxnSpPr/>
            <p:nvPr/>
          </p:nvCxnSpPr>
          <p:spPr>
            <a:xfrm>
              <a:off x="3779912" y="5079006"/>
              <a:ext cx="900000" cy="0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直線圖說文字 3 (加上強調線) 34"/>
          <p:cNvSpPr/>
          <p:nvPr/>
        </p:nvSpPr>
        <p:spPr>
          <a:xfrm>
            <a:off x="4648200" y="5515984"/>
            <a:ext cx="1631472" cy="1009360"/>
          </a:xfrm>
          <a:prstGeom prst="accentCallout3">
            <a:avLst>
              <a:gd name="adj1" fmla="val 19704"/>
              <a:gd name="adj2" fmla="val -3653"/>
              <a:gd name="adj3" fmla="val 18750"/>
              <a:gd name="adj4" fmla="val -14395"/>
              <a:gd name="adj5" fmla="val -8097"/>
              <a:gd name="adj6" fmla="val -14016"/>
              <a:gd name="adj7" fmla="val -37326"/>
              <a:gd name="adj8" fmla="val -27404"/>
            </a:avLst>
          </a:prstGeom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 smtClean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條件</a:t>
            </a:r>
            <a:r>
              <a:rPr lang="en-US" altLang="zh-TW" sz="2000" b="1" dirty="0" smtClean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1</a:t>
            </a:r>
            <a:r>
              <a:rPr lang="zh-TW" altLang="en-US" sz="2000" b="1" dirty="0" smtClean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成立</a:t>
            </a:r>
            <a:endParaRPr lang="en-US" altLang="zh-TW" sz="2000" b="1" dirty="0" smtClean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  <a:p>
            <a:pPr algn="ctr"/>
            <a:r>
              <a:rPr lang="zh-TW" altLang="en-US" sz="2000" b="1" dirty="0" smtClean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且條件</a:t>
            </a:r>
            <a:r>
              <a:rPr lang="en-US" altLang="zh-TW" sz="2000" b="1" dirty="0" smtClean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2</a:t>
            </a:r>
            <a:r>
              <a:rPr lang="zh-TW" altLang="en-US" sz="2000" b="1" dirty="0" smtClean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成立</a:t>
            </a:r>
            <a:endParaRPr lang="en-US" altLang="zh-TW" sz="2000" b="1" dirty="0" smtClean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  <a:p>
            <a:pPr algn="ctr"/>
            <a:r>
              <a:rPr lang="zh-TW" altLang="en-US" sz="2000" b="1" dirty="0" smtClean="0">
                <a:solidFill>
                  <a:schemeClr val="tx1"/>
                </a:solidFill>
                <a:latin typeface="+mj-lt"/>
                <a:ea typeface="標楷體" panose="03000509000000000000" pitchFamily="65" charset="-120"/>
              </a:rPr>
              <a:t>執行次數</a:t>
            </a:r>
            <a:endParaRPr lang="zh-TW" altLang="en-US" sz="2000" b="1" dirty="0">
              <a:solidFill>
                <a:schemeClr val="tx1"/>
              </a:solidFill>
              <a:latin typeface="+mj-lt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74958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33" grpId="0" animBg="1"/>
      <p:bldP spid="3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迴圈的頻率</a:t>
            </a:r>
            <a:r>
              <a:rPr lang="zh-TW" altLang="en-US" dirty="0" smtClean="0"/>
              <a:t>計數 </a:t>
            </a:r>
            <a:r>
              <a:rPr lang="en-US" altLang="zh-TW" dirty="0" smtClean="0"/>
              <a:t>(4/5)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sz="quarter" idx="4294967295"/>
              </p:nvPr>
            </p:nvSpPr>
            <p:spPr>
              <a:xfrm>
                <a:off x="170980" y="1319014"/>
                <a:ext cx="8826061" cy="4927599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rPr lang="zh-TW" altLang="en-US" dirty="0" smtClean="0">
                    <a:solidFill>
                      <a:srgbClr val="C00000"/>
                    </a:solidFill>
                  </a:rPr>
                  <a:t>雙層迴圈、內圈</a:t>
                </a:r>
                <a:r>
                  <a:rPr lang="zh-TW" altLang="en-US" u="sng" dirty="0" smtClean="0">
                    <a:solidFill>
                      <a:srgbClr val="C00000"/>
                    </a:solidFill>
                  </a:rPr>
                  <a:t>不固定</a:t>
                </a:r>
                <a:r>
                  <a:rPr lang="zh-TW" altLang="en-US" dirty="0" smtClean="0">
                    <a:solidFill>
                      <a:srgbClr val="C00000"/>
                    </a:solidFill>
                  </a:rPr>
                  <a:t>次數</a:t>
                </a:r>
                <a:endParaRPr lang="en-US" altLang="zh-TW" dirty="0" smtClean="0">
                  <a:solidFill>
                    <a:srgbClr val="C00000"/>
                  </a:solidFill>
                </a:endParaRPr>
              </a:p>
              <a:p>
                <a:endParaRPr lang="en-US" altLang="zh-TW" dirty="0"/>
              </a:p>
              <a:p>
                <a:pPr marL="457200" indent="-45720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US" altLang="zh-TW" dirty="0"/>
                  <a:t>for (</a:t>
                </a:r>
                <a:r>
                  <a:rPr lang="en-US" altLang="zh-TW" i="1" dirty="0" err="1"/>
                  <a:t>i</a:t>
                </a:r>
                <a:r>
                  <a:rPr lang="en-US" altLang="zh-TW" dirty="0"/>
                  <a:t> = 1; </a:t>
                </a:r>
                <a:r>
                  <a:rPr lang="en-US" altLang="zh-TW" i="1" dirty="0" err="1"/>
                  <a:t>i</a:t>
                </a:r>
                <a:r>
                  <a:rPr lang="en-US" altLang="zh-TW" dirty="0"/>
                  <a:t> &lt;= 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; </a:t>
                </a:r>
                <a:r>
                  <a:rPr lang="en-US" altLang="zh-TW" i="1" dirty="0" err="1"/>
                  <a:t>i</a:t>
                </a:r>
                <a:r>
                  <a:rPr lang="en-US" altLang="zh-TW" dirty="0"/>
                  <a:t>++)</a:t>
                </a:r>
              </a:p>
              <a:p>
                <a:pPr marL="457200" indent="-45720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US" altLang="zh-TW" dirty="0"/>
                  <a:t>     for (</a:t>
                </a:r>
                <a:r>
                  <a:rPr lang="en-US" altLang="zh-TW" i="1" dirty="0"/>
                  <a:t>j</a:t>
                </a:r>
                <a:r>
                  <a:rPr lang="en-US" altLang="zh-TW" dirty="0"/>
                  <a:t> = </a:t>
                </a:r>
                <a:r>
                  <a:rPr lang="en-US" altLang="zh-TW" i="1" dirty="0" err="1" smtClean="0"/>
                  <a:t>i</a:t>
                </a:r>
                <a:r>
                  <a:rPr lang="en-US" altLang="zh-TW" dirty="0" smtClean="0"/>
                  <a:t> + 1; </a:t>
                </a:r>
                <a:r>
                  <a:rPr lang="en-US" altLang="zh-TW" i="1" dirty="0"/>
                  <a:t>j</a:t>
                </a:r>
                <a:r>
                  <a:rPr lang="en-US" altLang="zh-TW" dirty="0"/>
                  <a:t> </a:t>
                </a:r>
                <a:r>
                  <a:rPr lang="en-US" altLang="zh-TW" dirty="0" smtClean="0"/>
                  <a:t>&lt;= 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; </a:t>
                </a:r>
                <a:r>
                  <a:rPr lang="en-US" altLang="zh-TW" i="1" dirty="0" err="1"/>
                  <a:t>j</a:t>
                </a:r>
                <a:r>
                  <a:rPr lang="en-US" altLang="zh-TW" dirty="0" err="1"/>
                  <a:t>++</a:t>
                </a:r>
                <a:r>
                  <a:rPr lang="en-US" altLang="zh-TW" dirty="0"/>
                  <a:t>)</a:t>
                </a:r>
              </a:p>
              <a:p>
                <a:pPr marL="457200" indent="-45720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US" altLang="zh-TW" dirty="0"/>
                  <a:t>          result = result + 1;</a:t>
                </a:r>
              </a:p>
              <a:p>
                <a:endParaRPr lang="en-US" altLang="zh-TW" dirty="0" smtClean="0"/>
              </a:p>
              <a:p>
                <a:endParaRPr lang="en-US" altLang="zh-TW" dirty="0" smtClean="0"/>
              </a:p>
              <a:p>
                <a:endParaRPr lang="en-US" altLang="zh-TW" dirty="0"/>
              </a:p>
              <a:p>
                <a:endParaRPr lang="en-US" altLang="zh-TW" dirty="0" smtClean="0"/>
              </a:p>
              <a:p>
                <a:r>
                  <a:rPr lang="zh-TW" altLang="en-US" dirty="0" smtClean="0"/>
                  <a:t>內圈計數器 </a:t>
                </a:r>
                <a:r>
                  <a:rPr lang="en-US" altLang="zh-TW" i="1" dirty="0" smtClean="0"/>
                  <a:t>j</a:t>
                </a:r>
                <a:r>
                  <a:rPr lang="en-US" altLang="zh-TW" dirty="0" smtClean="0"/>
                  <a:t> </a:t>
                </a:r>
                <a:r>
                  <a:rPr lang="zh-TW" altLang="en-US" dirty="0" smtClean="0"/>
                  <a:t>隨著外圈計數器 </a:t>
                </a:r>
                <a:r>
                  <a:rPr lang="en-US" altLang="zh-TW" i="1" dirty="0" err="1" smtClean="0"/>
                  <a:t>i</a:t>
                </a:r>
                <a:r>
                  <a:rPr lang="en-US" altLang="zh-TW" i="1" dirty="0" smtClean="0"/>
                  <a:t> </a:t>
                </a:r>
                <a:r>
                  <a:rPr lang="zh-TW" altLang="en-US" dirty="0" smtClean="0"/>
                  <a:t>變化</a:t>
                </a:r>
                <a:endParaRPr lang="en-US" altLang="zh-TW" dirty="0"/>
              </a:p>
              <a:p>
                <a:r>
                  <a:rPr lang="zh-TW" altLang="en-US" dirty="0" smtClean="0"/>
                  <a:t>迴圈主體：</a:t>
                </a: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r>
                      <a:rPr lang="zh-TW" alt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i="1" dirty="0" smtClean="0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ctrlPr>
                          <a:rPr lang="zh-TW" alt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b="1" i="1" smtClean="0">
                            <a:latin typeface="Cambria Math"/>
                          </a:rPr>
                          <m:t>𝒊</m:t>
                        </m:r>
                        <m:r>
                          <a:rPr lang="en-US" altLang="zh-TW" b="1" i="1" smtClean="0">
                            <a:latin typeface="Cambria Math"/>
                          </a:rPr>
                          <m:t>=</m:t>
                        </m:r>
                        <m:r>
                          <a:rPr lang="en-US" altLang="zh-TW" b="1" i="1" smtClean="0">
                            <a:latin typeface="Cambria Math"/>
                          </a:rPr>
                          <m:t>𝟏</m:t>
                        </m:r>
                      </m:sub>
                      <m:sup>
                        <m:r>
                          <a:rPr lang="en-US" altLang="zh-TW" b="1" i="1" smtClean="0">
                            <a:latin typeface="Cambria Math"/>
                          </a:rPr>
                          <m:t>𝒏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TW" b="1" i="1" smtClean="0">
                                <a:latin typeface="Cambria Math"/>
                              </a:rPr>
                              <m:t>𝒋</m:t>
                            </m:r>
                            <m:r>
                              <a:rPr lang="en-US" altLang="zh-TW" b="1" i="1" smtClean="0">
                                <a:latin typeface="Cambria Math"/>
                              </a:rPr>
                              <m:t>=</m:t>
                            </m:r>
                            <m:r>
                              <a:rPr lang="en-US" altLang="zh-TW" b="1" i="1" smtClean="0">
                                <a:latin typeface="Cambria Math"/>
                              </a:rPr>
                              <m:t>𝒊</m:t>
                            </m:r>
                            <m:r>
                              <a:rPr lang="en-US" altLang="zh-TW" b="1" i="1" smtClean="0">
                                <a:latin typeface="Cambria Math"/>
                              </a:rPr>
                              <m:t>+</m:t>
                            </m:r>
                            <m:r>
                              <a:rPr lang="en-US" altLang="zh-TW" b="1" i="1" smtClean="0">
                                <a:latin typeface="Cambria Math"/>
                              </a:rPr>
                              <m:t>𝟏</m:t>
                            </m:r>
                          </m:sub>
                          <m:sup>
                            <m:r>
                              <a:rPr lang="en-US" altLang="zh-TW" b="1" i="1" smtClean="0">
                                <a:latin typeface="Cambria Math"/>
                              </a:rPr>
                              <m:t>𝒏</m:t>
                            </m:r>
                          </m:sup>
                          <m:e>
                            <m:r>
                              <a:rPr lang="en-US" altLang="zh-TW" b="1" i="1" smtClean="0">
                                <a:latin typeface="Cambria Math"/>
                              </a:rPr>
                              <m:t>𝟏</m:t>
                            </m:r>
                          </m:e>
                        </m:nary>
                        <m:r>
                          <a:rPr lang="en-US" altLang="zh-TW" b="1" i="1" smtClean="0">
                            <a:latin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TW" b="1" i="1" smtClean="0">
                                <a:latin typeface="Cambria Math"/>
                              </a:rPr>
                              <m:t>𝒊</m:t>
                            </m:r>
                            <m:r>
                              <a:rPr lang="en-US" altLang="zh-TW" b="1" i="1" smtClean="0">
                                <a:latin typeface="Cambria Math"/>
                              </a:rPr>
                              <m:t>=</m:t>
                            </m:r>
                            <m:r>
                              <a:rPr lang="en-US" altLang="zh-TW" b="1" i="1" smtClean="0">
                                <a:latin typeface="Cambria Math"/>
                              </a:rPr>
                              <m:t>𝟏</m:t>
                            </m:r>
                          </m:sub>
                          <m:sup>
                            <m:r>
                              <a:rPr lang="en-US" altLang="zh-TW" b="1" i="1" smtClean="0">
                                <a:latin typeface="Cambria Math"/>
                              </a:rPr>
                              <m:t>𝒏</m:t>
                            </m:r>
                          </m:sup>
                          <m:e>
                            <m:r>
                              <a:rPr lang="en-US" altLang="zh-TW" b="1" i="1" smtClean="0">
                                <a:latin typeface="Cambria Math"/>
                              </a:rPr>
                              <m:t>(</m:t>
                            </m:r>
                            <m:r>
                              <a:rPr lang="en-US" altLang="zh-TW" b="1" i="1" smtClean="0">
                                <a:latin typeface="Cambria Math"/>
                              </a:rPr>
                              <m:t>𝒏</m:t>
                            </m:r>
                            <m:r>
                              <a:rPr lang="en-US" altLang="zh-TW" b="1" i="1" smtClean="0">
                                <a:latin typeface="Cambria Math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b="1" i="1" smtClean="0">
                                    <a:latin typeface="Cambria Math"/>
                                  </a:rPr>
                                  <m:t>𝒊</m:t>
                                </m:r>
                                <m:r>
                                  <a:rPr lang="en-US" altLang="zh-TW" b="1" i="1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d>
                            <m:r>
                              <a:rPr lang="en-US" altLang="zh-TW" b="1" i="1" smtClean="0">
                                <a:latin typeface="Cambria Math"/>
                              </a:rPr>
                              <m:t>+</m:t>
                            </m:r>
                            <m:r>
                              <a:rPr lang="en-US" altLang="zh-TW" b="1" i="1" smtClean="0">
                                <a:latin typeface="Cambria Math"/>
                              </a:rPr>
                              <m:t>𝟏</m:t>
                            </m:r>
                            <m:r>
                              <a:rPr lang="en-US" altLang="zh-TW" b="1" i="1" smtClean="0">
                                <a:latin typeface="Cambria Math"/>
                              </a:rPr>
                              <m:t>)</m:t>
                            </m:r>
                          </m:e>
                        </m:nary>
                        <m:r>
                          <a:rPr lang="en-US" altLang="zh-TW" b="1" i="1" smtClean="0">
                            <a:latin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TW" b="1" i="1" smtClean="0">
                                <a:latin typeface="Cambria Math"/>
                              </a:rPr>
                              <m:t>𝒊</m:t>
                            </m:r>
                            <m:r>
                              <a:rPr lang="en-US" altLang="zh-TW" b="1" i="1" smtClean="0">
                                <a:latin typeface="Cambria Math"/>
                              </a:rPr>
                              <m:t>=</m:t>
                            </m:r>
                            <m:r>
                              <a:rPr lang="en-US" altLang="zh-TW" b="1" i="1" smtClean="0">
                                <a:latin typeface="Cambria Math"/>
                              </a:rPr>
                              <m:t>𝟏</m:t>
                            </m:r>
                          </m:sub>
                          <m:sup>
                            <m:r>
                              <a:rPr lang="en-US" altLang="zh-TW" b="1" i="1" smtClean="0">
                                <a:latin typeface="Cambria Math"/>
                              </a:rPr>
                              <m:t>𝒏</m:t>
                            </m:r>
                          </m:sup>
                          <m:e>
                            <m:r>
                              <a:rPr lang="en-US" altLang="zh-TW" b="1" i="1" smtClean="0">
                                <a:latin typeface="Cambria Math"/>
                              </a:rPr>
                              <m:t>(</m:t>
                            </m:r>
                            <m:r>
                              <a:rPr lang="en-US" altLang="zh-TW" b="1" i="1" smtClean="0">
                                <a:latin typeface="Cambria Math"/>
                              </a:rPr>
                              <m:t>𝒏</m:t>
                            </m:r>
                            <m:r>
                              <a:rPr lang="en-US" altLang="zh-TW" b="1" i="1" smtClean="0">
                                <a:latin typeface="Cambria Math"/>
                              </a:rPr>
                              <m:t>−</m:t>
                            </m:r>
                            <m:r>
                              <a:rPr lang="en-US" altLang="zh-TW" b="1" i="1" smtClean="0">
                                <a:latin typeface="Cambria Math"/>
                              </a:rPr>
                              <m:t>𝒊</m:t>
                            </m:r>
                            <m:r>
                              <a:rPr lang="en-US" altLang="zh-TW" b="1" i="1" smtClean="0">
                                <a:latin typeface="Cambria Math"/>
                              </a:rPr>
                              <m:t>)</m:t>
                            </m:r>
                          </m:e>
                        </m:nary>
                        <m:r>
                          <a:rPr lang="en-US" altLang="zh-TW" b="1" i="1" smtClean="0">
                            <a:latin typeface="Cambria Math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b="1" i="1" smtClean="0">
                                <a:latin typeface="Cambria Math"/>
                              </a:rPr>
                              <m:t>𝒏</m:t>
                            </m:r>
                          </m:e>
                          <m:sup>
                            <m:r>
                              <a:rPr lang="en-US" altLang="zh-TW" b="1" i="1" smtClean="0"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TW" b="1" i="1" smtClean="0">
                            <a:latin typeface="Cambria Math"/>
                          </a:rPr>
                          <m:t>−</m:t>
                        </m:r>
                        <m:f>
                          <m:f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1" i="1" smtClean="0">
                                <a:latin typeface="Cambria Math"/>
                              </a:rPr>
                              <m:t>𝒏</m:t>
                            </m:r>
                            <m:d>
                              <m:dPr>
                                <m:ctrlPr>
                                  <a:rPr lang="en-US" altLang="zh-TW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b="1" i="1" smtClean="0">
                                    <a:latin typeface="Cambria Math"/>
                                  </a:rPr>
                                  <m:t>𝒏</m:t>
                                </m:r>
                                <m:r>
                                  <a:rPr lang="en-US" altLang="zh-TW" b="1" i="1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altLang="zh-TW" b="1" i="1" smtClean="0">
                                    <a:latin typeface="Cambria Math"/>
                                  </a:rPr>
                                  <m:t>𝟏</m:t>
                                </m:r>
                              </m:e>
                            </m:d>
                          </m:num>
                          <m:den>
                            <m:r>
                              <a:rPr lang="en-US" altLang="zh-TW" b="1" i="1" smtClean="0">
                                <a:latin typeface="Cambria Math"/>
                              </a:rPr>
                              <m:t>𝟐</m:t>
                            </m:r>
                          </m:den>
                        </m:f>
                        <m:r>
                          <a:rPr lang="en-US" altLang="zh-TW" b="1" i="1" smtClean="0">
                            <a:latin typeface="Cambria Math"/>
                          </a:rPr>
                          <m:t>=</m:t>
                        </m:r>
                        <m:f>
                          <m:f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1" i="1" smtClean="0">
                                <a:latin typeface="Cambria Math"/>
                              </a:rPr>
                              <m:t>𝒏</m:t>
                            </m:r>
                            <m:r>
                              <a:rPr lang="en-US" altLang="zh-TW" b="1" i="1" smtClean="0">
                                <a:latin typeface="Cambria Math"/>
                              </a:rPr>
                              <m:t>(</m:t>
                            </m:r>
                            <m:r>
                              <a:rPr lang="en-US" altLang="zh-TW" b="1" i="1" smtClean="0">
                                <a:latin typeface="Cambria Math"/>
                              </a:rPr>
                              <m:t>𝒏</m:t>
                            </m:r>
                            <m:r>
                              <a:rPr lang="en-US" altLang="zh-TW" b="1" i="1" smtClean="0">
                                <a:latin typeface="Cambria Math"/>
                              </a:rPr>
                              <m:t>−</m:t>
                            </m:r>
                            <m:r>
                              <a:rPr lang="en-US" altLang="zh-TW" b="1" i="1" smtClean="0">
                                <a:latin typeface="Cambria Math"/>
                              </a:rPr>
                              <m:t>𝟏</m:t>
                            </m:r>
                            <m:r>
                              <a:rPr lang="en-US" altLang="zh-TW" b="1" i="1" smtClean="0">
                                <a:latin typeface="Cambria Math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zh-TW" b="1" i="1" smtClean="0">
                                <a:latin typeface="Cambria Math"/>
                              </a:rPr>
                              <m:t>𝟐</m:t>
                            </m:r>
                          </m:den>
                        </m:f>
                      </m:e>
                    </m:nary>
                  </m:oMath>
                </a14:m>
                <a:endParaRPr lang="en-US" altLang="zh-TW" dirty="0" smtClean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294967295"/>
              </p:nvPr>
            </p:nvSpPr>
            <p:spPr>
              <a:xfrm>
                <a:off x="170980" y="1319014"/>
                <a:ext cx="8826061" cy="4927599"/>
              </a:xfrm>
              <a:prstGeom prst="rect">
                <a:avLst/>
              </a:prstGeom>
              <a:blipFill rotWithShape="0">
                <a:blip r:embed="rId2"/>
                <a:stretch>
                  <a:fillRect l="-552" t="-6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20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6202325" y="1424761"/>
          <a:ext cx="2815781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8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6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09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232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TW" altLang="en-US" sz="2000" b="1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endParaRPr lang="zh-TW" altLang="en-US" sz="2000" b="1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~ </a:t>
                      </a:r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0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– 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~ </a:t>
                      </a:r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0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– 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~ </a:t>
                      </a:r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0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– 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– 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~ </a:t>
                      </a:r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0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0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+ 1 ~ </a:t>
                      </a:r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0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26" name="群組 25"/>
          <p:cNvGrpSpPr/>
          <p:nvPr/>
        </p:nvGrpSpPr>
        <p:grpSpPr>
          <a:xfrm>
            <a:off x="3576187" y="1506984"/>
            <a:ext cx="2850543" cy="2968772"/>
            <a:chOff x="3576187" y="1506984"/>
            <a:chExt cx="2850543" cy="2968772"/>
          </a:xfrm>
        </p:grpSpPr>
        <p:sp>
          <p:nvSpPr>
            <p:cNvPr id="8" name="文字方塊 7"/>
            <p:cNvSpPr txBox="1"/>
            <p:nvPr/>
          </p:nvSpPr>
          <p:spPr>
            <a:xfrm>
              <a:off x="5265027" y="3316392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流程圖: 程序 8"/>
            <p:cNvSpPr/>
            <p:nvPr/>
          </p:nvSpPr>
          <p:spPr>
            <a:xfrm>
              <a:off x="4218223" y="3372447"/>
              <a:ext cx="1080000" cy="288000"/>
            </a:xfrm>
            <a:prstGeom prst="flowChart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000" b="1" dirty="0" smtClean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程序</a:t>
              </a:r>
              <a:endParaRPr lang="zh-TW" altLang="en-US" sz="20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10" name="直線單箭頭接點 9"/>
            <p:cNvCxnSpPr>
              <a:stCxn id="9" idx="2"/>
            </p:cNvCxnSpPr>
            <p:nvPr/>
          </p:nvCxnSpPr>
          <p:spPr>
            <a:xfrm>
              <a:off x="4758223" y="3660447"/>
              <a:ext cx="0" cy="239706"/>
            </a:xfrm>
            <a:prstGeom prst="straightConnector1">
              <a:avLst/>
            </a:prstGeom>
            <a:ln w="28575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字方塊 10"/>
            <p:cNvSpPr txBox="1"/>
            <p:nvPr/>
          </p:nvSpPr>
          <p:spPr>
            <a:xfrm>
              <a:off x="4733352" y="2080376"/>
              <a:ext cx="3706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文字方塊 11"/>
            <p:cNvSpPr txBox="1"/>
            <p:nvPr/>
          </p:nvSpPr>
          <p:spPr>
            <a:xfrm>
              <a:off x="5644790" y="2132892"/>
              <a:ext cx="3706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流程圖: 決策 12"/>
            <p:cNvSpPr/>
            <p:nvPr/>
          </p:nvSpPr>
          <p:spPr>
            <a:xfrm>
              <a:off x="4057164" y="1692578"/>
              <a:ext cx="1404000" cy="324000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000" b="1" dirty="0" smtClean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條件</a:t>
              </a:r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14" name="直線單箭頭接點 13"/>
            <p:cNvCxnSpPr>
              <a:stCxn id="13" idx="2"/>
              <a:endCxn id="19" idx="0"/>
            </p:cNvCxnSpPr>
            <p:nvPr/>
          </p:nvCxnSpPr>
          <p:spPr>
            <a:xfrm>
              <a:off x="4759164" y="2016578"/>
              <a:ext cx="0" cy="517073"/>
            </a:xfrm>
            <a:prstGeom prst="straightConnector1">
              <a:avLst/>
            </a:prstGeom>
            <a:ln w="28575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肘形接點 14"/>
            <p:cNvCxnSpPr>
              <a:stCxn id="9" idx="1"/>
              <a:endCxn id="19" idx="1"/>
            </p:cNvCxnSpPr>
            <p:nvPr/>
          </p:nvCxnSpPr>
          <p:spPr>
            <a:xfrm rot="10800000">
              <a:off x="4057165" y="2695651"/>
              <a:ext cx="161059" cy="820796"/>
            </a:xfrm>
            <a:prstGeom prst="bentConnector3">
              <a:avLst>
                <a:gd name="adj1" fmla="val 241936"/>
              </a:avLst>
            </a:prstGeom>
            <a:ln w="28575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肘形接點 15"/>
            <p:cNvCxnSpPr>
              <a:stCxn id="13" idx="1"/>
            </p:cNvCxnSpPr>
            <p:nvPr/>
          </p:nvCxnSpPr>
          <p:spPr>
            <a:xfrm rot="10800000" flipH="1" flipV="1">
              <a:off x="4057163" y="1854578"/>
              <a:ext cx="701059" cy="2621178"/>
            </a:xfrm>
            <a:prstGeom prst="bentConnector4">
              <a:avLst>
                <a:gd name="adj1" fmla="val -55358"/>
                <a:gd name="adj2" fmla="val 86759"/>
              </a:avLst>
            </a:prstGeom>
            <a:ln w="28575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字方塊 16"/>
            <p:cNvSpPr txBox="1"/>
            <p:nvPr/>
          </p:nvSpPr>
          <p:spPr>
            <a:xfrm>
              <a:off x="5871335" y="2133541"/>
              <a:ext cx="51809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/>
                </a:rPr>
                <a:t> 1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4976861" y="2080376"/>
              <a:ext cx="5325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/>
                </a:rPr>
                <a:t> </a:t>
              </a:r>
              <a:r>
                <a:rPr lang="en-US" altLang="zh-TW" sz="2000" b="1" i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/>
                </a:rPr>
                <a:t>n</a:t>
              </a:r>
              <a:endParaRPr lang="zh-TW" altLang="en-US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流程圖: 決策 18"/>
            <p:cNvSpPr/>
            <p:nvPr/>
          </p:nvSpPr>
          <p:spPr>
            <a:xfrm>
              <a:off x="4057164" y="2533651"/>
              <a:ext cx="1404000" cy="324000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000" b="1" dirty="0" smtClean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條件</a:t>
              </a:r>
              <a:endParaRPr lang="zh-TW" altLang="en-US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20" name="直線單箭頭接點 19"/>
            <p:cNvCxnSpPr>
              <a:stCxn id="19" idx="2"/>
              <a:endCxn id="9" idx="0"/>
            </p:cNvCxnSpPr>
            <p:nvPr/>
          </p:nvCxnSpPr>
          <p:spPr>
            <a:xfrm flipH="1">
              <a:off x="4758223" y="2857651"/>
              <a:ext cx="941" cy="514796"/>
            </a:xfrm>
            <a:prstGeom prst="straightConnector1">
              <a:avLst/>
            </a:prstGeom>
            <a:ln w="28575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字方塊 20"/>
            <p:cNvSpPr txBox="1"/>
            <p:nvPr/>
          </p:nvSpPr>
          <p:spPr>
            <a:xfrm>
              <a:off x="4349065" y="2884728"/>
              <a:ext cx="3706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文字方塊 21"/>
            <p:cNvSpPr txBox="1"/>
            <p:nvPr/>
          </p:nvSpPr>
          <p:spPr>
            <a:xfrm>
              <a:off x="4592574" y="2884728"/>
              <a:ext cx="183415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/>
                </a:rPr>
                <a:t> </a:t>
              </a:r>
              <a:r>
                <a:rPr lang="en-US" altLang="zh-TW" sz="2000" b="1" i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/>
                </a:rPr>
                <a:t>n</a:t>
              </a:r>
              <a:r>
                <a:rPr lang="en-US" altLang="zh-TW" sz="2000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/>
                </a:rPr>
                <a:t> – (</a:t>
              </a:r>
              <a:r>
                <a:rPr lang="en-US" altLang="zh-TW" sz="2000" b="1" i="1" dirty="0" err="1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/>
                </a:rPr>
                <a:t>i</a:t>
              </a:r>
              <a:r>
                <a:rPr lang="en-US" altLang="zh-TW" sz="2000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/>
                </a:rPr>
                <a:t> + 1) + 1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文字方塊 22"/>
            <p:cNvSpPr txBox="1"/>
            <p:nvPr/>
          </p:nvSpPr>
          <p:spPr>
            <a:xfrm>
              <a:off x="3576187" y="1506984"/>
              <a:ext cx="3706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文字方塊 23"/>
            <p:cNvSpPr txBox="1"/>
            <p:nvPr/>
          </p:nvSpPr>
          <p:spPr>
            <a:xfrm>
              <a:off x="3802732" y="1507633"/>
              <a:ext cx="51809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/>
                </a:rPr>
                <a:t> 1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5" name="肘形接點 24"/>
            <p:cNvCxnSpPr>
              <a:stCxn id="19" idx="3"/>
              <a:endCxn id="13" idx="3"/>
            </p:cNvCxnSpPr>
            <p:nvPr/>
          </p:nvCxnSpPr>
          <p:spPr>
            <a:xfrm flipV="1">
              <a:off x="5461164" y="1854578"/>
              <a:ext cx="12700" cy="841073"/>
            </a:xfrm>
            <a:prstGeom prst="bentConnector3">
              <a:avLst>
                <a:gd name="adj1" fmla="val 1800000"/>
              </a:avLst>
            </a:prstGeom>
            <a:ln w="28575"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47564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迴圈的頻率計數 </a:t>
            </a:r>
            <a:r>
              <a:rPr lang="en-US" altLang="zh-TW" dirty="0" smtClean="0"/>
              <a:t>(5/5)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4927599"/>
          </a:xfrm>
          <a:prstGeom prst="rect">
            <a:avLst/>
          </a:prstGeom>
        </p:spPr>
        <p:txBody>
          <a:bodyPr/>
          <a:lstStyle/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altLang="zh-TW" dirty="0" err="1" smtClean="0"/>
              <a:t>int</a:t>
            </a:r>
            <a:r>
              <a:rPr lang="en-US" altLang="zh-TW" dirty="0" smtClean="0"/>
              <a:t> factorial (</a:t>
            </a:r>
            <a:r>
              <a:rPr lang="en-US" altLang="zh-TW" dirty="0" err="1" smtClean="0"/>
              <a:t>int</a:t>
            </a:r>
            <a:r>
              <a:rPr lang="en-US" altLang="zh-TW" dirty="0" smtClean="0"/>
              <a:t> 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) {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altLang="zh-TW" dirty="0"/>
              <a:t> </a:t>
            </a:r>
            <a:r>
              <a:rPr lang="en-US" altLang="zh-TW" dirty="0" smtClean="0"/>
              <a:t>    </a:t>
            </a:r>
            <a:r>
              <a:rPr lang="en-US" altLang="zh-TW" dirty="0" err="1" smtClean="0"/>
              <a:t>int</a:t>
            </a:r>
            <a:r>
              <a:rPr lang="en-US" altLang="zh-TW" dirty="0" smtClean="0"/>
              <a:t> result, 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;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altLang="zh-TW" dirty="0" smtClean="0"/>
              <a:t>     result = 1;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altLang="zh-TW" dirty="0" smtClean="0"/>
              <a:t>     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 = 1;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altLang="zh-TW" dirty="0" smtClean="0"/>
              <a:t>     while (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 &lt;= 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) {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altLang="zh-TW" dirty="0" smtClean="0"/>
              <a:t>          result = result * 1;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altLang="zh-TW" dirty="0" smtClean="0"/>
              <a:t>          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 = 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 + 1;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altLang="zh-TW" dirty="0" smtClean="0"/>
              <a:t>     }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altLang="zh-TW" dirty="0" smtClean="0"/>
              <a:t>     return result;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altLang="zh-TW" dirty="0"/>
              <a:t>}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21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5181599" y="1673447"/>
          <a:ext cx="2495424" cy="316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0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3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TW" altLang="en-US" sz="20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行號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b="1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altLang="zh-TW" sz="20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&gt; 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b="1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altLang="zh-TW" sz="20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20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Symbol"/>
                        </a:rPr>
                        <a:t> 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+ 1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000" b="1" i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000" b="1" i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Total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+ 4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8231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Big-O </a:t>
            </a:r>
            <a:r>
              <a:rPr lang="zh-TW" altLang="en-US" dirty="0" smtClean="0"/>
              <a:t>符號 </a:t>
            </a:r>
            <a:r>
              <a:rPr lang="en-US" altLang="zh-TW" dirty="0" smtClean="0"/>
              <a:t>(1/6)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4927599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數學式：</a:t>
            </a:r>
            <a:endParaRPr lang="en-US" altLang="zh-TW" dirty="0" smtClean="0"/>
          </a:p>
          <a:p>
            <a:pPr marL="457200" lvl="1" indent="0">
              <a:buNone/>
            </a:pPr>
            <a:r>
              <a:rPr lang="en-US" altLang="zh-TW" i="1" dirty="0" smtClean="0"/>
              <a:t>f</a:t>
            </a:r>
            <a:r>
              <a:rPr lang="en-US" altLang="zh-TW" dirty="0" smtClean="0"/>
              <a:t>(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) = O(</a:t>
            </a:r>
            <a:r>
              <a:rPr lang="en-US" altLang="zh-TW" i="1" dirty="0" smtClean="0"/>
              <a:t>g</a:t>
            </a:r>
            <a:r>
              <a:rPr lang="en-US" altLang="zh-TW" dirty="0" smtClean="0"/>
              <a:t>(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)) </a:t>
            </a:r>
            <a:r>
              <a:rPr lang="en-US" altLang="zh-TW" dirty="0" err="1" smtClean="0"/>
              <a:t>iff</a:t>
            </a:r>
            <a:r>
              <a:rPr lang="en-US" altLang="zh-TW" dirty="0" smtClean="0"/>
              <a:t> </a:t>
            </a:r>
            <a:r>
              <a:rPr lang="en-US" altLang="zh-TW" dirty="0" smtClean="0">
                <a:sym typeface="Symbol"/>
              </a:rPr>
              <a:t> </a:t>
            </a:r>
            <a:r>
              <a:rPr lang="en-US" altLang="zh-TW" i="1" dirty="0" smtClean="0">
                <a:sym typeface="Symbol"/>
              </a:rPr>
              <a:t>c</a:t>
            </a:r>
            <a:r>
              <a:rPr lang="en-US" altLang="zh-TW" dirty="0" smtClean="0">
                <a:sym typeface="Symbol"/>
              </a:rPr>
              <a:t>, </a:t>
            </a:r>
            <a:r>
              <a:rPr lang="en-US" altLang="zh-TW" i="1" dirty="0" smtClean="0">
                <a:sym typeface="Symbol"/>
              </a:rPr>
              <a:t>n</a:t>
            </a:r>
            <a:r>
              <a:rPr lang="en-US" altLang="zh-TW" baseline="-25000" dirty="0" smtClean="0">
                <a:sym typeface="Symbol"/>
              </a:rPr>
              <a:t>0</a:t>
            </a:r>
            <a:r>
              <a:rPr lang="en-US" altLang="zh-TW" dirty="0" smtClean="0">
                <a:sym typeface="Symbol"/>
              </a:rPr>
              <a:t> &gt; 0 such that </a:t>
            </a:r>
            <a:r>
              <a:rPr lang="en-US" altLang="zh-TW" i="1" dirty="0" smtClean="0">
                <a:sym typeface="Symbol"/>
              </a:rPr>
              <a:t>f</a:t>
            </a:r>
            <a:r>
              <a:rPr lang="en-US" altLang="zh-TW" dirty="0" smtClean="0">
                <a:sym typeface="Symbol"/>
              </a:rPr>
              <a:t>(</a:t>
            </a:r>
            <a:r>
              <a:rPr lang="en-US" altLang="zh-TW" i="1" dirty="0" smtClean="0">
                <a:sym typeface="Symbol"/>
              </a:rPr>
              <a:t>n</a:t>
            </a:r>
            <a:r>
              <a:rPr lang="en-US" altLang="zh-TW" dirty="0" smtClean="0">
                <a:sym typeface="Symbol"/>
              </a:rPr>
              <a:t>)  </a:t>
            </a:r>
            <a:r>
              <a:rPr lang="en-US" altLang="zh-TW" i="1" dirty="0" smtClean="0">
                <a:sym typeface="Symbol"/>
              </a:rPr>
              <a:t>c</a:t>
            </a:r>
            <a:r>
              <a:rPr lang="en-US" altLang="zh-TW" dirty="0" smtClean="0">
                <a:sym typeface="Symbol"/>
              </a:rPr>
              <a:t>  </a:t>
            </a:r>
            <a:r>
              <a:rPr lang="en-US" altLang="zh-TW" i="1" dirty="0" smtClean="0">
                <a:sym typeface="Symbol"/>
              </a:rPr>
              <a:t>g</a:t>
            </a:r>
            <a:r>
              <a:rPr lang="en-US" altLang="zh-TW" dirty="0" smtClean="0">
                <a:sym typeface="Symbol"/>
              </a:rPr>
              <a:t>(</a:t>
            </a:r>
            <a:r>
              <a:rPr lang="en-US" altLang="zh-TW" i="1" dirty="0" smtClean="0">
                <a:sym typeface="Symbol"/>
              </a:rPr>
              <a:t>n</a:t>
            </a:r>
            <a:r>
              <a:rPr lang="en-US" altLang="zh-TW" dirty="0" smtClean="0">
                <a:sym typeface="Symbol"/>
              </a:rPr>
              <a:t>),  </a:t>
            </a:r>
            <a:r>
              <a:rPr lang="en-US" altLang="zh-TW" i="1" dirty="0" smtClean="0">
                <a:sym typeface="Symbol"/>
              </a:rPr>
              <a:t>n</a:t>
            </a:r>
            <a:r>
              <a:rPr lang="en-US" altLang="zh-TW" dirty="0" smtClean="0">
                <a:sym typeface="Symbol"/>
              </a:rPr>
              <a:t>  </a:t>
            </a:r>
            <a:r>
              <a:rPr lang="en-US" altLang="zh-TW" i="1" dirty="0" smtClean="0">
                <a:sym typeface="Symbol"/>
              </a:rPr>
              <a:t>n</a:t>
            </a:r>
            <a:r>
              <a:rPr lang="en-US" altLang="zh-TW" baseline="-25000" dirty="0" smtClean="0">
                <a:sym typeface="Symbol"/>
              </a:rPr>
              <a:t>0</a:t>
            </a:r>
            <a:r>
              <a:rPr lang="en-US" altLang="zh-TW" dirty="0" smtClean="0">
                <a:sym typeface="Symbol"/>
              </a:rPr>
              <a:t>.</a:t>
            </a:r>
          </a:p>
          <a:p>
            <a:endParaRPr lang="en-US" altLang="zh-TW" i="1" dirty="0" smtClean="0"/>
          </a:p>
          <a:p>
            <a:r>
              <a:rPr lang="en-US" altLang="zh-TW" i="1" dirty="0" smtClean="0"/>
              <a:t>f</a:t>
            </a:r>
            <a:r>
              <a:rPr lang="en-US" altLang="zh-TW" dirty="0" smtClean="0"/>
              <a:t>(</a:t>
            </a:r>
            <a:r>
              <a:rPr lang="en-US" altLang="zh-TW" i="1" dirty="0" smtClean="0"/>
              <a:t>n</a:t>
            </a:r>
            <a:r>
              <a:rPr lang="en-US" altLang="zh-TW" dirty="0"/>
              <a:t>) </a:t>
            </a:r>
            <a:r>
              <a:rPr lang="zh-TW" altLang="en-US" dirty="0"/>
              <a:t>取</a:t>
            </a:r>
            <a:r>
              <a:rPr lang="en-US" altLang="zh-TW" dirty="0"/>
              <a:t>Big-O</a:t>
            </a:r>
            <a:r>
              <a:rPr lang="zh-TW" altLang="en-US" dirty="0"/>
              <a:t>符號為</a:t>
            </a:r>
            <a:r>
              <a:rPr lang="en-US" altLang="zh-TW" dirty="0" smtClean="0"/>
              <a:t>O(</a:t>
            </a:r>
            <a:r>
              <a:rPr lang="en-US" altLang="zh-TW" i="1" dirty="0" smtClean="0"/>
              <a:t>g</a:t>
            </a:r>
            <a:r>
              <a:rPr lang="en-US" altLang="zh-TW" dirty="0" smtClean="0"/>
              <a:t>(</a:t>
            </a:r>
            <a:r>
              <a:rPr lang="en-US" altLang="zh-TW" i="1" dirty="0" smtClean="0"/>
              <a:t>n</a:t>
            </a:r>
            <a:r>
              <a:rPr lang="en-US" altLang="zh-TW" dirty="0"/>
              <a:t>))，</a:t>
            </a:r>
            <a:r>
              <a:rPr lang="zh-TW" altLang="en-US" dirty="0"/>
              <a:t>當 </a:t>
            </a:r>
            <a:r>
              <a:rPr lang="en-US" altLang="zh-TW" i="1" dirty="0"/>
              <a:t>n</a:t>
            </a:r>
            <a:r>
              <a:rPr lang="en-US" altLang="zh-TW" dirty="0"/>
              <a:t> </a:t>
            </a:r>
            <a:r>
              <a:rPr lang="zh-TW" altLang="en-US" dirty="0"/>
              <a:t>夠大的時候，</a:t>
            </a:r>
            <a:r>
              <a:rPr lang="en-US" altLang="zh-TW" i="1" dirty="0"/>
              <a:t>g</a:t>
            </a:r>
            <a:r>
              <a:rPr lang="en-US" altLang="zh-TW" dirty="0"/>
              <a:t>(</a:t>
            </a:r>
            <a:r>
              <a:rPr lang="en-US" altLang="zh-TW" i="1" dirty="0"/>
              <a:t>n</a:t>
            </a:r>
            <a:r>
              <a:rPr lang="en-US" altLang="zh-TW" dirty="0"/>
              <a:t>)</a:t>
            </a:r>
            <a:r>
              <a:rPr lang="zh-TW" altLang="en-US" dirty="0"/>
              <a:t>相當於是</a:t>
            </a:r>
            <a:r>
              <a:rPr lang="en-US" altLang="zh-TW" i="1" dirty="0"/>
              <a:t>f</a:t>
            </a:r>
            <a:r>
              <a:rPr lang="en-US" altLang="zh-TW" dirty="0"/>
              <a:t>(</a:t>
            </a:r>
            <a:r>
              <a:rPr lang="en-US" altLang="zh-TW" i="1" dirty="0"/>
              <a:t>n</a:t>
            </a:r>
            <a:r>
              <a:rPr lang="en-US" altLang="zh-TW" dirty="0"/>
              <a:t>)</a:t>
            </a:r>
            <a:r>
              <a:rPr lang="zh-TW" altLang="en-US" dirty="0"/>
              <a:t>的</a:t>
            </a:r>
            <a:r>
              <a:rPr lang="zh-TW" altLang="en-US" dirty="0" smtClean="0">
                <a:solidFill>
                  <a:srgbClr val="C00000"/>
                </a:solidFill>
              </a:rPr>
              <a:t>上限</a:t>
            </a:r>
            <a:endParaRPr lang="en-US" altLang="zh-TW" dirty="0" smtClean="0">
              <a:solidFill>
                <a:srgbClr val="C00000"/>
              </a:solidFill>
            </a:endParaRPr>
          </a:p>
          <a:p>
            <a:pPr lvl="1"/>
            <a:r>
              <a:rPr lang="en-US" altLang="zh-TW" i="1" dirty="0" smtClean="0"/>
              <a:t>f</a:t>
            </a:r>
            <a:r>
              <a:rPr lang="en-US" altLang="zh-TW" dirty="0" smtClean="0"/>
              <a:t>(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)</a:t>
            </a:r>
            <a:r>
              <a:rPr lang="zh-TW" altLang="en-US" dirty="0" smtClean="0"/>
              <a:t> 的增長不會超過 </a:t>
            </a:r>
            <a:r>
              <a:rPr lang="en-US" altLang="zh-TW" i="1" dirty="0" smtClean="0"/>
              <a:t>g</a:t>
            </a:r>
            <a:r>
              <a:rPr lang="en-US" altLang="zh-TW" dirty="0" smtClean="0"/>
              <a:t>(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)</a:t>
            </a:r>
            <a:r>
              <a:rPr lang="zh-TW" altLang="en-US" dirty="0" smtClean="0"/>
              <a:t> 的增長</a:t>
            </a:r>
            <a:endParaRPr lang="en-US" altLang="zh-TW" dirty="0" smtClean="0"/>
          </a:p>
          <a:p>
            <a:pPr lvl="1"/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22</a:t>
            </a:fld>
            <a:endParaRPr lang="en-US" dirty="0"/>
          </a:p>
        </p:txBody>
      </p:sp>
      <p:grpSp>
        <p:nvGrpSpPr>
          <p:cNvPr id="16" name="群組 15"/>
          <p:cNvGrpSpPr/>
          <p:nvPr/>
        </p:nvGrpSpPr>
        <p:grpSpPr>
          <a:xfrm>
            <a:off x="2412275" y="3874243"/>
            <a:ext cx="4326141" cy="2363638"/>
            <a:chOff x="2816532" y="3733800"/>
            <a:chExt cx="3276930" cy="1830238"/>
          </a:xfrm>
        </p:grpSpPr>
        <p:sp>
          <p:nvSpPr>
            <p:cNvPr id="7" name="Line 12"/>
            <p:cNvSpPr>
              <a:spLocks noChangeShapeType="1"/>
            </p:cNvSpPr>
            <p:nvPr/>
          </p:nvSpPr>
          <p:spPr bwMode="auto">
            <a:xfrm>
              <a:off x="2971800" y="3733800"/>
              <a:ext cx="0" cy="15120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Line 11"/>
            <p:cNvSpPr>
              <a:spLocks noChangeShapeType="1"/>
            </p:cNvSpPr>
            <p:nvPr/>
          </p:nvSpPr>
          <p:spPr bwMode="auto">
            <a:xfrm>
              <a:off x="2816532" y="5088148"/>
              <a:ext cx="29520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" name="Text Box 10"/>
            <p:cNvSpPr txBox="1">
              <a:spLocks noChangeArrowheads="1"/>
            </p:cNvSpPr>
            <p:nvPr/>
          </p:nvSpPr>
          <p:spPr bwMode="auto">
            <a:xfrm>
              <a:off x="5750562" y="4901243"/>
              <a:ext cx="342900" cy="407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0800" rIns="0" bIns="108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9pPr>
            </a:lstStyle>
            <a:p>
              <a:pPr algn="ctr" eaLnBrk="1" hangingPunct="1"/>
              <a:r>
                <a:rPr lang="en-US" altLang="zh-TW" sz="2000" b="1" i="1" dirty="0"/>
                <a:t>n</a:t>
              </a:r>
            </a:p>
            <a:p>
              <a:endParaRPr lang="en-US" altLang="zh-TW" sz="2000" b="1" dirty="0"/>
            </a:p>
          </p:txBody>
        </p:sp>
        <p:sp>
          <p:nvSpPr>
            <p:cNvPr id="10" name="Text Box 9"/>
            <p:cNvSpPr txBox="1">
              <a:spLocks noChangeArrowheads="1"/>
            </p:cNvSpPr>
            <p:nvPr/>
          </p:nvSpPr>
          <p:spPr bwMode="auto">
            <a:xfrm>
              <a:off x="3492500" y="5157788"/>
              <a:ext cx="457200" cy="406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0800" rIns="0" bIns="108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9pPr>
            </a:lstStyle>
            <a:p>
              <a:pPr algn="ctr" eaLnBrk="1" hangingPunct="1"/>
              <a:r>
                <a:rPr lang="en-US" altLang="zh-TW" sz="2000" b="1" i="1" dirty="0" smtClean="0"/>
                <a:t>n</a:t>
              </a:r>
              <a:r>
                <a:rPr lang="en-US" altLang="zh-TW" sz="2000" b="1" baseline="-30000" dirty="0" smtClean="0"/>
                <a:t>0</a:t>
              </a:r>
              <a:endParaRPr lang="en-US" altLang="zh-TW" sz="2000" b="1" dirty="0"/>
            </a:p>
          </p:txBody>
        </p:sp>
        <p:sp>
          <p:nvSpPr>
            <p:cNvPr id="11" name="Text Box 8"/>
            <p:cNvSpPr txBox="1">
              <a:spLocks noChangeArrowheads="1"/>
            </p:cNvSpPr>
            <p:nvPr/>
          </p:nvSpPr>
          <p:spPr bwMode="auto">
            <a:xfrm>
              <a:off x="5181600" y="4267199"/>
              <a:ext cx="503208" cy="371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0800" rIns="0" bIns="108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9pPr>
            </a:lstStyle>
            <a:p>
              <a:pPr algn="ctr" eaLnBrk="1" hangingPunct="1"/>
              <a:r>
                <a:rPr lang="en-US" altLang="zh-TW" sz="2000" b="1" i="1" dirty="0"/>
                <a:t>f</a:t>
              </a:r>
              <a:r>
                <a:rPr lang="en-US" altLang="zh-TW" sz="2000" b="1" dirty="0"/>
                <a:t>(n)</a:t>
              </a:r>
            </a:p>
            <a:p>
              <a:endParaRPr lang="en-US" altLang="zh-TW" sz="2000" b="1" dirty="0"/>
            </a:p>
          </p:txBody>
        </p:sp>
        <p:sp>
          <p:nvSpPr>
            <p:cNvPr id="12" name="Text Box 7"/>
            <p:cNvSpPr txBox="1">
              <a:spLocks noChangeArrowheads="1"/>
            </p:cNvSpPr>
            <p:nvPr/>
          </p:nvSpPr>
          <p:spPr bwMode="auto">
            <a:xfrm>
              <a:off x="4495800" y="3810000"/>
              <a:ext cx="11049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0800" rIns="0" bIns="108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新細明體" charset="-120"/>
                </a:defRPr>
              </a:lvl9pPr>
            </a:lstStyle>
            <a:p>
              <a:pPr algn="ctr" eaLnBrk="1" hangingPunct="1"/>
              <a:r>
                <a:rPr lang="en-US" altLang="zh-TW" sz="2000" b="1" i="1" dirty="0" smtClean="0"/>
                <a:t>c</a:t>
              </a:r>
              <a:r>
                <a:rPr lang="zh-TW" altLang="en-US" sz="2000" b="1" dirty="0" smtClean="0"/>
                <a:t> </a:t>
              </a:r>
              <a:r>
                <a:rPr lang="en-US" altLang="zh-TW" sz="2000" b="1" dirty="0" smtClean="0">
                  <a:sym typeface="Symbol"/>
                </a:rPr>
                <a:t></a:t>
              </a:r>
              <a:r>
                <a:rPr lang="zh-TW" altLang="en-US" sz="2000" b="1" dirty="0" smtClean="0">
                  <a:sym typeface="Symbol"/>
                </a:rPr>
                <a:t> </a:t>
              </a:r>
              <a:r>
                <a:rPr lang="en-US" altLang="zh-TW" sz="2000" b="1" i="1" dirty="0" smtClean="0"/>
                <a:t>g</a:t>
              </a:r>
              <a:r>
                <a:rPr lang="en-US" altLang="zh-TW" sz="2000" b="1" dirty="0" smtClean="0"/>
                <a:t>(</a:t>
              </a:r>
              <a:r>
                <a:rPr lang="en-US" altLang="zh-TW" sz="2000" b="1" i="1" dirty="0" smtClean="0"/>
                <a:t>n</a:t>
              </a:r>
              <a:r>
                <a:rPr lang="en-US" altLang="zh-TW" sz="2000" b="1" dirty="0"/>
                <a:t>)</a:t>
              </a:r>
            </a:p>
            <a:p>
              <a:endParaRPr lang="en-US" altLang="zh-TW" sz="2000" b="1" dirty="0"/>
            </a:p>
          </p:txBody>
        </p:sp>
        <p:sp>
          <p:nvSpPr>
            <p:cNvPr id="13" name="Freeform 6"/>
            <p:cNvSpPr>
              <a:spLocks/>
            </p:cNvSpPr>
            <p:nvPr/>
          </p:nvSpPr>
          <p:spPr bwMode="auto">
            <a:xfrm>
              <a:off x="3352800" y="4419600"/>
              <a:ext cx="1676400" cy="438150"/>
            </a:xfrm>
            <a:custGeom>
              <a:avLst/>
              <a:gdLst>
                <a:gd name="T0" fmla="*/ 0 w 1980"/>
                <a:gd name="T1" fmla="*/ 2147483647 h 570"/>
                <a:gd name="T2" fmla="*/ 2147483647 w 1980"/>
                <a:gd name="T3" fmla="*/ 2147483647 h 570"/>
                <a:gd name="T4" fmla="*/ 2147483647 w 1980"/>
                <a:gd name="T5" fmla="*/ 2147483647 h 570"/>
                <a:gd name="T6" fmla="*/ 2147483647 w 1980"/>
                <a:gd name="T7" fmla="*/ 2147483647 h 570"/>
                <a:gd name="T8" fmla="*/ 2147483647 w 1980"/>
                <a:gd name="T9" fmla="*/ 2147483647 h 570"/>
                <a:gd name="T10" fmla="*/ 2147483647 w 1980"/>
                <a:gd name="T11" fmla="*/ 2147483647 h 570"/>
                <a:gd name="T12" fmla="*/ 2147483647 w 1980"/>
                <a:gd name="T13" fmla="*/ 2147483647 h 570"/>
                <a:gd name="T14" fmla="*/ 2147483647 w 1980"/>
                <a:gd name="T15" fmla="*/ 2147483647 h 57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980"/>
                <a:gd name="T25" fmla="*/ 0 h 570"/>
                <a:gd name="T26" fmla="*/ 1980 w 1980"/>
                <a:gd name="T27" fmla="*/ 570 h 57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980" h="570">
                  <a:moveTo>
                    <a:pt x="0" y="570"/>
                  </a:moveTo>
                  <a:cubicBezTo>
                    <a:pt x="45" y="495"/>
                    <a:pt x="90" y="420"/>
                    <a:pt x="180" y="390"/>
                  </a:cubicBezTo>
                  <a:cubicBezTo>
                    <a:pt x="270" y="360"/>
                    <a:pt x="420" y="390"/>
                    <a:pt x="540" y="390"/>
                  </a:cubicBezTo>
                  <a:cubicBezTo>
                    <a:pt x="660" y="390"/>
                    <a:pt x="810" y="420"/>
                    <a:pt x="900" y="390"/>
                  </a:cubicBezTo>
                  <a:cubicBezTo>
                    <a:pt x="990" y="360"/>
                    <a:pt x="990" y="240"/>
                    <a:pt x="1080" y="210"/>
                  </a:cubicBezTo>
                  <a:cubicBezTo>
                    <a:pt x="1170" y="180"/>
                    <a:pt x="1320" y="240"/>
                    <a:pt x="1440" y="210"/>
                  </a:cubicBezTo>
                  <a:cubicBezTo>
                    <a:pt x="1560" y="180"/>
                    <a:pt x="1710" y="60"/>
                    <a:pt x="1800" y="30"/>
                  </a:cubicBezTo>
                  <a:cubicBezTo>
                    <a:pt x="1890" y="0"/>
                    <a:pt x="1935" y="15"/>
                    <a:pt x="1980" y="30"/>
                  </a:cubicBez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" name="Freeform 5"/>
            <p:cNvSpPr>
              <a:spLocks/>
            </p:cNvSpPr>
            <p:nvPr/>
          </p:nvSpPr>
          <p:spPr bwMode="auto">
            <a:xfrm>
              <a:off x="3276600" y="4191000"/>
              <a:ext cx="1524000" cy="762000"/>
            </a:xfrm>
            <a:custGeom>
              <a:avLst/>
              <a:gdLst>
                <a:gd name="T0" fmla="*/ 0 w 1800"/>
                <a:gd name="T1" fmla="*/ 2147483647 h 930"/>
                <a:gd name="T2" fmla="*/ 2147483647 w 1800"/>
                <a:gd name="T3" fmla="*/ 2147483647 h 930"/>
                <a:gd name="T4" fmla="*/ 2147483647 w 1800"/>
                <a:gd name="T5" fmla="*/ 2147483647 h 930"/>
                <a:gd name="T6" fmla="*/ 2147483647 w 1800"/>
                <a:gd name="T7" fmla="*/ 2147483647 h 930"/>
                <a:gd name="T8" fmla="*/ 2147483647 w 1800"/>
                <a:gd name="T9" fmla="*/ 2147483647 h 930"/>
                <a:gd name="T10" fmla="*/ 2147483647 w 1800"/>
                <a:gd name="T11" fmla="*/ 2147483647 h 930"/>
                <a:gd name="T12" fmla="*/ 2147483647 w 1800"/>
                <a:gd name="T13" fmla="*/ 2147483647 h 930"/>
                <a:gd name="T14" fmla="*/ 2147483647 w 1800"/>
                <a:gd name="T15" fmla="*/ 0 h 93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800"/>
                <a:gd name="T25" fmla="*/ 0 h 930"/>
                <a:gd name="T26" fmla="*/ 1800 w 1800"/>
                <a:gd name="T27" fmla="*/ 930 h 93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800" h="930">
                  <a:moveTo>
                    <a:pt x="0" y="900"/>
                  </a:moveTo>
                  <a:cubicBezTo>
                    <a:pt x="60" y="915"/>
                    <a:pt x="120" y="930"/>
                    <a:pt x="180" y="900"/>
                  </a:cubicBezTo>
                  <a:cubicBezTo>
                    <a:pt x="240" y="870"/>
                    <a:pt x="270" y="810"/>
                    <a:pt x="360" y="720"/>
                  </a:cubicBezTo>
                  <a:cubicBezTo>
                    <a:pt x="450" y="630"/>
                    <a:pt x="630" y="420"/>
                    <a:pt x="720" y="360"/>
                  </a:cubicBezTo>
                  <a:cubicBezTo>
                    <a:pt x="810" y="300"/>
                    <a:pt x="840" y="360"/>
                    <a:pt x="900" y="360"/>
                  </a:cubicBezTo>
                  <a:cubicBezTo>
                    <a:pt x="960" y="360"/>
                    <a:pt x="990" y="390"/>
                    <a:pt x="1080" y="360"/>
                  </a:cubicBezTo>
                  <a:cubicBezTo>
                    <a:pt x="1170" y="330"/>
                    <a:pt x="1320" y="240"/>
                    <a:pt x="1440" y="180"/>
                  </a:cubicBezTo>
                  <a:cubicBezTo>
                    <a:pt x="1560" y="120"/>
                    <a:pt x="1740" y="30"/>
                    <a:pt x="1800" y="0"/>
                  </a:cubicBez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5" name="Line 4"/>
            <p:cNvSpPr>
              <a:spLocks noChangeShapeType="1"/>
            </p:cNvSpPr>
            <p:nvPr/>
          </p:nvSpPr>
          <p:spPr bwMode="auto">
            <a:xfrm>
              <a:off x="3648974" y="4145002"/>
              <a:ext cx="0" cy="972000"/>
            </a:xfrm>
            <a:prstGeom prst="line">
              <a:avLst/>
            </a:prstGeom>
            <a:noFill/>
            <a:ln w="28575" cap="rnd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16998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Big-O </a:t>
            </a:r>
            <a:r>
              <a:rPr lang="zh-TW" altLang="en-US" dirty="0"/>
              <a:t>符號 </a:t>
            </a:r>
            <a:r>
              <a:rPr lang="en-US" altLang="zh-TW" dirty="0" smtClean="0"/>
              <a:t>(2/6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有一程式的執行次數為</a:t>
            </a:r>
            <a:r>
              <a:rPr lang="en-US" altLang="zh-TW" i="1" dirty="0" smtClean="0"/>
              <a:t>n</a:t>
            </a:r>
            <a:r>
              <a:rPr lang="en-US" altLang="zh-TW" baseline="30000" dirty="0" smtClean="0"/>
              <a:t>2</a:t>
            </a:r>
            <a:r>
              <a:rPr lang="zh-TW" altLang="en-US" baseline="30000" dirty="0" smtClean="0"/>
              <a:t> </a:t>
            </a:r>
            <a:r>
              <a:rPr lang="en-US" altLang="zh-TW" dirty="0" smtClean="0"/>
              <a:t>+</a:t>
            </a:r>
            <a:r>
              <a:rPr lang="zh-TW" altLang="en-US" dirty="0" smtClean="0"/>
              <a:t> </a:t>
            </a:r>
            <a:r>
              <a:rPr lang="en-US" altLang="zh-TW" dirty="0" smtClean="0"/>
              <a:t>10</a:t>
            </a:r>
            <a:r>
              <a:rPr lang="en-US" altLang="zh-TW" i="1" dirty="0" smtClean="0"/>
              <a:t>n</a:t>
            </a:r>
            <a:endParaRPr lang="en-US" altLang="zh-TW" dirty="0"/>
          </a:p>
          <a:p>
            <a:pPr lvl="1"/>
            <a:r>
              <a:rPr lang="en-US" altLang="zh-TW" dirty="0" smtClean="0"/>
              <a:t>Big-O</a:t>
            </a:r>
            <a:r>
              <a:rPr lang="zh-TW" altLang="en-US" dirty="0"/>
              <a:t>為</a:t>
            </a:r>
            <a:r>
              <a:rPr lang="en-US" altLang="zh-TW" i="1" dirty="0" smtClean="0"/>
              <a:t>n</a:t>
            </a:r>
            <a:r>
              <a:rPr lang="en-US" altLang="zh-TW" baseline="30000" dirty="0" smtClean="0"/>
              <a:t>2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表示</a:t>
            </a:r>
            <a:r>
              <a:rPr lang="zh-TW" altLang="en-US" dirty="0"/>
              <a:t>此程式執行的時間最壞的情況下不會超過</a:t>
            </a:r>
            <a:r>
              <a:rPr lang="en-US" altLang="zh-TW" i="1" dirty="0" smtClean="0"/>
              <a:t>n</a:t>
            </a:r>
            <a:r>
              <a:rPr lang="en-US" altLang="zh-TW" baseline="30000" dirty="0" smtClean="0"/>
              <a:t>2</a:t>
            </a:r>
          </a:p>
          <a:p>
            <a:pPr lvl="1"/>
            <a:r>
              <a:rPr lang="zh-TW" altLang="en-US" dirty="0" smtClean="0">
                <a:solidFill>
                  <a:schemeClr val="tx2"/>
                </a:solidFill>
              </a:rPr>
              <a:t>因為</a:t>
            </a:r>
            <a:r>
              <a:rPr lang="en-US" altLang="zh-TW" i="1" dirty="0" smtClean="0">
                <a:solidFill>
                  <a:schemeClr val="tx2"/>
                </a:solidFill>
              </a:rPr>
              <a:t>n</a:t>
            </a:r>
            <a:r>
              <a:rPr lang="en-US" altLang="zh-TW" baseline="30000" dirty="0" smtClean="0">
                <a:solidFill>
                  <a:schemeClr val="tx2"/>
                </a:solidFill>
              </a:rPr>
              <a:t>2</a:t>
            </a:r>
            <a:r>
              <a:rPr lang="zh-TW" altLang="en-US" baseline="30000" dirty="0" smtClean="0">
                <a:solidFill>
                  <a:schemeClr val="tx2"/>
                </a:solidFill>
              </a:rPr>
              <a:t> </a:t>
            </a:r>
            <a:r>
              <a:rPr lang="en-US" altLang="zh-TW" dirty="0" smtClean="0">
                <a:solidFill>
                  <a:schemeClr val="tx2"/>
                </a:solidFill>
              </a:rPr>
              <a:t>+</a:t>
            </a:r>
            <a:r>
              <a:rPr lang="zh-TW" altLang="en-US" dirty="0" smtClean="0">
                <a:solidFill>
                  <a:schemeClr val="tx2"/>
                </a:solidFill>
              </a:rPr>
              <a:t> </a:t>
            </a:r>
            <a:r>
              <a:rPr lang="en-US" altLang="zh-TW" dirty="0" smtClean="0">
                <a:solidFill>
                  <a:schemeClr val="tx2"/>
                </a:solidFill>
              </a:rPr>
              <a:t>10</a:t>
            </a:r>
            <a:r>
              <a:rPr lang="en-US" altLang="zh-TW" i="1" dirty="0" smtClean="0">
                <a:solidFill>
                  <a:schemeClr val="tx2"/>
                </a:solidFill>
              </a:rPr>
              <a:t>n</a:t>
            </a:r>
            <a:r>
              <a:rPr lang="zh-TW" altLang="en-US" i="1" dirty="0" smtClean="0">
                <a:solidFill>
                  <a:schemeClr val="tx2"/>
                </a:solidFill>
              </a:rPr>
              <a:t> </a:t>
            </a:r>
            <a:r>
              <a:rPr lang="en-US" altLang="zh-TW" dirty="0" smtClean="0">
                <a:solidFill>
                  <a:schemeClr val="tx2"/>
                </a:solidFill>
                <a:sym typeface="Symbol" panose="05050102010706020507" pitchFamily="18" charset="2"/>
              </a:rPr>
              <a:t></a:t>
            </a:r>
            <a:r>
              <a:rPr lang="zh-TW" altLang="en-US" dirty="0" smtClean="0">
                <a:solidFill>
                  <a:schemeClr val="tx2"/>
                </a:solidFill>
                <a:sym typeface="Symbol" panose="05050102010706020507" pitchFamily="18" charset="2"/>
              </a:rPr>
              <a:t> </a:t>
            </a:r>
            <a:r>
              <a:rPr lang="en-US" altLang="zh-TW" dirty="0" smtClean="0">
                <a:solidFill>
                  <a:schemeClr val="tx2"/>
                </a:solidFill>
              </a:rPr>
              <a:t>2</a:t>
            </a:r>
            <a:r>
              <a:rPr lang="en-US" altLang="zh-TW" i="1" dirty="0" smtClean="0">
                <a:solidFill>
                  <a:schemeClr val="tx2"/>
                </a:solidFill>
              </a:rPr>
              <a:t>n</a:t>
            </a:r>
            <a:r>
              <a:rPr lang="en-US" altLang="zh-TW" baseline="30000" dirty="0" smtClean="0">
                <a:solidFill>
                  <a:schemeClr val="tx2"/>
                </a:solidFill>
              </a:rPr>
              <a:t>2</a:t>
            </a:r>
            <a:r>
              <a:rPr lang="zh-TW" altLang="en-US" dirty="0">
                <a:solidFill>
                  <a:schemeClr val="tx2"/>
                </a:solidFill>
              </a:rPr>
              <a:t>，當</a:t>
            </a:r>
            <a:r>
              <a:rPr lang="en-US" altLang="zh-TW" i="1" dirty="0" smtClean="0">
                <a:solidFill>
                  <a:schemeClr val="tx2"/>
                </a:solidFill>
              </a:rPr>
              <a:t>c</a:t>
            </a:r>
            <a:r>
              <a:rPr lang="zh-TW" altLang="en-US" i="1" dirty="0" smtClean="0">
                <a:solidFill>
                  <a:schemeClr val="tx2"/>
                </a:solidFill>
              </a:rPr>
              <a:t> </a:t>
            </a:r>
            <a:r>
              <a:rPr lang="en-US" altLang="zh-TW" dirty="0" smtClean="0">
                <a:solidFill>
                  <a:schemeClr val="tx2"/>
                </a:solidFill>
              </a:rPr>
              <a:t>=</a:t>
            </a:r>
            <a:r>
              <a:rPr lang="zh-TW" altLang="en-US" dirty="0" smtClean="0">
                <a:solidFill>
                  <a:schemeClr val="tx2"/>
                </a:solidFill>
              </a:rPr>
              <a:t> </a:t>
            </a:r>
            <a:r>
              <a:rPr lang="en-US" altLang="zh-TW" dirty="0" smtClean="0">
                <a:solidFill>
                  <a:schemeClr val="tx2"/>
                </a:solidFill>
              </a:rPr>
              <a:t>2</a:t>
            </a:r>
            <a:r>
              <a:rPr lang="zh-TW" altLang="en-US" dirty="0">
                <a:solidFill>
                  <a:schemeClr val="tx2"/>
                </a:solidFill>
              </a:rPr>
              <a:t>，</a:t>
            </a:r>
            <a:r>
              <a:rPr lang="en-US" altLang="zh-TW" i="1" dirty="0" smtClean="0">
                <a:solidFill>
                  <a:schemeClr val="tx2"/>
                </a:solidFill>
              </a:rPr>
              <a:t>n</a:t>
            </a:r>
            <a:r>
              <a:rPr lang="zh-TW" altLang="en-US" i="1" dirty="0" smtClean="0">
                <a:solidFill>
                  <a:schemeClr val="tx2"/>
                </a:solidFill>
              </a:rPr>
              <a:t> </a:t>
            </a:r>
            <a:r>
              <a:rPr lang="en-US" altLang="zh-TW" dirty="0" smtClean="0">
                <a:solidFill>
                  <a:schemeClr val="tx2"/>
                </a:solidFill>
                <a:sym typeface="Symbol" panose="05050102010706020507" pitchFamily="18" charset="2"/>
              </a:rPr>
              <a:t></a:t>
            </a:r>
            <a:r>
              <a:rPr lang="zh-TW" altLang="en-US" dirty="0" smtClean="0">
                <a:solidFill>
                  <a:schemeClr val="tx2"/>
                </a:solidFill>
                <a:sym typeface="Symbol" panose="05050102010706020507" pitchFamily="18" charset="2"/>
              </a:rPr>
              <a:t> </a:t>
            </a:r>
            <a:r>
              <a:rPr lang="en-US" altLang="zh-TW" dirty="0" smtClean="0">
                <a:solidFill>
                  <a:schemeClr val="tx2"/>
                </a:solidFill>
              </a:rPr>
              <a:t>10</a:t>
            </a:r>
            <a:r>
              <a:rPr lang="zh-TW" altLang="en-US" dirty="0">
                <a:solidFill>
                  <a:schemeClr val="tx2"/>
                </a:solidFill>
              </a:rPr>
              <a:t>時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23</a:t>
            </a:fld>
            <a:endParaRPr lang="en-US" altLang="zh-TW" dirty="0"/>
          </a:p>
        </p:txBody>
      </p:sp>
      <p:pic>
        <p:nvPicPr>
          <p:cNvPr id="7" name="Picture 5" descr="C:\Documents and Settings\Administrator\桌面\頁面擷取自 未命名-1-5.t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17"/>
          <a:stretch>
            <a:fillRect/>
          </a:stretch>
        </p:blipFill>
        <p:spPr bwMode="auto">
          <a:xfrm>
            <a:off x="2195736" y="3356992"/>
            <a:ext cx="4495800" cy="263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33742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Big-O </a:t>
            </a:r>
            <a:r>
              <a:rPr lang="zh-TW" altLang="en-US" dirty="0"/>
              <a:t>符號 </a:t>
            </a:r>
            <a:r>
              <a:rPr lang="en-US" altLang="zh-TW" dirty="0" smtClean="0"/>
              <a:t>(3/6)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4927599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看出程式執行時間相對於問題大小的</a:t>
            </a:r>
            <a:r>
              <a:rPr lang="zh-TW" altLang="en-US" dirty="0" smtClean="0">
                <a:solidFill>
                  <a:srgbClr val="C00000"/>
                </a:solidFill>
              </a:rPr>
              <a:t>成長速度</a:t>
            </a:r>
            <a:r>
              <a:rPr lang="zh-TW" altLang="en-US" dirty="0" smtClean="0"/>
              <a:t>或</a:t>
            </a:r>
            <a:r>
              <a:rPr lang="zh-TW" altLang="en-US" dirty="0" smtClean="0">
                <a:solidFill>
                  <a:srgbClr val="C00000"/>
                </a:solidFill>
              </a:rPr>
              <a:t>成長趨勢</a:t>
            </a:r>
            <a:endParaRPr lang="en-US" altLang="zh-TW" dirty="0" smtClean="0">
              <a:solidFill>
                <a:srgbClr val="C00000"/>
              </a:solidFill>
            </a:endParaRPr>
          </a:p>
          <a:p>
            <a:endParaRPr lang="en-US" altLang="zh-TW" dirty="0" smtClean="0"/>
          </a:p>
          <a:p>
            <a:r>
              <a:rPr lang="en-US" altLang="zh-TW" dirty="0" smtClean="0"/>
              <a:t>5</a:t>
            </a:r>
            <a:r>
              <a:rPr lang="en-US" altLang="zh-TW" i="1" dirty="0" smtClean="0"/>
              <a:t>n</a:t>
            </a:r>
            <a:r>
              <a:rPr lang="en-US" altLang="zh-TW" baseline="30000" dirty="0" smtClean="0"/>
              <a:t>2</a:t>
            </a:r>
            <a:r>
              <a:rPr lang="en-US" altLang="zh-TW" dirty="0" smtClean="0"/>
              <a:t> + 6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 + 9 = O(</a:t>
            </a:r>
            <a:r>
              <a:rPr lang="en-US" altLang="zh-TW" i="1" dirty="0" smtClean="0"/>
              <a:t>n</a:t>
            </a:r>
            <a:r>
              <a:rPr lang="en-US" altLang="zh-TW" baseline="30000" dirty="0" smtClean="0"/>
              <a:t>2</a:t>
            </a:r>
            <a:r>
              <a:rPr lang="en-US" altLang="zh-TW" dirty="0" smtClean="0"/>
              <a:t>)</a:t>
            </a:r>
          </a:p>
          <a:p>
            <a:pPr lvl="1"/>
            <a:r>
              <a:rPr lang="en-US" altLang="zh-TW" i="1" dirty="0" smtClean="0"/>
              <a:t>f</a:t>
            </a:r>
            <a:r>
              <a:rPr lang="en-US" altLang="zh-TW" dirty="0" smtClean="0"/>
              <a:t>(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) = 5</a:t>
            </a:r>
            <a:r>
              <a:rPr lang="en-US" altLang="zh-TW" i="1" dirty="0" smtClean="0"/>
              <a:t>n</a:t>
            </a:r>
            <a:r>
              <a:rPr lang="en-US" altLang="zh-TW" baseline="30000" dirty="0" smtClean="0"/>
              <a:t>2</a:t>
            </a:r>
            <a:r>
              <a:rPr lang="en-US" altLang="zh-TW" dirty="0" smtClean="0"/>
              <a:t> + 6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 + 9, </a:t>
            </a:r>
            <a:r>
              <a:rPr lang="en-US" altLang="zh-TW" i="1" dirty="0" smtClean="0"/>
              <a:t>g</a:t>
            </a:r>
            <a:r>
              <a:rPr lang="en-US" altLang="zh-TW" dirty="0" smtClean="0"/>
              <a:t>(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) = </a:t>
            </a:r>
            <a:r>
              <a:rPr lang="en-US" altLang="zh-TW" i="1" dirty="0" smtClean="0"/>
              <a:t>n</a:t>
            </a:r>
            <a:r>
              <a:rPr lang="en-US" altLang="zh-TW" baseline="30000" dirty="0" smtClean="0"/>
              <a:t>2</a:t>
            </a:r>
          </a:p>
          <a:p>
            <a:pPr lvl="1"/>
            <a:r>
              <a:rPr lang="en-US" altLang="zh-TW" i="1" dirty="0" smtClean="0"/>
              <a:t>f</a:t>
            </a:r>
            <a:r>
              <a:rPr lang="en-US" altLang="zh-TW" dirty="0" smtClean="0"/>
              <a:t> </a:t>
            </a:r>
            <a:r>
              <a:rPr lang="zh-TW" altLang="en-US" dirty="0" smtClean="0"/>
              <a:t>函數取 </a:t>
            </a:r>
            <a:r>
              <a:rPr lang="en-US" altLang="zh-TW" dirty="0" smtClean="0"/>
              <a:t>Big-O </a:t>
            </a:r>
            <a:r>
              <a:rPr lang="zh-TW" altLang="en-US" dirty="0" smtClean="0"/>
              <a:t>符號為 </a:t>
            </a:r>
            <a:r>
              <a:rPr lang="en-US" altLang="zh-TW" i="1" dirty="0" smtClean="0"/>
              <a:t>g</a:t>
            </a:r>
            <a:r>
              <a:rPr lang="zh-TW" altLang="en-US" dirty="0" smtClean="0"/>
              <a:t> 函數</a:t>
            </a:r>
            <a:endParaRPr lang="en-US" altLang="zh-TW" dirty="0" smtClean="0"/>
          </a:p>
          <a:p>
            <a:pPr lvl="1"/>
            <a:r>
              <a:rPr lang="en-US" altLang="zh-TW" dirty="0"/>
              <a:t>5</a:t>
            </a:r>
            <a:r>
              <a:rPr lang="en-US" altLang="zh-TW" i="1" dirty="0"/>
              <a:t>n</a:t>
            </a:r>
            <a:r>
              <a:rPr lang="en-US" altLang="zh-TW" baseline="30000" dirty="0"/>
              <a:t>2</a:t>
            </a:r>
            <a:r>
              <a:rPr lang="en-US" altLang="zh-TW" dirty="0"/>
              <a:t> + 6</a:t>
            </a:r>
            <a:r>
              <a:rPr lang="en-US" altLang="zh-TW" i="1" dirty="0"/>
              <a:t>n</a:t>
            </a:r>
            <a:r>
              <a:rPr lang="en-US" altLang="zh-TW" dirty="0"/>
              <a:t> + </a:t>
            </a:r>
            <a:r>
              <a:rPr lang="en-US" altLang="zh-TW" dirty="0" smtClean="0"/>
              <a:t>9</a:t>
            </a:r>
            <a:r>
              <a:rPr lang="zh-TW" altLang="en-US" dirty="0" smtClean="0"/>
              <a:t> 取 </a:t>
            </a:r>
            <a:r>
              <a:rPr lang="en-US" altLang="zh-TW" dirty="0"/>
              <a:t>Big-O </a:t>
            </a:r>
            <a:r>
              <a:rPr lang="zh-TW" altLang="en-US" dirty="0"/>
              <a:t>符號為 </a:t>
            </a:r>
            <a:r>
              <a:rPr lang="en-US" altLang="zh-TW" dirty="0"/>
              <a:t>O(</a:t>
            </a:r>
            <a:r>
              <a:rPr lang="en-US" altLang="zh-TW" i="1" dirty="0"/>
              <a:t>n</a:t>
            </a:r>
            <a:r>
              <a:rPr lang="en-US" altLang="zh-TW" baseline="30000" dirty="0"/>
              <a:t>2</a:t>
            </a:r>
            <a:r>
              <a:rPr lang="en-US" altLang="zh-TW" dirty="0" smtClean="0"/>
              <a:t>)</a:t>
            </a:r>
          </a:p>
          <a:p>
            <a:pPr lvl="1"/>
            <a:r>
              <a:rPr lang="zh-TW" altLang="en-US" dirty="0" smtClean="0"/>
              <a:t>取頻率計數的最高次項而不計其係數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smtClean="0"/>
              <a:t>3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lg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 + 9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 + 10 = O(</a:t>
            </a:r>
            <a:r>
              <a:rPr lang="en-US" altLang="zh-TW" i="1" dirty="0" err="1" smtClean="0"/>
              <a:t>n</a:t>
            </a:r>
            <a:r>
              <a:rPr lang="en-US" altLang="zh-TW" dirty="0" err="1" smtClean="0"/>
              <a:t>lg</a:t>
            </a:r>
            <a:r>
              <a:rPr lang="en-US" altLang="zh-TW" i="1" dirty="0" err="1" smtClean="0"/>
              <a:t>n</a:t>
            </a:r>
            <a:r>
              <a:rPr lang="en-US" altLang="zh-TW" dirty="0" smtClean="0"/>
              <a:t>)</a:t>
            </a:r>
          </a:p>
          <a:p>
            <a:r>
              <a:rPr lang="en-US" altLang="zh-TW" dirty="0" smtClean="0"/>
              <a:t>9</a:t>
            </a:r>
            <a:r>
              <a:rPr lang="en-US" altLang="zh-TW" i="1" dirty="0" smtClean="0"/>
              <a:t>n</a:t>
            </a:r>
            <a:r>
              <a:rPr lang="en-US" altLang="zh-TW" baseline="30000" dirty="0" smtClean="0"/>
              <a:t>2</a:t>
            </a:r>
            <a:r>
              <a:rPr lang="en-US" altLang="zh-TW" dirty="0" smtClean="0"/>
              <a:t> + 6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lg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 + 9 = O(</a:t>
            </a:r>
            <a:r>
              <a:rPr lang="en-US" altLang="zh-TW" i="1" dirty="0" smtClean="0"/>
              <a:t>n</a:t>
            </a:r>
            <a:r>
              <a:rPr lang="en-US" altLang="zh-TW" baseline="30000" dirty="0" smtClean="0"/>
              <a:t>2</a:t>
            </a:r>
            <a:r>
              <a:rPr lang="en-US" altLang="zh-TW" dirty="0" smtClean="0"/>
              <a:t>)</a:t>
            </a:r>
          </a:p>
          <a:p>
            <a:r>
              <a:rPr lang="en-US" altLang="zh-TW" dirty="0" smtClean="0"/>
              <a:t>19</a:t>
            </a:r>
            <a:r>
              <a:rPr lang="en-US" altLang="zh-TW" i="1" dirty="0" smtClean="0"/>
              <a:t>n</a:t>
            </a:r>
            <a:r>
              <a:rPr lang="en-US" altLang="zh-TW" baseline="30000" dirty="0" smtClean="0"/>
              <a:t>3</a:t>
            </a:r>
            <a:r>
              <a:rPr lang="en-US" altLang="zh-TW" dirty="0" smtClean="0"/>
              <a:t> + 9</a:t>
            </a:r>
            <a:r>
              <a:rPr lang="en-US" altLang="zh-TW" i="1" dirty="0" smtClean="0"/>
              <a:t>n</a:t>
            </a:r>
            <a:r>
              <a:rPr lang="en-US" altLang="zh-TW" baseline="30000" dirty="0" smtClean="0"/>
              <a:t>2</a:t>
            </a:r>
            <a:r>
              <a:rPr lang="en-US" altLang="zh-TW" dirty="0" smtClean="0"/>
              <a:t> + 6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 + 9 = O(</a:t>
            </a:r>
            <a:r>
              <a:rPr lang="en-US" altLang="zh-TW" i="1" dirty="0" smtClean="0"/>
              <a:t>n</a:t>
            </a:r>
            <a:r>
              <a:rPr lang="en-US" altLang="zh-TW" baseline="30000" dirty="0" smtClean="0"/>
              <a:t>3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37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Big-O </a:t>
            </a:r>
            <a:r>
              <a:rPr lang="zh-TW" altLang="en-US" dirty="0"/>
              <a:t>符號 </a:t>
            </a:r>
            <a:r>
              <a:rPr lang="en-US" altLang="zh-TW" dirty="0" smtClean="0"/>
              <a:t>(4/6)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4927599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稱為程式或演算法的</a:t>
            </a:r>
            <a:r>
              <a:rPr lang="zh-TW" altLang="en-US" dirty="0" smtClean="0">
                <a:solidFill>
                  <a:srgbClr val="C00000"/>
                </a:solidFill>
              </a:rPr>
              <a:t>時間複雜度</a:t>
            </a:r>
            <a:r>
              <a:rPr lang="en-US" altLang="zh-TW" dirty="0" smtClean="0"/>
              <a:t>(</a:t>
            </a:r>
            <a:r>
              <a:rPr lang="en-US" altLang="zh-TW" dirty="0" smtClean="0">
                <a:solidFill>
                  <a:srgbClr val="C00000"/>
                </a:solidFill>
              </a:rPr>
              <a:t>time complexity</a:t>
            </a:r>
            <a:r>
              <a:rPr lang="en-US" altLang="zh-TW" dirty="0" smtClean="0"/>
              <a:t>)</a:t>
            </a:r>
          </a:p>
          <a:p>
            <a:endParaRPr lang="en-US" altLang="zh-TW" dirty="0" smtClean="0"/>
          </a:p>
          <a:p>
            <a:r>
              <a:rPr lang="zh-TW" altLang="en-US" dirty="0" smtClean="0"/>
              <a:t>常見的時間複雜度等級：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O(1)</a:t>
            </a:r>
            <a:r>
              <a:rPr lang="zh-TW" altLang="en-US" dirty="0" smtClean="0"/>
              <a:t>：常數級 </a:t>
            </a:r>
            <a:r>
              <a:rPr lang="en-US" altLang="zh-TW" dirty="0" smtClean="0"/>
              <a:t>(constant)</a:t>
            </a:r>
          </a:p>
          <a:p>
            <a:pPr lvl="1"/>
            <a:r>
              <a:rPr lang="en-US" altLang="zh-TW" dirty="0" smtClean="0"/>
              <a:t>O(</a:t>
            </a:r>
            <a:r>
              <a:rPr lang="en-US" altLang="zh-TW" dirty="0" err="1" smtClean="0"/>
              <a:t>lg</a:t>
            </a:r>
            <a:r>
              <a:rPr lang="en-US" altLang="zh-TW" i="1" dirty="0" err="1" smtClean="0"/>
              <a:t>n</a:t>
            </a:r>
            <a:r>
              <a:rPr lang="en-US" altLang="zh-TW" dirty="0" smtClean="0"/>
              <a:t>)</a:t>
            </a:r>
            <a:r>
              <a:rPr lang="zh-TW" altLang="en-US" dirty="0" smtClean="0"/>
              <a:t>：對數級 </a:t>
            </a:r>
            <a:r>
              <a:rPr lang="en-US" altLang="zh-TW" dirty="0" smtClean="0"/>
              <a:t>(logarithmic)</a:t>
            </a:r>
          </a:p>
          <a:p>
            <a:pPr lvl="1"/>
            <a:r>
              <a:rPr lang="en-US" altLang="zh-TW" dirty="0" smtClean="0"/>
              <a:t>O(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)</a:t>
            </a:r>
            <a:r>
              <a:rPr lang="zh-TW" altLang="en-US" dirty="0" smtClean="0"/>
              <a:t>：線性級 </a:t>
            </a:r>
            <a:r>
              <a:rPr lang="en-US" altLang="zh-TW" dirty="0" smtClean="0"/>
              <a:t>(linear)</a:t>
            </a:r>
          </a:p>
          <a:p>
            <a:pPr lvl="1"/>
            <a:r>
              <a:rPr lang="en-US" altLang="zh-TW" dirty="0" smtClean="0"/>
              <a:t>O(</a:t>
            </a:r>
            <a:r>
              <a:rPr lang="en-US" altLang="zh-TW" i="1" dirty="0" err="1" smtClean="0"/>
              <a:t>n</a:t>
            </a:r>
            <a:r>
              <a:rPr lang="en-US" altLang="zh-TW" dirty="0" err="1" smtClean="0"/>
              <a:t>lg</a:t>
            </a:r>
            <a:r>
              <a:rPr lang="en-US" altLang="zh-TW" i="1" dirty="0" err="1" smtClean="0"/>
              <a:t>n</a:t>
            </a:r>
            <a:r>
              <a:rPr lang="en-US" altLang="zh-TW" dirty="0" smtClean="0"/>
              <a:t>)</a:t>
            </a:r>
            <a:r>
              <a:rPr lang="zh-TW" altLang="en-US" dirty="0" smtClean="0"/>
              <a:t>：對數</a:t>
            </a:r>
            <a:r>
              <a:rPr lang="en-US" altLang="zh-TW" dirty="0" smtClean="0"/>
              <a:t>-</a:t>
            </a:r>
            <a:r>
              <a:rPr lang="zh-TW" altLang="en-US" dirty="0" smtClean="0"/>
              <a:t>線性級 </a:t>
            </a:r>
            <a:r>
              <a:rPr lang="en-US" altLang="zh-TW" dirty="0" smtClean="0"/>
              <a:t>(log linear)</a:t>
            </a:r>
          </a:p>
          <a:p>
            <a:pPr lvl="1"/>
            <a:r>
              <a:rPr lang="en-US" altLang="zh-TW" dirty="0" smtClean="0"/>
              <a:t>O(</a:t>
            </a:r>
            <a:r>
              <a:rPr lang="en-US" altLang="zh-TW" i="1" dirty="0" smtClean="0"/>
              <a:t>n</a:t>
            </a:r>
            <a:r>
              <a:rPr lang="en-US" altLang="zh-TW" baseline="30000" dirty="0" smtClean="0"/>
              <a:t>2</a:t>
            </a:r>
            <a:r>
              <a:rPr lang="en-US" altLang="zh-TW" dirty="0" smtClean="0"/>
              <a:t>)</a:t>
            </a:r>
            <a:r>
              <a:rPr lang="zh-TW" altLang="en-US" dirty="0" smtClean="0"/>
              <a:t>：平方級 </a:t>
            </a:r>
            <a:r>
              <a:rPr lang="en-US" altLang="zh-TW" dirty="0" smtClean="0"/>
              <a:t>(quadratic)</a:t>
            </a:r>
          </a:p>
          <a:p>
            <a:pPr lvl="1"/>
            <a:r>
              <a:rPr lang="en-US" altLang="zh-TW" dirty="0" smtClean="0"/>
              <a:t>O(</a:t>
            </a:r>
            <a:r>
              <a:rPr lang="en-US" altLang="zh-TW" i="1" dirty="0" smtClean="0"/>
              <a:t>n</a:t>
            </a:r>
            <a:r>
              <a:rPr lang="en-US" altLang="zh-TW" baseline="30000" dirty="0" smtClean="0"/>
              <a:t>3</a:t>
            </a:r>
            <a:r>
              <a:rPr lang="en-US" altLang="zh-TW" dirty="0" smtClean="0"/>
              <a:t>)</a:t>
            </a:r>
            <a:r>
              <a:rPr lang="zh-TW" altLang="en-US" dirty="0" smtClean="0"/>
              <a:t>：立方級 </a:t>
            </a:r>
            <a:r>
              <a:rPr lang="en-US" altLang="zh-TW" dirty="0" smtClean="0"/>
              <a:t>(cubic)</a:t>
            </a:r>
          </a:p>
          <a:p>
            <a:pPr lvl="1"/>
            <a:r>
              <a:rPr lang="en-US" altLang="zh-TW" dirty="0" smtClean="0"/>
              <a:t>O(2</a:t>
            </a:r>
            <a:r>
              <a:rPr lang="en-US" altLang="zh-TW" i="1" baseline="30000" dirty="0" smtClean="0"/>
              <a:t>n</a:t>
            </a:r>
            <a:r>
              <a:rPr lang="en-US" altLang="zh-TW" dirty="0" smtClean="0"/>
              <a:t>)</a:t>
            </a:r>
            <a:r>
              <a:rPr lang="zh-TW" altLang="en-US" dirty="0" smtClean="0"/>
              <a:t>：指數級 </a:t>
            </a:r>
            <a:r>
              <a:rPr lang="en-US" altLang="zh-TW" dirty="0" smtClean="0"/>
              <a:t>(exponential)</a:t>
            </a:r>
          </a:p>
          <a:p>
            <a:pPr lvl="1"/>
            <a:r>
              <a:rPr lang="en-US" altLang="zh-TW" dirty="0" smtClean="0"/>
              <a:t>O(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!)</a:t>
            </a:r>
            <a:r>
              <a:rPr lang="zh-TW" altLang="en-US" dirty="0" smtClean="0"/>
              <a:t>：階乘級 </a:t>
            </a:r>
            <a:r>
              <a:rPr lang="en-US" altLang="zh-TW" dirty="0" smtClean="0"/>
              <a:t>(factorial)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8324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Big-O </a:t>
            </a:r>
            <a:r>
              <a:rPr lang="zh-TW" altLang="en-US" dirty="0"/>
              <a:t>符號 </a:t>
            </a:r>
            <a:r>
              <a:rPr lang="en-US" altLang="zh-TW" dirty="0" smtClean="0"/>
              <a:t>(5/6)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4927599"/>
          </a:xfrm>
          <a:prstGeom prst="rect">
            <a:avLst/>
          </a:prstGeom>
        </p:spPr>
        <p:txBody>
          <a:bodyPr/>
          <a:lstStyle/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r>
              <a:rPr lang="zh-TW" altLang="en-US" dirty="0" smtClean="0"/>
              <a:t> </a:t>
            </a:r>
            <a:r>
              <a:rPr lang="en-US" altLang="zh-TW" dirty="0" smtClean="0"/>
              <a:t>O(1) &lt; O(</a:t>
            </a:r>
            <a:r>
              <a:rPr lang="en-US" altLang="zh-TW" dirty="0" err="1" smtClean="0"/>
              <a:t>lg</a:t>
            </a:r>
            <a:r>
              <a:rPr lang="en-US" altLang="zh-TW" i="1" dirty="0" err="1" smtClean="0"/>
              <a:t>n</a:t>
            </a:r>
            <a:r>
              <a:rPr lang="en-US" altLang="zh-TW" dirty="0" smtClean="0"/>
              <a:t>) &lt; O(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) &lt; O(</a:t>
            </a:r>
            <a:r>
              <a:rPr lang="en-US" altLang="zh-TW" i="1" dirty="0" err="1" smtClean="0"/>
              <a:t>n</a:t>
            </a:r>
            <a:r>
              <a:rPr lang="en-US" altLang="zh-TW" dirty="0" err="1" smtClean="0"/>
              <a:t>lg</a:t>
            </a:r>
            <a:r>
              <a:rPr lang="en-US" altLang="zh-TW" i="1" dirty="0" err="1" smtClean="0"/>
              <a:t>n</a:t>
            </a:r>
            <a:r>
              <a:rPr lang="en-US" altLang="zh-TW" dirty="0" smtClean="0"/>
              <a:t>) &lt; O(</a:t>
            </a:r>
            <a:r>
              <a:rPr lang="en-US" altLang="zh-TW" i="1" dirty="0" smtClean="0"/>
              <a:t>n</a:t>
            </a:r>
            <a:r>
              <a:rPr lang="en-US" altLang="zh-TW" baseline="30000" dirty="0" smtClean="0"/>
              <a:t>2</a:t>
            </a:r>
            <a:r>
              <a:rPr lang="en-US" altLang="zh-TW" dirty="0" smtClean="0"/>
              <a:t>) &lt; O(</a:t>
            </a:r>
            <a:r>
              <a:rPr lang="en-US" altLang="zh-TW" i="1" dirty="0" smtClean="0"/>
              <a:t>n</a:t>
            </a:r>
            <a:r>
              <a:rPr lang="en-US" altLang="zh-TW" baseline="30000" dirty="0" smtClean="0"/>
              <a:t>3</a:t>
            </a:r>
            <a:r>
              <a:rPr lang="en-US" altLang="zh-TW" dirty="0" smtClean="0"/>
              <a:t>) &lt; O(2</a:t>
            </a:r>
            <a:r>
              <a:rPr lang="en-US" altLang="zh-TW" i="1" baseline="30000" dirty="0" smtClean="0"/>
              <a:t>n</a:t>
            </a:r>
            <a:r>
              <a:rPr lang="en-US" altLang="zh-TW" dirty="0" smtClean="0"/>
              <a:t>) &lt; O(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!)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26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342181" y="1742042"/>
          <a:ext cx="8432906" cy="316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5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5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3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58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75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99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750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lg</a:t>
                      </a:r>
                      <a:r>
                        <a:rPr lang="en-US" altLang="zh-TW" sz="2000" b="1" i="1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0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0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altLang="zh-TW" sz="2000" b="1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lg</a:t>
                      </a:r>
                      <a:r>
                        <a:rPr lang="en-US" altLang="zh-TW" sz="2000" b="1" i="1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0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4500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1.33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 10</a:t>
                      </a:r>
                      <a:r>
                        <a:rPr lang="en-US" altLang="zh-TW" sz="2000" b="1" baseline="30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5</a:t>
                      </a:r>
                      <a:endParaRPr lang="zh-TW" altLang="en-US" sz="2000" b="1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altLang="zh-TW" sz="2000" b="1" i="0" baseline="30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i="0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2500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250000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lang="en-US" altLang="zh-TW" sz="2000" b="1" baseline="30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lang="en-US" altLang="zh-TW" sz="2000" b="1" baseline="30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b="1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altLang="zh-TW" sz="2000" b="1" i="0" baseline="30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i="0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125000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lang="en-US" altLang="zh-TW" sz="2000" b="1" baseline="30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1.25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 10</a:t>
                      </a:r>
                      <a:r>
                        <a:rPr lang="en-US" altLang="zh-TW" sz="2000" b="1" baseline="30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8</a:t>
                      </a:r>
                      <a:endParaRPr lang="zh-TW" altLang="en-US" sz="2000" b="1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lang="en-US" altLang="zh-TW" sz="2000" b="1" baseline="30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000" b="1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lang="en-US" altLang="zh-TW" sz="2000" b="1" baseline="30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000" b="1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TW" sz="2000" b="1" i="1" baseline="30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000" b="1" i="1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1024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lang="en-US" altLang="zh-TW" sz="2000" b="1" baseline="30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zh-TW" altLang="en-US" sz="2000" b="1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lang="en-US" altLang="zh-TW" sz="2000" b="1" baseline="30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zh-TW" altLang="en-US" sz="2000" b="1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lang="en-US" altLang="zh-TW" sz="2000" b="1" baseline="30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</a:t>
                      </a:r>
                      <a:endParaRPr lang="zh-TW" altLang="en-US" sz="2000" b="1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lang="en-US" altLang="zh-TW" sz="2000" b="1" baseline="30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  <a:endParaRPr lang="zh-TW" altLang="en-US" sz="2000" b="1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lang="en-US" altLang="zh-TW" sz="2000" b="1" baseline="30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3000</a:t>
                      </a:r>
                      <a:endParaRPr lang="zh-TW" altLang="en-US" sz="2000" b="1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!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3628800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 10</a:t>
                      </a:r>
                      <a:r>
                        <a:rPr lang="en-US" altLang="zh-TW" sz="2000" b="1" baseline="30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64</a:t>
                      </a:r>
                      <a:endParaRPr lang="zh-TW" altLang="en-US" sz="2000" b="1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 10</a:t>
                      </a:r>
                      <a:r>
                        <a:rPr lang="en-US" altLang="zh-TW" sz="2000" b="1" baseline="30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157</a:t>
                      </a:r>
                      <a:endParaRPr lang="zh-TW" altLang="en-US" sz="2000" b="1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lang="en-US" altLang="zh-TW" sz="2000" b="1" baseline="30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1134</a:t>
                      </a:r>
                      <a:endParaRPr lang="zh-TW" altLang="en-US" sz="2000" b="1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 10</a:t>
                      </a:r>
                      <a:r>
                        <a:rPr lang="en-US" altLang="zh-TW" sz="2000" b="1" baseline="30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2567</a:t>
                      </a:r>
                      <a:endParaRPr lang="zh-TW" altLang="en-US" sz="2000" b="1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</a:t>
                      </a:r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 10</a:t>
                      </a:r>
                      <a:r>
                        <a:rPr lang="en-US" altLang="zh-TW" sz="2000" b="1" baseline="30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/>
                        </a:rPr>
                        <a:t>35659</a:t>
                      </a:r>
                      <a:endParaRPr lang="zh-TW" altLang="en-US" sz="2000" b="1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1742536" y="1733894"/>
            <a:ext cx="1147313" cy="318314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8317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Big-O </a:t>
            </a:r>
            <a:r>
              <a:rPr lang="zh-TW" altLang="en-US" dirty="0"/>
              <a:t>符號 </a:t>
            </a:r>
            <a:r>
              <a:rPr lang="en-US" altLang="zh-TW" dirty="0" smtClean="0"/>
              <a:t>(6/6)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4927599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2026/02/25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27</a:t>
            </a:fld>
            <a:endParaRPr lang="en-US" dirty="0"/>
          </a:p>
        </p:txBody>
      </p:sp>
      <p:graphicFrame>
        <p:nvGraphicFramePr>
          <p:cNvPr id="7" name="物件 6"/>
          <p:cNvGraphicFramePr>
            <a:graphicFrameLocks noChangeAspect="1"/>
          </p:cNvGraphicFramePr>
          <p:nvPr>
            <p:extLst/>
          </p:nvPr>
        </p:nvGraphicFramePr>
        <p:xfrm>
          <a:off x="713513" y="1714798"/>
          <a:ext cx="7731299" cy="42029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圖表" r:id="rId3" imgW="4810176" imgH="2609966" progId="Excel.Chart.8">
                  <p:embed/>
                </p:oleObj>
              </mc:Choice>
              <mc:Fallback>
                <p:oleObj name="圖表" r:id="rId3" imgW="4810176" imgH="2609966" progId="Excel.Chart.8">
                  <p:embed/>
                  <p:pic>
                    <p:nvPicPr>
                      <p:cNvPr id="7" name="物件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513" y="1714798"/>
                        <a:ext cx="7731299" cy="42029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34031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NCKU3">
  <a:themeElements>
    <a:clrScheme name="NCKU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NCKU3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CKU3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簡報1" id="{1D2088C2-DF28-403B-A142-ABEFFB73DCD1}" vid="{F9685623-F412-4155-8B4F-1E431000369C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NTTU</Template>
  <TotalTime>14333</TotalTime>
  <Words>2308</Words>
  <Application>Microsoft Office PowerPoint</Application>
  <PresentationFormat>如螢幕大小 (4:3)</PresentationFormat>
  <Paragraphs>583</Paragraphs>
  <Slides>27</Slides>
  <Notes>2</Notes>
  <HiddenSlides>0</HiddenSlides>
  <MMClips>0</MMClips>
  <ScaleCrop>false</ScaleCrop>
  <HeadingPairs>
    <vt:vector size="8" baseType="variant">
      <vt:variant>
        <vt:lpstr>使用字型</vt:lpstr>
      </vt:variant>
      <vt:variant>
        <vt:i4>11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27</vt:i4>
      </vt:variant>
    </vt:vector>
  </HeadingPairs>
  <TitlesOfParts>
    <vt:vector size="40" baseType="lpstr">
      <vt:lpstr>新細明體</vt:lpstr>
      <vt:lpstr>標楷體</vt:lpstr>
      <vt:lpstr>Angsana New</vt:lpstr>
      <vt:lpstr>Arial</vt:lpstr>
      <vt:lpstr>Calibri</vt:lpstr>
      <vt:lpstr>Cambria Math</vt:lpstr>
      <vt:lpstr>Monotype Corsiva</vt:lpstr>
      <vt:lpstr>Nirmala UI</vt:lpstr>
      <vt:lpstr>Symbol</vt:lpstr>
      <vt:lpstr>Times New Roman</vt:lpstr>
      <vt:lpstr>Wingdings</vt:lpstr>
      <vt:lpstr>NCKU3</vt:lpstr>
      <vt:lpstr>圖表</vt:lpstr>
      <vt:lpstr>DATA STRUCTURES 資料結構</vt:lpstr>
      <vt:lpstr>演算法的定義與表示法 (1/2)</vt:lpstr>
      <vt:lpstr>演算法的定義與表示法 (2/2)</vt:lpstr>
      <vt:lpstr>歐幾里得演算法 (1/3)</vt:lpstr>
      <vt:lpstr>歐幾里得演算法 (2/3)</vt:lpstr>
      <vt:lpstr>歐幾里得演算法 (3/3)</vt:lpstr>
      <vt:lpstr>流程圖 flow chart</vt:lpstr>
      <vt:lpstr>虛擬碼 pseudo code</vt:lpstr>
      <vt:lpstr>程式的分析</vt:lpstr>
      <vt:lpstr>模組化 (1/2)</vt:lpstr>
      <vt:lpstr>模組化 (2/2)</vt:lpstr>
      <vt:lpstr>程式的效率</vt:lpstr>
      <vt:lpstr>Big-O</vt:lpstr>
      <vt:lpstr>結構化程式的效率</vt:lpstr>
      <vt:lpstr>循序敘述的頻率計數</vt:lpstr>
      <vt:lpstr>決策分支敘述的頻率計數</vt:lpstr>
      <vt:lpstr>迴圈的頻率計數 (1/5)</vt:lpstr>
      <vt:lpstr>迴圈的頻率計數 (2/5)</vt:lpstr>
      <vt:lpstr>迴圈的頻率計數 (3/5)</vt:lpstr>
      <vt:lpstr>迴圈的頻率計數 (4/5)</vt:lpstr>
      <vt:lpstr>迴圈的頻率計數 (5/5)</vt:lpstr>
      <vt:lpstr>Big-O 符號 (1/6)</vt:lpstr>
      <vt:lpstr>Big-O 符號 (2/6)</vt:lpstr>
      <vt:lpstr>Big-O 符號 (3/6)</vt:lpstr>
      <vt:lpstr>Big-O 符號 (4/6)</vt:lpstr>
      <vt:lpstr>Big-O 符號 (5/6)</vt:lpstr>
      <vt:lpstr>Big-O 符號 (6/6)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資料結構 Data Structure</dc:title>
  <dc:creator>C.-W. Lee</dc:creator>
  <cp:lastModifiedBy>admin</cp:lastModifiedBy>
  <cp:revision>81</cp:revision>
  <cp:lastPrinted>2022-09-24T09:12:24Z</cp:lastPrinted>
  <dcterms:created xsi:type="dcterms:W3CDTF">2018-01-10T03:26:15Z</dcterms:created>
  <dcterms:modified xsi:type="dcterms:W3CDTF">2026-01-27T06:19:58Z</dcterms:modified>
</cp:coreProperties>
</file>