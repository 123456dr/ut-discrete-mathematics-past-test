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2026/5/15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25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紅黑樹 </a:t>
            </a:r>
            <a:r>
              <a:rPr lang="en-US" altLang="zh-TW" dirty="0"/>
              <a:t>Red-Black Tree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2-3-4</a:t>
            </a:r>
            <a:r>
              <a:rPr lang="zh-TW" altLang="en-US" dirty="0"/>
              <a:t>樹的</a:t>
            </a:r>
            <a:r>
              <a:rPr lang="zh-TW" altLang="en-US" dirty="0">
                <a:solidFill>
                  <a:srgbClr val="C00000"/>
                </a:solidFill>
              </a:rPr>
              <a:t>二元樹</a:t>
            </a:r>
            <a:r>
              <a:rPr lang="zh-TW" altLang="en-US" dirty="0"/>
              <a:t>表示法</a:t>
            </a:r>
            <a:endParaRPr lang="en-US" altLang="zh-TW" dirty="0"/>
          </a:p>
          <a:p>
            <a:r>
              <a:rPr lang="zh-TW" altLang="en-US" dirty="0"/>
              <a:t>每個節點有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個指標：紅指標及黑指標</a:t>
            </a:r>
            <a:endParaRPr lang="en-US" altLang="zh-TW" dirty="0"/>
          </a:p>
          <a:p>
            <a:r>
              <a:rPr lang="en-US" altLang="zh-TW" dirty="0"/>
              <a:t>2-3-4</a:t>
            </a:r>
            <a:r>
              <a:rPr lang="zh-TW" altLang="en-US" dirty="0"/>
              <a:t>樹轉換成紅黑樹原則</a:t>
            </a:r>
            <a:endParaRPr lang="en-US" altLang="zh-TW" dirty="0"/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2-node</a:t>
            </a:r>
            <a:r>
              <a:rPr lang="zh-TW" altLang="en-US" dirty="0"/>
              <a:t>轉成</a:t>
            </a:r>
            <a:r>
              <a:rPr lang="en-US" altLang="zh-TW" dirty="0"/>
              <a:t>1</a:t>
            </a:r>
            <a:r>
              <a:rPr lang="zh-TW" altLang="en-US" dirty="0"/>
              <a:t>個紅黑樹節點，</a:t>
            </a:r>
            <a:r>
              <a:rPr lang="en-US" altLang="zh-TW" dirty="0"/>
              <a:t>2</a:t>
            </a:r>
            <a:r>
              <a:rPr lang="zh-TW" altLang="en-US" dirty="0"/>
              <a:t>個指標均為黑</a:t>
            </a:r>
            <a:endParaRPr lang="en-US" altLang="zh-TW" dirty="0"/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3-node</a:t>
            </a:r>
            <a:r>
              <a:rPr lang="zh-TW" altLang="en-US" dirty="0"/>
              <a:t>轉成</a:t>
            </a:r>
            <a:r>
              <a:rPr lang="en-US" altLang="zh-TW" dirty="0"/>
              <a:t>2</a:t>
            </a:r>
            <a:r>
              <a:rPr lang="zh-TW" altLang="en-US" dirty="0"/>
              <a:t>個紅黑樹節點，以</a:t>
            </a:r>
            <a:r>
              <a:rPr lang="en-US" altLang="zh-TW" dirty="0"/>
              <a:t>1</a:t>
            </a:r>
            <a:r>
              <a:rPr lang="zh-TW" altLang="en-US" dirty="0"/>
              <a:t>個紅指標連接</a:t>
            </a:r>
            <a:r>
              <a:rPr lang="en-US" altLang="zh-TW" dirty="0"/>
              <a:t>1</a:t>
            </a:r>
            <a:r>
              <a:rPr lang="zh-TW" altLang="en-US" dirty="0"/>
              <a:t>個節點</a:t>
            </a:r>
            <a:endParaRPr lang="en-US" altLang="zh-TW" dirty="0"/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4-node</a:t>
            </a:r>
            <a:r>
              <a:rPr lang="zh-TW" altLang="en-US" dirty="0"/>
              <a:t>轉成</a:t>
            </a:r>
            <a:r>
              <a:rPr lang="en-US" altLang="zh-TW" dirty="0"/>
              <a:t>3</a:t>
            </a:r>
            <a:r>
              <a:rPr lang="zh-TW" altLang="en-US" dirty="0"/>
              <a:t>個紅黑樹節點，中間節點以</a:t>
            </a:r>
            <a:r>
              <a:rPr lang="en-US" altLang="zh-TW" dirty="0"/>
              <a:t>2</a:t>
            </a:r>
            <a:r>
              <a:rPr lang="zh-TW" altLang="en-US" dirty="0"/>
              <a:t>個紅指標連接另</a:t>
            </a:r>
            <a:r>
              <a:rPr lang="en-US" altLang="zh-TW" dirty="0"/>
              <a:t>2</a:t>
            </a:r>
            <a:r>
              <a:rPr lang="zh-TW" altLang="en-US" dirty="0"/>
              <a:t>個節點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6554362" y="4226340"/>
            <a:ext cx="1293900" cy="569062"/>
            <a:chOff x="6554362" y="4226340"/>
            <a:chExt cx="1293900" cy="569062"/>
          </a:xfrm>
          <a:solidFill>
            <a:srgbClr val="2FA3EE"/>
          </a:solidFill>
        </p:grpSpPr>
        <p:grpSp>
          <p:nvGrpSpPr>
            <p:cNvPr id="47" name="群組 46"/>
            <p:cNvGrpSpPr/>
            <p:nvPr/>
          </p:nvGrpSpPr>
          <p:grpSpPr>
            <a:xfrm>
              <a:off x="6554362" y="4226340"/>
              <a:ext cx="1293900" cy="372839"/>
              <a:chOff x="357719" y="5127776"/>
              <a:chExt cx="1293900" cy="372839"/>
            </a:xfrm>
            <a:grpFill/>
          </p:grpSpPr>
          <p:sp>
            <p:nvSpPr>
              <p:cNvPr id="48" name="矩形 47"/>
              <p:cNvSpPr/>
              <p:nvPr/>
            </p:nvSpPr>
            <p:spPr>
              <a:xfrm>
                <a:off x="357719" y="5138469"/>
                <a:ext cx="1293900" cy="33643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9" name="直線接點 48"/>
              <p:cNvCxnSpPr/>
              <p:nvPr/>
            </p:nvCxnSpPr>
            <p:spPr>
              <a:xfrm>
                <a:off x="1228945" y="5138469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字方塊 49"/>
              <p:cNvSpPr txBox="1"/>
              <p:nvPr/>
            </p:nvSpPr>
            <p:spPr>
              <a:xfrm>
                <a:off x="794777" y="5131283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文字方塊 50"/>
              <p:cNvSpPr txBox="1"/>
              <p:nvPr/>
            </p:nvSpPr>
            <p:spPr>
              <a:xfrm>
                <a:off x="366345" y="5127776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2" name="直線接點 51"/>
              <p:cNvCxnSpPr/>
              <p:nvPr/>
            </p:nvCxnSpPr>
            <p:spPr>
              <a:xfrm>
                <a:off x="794777" y="5135601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字方塊 52"/>
              <p:cNvSpPr txBox="1"/>
              <p:nvPr/>
            </p:nvSpPr>
            <p:spPr>
              <a:xfrm>
                <a:off x="1228945" y="5129843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4" name="直線單箭頭接點 53"/>
            <p:cNvCxnSpPr/>
            <p:nvPr/>
          </p:nvCxnSpPr>
          <p:spPr>
            <a:xfrm flipH="1">
              <a:off x="6554362" y="4575713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H="1">
              <a:off x="6987113" y="4579402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 flipH="1">
              <a:off x="7425472" y="4575713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 flipH="1">
              <a:off x="7840971" y="4573463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群組 6"/>
          <p:cNvGrpSpPr/>
          <p:nvPr/>
        </p:nvGrpSpPr>
        <p:grpSpPr>
          <a:xfrm>
            <a:off x="1047834" y="4222022"/>
            <a:ext cx="1293900" cy="569062"/>
            <a:chOff x="1047834" y="4222022"/>
            <a:chExt cx="1293900" cy="569062"/>
          </a:xfrm>
        </p:grpSpPr>
        <p:grpSp>
          <p:nvGrpSpPr>
            <p:cNvPr id="17" name="群組 16"/>
            <p:cNvGrpSpPr/>
            <p:nvPr/>
          </p:nvGrpSpPr>
          <p:grpSpPr>
            <a:xfrm>
              <a:off x="1047834" y="4222022"/>
              <a:ext cx="1293900" cy="369332"/>
              <a:chOff x="357719" y="5127776"/>
              <a:chExt cx="1293900" cy="36933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357719" y="5138469"/>
                <a:ext cx="1293900" cy="336430"/>
              </a:xfrm>
              <a:prstGeom prst="rect">
                <a:avLst/>
              </a:prstGeom>
              <a:solidFill>
                <a:srgbClr val="2FA3E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" name="直線接點 9"/>
              <p:cNvCxnSpPr/>
              <p:nvPr/>
            </p:nvCxnSpPr>
            <p:spPr>
              <a:xfrm>
                <a:off x="1228945" y="5138469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字方塊 11"/>
              <p:cNvSpPr txBox="1"/>
              <p:nvPr/>
            </p:nvSpPr>
            <p:spPr>
              <a:xfrm>
                <a:off x="366345" y="512777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794777" y="5135601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線單箭頭接點 32"/>
            <p:cNvCxnSpPr/>
            <p:nvPr/>
          </p:nvCxnSpPr>
          <p:spPr>
            <a:xfrm flipH="1">
              <a:off x="1047834" y="4571395"/>
              <a:ext cx="116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/>
            <p:nvPr/>
          </p:nvCxnSpPr>
          <p:spPr>
            <a:xfrm flipH="1">
              <a:off x="1471959" y="4575084"/>
              <a:ext cx="116" cy="21600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 flipV="1">
              <a:off x="1493518" y="4238473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/>
            <p:cNvCxnSpPr/>
            <p:nvPr/>
          </p:nvCxnSpPr>
          <p:spPr>
            <a:xfrm flipV="1">
              <a:off x="1915183" y="4234021"/>
              <a:ext cx="416916" cy="32780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/>
          <p:cNvGrpSpPr/>
          <p:nvPr/>
        </p:nvGrpSpPr>
        <p:grpSpPr>
          <a:xfrm>
            <a:off x="3883049" y="4229847"/>
            <a:ext cx="1293900" cy="569062"/>
            <a:chOff x="3883049" y="4229847"/>
            <a:chExt cx="1293900" cy="569062"/>
          </a:xfrm>
          <a:solidFill>
            <a:srgbClr val="2FA3EE"/>
          </a:solidFill>
        </p:grpSpPr>
        <p:grpSp>
          <p:nvGrpSpPr>
            <p:cNvPr id="37" name="群組 36"/>
            <p:cNvGrpSpPr/>
            <p:nvPr/>
          </p:nvGrpSpPr>
          <p:grpSpPr>
            <a:xfrm>
              <a:off x="3883049" y="4229847"/>
              <a:ext cx="1293900" cy="372839"/>
              <a:chOff x="357719" y="5127776"/>
              <a:chExt cx="1293900" cy="372839"/>
            </a:xfrm>
            <a:grpFill/>
          </p:grpSpPr>
          <p:sp>
            <p:nvSpPr>
              <p:cNvPr id="38" name="矩形 37"/>
              <p:cNvSpPr/>
              <p:nvPr/>
            </p:nvSpPr>
            <p:spPr>
              <a:xfrm>
                <a:off x="357719" y="5138469"/>
                <a:ext cx="1293900" cy="33643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9" name="直線接點 38"/>
              <p:cNvCxnSpPr/>
              <p:nvPr/>
            </p:nvCxnSpPr>
            <p:spPr>
              <a:xfrm>
                <a:off x="1228945" y="5138469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字方塊 39"/>
              <p:cNvSpPr txBox="1"/>
              <p:nvPr/>
            </p:nvSpPr>
            <p:spPr>
              <a:xfrm>
                <a:off x="794777" y="5131283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366345" y="5127776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直線接點 41"/>
              <p:cNvCxnSpPr/>
              <p:nvPr/>
            </p:nvCxnSpPr>
            <p:spPr>
              <a:xfrm>
                <a:off x="794777" y="5135601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線單箭頭接點 43"/>
            <p:cNvCxnSpPr/>
            <p:nvPr/>
          </p:nvCxnSpPr>
          <p:spPr>
            <a:xfrm flipH="1">
              <a:off x="3883049" y="4579220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 flipH="1">
              <a:off x="4315800" y="4582909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 flipH="1">
              <a:off x="4754159" y="4579220"/>
              <a:ext cx="116" cy="216000"/>
            </a:xfrm>
            <a:prstGeom prst="straightConnector1">
              <a:avLst/>
            </a:prstGeom>
            <a:grpFill/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/>
            <p:nvPr/>
          </p:nvCxnSpPr>
          <p:spPr>
            <a:xfrm flipV="1">
              <a:off x="4752858" y="4249004"/>
              <a:ext cx="416916" cy="327804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1480469" y="5372658"/>
            <a:ext cx="422064" cy="590004"/>
            <a:chOff x="1480469" y="5372658"/>
            <a:chExt cx="422064" cy="590004"/>
          </a:xfrm>
        </p:grpSpPr>
        <p:sp>
          <p:nvSpPr>
            <p:cNvPr id="32" name="文字方塊 31"/>
            <p:cNvSpPr txBox="1"/>
            <p:nvPr/>
          </p:nvSpPr>
          <p:spPr>
            <a:xfrm>
              <a:off x="1487034" y="5372658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線單箭頭接點 60"/>
            <p:cNvCxnSpPr/>
            <p:nvPr/>
          </p:nvCxnSpPr>
          <p:spPr>
            <a:xfrm flipH="1">
              <a:off x="1480469" y="5742973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/>
            <p:nvPr/>
          </p:nvCxnSpPr>
          <p:spPr>
            <a:xfrm flipH="1">
              <a:off x="1895968" y="5746662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3744303" y="5360343"/>
            <a:ext cx="613622" cy="1192323"/>
            <a:chOff x="3744303" y="5360343"/>
            <a:chExt cx="613622" cy="1192323"/>
          </a:xfrm>
        </p:grpSpPr>
        <p:sp>
          <p:nvSpPr>
            <p:cNvPr id="63" name="文字方塊 62"/>
            <p:cNvSpPr txBox="1"/>
            <p:nvPr/>
          </p:nvSpPr>
          <p:spPr>
            <a:xfrm>
              <a:off x="3744303" y="5360343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單箭頭接點 63"/>
            <p:cNvCxnSpPr/>
            <p:nvPr/>
          </p:nvCxnSpPr>
          <p:spPr>
            <a:xfrm flipH="1">
              <a:off x="3746364" y="573065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 flipH="1">
              <a:off x="4153237" y="5734347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/>
            <p:cNvSpPr txBox="1"/>
            <p:nvPr/>
          </p:nvSpPr>
          <p:spPr>
            <a:xfrm>
              <a:off x="3942426" y="5962662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直線單箭頭接點 66"/>
            <p:cNvCxnSpPr/>
            <p:nvPr/>
          </p:nvCxnSpPr>
          <p:spPr>
            <a:xfrm flipH="1">
              <a:off x="3944487" y="6332977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/>
            <p:nvPr/>
          </p:nvCxnSpPr>
          <p:spPr>
            <a:xfrm flipH="1">
              <a:off x="4351360" y="633666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/>
          <p:cNvGrpSpPr/>
          <p:nvPr/>
        </p:nvGrpSpPr>
        <p:grpSpPr>
          <a:xfrm>
            <a:off x="4717482" y="5356654"/>
            <a:ext cx="614172" cy="1192323"/>
            <a:chOff x="4717482" y="5356654"/>
            <a:chExt cx="614172" cy="1192323"/>
          </a:xfrm>
        </p:grpSpPr>
        <p:sp>
          <p:nvSpPr>
            <p:cNvPr id="69" name="文字方塊 68"/>
            <p:cNvSpPr txBox="1"/>
            <p:nvPr/>
          </p:nvSpPr>
          <p:spPr>
            <a:xfrm>
              <a:off x="4916155" y="535665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單箭頭接點 69"/>
            <p:cNvCxnSpPr/>
            <p:nvPr/>
          </p:nvCxnSpPr>
          <p:spPr>
            <a:xfrm flipH="1">
              <a:off x="4918216" y="5726969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 flipH="1">
              <a:off x="5325089" y="573065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4717482" y="5958973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線單箭頭接點 72"/>
            <p:cNvCxnSpPr/>
            <p:nvPr/>
          </p:nvCxnSpPr>
          <p:spPr>
            <a:xfrm flipH="1">
              <a:off x="4719543" y="632928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 flipH="1">
              <a:off x="5126416" y="6332977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群組 17"/>
          <p:cNvGrpSpPr/>
          <p:nvPr/>
        </p:nvGrpSpPr>
        <p:grpSpPr>
          <a:xfrm>
            <a:off x="6880146" y="5360343"/>
            <a:ext cx="951762" cy="1192323"/>
            <a:chOff x="6880146" y="5360343"/>
            <a:chExt cx="951762" cy="1192323"/>
          </a:xfrm>
        </p:grpSpPr>
        <p:sp>
          <p:nvSpPr>
            <p:cNvPr id="75" name="文字方塊 74"/>
            <p:cNvSpPr txBox="1"/>
            <p:nvPr/>
          </p:nvSpPr>
          <p:spPr>
            <a:xfrm>
              <a:off x="7140652" y="5360343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線單箭頭接點 75"/>
            <p:cNvCxnSpPr/>
            <p:nvPr/>
          </p:nvCxnSpPr>
          <p:spPr>
            <a:xfrm flipH="1">
              <a:off x="7142713" y="5730658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H="1">
              <a:off x="7549586" y="5734347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字方塊 77"/>
            <p:cNvSpPr txBox="1"/>
            <p:nvPr/>
          </p:nvSpPr>
          <p:spPr>
            <a:xfrm>
              <a:off x="7416409" y="5962662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" name="直線單箭頭接點 78"/>
            <p:cNvCxnSpPr/>
            <p:nvPr/>
          </p:nvCxnSpPr>
          <p:spPr>
            <a:xfrm flipH="1">
              <a:off x="7418470" y="6332977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/>
            <p:nvPr/>
          </p:nvCxnSpPr>
          <p:spPr>
            <a:xfrm flipH="1">
              <a:off x="7825343" y="633666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6880146" y="5959956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直線單箭頭接點 81"/>
            <p:cNvCxnSpPr/>
            <p:nvPr/>
          </p:nvCxnSpPr>
          <p:spPr>
            <a:xfrm flipH="1">
              <a:off x="6882207" y="6330271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H="1">
              <a:off x="7289080" y="6333960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向下箭號 83"/>
          <p:cNvSpPr/>
          <p:nvPr/>
        </p:nvSpPr>
        <p:spPr>
          <a:xfrm>
            <a:off x="1615712" y="492436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向下箭號 84"/>
          <p:cNvSpPr/>
          <p:nvPr/>
        </p:nvSpPr>
        <p:spPr>
          <a:xfrm>
            <a:off x="4443735" y="492436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向下箭號 85"/>
          <p:cNvSpPr/>
          <p:nvPr/>
        </p:nvSpPr>
        <p:spPr>
          <a:xfrm>
            <a:off x="7112905" y="492436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25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紅黑樹 </a:t>
            </a:r>
            <a:r>
              <a:rPr lang="en-US" altLang="zh-TW" dirty="0"/>
              <a:t>Red-Black Tree (2/3)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1205501" y="2831270"/>
            <a:ext cx="1293900" cy="372839"/>
            <a:chOff x="357719" y="5127776"/>
            <a:chExt cx="1293900" cy="372839"/>
          </a:xfrm>
          <a:solidFill>
            <a:srgbClr val="2FA3EE"/>
          </a:solidFill>
        </p:grpSpPr>
        <p:sp>
          <p:nvSpPr>
            <p:cNvPr id="13" name="矩形 12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852485" y="5131283"/>
              <a:ext cx="30008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24053" y="5127776"/>
              <a:ext cx="30008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1228945" y="5129843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582852" y="2827581"/>
            <a:ext cx="1293900" cy="372839"/>
            <a:chOff x="357719" y="5127776"/>
            <a:chExt cx="1293900" cy="372839"/>
          </a:xfrm>
          <a:solidFill>
            <a:srgbClr val="2FA3EE"/>
          </a:solidFill>
        </p:grpSpPr>
        <p:sp>
          <p:nvSpPr>
            <p:cNvPr id="25" name="矩形 24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接點 25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794777" y="5131283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接點 28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群組 31"/>
          <p:cNvGrpSpPr/>
          <p:nvPr/>
        </p:nvGrpSpPr>
        <p:grpSpPr>
          <a:xfrm>
            <a:off x="3963077" y="2833337"/>
            <a:ext cx="1293900" cy="369332"/>
            <a:chOff x="357719" y="5127776"/>
            <a:chExt cx="1293900" cy="369332"/>
          </a:xfrm>
          <a:solidFill>
            <a:srgbClr val="2FA3EE"/>
          </a:solidFill>
        </p:grpSpPr>
        <p:sp>
          <p:nvSpPr>
            <p:cNvPr id="37" name="矩形 36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8" name="直線接點 37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線接點 40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377327" y="2833957"/>
            <a:ext cx="1293900" cy="369332"/>
            <a:chOff x="357719" y="5127776"/>
            <a:chExt cx="1293900" cy="369332"/>
          </a:xfrm>
          <a:solidFill>
            <a:srgbClr val="2FA3EE"/>
          </a:solidFill>
        </p:grpSpPr>
        <p:sp>
          <p:nvSpPr>
            <p:cNvPr id="49" name="矩形 48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0" name="直線接點 49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線接點 52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群組 55"/>
          <p:cNvGrpSpPr/>
          <p:nvPr/>
        </p:nvGrpSpPr>
        <p:grpSpPr>
          <a:xfrm>
            <a:off x="6757552" y="2839713"/>
            <a:ext cx="1293900" cy="372839"/>
            <a:chOff x="357719" y="5127776"/>
            <a:chExt cx="1293900" cy="372839"/>
          </a:xfrm>
          <a:solidFill>
            <a:srgbClr val="2FA3EE"/>
          </a:solidFill>
        </p:grpSpPr>
        <p:sp>
          <p:nvSpPr>
            <p:cNvPr id="61" name="矩形 60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接點 61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/>
            <p:cNvSpPr txBox="1"/>
            <p:nvPr/>
          </p:nvSpPr>
          <p:spPr>
            <a:xfrm>
              <a:off x="794777" y="5131283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線接點 64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/>
            <p:cNvSpPr txBox="1"/>
            <p:nvPr/>
          </p:nvSpPr>
          <p:spPr>
            <a:xfrm>
              <a:off x="1228945" y="5129843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1944528" y="2005188"/>
            <a:ext cx="1293900" cy="372839"/>
            <a:chOff x="357719" y="5127776"/>
            <a:chExt cx="1293900" cy="372839"/>
          </a:xfrm>
          <a:solidFill>
            <a:srgbClr val="2FA3EE"/>
          </a:solidFill>
        </p:grpSpPr>
        <p:sp>
          <p:nvSpPr>
            <p:cNvPr id="73" name="矩形 72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4" name="直線接點 73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794777" y="5131283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直線接點 76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直線單箭頭接點 68"/>
          <p:cNvCxnSpPr>
            <a:endCxn id="13" idx="0"/>
          </p:cNvCxnSpPr>
          <p:nvPr/>
        </p:nvCxnSpPr>
        <p:spPr>
          <a:xfrm flipH="1">
            <a:off x="1852451" y="2354561"/>
            <a:ext cx="92194" cy="48740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5" idx="0"/>
          </p:cNvCxnSpPr>
          <p:nvPr/>
        </p:nvCxnSpPr>
        <p:spPr>
          <a:xfrm>
            <a:off x="2377395" y="2358250"/>
            <a:ext cx="852407" cy="48002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endCxn id="37" idx="0"/>
          </p:cNvCxnSpPr>
          <p:nvPr/>
        </p:nvCxnSpPr>
        <p:spPr>
          <a:xfrm>
            <a:off x="2815754" y="2354561"/>
            <a:ext cx="1794273" cy="48946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群組 79"/>
          <p:cNvGrpSpPr/>
          <p:nvPr/>
        </p:nvGrpSpPr>
        <p:grpSpPr>
          <a:xfrm>
            <a:off x="5355549" y="1976398"/>
            <a:ext cx="1293900" cy="369332"/>
            <a:chOff x="357719" y="5127776"/>
            <a:chExt cx="1293900" cy="369332"/>
          </a:xfrm>
          <a:solidFill>
            <a:srgbClr val="2FA3EE"/>
          </a:solidFill>
        </p:grpSpPr>
        <p:sp>
          <p:nvSpPr>
            <p:cNvPr id="85" name="矩形 84"/>
            <p:cNvSpPr/>
            <p:nvPr/>
          </p:nvSpPr>
          <p:spPr>
            <a:xfrm>
              <a:off x="357719" y="5138469"/>
              <a:ext cx="1293900" cy="3364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6" name="直線接點 85"/>
            <p:cNvCxnSpPr/>
            <p:nvPr/>
          </p:nvCxnSpPr>
          <p:spPr>
            <a:xfrm>
              <a:off x="1228945" y="5138469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/>
            <p:cNvSpPr txBox="1"/>
            <p:nvPr/>
          </p:nvSpPr>
          <p:spPr>
            <a:xfrm>
              <a:off x="366345" y="5127776"/>
              <a:ext cx="4154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" name="直線接點 88"/>
            <p:cNvCxnSpPr/>
            <p:nvPr/>
          </p:nvCxnSpPr>
          <p:spPr>
            <a:xfrm>
              <a:off x="794777" y="5135601"/>
              <a:ext cx="0" cy="336430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直線單箭頭接點 80"/>
          <p:cNvCxnSpPr>
            <a:endCxn id="49" idx="0"/>
          </p:cNvCxnSpPr>
          <p:nvPr/>
        </p:nvCxnSpPr>
        <p:spPr>
          <a:xfrm>
            <a:off x="5355665" y="2325771"/>
            <a:ext cx="668612" cy="51887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61" idx="0"/>
          </p:cNvCxnSpPr>
          <p:nvPr/>
        </p:nvCxnSpPr>
        <p:spPr>
          <a:xfrm>
            <a:off x="5788416" y="2329460"/>
            <a:ext cx="1616086" cy="52094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endCxn id="73" idx="0"/>
          </p:cNvCxnSpPr>
          <p:nvPr/>
        </p:nvCxnSpPr>
        <p:spPr>
          <a:xfrm flipH="1">
            <a:off x="2591478" y="1641849"/>
            <a:ext cx="973230" cy="37403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endCxn id="85" idx="0"/>
          </p:cNvCxnSpPr>
          <p:nvPr/>
        </p:nvCxnSpPr>
        <p:spPr>
          <a:xfrm>
            <a:off x="3997459" y="1645538"/>
            <a:ext cx="2005040" cy="34155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 flipV="1">
            <a:off x="3444035" y="2856345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4417387" y="2836024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 flipV="1">
            <a:off x="4838627" y="2844843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 flipV="1">
            <a:off x="2822691" y="2016833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群組 119"/>
          <p:cNvGrpSpPr/>
          <p:nvPr/>
        </p:nvGrpSpPr>
        <p:grpSpPr>
          <a:xfrm>
            <a:off x="3564592" y="1301102"/>
            <a:ext cx="1293900" cy="369332"/>
            <a:chOff x="3564592" y="1395988"/>
            <a:chExt cx="1293900" cy="369332"/>
          </a:xfrm>
          <a:solidFill>
            <a:srgbClr val="2FA3EE"/>
          </a:solidFill>
        </p:grpSpPr>
        <p:grpSp>
          <p:nvGrpSpPr>
            <p:cNvPr id="92" name="群組 91"/>
            <p:cNvGrpSpPr/>
            <p:nvPr/>
          </p:nvGrpSpPr>
          <p:grpSpPr>
            <a:xfrm>
              <a:off x="3564592" y="1395988"/>
              <a:ext cx="1293900" cy="369332"/>
              <a:chOff x="357719" y="5127776"/>
              <a:chExt cx="1293900" cy="369332"/>
            </a:xfrm>
            <a:grpFill/>
          </p:grpSpPr>
          <p:sp>
            <p:nvSpPr>
              <p:cNvPr id="97" name="矩形 96"/>
              <p:cNvSpPr/>
              <p:nvPr/>
            </p:nvSpPr>
            <p:spPr>
              <a:xfrm>
                <a:off x="357719" y="5138469"/>
                <a:ext cx="1293900" cy="33643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接點 97"/>
              <p:cNvCxnSpPr/>
              <p:nvPr/>
            </p:nvCxnSpPr>
            <p:spPr>
              <a:xfrm>
                <a:off x="1228945" y="5138469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字方塊 99"/>
              <p:cNvSpPr txBox="1"/>
              <p:nvPr/>
            </p:nvSpPr>
            <p:spPr>
              <a:xfrm>
                <a:off x="366345" y="5127776"/>
                <a:ext cx="415499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" name="直線接點 100"/>
              <p:cNvCxnSpPr/>
              <p:nvPr/>
            </p:nvCxnSpPr>
            <p:spPr>
              <a:xfrm>
                <a:off x="794777" y="5135601"/>
                <a:ext cx="0" cy="33643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直線接點 106"/>
            <p:cNvCxnSpPr/>
            <p:nvPr/>
          </p:nvCxnSpPr>
          <p:spPr>
            <a:xfrm flipV="1">
              <a:off x="4003084" y="1404662"/>
              <a:ext cx="416916" cy="327804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/>
            <p:cNvCxnSpPr/>
            <p:nvPr/>
          </p:nvCxnSpPr>
          <p:spPr>
            <a:xfrm flipV="1">
              <a:off x="4421711" y="1420799"/>
              <a:ext cx="416916" cy="327804"/>
            </a:xfrm>
            <a:prstGeom prst="lin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" name="直線接點 108"/>
          <p:cNvCxnSpPr/>
          <p:nvPr/>
        </p:nvCxnSpPr>
        <p:spPr>
          <a:xfrm flipV="1">
            <a:off x="5794041" y="1987936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 flipV="1">
            <a:off x="6212668" y="2004073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 flipV="1">
            <a:off x="5831637" y="2827581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 flipV="1">
            <a:off x="6250264" y="2843718"/>
            <a:ext cx="416916" cy="3278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群組 191"/>
          <p:cNvGrpSpPr/>
          <p:nvPr/>
        </p:nvGrpSpPr>
        <p:grpSpPr>
          <a:xfrm>
            <a:off x="3497679" y="3430009"/>
            <a:ext cx="2358086" cy="719987"/>
            <a:chOff x="3497679" y="3343749"/>
            <a:chExt cx="2358086" cy="719987"/>
          </a:xfrm>
        </p:grpSpPr>
        <p:sp>
          <p:nvSpPr>
            <p:cNvPr id="131" name="文字方塊 130"/>
            <p:cNvSpPr txBox="1"/>
            <p:nvPr/>
          </p:nvSpPr>
          <p:spPr>
            <a:xfrm>
              <a:off x="4441515" y="3343749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2" name="直線單箭頭接點 131"/>
            <p:cNvCxnSpPr/>
            <p:nvPr/>
          </p:nvCxnSpPr>
          <p:spPr>
            <a:xfrm flipH="1">
              <a:off x="3497679" y="3705438"/>
              <a:ext cx="937387" cy="35336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單箭頭接點 132"/>
            <p:cNvCxnSpPr/>
            <p:nvPr/>
          </p:nvCxnSpPr>
          <p:spPr>
            <a:xfrm>
              <a:off x="4850565" y="3717753"/>
              <a:ext cx="1005200" cy="34598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群組 193"/>
          <p:cNvGrpSpPr/>
          <p:nvPr/>
        </p:nvGrpSpPr>
        <p:grpSpPr>
          <a:xfrm>
            <a:off x="5445610" y="4149996"/>
            <a:ext cx="827472" cy="586315"/>
            <a:chOff x="5445610" y="4063736"/>
            <a:chExt cx="827472" cy="586315"/>
          </a:xfrm>
        </p:grpSpPr>
        <p:sp>
          <p:nvSpPr>
            <p:cNvPr id="135" name="文字方塊 134"/>
            <p:cNvSpPr txBox="1"/>
            <p:nvPr/>
          </p:nvSpPr>
          <p:spPr>
            <a:xfrm>
              <a:off x="5648015" y="4063736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6" name="直線單箭頭接點 135"/>
            <p:cNvCxnSpPr/>
            <p:nvPr/>
          </p:nvCxnSpPr>
          <p:spPr>
            <a:xfrm flipH="1">
              <a:off x="5445610" y="4434051"/>
              <a:ext cx="19595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/>
            <p:nvPr/>
          </p:nvCxnSpPr>
          <p:spPr>
            <a:xfrm>
              <a:off x="6057065" y="4437740"/>
              <a:ext cx="216017" cy="21231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群組 197"/>
          <p:cNvGrpSpPr/>
          <p:nvPr/>
        </p:nvGrpSpPr>
        <p:grpSpPr>
          <a:xfrm>
            <a:off x="5231295" y="4736311"/>
            <a:ext cx="422064" cy="590004"/>
            <a:chOff x="5231295" y="4650051"/>
            <a:chExt cx="422064" cy="590004"/>
          </a:xfrm>
        </p:grpSpPr>
        <p:sp>
          <p:nvSpPr>
            <p:cNvPr id="139" name="文字方塊 138"/>
            <p:cNvSpPr txBox="1"/>
            <p:nvPr/>
          </p:nvSpPr>
          <p:spPr>
            <a:xfrm>
              <a:off x="5237860" y="465005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線單箭頭接點 139"/>
            <p:cNvCxnSpPr/>
            <p:nvPr/>
          </p:nvCxnSpPr>
          <p:spPr>
            <a:xfrm flipH="1">
              <a:off x="5231295" y="502036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單箭頭接點 140"/>
            <p:cNvCxnSpPr/>
            <p:nvPr/>
          </p:nvCxnSpPr>
          <p:spPr>
            <a:xfrm flipH="1">
              <a:off x="5646794" y="502405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群組 196"/>
          <p:cNvGrpSpPr/>
          <p:nvPr/>
        </p:nvGrpSpPr>
        <p:grpSpPr>
          <a:xfrm>
            <a:off x="3896986" y="5347484"/>
            <a:ext cx="422064" cy="590004"/>
            <a:chOff x="3896986" y="5261224"/>
            <a:chExt cx="422064" cy="590004"/>
          </a:xfrm>
        </p:grpSpPr>
        <p:sp>
          <p:nvSpPr>
            <p:cNvPr id="143" name="文字方塊 142"/>
            <p:cNvSpPr txBox="1"/>
            <p:nvPr/>
          </p:nvSpPr>
          <p:spPr>
            <a:xfrm>
              <a:off x="3903551" y="526122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4" name="直線單箭頭接點 143"/>
            <p:cNvCxnSpPr/>
            <p:nvPr/>
          </p:nvCxnSpPr>
          <p:spPr>
            <a:xfrm flipH="1">
              <a:off x="3896986" y="5631539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單箭頭接點 144"/>
            <p:cNvCxnSpPr/>
            <p:nvPr/>
          </p:nvCxnSpPr>
          <p:spPr>
            <a:xfrm flipH="1">
              <a:off x="4312485" y="563522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群組 192"/>
          <p:cNvGrpSpPr/>
          <p:nvPr/>
        </p:nvGrpSpPr>
        <p:grpSpPr>
          <a:xfrm>
            <a:off x="2162062" y="4153685"/>
            <a:ext cx="1949239" cy="1208582"/>
            <a:chOff x="2162062" y="4067425"/>
            <a:chExt cx="1949239" cy="1208582"/>
          </a:xfrm>
        </p:grpSpPr>
        <p:sp>
          <p:nvSpPr>
            <p:cNvPr id="147" name="文字方塊 146"/>
            <p:cNvSpPr txBox="1"/>
            <p:nvPr/>
          </p:nvSpPr>
          <p:spPr>
            <a:xfrm>
              <a:off x="3289929" y="4067425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H="1">
              <a:off x="2162062" y="4446366"/>
              <a:ext cx="1130044" cy="23348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單箭頭接點 148"/>
            <p:cNvCxnSpPr/>
            <p:nvPr/>
          </p:nvCxnSpPr>
          <p:spPr>
            <a:xfrm flipH="1">
              <a:off x="3698863" y="4441429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/>
            <p:cNvSpPr txBox="1"/>
            <p:nvPr/>
          </p:nvSpPr>
          <p:spPr>
            <a:xfrm>
              <a:off x="3488052" y="466974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1" name="直線單箭頭接點 150"/>
            <p:cNvCxnSpPr/>
            <p:nvPr/>
          </p:nvCxnSpPr>
          <p:spPr>
            <a:xfrm flipH="1">
              <a:off x="3295011" y="5048685"/>
              <a:ext cx="195218" cy="2273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>
              <a:off x="3897102" y="5052374"/>
              <a:ext cx="214199" cy="2174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群組 195"/>
          <p:cNvGrpSpPr/>
          <p:nvPr/>
        </p:nvGrpSpPr>
        <p:grpSpPr>
          <a:xfrm>
            <a:off x="3087261" y="5353641"/>
            <a:ext cx="613622" cy="1192323"/>
            <a:chOff x="3087261" y="5267381"/>
            <a:chExt cx="613622" cy="1192323"/>
          </a:xfrm>
        </p:grpSpPr>
        <p:sp>
          <p:nvSpPr>
            <p:cNvPr id="154" name="文字方塊 153"/>
            <p:cNvSpPr txBox="1"/>
            <p:nvPr/>
          </p:nvSpPr>
          <p:spPr>
            <a:xfrm>
              <a:off x="3087261" y="526738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5" name="直線單箭頭接點 154"/>
            <p:cNvCxnSpPr/>
            <p:nvPr/>
          </p:nvCxnSpPr>
          <p:spPr>
            <a:xfrm flipH="1">
              <a:off x="3089322" y="563769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單箭頭接點 155"/>
            <p:cNvCxnSpPr/>
            <p:nvPr/>
          </p:nvCxnSpPr>
          <p:spPr>
            <a:xfrm flipH="1">
              <a:off x="3496195" y="5641385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/>
            <p:cNvSpPr txBox="1"/>
            <p:nvPr/>
          </p:nvSpPr>
          <p:spPr>
            <a:xfrm>
              <a:off x="3285384" y="5869700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8" name="直線單箭頭接點 157"/>
            <p:cNvCxnSpPr/>
            <p:nvPr/>
          </p:nvCxnSpPr>
          <p:spPr>
            <a:xfrm flipH="1">
              <a:off x="3287445" y="624001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單箭頭接點 158"/>
            <p:cNvCxnSpPr/>
            <p:nvPr/>
          </p:nvCxnSpPr>
          <p:spPr>
            <a:xfrm flipH="1">
              <a:off x="3694318" y="624370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群組 194"/>
          <p:cNvGrpSpPr/>
          <p:nvPr/>
        </p:nvGrpSpPr>
        <p:grpSpPr>
          <a:xfrm>
            <a:off x="1690665" y="4757480"/>
            <a:ext cx="949701" cy="1192323"/>
            <a:chOff x="1690665" y="4671220"/>
            <a:chExt cx="949701" cy="1192323"/>
          </a:xfrm>
        </p:grpSpPr>
        <p:sp>
          <p:nvSpPr>
            <p:cNvPr id="161" name="文字方塊 160"/>
            <p:cNvSpPr txBox="1"/>
            <p:nvPr/>
          </p:nvSpPr>
          <p:spPr>
            <a:xfrm>
              <a:off x="1955062" y="4671220"/>
              <a:ext cx="414000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2" name="直線單箭頭接點 161"/>
            <p:cNvCxnSpPr>
              <a:endCxn id="167" idx="0"/>
            </p:cNvCxnSpPr>
            <p:nvPr/>
          </p:nvCxnSpPr>
          <p:spPr>
            <a:xfrm flipH="1">
              <a:off x="1901556" y="5041535"/>
              <a:ext cx="49731" cy="22929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單箭頭接點 162"/>
            <p:cNvCxnSpPr>
              <a:endCxn id="164" idx="0"/>
            </p:cNvCxnSpPr>
            <p:nvPr/>
          </p:nvCxnSpPr>
          <p:spPr>
            <a:xfrm>
              <a:off x="2358160" y="5045224"/>
              <a:ext cx="74457" cy="228315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字方塊 163"/>
            <p:cNvSpPr txBox="1"/>
            <p:nvPr/>
          </p:nvSpPr>
          <p:spPr>
            <a:xfrm>
              <a:off x="2224867" y="5273539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5" name="直線單箭頭接點 164"/>
            <p:cNvCxnSpPr/>
            <p:nvPr/>
          </p:nvCxnSpPr>
          <p:spPr>
            <a:xfrm flipH="1">
              <a:off x="2226928" y="564385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單箭頭接點 165"/>
            <p:cNvCxnSpPr/>
            <p:nvPr/>
          </p:nvCxnSpPr>
          <p:spPr>
            <a:xfrm flipH="1">
              <a:off x="2633801" y="5647543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字方塊 166"/>
            <p:cNvSpPr txBox="1"/>
            <p:nvPr/>
          </p:nvSpPr>
          <p:spPr>
            <a:xfrm>
              <a:off x="1694556" y="5270833"/>
              <a:ext cx="414000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8" name="直線單箭頭接點 167"/>
            <p:cNvCxnSpPr/>
            <p:nvPr/>
          </p:nvCxnSpPr>
          <p:spPr>
            <a:xfrm flipH="1">
              <a:off x="1690665" y="564114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單箭頭接點 168"/>
            <p:cNvCxnSpPr/>
            <p:nvPr/>
          </p:nvCxnSpPr>
          <p:spPr>
            <a:xfrm flipH="1">
              <a:off x="2097538" y="5644837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群組 198"/>
          <p:cNvGrpSpPr/>
          <p:nvPr/>
        </p:nvGrpSpPr>
        <p:grpSpPr>
          <a:xfrm>
            <a:off x="5804826" y="4736311"/>
            <a:ext cx="951762" cy="1192323"/>
            <a:chOff x="5804826" y="4650051"/>
            <a:chExt cx="951762" cy="1192323"/>
          </a:xfrm>
        </p:grpSpPr>
        <p:sp>
          <p:nvSpPr>
            <p:cNvPr id="171" name="文字方塊 170"/>
            <p:cNvSpPr txBox="1"/>
            <p:nvPr/>
          </p:nvSpPr>
          <p:spPr>
            <a:xfrm>
              <a:off x="6065332" y="465005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2" name="直線單箭頭接點 171"/>
            <p:cNvCxnSpPr>
              <a:endCxn id="177" idx="0"/>
            </p:cNvCxnSpPr>
            <p:nvPr/>
          </p:nvCxnSpPr>
          <p:spPr>
            <a:xfrm flipH="1">
              <a:off x="6012576" y="5020366"/>
              <a:ext cx="54933" cy="22929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單箭頭接點 172"/>
            <p:cNvCxnSpPr>
              <a:endCxn id="174" idx="0"/>
            </p:cNvCxnSpPr>
            <p:nvPr/>
          </p:nvCxnSpPr>
          <p:spPr>
            <a:xfrm>
              <a:off x="6474382" y="5024055"/>
              <a:ext cx="74457" cy="228315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文字方塊 173"/>
            <p:cNvSpPr txBox="1"/>
            <p:nvPr/>
          </p:nvSpPr>
          <p:spPr>
            <a:xfrm>
              <a:off x="6341089" y="5252370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5" name="直線單箭頭接點 174"/>
            <p:cNvCxnSpPr/>
            <p:nvPr/>
          </p:nvCxnSpPr>
          <p:spPr>
            <a:xfrm flipH="1">
              <a:off x="6343150" y="562268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單箭頭接點 175"/>
            <p:cNvCxnSpPr/>
            <p:nvPr/>
          </p:nvCxnSpPr>
          <p:spPr>
            <a:xfrm flipH="1">
              <a:off x="6750023" y="562637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文字方塊 176"/>
            <p:cNvSpPr txBox="1"/>
            <p:nvPr/>
          </p:nvSpPr>
          <p:spPr>
            <a:xfrm>
              <a:off x="5804826" y="524966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8" name="直線單箭頭接點 177"/>
            <p:cNvCxnSpPr/>
            <p:nvPr/>
          </p:nvCxnSpPr>
          <p:spPr>
            <a:xfrm flipH="1">
              <a:off x="5806887" y="5619979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單箭頭接點 178"/>
            <p:cNvCxnSpPr/>
            <p:nvPr/>
          </p:nvCxnSpPr>
          <p:spPr>
            <a:xfrm flipH="1">
              <a:off x="6213760" y="562366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835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紅黑樹 </a:t>
            </a:r>
            <a:r>
              <a:rPr lang="en-US" altLang="zh-TW" dirty="0"/>
              <a:t>Red-Black Tree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為二元搜尋樹</a:t>
            </a:r>
            <a:endParaRPr lang="en-US" altLang="zh-TW" dirty="0"/>
          </a:p>
          <a:p>
            <a:r>
              <a:rPr lang="zh-TW" altLang="en-US" dirty="0"/>
              <a:t>從樹根到樹葉的路徑上，黑指標數一樣多</a:t>
            </a:r>
            <a:endParaRPr lang="en-US" altLang="zh-TW" dirty="0"/>
          </a:p>
          <a:p>
            <a:pPr lvl="1"/>
            <a:r>
              <a:rPr lang="zh-TW" altLang="en-US" dirty="0"/>
              <a:t>黑指標為原來</a:t>
            </a:r>
            <a:r>
              <a:rPr lang="en-US" altLang="zh-TW" dirty="0"/>
              <a:t>2-3-4</a:t>
            </a:r>
            <a:r>
              <a:rPr lang="zh-TW" altLang="en-US" dirty="0"/>
              <a:t>樹的邊，而</a:t>
            </a:r>
            <a:r>
              <a:rPr lang="en-US" altLang="zh-TW" dirty="0"/>
              <a:t>2-3-4</a:t>
            </a:r>
            <a:r>
              <a:rPr lang="zh-TW" altLang="en-US" dirty="0"/>
              <a:t>樹的樹葉在同一階</a:t>
            </a:r>
            <a:endParaRPr lang="en-US" altLang="zh-TW" dirty="0"/>
          </a:p>
          <a:p>
            <a:r>
              <a:rPr lang="zh-TW" altLang="en-US" dirty="0"/>
              <a:t>從樹根到樹葉的路徑上，不會有連續的紅指標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3497679" y="3430009"/>
            <a:ext cx="2358086" cy="719987"/>
            <a:chOff x="3497679" y="3343749"/>
            <a:chExt cx="2358086" cy="719987"/>
          </a:xfrm>
        </p:grpSpPr>
        <p:sp>
          <p:nvSpPr>
            <p:cNvPr id="8" name="文字方塊 7"/>
            <p:cNvSpPr txBox="1"/>
            <p:nvPr/>
          </p:nvSpPr>
          <p:spPr>
            <a:xfrm>
              <a:off x="4441515" y="3343749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/>
            <p:nvPr/>
          </p:nvCxnSpPr>
          <p:spPr>
            <a:xfrm flipH="1">
              <a:off x="3497679" y="3705438"/>
              <a:ext cx="937387" cy="35336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4850565" y="3717753"/>
              <a:ext cx="1005200" cy="34598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5445610" y="4149996"/>
            <a:ext cx="827472" cy="586315"/>
            <a:chOff x="5445610" y="4063736"/>
            <a:chExt cx="827472" cy="586315"/>
          </a:xfrm>
        </p:grpSpPr>
        <p:sp>
          <p:nvSpPr>
            <p:cNvPr id="12" name="文字方塊 11"/>
            <p:cNvSpPr txBox="1"/>
            <p:nvPr/>
          </p:nvSpPr>
          <p:spPr>
            <a:xfrm>
              <a:off x="5648015" y="4063736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>
              <a:off x="5445610" y="4434051"/>
              <a:ext cx="19595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>
              <a:off x="6057065" y="4437740"/>
              <a:ext cx="216017" cy="21231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5231295" y="4736311"/>
            <a:ext cx="422064" cy="590004"/>
            <a:chOff x="5231295" y="4650051"/>
            <a:chExt cx="422064" cy="590004"/>
          </a:xfrm>
        </p:grpSpPr>
        <p:sp>
          <p:nvSpPr>
            <p:cNvPr id="16" name="文字方塊 15"/>
            <p:cNvSpPr txBox="1"/>
            <p:nvPr/>
          </p:nvSpPr>
          <p:spPr>
            <a:xfrm>
              <a:off x="5237860" y="465005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單箭頭接點 16"/>
            <p:cNvCxnSpPr/>
            <p:nvPr/>
          </p:nvCxnSpPr>
          <p:spPr>
            <a:xfrm flipH="1">
              <a:off x="5231295" y="502036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5646794" y="502405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3896986" y="5347484"/>
            <a:ext cx="422064" cy="590004"/>
            <a:chOff x="3896986" y="5261224"/>
            <a:chExt cx="422064" cy="590004"/>
          </a:xfrm>
        </p:grpSpPr>
        <p:sp>
          <p:nvSpPr>
            <p:cNvPr id="20" name="文字方塊 19"/>
            <p:cNvSpPr txBox="1"/>
            <p:nvPr/>
          </p:nvSpPr>
          <p:spPr>
            <a:xfrm>
              <a:off x="3903551" y="526122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線單箭頭接點 20"/>
            <p:cNvCxnSpPr/>
            <p:nvPr/>
          </p:nvCxnSpPr>
          <p:spPr>
            <a:xfrm flipH="1">
              <a:off x="3896986" y="5631539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/>
            <p:cNvCxnSpPr/>
            <p:nvPr/>
          </p:nvCxnSpPr>
          <p:spPr>
            <a:xfrm flipH="1">
              <a:off x="4312485" y="563522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2162062" y="4153685"/>
            <a:ext cx="1949239" cy="1208582"/>
            <a:chOff x="2162062" y="4067425"/>
            <a:chExt cx="1949239" cy="1208582"/>
          </a:xfrm>
        </p:grpSpPr>
        <p:sp>
          <p:nvSpPr>
            <p:cNvPr id="24" name="文字方塊 23"/>
            <p:cNvSpPr txBox="1"/>
            <p:nvPr/>
          </p:nvSpPr>
          <p:spPr>
            <a:xfrm>
              <a:off x="3289929" y="4067425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/>
            <p:cNvCxnSpPr/>
            <p:nvPr/>
          </p:nvCxnSpPr>
          <p:spPr>
            <a:xfrm flipH="1">
              <a:off x="2162062" y="4446366"/>
              <a:ext cx="1130044" cy="23348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flipH="1">
              <a:off x="3698863" y="4441429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3488052" y="466974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單箭頭接點 27"/>
            <p:cNvCxnSpPr/>
            <p:nvPr/>
          </p:nvCxnSpPr>
          <p:spPr>
            <a:xfrm flipH="1">
              <a:off x="3295011" y="5048685"/>
              <a:ext cx="195218" cy="2273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>
              <a:off x="3897102" y="5052374"/>
              <a:ext cx="214199" cy="2174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3087261" y="5353641"/>
            <a:ext cx="613622" cy="1192323"/>
            <a:chOff x="3087261" y="5267381"/>
            <a:chExt cx="613622" cy="1192323"/>
          </a:xfrm>
        </p:grpSpPr>
        <p:sp>
          <p:nvSpPr>
            <p:cNvPr id="31" name="文字方塊 30"/>
            <p:cNvSpPr txBox="1"/>
            <p:nvPr/>
          </p:nvSpPr>
          <p:spPr>
            <a:xfrm>
              <a:off x="3087261" y="526738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線單箭頭接點 31"/>
            <p:cNvCxnSpPr/>
            <p:nvPr/>
          </p:nvCxnSpPr>
          <p:spPr>
            <a:xfrm flipH="1">
              <a:off x="3089322" y="5637696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/>
            <p:nvPr/>
          </p:nvCxnSpPr>
          <p:spPr>
            <a:xfrm flipH="1">
              <a:off x="3496195" y="5641385"/>
              <a:ext cx="116" cy="216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285384" y="5869700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線單箭頭接點 34"/>
            <p:cNvCxnSpPr/>
            <p:nvPr/>
          </p:nvCxnSpPr>
          <p:spPr>
            <a:xfrm flipH="1">
              <a:off x="3287445" y="624001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 flipH="1">
              <a:off x="3694318" y="624370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1690665" y="4757480"/>
            <a:ext cx="949701" cy="1192323"/>
            <a:chOff x="1690665" y="4671220"/>
            <a:chExt cx="949701" cy="1192323"/>
          </a:xfrm>
        </p:grpSpPr>
        <p:sp>
          <p:nvSpPr>
            <p:cNvPr id="38" name="文字方塊 37"/>
            <p:cNvSpPr txBox="1"/>
            <p:nvPr/>
          </p:nvSpPr>
          <p:spPr>
            <a:xfrm>
              <a:off x="1955062" y="4671220"/>
              <a:ext cx="414000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線單箭頭接點 38"/>
            <p:cNvCxnSpPr>
              <a:endCxn id="44" idx="0"/>
            </p:cNvCxnSpPr>
            <p:nvPr/>
          </p:nvCxnSpPr>
          <p:spPr>
            <a:xfrm flipH="1">
              <a:off x="1901556" y="5041535"/>
              <a:ext cx="49731" cy="22929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endCxn id="41" idx="0"/>
            </p:cNvCxnSpPr>
            <p:nvPr/>
          </p:nvCxnSpPr>
          <p:spPr>
            <a:xfrm>
              <a:off x="2358160" y="5045224"/>
              <a:ext cx="74457" cy="228315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2224867" y="5273539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直線單箭頭接點 41"/>
            <p:cNvCxnSpPr/>
            <p:nvPr/>
          </p:nvCxnSpPr>
          <p:spPr>
            <a:xfrm flipH="1">
              <a:off x="2226928" y="564385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/>
            <p:nvPr/>
          </p:nvCxnSpPr>
          <p:spPr>
            <a:xfrm flipH="1">
              <a:off x="2633801" y="5647543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1694556" y="5270833"/>
              <a:ext cx="414000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單箭頭接點 44"/>
            <p:cNvCxnSpPr/>
            <p:nvPr/>
          </p:nvCxnSpPr>
          <p:spPr>
            <a:xfrm flipH="1">
              <a:off x="1690665" y="564114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 flipH="1">
              <a:off x="2097538" y="5644837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/>
          <p:cNvGrpSpPr/>
          <p:nvPr/>
        </p:nvGrpSpPr>
        <p:grpSpPr>
          <a:xfrm>
            <a:off x="5804826" y="4736311"/>
            <a:ext cx="951762" cy="1192323"/>
            <a:chOff x="5804826" y="4650051"/>
            <a:chExt cx="951762" cy="1192323"/>
          </a:xfrm>
        </p:grpSpPr>
        <p:sp>
          <p:nvSpPr>
            <p:cNvPr id="48" name="文字方塊 47"/>
            <p:cNvSpPr txBox="1"/>
            <p:nvPr/>
          </p:nvSpPr>
          <p:spPr>
            <a:xfrm>
              <a:off x="6065332" y="4650051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線單箭頭接點 48"/>
            <p:cNvCxnSpPr>
              <a:endCxn id="54" idx="0"/>
            </p:cNvCxnSpPr>
            <p:nvPr/>
          </p:nvCxnSpPr>
          <p:spPr>
            <a:xfrm flipH="1">
              <a:off x="6012576" y="5020366"/>
              <a:ext cx="54933" cy="22929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>
              <a:endCxn id="51" idx="0"/>
            </p:cNvCxnSpPr>
            <p:nvPr/>
          </p:nvCxnSpPr>
          <p:spPr>
            <a:xfrm>
              <a:off x="6474382" y="5024055"/>
              <a:ext cx="74457" cy="228315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/>
            <p:cNvSpPr txBox="1"/>
            <p:nvPr/>
          </p:nvSpPr>
          <p:spPr>
            <a:xfrm>
              <a:off x="6341089" y="5252370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直線單箭頭接點 51"/>
            <p:cNvCxnSpPr/>
            <p:nvPr/>
          </p:nvCxnSpPr>
          <p:spPr>
            <a:xfrm flipH="1">
              <a:off x="6343150" y="5622685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 flipH="1">
              <a:off x="6750023" y="5626374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/>
            <p:cNvSpPr txBox="1"/>
            <p:nvPr/>
          </p:nvSpPr>
          <p:spPr>
            <a:xfrm>
              <a:off x="5804826" y="5249664"/>
              <a:ext cx="415499" cy="369332"/>
            </a:xfrm>
            <a:prstGeom prst="rect">
              <a:avLst/>
            </a:prstGeom>
            <a:solidFill>
              <a:srgbClr val="2FA3EE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線單箭頭接點 54"/>
            <p:cNvCxnSpPr/>
            <p:nvPr/>
          </p:nvCxnSpPr>
          <p:spPr>
            <a:xfrm flipH="1">
              <a:off x="5806887" y="5619979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 flipH="1">
              <a:off x="6213760" y="5623668"/>
              <a:ext cx="116" cy="216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822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內部路徑長 </a:t>
            </a:r>
            <a:r>
              <a:rPr lang="en-US" altLang="zh-TW" dirty="0"/>
              <a:t>internal path length</a:t>
            </a:r>
          </a:p>
          <a:p>
            <a:pPr lvl="1"/>
            <a:r>
              <a:rPr lang="zh-TW" altLang="en-US" dirty="0"/>
              <a:t>樹根至每個內部節點的路徑長度總和</a:t>
            </a:r>
            <a:endParaRPr lang="en-US" altLang="zh-TW" dirty="0"/>
          </a:p>
          <a:p>
            <a:r>
              <a:rPr lang="zh-TW" altLang="en-US" dirty="0"/>
              <a:t>外部路徑長 </a:t>
            </a:r>
            <a:r>
              <a:rPr lang="en-US" altLang="zh-TW" dirty="0"/>
              <a:t>external path length</a:t>
            </a:r>
          </a:p>
          <a:p>
            <a:pPr marL="685800" lvl="2">
              <a:spcBef>
                <a:spcPts val="1000"/>
              </a:spcBef>
            </a:pPr>
            <a:r>
              <a:rPr lang="zh-TW" altLang="en-US" dirty="0"/>
              <a:t>樹根至每個外部節點的路徑長度總和</a:t>
            </a: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/>
          </a:p>
          <a:p>
            <a:r>
              <a:rPr lang="zh-TW" altLang="en-US" dirty="0"/>
              <a:t>加權</a:t>
            </a:r>
            <a:r>
              <a:rPr lang="en-US" altLang="zh-TW" dirty="0"/>
              <a:t>(weight)</a:t>
            </a:r>
            <a:r>
              <a:rPr lang="zh-TW" altLang="en-US" dirty="0"/>
              <a:t>外部路徑長</a:t>
            </a:r>
            <a:endParaRPr lang="en-US" altLang="zh-TW" dirty="0"/>
          </a:p>
          <a:p>
            <a:pPr lvl="1"/>
            <a:r>
              <a:rPr lang="zh-TW" altLang="en-US" dirty="0"/>
              <a:t>每個外部節點均賦予一個數值</a:t>
            </a:r>
            <a:r>
              <a:rPr lang="en-US" altLang="zh-TW" dirty="0"/>
              <a:t>(</a:t>
            </a:r>
            <a:r>
              <a:rPr lang="zh-TW" altLang="en-US" dirty="0"/>
              <a:t>加權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WE:</a:t>
            </a:r>
            <a:r>
              <a:rPr lang="zh-TW" altLang="en-US" dirty="0"/>
              <a:t> 樹根至每個外部節點的路徑長度 </a:t>
            </a:r>
            <a:r>
              <a:rPr lang="zh-TW" altLang="en-US" dirty="0">
                <a:sym typeface="Symbol"/>
              </a:rPr>
              <a:t> </a:t>
            </a:r>
            <a:r>
              <a:rPr lang="zh-TW" altLang="en-US" dirty="0"/>
              <a:t>該節點的加權 之總和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619323" y="401352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778536" y="349288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470267" y="349867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156527" y="349288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5763323" y="3780886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6120747" y="294654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496283" y="294654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796286" y="24174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7300527" y="3234546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6264747" y="3234546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5922536" y="3234546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6940286" y="2705459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6264747" y="2705459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73223" y="236409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090825" y="288862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470405" y="288887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759515" y="343743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452477" y="34349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46288" y="343236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588253" y="396423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917454" y="23484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917454" y="28886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17454" y="34053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917454" y="39321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28913" y="20582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路徑長</a:t>
            </a:r>
          </a:p>
        </p:txBody>
      </p:sp>
      <p:grpSp>
        <p:nvGrpSpPr>
          <p:cNvPr id="47" name="群組 46"/>
          <p:cNvGrpSpPr/>
          <p:nvPr/>
        </p:nvGrpSpPr>
        <p:grpSpPr>
          <a:xfrm>
            <a:off x="1544128" y="3258928"/>
            <a:ext cx="3414717" cy="611092"/>
            <a:chOff x="1544128" y="3258928"/>
            <a:chExt cx="3414717" cy="611092"/>
          </a:xfrm>
        </p:grpSpPr>
        <p:sp>
          <p:nvSpPr>
            <p:cNvPr id="36" name="文字方塊 35"/>
            <p:cNvSpPr txBox="1"/>
            <p:nvPr/>
          </p:nvSpPr>
          <p:spPr>
            <a:xfrm>
              <a:off x="1544128" y="3469910"/>
              <a:ext cx="34147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內部路徑長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 0 + 1 + 1 +2 = 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3075797" y="3258928"/>
              <a:ext cx="1479462" cy="369332"/>
              <a:chOff x="3075797" y="3258928"/>
              <a:chExt cx="1479462" cy="369332"/>
            </a:xfrm>
          </p:grpSpPr>
          <p:sp>
            <p:nvSpPr>
              <p:cNvPr id="38" name="文字方塊 37"/>
              <p:cNvSpPr txBox="1"/>
              <p:nvPr/>
            </p:nvSpPr>
            <p:spPr>
              <a:xfrm>
                <a:off x="3075797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3474327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854959" y="3258928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4203881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8" name="群組 47"/>
          <p:cNvGrpSpPr/>
          <p:nvPr/>
        </p:nvGrpSpPr>
        <p:grpSpPr>
          <a:xfrm>
            <a:off x="1544128" y="3932194"/>
            <a:ext cx="3076483" cy="585215"/>
            <a:chOff x="1544128" y="3932194"/>
            <a:chExt cx="3076483" cy="585215"/>
          </a:xfrm>
        </p:grpSpPr>
        <p:sp>
          <p:nvSpPr>
            <p:cNvPr id="37" name="文字方塊 36"/>
            <p:cNvSpPr txBox="1"/>
            <p:nvPr/>
          </p:nvSpPr>
          <p:spPr>
            <a:xfrm>
              <a:off x="1544128" y="4117299"/>
              <a:ext cx="30764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外部路徑長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 2 + 2 + 3 = 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3075797" y="3932194"/>
              <a:ext cx="1146757" cy="369332"/>
              <a:chOff x="3075797" y="3932194"/>
              <a:chExt cx="1146757" cy="369332"/>
            </a:xfrm>
          </p:grpSpPr>
          <p:sp>
            <p:nvSpPr>
              <p:cNvPr id="42" name="文字方塊 41"/>
              <p:cNvSpPr txBox="1"/>
              <p:nvPr/>
            </p:nvSpPr>
            <p:spPr>
              <a:xfrm>
                <a:off x="307579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3487151" y="3932194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文字方塊 43"/>
              <p:cNvSpPr txBox="1"/>
              <p:nvPr/>
            </p:nvSpPr>
            <p:spPr>
              <a:xfrm>
                <a:off x="385835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0" name="文字方塊 49"/>
          <p:cNvSpPr txBox="1"/>
          <p:nvPr/>
        </p:nvSpPr>
        <p:spPr>
          <a:xfrm>
            <a:off x="6698001" y="34493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857626" y="39728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394830" y="34323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5148721" y="4439775"/>
            <a:ext cx="3542958" cy="585215"/>
            <a:chOff x="1544128" y="3932194"/>
            <a:chExt cx="3542958" cy="585215"/>
          </a:xfrm>
        </p:grpSpPr>
        <p:sp>
          <p:nvSpPr>
            <p:cNvPr id="54" name="文字方塊 53"/>
            <p:cNvSpPr txBox="1"/>
            <p:nvPr/>
          </p:nvSpPr>
          <p:spPr>
            <a:xfrm>
              <a:off x="1544128" y="4117299"/>
              <a:ext cx="35429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+ 3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57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55" name="群組 54"/>
            <p:cNvGrpSpPr/>
            <p:nvPr/>
          </p:nvGrpSpPr>
          <p:grpSpPr>
            <a:xfrm>
              <a:off x="2428847" y="3932194"/>
              <a:ext cx="1923097" cy="369332"/>
              <a:chOff x="2428847" y="3932194"/>
              <a:chExt cx="1923097" cy="369332"/>
            </a:xfrm>
          </p:grpSpPr>
          <p:sp>
            <p:nvSpPr>
              <p:cNvPr id="56" name="文字方塊 55"/>
              <p:cNvSpPr txBox="1"/>
              <p:nvPr/>
            </p:nvSpPr>
            <p:spPr>
              <a:xfrm>
                <a:off x="242884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3228371" y="3932194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398774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451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(2/11)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</a:t>
            </a:r>
            <a:r>
              <a:rPr lang="zh-TW" altLang="en-US" dirty="0"/>
              <a:t>最小的二元樹稱為</a:t>
            </a:r>
            <a:r>
              <a:rPr lang="en-US" altLang="zh-TW" dirty="0">
                <a:solidFill>
                  <a:srgbClr val="C00000"/>
                </a:solidFill>
              </a:rPr>
              <a:t>Huffman</a:t>
            </a:r>
            <a:r>
              <a:rPr lang="zh-TW" altLang="en-US" dirty="0">
                <a:solidFill>
                  <a:srgbClr val="C00000"/>
                </a:solidFill>
              </a:rPr>
              <a:t>樹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最佳二元樹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8" name="群組 57"/>
          <p:cNvGrpSpPr/>
          <p:nvPr/>
        </p:nvGrpSpPr>
        <p:grpSpPr>
          <a:xfrm>
            <a:off x="429453" y="1620000"/>
            <a:ext cx="2458021" cy="1718195"/>
            <a:chOff x="825205" y="1750356"/>
            <a:chExt cx="2458021" cy="1718195"/>
          </a:xfrm>
        </p:grpSpPr>
        <p:sp>
          <p:nvSpPr>
            <p:cNvPr id="8" name="橢圓 7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接點 15"/>
            <p:cNvCxnSpPr>
              <a:stCxn id="12" idx="4"/>
              <a:endCxn id="9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12" idx="4"/>
              <a:endCxn id="8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4" idx="4"/>
              <a:endCxn id="13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4" idx="4"/>
              <a:endCxn id="12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2628000" y="3618659"/>
            <a:ext cx="3671198" cy="585215"/>
            <a:chOff x="1544128" y="3932194"/>
            <a:chExt cx="3671198" cy="585215"/>
          </a:xfrm>
        </p:grpSpPr>
        <p:sp>
          <p:nvSpPr>
            <p:cNvPr id="35" name="文字方塊 34"/>
            <p:cNvSpPr txBox="1"/>
            <p:nvPr/>
          </p:nvSpPr>
          <p:spPr>
            <a:xfrm>
              <a:off x="1544128" y="4117299"/>
              <a:ext cx="3671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39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2501135" y="3932194"/>
              <a:ext cx="1923097" cy="369332"/>
              <a:chOff x="2501135" y="3932194"/>
              <a:chExt cx="1923097" cy="369332"/>
            </a:xfrm>
          </p:grpSpPr>
          <p:sp>
            <p:nvSpPr>
              <p:cNvPr id="37" name="文字方塊 36"/>
              <p:cNvSpPr txBox="1"/>
              <p:nvPr/>
            </p:nvSpPr>
            <p:spPr>
              <a:xfrm>
                <a:off x="2501135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字方塊 37"/>
              <p:cNvSpPr txBox="1"/>
              <p:nvPr/>
            </p:nvSpPr>
            <p:spPr>
              <a:xfrm>
                <a:off x="3294247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4060029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" name="群組 58"/>
          <p:cNvGrpSpPr/>
          <p:nvPr/>
        </p:nvGrpSpPr>
        <p:grpSpPr>
          <a:xfrm>
            <a:off x="3381591" y="1620000"/>
            <a:ext cx="2458021" cy="1718195"/>
            <a:chOff x="825205" y="1750356"/>
            <a:chExt cx="2458021" cy="1718195"/>
          </a:xfrm>
        </p:grpSpPr>
        <p:sp>
          <p:nvSpPr>
            <p:cNvPr id="60" name="橢圓 59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橢圓 61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接點 64"/>
            <p:cNvCxnSpPr>
              <a:stCxn id="62" idx="4"/>
              <a:endCxn id="61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>
              <a:stCxn id="62" idx="4"/>
              <a:endCxn id="60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4" idx="4"/>
              <a:endCxn id="63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64" idx="4"/>
              <a:endCxn id="62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字方塊 68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6328660" y="1620000"/>
            <a:ext cx="2458021" cy="1718195"/>
            <a:chOff x="825205" y="1750356"/>
            <a:chExt cx="2458021" cy="1718195"/>
          </a:xfrm>
        </p:grpSpPr>
        <p:sp>
          <p:nvSpPr>
            <p:cNvPr id="79" name="橢圓 78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接點 83"/>
            <p:cNvCxnSpPr>
              <a:stCxn id="81" idx="4"/>
              <a:endCxn id="80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接點 84"/>
            <p:cNvCxnSpPr>
              <a:stCxn id="81" idx="4"/>
              <a:endCxn id="79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85"/>
            <p:cNvCxnSpPr>
              <a:stCxn id="83" idx="4"/>
              <a:endCxn id="82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>
              <a:stCxn id="83" idx="4"/>
              <a:endCxn id="81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群組 96"/>
          <p:cNvGrpSpPr/>
          <p:nvPr/>
        </p:nvGrpSpPr>
        <p:grpSpPr>
          <a:xfrm>
            <a:off x="2628000" y="4203874"/>
            <a:ext cx="3627916" cy="585215"/>
            <a:chOff x="1544128" y="3932194"/>
            <a:chExt cx="3627916" cy="585215"/>
          </a:xfrm>
        </p:grpSpPr>
        <p:sp>
          <p:nvSpPr>
            <p:cNvPr id="98" name="文字方塊 97"/>
            <p:cNvSpPr txBox="1"/>
            <p:nvPr/>
          </p:nvSpPr>
          <p:spPr>
            <a:xfrm>
              <a:off x="1544128" y="4117299"/>
              <a:ext cx="3627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40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9" name="群組 98"/>
            <p:cNvGrpSpPr/>
            <p:nvPr/>
          </p:nvGrpSpPr>
          <p:grpSpPr>
            <a:xfrm>
              <a:off x="2501135" y="3932194"/>
              <a:ext cx="1923097" cy="369332"/>
              <a:chOff x="2501135" y="3932194"/>
              <a:chExt cx="1923097" cy="369332"/>
            </a:xfrm>
          </p:grpSpPr>
          <p:sp>
            <p:nvSpPr>
              <p:cNvPr id="100" name="文字方塊 99"/>
              <p:cNvSpPr txBox="1"/>
              <p:nvPr/>
            </p:nvSpPr>
            <p:spPr>
              <a:xfrm>
                <a:off x="2501135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字方塊 100"/>
              <p:cNvSpPr txBox="1"/>
              <p:nvPr/>
            </p:nvSpPr>
            <p:spPr>
              <a:xfrm>
                <a:off x="3294247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文字方塊 101"/>
              <p:cNvSpPr txBox="1"/>
              <p:nvPr/>
            </p:nvSpPr>
            <p:spPr>
              <a:xfrm>
                <a:off x="4060029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" name="群組 102"/>
          <p:cNvGrpSpPr/>
          <p:nvPr/>
        </p:nvGrpSpPr>
        <p:grpSpPr>
          <a:xfrm>
            <a:off x="2628000" y="4789089"/>
            <a:ext cx="3627916" cy="585215"/>
            <a:chOff x="1544128" y="3932194"/>
            <a:chExt cx="3627916" cy="585215"/>
          </a:xfrm>
        </p:grpSpPr>
        <p:sp>
          <p:nvSpPr>
            <p:cNvPr id="104" name="文字方塊 103"/>
            <p:cNvSpPr txBox="1"/>
            <p:nvPr/>
          </p:nvSpPr>
          <p:spPr>
            <a:xfrm>
              <a:off x="1544128" y="4117299"/>
              <a:ext cx="3627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41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05" name="群組 104"/>
            <p:cNvGrpSpPr/>
            <p:nvPr/>
          </p:nvGrpSpPr>
          <p:grpSpPr>
            <a:xfrm>
              <a:off x="2501135" y="3932194"/>
              <a:ext cx="1923097" cy="369332"/>
              <a:chOff x="2501135" y="3932194"/>
              <a:chExt cx="1923097" cy="369332"/>
            </a:xfrm>
          </p:grpSpPr>
          <p:sp>
            <p:nvSpPr>
              <p:cNvPr id="106" name="文字方塊 105"/>
              <p:cNvSpPr txBox="1"/>
              <p:nvPr/>
            </p:nvSpPr>
            <p:spPr>
              <a:xfrm>
                <a:off x="2501135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文字方塊 106"/>
              <p:cNvSpPr txBox="1"/>
              <p:nvPr/>
            </p:nvSpPr>
            <p:spPr>
              <a:xfrm>
                <a:off x="3294247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文字方塊 107"/>
              <p:cNvSpPr txBox="1"/>
              <p:nvPr/>
            </p:nvSpPr>
            <p:spPr>
              <a:xfrm>
                <a:off x="4060029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61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(3/11)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239963" y="1242201"/>
            <a:ext cx="845390" cy="319177"/>
          </a:xfrm>
          <a:prstGeom prst="roundRect">
            <a:avLst>
              <a:gd name="adj" fmla="val 50000"/>
            </a:avLst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36210" y="1820184"/>
            <a:ext cx="4261448" cy="388198"/>
          </a:xfrm>
          <a:prstGeom prst="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將樹葉依照加權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由小至大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排列</a:t>
            </a:r>
          </a:p>
        </p:txBody>
      </p:sp>
      <p:sp>
        <p:nvSpPr>
          <p:cNvPr id="9" name="流程圖: 決策 8"/>
          <p:cNvSpPr/>
          <p:nvPr/>
        </p:nvSpPr>
        <p:spPr>
          <a:xfrm>
            <a:off x="2536210" y="2616667"/>
            <a:ext cx="4261448" cy="831022"/>
          </a:xfrm>
          <a:prstGeom prst="flowChartDecision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串列只有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個元素？</a:t>
            </a:r>
          </a:p>
        </p:txBody>
      </p:sp>
      <p:sp>
        <p:nvSpPr>
          <p:cNvPr id="10" name="矩形 9"/>
          <p:cNvSpPr/>
          <p:nvPr/>
        </p:nvSpPr>
        <p:spPr>
          <a:xfrm>
            <a:off x="2536210" y="3844485"/>
            <a:ext cx="4261448" cy="672868"/>
          </a:xfrm>
          <a:prstGeom prst="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從串列取出加權最小的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個子樹生成新子樹，加權為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個子樹之加權和</a:t>
            </a:r>
          </a:p>
        </p:txBody>
      </p:sp>
      <p:sp>
        <p:nvSpPr>
          <p:cNvPr id="12" name="矩形 11"/>
          <p:cNvSpPr/>
          <p:nvPr/>
        </p:nvSpPr>
        <p:spPr>
          <a:xfrm>
            <a:off x="2536210" y="4960189"/>
            <a:ext cx="4261448" cy="1124301"/>
          </a:xfrm>
          <a:prstGeom prst="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將新子樹樹根插入串列適當位置，使串列仍然維持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由小到大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4241522" y="6393586"/>
            <a:ext cx="871269" cy="319177"/>
          </a:xfrm>
          <a:prstGeom prst="roundRect">
            <a:avLst>
              <a:gd name="adj" fmla="val 50000"/>
            </a:avLst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4" name="直線單箭頭接點 13"/>
          <p:cNvCxnSpPr>
            <a:stCxn id="7" idx="2"/>
            <a:endCxn id="8" idx="0"/>
          </p:cNvCxnSpPr>
          <p:nvPr/>
        </p:nvCxnSpPr>
        <p:spPr>
          <a:xfrm>
            <a:off x="4662658" y="1561378"/>
            <a:ext cx="4276" cy="25880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2"/>
            <a:endCxn id="9" idx="0"/>
          </p:cNvCxnSpPr>
          <p:nvPr/>
        </p:nvCxnSpPr>
        <p:spPr>
          <a:xfrm>
            <a:off x="4666934" y="2208382"/>
            <a:ext cx="0" cy="40828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12" idx="0"/>
          </p:cNvCxnSpPr>
          <p:nvPr/>
        </p:nvCxnSpPr>
        <p:spPr>
          <a:xfrm>
            <a:off x="4666934" y="4517353"/>
            <a:ext cx="0" cy="44283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接點 16"/>
          <p:cNvCxnSpPr>
            <a:stCxn id="12" idx="2"/>
            <a:endCxn id="9" idx="3"/>
          </p:cNvCxnSpPr>
          <p:nvPr/>
        </p:nvCxnSpPr>
        <p:spPr>
          <a:xfrm rot="5400000" flipH="1" flipV="1">
            <a:off x="4206140" y="3492972"/>
            <a:ext cx="3052312" cy="2130724"/>
          </a:xfrm>
          <a:prstGeom prst="bentConnector4">
            <a:avLst>
              <a:gd name="adj1" fmla="val -7489"/>
              <a:gd name="adj2" fmla="val 110729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4641056" y="3447689"/>
            <a:ext cx="415498" cy="396796"/>
            <a:chOff x="5529534" y="3447689"/>
            <a:chExt cx="415498" cy="396796"/>
          </a:xfrm>
        </p:grpSpPr>
        <p:cxnSp>
          <p:nvCxnSpPr>
            <p:cNvPr id="19" name="直線單箭頭接點 18"/>
            <p:cNvCxnSpPr>
              <a:stCxn id="9" idx="2"/>
              <a:endCxn id="10" idx="0"/>
            </p:cNvCxnSpPr>
            <p:nvPr/>
          </p:nvCxnSpPr>
          <p:spPr>
            <a:xfrm>
              <a:off x="5546786" y="3447689"/>
              <a:ext cx="0" cy="39679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5529534" y="34492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1897850" y="3032177"/>
            <a:ext cx="2335046" cy="3520997"/>
            <a:chOff x="2786328" y="3032177"/>
            <a:chExt cx="2335046" cy="3520997"/>
          </a:xfrm>
        </p:grpSpPr>
        <p:cxnSp>
          <p:nvCxnSpPr>
            <p:cNvPr id="25" name="肘形接點 24"/>
            <p:cNvCxnSpPr>
              <a:stCxn id="9" idx="1"/>
              <a:endCxn id="13" idx="1"/>
            </p:cNvCxnSpPr>
            <p:nvPr/>
          </p:nvCxnSpPr>
          <p:spPr>
            <a:xfrm rot="10800000" flipH="1" flipV="1">
              <a:off x="3416062" y="3032177"/>
              <a:ext cx="1705312" cy="3520997"/>
            </a:xfrm>
            <a:prstGeom prst="bentConnector3">
              <a:avLst>
                <a:gd name="adj1" fmla="val -13405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2786328" y="319422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39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(4/11)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6</a:t>
            </a:r>
            <a:r>
              <a:rPr lang="zh-TW" altLang="en-US" dirty="0"/>
              <a:t>個樹葉</a:t>
            </a:r>
            <a:r>
              <a:rPr lang="en-US" altLang="zh-TW" dirty="0"/>
              <a:t>A, B, C, D, E, F</a:t>
            </a:r>
            <a:r>
              <a:rPr lang="zh-TW" altLang="en-US" dirty="0"/>
              <a:t>，加權分別為</a:t>
            </a:r>
            <a:r>
              <a:rPr lang="en-US" altLang="zh-TW" dirty="0"/>
              <a:t>15, 8, 30, 27, 5, 15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101033" y="4698717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758822" y="4698717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595801" y="4966972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288763" y="4968147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916844" y="4361425"/>
            <a:ext cx="364203" cy="369332"/>
            <a:chOff x="916844" y="4361425"/>
            <a:chExt cx="364203" cy="369332"/>
          </a:xfrm>
        </p:grpSpPr>
        <p:sp>
          <p:nvSpPr>
            <p:cNvPr id="27" name="橢圓 26"/>
            <p:cNvSpPr/>
            <p:nvPr/>
          </p:nvSpPr>
          <p:spPr>
            <a:xfrm>
              <a:off x="957033" y="44107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16844" y="4361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1948267" y="4966972"/>
            <a:ext cx="415499" cy="628421"/>
            <a:chOff x="545032" y="4780839"/>
            <a:chExt cx="415499" cy="628421"/>
          </a:xfrm>
        </p:grpSpPr>
        <p:sp>
          <p:nvSpPr>
            <p:cNvPr id="50" name="橢圓 49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646039" y="4966972"/>
            <a:ext cx="415499" cy="631678"/>
            <a:chOff x="1242804" y="4778375"/>
            <a:chExt cx="415499" cy="631678"/>
          </a:xfrm>
        </p:grpSpPr>
        <p:sp>
          <p:nvSpPr>
            <p:cNvPr id="54" name="橢圓 53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1301587" y="477837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3414759" y="4966972"/>
            <a:ext cx="415499" cy="628421"/>
            <a:chOff x="545032" y="4780839"/>
            <a:chExt cx="415499" cy="628421"/>
          </a:xfrm>
        </p:grpSpPr>
        <p:sp>
          <p:nvSpPr>
            <p:cNvPr id="58" name="橢圓 57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4112531" y="4966972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602740" y="436142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491706" y="496697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圓角矩形 66"/>
          <p:cNvSpPr/>
          <p:nvPr/>
        </p:nvSpPr>
        <p:spPr>
          <a:xfrm>
            <a:off x="1187286" y="4968147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48" grpId="0" animBg="1"/>
      <p:bldP spid="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橢圓 26"/>
          <p:cNvSpPr/>
          <p:nvPr/>
        </p:nvSpPr>
        <p:spPr>
          <a:xfrm>
            <a:off x="957033" y="44107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916844" y="4361425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2018057" y="43927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1999036" y="433727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(5/11)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6</a:t>
            </a:r>
            <a:r>
              <a:rPr lang="zh-TW" altLang="en-US" dirty="0"/>
              <a:t>個樹葉</a:t>
            </a:r>
            <a:r>
              <a:rPr lang="en-US" altLang="zh-TW" dirty="0"/>
              <a:t>A, B, C, D, E, F</a:t>
            </a:r>
            <a:r>
              <a:rPr lang="zh-TW" altLang="en-US" dirty="0"/>
              <a:t>，加權分別為</a:t>
            </a:r>
            <a:r>
              <a:rPr lang="en-US" altLang="zh-TW" dirty="0"/>
              <a:t>15, 8, 30, 27, 5, 15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101033" y="4698717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758822" y="4698717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595801" y="4966972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288763" y="4968147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1948267" y="459636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2646039" y="4337274"/>
            <a:ext cx="415499" cy="631678"/>
            <a:chOff x="1242804" y="4778375"/>
            <a:chExt cx="415499" cy="631678"/>
          </a:xfrm>
        </p:grpSpPr>
        <p:sp>
          <p:nvSpPr>
            <p:cNvPr id="54" name="橢圓 53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1301587" y="477837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3414759" y="4337274"/>
            <a:ext cx="415499" cy="628421"/>
            <a:chOff x="545032" y="4780839"/>
            <a:chExt cx="415499" cy="628421"/>
          </a:xfrm>
        </p:grpSpPr>
        <p:sp>
          <p:nvSpPr>
            <p:cNvPr id="58" name="橢圓 57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4112531" y="4337274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602740" y="436142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543463" y="4332841"/>
            <a:ext cx="1113930" cy="126255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圓角矩形 66"/>
          <p:cNvSpPr/>
          <p:nvPr/>
        </p:nvSpPr>
        <p:spPr>
          <a:xfrm>
            <a:off x="1892749" y="433284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1449578" y="3449191"/>
            <a:ext cx="364203" cy="369332"/>
            <a:chOff x="1449578" y="3449191"/>
            <a:chExt cx="364203" cy="369332"/>
          </a:xfrm>
        </p:grpSpPr>
        <p:sp>
          <p:nvSpPr>
            <p:cNvPr id="43" name="橢圓 42"/>
            <p:cNvSpPr/>
            <p:nvPr/>
          </p:nvSpPr>
          <p:spPr>
            <a:xfrm>
              <a:off x="1482406" y="350426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1449578" y="3449191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文字方塊 65"/>
          <p:cNvSpPr txBox="1"/>
          <p:nvPr/>
        </p:nvSpPr>
        <p:spPr>
          <a:xfrm>
            <a:off x="1117961" y="344388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1101033" y="3792268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1626406" y="3792268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6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67" grpId="0" animBg="1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橢圓 53"/>
          <p:cNvSpPr/>
          <p:nvPr/>
        </p:nvSpPr>
        <p:spPr>
          <a:xfrm>
            <a:off x="1260935" y="3517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1255969" y="345424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035696" y="35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2016675" y="345424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(6/11)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6</a:t>
            </a:r>
            <a:r>
              <a:rPr lang="zh-TW" altLang="en-US" dirty="0"/>
              <a:t>個樹葉</a:t>
            </a:r>
            <a:r>
              <a:rPr lang="en-US" altLang="zh-TW" dirty="0"/>
              <a:t>A, B, C, D, E, F</a:t>
            </a:r>
            <a:r>
              <a:rPr lang="zh-TW" altLang="en-US" dirty="0"/>
              <a:t>，加權分別為</a:t>
            </a:r>
            <a:r>
              <a:rPr lang="en-US" altLang="zh-TW" dirty="0"/>
              <a:t>15, 8, 30, 27, 5, 15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字方塊 55"/>
          <p:cNvSpPr txBox="1"/>
          <p:nvPr/>
        </p:nvSpPr>
        <p:spPr>
          <a:xfrm>
            <a:off x="1197186" y="371659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965906" y="371333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1" name="群組 60"/>
          <p:cNvGrpSpPr/>
          <p:nvPr/>
        </p:nvGrpSpPr>
        <p:grpSpPr>
          <a:xfrm>
            <a:off x="3509026" y="3454249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1993213" y="3443886"/>
            <a:ext cx="1767965" cy="2155939"/>
            <a:chOff x="595801" y="3443886"/>
            <a:chExt cx="1767965" cy="2155939"/>
          </a:xfrm>
        </p:grpSpPr>
        <p:sp>
          <p:nvSpPr>
            <p:cNvPr id="27" name="橢圓 26"/>
            <p:cNvSpPr/>
            <p:nvPr/>
          </p:nvSpPr>
          <p:spPr>
            <a:xfrm>
              <a:off x="957033" y="44107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16844" y="4361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橢圓 49"/>
            <p:cNvSpPr/>
            <p:nvPr/>
          </p:nvSpPr>
          <p:spPr>
            <a:xfrm>
              <a:off x="2018057" y="43927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999036" y="433727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線接點 29"/>
            <p:cNvCxnSpPr>
              <a:stCxn id="27" idx="4"/>
              <a:endCxn id="26" idx="0"/>
            </p:cNvCxnSpPr>
            <p:nvPr/>
          </p:nvCxnSpPr>
          <p:spPr>
            <a:xfrm>
              <a:off x="1101033" y="4698717"/>
              <a:ext cx="349520" cy="333133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27" idx="4"/>
              <a:endCxn id="25" idx="0"/>
            </p:cNvCxnSpPr>
            <p:nvPr/>
          </p:nvCxnSpPr>
          <p:spPr>
            <a:xfrm flipH="1">
              <a:off x="758822" y="4698717"/>
              <a:ext cx="342211" cy="32370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/>
            <p:cNvGrpSpPr/>
            <p:nvPr/>
          </p:nvGrpSpPr>
          <p:grpSpPr>
            <a:xfrm>
              <a:off x="595801" y="4966972"/>
              <a:ext cx="351378" cy="628421"/>
              <a:chOff x="595801" y="4780839"/>
              <a:chExt cx="351378" cy="628421"/>
            </a:xfrm>
          </p:grpSpPr>
          <p:sp>
            <p:nvSpPr>
              <p:cNvPr id="25" name="橢圓 24"/>
              <p:cNvSpPr/>
              <p:nvPr/>
            </p:nvSpPr>
            <p:spPr>
              <a:xfrm>
                <a:off x="614822" y="483629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595801" y="4780839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602740" y="503992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群組 46"/>
            <p:cNvGrpSpPr/>
            <p:nvPr/>
          </p:nvGrpSpPr>
          <p:grpSpPr>
            <a:xfrm>
              <a:off x="1288763" y="4968147"/>
              <a:ext cx="351378" cy="631678"/>
              <a:chOff x="1288763" y="4778375"/>
              <a:chExt cx="351378" cy="631678"/>
            </a:xfrm>
          </p:grpSpPr>
          <p:sp>
            <p:nvSpPr>
              <p:cNvPr id="26" name="橢圓 25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文字方塊 35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2" name="文字方塊 51"/>
            <p:cNvSpPr txBox="1"/>
            <p:nvPr/>
          </p:nvSpPr>
          <p:spPr>
            <a:xfrm>
              <a:off x="1948267" y="45963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602740" y="436142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1449578" y="3449191"/>
              <a:ext cx="364203" cy="369332"/>
              <a:chOff x="1449578" y="3449191"/>
              <a:chExt cx="364203" cy="369332"/>
            </a:xfrm>
          </p:grpSpPr>
          <p:sp>
            <p:nvSpPr>
              <p:cNvPr id="43" name="橢圓 42"/>
              <p:cNvSpPr/>
              <p:nvPr/>
            </p:nvSpPr>
            <p:spPr>
              <a:xfrm>
                <a:off x="1482406" y="350426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>
                <a:off x="1449578" y="3449191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6" name="文字方塊 65"/>
            <p:cNvSpPr txBox="1"/>
            <p:nvPr/>
          </p:nvSpPr>
          <p:spPr>
            <a:xfrm>
              <a:off x="1117961" y="344388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線接點 68"/>
            <p:cNvCxnSpPr>
              <a:stCxn id="43" idx="4"/>
              <a:endCxn id="27" idx="0"/>
            </p:cNvCxnSpPr>
            <p:nvPr/>
          </p:nvCxnSpPr>
          <p:spPr>
            <a:xfrm flipH="1">
              <a:off x="1101033" y="3792268"/>
              <a:ext cx="525373" cy="61844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43" idx="4"/>
              <a:endCxn id="50" idx="0"/>
            </p:cNvCxnSpPr>
            <p:nvPr/>
          </p:nvCxnSpPr>
          <p:spPr>
            <a:xfrm>
              <a:off x="1626406" y="3792268"/>
              <a:ext cx="535651" cy="60046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1676434" y="2580106"/>
            <a:ext cx="295116" cy="369332"/>
            <a:chOff x="1676434" y="2580106"/>
            <a:chExt cx="295116" cy="369332"/>
          </a:xfrm>
        </p:grpSpPr>
        <p:sp>
          <p:nvSpPr>
            <p:cNvPr id="68" name="橢圓 67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697116" y="2580106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文字方塊 71"/>
          <p:cNvSpPr txBox="1"/>
          <p:nvPr/>
        </p:nvSpPr>
        <p:spPr>
          <a:xfrm>
            <a:off x="1307495" y="25945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1820434" y="2931809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1404935" y="2931809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1911845" y="3443856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1149901" y="3451019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06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5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橢圓 61"/>
          <p:cNvSpPr/>
          <p:nvPr/>
        </p:nvSpPr>
        <p:spPr>
          <a:xfrm>
            <a:off x="2712856" y="31905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666233" y="317688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2695066" y="312686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633405" y="3121807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3529573" y="40700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3524607" y="400631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4304334" y="40617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4285313" y="400631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(7/11)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6</a:t>
            </a:r>
            <a:r>
              <a:rPr lang="zh-TW" altLang="en-US" dirty="0"/>
              <a:t>個樹葉</a:t>
            </a:r>
            <a:r>
              <a:rPr lang="en-US" altLang="zh-TW" dirty="0"/>
              <a:t>A, B, C, D, E, F</a:t>
            </a:r>
            <a:r>
              <a:rPr lang="zh-TW" altLang="en-US" dirty="0"/>
              <a:t>，加權分別為</a:t>
            </a:r>
            <a:r>
              <a:rPr lang="en-US" altLang="zh-TW" dirty="0"/>
              <a:t>15, 8, 30, 27, 5, 15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字方塊 55"/>
          <p:cNvSpPr txBox="1"/>
          <p:nvPr/>
        </p:nvSpPr>
        <p:spPr>
          <a:xfrm>
            <a:off x="3465824" y="42686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234544" y="426540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2649107" y="33892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1140860" y="40833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1100671" y="403404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2201884" y="40653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2182863" y="400989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284860" y="4371333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942649" y="4371333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779628" y="4639588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472590" y="4640763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2132094" y="426897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86567" y="40340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301788" y="311650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1284860" y="3464884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1810233" y="3464884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/>
          <p:cNvGrpSpPr/>
          <p:nvPr/>
        </p:nvGrpSpPr>
        <p:grpSpPr>
          <a:xfrm>
            <a:off x="3945072" y="3132170"/>
            <a:ext cx="295116" cy="369332"/>
            <a:chOff x="1676434" y="2580106"/>
            <a:chExt cx="295116" cy="369332"/>
          </a:xfrm>
        </p:grpSpPr>
        <p:sp>
          <p:nvSpPr>
            <p:cNvPr id="68" name="橢圓 67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697116" y="2580106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文字方塊 71"/>
          <p:cNvSpPr txBox="1"/>
          <p:nvPr/>
        </p:nvSpPr>
        <p:spPr>
          <a:xfrm>
            <a:off x="3576133" y="31465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4089072" y="3483873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3673573" y="3483873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762376" y="3072784"/>
            <a:ext cx="1767965" cy="219522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2603249" y="311650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/>
          <p:cNvGrpSpPr/>
          <p:nvPr/>
        </p:nvGrpSpPr>
        <p:grpSpPr>
          <a:xfrm>
            <a:off x="2192227" y="2214895"/>
            <a:ext cx="307941" cy="369332"/>
            <a:chOff x="1676434" y="2580106"/>
            <a:chExt cx="307941" cy="369332"/>
          </a:xfrm>
        </p:grpSpPr>
        <p:sp>
          <p:nvSpPr>
            <p:cNvPr id="53" name="橢圓 52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84292" y="258010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直線接點 66"/>
          <p:cNvCxnSpPr>
            <a:stCxn id="53" idx="4"/>
            <a:endCxn id="62" idx="0"/>
          </p:cNvCxnSpPr>
          <p:nvPr/>
        </p:nvCxnSpPr>
        <p:spPr>
          <a:xfrm>
            <a:off x="2336227" y="2566598"/>
            <a:ext cx="520629" cy="6239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53" idx="4"/>
            <a:endCxn id="43" idx="0"/>
          </p:cNvCxnSpPr>
          <p:nvPr/>
        </p:nvCxnSpPr>
        <p:spPr>
          <a:xfrm flipH="1">
            <a:off x="1810233" y="2566598"/>
            <a:ext cx="525994" cy="6102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820889" y="22166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8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橢圓 67"/>
          <p:cNvSpPr/>
          <p:nvPr/>
        </p:nvSpPr>
        <p:spPr>
          <a:xfrm>
            <a:off x="1871394" y="31127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4284767" y="31180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/>
          <p:cNvSpPr txBox="1"/>
          <p:nvPr/>
        </p:nvSpPr>
        <p:spPr>
          <a:xfrm>
            <a:off x="1892076" y="3049033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292625" y="305433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(8/11)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假設有</a:t>
            </a:r>
            <a:r>
              <a:rPr lang="en-US" altLang="zh-TW" dirty="0"/>
              <a:t>6</a:t>
            </a:r>
            <a:r>
              <a:rPr lang="zh-TW" altLang="en-US" dirty="0"/>
              <a:t>個樹葉</a:t>
            </a:r>
            <a:r>
              <a:rPr lang="en-US" altLang="zh-TW" dirty="0"/>
              <a:t>A, B, C, D, E, F</a:t>
            </a:r>
            <a:r>
              <a:rPr lang="zh-TW" altLang="en-US" dirty="0"/>
              <a:t>，加權分別為</a:t>
            </a:r>
            <a:r>
              <a:rPr lang="en-US" altLang="zh-TW" dirty="0"/>
              <a:t>15, 8, 30, 27, 5, 15</a:t>
            </a:r>
            <a:r>
              <a:rPr lang="zh-TW" altLang="en-US" dirty="0"/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橢圓 53"/>
          <p:cNvSpPr/>
          <p:nvPr/>
        </p:nvSpPr>
        <p:spPr>
          <a:xfrm>
            <a:off x="1455895" y="398687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1450929" y="392317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230656" y="3978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2211635" y="392317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392146" y="418552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160866" y="418226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1502455" y="30634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2015394" y="3400736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1599895" y="3400736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橢圓 61"/>
          <p:cNvSpPr/>
          <p:nvPr/>
        </p:nvSpPr>
        <p:spPr>
          <a:xfrm>
            <a:off x="4805396" y="40300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758773" y="401632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787606" y="396630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725945" y="396125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741647" y="42286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233400" y="49227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3193211" y="487348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4294424" y="49047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4275403" y="48493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3377400" y="5210776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3035189" y="5210776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2872168" y="5479031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3565130" y="5480206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4224634" y="510842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2879107" y="487348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3394328" y="395594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3377400" y="4304327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3902773" y="4304327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2854916" y="3063445"/>
            <a:ext cx="2381318" cy="30440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1336628" y="3054339"/>
            <a:ext cx="1239737" cy="144761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接點 66"/>
          <p:cNvCxnSpPr>
            <a:stCxn id="53" idx="4"/>
            <a:endCxn id="62" idx="0"/>
          </p:cNvCxnSpPr>
          <p:nvPr/>
        </p:nvCxnSpPr>
        <p:spPr>
          <a:xfrm>
            <a:off x="4428767" y="3406041"/>
            <a:ext cx="520629" cy="6239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53" idx="4"/>
            <a:endCxn id="43" idx="0"/>
          </p:cNvCxnSpPr>
          <p:nvPr/>
        </p:nvCxnSpPr>
        <p:spPr>
          <a:xfrm flipH="1">
            <a:off x="3902773" y="3406041"/>
            <a:ext cx="525994" cy="6102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3913429" y="305604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9" name="群組 78"/>
          <p:cNvGrpSpPr/>
          <p:nvPr/>
        </p:nvGrpSpPr>
        <p:grpSpPr>
          <a:xfrm>
            <a:off x="3001166" y="2304286"/>
            <a:ext cx="364203" cy="369332"/>
            <a:chOff x="1652232" y="2580106"/>
            <a:chExt cx="364203" cy="369332"/>
          </a:xfrm>
        </p:grpSpPr>
        <p:sp>
          <p:nvSpPr>
            <p:cNvPr id="80" name="橢圓 79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1652232" y="2580106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2" name="直線接點 81"/>
          <p:cNvCxnSpPr>
            <a:stCxn id="80" idx="4"/>
            <a:endCxn id="53" idx="0"/>
          </p:cNvCxnSpPr>
          <p:nvPr/>
        </p:nvCxnSpPr>
        <p:spPr>
          <a:xfrm>
            <a:off x="3169368" y="2655989"/>
            <a:ext cx="1259399" cy="46205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stCxn id="80" idx="4"/>
            <a:endCxn id="68" idx="0"/>
          </p:cNvCxnSpPr>
          <p:nvPr/>
        </p:nvCxnSpPr>
        <p:spPr>
          <a:xfrm flipH="1">
            <a:off x="2015394" y="2655989"/>
            <a:ext cx="1153974" cy="45674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2560359" y="2314050"/>
            <a:ext cx="53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80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(9/11)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資料的壓縮與編碼</a:t>
            </a:r>
            <a:endParaRPr lang="en-US" altLang="zh-TW" dirty="0"/>
          </a:p>
          <a:p>
            <a:pPr lvl="1"/>
            <a:r>
              <a:rPr lang="zh-TW" altLang="en-US" dirty="0"/>
              <a:t>用</a:t>
            </a:r>
            <a:r>
              <a:rPr lang="zh-TW" altLang="en-US" dirty="0">
                <a:solidFill>
                  <a:srgbClr val="C00000"/>
                </a:solidFill>
              </a:rPr>
              <a:t>二進制</a:t>
            </a:r>
            <a:r>
              <a:rPr lang="zh-TW" altLang="en-US" dirty="0"/>
              <a:t>數字來表示文章</a:t>
            </a:r>
            <a:endParaRPr lang="en-US" altLang="zh-TW" dirty="0"/>
          </a:p>
          <a:p>
            <a:pPr lvl="1"/>
            <a:r>
              <a:rPr lang="zh-TW" altLang="en-US" dirty="0"/>
              <a:t>編碼後的密文</a:t>
            </a:r>
            <a:r>
              <a:rPr lang="zh-TW" altLang="en-US" dirty="0">
                <a:solidFill>
                  <a:srgbClr val="C00000"/>
                </a:solidFill>
              </a:rPr>
              <a:t>越短越好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假設加權為字母出現的百分比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66" name="群組 65"/>
          <p:cNvGrpSpPr/>
          <p:nvPr/>
        </p:nvGrpSpPr>
        <p:grpSpPr>
          <a:xfrm>
            <a:off x="4686349" y="1918163"/>
            <a:ext cx="3765000" cy="3747216"/>
            <a:chOff x="4686349" y="1918163"/>
            <a:chExt cx="3765000" cy="3747216"/>
          </a:xfrm>
        </p:grpSpPr>
        <p:grpSp>
          <p:nvGrpSpPr>
            <p:cNvPr id="35" name="群組 34"/>
            <p:cNvGrpSpPr/>
            <p:nvPr/>
          </p:nvGrpSpPr>
          <p:grpSpPr>
            <a:xfrm>
              <a:off x="6850919" y="5033701"/>
              <a:ext cx="351378" cy="631678"/>
              <a:chOff x="1288763" y="4778375"/>
              <a:chExt cx="351378" cy="631678"/>
            </a:xfrm>
          </p:grpSpPr>
          <p:sp>
            <p:nvSpPr>
              <p:cNvPr id="36" name="橢圓 35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文字方塊 36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字方塊 37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群組 64"/>
            <p:cNvGrpSpPr/>
            <p:nvPr/>
          </p:nvGrpSpPr>
          <p:grpSpPr>
            <a:xfrm>
              <a:off x="4686349" y="1918163"/>
              <a:ext cx="3765000" cy="3739463"/>
              <a:chOff x="4686349" y="1918163"/>
              <a:chExt cx="3765000" cy="3739463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5165597" y="266291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7578970" y="266821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4750098" y="353705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4745132" y="3473350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5524859" y="352880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/>
              <p:cNvSpPr txBox="1"/>
              <p:nvPr/>
            </p:nvSpPr>
            <p:spPr>
              <a:xfrm>
                <a:off x="5505838" y="3473350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4686349" y="37356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5455069" y="3732439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直線接點 17"/>
              <p:cNvCxnSpPr>
                <a:stCxn id="7" idx="4"/>
                <a:endCxn id="13" idx="0"/>
              </p:cNvCxnSpPr>
              <p:nvPr/>
            </p:nvCxnSpPr>
            <p:spPr>
              <a:xfrm>
                <a:off x="5309597" y="2950910"/>
                <a:ext cx="359262" cy="577894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7" idx="4"/>
                <a:endCxn id="11" idx="0"/>
              </p:cNvCxnSpPr>
              <p:nvPr/>
            </p:nvCxnSpPr>
            <p:spPr>
              <a:xfrm flipH="1">
                <a:off x="4894098" y="2950910"/>
                <a:ext cx="415499" cy="58614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橢圓 19"/>
              <p:cNvSpPr/>
              <p:nvPr/>
            </p:nvSpPr>
            <p:spPr>
              <a:xfrm>
                <a:off x="8099599" y="358018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052976" y="356650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081809" y="3516482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8035850" y="37788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6527603" y="447295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橢圓 26"/>
              <p:cNvSpPr/>
              <p:nvPr/>
            </p:nvSpPr>
            <p:spPr>
              <a:xfrm>
                <a:off x="7588627" y="44549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7569606" y="439950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直線接點 28"/>
              <p:cNvCxnSpPr>
                <a:stCxn id="25" idx="4"/>
              </p:cNvCxnSpPr>
              <p:nvPr/>
            </p:nvCxnSpPr>
            <p:spPr>
              <a:xfrm>
                <a:off x="6671603" y="4760950"/>
                <a:ext cx="349520" cy="33313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>
                <a:stCxn id="25" idx="4"/>
                <a:endCxn id="32" idx="0"/>
              </p:cNvCxnSpPr>
              <p:nvPr/>
            </p:nvCxnSpPr>
            <p:spPr>
              <a:xfrm flipH="1">
                <a:off x="6329392" y="4760950"/>
                <a:ext cx="342211" cy="32370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群組 30"/>
              <p:cNvGrpSpPr/>
              <p:nvPr/>
            </p:nvGrpSpPr>
            <p:grpSpPr>
              <a:xfrm>
                <a:off x="6166371" y="5029205"/>
                <a:ext cx="351378" cy="628421"/>
                <a:chOff x="595801" y="4780839"/>
                <a:chExt cx="351378" cy="628421"/>
              </a:xfrm>
            </p:grpSpPr>
            <p:sp>
              <p:nvSpPr>
                <p:cNvPr id="32" name="橢圓 31"/>
                <p:cNvSpPr/>
                <p:nvPr/>
              </p:nvSpPr>
              <p:spPr>
                <a:xfrm>
                  <a:off x="614822" y="4836293"/>
                  <a:ext cx="288000" cy="288000"/>
                </a:xfrm>
                <a:prstGeom prst="ellipse">
                  <a:avLst/>
                </a:prstGeom>
                <a:solidFill>
                  <a:srgbClr val="E8F0FC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文字方塊 32"/>
                <p:cNvSpPr txBox="1"/>
                <p:nvPr/>
              </p:nvSpPr>
              <p:spPr>
                <a:xfrm>
                  <a:off x="595801" y="4780839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zh-TW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文字方塊 33"/>
                <p:cNvSpPr txBox="1"/>
                <p:nvPr/>
              </p:nvSpPr>
              <p:spPr>
                <a:xfrm>
                  <a:off x="602740" y="503992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TW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" name="文字方塊 38"/>
              <p:cNvSpPr txBox="1"/>
              <p:nvPr/>
            </p:nvSpPr>
            <p:spPr>
              <a:xfrm>
                <a:off x="7518837" y="46585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直線接點 41"/>
              <p:cNvCxnSpPr>
                <a:stCxn id="21" idx="4"/>
                <a:endCxn id="25" idx="0"/>
              </p:cNvCxnSpPr>
              <p:nvPr/>
            </p:nvCxnSpPr>
            <p:spPr>
              <a:xfrm flipH="1">
                <a:off x="6671603" y="3854501"/>
                <a:ext cx="525373" cy="61844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>
                <a:stCxn id="21" idx="4"/>
                <a:endCxn id="27" idx="0"/>
              </p:cNvCxnSpPr>
              <p:nvPr/>
            </p:nvCxnSpPr>
            <p:spPr>
              <a:xfrm>
                <a:off x="7196976" y="3854501"/>
                <a:ext cx="535651" cy="60046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>
                <a:stCxn id="8" idx="4"/>
                <a:endCxn id="20" idx="0"/>
              </p:cNvCxnSpPr>
              <p:nvPr/>
            </p:nvCxnSpPr>
            <p:spPr>
              <a:xfrm>
                <a:off x="7722970" y="2956215"/>
                <a:ext cx="520629" cy="62397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>
                <a:stCxn id="8" idx="4"/>
                <a:endCxn id="21" idx="0"/>
              </p:cNvCxnSpPr>
              <p:nvPr/>
            </p:nvCxnSpPr>
            <p:spPr>
              <a:xfrm flipH="1">
                <a:off x="7196976" y="2956215"/>
                <a:ext cx="525994" cy="610286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橢圓 49"/>
              <p:cNvSpPr/>
              <p:nvPr/>
            </p:nvSpPr>
            <p:spPr>
              <a:xfrm>
                <a:off x="6319571" y="191816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2" name="直線接點 51"/>
              <p:cNvCxnSpPr>
                <a:stCxn id="50" idx="4"/>
                <a:endCxn id="8" idx="0"/>
              </p:cNvCxnSpPr>
              <p:nvPr/>
            </p:nvCxnSpPr>
            <p:spPr>
              <a:xfrm>
                <a:off x="6463571" y="2206163"/>
                <a:ext cx="1259399" cy="462052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>
                <a:stCxn id="50" idx="4"/>
                <a:endCxn id="7" idx="0"/>
              </p:cNvCxnSpPr>
              <p:nvPr/>
            </p:nvCxnSpPr>
            <p:spPr>
              <a:xfrm flipH="1">
                <a:off x="5309597" y="2206163"/>
                <a:ext cx="1153974" cy="456747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5" name="文字方塊 54"/>
          <p:cNvSpPr txBox="1"/>
          <p:nvPr/>
        </p:nvSpPr>
        <p:spPr>
          <a:xfrm>
            <a:off x="5662487" y="21630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856889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7220203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670444" y="39462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264359" y="46789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454652" y="301631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989129" y="21371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784248" y="46646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443756" y="3937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920196" y="30024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518249" y="3963494"/>
            <a:ext cx="19127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00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(10/11)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假設文章的字母數為</a:t>
            </a:r>
            <a:r>
              <a:rPr lang="en-US" altLang="zh-TW" dirty="0"/>
              <a:t>1000</a:t>
            </a:r>
          </a:p>
          <a:p>
            <a:pPr lvl="1"/>
            <a:r>
              <a:rPr lang="en-US" altLang="zh-TW" dirty="0"/>
              <a:t>A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15% = 150</a:t>
            </a:r>
          </a:p>
          <a:p>
            <a:pPr lvl="1"/>
            <a:r>
              <a:rPr lang="en-US" altLang="zh-TW" dirty="0"/>
              <a:t>B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8% = 80</a:t>
            </a:r>
          </a:p>
          <a:p>
            <a:pPr lvl="1"/>
            <a:r>
              <a:rPr lang="en-US" altLang="zh-TW" dirty="0"/>
              <a:t>C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30% = 300</a:t>
            </a:r>
          </a:p>
          <a:p>
            <a:pPr lvl="1"/>
            <a:r>
              <a:rPr lang="en-US" altLang="zh-TW" dirty="0"/>
              <a:t>D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27% = 270</a:t>
            </a:r>
          </a:p>
          <a:p>
            <a:pPr lvl="1"/>
            <a:r>
              <a:rPr lang="en-US" altLang="zh-TW" dirty="0"/>
              <a:t>E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5% = 50</a:t>
            </a:r>
          </a:p>
          <a:p>
            <a:pPr lvl="1"/>
            <a:r>
              <a:rPr lang="en-US" altLang="zh-TW" dirty="0"/>
              <a:t>F</a:t>
            </a:r>
            <a:r>
              <a:rPr lang="zh-TW" altLang="en-US" dirty="0"/>
              <a:t>出現的次數 </a:t>
            </a:r>
            <a:r>
              <a:rPr lang="en-US" altLang="zh-TW" dirty="0"/>
              <a:t>= 1000 </a:t>
            </a:r>
            <a:r>
              <a:rPr lang="en-US" altLang="zh-TW" dirty="0">
                <a:sym typeface="Symbol"/>
              </a:rPr>
              <a:t> 15% = 150</a:t>
            </a:r>
          </a:p>
          <a:p>
            <a:endParaRPr lang="en-US" altLang="zh-TW" dirty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>
                <a:sym typeface="Symbol"/>
              </a:rPr>
              <a:t>未經過編碼，需要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3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個位元</a:t>
            </a:r>
            <a:r>
              <a:rPr lang="zh-TW" altLang="en-US" dirty="0">
                <a:sym typeface="Symbol"/>
              </a:rPr>
              <a:t>來表示這</a:t>
            </a:r>
            <a:r>
              <a:rPr lang="en-US" altLang="zh-TW" dirty="0">
                <a:sym typeface="Symbol"/>
              </a:rPr>
              <a:t>6</a:t>
            </a:r>
            <a:r>
              <a:rPr lang="zh-TW" altLang="en-US" dirty="0">
                <a:sym typeface="Symbol"/>
              </a:rPr>
              <a:t>個字母。</a:t>
            </a:r>
            <a:endParaRPr lang="en-US" altLang="zh-TW" dirty="0">
              <a:sym typeface="Symbol"/>
            </a:endParaRPr>
          </a:p>
          <a:p>
            <a:pPr lvl="1"/>
            <a:r>
              <a:rPr lang="zh-TW" altLang="en-US" dirty="0"/>
              <a:t>共需要</a:t>
            </a:r>
            <a:r>
              <a:rPr lang="en-US" altLang="zh-TW" dirty="0"/>
              <a:t>1000 </a:t>
            </a:r>
            <a:r>
              <a:rPr lang="en-US" altLang="zh-TW" dirty="0">
                <a:sym typeface="Symbol"/>
              </a:rPr>
              <a:t> 3 = 3000 </a:t>
            </a:r>
            <a:r>
              <a:rPr lang="zh-TW" altLang="en-US" dirty="0">
                <a:sym typeface="Symbol"/>
              </a:rPr>
              <a:t>個位元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460520" y="1433763"/>
            <a:ext cx="3058851" cy="193899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1001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11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01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00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460520" y="3525155"/>
            <a:ext cx="3207929" cy="10156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150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3 + 80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4 + 300  2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+ 270  2 + 50  4 + 150  2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= 2410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460520" y="5390946"/>
                <a:ext cx="3528082" cy="109164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壓縮率</a:t>
                </a:r>
                <a:endPara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000" b="1" i="1" dirty="0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0" dirty="0" smtClean="0">
                              <a:latin typeface="Cambria Math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TW" sz="2000" b="1" i="0" dirty="0" smtClean="0">
                              <a:latin typeface="Cambria Math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𝟐𝟒𝟏𝟎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𝟑𝟎𝟎𝟎</m:t>
                              </m:r>
                            </m:den>
                          </m:f>
                        </m:e>
                      </m:d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% ≈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𝟐𝟎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%</m:t>
                      </m:r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520" y="5390946"/>
                <a:ext cx="3528082" cy="1091646"/>
              </a:xfrm>
              <a:prstGeom prst="rect">
                <a:avLst/>
              </a:prstGeom>
              <a:blipFill rotWithShape="1">
                <a:blip r:embed="rId2"/>
                <a:stretch>
                  <a:fillRect l="-1541" t="-1630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03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霍夫曼樹</a:t>
            </a:r>
            <a:r>
              <a:rPr lang="en-US" altLang="zh-TW" dirty="0"/>
              <a:t>Huffman Tree (11/11)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解碼 </a:t>
            </a:r>
            <a:r>
              <a:rPr lang="en-US" altLang="zh-TW" dirty="0"/>
              <a:t>01100010100</a:t>
            </a:r>
          </a:p>
          <a:p>
            <a:pPr lvl="1"/>
            <a:r>
              <a:rPr lang="zh-TW" altLang="en-US" dirty="0"/>
              <a:t>從樹根出發，直到碰到樹葉</a:t>
            </a:r>
            <a:endParaRPr lang="en-US" altLang="zh-TW" dirty="0"/>
          </a:p>
          <a:p>
            <a:pPr lvl="1"/>
            <a:r>
              <a:rPr lang="zh-TW" altLang="en-US" dirty="0"/>
              <a:t>完成一個字母解碼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4686349" y="1918163"/>
            <a:ext cx="3765000" cy="3747216"/>
            <a:chOff x="4686349" y="1918163"/>
            <a:chExt cx="3765000" cy="3747216"/>
          </a:xfrm>
        </p:grpSpPr>
        <p:grpSp>
          <p:nvGrpSpPr>
            <p:cNvPr id="8" name="群組 7"/>
            <p:cNvGrpSpPr/>
            <p:nvPr/>
          </p:nvGrpSpPr>
          <p:grpSpPr>
            <a:xfrm>
              <a:off x="6850919" y="5033701"/>
              <a:ext cx="351378" cy="631678"/>
              <a:chOff x="1288763" y="4778375"/>
              <a:chExt cx="351378" cy="631678"/>
            </a:xfrm>
          </p:grpSpPr>
          <p:sp>
            <p:nvSpPr>
              <p:cNvPr id="41" name="橢圓 40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群組 8"/>
            <p:cNvGrpSpPr/>
            <p:nvPr/>
          </p:nvGrpSpPr>
          <p:grpSpPr>
            <a:xfrm>
              <a:off x="4686349" y="1918163"/>
              <a:ext cx="3765000" cy="3739463"/>
              <a:chOff x="4686349" y="1918163"/>
              <a:chExt cx="3765000" cy="3739463"/>
            </a:xfrm>
          </p:grpSpPr>
          <p:sp>
            <p:nvSpPr>
              <p:cNvPr id="10" name="橢圓 9"/>
              <p:cNvSpPr/>
              <p:nvPr/>
            </p:nvSpPr>
            <p:spPr>
              <a:xfrm>
                <a:off x="5165597" y="266291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7578970" y="266821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4750098" y="353705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4745132" y="3473350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5524859" y="352880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5505838" y="3473350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4686349" y="37356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5455069" y="3732439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直線接點 17"/>
              <p:cNvCxnSpPr>
                <a:stCxn id="10" idx="4"/>
                <a:endCxn id="14" idx="0"/>
              </p:cNvCxnSpPr>
              <p:nvPr/>
            </p:nvCxnSpPr>
            <p:spPr>
              <a:xfrm>
                <a:off x="5309597" y="2950910"/>
                <a:ext cx="359262" cy="577894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10" idx="4"/>
                <a:endCxn id="12" idx="0"/>
              </p:cNvCxnSpPr>
              <p:nvPr/>
            </p:nvCxnSpPr>
            <p:spPr>
              <a:xfrm flipH="1">
                <a:off x="4894098" y="2950910"/>
                <a:ext cx="415499" cy="58614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橢圓 19"/>
              <p:cNvSpPr/>
              <p:nvPr/>
            </p:nvSpPr>
            <p:spPr>
              <a:xfrm>
                <a:off x="8099599" y="358018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052976" y="356650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081809" y="3516482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8035850" y="37788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6527603" y="447295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7588627" y="44549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7569606" y="439950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" name="直線接點 26"/>
              <p:cNvCxnSpPr>
                <a:stCxn id="24" idx="4"/>
              </p:cNvCxnSpPr>
              <p:nvPr/>
            </p:nvCxnSpPr>
            <p:spPr>
              <a:xfrm>
                <a:off x="6671603" y="4760950"/>
                <a:ext cx="349520" cy="33313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>
                <a:stCxn id="24" idx="4"/>
                <a:endCxn id="38" idx="0"/>
              </p:cNvCxnSpPr>
              <p:nvPr/>
            </p:nvCxnSpPr>
            <p:spPr>
              <a:xfrm flipH="1">
                <a:off x="6329392" y="4760950"/>
                <a:ext cx="342211" cy="32370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群組 28"/>
              <p:cNvGrpSpPr/>
              <p:nvPr/>
            </p:nvGrpSpPr>
            <p:grpSpPr>
              <a:xfrm>
                <a:off x="6166371" y="5029205"/>
                <a:ext cx="351378" cy="628421"/>
                <a:chOff x="595801" y="4780839"/>
                <a:chExt cx="351378" cy="628421"/>
              </a:xfrm>
            </p:grpSpPr>
            <p:sp>
              <p:nvSpPr>
                <p:cNvPr id="38" name="橢圓 37"/>
                <p:cNvSpPr/>
                <p:nvPr/>
              </p:nvSpPr>
              <p:spPr>
                <a:xfrm>
                  <a:off x="614822" y="4836293"/>
                  <a:ext cx="288000" cy="288000"/>
                </a:xfrm>
                <a:prstGeom prst="ellipse">
                  <a:avLst/>
                </a:prstGeom>
                <a:solidFill>
                  <a:srgbClr val="E8F0FC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/>
                <p:cNvSpPr txBox="1"/>
                <p:nvPr/>
              </p:nvSpPr>
              <p:spPr>
                <a:xfrm>
                  <a:off x="595801" y="4780839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zh-TW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文字方塊 39"/>
                <p:cNvSpPr txBox="1"/>
                <p:nvPr/>
              </p:nvSpPr>
              <p:spPr>
                <a:xfrm>
                  <a:off x="602740" y="503992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TW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文字方塊 29"/>
              <p:cNvSpPr txBox="1"/>
              <p:nvPr/>
            </p:nvSpPr>
            <p:spPr>
              <a:xfrm>
                <a:off x="7518837" y="46585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" name="直線接點 30"/>
              <p:cNvCxnSpPr>
                <a:stCxn id="21" idx="4"/>
                <a:endCxn id="24" idx="0"/>
              </p:cNvCxnSpPr>
              <p:nvPr/>
            </p:nvCxnSpPr>
            <p:spPr>
              <a:xfrm flipH="1">
                <a:off x="6671603" y="3854501"/>
                <a:ext cx="525373" cy="61844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21" idx="4"/>
                <a:endCxn id="25" idx="0"/>
              </p:cNvCxnSpPr>
              <p:nvPr/>
            </p:nvCxnSpPr>
            <p:spPr>
              <a:xfrm>
                <a:off x="7196976" y="3854501"/>
                <a:ext cx="535651" cy="60046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11" idx="4"/>
                <a:endCxn id="20" idx="0"/>
              </p:cNvCxnSpPr>
              <p:nvPr/>
            </p:nvCxnSpPr>
            <p:spPr>
              <a:xfrm>
                <a:off x="7722970" y="2956215"/>
                <a:ext cx="520629" cy="62397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1" idx="4"/>
                <a:endCxn id="21" idx="0"/>
              </p:cNvCxnSpPr>
              <p:nvPr/>
            </p:nvCxnSpPr>
            <p:spPr>
              <a:xfrm flipH="1">
                <a:off x="7196976" y="2956215"/>
                <a:ext cx="525994" cy="610286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橢圓 34"/>
              <p:cNvSpPr/>
              <p:nvPr/>
            </p:nvSpPr>
            <p:spPr>
              <a:xfrm>
                <a:off x="6319571" y="191816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6" name="直線接點 35"/>
              <p:cNvCxnSpPr>
                <a:stCxn id="35" idx="4"/>
                <a:endCxn id="11" idx="0"/>
              </p:cNvCxnSpPr>
              <p:nvPr/>
            </p:nvCxnSpPr>
            <p:spPr>
              <a:xfrm>
                <a:off x="6463571" y="2206163"/>
                <a:ext cx="1259399" cy="462052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>
                <a:stCxn id="35" idx="4"/>
                <a:endCxn id="10" idx="0"/>
              </p:cNvCxnSpPr>
              <p:nvPr/>
            </p:nvCxnSpPr>
            <p:spPr>
              <a:xfrm flipH="1">
                <a:off x="5309597" y="2206163"/>
                <a:ext cx="1153974" cy="456747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字方塊 43"/>
          <p:cNvSpPr txBox="1"/>
          <p:nvPr/>
        </p:nvSpPr>
        <p:spPr>
          <a:xfrm>
            <a:off x="5662487" y="21630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856889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220203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670444" y="39462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264359" y="46789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454652" y="301631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6989129" y="21371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6784248" y="46646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443756" y="3937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920196" y="30024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66716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66798" y="373168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966881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266963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1867127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1567045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167209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467291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767373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067455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367537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線接點 65"/>
          <p:cNvCxnSpPr/>
          <p:nvPr/>
        </p:nvCxnSpPr>
        <p:spPr>
          <a:xfrm>
            <a:off x="366716" y="4068000"/>
            <a:ext cx="6001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91108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線接點 67"/>
          <p:cNvCxnSpPr/>
          <p:nvPr/>
        </p:nvCxnSpPr>
        <p:spPr>
          <a:xfrm>
            <a:off x="966881" y="4068000"/>
            <a:ext cx="12003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387956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2167209" y="4068000"/>
            <a:ext cx="90024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441642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線接點 75"/>
          <p:cNvCxnSpPr/>
          <p:nvPr/>
        </p:nvCxnSpPr>
        <p:spPr>
          <a:xfrm>
            <a:off x="3067455" y="4068000"/>
            <a:ext cx="60016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/>
          <p:cNvSpPr txBox="1"/>
          <p:nvPr/>
        </p:nvSpPr>
        <p:spPr>
          <a:xfrm>
            <a:off x="3204672" y="41040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38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1" grpId="0"/>
      <p:bldP spid="75" grpId="0"/>
      <p:bldP spid="79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14365</TotalTime>
  <Words>1380</Words>
  <Application>Microsoft Office PowerPoint</Application>
  <PresentationFormat>如螢幕大小 (4:3)</PresentationFormat>
  <Paragraphs>419</Paragraphs>
  <Slides>15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DATA STRUCTURES 資料結構</vt:lpstr>
      <vt:lpstr>紅黑樹 Red-Black Tree (1/3)</vt:lpstr>
      <vt:lpstr>紅黑樹 Red-Black Tree (2/3)</vt:lpstr>
      <vt:lpstr>紅黑樹 Red-Black Tree (3/3)</vt:lpstr>
      <vt:lpstr>霍夫曼樹Huffman Tree (1/11)</vt:lpstr>
      <vt:lpstr>霍夫曼樹Huffman Tree (2/11)</vt:lpstr>
      <vt:lpstr>霍夫曼樹Huffman Tree (3/11)</vt:lpstr>
      <vt:lpstr>霍夫曼樹Huffman Tree (4/11)</vt:lpstr>
      <vt:lpstr>霍夫曼樹Huffman Tree (5/11)</vt:lpstr>
      <vt:lpstr>霍夫曼樹Huffman Tree (6/11)</vt:lpstr>
      <vt:lpstr>霍夫曼樹Huffman Tree (7/11)</vt:lpstr>
      <vt:lpstr>霍夫曼樹Huffman Tree (8/11)</vt:lpstr>
      <vt:lpstr>霍夫曼樹Huffman Tree (9/11)</vt:lpstr>
      <vt:lpstr>霍夫曼樹Huffman Tree (10/11)</vt:lpstr>
      <vt:lpstr>霍夫曼樹Huffman Tree (11/11)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105</cp:revision>
  <cp:lastPrinted>2026-05-15T11:55:36Z</cp:lastPrinted>
  <dcterms:created xsi:type="dcterms:W3CDTF">2018-01-10T03:26:15Z</dcterms:created>
  <dcterms:modified xsi:type="dcterms:W3CDTF">2026-05-15T11:57:01Z</dcterms:modified>
</cp:coreProperties>
</file>