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2026/4/28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185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STRUCTURES</a:t>
            </a:r>
            <a:br>
              <a:rPr lang="en-US" altLang="zh-TW" dirty="0"/>
            </a:br>
            <a:r>
              <a:rPr lang="zh-TW" altLang="en-US" dirty="0"/>
              <a:t>資料結構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 </a:t>
            </a:r>
            <a:r>
              <a:rPr lang="en-US" altLang="zh-TW" dirty="0"/>
              <a:t>binary search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二元搜尋樹</a:t>
            </a:r>
            <a:endParaRPr lang="en-US" altLang="zh-TW" dirty="0"/>
          </a:p>
          <a:p>
            <a:pPr lvl="1"/>
            <a:r>
              <a:rPr lang="zh-TW" altLang="en-US" dirty="0"/>
              <a:t>一個資料</a:t>
            </a:r>
            <a:r>
              <a:rPr lang="en-US" altLang="zh-TW" dirty="0"/>
              <a:t>(</a:t>
            </a:r>
            <a:r>
              <a:rPr lang="zh-TW" altLang="en-US" dirty="0"/>
              <a:t>鍵值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</a:p>
          <a:p>
            <a:pPr lvl="1"/>
            <a:r>
              <a:rPr lang="zh-TW" altLang="en-US" dirty="0"/>
              <a:t>二個鏈結</a:t>
            </a:r>
            <a:r>
              <a:rPr lang="en-US" altLang="zh-TW" dirty="0"/>
              <a:t>(</a:t>
            </a:r>
            <a:r>
              <a:rPr lang="zh-TW" altLang="en-US" dirty="0"/>
              <a:t>指標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i="1" dirty="0"/>
              <a:t>L</a:t>
            </a:r>
            <a:r>
              <a:rPr lang="en-US" altLang="zh-TW" baseline="-25000" dirty="0"/>
              <a:t>0</a:t>
            </a:r>
            <a:r>
              <a:rPr lang="en-US" altLang="zh-TW" dirty="0"/>
              <a:t>, </a:t>
            </a:r>
            <a:r>
              <a:rPr lang="en-US" altLang="zh-TW" i="1" dirty="0"/>
              <a:t>L</a:t>
            </a:r>
            <a:r>
              <a:rPr lang="en-US" altLang="zh-TW" baseline="-25000" dirty="0"/>
              <a:t>1</a:t>
            </a:r>
          </a:p>
          <a:p>
            <a:endParaRPr lang="en-US" altLang="zh-TW" dirty="0"/>
          </a:p>
          <a:p>
            <a:r>
              <a:rPr lang="zh-TW" altLang="en-US" dirty="0"/>
              <a:t>搜尋 </a:t>
            </a:r>
            <a:r>
              <a:rPr lang="en-US" altLang="zh-TW" i="1" dirty="0"/>
              <a:t>k</a:t>
            </a:r>
          </a:p>
          <a:p>
            <a:pPr lvl="1"/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:</a:t>
            </a:r>
            <a:r>
              <a:rPr lang="zh-TW" altLang="en-US" dirty="0"/>
              <a:t> 往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0</a:t>
            </a:r>
            <a:r>
              <a:rPr lang="zh-TW" altLang="en-US" dirty="0"/>
              <a:t>指標走</a:t>
            </a:r>
            <a:endParaRPr lang="en-US" altLang="zh-TW" dirty="0"/>
          </a:p>
          <a:p>
            <a:pPr lvl="1"/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:</a:t>
            </a:r>
            <a:r>
              <a:rPr lang="zh-TW" altLang="en-US" dirty="0"/>
              <a:t> 往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指標走</a:t>
            </a:r>
            <a:endParaRPr lang="en-US" altLang="zh-TW" dirty="0"/>
          </a:p>
          <a:p>
            <a:pPr lvl="1"/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:</a:t>
            </a:r>
            <a:r>
              <a:rPr lang="zh-TW" altLang="en-US" dirty="0"/>
              <a:t> 搜尋</a:t>
            </a:r>
            <a:r>
              <a:rPr lang="zh-TW" altLang="en-US" dirty="0">
                <a:solidFill>
                  <a:srgbClr val="C00000"/>
                </a:solidFill>
              </a:rPr>
              <a:t>成功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搜尋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50: 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0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23: 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32: 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en-US" altLang="zh-TW" dirty="0"/>
              <a:t> 40: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C00000"/>
                </a:solidFill>
              </a:rPr>
              <a:t>成功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30" name="肘形接點 29"/>
          <p:cNvCxnSpPr>
            <a:stCxn id="40" idx="1"/>
            <a:endCxn id="46" idx="0"/>
          </p:cNvCxnSpPr>
          <p:nvPr/>
        </p:nvCxnSpPr>
        <p:spPr>
          <a:xfrm rot="10800000" flipV="1">
            <a:off x="5455451" y="2856781"/>
            <a:ext cx="529958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接點 30"/>
          <p:cNvCxnSpPr>
            <a:stCxn id="40" idx="3"/>
            <a:endCxn id="52" idx="0"/>
          </p:cNvCxnSpPr>
          <p:nvPr/>
        </p:nvCxnSpPr>
        <p:spPr>
          <a:xfrm>
            <a:off x="6891182" y="2856782"/>
            <a:ext cx="579385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46" idx="3"/>
            <a:endCxn id="64" idx="0"/>
          </p:cNvCxnSpPr>
          <p:nvPr/>
        </p:nvCxnSpPr>
        <p:spPr>
          <a:xfrm>
            <a:off x="5908337" y="3526772"/>
            <a:ext cx="65112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接點 32"/>
          <p:cNvCxnSpPr>
            <a:stCxn id="46" idx="1"/>
            <a:endCxn id="58" idx="0"/>
          </p:cNvCxnSpPr>
          <p:nvPr/>
        </p:nvCxnSpPr>
        <p:spPr>
          <a:xfrm rot="10800000" flipV="1">
            <a:off x="4923918" y="3526771"/>
            <a:ext cx="78647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/>
          <p:cNvCxnSpPr>
            <a:stCxn id="64" idx="3"/>
            <a:endCxn id="82" idx="0"/>
          </p:cNvCxnSpPr>
          <p:nvPr/>
        </p:nvCxnSpPr>
        <p:spPr>
          <a:xfrm>
            <a:off x="6426335" y="4248518"/>
            <a:ext cx="72819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52" idx="3"/>
            <a:endCxn id="76" idx="0"/>
          </p:cNvCxnSpPr>
          <p:nvPr/>
        </p:nvCxnSpPr>
        <p:spPr>
          <a:xfrm>
            <a:off x="7923453" y="3526772"/>
            <a:ext cx="7784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群組 36"/>
          <p:cNvGrpSpPr/>
          <p:nvPr/>
        </p:nvGrpSpPr>
        <p:grpSpPr>
          <a:xfrm>
            <a:off x="5985409" y="2672115"/>
            <a:ext cx="905773" cy="369332"/>
            <a:chOff x="2066987" y="4163043"/>
            <a:chExt cx="905773" cy="369332"/>
          </a:xfrm>
        </p:grpSpPr>
        <p:grpSp>
          <p:nvGrpSpPr>
            <p:cNvPr id="38" name="群組 37"/>
            <p:cNvGrpSpPr/>
            <p:nvPr/>
          </p:nvGrpSpPr>
          <p:grpSpPr>
            <a:xfrm>
              <a:off x="2066987" y="4179495"/>
              <a:ext cx="905773" cy="336430"/>
              <a:chOff x="698740" y="2536166"/>
              <a:chExt cx="905773" cy="336430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1" name="直線接點 40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文字方塊 38"/>
            <p:cNvSpPr txBox="1"/>
            <p:nvPr/>
          </p:nvSpPr>
          <p:spPr>
            <a:xfrm>
              <a:off x="2318295" y="416304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5002564" y="3325655"/>
            <a:ext cx="905773" cy="369332"/>
            <a:chOff x="1084142" y="4816583"/>
            <a:chExt cx="905773" cy="369332"/>
          </a:xfrm>
        </p:grpSpPr>
        <p:grpSp>
          <p:nvGrpSpPr>
            <p:cNvPr id="44" name="群組 43"/>
            <p:cNvGrpSpPr/>
            <p:nvPr/>
          </p:nvGrpSpPr>
          <p:grpSpPr>
            <a:xfrm>
              <a:off x="1084142" y="4849485"/>
              <a:ext cx="905773" cy="336430"/>
              <a:chOff x="698740" y="2536166"/>
              <a:chExt cx="905773" cy="336430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7" name="直線接點 4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字方塊 44"/>
            <p:cNvSpPr txBox="1"/>
            <p:nvPr/>
          </p:nvSpPr>
          <p:spPr>
            <a:xfrm>
              <a:off x="1329279" y="481658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7017680" y="3342106"/>
            <a:ext cx="905773" cy="369332"/>
            <a:chOff x="3099258" y="4833034"/>
            <a:chExt cx="905773" cy="369332"/>
          </a:xfrm>
        </p:grpSpPr>
        <p:grpSp>
          <p:nvGrpSpPr>
            <p:cNvPr id="50" name="群組 49"/>
            <p:cNvGrpSpPr/>
            <p:nvPr/>
          </p:nvGrpSpPr>
          <p:grpSpPr>
            <a:xfrm>
              <a:off x="3099258" y="4849485"/>
              <a:ext cx="905773" cy="336430"/>
              <a:chOff x="698740" y="2536166"/>
              <a:chExt cx="905773" cy="336430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3" name="直線接點 5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字方塊 50"/>
            <p:cNvSpPr txBox="1"/>
            <p:nvPr/>
          </p:nvSpPr>
          <p:spPr>
            <a:xfrm>
              <a:off x="3353021" y="483303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4471030" y="4056661"/>
            <a:ext cx="905773" cy="369332"/>
            <a:chOff x="552608" y="5547589"/>
            <a:chExt cx="905773" cy="369332"/>
          </a:xfrm>
        </p:grpSpPr>
        <p:grpSp>
          <p:nvGrpSpPr>
            <p:cNvPr id="56" name="群組 55"/>
            <p:cNvGrpSpPr/>
            <p:nvPr/>
          </p:nvGrpSpPr>
          <p:grpSpPr>
            <a:xfrm>
              <a:off x="552608" y="5571231"/>
              <a:ext cx="905773" cy="336430"/>
              <a:chOff x="698740" y="2536166"/>
              <a:chExt cx="905773" cy="336430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9" name="直線接點 5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接點 5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字方塊 56"/>
            <p:cNvSpPr txBox="1"/>
            <p:nvPr/>
          </p:nvSpPr>
          <p:spPr>
            <a:xfrm>
              <a:off x="798622" y="554758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5520562" y="4048876"/>
            <a:ext cx="905773" cy="369332"/>
            <a:chOff x="1602140" y="5539804"/>
            <a:chExt cx="905773" cy="369332"/>
          </a:xfrm>
        </p:grpSpPr>
        <p:grpSp>
          <p:nvGrpSpPr>
            <p:cNvPr id="62" name="群組 61"/>
            <p:cNvGrpSpPr/>
            <p:nvPr/>
          </p:nvGrpSpPr>
          <p:grpSpPr>
            <a:xfrm>
              <a:off x="1602140" y="5571231"/>
              <a:ext cx="905773" cy="336430"/>
              <a:chOff x="698740" y="2536166"/>
              <a:chExt cx="905773" cy="33643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5" name="直線接點 64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65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字方塊 62"/>
            <p:cNvSpPr txBox="1"/>
            <p:nvPr/>
          </p:nvSpPr>
          <p:spPr>
            <a:xfrm>
              <a:off x="1847277" y="553980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7548414" y="4056661"/>
            <a:ext cx="905773" cy="369332"/>
            <a:chOff x="3629992" y="5547589"/>
            <a:chExt cx="905773" cy="369332"/>
          </a:xfrm>
        </p:grpSpPr>
        <p:grpSp>
          <p:nvGrpSpPr>
            <p:cNvPr id="74" name="群組 73"/>
            <p:cNvGrpSpPr/>
            <p:nvPr/>
          </p:nvGrpSpPr>
          <p:grpSpPr>
            <a:xfrm>
              <a:off x="3629992" y="5571231"/>
              <a:ext cx="905773" cy="336430"/>
              <a:chOff x="698740" y="2536166"/>
              <a:chExt cx="905773" cy="336430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7" name="直線接點 7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文字方塊 74"/>
            <p:cNvSpPr txBox="1"/>
            <p:nvPr/>
          </p:nvSpPr>
          <p:spPr>
            <a:xfrm>
              <a:off x="3875128" y="554758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群組 78"/>
          <p:cNvGrpSpPr/>
          <p:nvPr/>
        </p:nvGrpSpPr>
        <p:grpSpPr>
          <a:xfrm>
            <a:off x="6046267" y="4741662"/>
            <a:ext cx="905773" cy="369332"/>
            <a:chOff x="31727" y="6232590"/>
            <a:chExt cx="905773" cy="369332"/>
          </a:xfrm>
        </p:grpSpPr>
        <p:grpSp>
          <p:nvGrpSpPr>
            <p:cNvPr id="80" name="群組 79"/>
            <p:cNvGrpSpPr/>
            <p:nvPr/>
          </p:nvGrpSpPr>
          <p:grpSpPr>
            <a:xfrm>
              <a:off x="31727" y="6232590"/>
              <a:ext cx="905773" cy="336430"/>
              <a:chOff x="698740" y="2536166"/>
              <a:chExt cx="905773" cy="336430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3" name="直線接點 8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接點 8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文字方塊 80"/>
            <p:cNvSpPr txBox="1"/>
            <p:nvPr/>
          </p:nvSpPr>
          <p:spPr>
            <a:xfrm>
              <a:off x="276863" y="623259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文字方塊 84"/>
          <p:cNvSpPr txBox="1"/>
          <p:nvPr/>
        </p:nvSpPr>
        <p:spPr>
          <a:xfrm>
            <a:off x="6240036" y="232363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578677" y="2323880"/>
            <a:ext cx="40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5901884" y="2330822"/>
            <a:ext cx="40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11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的搜尋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搜尋</a:t>
            </a:r>
            <a:r>
              <a:rPr lang="en-US" altLang="zh-TW" dirty="0">
                <a:solidFill>
                  <a:srgbClr val="0000FF"/>
                </a:solidFill>
              </a:rPr>
              <a:t>60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1043608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10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 20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1475656" y="4014964"/>
            <a:ext cx="738035" cy="8542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2519195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45 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5" name="直線接點 24"/>
          <p:cNvCxnSpPr>
            <a:stCxn id="80" idx="3"/>
            <a:endCxn id="65" idx="0"/>
          </p:cNvCxnSpPr>
          <p:nvPr/>
        </p:nvCxnSpPr>
        <p:spPr>
          <a:xfrm flipH="1">
            <a:off x="3563888" y="4016055"/>
            <a:ext cx="739675" cy="85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67" idx="0"/>
            <a:endCxn id="80" idx="4"/>
          </p:cNvCxnSpPr>
          <p:nvPr/>
        </p:nvCxnSpPr>
        <p:spPr>
          <a:xfrm flipV="1">
            <a:off x="4607146" y="4068776"/>
            <a:ext cx="1921" cy="8004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2519195" y="2701351"/>
            <a:ext cx="1784369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3" idx="4"/>
            <a:endCxn id="80" idx="0"/>
          </p:cNvCxnSpPr>
          <p:nvPr/>
        </p:nvCxnSpPr>
        <p:spPr>
          <a:xfrm flipH="1">
            <a:off x="4609067" y="2754072"/>
            <a:ext cx="1" cy="9547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4331380" y="4082888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4344067" y="5248900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1475656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82" idx="3"/>
            <a:endCxn id="72" idx="0"/>
          </p:cNvCxnSpPr>
          <p:nvPr/>
        </p:nvCxnSpPr>
        <p:spPr>
          <a:xfrm flipH="1">
            <a:off x="5621230" y="4011754"/>
            <a:ext cx="768293" cy="857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74" idx="0"/>
            <a:endCxn id="82" idx="4"/>
          </p:cNvCxnSpPr>
          <p:nvPr/>
        </p:nvCxnSpPr>
        <p:spPr>
          <a:xfrm flipH="1" flipV="1">
            <a:off x="6695027" y="4064475"/>
            <a:ext cx="6323" cy="802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5"/>
            <a:endCxn id="82" idx="0"/>
          </p:cNvCxnSpPr>
          <p:nvPr/>
        </p:nvCxnSpPr>
        <p:spPr>
          <a:xfrm>
            <a:off x="4914572" y="2701351"/>
            <a:ext cx="1780455" cy="10031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4529568" y="288639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2087704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2519752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3131840" y="487282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6" name="直線接點 65"/>
          <p:cNvCxnSpPr>
            <a:stCxn id="65" idx="0"/>
            <a:endCxn id="65" idx="4"/>
          </p:cNvCxnSpPr>
          <p:nvPr/>
        </p:nvCxnSpPr>
        <p:spPr>
          <a:xfrm>
            <a:off x="3563888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4175098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8" name="直線接點 67"/>
          <p:cNvCxnSpPr>
            <a:stCxn id="67" idx="0"/>
            <a:endCxn id="67" idx="4"/>
          </p:cNvCxnSpPr>
          <p:nvPr/>
        </p:nvCxnSpPr>
        <p:spPr>
          <a:xfrm>
            <a:off x="4607146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橢圓 71"/>
          <p:cNvSpPr/>
          <p:nvPr/>
        </p:nvSpPr>
        <p:spPr>
          <a:xfrm>
            <a:off x="5189182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80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3" name="直線接點 72"/>
          <p:cNvCxnSpPr>
            <a:stCxn id="72" idx="0"/>
            <a:endCxn id="72" idx="4"/>
          </p:cNvCxnSpPr>
          <p:nvPr/>
        </p:nvCxnSpPr>
        <p:spPr>
          <a:xfrm>
            <a:off x="5621230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橢圓 73"/>
          <p:cNvSpPr/>
          <p:nvPr/>
        </p:nvSpPr>
        <p:spPr>
          <a:xfrm>
            <a:off x="6269302" y="486664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90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5" name="直線接點 74"/>
          <p:cNvCxnSpPr>
            <a:stCxn id="74" idx="0"/>
            <a:endCxn id="74" idx="4"/>
          </p:cNvCxnSpPr>
          <p:nvPr/>
        </p:nvCxnSpPr>
        <p:spPr>
          <a:xfrm>
            <a:off x="6701350" y="486664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2087147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2519195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橢圓 79"/>
          <p:cNvSpPr/>
          <p:nvPr/>
        </p:nvSpPr>
        <p:spPr>
          <a:xfrm>
            <a:off x="4177019" y="3708776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1" name="直線接點 80"/>
          <p:cNvCxnSpPr>
            <a:stCxn id="80" idx="0"/>
            <a:endCxn id="80" idx="4"/>
          </p:cNvCxnSpPr>
          <p:nvPr/>
        </p:nvCxnSpPr>
        <p:spPr>
          <a:xfrm>
            <a:off x="4609067" y="3708776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>
          <a:xfrm>
            <a:off x="6262979" y="370447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3" name="直線接點 82"/>
          <p:cNvCxnSpPr>
            <a:stCxn id="82" idx="0"/>
            <a:endCxn id="82" idx="4"/>
          </p:cNvCxnSpPr>
          <p:nvPr/>
        </p:nvCxnSpPr>
        <p:spPr>
          <a:xfrm>
            <a:off x="6695027" y="370447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向下箭號 96"/>
          <p:cNvSpPr/>
          <p:nvPr/>
        </p:nvSpPr>
        <p:spPr>
          <a:xfrm>
            <a:off x="4520412" y="421048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88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60" grpId="0" animBg="1"/>
      <p:bldP spid="9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的搜尋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搜尋</a:t>
            </a:r>
            <a:r>
              <a:rPr lang="en-US" altLang="zh-TW" dirty="0">
                <a:solidFill>
                  <a:srgbClr val="0000FF"/>
                </a:solidFill>
              </a:rPr>
              <a:t>80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3779912" y="2564904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20  50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4979336" y="3868781"/>
            <a:ext cx="1296144" cy="367733"/>
            <a:chOff x="6228184" y="4869160"/>
            <a:chExt cx="1296144" cy="367733"/>
          </a:xfrm>
        </p:grpSpPr>
        <p:sp>
          <p:nvSpPr>
            <p:cNvPr id="15" name="橢圓 1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2866392" y="3868781"/>
            <a:ext cx="1296144" cy="367733"/>
            <a:chOff x="6228184" y="4869160"/>
            <a:chExt cx="1296144" cy="367733"/>
          </a:xfrm>
        </p:grpSpPr>
        <p:sp>
          <p:nvSpPr>
            <p:cNvPr id="23" name="橢圓 22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753448" y="3868263"/>
            <a:ext cx="1296144" cy="367733"/>
            <a:chOff x="6228184" y="4869160"/>
            <a:chExt cx="1296144" cy="367733"/>
          </a:xfrm>
        </p:grpSpPr>
        <p:sp>
          <p:nvSpPr>
            <p:cNvPr id="27" name="橢圓 2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接點 29"/>
          <p:cNvCxnSpPr>
            <a:endCxn id="23" idx="0"/>
          </p:cNvCxnSpPr>
          <p:nvPr/>
        </p:nvCxnSpPr>
        <p:spPr>
          <a:xfrm flipH="1">
            <a:off x="3514464" y="2924904"/>
            <a:ext cx="73456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8" idx="3"/>
            <a:endCxn id="27" idx="0"/>
          </p:cNvCxnSpPr>
          <p:nvPr/>
        </p:nvCxnSpPr>
        <p:spPr>
          <a:xfrm flipH="1">
            <a:off x="1401520" y="2879916"/>
            <a:ext cx="2568208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endCxn id="15" idx="0"/>
          </p:cNvCxnSpPr>
          <p:nvPr/>
        </p:nvCxnSpPr>
        <p:spPr>
          <a:xfrm>
            <a:off x="4596713" y="2924904"/>
            <a:ext cx="103069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向下箭號 39"/>
          <p:cNvSpPr/>
          <p:nvPr/>
        </p:nvSpPr>
        <p:spPr>
          <a:xfrm rot="10800000">
            <a:off x="4346939" y="297110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4724573" y="306884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 rot="10800000">
            <a:off x="5207716" y="425463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向下箭號 43"/>
          <p:cNvSpPr/>
          <p:nvPr/>
        </p:nvSpPr>
        <p:spPr>
          <a:xfrm rot="10800000">
            <a:off x="4005745" y="297618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2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3" grpId="0" animBg="1"/>
      <p:bldP spid="44" grpId="0" animBg="1"/>
      <p:bldP spid="4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m</a:t>
            </a:r>
            <a:r>
              <a:rPr lang="zh-TW" altLang="en-US" dirty="0"/>
              <a:t>元搜尋樹 </a:t>
            </a:r>
            <a:r>
              <a:rPr lang="en-US" altLang="zh-TW" i="1" dirty="0"/>
              <a:t>m</a:t>
            </a:r>
            <a:r>
              <a:rPr lang="en-US" altLang="zh-TW" dirty="0"/>
              <a:t>-way search tree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m</a:t>
            </a:r>
            <a:r>
              <a:rPr lang="zh-TW" altLang="en-US" dirty="0"/>
              <a:t>元搜尋樹的節點結構：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/>
              <a:t>: </a:t>
            </a:r>
            <a:r>
              <a:rPr lang="zh-TW" altLang="en-US" dirty="0"/>
              <a:t>鍵值個數，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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m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 – 1</a:t>
            </a:r>
          </a:p>
          <a:p>
            <a:r>
              <a:rPr lang="en-US" altLang="zh-TW" i="1" dirty="0">
                <a:sym typeface="Symbol"/>
              </a:rPr>
              <a:t>k</a:t>
            </a:r>
            <a:r>
              <a:rPr lang="en-US" altLang="zh-TW" baseline="-25000" dirty="0">
                <a:sym typeface="Symbol"/>
              </a:rPr>
              <a:t>1</a:t>
            </a:r>
            <a:r>
              <a:rPr lang="en-US" altLang="zh-TW" dirty="0">
                <a:sym typeface="Symbol"/>
              </a:rPr>
              <a:t> &lt; </a:t>
            </a:r>
            <a:r>
              <a:rPr lang="en-US" altLang="zh-TW" i="1" dirty="0">
                <a:sym typeface="Symbol"/>
              </a:rPr>
              <a:t>k</a:t>
            </a:r>
            <a:r>
              <a:rPr lang="en-US" altLang="zh-TW" baseline="-25000" dirty="0">
                <a:sym typeface="Symbol"/>
              </a:rPr>
              <a:t>2</a:t>
            </a:r>
            <a:r>
              <a:rPr lang="en-US" altLang="zh-TW" dirty="0">
                <a:sym typeface="Symbol"/>
              </a:rPr>
              <a:t> &lt; </a:t>
            </a:r>
            <a:r>
              <a:rPr lang="en-US" altLang="zh-TW" i="1" dirty="0">
                <a:sym typeface="Symbol"/>
              </a:rPr>
              <a:t>k</a:t>
            </a:r>
            <a:r>
              <a:rPr lang="en-US" altLang="zh-TW" baseline="-25000" dirty="0">
                <a:sym typeface="Symbol"/>
              </a:rPr>
              <a:t>3</a:t>
            </a:r>
            <a:r>
              <a:rPr lang="en-US" altLang="zh-TW" dirty="0">
                <a:sym typeface="Symbol"/>
              </a:rPr>
              <a:t> &lt; … &lt; </a:t>
            </a:r>
            <a:r>
              <a:rPr lang="en-US" altLang="zh-TW" i="1" dirty="0" err="1">
                <a:sym typeface="Symbol"/>
              </a:rPr>
              <a:t>k</a:t>
            </a:r>
            <a:r>
              <a:rPr lang="en-US" altLang="zh-TW" i="1" baseline="-25000" dirty="0" err="1">
                <a:sym typeface="Symbol"/>
              </a:rPr>
              <a:t>n</a:t>
            </a:r>
            <a:endParaRPr lang="en-US" altLang="zh-TW" i="1" baseline="-25000" dirty="0">
              <a:sym typeface="Symbol"/>
            </a:endParaRPr>
          </a:p>
          <a:p>
            <a:r>
              <a:rPr lang="zh-TW" altLang="en-US" dirty="0">
                <a:sym typeface="Symbol"/>
              </a:rPr>
              <a:t>搜尋</a:t>
            </a:r>
            <a:r>
              <a:rPr lang="en-US" altLang="zh-TW" i="1" dirty="0">
                <a:solidFill>
                  <a:srgbClr val="0000FF"/>
                </a:solidFill>
                <a:sym typeface="Symbol"/>
              </a:rPr>
              <a:t>k</a:t>
            </a:r>
          </a:p>
          <a:p>
            <a:pPr lvl="1"/>
            <a:r>
              <a:rPr lang="en-US" altLang="zh-TW" i="1" dirty="0">
                <a:solidFill>
                  <a:srgbClr val="0000FF"/>
                </a:solidFill>
                <a:sym typeface="Symbol"/>
              </a:rPr>
              <a:t>k</a:t>
            </a:r>
            <a:r>
              <a:rPr lang="en-US" altLang="zh-TW" dirty="0">
                <a:sym typeface="Symbol"/>
              </a:rPr>
              <a:t> &lt; </a:t>
            </a:r>
            <a:r>
              <a:rPr lang="en-US" altLang="zh-TW" i="1" dirty="0">
                <a:sym typeface="Symbol"/>
              </a:rPr>
              <a:t>k</a:t>
            </a:r>
            <a:r>
              <a:rPr lang="en-US" altLang="zh-TW" baseline="-25000" dirty="0">
                <a:sym typeface="Symbol"/>
              </a:rPr>
              <a:t>1</a:t>
            </a:r>
            <a:r>
              <a:rPr lang="en-US" altLang="zh-TW" dirty="0">
                <a:sym typeface="Symbol"/>
              </a:rPr>
              <a:t>: </a:t>
            </a:r>
            <a:r>
              <a:rPr lang="zh-TW" altLang="en-US" dirty="0">
                <a:sym typeface="Symbol"/>
              </a:rPr>
              <a:t>往</a:t>
            </a:r>
            <a:r>
              <a:rPr lang="en-US" altLang="zh-TW" i="1" dirty="0">
                <a:sym typeface="Symbol"/>
              </a:rPr>
              <a:t>L</a:t>
            </a:r>
            <a:r>
              <a:rPr lang="en-US" altLang="zh-TW" baseline="-25000" dirty="0">
                <a:sym typeface="Symbol"/>
              </a:rPr>
              <a:t>0</a:t>
            </a:r>
            <a:r>
              <a:rPr lang="zh-TW" altLang="en-US" dirty="0">
                <a:sym typeface="Symbol"/>
              </a:rPr>
              <a:t>指標走</a:t>
            </a:r>
            <a:endParaRPr lang="en-US" altLang="zh-TW" dirty="0">
              <a:sym typeface="Symbol"/>
            </a:endParaRPr>
          </a:p>
          <a:p>
            <a:pPr lvl="1"/>
            <a:r>
              <a:rPr lang="en-US" altLang="zh-TW" i="1" dirty="0">
                <a:sym typeface="Symbol"/>
              </a:rPr>
              <a:t>k</a:t>
            </a:r>
            <a:r>
              <a:rPr lang="en-US" altLang="zh-TW" baseline="-25000" dirty="0">
                <a:sym typeface="Symbol"/>
              </a:rPr>
              <a:t>1</a:t>
            </a:r>
            <a:r>
              <a:rPr lang="en-US" altLang="zh-TW" dirty="0">
                <a:sym typeface="Symbol"/>
              </a:rPr>
              <a:t> &lt; </a:t>
            </a:r>
            <a:r>
              <a:rPr lang="en-US" altLang="zh-TW" i="1" dirty="0">
                <a:solidFill>
                  <a:srgbClr val="0000FF"/>
                </a:solidFill>
                <a:sym typeface="Symbol"/>
              </a:rPr>
              <a:t>k</a:t>
            </a:r>
            <a:r>
              <a:rPr lang="en-US" altLang="zh-TW" dirty="0">
                <a:sym typeface="Symbol"/>
              </a:rPr>
              <a:t> &lt; </a:t>
            </a:r>
            <a:r>
              <a:rPr lang="en-US" altLang="zh-TW" i="1" dirty="0">
                <a:sym typeface="Symbol"/>
              </a:rPr>
              <a:t>k</a:t>
            </a:r>
            <a:r>
              <a:rPr lang="en-US" altLang="zh-TW" baseline="-25000" dirty="0">
                <a:sym typeface="Symbol"/>
              </a:rPr>
              <a:t>2</a:t>
            </a:r>
            <a:r>
              <a:rPr lang="en-US" altLang="zh-TW" dirty="0">
                <a:sym typeface="Symbol"/>
              </a:rPr>
              <a:t>: </a:t>
            </a:r>
            <a:r>
              <a:rPr lang="zh-TW" altLang="en-US" dirty="0">
                <a:sym typeface="Symbol"/>
              </a:rPr>
              <a:t>往</a:t>
            </a:r>
            <a:r>
              <a:rPr lang="en-US" altLang="zh-TW" i="1" dirty="0">
                <a:sym typeface="Symbol"/>
              </a:rPr>
              <a:t>L</a:t>
            </a:r>
            <a:r>
              <a:rPr lang="en-US" altLang="zh-TW" baseline="-25000" dirty="0">
                <a:sym typeface="Symbol"/>
              </a:rPr>
              <a:t>1</a:t>
            </a:r>
            <a:r>
              <a:rPr lang="zh-TW" altLang="en-US" dirty="0">
                <a:sym typeface="Symbol"/>
              </a:rPr>
              <a:t>指標走</a:t>
            </a:r>
            <a:endParaRPr lang="en-US" altLang="zh-TW" dirty="0">
              <a:sym typeface="Symbol"/>
            </a:endParaRPr>
          </a:p>
          <a:p>
            <a:pPr lvl="1"/>
            <a:r>
              <a:rPr lang="en-US" altLang="zh-TW" i="1" dirty="0" err="1">
                <a:sym typeface="Symbol"/>
              </a:rPr>
              <a:t>k</a:t>
            </a:r>
            <a:r>
              <a:rPr lang="en-US" altLang="zh-TW" i="1" baseline="-25000" dirty="0" err="1">
                <a:sym typeface="Symbol"/>
              </a:rPr>
              <a:t>i</a:t>
            </a:r>
            <a:r>
              <a:rPr lang="en-US" altLang="zh-TW" dirty="0">
                <a:sym typeface="Symbol"/>
              </a:rPr>
              <a:t> &lt; </a:t>
            </a:r>
            <a:r>
              <a:rPr lang="en-US" altLang="zh-TW" i="1" dirty="0">
                <a:solidFill>
                  <a:srgbClr val="0000FF"/>
                </a:solidFill>
                <a:sym typeface="Symbol"/>
              </a:rPr>
              <a:t>k</a:t>
            </a:r>
            <a:r>
              <a:rPr lang="en-US" altLang="zh-TW" dirty="0">
                <a:sym typeface="Symbol"/>
              </a:rPr>
              <a:t> &lt; </a:t>
            </a:r>
            <a:r>
              <a:rPr lang="en-US" altLang="zh-TW" i="1" dirty="0">
                <a:sym typeface="Symbol"/>
              </a:rPr>
              <a:t>k</a:t>
            </a:r>
            <a:r>
              <a:rPr lang="en-US" altLang="zh-TW" i="1" baseline="-25000" dirty="0">
                <a:sym typeface="Symbol"/>
              </a:rPr>
              <a:t>i</a:t>
            </a:r>
            <a:r>
              <a:rPr lang="en-US" altLang="zh-TW" baseline="-25000" dirty="0">
                <a:sym typeface="Symbol"/>
              </a:rPr>
              <a:t>+1</a:t>
            </a:r>
            <a:r>
              <a:rPr lang="en-US" altLang="zh-TW" dirty="0">
                <a:sym typeface="Symbol"/>
              </a:rPr>
              <a:t>: </a:t>
            </a:r>
            <a:r>
              <a:rPr lang="zh-TW" altLang="en-US" dirty="0">
                <a:sym typeface="Symbol"/>
              </a:rPr>
              <a:t>往</a:t>
            </a:r>
            <a:r>
              <a:rPr lang="en-US" altLang="zh-TW" i="1" dirty="0">
                <a:sym typeface="Symbol"/>
              </a:rPr>
              <a:t>L</a:t>
            </a:r>
            <a:r>
              <a:rPr lang="en-US" altLang="zh-TW" i="1" baseline="-25000" dirty="0">
                <a:sym typeface="Symbol"/>
              </a:rPr>
              <a:t>i</a:t>
            </a:r>
            <a:r>
              <a:rPr lang="zh-TW" altLang="en-US" dirty="0">
                <a:sym typeface="Symbol"/>
              </a:rPr>
              <a:t>指標走</a:t>
            </a:r>
            <a:endParaRPr lang="en-US" altLang="zh-TW" dirty="0">
              <a:sym typeface="Symbol"/>
            </a:endParaRPr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k</a:t>
            </a:r>
            <a:r>
              <a:rPr lang="en-US" altLang="zh-TW" dirty="0"/>
              <a:t> &gt; </a:t>
            </a:r>
            <a:r>
              <a:rPr lang="en-US" altLang="zh-TW" i="1" dirty="0" err="1"/>
              <a:t>k</a:t>
            </a:r>
            <a:r>
              <a:rPr lang="en-US" altLang="zh-TW" i="1" baseline="-25000" dirty="0" err="1"/>
              <a:t>n</a:t>
            </a:r>
            <a:r>
              <a:rPr lang="en-US" altLang="zh-TW" dirty="0"/>
              <a:t>: </a:t>
            </a:r>
            <a:r>
              <a:rPr lang="zh-TW" altLang="en-US" dirty="0"/>
              <a:t>往</a:t>
            </a:r>
            <a:r>
              <a:rPr lang="en-US" altLang="zh-TW" i="1" dirty="0"/>
              <a:t>L</a:t>
            </a:r>
            <a:r>
              <a:rPr lang="en-US" altLang="zh-TW" i="1" baseline="-25000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指標走</a:t>
            </a:r>
            <a:endParaRPr lang="en-US" altLang="zh-TW" dirty="0"/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k</a:t>
            </a:r>
            <a:r>
              <a:rPr lang="en-US" altLang="zh-TW" dirty="0"/>
              <a:t> = </a:t>
            </a:r>
            <a:r>
              <a:rPr lang="en-US" altLang="zh-TW" i="1" dirty="0" err="1"/>
              <a:t>k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, 1 </a:t>
            </a:r>
            <a:r>
              <a:rPr lang="en-US" altLang="zh-TW" dirty="0">
                <a:sym typeface="Symbol"/>
              </a:rPr>
              <a:t> </a:t>
            </a:r>
            <a:r>
              <a:rPr lang="en-US" altLang="zh-TW" i="1" dirty="0" err="1">
                <a:sym typeface="Symbol"/>
              </a:rPr>
              <a:t>i</a:t>
            </a:r>
            <a:r>
              <a:rPr lang="en-US" altLang="zh-TW" dirty="0">
                <a:sym typeface="Symbol"/>
              </a:rPr>
              <a:t>  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: </a:t>
            </a:r>
            <a:r>
              <a:rPr lang="zh-TW" altLang="en-US" dirty="0">
                <a:sym typeface="Symbol"/>
              </a:rPr>
              <a:t>成功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77349" y="1931838"/>
          <a:ext cx="663659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63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36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i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0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0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0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000" i="1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000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</a:t>
                      </a:r>
                      <a:endParaRPr lang="zh-TW" altLang="en-US" sz="2000" baseline="-25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000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</a:t>
                      </a:r>
                      <a:endParaRPr lang="zh-TW" altLang="en-US" sz="2000" i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>
            <a:off x="2383765" y="2328078"/>
            <a:ext cx="0" cy="3962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700731" y="2328078"/>
            <a:ext cx="0" cy="3962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5037826" y="2328078"/>
            <a:ext cx="0" cy="3962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709139" y="2318110"/>
            <a:ext cx="0" cy="3962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499992" y="3356992"/>
            <a:ext cx="3744936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n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L</a:t>
            </a:r>
            <a:r>
              <a:rPr lang="en-US" altLang="zh-TW" sz="2000" b="1" baseline="-25000" dirty="0">
                <a:latin typeface="+mj-lt"/>
              </a:rPr>
              <a:t>0</a:t>
            </a:r>
            <a:r>
              <a:rPr lang="en-US" altLang="zh-TW" sz="2000" b="1" dirty="0">
                <a:latin typeface="+mj-lt"/>
              </a:rPr>
              <a:t>, (</a:t>
            </a:r>
            <a:r>
              <a:rPr lang="en-US" altLang="zh-TW" sz="2000" b="1" i="1" dirty="0">
                <a:latin typeface="+mj-lt"/>
              </a:rPr>
              <a:t>k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L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), (</a:t>
            </a:r>
            <a:r>
              <a:rPr lang="en-US" altLang="zh-TW" sz="2000" b="1" i="1" dirty="0">
                <a:latin typeface="+mj-lt"/>
              </a:rPr>
              <a:t>k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L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),…, (</a:t>
            </a:r>
            <a:r>
              <a:rPr lang="en-US" altLang="zh-TW" sz="2000" b="1" i="1" dirty="0" err="1">
                <a:latin typeface="+mj-lt"/>
              </a:rPr>
              <a:t>k</a:t>
            </a:r>
            <a:r>
              <a:rPr lang="en-US" altLang="zh-TW" sz="2000" b="1" i="1" baseline="-25000" dirty="0" err="1">
                <a:latin typeface="+mj-lt"/>
              </a:rPr>
              <a:t>n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L</a:t>
            </a:r>
            <a:r>
              <a:rPr lang="en-US" altLang="zh-TW" sz="2000" b="1" i="1" baseline="-25000" dirty="0">
                <a:latin typeface="+mj-lt"/>
              </a:rPr>
              <a:t>n</a:t>
            </a:r>
            <a:r>
              <a:rPr lang="en-US" altLang="zh-TW" sz="2000" b="1" dirty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821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搜尋</a:t>
            </a:r>
            <a:r>
              <a:rPr lang="en-US" altLang="zh-TW" dirty="0">
                <a:solidFill>
                  <a:srgbClr val="0000FF"/>
                </a:solidFill>
              </a:rPr>
              <a:t>57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m</a:t>
            </a:r>
            <a:r>
              <a:rPr lang="zh-TW" altLang="en-US" dirty="0"/>
              <a:t>元搜尋樹 </a:t>
            </a:r>
            <a:r>
              <a:rPr lang="en-US" altLang="zh-TW" i="1" dirty="0"/>
              <a:t>m</a:t>
            </a:r>
            <a:r>
              <a:rPr lang="en-US" altLang="zh-TW" dirty="0"/>
              <a:t>-way search tree (2/2)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24" name="群組 23"/>
          <p:cNvGrpSpPr/>
          <p:nvPr/>
        </p:nvGrpSpPr>
        <p:grpSpPr>
          <a:xfrm>
            <a:off x="3328066" y="2167476"/>
            <a:ext cx="1787398" cy="375725"/>
            <a:chOff x="3328066" y="2167476"/>
            <a:chExt cx="1787398" cy="375725"/>
          </a:xfrm>
        </p:grpSpPr>
        <p:sp>
          <p:nvSpPr>
            <p:cNvPr id="10" name="矩形 9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/>
            <p:cNvSpPr txBox="1"/>
            <p:nvPr/>
          </p:nvSpPr>
          <p:spPr>
            <a:xfrm>
              <a:off x="3880281" y="216747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線接點 13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>
              <a:off x="4498334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4499751" y="217386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字方塊 17"/>
          <p:cNvSpPr txBox="1"/>
          <p:nvPr/>
        </p:nvSpPr>
        <p:spPr>
          <a:xfrm>
            <a:off x="3912954" y="181835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199839" y="1818601"/>
            <a:ext cx="40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574802" y="1825543"/>
            <a:ext cx="40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12575" y="181835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799460" y="1818601"/>
            <a:ext cx="40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353484" y="18294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群組 24"/>
          <p:cNvGrpSpPr/>
          <p:nvPr/>
        </p:nvGrpSpPr>
        <p:grpSpPr>
          <a:xfrm>
            <a:off x="3854709" y="3087627"/>
            <a:ext cx="1787398" cy="375725"/>
            <a:chOff x="3328066" y="2167476"/>
            <a:chExt cx="1787398" cy="375725"/>
          </a:xfrm>
        </p:grpSpPr>
        <p:sp>
          <p:nvSpPr>
            <p:cNvPr id="26" name="矩形 25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" name="直線接點 26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3880281" y="216747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線接點 30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4498334" y="219687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4499751" y="217386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線接點 33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群組 58"/>
          <p:cNvGrpSpPr/>
          <p:nvPr/>
        </p:nvGrpSpPr>
        <p:grpSpPr>
          <a:xfrm>
            <a:off x="1313472" y="3069106"/>
            <a:ext cx="1787398" cy="369337"/>
            <a:chOff x="1736146" y="3069106"/>
            <a:chExt cx="1787398" cy="369337"/>
          </a:xfrm>
        </p:grpSpPr>
        <p:grpSp>
          <p:nvGrpSpPr>
            <p:cNvPr id="45" name="群組 44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7" name="直線接點 46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字方塊 48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字方塊 49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1" name="直線接點 50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直線接點 55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7"/>
          <p:cNvGrpSpPr/>
          <p:nvPr/>
        </p:nvGrpSpPr>
        <p:grpSpPr>
          <a:xfrm>
            <a:off x="6249545" y="3091149"/>
            <a:ext cx="1787398" cy="369337"/>
            <a:chOff x="6249545" y="3091149"/>
            <a:chExt cx="1787398" cy="369337"/>
          </a:xfrm>
        </p:grpSpPr>
        <p:grpSp>
          <p:nvGrpSpPr>
            <p:cNvPr id="35" name="群組 34"/>
            <p:cNvGrpSpPr/>
            <p:nvPr/>
          </p:nvGrpSpPr>
          <p:grpSpPr>
            <a:xfrm>
              <a:off x="6249545" y="3091149"/>
              <a:ext cx="1787398" cy="369337"/>
              <a:chOff x="3328066" y="2167476"/>
              <a:chExt cx="1787398" cy="369337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7" name="直線接點 36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字方塊 38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" name="直線接點 40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/>
              <p:cNvCxnSpPr/>
              <p:nvPr/>
            </p:nvCxnSpPr>
            <p:spPr>
              <a:xfrm>
                <a:off x="4498334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直線接點 56"/>
            <p:cNvCxnSpPr/>
            <p:nvPr/>
          </p:nvCxnSpPr>
          <p:spPr>
            <a:xfrm flipV="1">
              <a:off x="7419813" y="3112892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群組 59"/>
          <p:cNvGrpSpPr/>
          <p:nvPr/>
        </p:nvGrpSpPr>
        <p:grpSpPr>
          <a:xfrm>
            <a:off x="366417" y="4023762"/>
            <a:ext cx="1787398" cy="369337"/>
            <a:chOff x="1736146" y="3069106"/>
            <a:chExt cx="1787398" cy="369337"/>
          </a:xfrm>
        </p:grpSpPr>
        <p:grpSp>
          <p:nvGrpSpPr>
            <p:cNvPr id="61" name="群組 60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4" name="直線接點 63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接點 64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字方塊 65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文字方塊 66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8" name="直線接點 67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接點 68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接點 69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直線接點 61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群組 70"/>
          <p:cNvGrpSpPr/>
          <p:nvPr/>
        </p:nvGrpSpPr>
        <p:grpSpPr>
          <a:xfrm>
            <a:off x="2907914" y="4032395"/>
            <a:ext cx="1787398" cy="369337"/>
            <a:chOff x="1736146" y="3069106"/>
            <a:chExt cx="1787398" cy="369337"/>
          </a:xfrm>
        </p:grpSpPr>
        <p:grpSp>
          <p:nvGrpSpPr>
            <p:cNvPr id="72" name="群組 71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5" name="直線接點 74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文字方塊 76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文字方塊 77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9" name="直線接點 78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接點 79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直線接點 72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群組 81"/>
          <p:cNvGrpSpPr/>
          <p:nvPr/>
        </p:nvGrpSpPr>
        <p:grpSpPr>
          <a:xfrm>
            <a:off x="2266128" y="4955416"/>
            <a:ext cx="1787398" cy="369337"/>
            <a:chOff x="1736146" y="3069106"/>
            <a:chExt cx="1787398" cy="369337"/>
          </a:xfrm>
        </p:grpSpPr>
        <p:grpSp>
          <p:nvGrpSpPr>
            <p:cNvPr id="83" name="群組 82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6" name="直線接點 85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接點 86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文字方塊 87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文字方塊 88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0" name="直線接點 89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接點 90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線接點 91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直線接點 83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4795894" y="4028881"/>
            <a:ext cx="1787398" cy="369337"/>
            <a:chOff x="1736146" y="3069106"/>
            <a:chExt cx="1787398" cy="369337"/>
          </a:xfrm>
        </p:grpSpPr>
        <p:grpSp>
          <p:nvGrpSpPr>
            <p:cNvPr id="94" name="群組 93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7" name="直線接點 96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線接點 97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文字方塊 98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文字方塊 99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1" name="直線接點 100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接點 101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線接點 102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5" name="直線接點 94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群組 104"/>
          <p:cNvGrpSpPr/>
          <p:nvPr/>
        </p:nvGrpSpPr>
        <p:grpSpPr>
          <a:xfrm>
            <a:off x="5246143" y="4964049"/>
            <a:ext cx="1787398" cy="369337"/>
            <a:chOff x="3328066" y="2167476"/>
            <a:chExt cx="1787398" cy="369337"/>
          </a:xfrm>
        </p:grpSpPr>
        <p:sp>
          <p:nvSpPr>
            <p:cNvPr id="107" name="矩形 106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8" name="直線接點 107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接點 108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3880281" y="216747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直線接點 111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接點 112"/>
            <p:cNvCxnSpPr/>
            <p:nvPr/>
          </p:nvCxnSpPr>
          <p:spPr>
            <a:xfrm>
              <a:off x="4498334" y="219687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 113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" name="直線接點 105"/>
          <p:cNvCxnSpPr/>
          <p:nvPr/>
        </p:nvCxnSpPr>
        <p:spPr>
          <a:xfrm flipV="1">
            <a:off x="6416411" y="4993449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群組 114"/>
          <p:cNvGrpSpPr/>
          <p:nvPr/>
        </p:nvGrpSpPr>
        <p:grpSpPr>
          <a:xfrm>
            <a:off x="4602822" y="5843936"/>
            <a:ext cx="1787398" cy="369337"/>
            <a:chOff x="1736146" y="3069106"/>
            <a:chExt cx="1787398" cy="369337"/>
          </a:xfrm>
        </p:grpSpPr>
        <p:grpSp>
          <p:nvGrpSpPr>
            <p:cNvPr id="116" name="群組 115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9" name="直線接點 118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接點 119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文字方塊 120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文字方塊 121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3" name="直線接點 122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接點 123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接點 124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7" name="直線接點 116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群組 125"/>
          <p:cNvGrpSpPr/>
          <p:nvPr/>
        </p:nvGrpSpPr>
        <p:grpSpPr>
          <a:xfrm>
            <a:off x="7020693" y="4032390"/>
            <a:ext cx="1787398" cy="369337"/>
            <a:chOff x="1736146" y="3069106"/>
            <a:chExt cx="1787398" cy="369337"/>
          </a:xfrm>
        </p:grpSpPr>
        <p:grpSp>
          <p:nvGrpSpPr>
            <p:cNvPr id="127" name="群組 126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0" name="直線接點 129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接點 130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文字方塊 131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文字方塊 132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4" name="直線接點 133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接點 134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接點 135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8" name="直線接點 127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8" name="直線單箭頭接點 137"/>
          <p:cNvCxnSpPr>
            <a:endCxn id="49" idx="0"/>
          </p:cNvCxnSpPr>
          <p:nvPr/>
        </p:nvCxnSpPr>
        <p:spPr>
          <a:xfrm flipH="1">
            <a:off x="2073437" y="2527548"/>
            <a:ext cx="1702702" cy="54155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endCxn id="29" idx="0"/>
          </p:cNvCxnSpPr>
          <p:nvPr/>
        </p:nvCxnSpPr>
        <p:spPr>
          <a:xfrm>
            <a:off x="4384549" y="2531556"/>
            <a:ext cx="230125" cy="5560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>
            <a:endCxn id="39" idx="0"/>
          </p:cNvCxnSpPr>
          <p:nvPr/>
        </p:nvCxnSpPr>
        <p:spPr>
          <a:xfrm>
            <a:off x="5030768" y="2524680"/>
            <a:ext cx="1978742" cy="56646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66" idx="0"/>
          </p:cNvCxnSpPr>
          <p:nvPr/>
        </p:nvCxnSpPr>
        <p:spPr>
          <a:xfrm flipH="1">
            <a:off x="1126382" y="3429817"/>
            <a:ext cx="643601" cy="59394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>
            <a:endCxn id="132" idx="0"/>
          </p:cNvCxnSpPr>
          <p:nvPr/>
        </p:nvCxnSpPr>
        <p:spPr>
          <a:xfrm>
            <a:off x="6703499" y="3456010"/>
            <a:ext cx="1077159" cy="57638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>
            <a:endCxn id="121" idx="0"/>
          </p:cNvCxnSpPr>
          <p:nvPr/>
        </p:nvCxnSpPr>
        <p:spPr>
          <a:xfrm flipH="1">
            <a:off x="5362787" y="5326659"/>
            <a:ext cx="351600" cy="517277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>
            <a:endCxn id="88" idx="0"/>
          </p:cNvCxnSpPr>
          <p:nvPr/>
        </p:nvCxnSpPr>
        <p:spPr>
          <a:xfrm flipH="1">
            <a:off x="3026093" y="4388953"/>
            <a:ext cx="330523" cy="566463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61"/>
          <p:cNvCxnSpPr>
            <a:endCxn id="110" idx="0"/>
          </p:cNvCxnSpPr>
          <p:nvPr/>
        </p:nvCxnSpPr>
        <p:spPr>
          <a:xfrm>
            <a:off x="5889324" y="4388953"/>
            <a:ext cx="116784" cy="57509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>
            <a:endCxn id="99" idx="0"/>
          </p:cNvCxnSpPr>
          <p:nvPr/>
        </p:nvCxnSpPr>
        <p:spPr>
          <a:xfrm>
            <a:off x="4924726" y="3447699"/>
            <a:ext cx="631133" cy="58118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/>
          <p:cNvCxnSpPr>
            <a:endCxn id="77" idx="0"/>
          </p:cNvCxnSpPr>
          <p:nvPr/>
        </p:nvCxnSpPr>
        <p:spPr>
          <a:xfrm flipH="1">
            <a:off x="3667879" y="3447384"/>
            <a:ext cx="649388" cy="58501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向下箭號 168"/>
          <p:cNvSpPr/>
          <p:nvPr/>
        </p:nvSpPr>
        <p:spPr>
          <a:xfrm>
            <a:off x="4317267" y="234864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向下箭號 169"/>
          <p:cNvSpPr/>
          <p:nvPr/>
        </p:nvSpPr>
        <p:spPr>
          <a:xfrm>
            <a:off x="4848471" y="326401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向下箭號 170"/>
          <p:cNvSpPr/>
          <p:nvPr/>
        </p:nvSpPr>
        <p:spPr>
          <a:xfrm>
            <a:off x="5783142" y="420492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2" name="橢圓 171"/>
          <p:cNvSpPr/>
          <p:nvPr/>
        </p:nvSpPr>
        <p:spPr>
          <a:xfrm>
            <a:off x="5798358" y="4976197"/>
            <a:ext cx="415499" cy="33993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向下箭號 145"/>
          <p:cNvSpPr/>
          <p:nvPr/>
        </p:nvSpPr>
        <p:spPr>
          <a:xfrm rot="10800000">
            <a:off x="4003657" y="2542268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向下箭號 146"/>
          <p:cNvSpPr/>
          <p:nvPr/>
        </p:nvSpPr>
        <p:spPr>
          <a:xfrm rot="10800000">
            <a:off x="4621236" y="254320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向下箭號 147"/>
          <p:cNvSpPr/>
          <p:nvPr/>
        </p:nvSpPr>
        <p:spPr>
          <a:xfrm rot="10800000">
            <a:off x="4512575" y="346170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9" name="向下箭號 148"/>
          <p:cNvSpPr/>
          <p:nvPr/>
        </p:nvSpPr>
        <p:spPr>
          <a:xfrm rot="10800000">
            <a:off x="5130154" y="346263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1" name="向下箭號 150"/>
          <p:cNvSpPr/>
          <p:nvPr/>
        </p:nvSpPr>
        <p:spPr>
          <a:xfrm rot="10800000">
            <a:off x="5496521" y="440173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3" name="向下箭號 152"/>
          <p:cNvSpPr/>
          <p:nvPr/>
        </p:nvSpPr>
        <p:spPr>
          <a:xfrm rot="10800000">
            <a:off x="5933875" y="5338679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008748" y="21260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a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1005123" y="30383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b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57" name="文字方塊 156"/>
          <p:cNvSpPr txBox="1"/>
          <p:nvPr/>
        </p:nvSpPr>
        <p:spPr>
          <a:xfrm>
            <a:off x="3544943" y="3069336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c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59" name="文字方塊 158"/>
          <p:cNvSpPr txBox="1"/>
          <p:nvPr/>
        </p:nvSpPr>
        <p:spPr>
          <a:xfrm>
            <a:off x="5933874" y="30757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61" name="文字方塊 160"/>
          <p:cNvSpPr txBox="1"/>
          <p:nvPr/>
        </p:nvSpPr>
        <p:spPr>
          <a:xfrm>
            <a:off x="73209" y="3980856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e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63" name="文字方塊 162"/>
          <p:cNvSpPr txBox="1"/>
          <p:nvPr/>
        </p:nvSpPr>
        <p:spPr>
          <a:xfrm>
            <a:off x="2647172" y="3979101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f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6535189" y="39945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67" name="文字方塊 166"/>
          <p:cNvSpPr txBox="1"/>
          <p:nvPr/>
        </p:nvSpPr>
        <p:spPr>
          <a:xfrm>
            <a:off x="8748464" y="400161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h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68" name="文字方塊 167"/>
          <p:cNvSpPr txBox="1"/>
          <p:nvPr/>
        </p:nvSpPr>
        <p:spPr>
          <a:xfrm>
            <a:off x="1974005" y="49125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x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73" name="文字方塊 172"/>
          <p:cNvSpPr txBox="1"/>
          <p:nvPr/>
        </p:nvSpPr>
        <p:spPr>
          <a:xfrm>
            <a:off x="7046973" y="493856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y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174" name="文字方塊 173"/>
          <p:cNvSpPr txBox="1"/>
          <p:nvPr/>
        </p:nvSpPr>
        <p:spPr>
          <a:xfrm>
            <a:off x="6373110" y="5828547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z</a:t>
            </a:r>
            <a:endParaRPr lang="zh-TW" altLang="en-US" b="1" i="1" dirty="0">
              <a:latin typeface="+mj-lt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062232" y="1830547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+mj-lt"/>
              </a:rPr>
              <a:t>2, </a:t>
            </a:r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b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</a:rPr>
              <a:t>, (30, </a:t>
            </a:r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c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</a:rPr>
              <a:t>), (60, </a:t>
            </a:r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d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65043" y="2727919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+mj-lt"/>
              </a:rPr>
              <a:t>1, </a:t>
            </a:r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e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</a:rPr>
              <a:t>, (15, </a:t>
            </a:r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e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696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8" dur="2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2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  <p:bldP spid="170" grpId="0" animBg="1"/>
      <p:bldP spid="171" grpId="0" animBg="1"/>
      <p:bldP spid="172" grpId="0" animBg="1"/>
      <p:bldP spid="146" grpId="0" animBg="1"/>
      <p:bldP spid="146" grpId="1" animBg="1"/>
      <p:bldP spid="147" grpId="0" animBg="1"/>
      <p:bldP spid="148" grpId="0" animBg="1"/>
      <p:bldP spid="148" grpId="1" animBg="1"/>
      <p:bldP spid="149" grpId="0" animBg="1"/>
      <p:bldP spid="151" grpId="0" animBg="1"/>
      <p:bldP spid="153" grpId="0" animBg="1"/>
      <p:bldP spid="8" grpId="0"/>
      <p:bldP spid="1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m</a:t>
            </a:r>
            <a:r>
              <a:rPr lang="en-US" altLang="zh-TW" dirty="0"/>
              <a:t>-way</a:t>
            </a:r>
            <a:r>
              <a:rPr lang="zh-TW" altLang="en-US" dirty="0"/>
              <a:t> 搜尋樹的加入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依序將</a:t>
            </a:r>
            <a:r>
              <a:rPr lang="en-US" altLang="zh-TW" dirty="0"/>
              <a:t>5, 7, 12, 6, 8, 4, 3, 10</a:t>
            </a:r>
            <a:r>
              <a:rPr lang="zh-TW" altLang="en-US" dirty="0"/>
              <a:t>加入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3530273" y="2468442"/>
            <a:ext cx="1787398" cy="375725"/>
            <a:chOff x="3328066" y="2167476"/>
            <a:chExt cx="1787398" cy="375725"/>
          </a:xfrm>
        </p:grpSpPr>
        <p:sp>
          <p:nvSpPr>
            <p:cNvPr id="8" name="矩形 7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/>
            <p:cNvSpPr txBox="1"/>
            <p:nvPr/>
          </p:nvSpPr>
          <p:spPr>
            <a:xfrm>
              <a:off x="3937989" y="216747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接點 12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4498334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4615135" y="2173869"/>
              <a:ext cx="184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線接點 15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群組 16"/>
          <p:cNvGrpSpPr/>
          <p:nvPr/>
        </p:nvGrpSpPr>
        <p:grpSpPr>
          <a:xfrm>
            <a:off x="3531537" y="2472893"/>
            <a:ext cx="1787398" cy="375725"/>
            <a:chOff x="3328066" y="2167476"/>
            <a:chExt cx="1787398" cy="375725"/>
          </a:xfrm>
        </p:grpSpPr>
        <p:sp>
          <p:nvSpPr>
            <p:cNvPr id="18" name="矩形 17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" name="直線接點 18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3937989" y="216747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接點 22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>
              <a:off x="4498334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4557459" y="2173869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線接點 25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向下箭號 26"/>
          <p:cNvSpPr/>
          <p:nvPr/>
        </p:nvSpPr>
        <p:spPr>
          <a:xfrm rot="10800000">
            <a:off x="4205864" y="284323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向下箭號 27"/>
          <p:cNvSpPr/>
          <p:nvPr/>
        </p:nvSpPr>
        <p:spPr>
          <a:xfrm rot="10800000">
            <a:off x="4823443" y="284416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6299177" y="3441934"/>
            <a:ext cx="1787398" cy="369337"/>
            <a:chOff x="1736146" y="3069106"/>
            <a:chExt cx="1787398" cy="369337"/>
          </a:xfrm>
        </p:grpSpPr>
        <p:grpSp>
          <p:nvGrpSpPr>
            <p:cNvPr id="30" name="群組 29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3" name="直線接點 32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字方塊 34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字方塊 35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7" name="直線接點 36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直線接點 30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向下箭號 39"/>
          <p:cNvSpPr/>
          <p:nvPr/>
        </p:nvSpPr>
        <p:spPr>
          <a:xfrm rot="10800000">
            <a:off x="4205551" y="2842663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 rot="10800000">
            <a:off x="4823130" y="2843596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單箭頭接點 41"/>
          <p:cNvCxnSpPr>
            <a:endCxn id="32" idx="0"/>
          </p:cNvCxnSpPr>
          <p:nvPr/>
        </p:nvCxnSpPr>
        <p:spPr>
          <a:xfrm>
            <a:off x="5206255" y="2832965"/>
            <a:ext cx="1986621" cy="63261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向下箭號 45"/>
          <p:cNvSpPr/>
          <p:nvPr/>
        </p:nvSpPr>
        <p:spPr>
          <a:xfrm rot="10800000">
            <a:off x="4210045" y="284603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向下箭號 46"/>
          <p:cNvSpPr/>
          <p:nvPr/>
        </p:nvSpPr>
        <p:spPr>
          <a:xfrm rot="10800000">
            <a:off x="4829544" y="283914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向下箭號 47"/>
          <p:cNvSpPr/>
          <p:nvPr/>
        </p:nvSpPr>
        <p:spPr>
          <a:xfrm>
            <a:off x="4519474" y="264960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向下箭號 48"/>
          <p:cNvSpPr/>
          <p:nvPr/>
        </p:nvSpPr>
        <p:spPr>
          <a:xfrm>
            <a:off x="5146406" y="264766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0" name="群組 49"/>
          <p:cNvGrpSpPr/>
          <p:nvPr/>
        </p:nvGrpSpPr>
        <p:grpSpPr>
          <a:xfrm>
            <a:off x="3806842" y="3427805"/>
            <a:ext cx="1787398" cy="369337"/>
            <a:chOff x="1736146" y="3069106"/>
            <a:chExt cx="1787398" cy="369337"/>
          </a:xfrm>
        </p:grpSpPr>
        <p:grpSp>
          <p:nvGrpSpPr>
            <p:cNvPr id="51" name="群組 50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4" name="直線接點 53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字方塊 55"/>
              <p:cNvSpPr txBox="1"/>
              <p:nvPr/>
            </p:nvSpPr>
            <p:spPr>
              <a:xfrm>
                <a:off x="3937989" y="216747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文字方塊 56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8" name="直線接點 57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接點 59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直線接點 51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直線單箭頭接點 60"/>
          <p:cNvCxnSpPr>
            <a:stCxn id="48" idx="2"/>
            <a:endCxn id="53" idx="0"/>
          </p:cNvCxnSpPr>
          <p:nvPr/>
        </p:nvCxnSpPr>
        <p:spPr>
          <a:xfrm>
            <a:off x="4605738" y="2825646"/>
            <a:ext cx="94803" cy="62580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6304159" y="3431799"/>
            <a:ext cx="1787398" cy="375725"/>
            <a:chOff x="3328066" y="2167476"/>
            <a:chExt cx="1787398" cy="375725"/>
          </a:xfrm>
        </p:grpSpPr>
        <p:sp>
          <p:nvSpPr>
            <p:cNvPr id="63" name="矩形 62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4" name="直線接點 63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字方塊 65"/>
            <p:cNvSpPr txBox="1"/>
            <p:nvPr/>
          </p:nvSpPr>
          <p:spPr>
            <a:xfrm>
              <a:off x="3937989" y="216747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8" name="直線接點 67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/>
            <p:cNvCxnSpPr/>
            <p:nvPr/>
          </p:nvCxnSpPr>
          <p:spPr>
            <a:xfrm>
              <a:off x="4498334" y="219687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字方塊 69"/>
            <p:cNvSpPr txBox="1"/>
            <p:nvPr/>
          </p:nvSpPr>
          <p:spPr>
            <a:xfrm>
              <a:off x="4499751" y="217386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1" name="直線接點 70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899592" y="3434993"/>
            <a:ext cx="1787398" cy="369337"/>
            <a:chOff x="1736146" y="3069106"/>
            <a:chExt cx="1787398" cy="369337"/>
          </a:xfrm>
        </p:grpSpPr>
        <p:grpSp>
          <p:nvGrpSpPr>
            <p:cNvPr id="73" name="群組 72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6" name="直線接點 75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字方塊 77"/>
              <p:cNvSpPr txBox="1"/>
              <p:nvPr/>
            </p:nvSpPr>
            <p:spPr>
              <a:xfrm>
                <a:off x="3937989" y="216747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字方塊 78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0" name="直線接點 79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直線接點 73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直線單箭頭接點 82"/>
          <p:cNvCxnSpPr>
            <a:endCxn id="75" idx="0"/>
          </p:cNvCxnSpPr>
          <p:nvPr/>
        </p:nvCxnSpPr>
        <p:spPr>
          <a:xfrm flipH="1">
            <a:off x="1793291" y="2828514"/>
            <a:ext cx="2185055" cy="63012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群組 83"/>
          <p:cNvGrpSpPr/>
          <p:nvPr/>
        </p:nvGrpSpPr>
        <p:grpSpPr>
          <a:xfrm>
            <a:off x="902083" y="3434993"/>
            <a:ext cx="1787398" cy="375725"/>
            <a:chOff x="3328066" y="2167476"/>
            <a:chExt cx="1787398" cy="375725"/>
          </a:xfrm>
        </p:grpSpPr>
        <p:sp>
          <p:nvSpPr>
            <p:cNvPr id="85" name="矩形 84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6" name="直線接點 85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字方塊 87"/>
            <p:cNvSpPr txBox="1"/>
            <p:nvPr/>
          </p:nvSpPr>
          <p:spPr>
            <a:xfrm>
              <a:off x="3937989" y="216747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線接點 89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/>
            <p:cNvCxnSpPr/>
            <p:nvPr/>
          </p:nvCxnSpPr>
          <p:spPr>
            <a:xfrm>
              <a:off x="4498334" y="219687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字方塊 91"/>
            <p:cNvSpPr txBox="1"/>
            <p:nvPr/>
          </p:nvSpPr>
          <p:spPr>
            <a:xfrm>
              <a:off x="4557459" y="21738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線接點 92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93"/>
          <p:cNvGrpSpPr/>
          <p:nvPr/>
        </p:nvGrpSpPr>
        <p:grpSpPr>
          <a:xfrm>
            <a:off x="6513298" y="4715847"/>
            <a:ext cx="1787398" cy="369337"/>
            <a:chOff x="1736146" y="3069106"/>
            <a:chExt cx="1787398" cy="369337"/>
          </a:xfrm>
        </p:grpSpPr>
        <p:grpSp>
          <p:nvGrpSpPr>
            <p:cNvPr id="95" name="群組 94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接點 97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接點 98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字方塊 99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文字方塊 100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2" name="直線接點 101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線接點 102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接點 103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6" name="直線接點 95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5" name="直線單箭頭接點 104"/>
          <p:cNvCxnSpPr>
            <a:endCxn id="97" idx="0"/>
          </p:cNvCxnSpPr>
          <p:nvPr/>
        </p:nvCxnSpPr>
        <p:spPr>
          <a:xfrm>
            <a:off x="7387884" y="3804874"/>
            <a:ext cx="19113" cy="93461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73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  <p:bldP spid="28" grpId="1" animBg="1"/>
      <p:bldP spid="40" grpId="0" animBg="1"/>
      <p:bldP spid="40" grpId="1" animBg="1"/>
      <p:bldP spid="41" grpId="0" animBg="1"/>
      <p:bldP spid="41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m</a:t>
            </a:r>
            <a:r>
              <a:rPr lang="en-US" altLang="zh-TW" dirty="0"/>
              <a:t>-way </a:t>
            </a:r>
            <a:r>
              <a:rPr lang="zh-TW" altLang="en-US" dirty="0"/>
              <a:t>搜尋樹的刪除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狀況一：刪除樹葉節點上的鍵值，直接刪除</a:t>
            </a:r>
            <a:endParaRPr lang="en-US" altLang="zh-TW" dirty="0"/>
          </a:p>
          <a:p>
            <a:r>
              <a:rPr lang="zh-TW" altLang="en-US" dirty="0"/>
              <a:t>狀況二：刪除非樹葉節點上的鍵值，以左子樹中的最大值取代</a:t>
            </a:r>
            <a:r>
              <a:rPr lang="en-US" altLang="zh-TW" dirty="0"/>
              <a:t>(</a:t>
            </a:r>
            <a:r>
              <a:rPr lang="zh-TW" altLang="en-US" dirty="0"/>
              <a:t>或右子樹中的最小值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grpSp>
        <p:nvGrpSpPr>
          <p:cNvPr id="17" name="群組 16"/>
          <p:cNvGrpSpPr/>
          <p:nvPr/>
        </p:nvGrpSpPr>
        <p:grpSpPr>
          <a:xfrm>
            <a:off x="3531537" y="3341307"/>
            <a:ext cx="1787398" cy="375725"/>
            <a:chOff x="3328066" y="2167476"/>
            <a:chExt cx="1787398" cy="375725"/>
          </a:xfrm>
        </p:grpSpPr>
        <p:sp>
          <p:nvSpPr>
            <p:cNvPr id="18" name="矩形 17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" name="直線接點 18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3937989" y="216747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接點 22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>
              <a:off x="4498334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4557459" y="2173869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線接點 25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線單箭頭接點 41"/>
          <p:cNvCxnSpPr>
            <a:endCxn id="32" idx="0"/>
          </p:cNvCxnSpPr>
          <p:nvPr/>
        </p:nvCxnSpPr>
        <p:spPr>
          <a:xfrm>
            <a:off x="5206255" y="3697061"/>
            <a:ext cx="1986621" cy="63261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3806842" y="4291901"/>
            <a:ext cx="1787398" cy="369337"/>
            <a:chOff x="1736146" y="3069106"/>
            <a:chExt cx="1787398" cy="369337"/>
          </a:xfrm>
        </p:grpSpPr>
        <p:grpSp>
          <p:nvGrpSpPr>
            <p:cNvPr id="48" name="群組 47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1" name="直線接點 50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字方塊 52"/>
              <p:cNvSpPr txBox="1"/>
              <p:nvPr/>
            </p:nvSpPr>
            <p:spPr>
              <a:xfrm>
                <a:off x="3937989" y="216747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字方塊 53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5" name="直線接點 54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直線接點 48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線單箭頭接點 57"/>
          <p:cNvCxnSpPr>
            <a:endCxn id="50" idx="0"/>
          </p:cNvCxnSpPr>
          <p:nvPr/>
        </p:nvCxnSpPr>
        <p:spPr>
          <a:xfrm>
            <a:off x="4605738" y="3689742"/>
            <a:ext cx="94803" cy="62580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82" idx="0"/>
          </p:cNvCxnSpPr>
          <p:nvPr/>
        </p:nvCxnSpPr>
        <p:spPr>
          <a:xfrm flipH="1">
            <a:off x="1795782" y="3711796"/>
            <a:ext cx="2198405" cy="61093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群組 80"/>
          <p:cNvGrpSpPr/>
          <p:nvPr/>
        </p:nvGrpSpPr>
        <p:grpSpPr>
          <a:xfrm>
            <a:off x="902083" y="4299089"/>
            <a:ext cx="1787398" cy="375725"/>
            <a:chOff x="3328066" y="2167476"/>
            <a:chExt cx="1787398" cy="375725"/>
          </a:xfrm>
        </p:grpSpPr>
        <p:sp>
          <p:nvSpPr>
            <p:cNvPr id="82" name="矩形 81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3" name="直線接點 82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字方塊 84"/>
            <p:cNvSpPr txBox="1"/>
            <p:nvPr/>
          </p:nvSpPr>
          <p:spPr>
            <a:xfrm>
              <a:off x="3937989" y="216747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7" name="直線接點 86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87"/>
            <p:cNvCxnSpPr/>
            <p:nvPr/>
          </p:nvCxnSpPr>
          <p:spPr>
            <a:xfrm>
              <a:off x="4498334" y="219687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字方塊 88"/>
            <p:cNvSpPr txBox="1"/>
            <p:nvPr/>
          </p:nvSpPr>
          <p:spPr>
            <a:xfrm>
              <a:off x="4557459" y="21738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線接點 89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群組 90"/>
          <p:cNvGrpSpPr/>
          <p:nvPr/>
        </p:nvGrpSpPr>
        <p:grpSpPr>
          <a:xfrm>
            <a:off x="6513298" y="5579943"/>
            <a:ext cx="1787398" cy="369337"/>
            <a:chOff x="1736146" y="3069106"/>
            <a:chExt cx="1787398" cy="369337"/>
          </a:xfrm>
        </p:grpSpPr>
        <p:grpSp>
          <p:nvGrpSpPr>
            <p:cNvPr id="92" name="群組 91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5" name="直線接點 94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文字方塊 96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文字方塊 97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9" name="直線接點 98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接點 99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接點 100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直線接點 92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直線單箭頭接點 101"/>
          <p:cNvCxnSpPr>
            <a:endCxn id="94" idx="0"/>
          </p:cNvCxnSpPr>
          <p:nvPr/>
        </p:nvCxnSpPr>
        <p:spPr>
          <a:xfrm>
            <a:off x="7387884" y="4668970"/>
            <a:ext cx="19113" cy="93461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群組 105"/>
          <p:cNvGrpSpPr/>
          <p:nvPr/>
        </p:nvGrpSpPr>
        <p:grpSpPr>
          <a:xfrm>
            <a:off x="6299177" y="4306030"/>
            <a:ext cx="1787398" cy="374374"/>
            <a:chOff x="6299177" y="3441934"/>
            <a:chExt cx="1787398" cy="374374"/>
          </a:xfrm>
        </p:grpSpPr>
        <p:grpSp>
          <p:nvGrpSpPr>
            <p:cNvPr id="30" name="群組 29"/>
            <p:cNvGrpSpPr/>
            <p:nvPr/>
          </p:nvGrpSpPr>
          <p:grpSpPr>
            <a:xfrm>
              <a:off x="6299177" y="3441934"/>
              <a:ext cx="1787398" cy="369337"/>
              <a:chOff x="3328066" y="2167476"/>
              <a:chExt cx="1787398" cy="36933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3" name="直線接點 32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字方塊 34"/>
              <p:cNvSpPr txBox="1"/>
              <p:nvPr/>
            </p:nvSpPr>
            <p:spPr>
              <a:xfrm>
                <a:off x="3937989" y="216747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字方塊 35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7" name="直線接點 36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文字方塊 104"/>
            <p:cNvSpPr txBox="1"/>
            <p:nvPr/>
          </p:nvSpPr>
          <p:spPr>
            <a:xfrm>
              <a:off x="7468869" y="344697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7" name="文字方塊 106"/>
          <p:cNvSpPr txBox="1"/>
          <p:nvPr/>
        </p:nvSpPr>
        <p:spPr>
          <a:xfrm>
            <a:off x="1981200" y="2708920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108" name="群組 107"/>
          <p:cNvGrpSpPr/>
          <p:nvPr/>
        </p:nvGrpSpPr>
        <p:grpSpPr>
          <a:xfrm>
            <a:off x="899592" y="4299679"/>
            <a:ext cx="1787398" cy="369337"/>
            <a:chOff x="1736146" y="3069106"/>
            <a:chExt cx="1787398" cy="369337"/>
          </a:xfrm>
        </p:grpSpPr>
        <p:grpSp>
          <p:nvGrpSpPr>
            <p:cNvPr id="109" name="群組 108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111" name="矩形 110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2" name="直線接點 111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接點 112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文字方塊 113"/>
              <p:cNvSpPr txBox="1"/>
              <p:nvPr/>
            </p:nvSpPr>
            <p:spPr>
              <a:xfrm>
                <a:off x="3937989" y="216747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文字方塊 114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6" name="直線接點 115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接點 116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接點 117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0" name="直線接點 109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字方塊 118"/>
          <p:cNvSpPr txBox="1"/>
          <p:nvPr/>
        </p:nvSpPr>
        <p:spPr>
          <a:xfrm>
            <a:off x="1981199" y="2706642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8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131" name="群組 130"/>
          <p:cNvGrpSpPr/>
          <p:nvPr/>
        </p:nvGrpSpPr>
        <p:grpSpPr>
          <a:xfrm>
            <a:off x="6299177" y="4305482"/>
            <a:ext cx="1787398" cy="375725"/>
            <a:chOff x="3328066" y="2167476"/>
            <a:chExt cx="1787398" cy="375725"/>
          </a:xfrm>
        </p:grpSpPr>
        <p:sp>
          <p:nvSpPr>
            <p:cNvPr id="132" name="矩形 131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3" name="直線接點 132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接點 133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文字方塊 134"/>
            <p:cNvSpPr txBox="1"/>
            <p:nvPr/>
          </p:nvSpPr>
          <p:spPr>
            <a:xfrm>
              <a:off x="3880281" y="216747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文字方塊 135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7" name="直線接點 136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接點 137"/>
            <p:cNvCxnSpPr/>
            <p:nvPr/>
          </p:nvCxnSpPr>
          <p:spPr>
            <a:xfrm>
              <a:off x="4498334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字方塊 138"/>
            <p:cNvSpPr txBox="1"/>
            <p:nvPr/>
          </p:nvSpPr>
          <p:spPr>
            <a:xfrm>
              <a:off x="4499751" y="217386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0" name="直線接點 139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文字方塊 140"/>
          <p:cNvSpPr txBox="1"/>
          <p:nvPr/>
        </p:nvSpPr>
        <p:spPr>
          <a:xfrm>
            <a:off x="1982423" y="270461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12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142" name="群組 141"/>
          <p:cNvGrpSpPr/>
          <p:nvPr/>
        </p:nvGrpSpPr>
        <p:grpSpPr>
          <a:xfrm>
            <a:off x="6302863" y="4309574"/>
            <a:ext cx="1787398" cy="369337"/>
            <a:chOff x="1736146" y="3069106"/>
            <a:chExt cx="1787398" cy="369337"/>
          </a:xfrm>
        </p:grpSpPr>
        <p:grpSp>
          <p:nvGrpSpPr>
            <p:cNvPr id="143" name="群組 142"/>
            <p:cNvGrpSpPr/>
            <p:nvPr/>
          </p:nvGrpSpPr>
          <p:grpSpPr>
            <a:xfrm>
              <a:off x="1736146" y="3069106"/>
              <a:ext cx="1787398" cy="369337"/>
              <a:chOff x="3328066" y="2167476"/>
              <a:chExt cx="1787398" cy="369337"/>
            </a:xfrm>
          </p:grpSpPr>
          <p:sp>
            <p:nvSpPr>
              <p:cNvPr id="145" name="矩形 144"/>
              <p:cNvSpPr/>
              <p:nvPr/>
            </p:nvSpPr>
            <p:spPr>
              <a:xfrm>
                <a:off x="3328066" y="2191118"/>
                <a:ext cx="1787398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6" name="直線接點 145"/>
              <p:cNvCxnSpPr/>
              <p:nvPr/>
            </p:nvCxnSpPr>
            <p:spPr>
              <a:xfrm>
                <a:off x="3880130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接點 146"/>
              <p:cNvCxnSpPr/>
              <p:nvPr/>
            </p:nvCxnSpPr>
            <p:spPr>
              <a:xfrm>
                <a:off x="4302804" y="2191118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文字方塊 147"/>
              <p:cNvSpPr txBox="1"/>
              <p:nvPr/>
            </p:nvSpPr>
            <p:spPr>
              <a:xfrm>
                <a:off x="3880281" y="21674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文字方塊 148"/>
              <p:cNvSpPr txBox="1"/>
              <p:nvPr/>
            </p:nvSpPr>
            <p:spPr>
              <a:xfrm>
                <a:off x="3359896" y="2167481"/>
                <a:ext cx="300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0" name="直線接點 149"/>
              <p:cNvCxnSpPr/>
              <p:nvPr/>
            </p:nvCxnSpPr>
            <p:spPr>
              <a:xfrm>
                <a:off x="3696116" y="2188250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/>
              <p:cNvCxnSpPr/>
              <p:nvPr/>
            </p:nvCxnSpPr>
            <p:spPr>
              <a:xfrm>
                <a:off x="4498334" y="219687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線接點 151"/>
              <p:cNvCxnSpPr/>
              <p:nvPr/>
            </p:nvCxnSpPr>
            <p:spPr>
              <a:xfrm>
                <a:off x="4915250" y="219175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4" name="直線接點 143"/>
            <p:cNvCxnSpPr/>
            <p:nvPr/>
          </p:nvCxnSpPr>
          <p:spPr>
            <a:xfrm flipV="1">
              <a:off x="2906414" y="3098506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文字方塊 152"/>
          <p:cNvSpPr txBox="1"/>
          <p:nvPr/>
        </p:nvSpPr>
        <p:spPr>
          <a:xfrm>
            <a:off x="1988413" y="270233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154" name="群組 153"/>
          <p:cNvGrpSpPr/>
          <p:nvPr/>
        </p:nvGrpSpPr>
        <p:grpSpPr>
          <a:xfrm>
            <a:off x="3534687" y="3345468"/>
            <a:ext cx="1787398" cy="375725"/>
            <a:chOff x="3328066" y="2167476"/>
            <a:chExt cx="1787398" cy="375725"/>
          </a:xfrm>
        </p:grpSpPr>
        <p:sp>
          <p:nvSpPr>
            <p:cNvPr id="155" name="矩形 154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6" name="直線接點 155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接點 156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字方塊 157"/>
            <p:cNvSpPr txBox="1"/>
            <p:nvPr/>
          </p:nvSpPr>
          <p:spPr>
            <a:xfrm>
              <a:off x="3937989" y="216747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文字方塊 158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直線接點 159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接點 160"/>
            <p:cNvCxnSpPr/>
            <p:nvPr/>
          </p:nvCxnSpPr>
          <p:spPr>
            <a:xfrm>
              <a:off x="4498334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字方塊 161"/>
            <p:cNvSpPr txBox="1"/>
            <p:nvPr/>
          </p:nvSpPr>
          <p:spPr>
            <a:xfrm>
              <a:off x="4499751" y="217386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3" name="直線接點 162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文字方塊 163"/>
          <p:cNvSpPr txBox="1"/>
          <p:nvPr/>
        </p:nvSpPr>
        <p:spPr>
          <a:xfrm>
            <a:off x="1988413" y="270006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176" name="群組 175"/>
          <p:cNvGrpSpPr/>
          <p:nvPr/>
        </p:nvGrpSpPr>
        <p:grpSpPr>
          <a:xfrm>
            <a:off x="3531537" y="3342596"/>
            <a:ext cx="1787398" cy="375725"/>
            <a:chOff x="3328066" y="2167476"/>
            <a:chExt cx="1787398" cy="375725"/>
          </a:xfrm>
        </p:grpSpPr>
        <p:sp>
          <p:nvSpPr>
            <p:cNvPr id="177" name="矩形 176"/>
            <p:cNvSpPr/>
            <p:nvPr/>
          </p:nvSpPr>
          <p:spPr>
            <a:xfrm>
              <a:off x="3328066" y="2191118"/>
              <a:ext cx="1787398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8" name="直線接點 177"/>
            <p:cNvCxnSpPr/>
            <p:nvPr/>
          </p:nvCxnSpPr>
          <p:spPr>
            <a:xfrm>
              <a:off x="3880130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接點 178"/>
            <p:cNvCxnSpPr/>
            <p:nvPr/>
          </p:nvCxnSpPr>
          <p:spPr>
            <a:xfrm>
              <a:off x="4302804" y="2191118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文字方塊 179"/>
            <p:cNvSpPr txBox="1"/>
            <p:nvPr/>
          </p:nvSpPr>
          <p:spPr>
            <a:xfrm>
              <a:off x="3937989" y="216747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文字方塊 180"/>
            <p:cNvSpPr txBox="1"/>
            <p:nvPr/>
          </p:nvSpPr>
          <p:spPr>
            <a:xfrm>
              <a:off x="3359896" y="2167481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2" name="直線接點 181"/>
            <p:cNvCxnSpPr/>
            <p:nvPr/>
          </p:nvCxnSpPr>
          <p:spPr>
            <a:xfrm>
              <a:off x="3696116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線接點 182"/>
            <p:cNvCxnSpPr/>
            <p:nvPr/>
          </p:nvCxnSpPr>
          <p:spPr>
            <a:xfrm>
              <a:off x="4498334" y="2188250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文字方塊 183"/>
            <p:cNvSpPr txBox="1"/>
            <p:nvPr/>
          </p:nvSpPr>
          <p:spPr>
            <a:xfrm>
              <a:off x="4557459" y="21738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5" name="直線接點 184"/>
            <p:cNvCxnSpPr/>
            <p:nvPr/>
          </p:nvCxnSpPr>
          <p:spPr>
            <a:xfrm>
              <a:off x="4915250" y="2191757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319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7" grpId="1"/>
      <p:bldP spid="119" grpId="0"/>
      <p:bldP spid="119" grpId="1"/>
      <p:bldP spid="141" grpId="0"/>
      <p:bldP spid="141" grpId="1"/>
      <p:bldP spid="153" grpId="0"/>
      <p:bldP spid="153" grpId="1"/>
      <p:bldP spid="1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解決</a:t>
                </a:r>
                <a:r>
                  <a:rPr lang="en-US" altLang="zh-TW" i="1" dirty="0"/>
                  <a:t>m</a:t>
                </a:r>
                <a:r>
                  <a:rPr lang="zh-TW" altLang="en-US" dirty="0"/>
                  <a:t>元搜尋樹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高度不平衡</a:t>
                </a:r>
                <a:r>
                  <a:rPr lang="zh-TW" altLang="en-US" dirty="0"/>
                  <a:t>的問題</a:t>
                </a:r>
                <a:endParaRPr lang="en-US" altLang="zh-TW" dirty="0"/>
              </a:p>
              <a:p>
                <a:r>
                  <a:rPr lang="en-US" altLang="zh-TW" dirty="0"/>
                  <a:t>B</a:t>
                </a:r>
                <a:r>
                  <a:rPr lang="zh-TW" altLang="en-US" dirty="0"/>
                  <a:t> 樹：</a:t>
                </a:r>
                <a:r>
                  <a:rPr lang="en-US" altLang="zh-TW" dirty="0"/>
                  <a:t>Bayer</a:t>
                </a:r>
                <a:r>
                  <a:rPr lang="zh-TW" altLang="en-US" dirty="0"/>
                  <a:t>和</a:t>
                </a:r>
                <a:r>
                  <a:rPr lang="en-US" altLang="zh-TW" dirty="0" err="1"/>
                  <a:t>McCreight</a:t>
                </a:r>
                <a:r>
                  <a:rPr lang="zh-TW" altLang="en-US" dirty="0"/>
                  <a:t>所提出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每個節點至多有</a:t>
                </a:r>
                <a:r>
                  <a:rPr lang="en-US" altLang="zh-TW" i="1" dirty="0"/>
                  <a:t>m</a:t>
                </a:r>
                <a:r>
                  <a:rPr lang="zh-TW" altLang="en-US" dirty="0"/>
                  <a:t>個子樹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樹根至少有</a:t>
                </a:r>
                <a:r>
                  <a:rPr lang="en-US" altLang="zh-TW" dirty="0"/>
                  <a:t>2</a:t>
                </a:r>
                <a:r>
                  <a:rPr lang="zh-TW" altLang="en-US" dirty="0"/>
                  <a:t>個子樹，除非也是樹葉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內部節點至少有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zh-TW" altLang="en-US" dirty="0"/>
                  <a:t>子樹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樹根除外</a:t>
                </a:r>
                <a:r>
                  <a:rPr lang="en-US" altLang="zh-TW" dirty="0"/>
                  <a:t>)</a:t>
                </a:r>
              </a:p>
              <a:p>
                <a:pPr lvl="1"/>
                <a:r>
                  <a:rPr lang="zh-TW" altLang="en-US" dirty="0"/>
                  <a:t>樹葉都在同一階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樹根至任一個樹葉所經過的路徑長度均相同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9</a:t>
            </a:fld>
            <a:endParaRPr lang="en-US" altLang="zh-TW" dirty="0"/>
          </a:p>
        </p:txBody>
      </p:sp>
      <p:sp>
        <p:nvSpPr>
          <p:cNvPr id="7" name="文字方塊 6"/>
          <p:cNvSpPr txBox="1"/>
          <p:nvPr/>
        </p:nvSpPr>
        <p:spPr>
          <a:xfrm>
            <a:off x="5545164" y="1906210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元的意義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545164" y="2326868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使節點提早分支，避免歪斜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545164" y="2750077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每個節點至少填滿一半以上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5545164" y="315018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保持高度的平衡</a:t>
            </a:r>
          </a:p>
        </p:txBody>
      </p:sp>
      <p:grpSp>
        <p:nvGrpSpPr>
          <p:cNvPr id="85" name="群組 84"/>
          <p:cNvGrpSpPr/>
          <p:nvPr/>
        </p:nvGrpSpPr>
        <p:grpSpPr>
          <a:xfrm>
            <a:off x="185324" y="4185712"/>
            <a:ext cx="3316474" cy="2051600"/>
            <a:chOff x="185324" y="4185712"/>
            <a:chExt cx="3316474" cy="2051600"/>
          </a:xfrm>
        </p:grpSpPr>
        <p:grpSp>
          <p:nvGrpSpPr>
            <p:cNvPr id="13" name="群組 12"/>
            <p:cNvGrpSpPr/>
            <p:nvPr/>
          </p:nvGrpSpPr>
          <p:grpSpPr>
            <a:xfrm>
              <a:off x="1409460" y="5031512"/>
              <a:ext cx="864096" cy="360000"/>
              <a:chOff x="1549152" y="4221088"/>
              <a:chExt cx="864096" cy="360000"/>
            </a:xfrm>
          </p:grpSpPr>
          <p:sp>
            <p:nvSpPr>
              <p:cNvPr id="11" name="橢圓 10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20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" name="直線接點 11"/>
              <p:cNvCxnSpPr>
                <a:stCxn id="11" idx="0"/>
                <a:endCxn id="11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群組 15"/>
            <p:cNvGrpSpPr/>
            <p:nvPr/>
          </p:nvGrpSpPr>
          <p:grpSpPr>
            <a:xfrm>
              <a:off x="185324" y="5031512"/>
              <a:ext cx="864096" cy="360000"/>
              <a:chOff x="1043608" y="4869200"/>
              <a:chExt cx="864096" cy="360000"/>
            </a:xfrm>
          </p:grpSpPr>
          <p:sp>
            <p:nvSpPr>
              <p:cNvPr id="14" name="橢圓 13"/>
              <p:cNvSpPr/>
              <p:nvPr/>
            </p:nvSpPr>
            <p:spPr>
              <a:xfrm>
                <a:off x="1043608" y="4869200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</a:rPr>
                  <a:t>6</a:t>
                </a:r>
                <a:r>
                  <a:rPr lang="zh-TW" alt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b="1" dirty="0">
                    <a:solidFill>
                      <a:schemeClr val="tx1"/>
                    </a:solidFill>
                  </a:rPr>
                  <a:t>   8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直線接點 14"/>
              <p:cNvCxnSpPr>
                <a:stCxn id="14" idx="0"/>
                <a:endCxn id="14" idx="4"/>
              </p:cNvCxnSpPr>
              <p:nvPr/>
            </p:nvCxnSpPr>
            <p:spPr>
              <a:xfrm>
                <a:off x="1475656" y="486920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群組 16"/>
            <p:cNvGrpSpPr/>
            <p:nvPr/>
          </p:nvGrpSpPr>
          <p:grpSpPr>
            <a:xfrm>
              <a:off x="1409230" y="4185712"/>
              <a:ext cx="864096" cy="360000"/>
              <a:chOff x="1043608" y="4869200"/>
              <a:chExt cx="864096" cy="360000"/>
            </a:xfrm>
          </p:grpSpPr>
          <p:sp>
            <p:nvSpPr>
              <p:cNvPr id="18" name="橢圓 17"/>
              <p:cNvSpPr/>
              <p:nvPr/>
            </p:nvSpPr>
            <p:spPr>
              <a:xfrm>
                <a:off x="1043608" y="4869200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</a:rPr>
                  <a:t>10  30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直線接點 18"/>
              <p:cNvCxnSpPr>
                <a:stCxn id="18" idx="0"/>
                <a:endCxn id="18" idx="4"/>
              </p:cNvCxnSpPr>
              <p:nvPr/>
            </p:nvCxnSpPr>
            <p:spPr>
              <a:xfrm>
                <a:off x="1475656" y="486920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群組 19"/>
            <p:cNvGrpSpPr/>
            <p:nvPr/>
          </p:nvGrpSpPr>
          <p:grpSpPr>
            <a:xfrm>
              <a:off x="2637702" y="5031512"/>
              <a:ext cx="864096" cy="360000"/>
              <a:chOff x="1043608" y="4869200"/>
              <a:chExt cx="864096" cy="360000"/>
            </a:xfrm>
          </p:grpSpPr>
          <p:sp>
            <p:nvSpPr>
              <p:cNvPr id="21" name="橢圓 20"/>
              <p:cNvSpPr/>
              <p:nvPr/>
            </p:nvSpPr>
            <p:spPr>
              <a:xfrm>
                <a:off x="1043608" y="4869200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</a:rPr>
                  <a:t>50  70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直線接點 21"/>
              <p:cNvCxnSpPr>
                <a:stCxn id="21" idx="0"/>
                <a:endCxn id="21" idx="4"/>
              </p:cNvCxnSpPr>
              <p:nvPr/>
            </p:nvCxnSpPr>
            <p:spPr>
              <a:xfrm>
                <a:off x="1475656" y="486920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群組 22"/>
            <p:cNvGrpSpPr/>
            <p:nvPr/>
          </p:nvGrpSpPr>
          <p:grpSpPr>
            <a:xfrm>
              <a:off x="2129540" y="5877312"/>
              <a:ext cx="864096" cy="360000"/>
              <a:chOff x="1549152" y="4221088"/>
              <a:chExt cx="864096" cy="360000"/>
            </a:xfrm>
          </p:grpSpPr>
          <p:sp>
            <p:nvSpPr>
              <p:cNvPr id="24" name="橢圓 23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40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" name="直線接點 24"/>
              <p:cNvCxnSpPr>
                <a:stCxn id="24" idx="0"/>
                <a:endCxn id="24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直線接點 25"/>
            <p:cNvCxnSpPr>
              <a:stCxn id="18" idx="3"/>
              <a:endCxn id="14" idx="0"/>
            </p:cNvCxnSpPr>
            <p:nvPr/>
          </p:nvCxnSpPr>
          <p:spPr>
            <a:xfrm flipH="1">
              <a:off x="617372" y="4492991"/>
              <a:ext cx="918402" cy="538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18" idx="4"/>
              <a:endCxn id="11" idx="0"/>
            </p:cNvCxnSpPr>
            <p:nvPr/>
          </p:nvCxnSpPr>
          <p:spPr>
            <a:xfrm>
              <a:off x="1841278" y="4545712"/>
              <a:ext cx="230" cy="485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stCxn id="18" idx="5"/>
              <a:endCxn id="21" idx="0"/>
            </p:cNvCxnSpPr>
            <p:nvPr/>
          </p:nvCxnSpPr>
          <p:spPr>
            <a:xfrm>
              <a:off x="2146782" y="4492991"/>
              <a:ext cx="922968" cy="538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21" idx="3"/>
              <a:endCxn id="24" idx="0"/>
            </p:cNvCxnSpPr>
            <p:nvPr/>
          </p:nvCxnSpPr>
          <p:spPr>
            <a:xfrm flipH="1">
              <a:off x="2561588" y="5338791"/>
              <a:ext cx="202658" cy="538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4068623" y="4189448"/>
            <a:ext cx="4755896" cy="2047864"/>
            <a:chOff x="4068623" y="4189448"/>
            <a:chExt cx="4755896" cy="2047864"/>
          </a:xfrm>
        </p:grpSpPr>
        <p:grpSp>
          <p:nvGrpSpPr>
            <p:cNvPr id="39" name="群組 38"/>
            <p:cNvGrpSpPr/>
            <p:nvPr/>
          </p:nvGrpSpPr>
          <p:grpSpPr>
            <a:xfrm>
              <a:off x="4068623" y="5877312"/>
              <a:ext cx="864096" cy="360000"/>
              <a:chOff x="1549152" y="4221088"/>
              <a:chExt cx="864096" cy="360000"/>
            </a:xfrm>
          </p:grpSpPr>
          <p:sp>
            <p:nvSpPr>
              <p:cNvPr id="40" name="橢圓 39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 6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" name="直線接點 40"/>
              <p:cNvCxnSpPr>
                <a:stCxn id="40" idx="0"/>
                <a:endCxn id="40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群組 41"/>
            <p:cNvGrpSpPr/>
            <p:nvPr/>
          </p:nvGrpSpPr>
          <p:grpSpPr>
            <a:xfrm>
              <a:off x="5038734" y="5877312"/>
              <a:ext cx="864096" cy="360000"/>
              <a:chOff x="1043608" y="4869200"/>
              <a:chExt cx="864096" cy="360000"/>
            </a:xfrm>
          </p:grpSpPr>
          <p:sp>
            <p:nvSpPr>
              <p:cNvPr id="43" name="橢圓 42"/>
              <p:cNvSpPr/>
              <p:nvPr/>
            </p:nvSpPr>
            <p:spPr>
              <a:xfrm>
                <a:off x="1043608" y="4869200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</a:rPr>
                  <a:t>10  12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4" name="直線接點 43"/>
              <p:cNvCxnSpPr>
                <a:stCxn id="43" idx="0"/>
                <a:endCxn id="43" idx="4"/>
              </p:cNvCxnSpPr>
              <p:nvPr/>
            </p:nvCxnSpPr>
            <p:spPr>
              <a:xfrm>
                <a:off x="1475656" y="486920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群組 44"/>
            <p:cNvGrpSpPr/>
            <p:nvPr/>
          </p:nvGrpSpPr>
          <p:grpSpPr>
            <a:xfrm>
              <a:off x="6007706" y="5877312"/>
              <a:ext cx="864096" cy="360000"/>
              <a:chOff x="1549152" y="4221088"/>
              <a:chExt cx="864096" cy="360000"/>
            </a:xfrm>
          </p:grpSpPr>
          <p:sp>
            <p:nvSpPr>
              <p:cNvPr id="46" name="橢圓 45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20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7" name="直線接點 46"/>
              <p:cNvCxnSpPr>
                <a:stCxn id="46" idx="0"/>
                <a:endCxn id="46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群組 47"/>
            <p:cNvGrpSpPr/>
            <p:nvPr/>
          </p:nvGrpSpPr>
          <p:grpSpPr>
            <a:xfrm>
              <a:off x="6948264" y="5877312"/>
              <a:ext cx="864096" cy="360000"/>
              <a:chOff x="1549152" y="4221088"/>
              <a:chExt cx="864096" cy="360000"/>
            </a:xfrm>
          </p:grpSpPr>
          <p:sp>
            <p:nvSpPr>
              <p:cNvPr id="49" name="橢圓 48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40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0" name="直線接點 49"/>
              <p:cNvCxnSpPr>
                <a:stCxn id="49" idx="0"/>
                <a:endCxn id="49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群組 50"/>
            <p:cNvGrpSpPr/>
            <p:nvPr/>
          </p:nvGrpSpPr>
          <p:grpSpPr>
            <a:xfrm>
              <a:off x="7955931" y="5877312"/>
              <a:ext cx="864096" cy="360000"/>
              <a:chOff x="1549152" y="4221088"/>
              <a:chExt cx="864096" cy="360000"/>
            </a:xfrm>
          </p:grpSpPr>
          <p:sp>
            <p:nvSpPr>
              <p:cNvPr id="52" name="橢圓 51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70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3" name="直線接點 52"/>
              <p:cNvCxnSpPr>
                <a:stCxn id="52" idx="0"/>
                <a:endCxn id="52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群組 53"/>
            <p:cNvGrpSpPr/>
            <p:nvPr/>
          </p:nvGrpSpPr>
          <p:grpSpPr>
            <a:xfrm>
              <a:off x="5036052" y="5031512"/>
              <a:ext cx="864096" cy="360000"/>
              <a:chOff x="1043608" y="4869200"/>
              <a:chExt cx="864096" cy="360000"/>
            </a:xfrm>
          </p:grpSpPr>
          <p:sp>
            <p:nvSpPr>
              <p:cNvPr id="55" name="橢圓 54"/>
              <p:cNvSpPr/>
              <p:nvPr/>
            </p:nvSpPr>
            <p:spPr>
              <a:xfrm>
                <a:off x="1043608" y="4869200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</a:rPr>
                  <a:t> 8  15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6" name="直線接點 55"/>
              <p:cNvCxnSpPr>
                <a:stCxn id="55" idx="0"/>
                <a:endCxn id="55" idx="4"/>
              </p:cNvCxnSpPr>
              <p:nvPr/>
            </p:nvCxnSpPr>
            <p:spPr>
              <a:xfrm>
                <a:off x="1475656" y="486920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群組 56"/>
            <p:cNvGrpSpPr/>
            <p:nvPr/>
          </p:nvGrpSpPr>
          <p:grpSpPr>
            <a:xfrm>
              <a:off x="7960423" y="5031512"/>
              <a:ext cx="864096" cy="360000"/>
              <a:chOff x="1549152" y="4221088"/>
              <a:chExt cx="864096" cy="360000"/>
            </a:xfrm>
          </p:grpSpPr>
          <p:sp>
            <p:nvSpPr>
              <p:cNvPr id="58" name="橢圓 57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50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9" name="直線接點 58"/>
              <p:cNvCxnSpPr>
                <a:stCxn id="58" idx="0"/>
                <a:endCxn id="58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群組 59"/>
            <p:cNvGrpSpPr/>
            <p:nvPr/>
          </p:nvGrpSpPr>
          <p:grpSpPr>
            <a:xfrm>
              <a:off x="7951812" y="4189448"/>
              <a:ext cx="864096" cy="360000"/>
              <a:chOff x="1549152" y="4221088"/>
              <a:chExt cx="864096" cy="360000"/>
            </a:xfrm>
          </p:grpSpPr>
          <p:sp>
            <p:nvSpPr>
              <p:cNvPr id="61" name="橢圓 60"/>
              <p:cNvSpPr/>
              <p:nvPr/>
            </p:nvSpPr>
            <p:spPr>
              <a:xfrm>
                <a:off x="1549152" y="4221088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30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2" name="直線接點 61"/>
              <p:cNvCxnSpPr>
                <a:stCxn id="61" idx="0"/>
                <a:endCxn id="61" idx="4"/>
              </p:cNvCxnSpPr>
              <p:nvPr/>
            </p:nvCxnSpPr>
            <p:spPr>
              <a:xfrm>
                <a:off x="1981200" y="4221088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直線接點 62"/>
            <p:cNvCxnSpPr>
              <a:stCxn id="61" idx="3"/>
              <a:endCxn id="55" idx="0"/>
            </p:cNvCxnSpPr>
            <p:nvPr/>
          </p:nvCxnSpPr>
          <p:spPr>
            <a:xfrm flipH="1">
              <a:off x="5468100" y="4496727"/>
              <a:ext cx="2610256" cy="53478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>
              <a:stCxn id="61" idx="4"/>
              <a:endCxn id="58" idx="0"/>
            </p:cNvCxnSpPr>
            <p:nvPr/>
          </p:nvCxnSpPr>
          <p:spPr>
            <a:xfrm>
              <a:off x="8383860" y="4549448"/>
              <a:ext cx="8611" cy="4820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>
              <a:stCxn id="55" idx="4"/>
              <a:endCxn id="43" idx="0"/>
            </p:cNvCxnSpPr>
            <p:nvPr/>
          </p:nvCxnSpPr>
          <p:spPr>
            <a:xfrm>
              <a:off x="5468100" y="5391512"/>
              <a:ext cx="2682" cy="485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>
              <a:stCxn id="55" idx="5"/>
              <a:endCxn id="46" idx="0"/>
            </p:cNvCxnSpPr>
            <p:nvPr/>
          </p:nvCxnSpPr>
          <p:spPr>
            <a:xfrm>
              <a:off x="5773604" y="5338791"/>
              <a:ext cx="666150" cy="538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>
              <a:stCxn id="55" idx="3"/>
              <a:endCxn id="40" idx="0"/>
            </p:cNvCxnSpPr>
            <p:nvPr/>
          </p:nvCxnSpPr>
          <p:spPr>
            <a:xfrm flipH="1">
              <a:off x="4500671" y="5338791"/>
              <a:ext cx="661925" cy="538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>
              <a:stCxn id="58" idx="3"/>
              <a:endCxn id="49" idx="0"/>
            </p:cNvCxnSpPr>
            <p:nvPr/>
          </p:nvCxnSpPr>
          <p:spPr>
            <a:xfrm flipH="1">
              <a:off x="7380312" y="5338791"/>
              <a:ext cx="706655" cy="5385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/>
            <p:cNvCxnSpPr>
              <a:stCxn id="58" idx="4"/>
              <a:endCxn id="52" idx="0"/>
            </p:cNvCxnSpPr>
            <p:nvPr/>
          </p:nvCxnSpPr>
          <p:spPr>
            <a:xfrm flipH="1">
              <a:off x="8387979" y="5391512"/>
              <a:ext cx="4492" cy="485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字方塊 86"/>
          <p:cNvSpPr txBox="1"/>
          <p:nvPr/>
        </p:nvSpPr>
        <p:spPr>
          <a:xfrm>
            <a:off x="107504" y="585725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樹葉不在同一階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24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8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B-tree of order 3</a:t>
            </a:r>
            <a:r>
              <a:rPr lang="zh-TW" altLang="en-US" dirty="0"/>
              <a:t>：除了樹葉節點外，每一節點的分支度為</a:t>
            </a:r>
            <a:r>
              <a:rPr lang="en-US" altLang="zh-TW" dirty="0"/>
              <a:t>2</a:t>
            </a:r>
            <a:r>
              <a:rPr lang="zh-TW" altLang="en-US" dirty="0"/>
              <a:t>或</a:t>
            </a:r>
            <a:r>
              <a:rPr lang="en-US" altLang="zh-TW" dirty="0"/>
              <a:t>3</a:t>
            </a:r>
          </a:p>
          <a:p>
            <a:pPr lvl="1"/>
            <a:r>
              <a:rPr lang="en-US" altLang="zh-TW" dirty="0"/>
              <a:t>2-3 tree</a:t>
            </a:r>
          </a:p>
          <a:p>
            <a:endParaRPr lang="en-US" altLang="zh-TW" dirty="0"/>
          </a:p>
          <a:p>
            <a:r>
              <a:rPr lang="en-US" altLang="zh-TW" dirty="0"/>
              <a:t>B-tree of order 4</a:t>
            </a:r>
            <a:r>
              <a:rPr lang="zh-TW" altLang="en-US" dirty="0"/>
              <a:t>：除了樹葉節點外，每一節點的分支度為</a:t>
            </a:r>
            <a:r>
              <a:rPr lang="en-US" altLang="zh-TW" dirty="0"/>
              <a:t>2</a:t>
            </a:r>
            <a:r>
              <a:rPr lang="zh-TW" altLang="en-US" dirty="0"/>
              <a:t>、</a:t>
            </a:r>
            <a:r>
              <a:rPr lang="en-US" altLang="zh-TW" dirty="0"/>
              <a:t>3</a:t>
            </a:r>
            <a:r>
              <a:rPr lang="zh-TW" altLang="en-US" dirty="0"/>
              <a:t>或</a:t>
            </a:r>
            <a:r>
              <a:rPr lang="en-US" altLang="zh-TW" dirty="0"/>
              <a:t>4</a:t>
            </a:r>
          </a:p>
          <a:p>
            <a:pPr lvl="1"/>
            <a:r>
              <a:rPr lang="en-US" altLang="zh-TW" dirty="0"/>
              <a:t>2-3-4 tree</a:t>
            </a:r>
          </a:p>
          <a:p>
            <a:endParaRPr lang="en-US" altLang="zh-TW" dirty="0"/>
          </a:p>
          <a:p>
            <a:r>
              <a:rPr lang="zh-TW" altLang="en-US" dirty="0"/>
              <a:t>二元搜尋樹</a:t>
            </a:r>
            <a:r>
              <a:rPr lang="en-US" altLang="zh-TW" dirty="0"/>
              <a:t>(binary</a:t>
            </a:r>
            <a:r>
              <a:rPr lang="zh-TW" altLang="en-US" dirty="0"/>
              <a:t> </a:t>
            </a:r>
            <a:r>
              <a:rPr lang="en-US" altLang="zh-TW" dirty="0"/>
              <a:t>search</a:t>
            </a:r>
            <a:r>
              <a:rPr lang="zh-TW" altLang="en-US" dirty="0"/>
              <a:t> </a:t>
            </a:r>
            <a:r>
              <a:rPr lang="en-US" altLang="zh-TW" dirty="0"/>
              <a:t>tree)</a:t>
            </a:r>
            <a:r>
              <a:rPr lang="zh-TW" altLang="en-US" dirty="0"/>
              <a:t>是</a:t>
            </a:r>
            <a:r>
              <a:rPr lang="en-US" altLang="zh-TW" dirty="0"/>
              <a:t>m-way</a:t>
            </a:r>
            <a:r>
              <a:rPr lang="zh-TW" altLang="en-US" dirty="0"/>
              <a:t>搜尋樹的一種</a:t>
            </a:r>
            <a:endParaRPr lang="en-US" altLang="zh-TW" dirty="0"/>
          </a:p>
          <a:p>
            <a:pPr lvl="1"/>
            <a:r>
              <a:rPr lang="en-US" altLang="zh-TW" i="1" dirty="0"/>
              <a:t>m</a:t>
            </a:r>
            <a:r>
              <a:rPr lang="en-US" altLang="zh-TW" dirty="0"/>
              <a:t> = 2</a:t>
            </a:r>
          </a:p>
          <a:p>
            <a:pPr lvl="1"/>
            <a:r>
              <a:rPr lang="zh-TW" altLang="en-US" dirty="0"/>
              <a:t>每一節點只有一個鍵值、兩個子樹指標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1244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 </a:t>
            </a:r>
            <a:r>
              <a:rPr lang="zh-TW" altLang="en-US" dirty="0"/>
              <a:t>的插入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zh-TW" altLang="en-US" dirty="0"/>
                  <a:t>找到第一個可插入點 </a:t>
                </a:r>
                <a:r>
                  <a:rPr lang="en-US" altLang="zh-TW" dirty="0"/>
                  <a:t>(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一定是樹葉</a:t>
                </a:r>
                <a:r>
                  <a:rPr lang="en-US" altLang="zh-TW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TW" altLang="en-US" dirty="0"/>
                  <a:t>此樹葉的資料欄位有空位，插入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適當順序</a:t>
                </a:r>
                <a:r>
                  <a:rPr lang="zh-TW" altLang="en-US" dirty="0"/>
                  <a:t>的欄位</a:t>
                </a:r>
                <a:endParaRPr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TW" altLang="en-US" dirty="0"/>
                  <a:t>此樹葉的資料欄位已經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額滿</a:t>
                </a:r>
                <a:endParaRPr lang="en-US" altLang="zh-TW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TW" altLang="en-US" dirty="0"/>
                  <a:t>進行節點分裂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分配資料至兩個樹葉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將中間資料</a:t>
                </a:r>
                <a:r>
                  <a:rPr lang="en-US" altLang="zh-TW" dirty="0"/>
                  <a:t>(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第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dirty="0"/>
                  <a:t>)</a:t>
                </a:r>
                <a:r>
                  <a:rPr lang="zh-TW" altLang="en-US" dirty="0"/>
                  <a:t>往上插入父節點</a:t>
                </a:r>
                <a:endParaRPr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TW" altLang="en-US" dirty="0"/>
                  <a:t>插入父節點過程同步驟</a:t>
                </a:r>
                <a:r>
                  <a:rPr lang="en-US" altLang="zh-TW" dirty="0"/>
                  <a:t>2~3</a:t>
                </a:r>
              </a:p>
              <a:p>
                <a:endParaRPr lang="en-US" altLang="zh-TW" dirty="0"/>
              </a:p>
              <a:p>
                <a:r>
                  <a:rPr lang="zh-TW" altLang="en-US" dirty="0"/>
                  <a:t>每次插入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最多</a:t>
                </a:r>
                <a:r>
                  <a:rPr lang="zh-TW" altLang="en-US" dirty="0"/>
                  <a:t>可能使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樹高度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增加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15"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5268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的插入 </a:t>
            </a:r>
            <a:r>
              <a:rPr lang="en-US" altLang="zh-TW" dirty="0"/>
              <a:t>(1/1)</a:t>
            </a:r>
            <a:endParaRPr lang="zh-TW" altLang="en-US" dirty="0"/>
          </a:p>
        </p:txBody>
      </p:sp>
      <p:graphicFrame>
        <p:nvGraphicFramePr>
          <p:cNvPr id="27" name="內容版面配置區 26"/>
          <p:cNvGraphicFramePr>
            <a:graphicFrameLocks noGrp="1"/>
          </p:cNvGraphicFramePr>
          <p:nvPr>
            <p:ph idx="1"/>
          </p:nvPr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12</a:t>
            </a:fld>
            <a:endParaRPr lang="en-US" altLang="zh-TW" dirty="0"/>
          </a:p>
        </p:txBody>
      </p:sp>
      <p:graphicFrame>
        <p:nvGraphicFramePr>
          <p:cNvPr id="34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內容版面配置區 26"/>
          <p:cNvGraphicFramePr>
            <a:graphicFrameLocks/>
          </p:cNvGraphicFramePr>
          <p:nvPr/>
        </p:nvGraphicFramePr>
        <p:xfrm>
          <a:off x="3491340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內容版面配置區 26"/>
          <p:cNvGraphicFramePr>
            <a:graphicFrameLocks/>
          </p:cNvGraphicFramePr>
          <p:nvPr/>
        </p:nvGraphicFramePr>
        <p:xfrm>
          <a:off x="4607599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67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內容版面配置區 26"/>
          <p:cNvGraphicFramePr>
            <a:graphicFrameLocks/>
          </p:cNvGraphicFramePr>
          <p:nvPr/>
        </p:nvGraphicFramePr>
        <p:xfrm>
          <a:off x="5723858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內容版面配置區 26"/>
          <p:cNvGraphicFramePr>
            <a:graphicFrameLocks/>
          </p:cNvGraphicFramePr>
          <p:nvPr/>
        </p:nvGraphicFramePr>
        <p:xfrm>
          <a:off x="6840117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直線接點 44"/>
          <p:cNvCxnSpPr>
            <a:stCxn id="27" idx="0"/>
            <a:endCxn id="41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34" idx="0"/>
            <a:endCxn id="41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35" idx="0"/>
            <a:endCxn id="41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1" idx="0"/>
            <a:endCxn id="43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42" idx="0"/>
            <a:endCxn id="43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42" idx="2"/>
            <a:endCxn id="37" idx="0"/>
          </p:cNvCxnSpPr>
          <p:nvPr/>
        </p:nvCxnSpPr>
        <p:spPr>
          <a:xfrm flipH="1">
            <a:off x="4031400" y="4337546"/>
            <a:ext cx="2227906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42" idx="2"/>
            <a:endCxn id="38" idx="0"/>
          </p:cNvCxnSpPr>
          <p:nvPr/>
        </p:nvCxnSpPr>
        <p:spPr>
          <a:xfrm flipH="1">
            <a:off x="5147659" y="4337546"/>
            <a:ext cx="1111647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>
            <a:stCxn id="42" idx="2"/>
            <a:endCxn id="39" idx="0"/>
          </p:cNvCxnSpPr>
          <p:nvPr/>
        </p:nvCxnSpPr>
        <p:spPr>
          <a:xfrm>
            <a:off x="6259306" y="4337546"/>
            <a:ext cx="4612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42" idx="2"/>
            <a:endCxn id="40" idx="0"/>
          </p:cNvCxnSpPr>
          <p:nvPr/>
        </p:nvCxnSpPr>
        <p:spPr>
          <a:xfrm>
            <a:off x="6259306" y="4337546"/>
            <a:ext cx="112087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1256763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插入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88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73" name="內容版面配置區 26"/>
          <p:cNvGraphicFramePr>
            <a:graphicFrameLocks/>
          </p:cNvGraphicFramePr>
          <p:nvPr/>
        </p:nvGraphicFramePr>
        <p:xfrm>
          <a:off x="6835505" y="526448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文字方塊 73"/>
          <p:cNvSpPr txBox="1"/>
          <p:nvPr/>
        </p:nvSpPr>
        <p:spPr>
          <a:xfrm>
            <a:off x="1256762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插入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98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75" name="內容版面配置區 26"/>
          <p:cNvGraphicFramePr>
            <a:graphicFrameLocks/>
          </p:cNvGraphicFramePr>
          <p:nvPr/>
        </p:nvGraphicFramePr>
        <p:xfrm>
          <a:off x="6760900" y="6002734"/>
          <a:ext cx="12293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7" name="群組 76"/>
          <p:cNvGrpSpPr/>
          <p:nvPr/>
        </p:nvGrpSpPr>
        <p:grpSpPr>
          <a:xfrm>
            <a:off x="7195545" y="5809592"/>
            <a:ext cx="360040" cy="542218"/>
            <a:chOff x="6690058" y="4693088"/>
            <a:chExt cx="360040" cy="542218"/>
          </a:xfrm>
        </p:grpSpPr>
        <p:sp>
          <p:nvSpPr>
            <p:cNvPr id="78" name="橢圓 77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向下箭號 78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80" name="內容版面配置區 26"/>
          <p:cNvGraphicFramePr>
            <a:graphicFrameLocks/>
          </p:cNvGraphicFramePr>
          <p:nvPr/>
        </p:nvGraphicFramePr>
        <p:xfrm>
          <a:off x="5714634" y="3965055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內容版面配置區 26"/>
          <p:cNvGraphicFramePr>
            <a:graphicFrameLocks/>
          </p:cNvGraphicFramePr>
          <p:nvPr/>
        </p:nvGraphicFramePr>
        <p:xfrm>
          <a:off x="6840900" y="5269027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" name="內容版面配置區 26"/>
          <p:cNvGraphicFramePr>
            <a:graphicFrameLocks/>
          </p:cNvGraphicFramePr>
          <p:nvPr/>
        </p:nvGraphicFramePr>
        <p:xfrm>
          <a:off x="7956376" y="5269027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3" name="直線接點 82"/>
          <p:cNvCxnSpPr>
            <a:stCxn id="80" idx="2"/>
            <a:endCxn id="82" idx="0"/>
          </p:cNvCxnSpPr>
          <p:nvPr/>
        </p:nvCxnSpPr>
        <p:spPr>
          <a:xfrm>
            <a:off x="6254694" y="4335895"/>
            <a:ext cx="2241742" cy="933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7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的插入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graphicFrame>
        <p:nvGraphicFramePr>
          <p:cNvPr id="27" name="內容版面配置區 26"/>
          <p:cNvGraphicFramePr>
            <a:graphicFrameLocks noGrp="1"/>
          </p:cNvGraphicFramePr>
          <p:nvPr>
            <p:ph idx="1"/>
          </p:nvPr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13</a:t>
            </a:fld>
            <a:endParaRPr lang="en-US" altLang="zh-TW" dirty="0"/>
          </a:p>
        </p:txBody>
      </p:sp>
      <p:graphicFrame>
        <p:nvGraphicFramePr>
          <p:cNvPr id="34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內容版面配置區 26"/>
          <p:cNvGraphicFramePr>
            <a:graphicFrameLocks/>
          </p:cNvGraphicFramePr>
          <p:nvPr/>
        </p:nvGraphicFramePr>
        <p:xfrm>
          <a:off x="3491340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內容版面配置區 26"/>
          <p:cNvGraphicFramePr>
            <a:graphicFrameLocks/>
          </p:cNvGraphicFramePr>
          <p:nvPr/>
        </p:nvGraphicFramePr>
        <p:xfrm>
          <a:off x="4607599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67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內容版面配置區 26"/>
          <p:cNvGraphicFramePr>
            <a:graphicFrameLocks/>
          </p:cNvGraphicFramePr>
          <p:nvPr/>
        </p:nvGraphicFramePr>
        <p:xfrm>
          <a:off x="5723858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內容版面配置區 26"/>
          <p:cNvGraphicFramePr>
            <a:graphicFrameLocks/>
          </p:cNvGraphicFramePr>
          <p:nvPr/>
        </p:nvGraphicFramePr>
        <p:xfrm>
          <a:off x="6840117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直線接點 44"/>
          <p:cNvCxnSpPr>
            <a:stCxn id="27" idx="0"/>
            <a:endCxn id="41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34" idx="0"/>
            <a:endCxn id="41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35" idx="0"/>
            <a:endCxn id="41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1" idx="0"/>
            <a:endCxn id="52" idx="2"/>
          </p:cNvCxnSpPr>
          <p:nvPr/>
        </p:nvCxnSpPr>
        <p:spPr>
          <a:xfrm flipV="1">
            <a:off x="2338942" y="2938858"/>
            <a:ext cx="1981030" cy="10278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42" idx="0"/>
            <a:endCxn id="43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42" idx="2"/>
            <a:endCxn id="37" idx="0"/>
          </p:cNvCxnSpPr>
          <p:nvPr/>
        </p:nvCxnSpPr>
        <p:spPr>
          <a:xfrm flipH="1">
            <a:off x="4031400" y="4337546"/>
            <a:ext cx="2227906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42" idx="2"/>
            <a:endCxn id="38" idx="0"/>
          </p:cNvCxnSpPr>
          <p:nvPr/>
        </p:nvCxnSpPr>
        <p:spPr>
          <a:xfrm flipH="1">
            <a:off x="5147659" y="4337546"/>
            <a:ext cx="1111647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>
            <a:stCxn id="42" idx="2"/>
            <a:endCxn id="39" idx="0"/>
          </p:cNvCxnSpPr>
          <p:nvPr/>
        </p:nvCxnSpPr>
        <p:spPr>
          <a:xfrm>
            <a:off x="6259306" y="4337546"/>
            <a:ext cx="4612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42" idx="2"/>
            <a:endCxn id="40" idx="0"/>
          </p:cNvCxnSpPr>
          <p:nvPr/>
        </p:nvCxnSpPr>
        <p:spPr>
          <a:xfrm>
            <a:off x="6259306" y="4337546"/>
            <a:ext cx="112087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1256763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插入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91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73" name="內容版面配置區 26"/>
          <p:cNvGraphicFramePr>
            <a:graphicFrameLocks/>
          </p:cNvGraphicFramePr>
          <p:nvPr/>
        </p:nvGraphicFramePr>
        <p:xfrm>
          <a:off x="7966457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文字方塊 73"/>
          <p:cNvSpPr txBox="1"/>
          <p:nvPr/>
        </p:nvSpPr>
        <p:spPr>
          <a:xfrm>
            <a:off x="1256763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插入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93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75" name="內容版面配置區 26"/>
          <p:cNvGraphicFramePr>
            <a:graphicFrameLocks/>
          </p:cNvGraphicFramePr>
          <p:nvPr/>
        </p:nvGraphicFramePr>
        <p:xfrm>
          <a:off x="6760900" y="6002734"/>
          <a:ext cx="12293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7" name="群組 76"/>
          <p:cNvGrpSpPr/>
          <p:nvPr/>
        </p:nvGrpSpPr>
        <p:grpSpPr>
          <a:xfrm>
            <a:off x="7195545" y="5809592"/>
            <a:ext cx="360040" cy="542218"/>
            <a:chOff x="6690058" y="4693088"/>
            <a:chExt cx="360040" cy="542218"/>
          </a:xfrm>
        </p:grpSpPr>
        <p:sp>
          <p:nvSpPr>
            <p:cNvPr id="78" name="橢圓 77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向下箭號 78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81" name="內容版面配置區 26"/>
          <p:cNvGraphicFramePr>
            <a:graphicFrameLocks/>
          </p:cNvGraphicFramePr>
          <p:nvPr/>
        </p:nvGraphicFramePr>
        <p:xfrm>
          <a:off x="7966457" y="5256553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" name="內容版面配置區 26"/>
          <p:cNvGraphicFramePr>
            <a:graphicFrameLocks/>
          </p:cNvGraphicFramePr>
          <p:nvPr/>
        </p:nvGraphicFramePr>
        <p:xfrm>
          <a:off x="7966457" y="5263098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3" name="直線接點 82"/>
          <p:cNvCxnSpPr>
            <a:stCxn id="42" idx="2"/>
            <a:endCxn id="82" idx="0"/>
          </p:cNvCxnSpPr>
          <p:nvPr/>
        </p:nvCxnSpPr>
        <p:spPr>
          <a:xfrm>
            <a:off x="6259306" y="4337546"/>
            <a:ext cx="2247211" cy="9255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1260779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插入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99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46" name="內容版面配置區 26"/>
          <p:cNvGraphicFramePr>
            <a:graphicFrameLocks/>
          </p:cNvGraphicFramePr>
          <p:nvPr/>
        </p:nvGraphicFramePr>
        <p:xfrm>
          <a:off x="5550929" y="3047579"/>
          <a:ext cx="12293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8" name="群組 47"/>
          <p:cNvGrpSpPr/>
          <p:nvPr/>
        </p:nvGrpSpPr>
        <p:grpSpPr>
          <a:xfrm>
            <a:off x="5985574" y="2854437"/>
            <a:ext cx="360040" cy="542218"/>
            <a:chOff x="6690058" y="4693088"/>
            <a:chExt cx="360040" cy="542218"/>
          </a:xfrm>
        </p:grpSpPr>
        <p:sp>
          <p:nvSpPr>
            <p:cNvPr id="49" name="橢圓 48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向下箭號 50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52" name="內容版面配置區 26"/>
          <p:cNvGraphicFramePr>
            <a:graphicFrameLocks/>
          </p:cNvGraphicFramePr>
          <p:nvPr/>
        </p:nvGraphicFramePr>
        <p:xfrm>
          <a:off x="3779912" y="2568018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內容版面配置區 26"/>
          <p:cNvGraphicFramePr>
            <a:graphicFrameLocks/>
          </p:cNvGraphicFramePr>
          <p:nvPr/>
        </p:nvGraphicFramePr>
        <p:xfrm>
          <a:off x="4860032" y="3966706"/>
          <a:ext cx="5400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內容版面配置區 26"/>
          <p:cNvGraphicFramePr>
            <a:graphicFrameLocks/>
          </p:cNvGraphicFramePr>
          <p:nvPr/>
        </p:nvGraphicFramePr>
        <p:xfrm>
          <a:off x="7488324" y="3960529"/>
          <a:ext cx="5400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7" name="直線接點 56"/>
          <p:cNvCxnSpPr>
            <a:stCxn id="54" idx="0"/>
            <a:endCxn id="52" idx="2"/>
          </p:cNvCxnSpPr>
          <p:nvPr/>
        </p:nvCxnSpPr>
        <p:spPr>
          <a:xfrm flipH="1" flipV="1">
            <a:off x="4319972" y="2938858"/>
            <a:ext cx="810090" cy="10278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55" idx="0"/>
            <a:endCxn id="52" idx="2"/>
          </p:cNvCxnSpPr>
          <p:nvPr/>
        </p:nvCxnSpPr>
        <p:spPr>
          <a:xfrm flipH="1" flipV="1">
            <a:off x="4319972" y="2938858"/>
            <a:ext cx="3438382" cy="10216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37" idx="0"/>
            <a:endCxn id="54" idx="2"/>
          </p:cNvCxnSpPr>
          <p:nvPr/>
        </p:nvCxnSpPr>
        <p:spPr>
          <a:xfrm flipV="1">
            <a:off x="4031400" y="4337546"/>
            <a:ext cx="1098662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>
            <a:stCxn id="38" idx="0"/>
            <a:endCxn id="54" idx="2"/>
          </p:cNvCxnSpPr>
          <p:nvPr/>
        </p:nvCxnSpPr>
        <p:spPr>
          <a:xfrm flipH="1" flipV="1">
            <a:off x="5130062" y="4337546"/>
            <a:ext cx="17597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39" idx="0"/>
            <a:endCxn id="54" idx="2"/>
          </p:cNvCxnSpPr>
          <p:nvPr/>
        </p:nvCxnSpPr>
        <p:spPr>
          <a:xfrm flipH="1" flipV="1">
            <a:off x="5130062" y="4337546"/>
            <a:ext cx="1133856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內容版面配置區 26"/>
          <p:cNvGraphicFramePr>
            <a:graphicFrameLocks/>
          </p:cNvGraphicFramePr>
          <p:nvPr/>
        </p:nvGraphicFramePr>
        <p:xfrm>
          <a:off x="7977794" y="5258335"/>
          <a:ext cx="5400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內容版面配置區 26"/>
          <p:cNvGraphicFramePr>
            <a:graphicFrameLocks/>
          </p:cNvGraphicFramePr>
          <p:nvPr/>
        </p:nvGraphicFramePr>
        <p:xfrm>
          <a:off x="8541401" y="5264632"/>
          <a:ext cx="5400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" name="直線接點 66"/>
          <p:cNvCxnSpPr>
            <a:stCxn id="40" idx="0"/>
            <a:endCxn id="55" idx="2"/>
          </p:cNvCxnSpPr>
          <p:nvPr/>
        </p:nvCxnSpPr>
        <p:spPr>
          <a:xfrm flipV="1">
            <a:off x="7380177" y="4331369"/>
            <a:ext cx="378177" cy="9314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64" idx="0"/>
            <a:endCxn id="55" idx="2"/>
          </p:cNvCxnSpPr>
          <p:nvPr/>
        </p:nvCxnSpPr>
        <p:spPr>
          <a:xfrm flipH="1" flipV="1">
            <a:off x="7758354" y="4331369"/>
            <a:ext cx="489470" cy="9269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66" idx="0"/>
            <a:endCxn id="55" idx="2"/>
          </p:cNvCxnSpPr>
          <p:nvPr/>
        </p:nvCxnSpPr>
        <p:spPr>
          <a:xfrm flipH="1" flipV="1">
            <a:off x="7758354" y="4331369"/>
            <a:ext cx="1053077" cy="9332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09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5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4" grpId="0"/>
      <p:bldP spid="74" grpId="1"/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(1/12)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zh-TW" altLang="en-US" dirty="0"/>
                  <a:t>欲刪除的節點為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內部節點</a:t>
                </a:r>
                <a:endParaRPr lang="en-US" altLang="zh-TW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TW" altLang="en-US" dirty="0"/>
                  <a:t>該節點位置以立即前行者或立即後繼者取代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立即前行者：左子樹中的最大值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立即後繼者：右子樹中的最小值</a:t>
                </a:r>
                <a:endParaRPr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TW" altLang="en-US" dirty="0"/>
                  <a:t>刪除後剩下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TW" i="1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TW" altLang="en-US" dirty="0"/>
                  <a:t>，直接刪除</a:t>
                </a:r>
                <a:endParaRPr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TW" altLang="en-US" dirty="0"/>
                  <a:t>刪除後剩下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dirty="0">
                        <a:solidFill>
                          <a:srgbClr val="C00000"/>
                        </a:solidFill>
                        <a:latin typeface="Cambria Math"/>
                      </a:rPr>
                      <m:t>&lt;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TW" i="1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TW" altLang="en-US" dirty="0"/>
                  <a:t>，進行旋轉</a:t>
                </a:r>
                <a:r>
                  <a:rPr lang="en-US" altLang="zh-TW" dirty="0"/>
                  <a:t>(rotation)</a:t>
                </a:r>
                <a:r>
                  <a:rPr lang="zh-TW" altLang="en-US" dirty="0"/>
                  <a:t>或合併</a:t>
                </a:r>
                <a:r>
                  <a:rPr lang="en-US" altLang="zh-TW" dirty="0"/>
                  <a:t>(combine)</a:t>
                </a:r>
              </a:p>
              <a:p>
                <a:endParaRPr lang="en-US" altLang="zh-TW" dirty="0"/>
              </a:p>
              <a:p>
                <a:r>
                  <a:rPr lang="zh-TW" altLang="en-US" dirty="0"/>
                  <a:t>每次刪除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最多</a:t>
                </a:r>
                <a:r>
                  <a:rPr lang="zh-TW" altLang="en-US" dirty="0"/>
                  <a:t>可能使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樹高度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減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15"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8081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(2/12)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15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26"/>
          <p:cNvGraphicFramePr>
            <a:graphicFrameLocks/>
          </p:cNvGraphicFramePr>
          <p:nvPr/>
        </p:nvGraphicFramePr>
        <p:xfrm>
          <a:off x="5472235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2"/>
            <a:endCxn id="11" idx="0"/>
          </p:cNvCxnSpPr>
          <p:nvPr/>
        </p:nvCxnSpPr>
        <p:spPr>
          <a:xfrm flipH="1">
            <a:off x="6012295" y="4337546"/>
            <a:ext cx="24701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256763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38" name="內容版面配置區 26"/>
          <p:cNvGraphicFramePr>
            <a:graphicFrameLocks/>
          </p:cNvGraphicFramePr>
          <p:nvPr/>
        </p:nvGraphicFramePr>
        <p:xfrm>
          <a:off x="548103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78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(3/12)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16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26"/>
          <p:cNvGraphicFramePr>
            <a:graphicFrameLocks/>
          </p:cNvGraphicFramePr>
          <p:nvPr/>
        </p:nvGraphicFramePr>
        <p:xfrm>
          <a:off x="5472235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2"/>
            <a:endCxn id="11" idx="0"/>
          </p:cNvCxnSpPr>
          <p:nvPr/>
        </p:nvCxnSpPr>
        <p:spPr>
          <a:xfrm flipH="1">
            <a:off x="6012295" y="4337546"/>
            <a:ext cx="24701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1256763" y="220486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26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2330143" y="5261263"/>
            <a:ext cx="36004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2026947" y="3980124"/>
            <a:ext cx="36004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圓形箭號 41"/>
          <p:cNvSpPr/>
          <p:nvPr/>
        </p:nvSpPr>
        <p:spPr>
          <a:xfrm rot="1129583">
            <a:off x="1783524" y="4330064"/>
            <a:ext cx="936104" cy="936104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7814777"/>
              <a:gd name="adj5" fmla="val 12500"/>
            </a:avLst>
          </a:prstGeom>
          <a:solidFill>
            <a:srgbClr val="FFFFCC"/>
          </a:solidFill>
          <a:ln>
            <a:solidFill>
              <a:srgbClr val="0000FF"/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乘號 12"/>
          <p:cNvSpPr/>
          <p:nvPr/>
        </p:nvSpPr>
        <p:spPr>
          <a:xfrm>
            <a:off x="1510782" y="5304254"/>
            <a:ext cx="302940" cy="28803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69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(4/12)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17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26"/>
          <p:cNvGraphicFramePr>
            <a:graphicFrameLocks/>
          </p:cNvGraphicFramePr>
          <p:nvPr/>
        </p:nvGraphicFramePr>
        <p:xfrm>
          <a:off x="5472235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2"/>
            <a:endCxn id="11" idx="0"/>
          </p:cNvCxnSpPr>
          <p:nvPr/>
        </p:nvCxnSpPr>
        <p:spPr>
          <a:xfrm flipH="1">
            <a:off x="6012295" y="4337546"/>
            <a:ext cx="24701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1256763" y="220486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85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5976156" y="5261263"/>
            <a:ext cx="36004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955781" y="3974063"/>
            <a:ext cx="36004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圓形箭號 35"/>
          <p:cNvSpPr/>
          <p:nvPr/>
        </p:nvSpPr>
        <p:spPr>
          <a:xfrm rot="18828383">
            <a:off x="5906848" y="4347198"/>
            <a:ext cx="936104" cy="936104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7814777"/>
              <a:gd name="adj5" fmla="val 12500"/>
            </a:avLst>
          </a:prstGeom>
          <a:solidFill>
            <a:srgbClr val="FFFFCC"/>
          </a:solidFill>
          <a:ln>
            <a:solidFill>
              <a:srgbClr val="0000FF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7" name="乘號 36"/>
          <p:cNvSpPr/>
          <p:nvPr/>
        </p:nvSpPr>
        <p:spPr>
          <a:xfrm>
            <a:off x="6567287" y="5304254"/>
            <a:ext cx="302940" cy="28803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93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 animBg="1"/>
      <p:bldP spid="35" grpId="0" animBg="1"/>
      <p:bldP spid="36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(5/12)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18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26"/>
          <p:cNvGraphicFramePr>
            <a:graphicFrameLocks/>
          </p:cNvGraphicFramePr>
          <p:nvPr/>
        </p:nvGraphicFramePr>
        <p:xfrm>
          <a:off x="5472235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2"/>
            <a:endCxn id="11" idx="0"/>
          </p:cNvCxnSpPr>
          <p:nvPr/>
        </p:nvCxnSpPr>
        <p:spPr>
          <a:xfrm flipH="1">
            <a:off x="6012295" y="4337546"/>
            <a:ext cx="24701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1256763" y="220486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59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9" name="乘號 28"/>
          <p:cNvSpPr/>
          <p:nvPr/>
        </p:nvSpPr>
        <p:spPr>
          <a:xfrm>
            <a:off x="4608223" y="5301207"/>
            <a:ext cx="302940" cy="28803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圓角矩形 24"/>
          <p:cNvSpPr/>
          <p:nvPr/>
        </p:nvSpPr>
        <p:spPr>
          <a:xfrm>
            <a:off x="4355976" y="5299653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圓角矩形 37"/>
          <p:cNvSpPr/>
          <p:nvPr/>
        </p:nvSpPr>
        <p:spPr>
          <a:xfrm>
            <a:off x="5719246" y="4010890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圓角矩形 38"/>
          <p:cNvSpPr/>
          <p:nvPr/>
        </p:nvSpPr>
        <p:spPr>
          <a:xfrm>
            <a:off x="5492484" y="5299652"/>
            <a:ext cx="496427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圓角矩形圖說文字 25"/>
              <p:cNvSpPr/>
              <p:nvPr/>
            </p:nvSpPr>
            <p:spPr>
              <a:xfrm>
                <a:off x="1656466" y="6073961"/>
                <a:ext cx="2670123" cy="497850"/>
              </a:xfrm>
              <a:prstGeom prst="wedgeRoundRectCallout">
                <a:avLst>
                  <a:gd name="adj1" fmla="val 53649"/>
                  <a:gd name="adj2" fmla="val -130014"/>
                  <a:gd name="adj3" fmla="val 16667"/>
                </a:avLst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鍵值個數</a:t>
                </a:r>
                <a:r>
                  <a:rPr lang="en-US" altLang="zh-TW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dirty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endParaRPr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圓角矩形圖說文字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466" y="6073961"/>
                <a:ext cx="2670123" cy="497850"/>
              </a:xfrm>
              <a:prstGeom prst="wedgeRoundRectCallout">
                <a:avLst>
                  <a:gd name="adj1" fmla="val 53649"/>
                  <a:gd name="adj2" fmla="val -130014"/>
                  <a:gd name="adj3" fmla="val 16667"/>
                </a:avLst>
              </a:prstGeom>
              <a:blipFill rotWithShape="0">
                <a:blip r:embed="rId2"/>
                <a:stretch>
                  <a:fillRect l="-655" b="-7368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圓角矩形圖說文字 39"/>
          <p:cNvSpPr/>
          <p:nvPr/>
        </p:nvSpPr>
        <p:spPr>
          <a:xfrm>
            <a:off x="6736101" y="3067974"/>
            <a:ext cx="1379737" cy="497850"/>
          </a:xfrm>
          <a:prstGeom prst="wedgeRoundRectCallout">
            <a:avLst>
              <a:gd name="adj1" fmla="val -109348"/>
              <a:gd name="adj2" fmla="val 131840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進行合併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3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25" grpId="0" animBg="1"/>
      <p:bldP spid="38" grpId="0" animBg="1"/>
      <p:bldP spid="39" grpId="0" animBg="1"/>
      <p:bldP spid="26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(6/12)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19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1256763" y="220486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59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圓角矩形圖說文字 29"/>
              <p:cNvSpPr/>
              <p:nvPr/>
            </p:nvSpPr>
            <p:spPr>
              <a:xfrm>
                <a:off x="6289876" y="2903451"/>
                <a:ext cx="2670123" cy="497850"/>
              </a:xfrm>
              <a:prstGeom prst="wedgeRoundRectCallout">
                <a:avLst>
                  <a:gd name="adj1" fmla="val -62740"/>
                  <a:gd name="adj2" fmla="val 157901"/>
                  <a:gd name="adj3" fmla="val 16667"/>
                </a:avLst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鍵值個數</a:t>
                </a:r>
                <a:r>
                  <a:rPr lang="en-US" altLang="zh-TW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dirty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endParaRPr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圓角矩形圖說文字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876" y="2903451"/>
                <a:ext cx="2670123" cy="497850"/>
              </a:xfrm>
              <a:prstGeom prst="wedgeRoundRectCallout">
                <a:avLst>
                  <a:gd name="adj1" fmla="val -62740"/>
                  <a:gd name="adj2" fmla="val 157901"/>
                  <a:gd name="adj3" fmla="val 16667"/>
                </a:avLst>
              </a:prstGeom>
              <a:blipFill rotWithShape="0">
                <a:blip r:embed="rId2"/>
                <a:stretch>
                  <a:fillRect t="-35429" r="-803" b="-1314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圓角矩形 30"/>
          <p:cNvSpPr/>
          <p:nvPr/>
        </p:nvSpPr>
        <p:spPr>
          <a:xfrm>
            <a:off x="5719246" y="4007332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圓角矩形 31"/>
          <p:cNvSpPr/>
          <p:nvPr/>
        </p:nvSpPr>
        <p:spPr>
          <a:xfrm>
            <a:off x="3778637" y="2602890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1820698" y="4007331"/>
            <a:ext cx="496427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圓角矩形圖說文字 33"/>
          <p:cNvSpPr/>
          <p:nvPr/>
        </p:nvSpPr>
        <p:spPr>
          <a:xfrm>
            <a:off x="4795492" y="1659974"/>
            <a:ext cx="1379737" cy="497850"/>
          </a:xfrm>
          <a:prstGeom prst="wedgeRoundRectCallout">
            <a:avLst>
              <a:gd name="adj1" fmla="val -109348"/>
              <a:gd name="adj2" fmla="val 131840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進行合併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45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(7/12)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20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115616" y="422176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2601695" y="421765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4087774" y="421765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5573853" y="421765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7059932" y="421765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4087774" y="2780928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1655676" y="3151768"/>
            <a:ext cx="2972158" cy="10699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3141755" y="3151768"/>
            <a:ext cx="1486079" cy="1065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V="1">
            <a:off x="4627834" y="3151768"/>
            <a:ext cx="0" cy="1065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4" idx="2"/>
            <a:endCxn id="10" idx="0"/>
          </p:cNvCxnSpPr>
          <p:nvPr/>
        </p:nvCxnSpPr>
        <p:spPr>
          <a:xfrm>
            <a:off x="4627834" y="3151768"/>
            <a:ext cx="1486079" cy="1065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4" idx="2"/>
            <a:endCxn id="12" idx="0"/>
          </p:cNvCxnSpPr>
          <p:nvPr/>
        </p:nvCxnSpPr>
        <p:spPr>
          <a:xfrm>
            <a:off x="4627834" y="3151768"/>
            <a:ext cx="2972158" cy="1065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543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(8/12)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狀況二：刪除的節點非樹葉節點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21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26"/>
          <p:cNvGraphicFramePr>
            <a:graphicFrameLocks/>
          </p:cNvGraphicFramePr>
          <p:nvPr/>
        </p:nvGraphicFramePr>
        <p:xfrm>
          <a:off x="5472235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2"/>
            <a:endCxn id="11" idx="0"/>
          </p:cNvCxnSpPr>
          <p:nvPr/>
        </p:nvCxnSpPr>
        <p:spPr>
          <a:xfrm flipH="1">
            <a:off x="6012295" y="4337546"/>
            <a:ext cx="24701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256763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7" name="乘號 26"/>
          <p:cNvSpPr/>
          <p:nvPr/>
        </p:nvSpPr>
        <p:spPr>
          <a:xfrm>
            <a:off x="3760300" y="2606308"/>
            <a:ext cx="302940" cy="28803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8" name="群組 27"/>
          <p:cNvGrpSpPr/>
          <p:nvPr/>
        </p:nvGrpSpPr>
        <p:grpSpPr>
          <a:xfrm>
            <a:off x="4362888" y="5134718"/>
            <a:ext cx="252000" cy="448344"/>
            <a:chOff x="6733304" y="4736334"/>
            <a:chExt cx="252000" cy="448344"/>
          </a:xfrm>
        </p:grpSpPr>
        <p:sp>
          <p:nvSpPr>
            <p:cNvPr id="29" name="橢圓 28"/>
            <p:cNvSpPr/>
            <p:nvPr/>
          </p:nvSpPr>
          <p:spPr>
            <a:xfrm>
              <a:off x="6733304" y="4932678"/>
              <a:ext cx="252000" cy="252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向下箭號 29"/>
            <p:cNvSpPr/>
            <p:nvPr/>
          </p:nvSpPr>
          <p:spPr>
            <a:xfrm rot="10800000">
              <a:off x="6769888" y="4736334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37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(9/12)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狀況二：刪除的節點非樹葉節點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22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26"/>
          <p:cNvGraphicFramePr>
            <a:graphicFrameLocks/>
          </p:cNvGraphicFramePr>
          <p:nvPr/>
        </p:nvGraphicFramePr>
        <p:xfrm>
          <a:off x="5472235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2"/>
            <a:endCxn id="11" idx="0"/>
          </p:cNvCxnSpPr>
          <p:nvPr/>
        </p:nvCxnSpPr>
        <p:spPr>
          <a:xfrm flipH="1">
            <a:off x="6012295" y="4337546"/>
            <a:ext cx="24701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256763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52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7" name="乘號 26"/>
          <p:cNvSpPr/>
          <p:nvPr/>
        </p:nvSpPr>
        <p:spPr>
          <a:xfrm>
            <a:off x="3754082" y="2606308"/>
            <a:ext cx="302940" cy="28803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8" name="群組 27"/>
          <p:cNvGrpSpPr/>
          <p:nvPr/>
        </p:nvGrpSpPr>
        <p:grpSpPr>
          <a:xfrm>
            <a:off x="4362115" y="5136106"/>
            <a:ext cx="252000" cy="448344"/>
            <a:chOff x="6733304" y="4736334"/>
            <a:chExt cx="252000" cy="448344"/>
          </a:xfrm>
        </p:grpSpPr>
        <p:sp>
          <p:nvSpPr>
            <p:cNvPr id="29" name="橢圓 28"/>
            <p:cNvSpPr/>
            <p:nvPr/>
          </p:nvSpPr>
          <p:spPr>
            <a:xfrm>
              <a:off x="6733304" y="4932678"/>
              <a:ext cx="252000" cy="252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向下箭號 29"/>
            <p:cNvSpPr/>
            <p:nvPr/>
          </p:nvSpPr>
          <p:spPr>
            <a:xfrm rot="10800000">
              <a:off x="6769888" y="4736334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圓角矩形圖說文字 30"/>
              <p:cNvSpPr/>
              <p:nvPr/>
            </p:nvSpPr>
            <p:spPr>
              <a:xfrm>
                <a:off x="1656466" y="6073961"/>
                <a:ext cx="2670123" cy="497850"/>
              </a:xfrm>
              <a:prstGeom prst="wedgeRoundRectCallout">
                <a:avLst>
                  <a:gd name="adj1" fmla="val 53649"/>
                  <a:gd name="adj2" fmla="val -130014"/>
                  <a:gd name="adj3" fmla="val 16667"/>
                </a:avLst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鍵值個數</a:t>
                </a:r>
                <a:r>
                  <a:rPr lang="en-US" altLang="zh-TW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dirty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endParaRPr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圓角矩形圖說文字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466" y="6073961"/>
                <a:ext cx="2670123" cy="497850"/>
              </a:xfrm>
              <a:prstGeom prst="wedgeRoundRectCallout">
                <a:avLst>
                  <a:gd name="adj1" fmla="val 53649"/>
                  <a:gd name="adj2" fmla="val -130014"/>
                  <a:gd name="adj3" fmla="val 16667"/>
                </a:avLst>
              </a:prstGeom>
              <a:blipFill rotWithShape="0">
                <a:blip r:embed="rId2"/>
                <a:stretch>
                  <a:fillRect l="-655" b="-7368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橢圓 31"/>
          <p:cNvSpPr/>
          <p:nvPr/>
        </p:nvSpPr>
        <p:spPr>
          <a:xfrm>
            <a:off x="5436096" y="5248143"/>
            <a:ext cx="36004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5679384" y="3975823"/>
            <a:ext cx="360040" cy="3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圓形箭號 33"/>
          <p:cNvSpPr/>
          <p:nvPr/>
        </p:nvSpPr>
        <p:spPr>
          <a:xfrm rot="1129583">
            <a:off x="5130448" y="4316178"/>
            <a:ext cx="936104" cy="936104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7814777"/>
              <a:gd name="adj5" fmla="val 12500"/>
            </a:avLst>
          </a:prstGeom>
          <a:solidFill>
            <a:srgbClr val="FFFFCC"/>
          </a:solidFill>
          <a:ln>
            <a:solidFill>
              <a:srgbClr val="0000FF"/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28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(10/12)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狀況二：刪除的節點非樹葉節點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23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26"/>
          <p:cNvGraphicFramePr>
            <a:graphicFrameLocks/>
          </p:cNvGraphicFramePr>
          <p:nvPr/>
        </p:nvGraphicFramePr>
        <p:xfrm>
          <a:off x="5472235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2"/>
            <a:endCxn id="11" idx="0"/>
          </p:cNvCxnSpPr>
          <p:nvPr/>
        </p:nvCxnSpPr>
        <p:spPr>
          <a:xfrm flipH="1">
            <a:off x="6012295" y="4337546"/>
            <a:ext cx="247011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256763" y="213541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7" name="乘號 26"/>
          <p:cNvSpPr/>
          <p:nvPr/>
        </p:nvSpPr>
        <p:spPr>
          <a:xfrm>
            <a:off x="3767556" y="2606308"/>
            <a:ext cx="302940" cy="28803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8" name="群組 27"/>
          <p:cNvGrpSpPr/>
          <p:nvPr/>
        </p:nvGrpSpPr>
        <p:grpSpPr>
          <a:xfrm>
            <a:off x="4360629" y="5129399"/>
            <a:ext cx="252000" cy="448344"/>
            <a:chOff x="6733304" y="4736334"/>
            <a:chExt cx="252000" cy="448344"/>
          </a:xfrm>
        </p:grpSpPr>
        <p:sp>
          <p:nvSpPr>
            <p:cNvPr id="29" name="橢圓 28"/>
            <p:cNvSpPr/>
            <p:nvPr/>
          </p:nvSpPr>
          <p:spPr>
            <a:xfrm>
              <a:off x="6733304" y="4932678"/>
              <a:ext cx="252000" cy="252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向下箭號 29"/>
            <p:cNvSpPr/>
            <p:nvPr/>
          </p:nvSpPr>
          <p:spPr>
            <a:xfrm rot="10800000">
              <a:off x="6769888" y="4736334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圓角矩形圖說文字 30"/>
              <p:cNvSpPr/>
              <p:nvPr/>
            </p:nvSpPr>
            <p:spPr>
              <a:xfrm>
                <a:off x="1656466" y="6073961"/>
                <a:ext cx="2670123" cy="497850"/>
              </a:xfrm>
              <a:prstGeom prst="wedgeRoundRectCallout">
                <a:avLst>
                  <a:gd name="adj1" fmla="val 53649"/>
                  <a:gd name="adj2" fmla="val -130014"/>
                  <a:gd name="adj3" fmla="val 16667"/>
                </a:avLst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鍵值個數</a:t>
                </a:r>
                <a:r>
                  <a:rPr lang="en-US" altLang="zh-TW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dirty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endParaRPr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圓角矩形圖說文字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466" y="6073961"/>
                <a:ext cx="2670123" cy="497850"/>
              </a:xfrm>
              <a:prstGeom prst="wedgeRoundRectCallout">
                <a:avLst>
                  <a:gd name="adj1" fmla="val 53649"/>
                  <a:gd name="adj2" fmla="val -130014"/>
                  <a:gd name="adj3" fmla="val 16667"/>
                </a:avLst>
              </a:prstGeom>
              <a:blipFill rotWithShape="0">
                <a:blip r:embed="rId2"/>
                <a:stretch>
                  <a:fillRect l="-655" b="-7368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圓角矩形 34"/>
          <p:cNvSpPr/>
          <p:nvPr/>
        </p:nvSpPr>
        <p:spPr>
          <a:xfrm>
            <a:off x="4631485" y="5299653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圓角矩形 35"/>
          <p:cNvSpPr/>
          <p:nvPr/>
        </p:nvSpPr>
        <p:spPr>
          <a:xfrm>
            <a:off x="5719246" y="4010890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圓角矩形 36"/>
          <p:cNvSpPr/>
          <p:nvPr/>
        </p:nvSpPr>
        <p:spPr>
          <a:xfrm>
            <a:off x="5492484" y="5299652"/>
            <a:ext cx="496427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圓角矩形圖說文字 37"/>
          <p:cNvSpPr/>
          <p:nvPr/>
        </p:nvSpPr>
        <p:spPr>
          <a:xfrm>
            <a:off x="6736101" y="3067974"/>
            <a:ext cx="1379737" cy="497850"/>
          </a:xfrm>
          <a:prstGeom prst="wedgeRoundRectCallout">
            <a:avLst>
              <a:gd name="adj1" fmla="val -109348"/>
              <a:gd name="adj2" fmla="val 131840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進行合併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54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31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(11/12)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狀況二：刪除的節點非樹葉節點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24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142563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1258822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2375081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4355976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6588494" y="5262850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1798882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26"/>
          <p:cNvGraphicFramePr>
            <a:graphicFrameLocks/>
          </p:cNvGraphicFramePr>
          <p:nvPr/>
        </p:nvGraphicFramePr>
        <p:xfrm>
          <a:off x="5719246" y="3966706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26"/>
          <p:cNvGraphicFramePr>
            <a:graphicFrameLocks/>
          </p:cNvGraphicFramePr>
          <p:nvPr/>
        </p:nvGraphicFramePr>
        <p:xfrm>
          <a:off x="3779912" y="256490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682623" y="4337546"/>
            <a:ext cx="165631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1798882" y="4337546"/>
            <a:ext cx="54006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2338942" y="4337546"/>
            <a:ext cx="576199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4" idx="0"/>
            <a:endCxn id="16" idx="2"/>
          </p:cNvCxnSpPr>
          <p:nvPr/>
        </p:nvCxnSpPr>
        <p:spPr>
          <a:xfrm flipV="1">
            <a:off x="2338942" y="2935744"/>
            <a:ext cx="1981030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0"/>
            <a:endCxn id="16" idx="2"/>
          </p:cNvCxnSpPr>
          <p:nvPr/>
        </p:nvCxnSpPr>
        <p:spPr>
          <a:xfrm flipH="1" flipV="1">
            <a:off x="4319972" y="2935744"/>
            <a:ext cx="1939334" cy="1030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5" idx="2"/>
            <a:endCxn id="10" idx="0"/>
          </p:cNvCxnSpPr>
          <p:nvPr/>
        </p:nvCxnSpPr>
        <p:spPr>
          <a:xfrm flipH="1">
            <a:off x="4896036" y="4337546"/>
            <a:ext cx="1363270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2"/>
            <a:endCxn id="12" idx="0"/>
          </p:cNvCxnSpPr>
          <p:nvPr/>
        </p:nvCxnSpPr>
        <p:spPr>
          <a:xfrm>
            <a:off x="6259306" y="4337546"/>
            <a:ext cx="869248" cy="925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圓角矩形圖說文字 30"/>
              <p:cNvSpPr/>
              <p:nvPr/>
            </p:nvSpPr>
            <p:spPr>
              <a:xfrm>
                <a:off x="6253188" y="2846533"/>
                <a:ext cx="2670123" cy="497850"/>
              </a:xfrm>
              <a:prstGeom prst="wedgeRoundRectCallout">
                <a:avLst>
                  <a:gd name="adj1" fmla="val -63665"/>
                  <a:gd name="adj2" fmla="val 181480"/>
                  <a:gd name="adj3" fmla="val 16667"/>
                </a:avLst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鍵值個數</a:t>
                </a:r>
                <a:r>
                  <a:rPr lang="en-US" altLang="zh-TW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dirty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TW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TW" sz="20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endParaRPr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圓角矩形圖說文字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88" y="2846533"/>
                <a:ext cx="2670123" cy="497850"/>
              </a:xfrm>
              <a:prstGeom prst="wedgeRoundRectCallout">
                <a:avLst>
                  <a:gd name="adj1" fmla="val -63665"/>
                  <a:gd name="adj2" fmla="val 181480"/>
                  <a:gd name="adj3" fmla="val 16667"/>
                </a:avLst>
              </a:prstGeom>
              <a:blipFill rotWithShape="0">
                <a:blip r:embed="rId3"/>
                <a:stretch>
                  <a:fillRect t="-32474" r="-797" b="-154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圓角矩形 34"/>
          <p:cNvSpPr/>
          <p:nvPr/>
        </p:nvSpPr>
        <p:spPr>
          <a:xfrm>
            <a:off x="3779912" y="2596427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圓角矩形 35"/>
          <p:cNvSpPr/>
          <p:nvPr/>
        </p:nvSpPr>
        <p:spPr>
          <a:xfrm>
            <a:off x="5724987" y="4003613"/>
            <a:ext cx="269665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圓角矩形 36"/>
          <p:cNvSpPr/>
          <p:nvPr/>
        </p:nvSpPr>
        <p:spPr>
          <a:xfrm>
            <a:off x="1820698" y="4007333"/>
            <a:ext cx="496427" cy="2895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圓角矩形圖說文字 37"/>
          <p:cNvSpPr/>
          <p:nvPr/>
        </p:nvSpPr>
        <p:spPr>
          <a:xfrm>
            <a:off x="4828422" y="1696214"/>
            <a:ext cx="1379737" cy="497850"/>
          </a:xfrm>
          <a:prstGeom prst="wedgeRoundRectCallout">
            <a:avLst>
              <a:gd name="adj1" fmla="val -109348"/>
              <a:gd name="adj2" fmla="val 131840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進行合併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96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B-Tree</a:t>
            </a:r>
            <a:r>
              <a:rPr lang="zh-TW" altLang="en-US" dirty="0"/>
              <a:t> 的刪除 </a:t>
            </a:r>
            <a:r>
              <a:rPr lang="en-US" altLang="zh-TW" dirty="0"/>
              <a:t>(12/12)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狀況二：刪除的節點非樹葉節點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25</a:t>
            </a:fld>
            <a:endParaRPr lang="en-US" altLang="zh-TW" dirty="0"/>
          </a:p>
        </p:txBody>
      </p:sp>
      <p:graphicFrame>
        <p:nvGraphicFramePr>
          <p:cNvPr id="7" name="內容版面配置區 26"/>
          <p:cNvGraphicFramePr>
            <a:graphicFrameLocks/>
          </p:cNvGraphicFramePr>
          <p:nvPr/>
        </p:nvGraphicFramePr>
        <p:xfrm>
          <a:off x="627823" y="474799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26"/>
          <p:cNvGraphicFramePr>
            <a:graphicFrameLocks/>
          </p:cNvGraphicFramePr>
          <p:nvPr/>
        </p:nvGraphicFramePr>
        <p:xfrm>
          <a:off x="2248003" y="4747003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26"/>
          <p:cNvGraphicFramePr>
            <a:graphicFrameLocks/>
          </p:cNvGraphicFramePr>
          <p:nvPr/>
        </p:nvGraphicFramePr>
        <p:xfrm>
          <a:off x="5524502" y="4745021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45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26"/>
          <p:cNvGraphicFramePr>
            <a:graphicFrameLocks/>
          </p:cNvGraphicFramePr>
          <p:nvPr/>
        </p:nvGraphicFramePr>
        <p:xfrm>
          <a:off x="3904322" y="4745021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75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26"/>
          <p:cNvGraphicFramePr>
            <a:graphicFrameLocks/>
          </p:cNvGraphicFramePr>
          <p:nvPr/>
        </p:nvGraphicFramePr>
        <p:xfrm>
          <a:off x="7144682" y="4745021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內容版面配置區 26"/>
          <p:cNvGraphicFramePr>
            <a:graphicFrameLocks/>
          </p:cNvGraphicFramePr>
          <p:nvPr/>
        </p:nvGraphicFramePr>
        <p:xfrm>
          <a:off x="3902249" y="3274184"/>
          <a:ext cx="1080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59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>
            <a:stCxn id="7" idx="0"/>
            <a:endCxn id="14" idx="2"/>
          </p:cNvCxnSpPr>
          <p:nvPr/>
        </p:nvCxnSpPr>
        <p:spPr>
          <a:xfrm flipV="1">
            <a:off x="1167883" y="3645024"/>
            <a:ext cx="3274426" cy="11029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0"/>
            <a:endCxn id="14" idx="2"/>
          </p:cNvCxnSpPr>
          <p:nvPr/>
        </p:nvCxnSpPr>
        <p:spPr>
          <a:xfrm flipV="1">
            <a:off x="2788063" y="3645024"/>
            <a:ext cx="1654246" cy="11019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0"/>
            <a:endCxn id="14" idx="2"/>
          </p:cNvCxnSpPr>
          <p:nvPr/>
        </p:nvCxnSpPr>
        <p:spPr>
          <a:xfrm flipH="1" flipV="1">
            <a:off x="4442309" y="3645024"/>
            <a:ext cx="1622253" cy="10999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4" idx="2"/>
            <a:endCxn id="10" idx="0"/>
          </p:cNvCxnSpPr>
          <p:nvPr/>
        </p:nvCxnSpPr>
        <p:spPr>
          <a:xfrm>
            <a:off x="4442309" y="3645024"/>
            <a:ext cx="2073" cy="10999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4" idx="2"/>
            <a:endCxn id="12" idx="0"/>
          </p:cNvCxnSpPr>
          <p:nvPr/>
        </p:nvCxnSpPr>
        <p:spPr>
          <a:xfrm>
            <a:off x="4442309" y="3645024"/>
            <a:ext cx="3242433" cy="10999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715590"/>
      </p:ext>
    </p:extLst>
  </p:cSld>
  <p:clrMapOvr>
    <a:masterClrMapping/>
  </p:clrMapOvr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14349</TotalTime>
  <Words>1653</Words>
  <Application>Microsoft Office PowerPoint</Application>
  <PresentationFormat>如螢幕大小 (4:3)</PresentationFormat>
  <Paragraphs>631</Paragraphs>
  <Slides>25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3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NCKU3</vt:lpstr>
      <vt:lpstr>DATA STRUCTURES 資料結構</vt:lpstr>
      <vt:lpstr>二元搜尋樹 binary search tree</vt:lpstr>
      <vt:lpstr>2-3 Tree 的搜尋</vt:lpstr>
      <vt:lpstr>2-3-4 Tree 的搜尋</vt:lpstr>
      <vt:lpstr>m元搜尋樹 m-way search tree (1/2)</vt:lpstr>
      <vt:lpstr>m元搜尋樹 m-way search tree (2/2)</vt:lpstr>
      <vt:lpstr>m-way 搜尋樹的加入</vt:lpstr>
      <vt:lpstr>m-way 搜尋樹的刪除</vt:lpstr>
      <vt:lpstr>B-Tree (1/2)</vt:lpstr>
      <vt:lpstr>B-Tree (2/2)</vt:lpstr>
      <vt:lpstr>B-Tree 的插入</vt:lpstr>
      <vt:lpstr>B-Tree 的插入 (1/1)</vt:lpstr>
      <vt:lpstr>B-Tree 的插入 (2/2)</vt:lpstr>
      <vt:lpstr>B-Tree 的刪除 (1/12)</vt:lpstr>
      <vt:lpstr>B-Tree 的刪除 (2/12)</vt:lpstr>
      <vt:lpstr>B-Tree 的刪除 (3/12)</vt:lpstr>
      <vt:lpstr>B-Tree 的刪除 (4/12)</vt:lpstr>
      <vt:lpstr>B-Tree 的刪除 (5/12)</vt:lpstr>
      <vt:lpstr>B-Tree 的刪除 (6/12)</vt:lpstr>
      <vt:lpstr>B-Tree 的刪除 (7/12)</vt:lpstr>
      <vt:lpstr>B-Tree 的刪除 (8/12)</vt:lpstr>
      <vt:lpstr>B-Tree 的刪除 (9/12)</vt:lpstr>
      <vt:lpstr>B-Tree 的刪除 (10/12)</vt:lpstr>
      <vt:lpstr>B-Tree 的刪除 (11/12)</vt:lpstr>
      <vt:lpstr>B-Tree 的刪除 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99</cp:revision>
  <cp:lastPrinted>2026-04-28T12:09:40Z</cp:lastPrinted>
  <dcterms:created xsi:type="dcterms:W3CDTF">2018-01-10T03:26:15Z</dcterms:created>
  <dcterms:modified xsi:type="dcterms:W3CDTF">2026-04-28T12:09:41Z</dcterms:modified>
</cp:coreProperties>
</file>