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734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26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陣列缺點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插入</a:t>
            </a:r>
            <a:r>
              <a:rPr lang="en-US" altLang="zh-TW" dirty="0" smtClean="0"/>
              <a:t>(insert)</a:t>
            </a:r>
            <a:r>
              <a:rPr lang="zh-TW" altLang="en-US" dirty="0" smtClean="0"/>
              <a:t>或刪除</a:t>
            </a:r>
            <a:r>
              <a:rPr lang="en-US" altLang="zh-TW" dirty="0" smtClean="0"/>
              <a:t>(delete)</a:t>
            </a:r>
            <a:r>
              <a:rPr lang="zh-TW" altLang="en-US" dirty="0" smtClean="0"/>
              <a:t>困難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配置的記憶體比實際所要的空間多，造成空間浪費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1600" y="2456696"/>
          <a:ext cx="309589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019403" y="2456696"/>
          <a:ext cx="309589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  <a:latin typeface="+mj-lt"/>
                        </a:rPr>
                        <a:t>4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圓角矩形 8"/>
          <p:cNvSpPr/>
          <p:nvPr/>
        </p:nvSpPr>
        <p:spPr>
          <a:xfrm>
            <a:off x="1835696" y="2420888"/>
            <a:ext cx="1364704" cy="4682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835696" y="2348880"/>
            <a:ext cx="136470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群組 16"/>
          <p:cNvGrpSpPr/>
          <p:nvPr/>
        </p:nvGrpSpPr>
        <p:grpSpPr>
          <a:xfrm>
            <a:off x="1901445" y="2924552"/>
            <a:ext cx="312906" cy="616526"/>
            <a:chOff x="1901445" y="2924552"/>
            <a:chExt cx="312906" cy="616526"/>
          </a:xfrm>
        </p:grpSpPr>
        <p:cxnSp>
          <p:nvCxnSpPr>
            <p:cNvPr id="14" name="直線單箭頭接點 13"/>
            <p:cNvCxnSpPr/>
            <p:nvPr/>
          </p:nvCxnSpPr>
          <p:spPr>
            <a:xfrm flipV="1">
              <a:off x="2057898" y="2924552"/>
              <a:ext cx="1500" cy="28800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1901445" y="3140968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TW" sz="2000" b="1" dirty="0">
                  <a:solidFill>
                    <a:srgbClr val="0000FF"/>
                  </a:solidFill>
                  <a:latin typeface="Times New Roman"/>
                  <a:ea typeface="新細明體"/>
                </a:rPr>
                <a:t>4</a:t>
              </a:r>
              <a:endParaRPr kumimoji="0" lang="zh-TW" altLang="en-US" sz="2000" b="1" dirty="0">
                <a:solidFill>
                  <a:srgbClr val="0000FF"/>
                </a:solidFill>
                <a:latin typeface="Times New Roman"/>
                <a:ea typeface="新細明體"/>
              </a:endParaRPr>
            </a:p>
          </p:txBody>
        </p:sp>
      </p:grpSp>
      <p:sp>
        <p:nvSpPr>
          <p:cNvPr id="18" name="向右箭號 17"/>
          <p:cNvSpPr/>
          <p:nvPr/>
        </p:nvSpPr>
        <p:spPr>
          <a:xfrm>
            <a:off x="4436938" y="2483748"/>
            <a:ext cx="360040" cy="342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970099" y="4077072"/>
          <a:ext cx="309589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乘號 19"/>
          <p:cNvSpPr/>
          <p:nvPr/>
        </p:nvSpPr>
        <p:spPr>
          <a:xfrm>
            <a:off x="1457162" y="4114106"/>
            <a:ext cx="360000" cy="360000"/>
          </a:xfrm>
          <a:prstGeom prst="mathMultiply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1848912" y="4040872"/>
            <a:ext cx="1764000" cy="4682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1846062" y="3963946"/>
            <a:ext cx="1764000" cy="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表格 22"/>
          <p:cNvGraphicFramePr>
            <a:graphicFrameLocks noGrp="1"/>
          </p:cNvGraphicFramePr>
          <p:nvPr>
            <p:extLst/>
          </p:nvPr>
        </p:nvGraphicFramePr>
        <p:xfrm>
          <a:off x="5023389" y="4077072"/>
          <a:ext cx="309589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2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向右箭號 23"/>
          <p:cNvSpPr/>
          <p:nvPr/>
        </p:nvSpPr>
        <p:spPr>
          <a:xfrm>
            <a:off x="4436938" y="4103928"/>
            <a:ext cx="360040" cy="342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8" name="群組 27"/>
          <p:cNvGrpSpPr/>
          <p:nvPr/>
        </p:nvGrpSpPr>
        <p:grpSpPr>
          <a:xfrm>
            <a:off x="6859465" y="4494906"/>
            <a:ext cx="1210588" cy="616526"/>
            <a:chOff x="6859465" y="4494906"/>
            <a:chExt cx="1210588" cy="616526"/>
          </a:xfrm>
        </p:grpSpPr>
        <p:cxnSp>
          <p:nvCxnSpPr>
            <p:cNvPr id="26" name="直線單箭頭接點 25"/>
            <p:cNvCxnSpPr/>
            <p:nvPr/>
          </p:nvCxnSpPr>
          <p:spPr>
            <a:xfrm flipV="1">
              <a:off x="7464757" y="4494906"/>
              <a:ext cx="1500" cy="28800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6859465" y="471132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zh-TW" altLang="en-US" sz="2000" b="1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浪費空間</a:t>
              </a:r>
              <a:endParaRPr kumimoji="0"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20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鏈結配置串列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07504" y="1319014"/>
            <a:ext cx="8960296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鏈結串列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不必實體連續，只要邏輯上的順序存在即可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鏈結</a:t>
            </a:r>
            <a:r>
              <a:rPr lang="en-US" altLang="zh-TW" dirty="0" smtClean="0"/>
              <a:t>(link)</a:t>
            </a:r>
            <a:r>
              <a:rPr lang="zh-TW" altLang="en-US" dirty="0" smtClean="0"/>
              <a:t>：維持順序的工具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>
                <a:solidFill>
                  <a:srgbClr val="C00000"/>
                </a:solidFill>
              </a:rPr>
              <a:t>優點：</a:t>
            </a:r>
            <a:r>
              <a:rPr lang="zh-TW" altLang="en-US" dirty="0" smtClean="0"/>
              <a:t>插入和刪除效率高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rgbClr val="C00000"/>
                </a:solidFill>
              </a:rPr>
              <a:t>缺點：</a:t>
            </a:r>
            <a:r>
              <a:rPr lang="zh-TW" altLang="en-US" dirty="0" smtClean="0"/>
              <a:t>無法隨機存取；多一個鏈結造成額外負擔</a:t>
            </a:r>
            <a:r>
              <a:rPr lang="en-US" altLang="zh-TW" dirty="0" smtClean="0"/>
              <a:t>(overhead)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21" name="群組 20"/>
          <p:cNvGrpSpPr/>
          <p:nvPr/>
        </p:nvGrpSpPr>
        <p:grpSpPr>
          <a:xfrm>
            <a:off x="1664898" y="2924944"/>
            <a:ext cx="6012611" cy="467272"/>
            <a:chOff x="1664898" y="3390226"/>
            <a:chExt cx="6012611" cy="467272"/>
          </a:xfrm>
        </p:grpSpPr>
        <p:sp>
          <p:nvSpPr>
            <p:cNvPr id="7" name="圓角矩形 6"/>
            <p:cNvSpPr/>
            <p:nvPr/>
          </p:nvSpPr>
          <p:spPr>
            <a:xfrm>
              <a:off x="2889890" y="3390226"/>
              <a:ext cx="776378" cy="396815"/>
            </a:xfrm>
            <a:prstGeom prst="roundRect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中國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042954" y="339022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美國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5213271" y="339022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英國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6369214" y="339022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蘇俄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" name="直線單箭頭接點 10"/>
            <p:cNvCxnSpPr>
              <a:stCxn id="7" idx="3"/>
              <a:endCxn id="8" idx="1"/>
            </p:cNvCxnSpPr>
            <p:nvPr/>
          </p:nvCxnSpPr>
          <p:spPr>
            <a:xfrm>
              <a:off x="3666268" y="3588634"/>
              <a:ext cx="376686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8" idx="3"/>
              <a:endCxn id="9" idx="1"/>
            </p:cNvCxnSpPr>
            <p:nvPr/>
          </p:nvCxnSpPr>
          <p:spPr>
            <a:xfrm>
              <a:off x="4819332" y="3588634"/>
              <a:ext cx="39393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9" idx="3"/>
              <a:endCxn id="10" idx="1"/>
            </p:cNvCxnSpPr>
            <p:nvPr/>
          </p:nvCxnSpPr>
          <p:spPr>
            <a:xfrm>
              <a:off x="5989649" y="3588634"/>
              <a:ext cx="379565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接點 24"/>
            <p:cNvCxnSpPr>
              <a:stCxn id="10" idx="3"/>
            </p:cNvCxnSpPr>
            <p:nvPr/>
          </p:nvCxnSpPr>
          <p:spPr>
            <a:xfrm>
              <a:off x="7145592" y="3588634"/>
              <a:ext cx="389581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7392837" y="378273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7450351" y="3857498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/>
            <p:cNvSpPr txBox="1"/>
            <p:nvPr/>
          </p:nvSpPr>
          <p:spPr>
            <a:xfrm>
              <a:off x="1664898" y="3390226"/>
              <a:ext cx="7459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 A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線單箭頭接點 36"/>
            <p:cNvCxnSpPr>
              <a:stCxn id="36" idx="3"/>
              <a:endCxn id="7" idx="1"/>
            </p:cNvCxnSpPr>
            <p:nvPr/>
          </p:nvCxnSpPr>
          <p:spPr>
            <a:xfrm flipV="1">
              <a:off x="2410871" y="3588634"/>
              <a:ext cx="479019" cy="1647"/>
            </a:xfrm>
            <a:prstGeom prst="straightConnector1">
              <a:avLst/>
            </a:prstGeom>
            <a:ln w="28575">
              <a:solidFill>
                <a:srgbClr val="B6DCD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1567451" y="3638071"/>
            <a:ext cx="6111621" cy="755207"/>
            <a:chOff x="1567451" y="4103353"/>
            <a:chExt cx="6111621" cy="755207"/>
          </a:xfrm>
        </p:grpSpPr>
        <p:sp>
          <p:nvSpPr>
            <p:cNvPr id="14" name="圓角矩形 13"/>
            <p:cNvSpPr/>
            <p:nvPr/>
          </p:nvSpPr>
          <p:spPr>
            <a:xfrm>
              <a:off x="2889890" y="410335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中國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4042954" y="410335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美國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5213271" y="410335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英國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6369214" y="410335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蘇俄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8" name="直線單箭頭接點 17"/>
            <p:cNvCxnSpPr>
              <a:stCxn id="14" idx="3"/>
              <a:endCxn id="15" idx="1"/>
            </p:cNvCxnSpPr>
            <p:nvPr/>
          </p:nvCxnSpPr>
          <p:spPr>
            <a:xfrm>
              <a:off x="3666268" y="4301762"/>
              <a:ext cx="376686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15" idx="3"/>
              <a:endCxn id="16" idx="1"/>
            </p:cNvCxnSpPr>
            <p:nvPr/>
          </p:nvCxnSpPr>
          <p:spPr>
            <a:xfrm>
              <a:off x="4819332" y="4301762"/>
              <a:ext cx="39393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16" idx="3"/>
              <a:endCxn id="17" idx="1"/>
            </p:cNvCxnSpPr>
            <p:nvPr/>
          </p:nvCxnSpPr>
          <p:spPr>
            <a:xfrm>
              <a:off x="5989649" y="4301762"/>
              <a:ext cx="379565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接點 25"/>
            <p:cNvCxnSpPr>
              <a:stCxn id="17" idx="3"/>
            </p:cNvCxnSpPr>
            <p:nvPr/>
          </p:nvCxnSpPr>
          <p:spPr>
            <a:xfrm>
              <a:off x="7145592" y="4301762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7394400" y="4504486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7447483" y="4579214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群組 47"/>
            <p:cNvGrpSpPr/>
            <p:nvPr/>
          </p:nvGrpSpPr>
          <p:grpSpPr>
            <a:xfrm>
              <a:off x="1656316" y="4103353"/>
              <a:ext cx="776378" cy="396815"/>
              <a:chOff x="1656316" y="4957327"/>
              <a:chExt cx="776378" cy="396815"/>
            </a:xfrm>
          </p:grpSpPr>
          <p:sp>
            <p:nvSpPr>
              <p:cNvPr id="40" name="圓角矩形 39"/>
              <p:cNvSpPr/>
              <p:nvPr/>
            </p:nvSpPr>
            <p:spPr>
              <a:xfrm>
                <a:off x="1656316" y="4957327"/>
                <a:ext cx="776378" cy="39681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42" name="直線接點 41"/>
              <p:cNvCxnSpPr/>
              <p:nvPr/>
            </p:nvCxnSpPr>
            <p:spPr>
              <a:xfrm flipV="1">
                <a:off x="1664898" y="4957328"/>
                <a:ext cx="745973" cy="388188"/>
              </a:xfrm>
              <a:prstGeom prst="line">
                <a:avLst/>
              </a:prstGeom>
              <a:ln w="28575">
                <a:solidFill>
                  <a:srgbClr val="89A4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線單箭頭接點 44"/>
            <p:cNvCxnSpPr>
              <a:stCxn id="40" idx="3"/>
              <a:endCxn id="14" idx="1"/>
            </p:cNvCxnSpPr>
            <p:nvPr/>
          </p:nvCxnSpPr>
          <p:spPr>
            <a:xfrm>
              <a:off x="2432694" y="4301761"/>
              <a:ext cx="45719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1567451" y="4458450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首節點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78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用結構體陣列實作鏈結串列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結構體：多個欄位的複合資料</a:t>
            </a:r>
            <a:endParaRPr lang="en-US" altLang="zh-TW" dirty="0" smtClean="0"/>
          </a:p>
          <a:p>
            <a:r>
              <a:rPr lang="zh-TW" altLang="en-US" dirty="0" smtClean="0"/>
              <a:t>宣告結構體陣列 </a:t>
            </a:r>
            <a:r>
              <a:rPr lang="en-US" altLang="zh-TW" dirty="0" smtClean="0"/>
              <a:t>table[9]</a:t>
            </a:r>
          </a:p>
          <a:p>
            <a:pPr lvl="1"/>
            <a:r>
              <a:rPr lang="en-US" altLang="zh-TW" dirty="0" smtClean="0"/>
              <a:t>data </a:t>
            </a:r>
            <a:r>
              <a:rPr lang="zh-TW" altLang="en-US" dirty="0" smtClean="0"/>
              <a:t>欄位：存放資料本身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next</a:t>
            </a:r>
            <a:r>
              <a:rPr lang="zh-TW" altLang="en-US" dirty="0" smtClean="0"/>
              <a:t> 欄位：存放整數資料，指出下一個資料的位置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table[0]</a:t>
            </a:r>
            <a:r>
              <a:rPr lang="zh-TW" altLang="en-US" dirty="0" smtClean="0"/>
              <a:t>：首節點，固定佔用第</a:t>
            </a:r>
            <a:r>
              <a:rPr lang="en-US" altLang="zh-TW" dirty="0" smtClean="0"/>
              <a:t>0</a:t>
            </a:r>
            <a:r>
              <a:rPr lang="zh-TW" altLang="en-US" dirty="0" smtClean="0"/>
              <a:t>個位置，不可被刪除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節點散佈在陣列中，實體位置沒有連續，但根據鏈結可                                 以得到順序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668877" y="2125417"/>
          <a:ext cx="1388856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美國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蘇俄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群組 17"/>
          <p:cNvGrpSpPr/>
          <p:nvPr/>
        </p:nvGrpSpPr>
        <p:grpSpPr>
          <a:xfrm>
            <a:off x="440283" y="4807399"/>
            <a:ext cx="6111621" cy="797314"/>
            <a:chOff x="483413" y="4626253"/>
            <a:chExt cx="6111621" cy="797314"/>
          </a:xfrm>
        </p:grpSpPr>
        <p:sp>
          <p:nvSpPr>
            <p:cNvPr id="8" name="圓角矩形 7"/>
            <p:cNvSpPr/>
            <p:nvPr/>
          </p:nvSpPr>
          <p:spPr>
            <a:xfrm>
              <a:off x="1805852" y="464248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2958916" y="464248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4129233" y="464248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285176" y="464248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2" name="直線單箭頭接點 11"/>
            <p:cNvCxnSpPr>
              <a:stCxn id="8" idx="3"/>
              <a:endCxn id="9" idx="1"/>
            </p:cNvCxnSpPr>
            <p:nvPr/>
          </p:nvCxnSpPr>
          <p:spPr>
            <a:xfrm>
              <a:off x="2582230" y="4840891"/>
              <a:ext cx="376686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9" idx="3"/>
              <a:endCxn id="10" idx="1"/>
            </p:cNvCxnSpPr>
            <p:nvPr/>
          </p:nvCxnSpPr>
          <p:spPr>
            <a:xfrm>
              <a:off x="3735294" y="4840891"/>
              <a:ext cx="39393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10" idx="3"/>
              <a:endCxn id="11" idx="1"/>
            </p:cNvCxnSpPr>
            <p:nvPr/>
          </p:nvCxnSpPr>
          <p:spPr>
            <a:xfrm>
              <a:off x="4905611" y="4840891"/>
              <a:ext cx="379565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接點 14"/>
            <p:cNvCxnSpPr>
              <a:stCxn id="11" idx="3"/>
            </p:cNvCxnSpPr>
            <p:nvPr/>
          </p:nvCxnSpPr>
          <p:spPr>
            <a:xfrm>
              <a:off x="6061554" y="4840891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6310362" y="5043615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6363445" y="5118343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圓角矩形 18"/>
            <p:cNvSpPr/>
            <p:nvPr/>
          </p:nvSpPr>
          <p:spPr>
            <a:xfrm>
              <a:off x="572278" y="4642482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1" name="直線單箭頭接點 20"/>
            <p:cNvCxnSpPr>
              <a:stCxn id="19" idx="3"/>
              <a:endCxn id="8" idx="1"/>
            </p:cNvCxnSpPr>
            <p:nvPr/>
          </p:nvCxnSpPr>
          <p:spPr>
            <a:xfrm>
              <a:off x="1348656" y="4840890"/>
              <a:ext cx="45719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483413" y="5023457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首節點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4" name="直線接點 23"/>
            <p:cNvCxnSpPr>
              <a:stCxn id="8" idx="0"/>
              <a:endCxn id="8" idx="2"/>
            </p:cNvCxnSpPr>
            <p:nvPr/>
          </p:nvCxnSpPr>
          <p:spPr>
            <a:xfrm>
              <a:off x="2194041" y="464248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9" idx="0"/>
              <a:endCxn id="19" idx="2"/>
            </p:cNvCxnSpPr>
            <p:nvPr/>
          </p:nvCxnSpPr>
          <p:spPr>
            <a:xfrm>
              <a:off x="960467" y="464248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9" idx="0"/>
              <a:endCxn id="9" idx="2"/>
            </p:cNvCxnSpPr>
            <p:nvPr/>
          </p:nvCxnSpPr>
          <p:spPr>
            <a:xfrm>
              <a:off x="3347105" y="464248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0" idx="0"/>
              <a:endCxn id="10" idx="2"/>
            </p:cNvCxnSpPr>
            <p:nvPr/>
          </p:nvCxnSpPr>
          <p:spPr>
            <a:xfrm>
              <a:off x="4517422" y="464248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11" idx="0"/>
              <a:endCxn id="11" idx="2"/>
            </p:cNvCxnSpPr>
            <p:nvPr/>
          </p:nvCxnSpPr>
          <p:spPr>
            <a:xfrm>
              <a:off x="5673365" y="464248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/>
            <p:cNvSpPr txBox="1"/>
            <p:nvPr/>
          </p:nvSpPr>
          <p:spPr>
            <a:xfrm>
              <a:off x="5275349" y="462625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771348" y="464083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2933038" y="463206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4103355" y="464083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233498" y="46320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95535" y="463918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3391436" y="462638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4561753" y="462650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5708433" y="463918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717154" y="1727251"/>
            <a:ext cx="2297179" cy="3969631"/>
            <a:chOff x="6717154" y="1727251"/>
            <a:chExt cx="2297179" cy="3969631"/>
          </a:xfrm>
        </p:grpSpPr>
        <p:sp>
          <p:nvSpPr>
            <p:cNvPr id="48" name="文字方塊 47"/>
            <p:cNvSpPr txBox="1"/>
            <p:nvPr/>
          </p:nvSpPr>
          <p:spPr>
            <a:xfrm>
              <a:off x="6717157" y="213069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6717157" y="2522174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6717156" y="2917374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6717156" y="3308858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table[3]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6717156" y="3709838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6717156" y="4101322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table[5]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6717155" y="4496522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table[6]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6717155" y="4888006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table[7]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6717154" y="5296772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table[8]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7665483" y="1730580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8403268" y="1727251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18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插入</a:t>
            </a:r>
            <a:r>
              <a:rPr lang="en-US" altLang="zh-TW" dirty="0" smtClean="0"/>
              <a:t>(insert)</a:t>
            </a:r>
            <a:r>
              <a:rPr lang="zh-TW" altLang="en-US" dirty="0" smtClean="0"/>
              <a:t>新節點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在節點英國之後插入新節點法國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找到一個空節點填入法國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找到英國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將英國的</a:t>
            </a:r>
            <a:r>
              <a:rPr lang="en-US" altLang="zh-TW" dirty="0" smtClean="0"/>
              <a:t>next</a:t>
            </a:r>
            <a:r>
              <a:rPr lang="zh-TW" altLang="en-US" dirty="0" smtClean="0"/>
              <a:t>複</a:t>
            </a:r>
            <a:r>
              <a:rPr lang="zh-TW" altLang="en-US" dirty="0"/>
              <a:t>製</a:t>
            </a:r>
            <a:r>
              <a:rPr lang="zh-TW" altLang="en-US" dirty="0" smtClean="0"/>
              <a:t>到法國的</a:t>
            </a:r>
            <a:r>
              <a:rPr lang="en-US" altLang="zh-TW" dirty="0" smtClean="0"/>
              <a:t>next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將法國的位置填入英國的</a:t>
            </a:r>
            <a:r>
              <a:rPr lang="en-US" altLang="zh-TW" dirty="0" smtClean="0"/>
              <a:t>next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668877" y="2125417"/>
          <a:ext cx="1388856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美國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蘇俄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717157" y="213069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717157" y="2522174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17156" y="2917374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717156" y="3308858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717156" y="3709838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17156" y="410132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717155" y="449652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17155" y="4888006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717154" y="529677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1805852" y="41076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958916" y="41076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4129233" y="41076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5285176" y="41076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單箭頭接點 20"/>
          <p:cNvCxnSpPr>
            <a:stCxn id="17" idx="3"/>
            <a:endCxn id="18" idx="1"/>
          </p:cNvCxnSpPr>
          <p:nvPr/>
        </p:nvCxnSpPr>
        <p:spPr>
          <a:xfrm>
            <a:off x="2582230" y="4306079"/>
            <a:ext cx="376686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8" idx="3"/>
            <a:endCxn id="19" idx="1"/>
          </p:cNvCxnSpPr>
          <p:nvPr/>
        </p:nvCxnSpPr>
        <p:spPr>
          <a:xfrm>
            <a:off x="3735294" y="4306079"/>
            <a:ext cx="393939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9" idx="3"/>
            <a:endCxn id="20" idx="1"/>
          </p:cNvCxnSpPr>
          <p:nvPr/>
        </p:nvCxnSpPr>
        <p:spPr>
          <a:xfrm>
            <a:off x="4905611" y="4306079"/>
            <a:ext cx="379565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接點 23"/>
          <p:cNvCxnSpPr>
            <a:stCxn id="20" idx="3"/>
          </p:cNvCxnSpPr>
          <p:nvPr/>
        </p:nvCxnSpPr>
        <p:spPr>
          <a:xfrm>
            <a:off x="6061554" y="4306079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310362" y="4508803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6363445" y="4583531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圓角矩形 26"/>
          <p:cNvSpPr/>
          <p:nvPr/>
        </p:nvSpPr>
        <p:spPr>
          <a:xfrm>
            <a:off x="572278" y="410767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8" name="直線單箭頭接點 27"/>
          <p:cNvCxnSpPr>
            <a:stCxn id="27" idx="3"/>
            <a:endCxn id="17" idx="1"/>
          </p:cNvCxnSpPr>
          <p:nvPr/>
        </p:nvCxnSpPr>
        <p:spPr>
          <a:xfrm>
            <a:off x="1348656" y="4306078"/>
            <a:ext cx="45719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483413" y="44886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0" name="直線接點 29"/>
          <p:cNvCxnSpPr>
            <a:stCxn id="17" idx="0"/>
            <a:endCxn id="17" idx="2"/>
          </p:cNvCxnSpPr>
          <p:nvPr/>
        </p:nvCxnSpPr>
        <p:spPr>
          <a:xfrm>
            <a:off x="2194041" y="41076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0"/>
            <a:endCxn id="27" idx="2"/>
          </p:cNvCxnSpPr>
          <p:nvPr/>
        </p:nvCxnSpPr>
        <p:spPr>
          <a:xfrm>
            <a:off x="960467" y="410767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8" idx="0"/>
            <a:endCxn id="18" idx="2"/>
          </p:cNvCxnSpPr>
          <p:nvPr/>
        </p:nvCxnSpPr>
        <p:spPr>
          <a:xfrm>
            <a:off x="3347105" y="41076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9" idx="0"/>
            <a:endCxn id="19" idx="2"/>
          </p:cNvCxnSpPr>
          <p:nvPr/>
        </p:nvCxnSpPr>
        <p:spPr>
          <a:xfrm>
            <a:off x="4517422" y="41076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0" idx="0"/>
            <a:endCxn id="20" idx="2"/>
          </p:cNvCxnSpPr>
          <p:nvPr/>
        </p:nvCxnSpPr>
        <p:spPr>
          <a:xfrm>
            <a:off x="5673365" y="41076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275349" y="40914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771348" y="410602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933038" y="409725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103355" y="410602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233498" y="409725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95535" y="41043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391436" y="40915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561753" y="40916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708433" y="41043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4" name="群組 63"/>
          <p:cNvGrpSpPr/>
          <p:nvPr/>
        </p:nvGrpSpPr>
        <p:grpSpPr>
          <a:xfrm>
            <a:off x="4698740" y="4827775"/>
            <a:ext cx="802256" cy="400110"/>
            <a:chOff x="4698740" y="4827775"/>
            <a:chExt cx="802256" cy="400110"/>
          </a:xfrm>
        </p:grpSpPr>
        <p:sp>
          <p:nvSpPr>
            <p:cNvPr id="44" name="圓角矩形 43"/>
            <p:cNvSpPr/>
            <p:nvPr/>
          </p:nvSpPr>
          <p:spPr>
            <a:xfrm>
              <a:off x="4724618" y="482942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2"/>
            </p:cNvCxnSpPr>
            <p:nvPr/>
          </p:nvCxnSpPr>
          <p:spPr>
            <a:xfrm>
              <a:off x="5112807" y="482942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字方塊 45"/>
            <p:cNvSpPr txBox="1"/>
            <p:nvPr/>
          </p:nvSpPr>
          <p:spPr>
            <a:xfrm>
              <a:off x="4698740" y="482777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47" name="文字方塊 46"/>
          <p:cNvSpPr txBox="1"/>
          <p:nvPr/>
        </p:nvSpPr>
        <p:spPr>
          <a:xfrm>
            <a:off x="5157138" y="48220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7671816" y="290874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法國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乘號 54"/>
          <p:cNvSpPr/>
          <p:nvPr/>
        </p:nvSpPr>
        <p:spPr>
          <a:xfrm>
            <a:off x="4951159" y="4197424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4568165" y="4114413"/>
            <a:ext cx="312906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8585197" y="4529785"/>
            <a:ext cx="312906" cy="360000"/>
          </a:xfrm>
          <a:prstGeom prst="rect">
            <a:avLst/>
          </a:prstGeom>
          <a:solidFill>
            <a:srgbClr val="F3F9FA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582940" y="2932170"/>
            <a:ext cx="312906" cy="360000"/>
          </a:xfrm>
          <a:prstGeom prst="rect">
            <a:avLst/>
          </a:prstGeom>
          <a:solidFill>
            <a:srgbClr val="F3F9FA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7740194" y="4508803"/>
            <a:ext cx="567044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肘形接點 60"/>
          <p:cNvCxnSpPr>
            <a:stCxn id="42" idx="2"/>
            <a:endCxn id="46" idx="1"/>
          </p:cNvCxnSpPr>
          <p:nvPr/>
        </p:nvCxnSpPr>
        <p:spPr>
          <a:xfrm rot="5400000">
            <a:off x="4440462" y="4750085"/>
            <a:ext cx="536023" cy="19466"/>
          </a:xfrm>
          <a:prstGeom prst="bentConnector4">
            <a:avLst>
              <a:gd name="adj1" fmla="val 31339"/>
              <a:gd name="adj2" fmla="val 1274355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肘形接點 62"/>
          <p:cNvCxnSpPr>
            <a:stCxn id="44" idx="3"/>
          </p:cNvCxnSpPr>
          <p:nvPr/>
        </p:nvCxnSpPr>
        <p:spPr>
          <a:xfrm flipH="1" flipV="1">
            <a:off x="5495922" y="4496522"/>
            <a:ext cx="5074" cy="531310"/>
          </a:xfrm>
          <a:prstGeom prst="bentConnector4">
            <a:avLst>
              <a:gd name="adj1" fmla="val -4505321"/>
              <a:gd name="adj2" fmla="val 68672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4129233" y="4100463"/>
            <a:ext cx="745426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08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  <p:bldP spid="55" grpId="0" animBg="1"/>
      <p:bldP spid="56" grpId="0" animBg="1"/>
      <p:bldP spid="57" grpId="0" animBg="1"/>
      <p:bldP spid="58" grpId="0" animBg="1"/>
      <p:bldP spid="49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/>
              <a:t>(delete)</a:t>
            </a:r>
            <a:r>
              <a:rPr lang="zh-TW" altLang="en-US" dirty="0" smtClean="0"/>
              <a:t>某節點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將節點英國刪除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沿著鏈節找到英國的位置，及前一個節點美國的位置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將英國的</a:t>
            </a:r>
            <a:r>
              <a:rPr lang="en-US" altLang="zh-TW" dirty="0" smtClean="0"/>
              <a:t>next</a:t>
            </a:r>
            <a:r>
              <a:rPr lang="zh-TW" altLang="en-US" dirty="0" smtClean="0"/>
              <a:t>複製到美國的</a:t>
            </a:r>
            <a:r>
              <a:rPr lang="en-US" altLang="zh-TW" dirty="0" smtClean="0"/>
              <a:t>next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/>
              <a:t>將節點英國還原為空節點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優點：鏈結方式簡單</a:t>
            </a:r>
            <a:endParaRPr lang="en-US" altLang="zh-TW" dirty="0" smtClean="0"/>
          </a:p>
          <a:p>
            <a:r>
              <a:rPr lang="zh-TW" altLang="en-US" dirty="0" smtClean="0"/>
              <a:t>缺點：需先宣告陣列大小，缺乏彈性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668877" y="2125417"/>
          <a:ext cx="1388856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美國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英國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蘇俄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717157" y="213069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717157" y="2522174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17156" y="2917374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717156" y="3308858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717156" y="3709838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17156" y="410132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717155" y="449652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17155" y="4888006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717154" y="5296772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671816" y="290874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法國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550695" y="2539426"/>
            <a:ext cx="312906" cy="400110"/>
          </a:xfrm>
          <a:prstGeom prst="rect">
            <a:avLst/>
          </a:prstGeom>
          <a:solidFill>
            <a:srgbClr val="E7F3F4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517491" y="4522400"/>
            <a:ext cx="397866" cy="400110"/>
          </a:xfrm>
          <a:prstGeom prst="rect">
            <a:avLst/>
          </a:prstGeom>
          <a:solidFill>
            <a:srgbClr val="F3F9FA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乘號 19"/>
          <p:cNvSpPr/>
          <p:nvPr/>
        </p:nvSpPr>
        <p:spPr>
          <a:xfrm>
            <a:off x="7840629" y="4516577"/>
            <a:ext cx="360000" cy="360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1210658" y="358136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2286088" y="358136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396023" y="358136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5492200" y="358136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直線單箭頭接點 24"/>
          <p:cNvCxnSpPr>
            <a:stCxn id="21" idx="3"/>
            <a:endCxn id="22" idx="1"/>
          </p:cNvCxnSpPr>
          <p:nvPr/>
        </p:nvCxnSpPr>
        <p:spPr>
          <a:xfrm>
            <a:off x="1987036" y="3779776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2" idx="3"/>
            <a:endCxn id="23" idx="1"/>
          </p:cNvCxnSpPr>
          <p:nvPr/>
        </p:nvCxnSpPr>
        <p:spPr>
          <a:xfrm>
            <a:off x="3062466" y="3779776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3" idx="3"/>
            <a:endCxn id="49" idx="1"/>
          </p:cNvCxnSpPr>
          <p:nvPr/>
        </p:nvCxnSpPr>
        <p:spPr>
          <a:xfrm flipV="1">
            <a:off x="4172401" y="3779705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stCxn id="24" idx="3"/>
          </p:cNvCxnSpPr>
          <p:nvPr/>
        </p:nvCxnSpPr>
        <p:spPr>
          <a:xfrm>
            <a:off x="6268578" y="3779776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517386" y="3982500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570469" y="4057228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圓角矩形 30"/>
          <p:cNvSpPr/>
          <p:nvPr/>
        </p:nvSpPr>
        <p:spPr>
          <a:xfrm>
            <a:off x="149604" y="358136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2" name="直線單箭頭接點 31"/>
          <p:cNvCxnSpPr>
            <a:stCxn id="31" idx="3"/>
            <a:endCxn id="21" idx="1"/>
          </p:cNvCxnSpPr>
          <p:nvPr/>
        </p:nvCxnSpPr>
        <p:spPr>
          <a:xfrm>
            <a:off x="925982" y="3779775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68726" y="396234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4" name="直線接點 33"/>
          <p:cNvCxnSpPr>
            <a:stCxn id="21" idx="0"/>
            <a:endCxn id="21" idx="2"/>
          </p:cNvCxnSpPr>
          <p:nvPr/>
        </p:nvCxnSpPr>
        <p:spPr>
          <a:xfrm>
            <a:off x="1598847" y="358136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1" idx="0"/>
            <a:endCxn id="31" idx="2"/>
          </p:cNvCxnSpPr>
          <p:nvPr/>
        </p:nvCxnSpPr>
        <p:spPr>
          <a:xfrm>
            <a:off x="537793" y="358136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22" idx="0"/>
            <a:endCxn id="22" idx="2"/>
          </p:cNvCxnSpPr>
          <p:nvPr/>
        </p:nvCxnSpPr>
        <p:spPr>
          <a:xfrm>
            <a:off x="2674277" y="358136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23" idx="0"/>
            <a:endCxn id="23" idx="2"/>
          </p:cNvCxnSpPr>
          <p:nvPr/>
        </p:nvCxnSpPr>
        <p:spPr>
          <a:xfrm>
            <a:off x="3784212" y="358136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24" idx="0"/>
            <a:endCxn id="24" idx="2"/>
          </p:cNvCxnSpPr>
          <p:nvPr/>
        </p:nvCxnSpPr>
        <p:spPr>
          <a:xfrm>
            <a:off x="5880389" y="358136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5466322" y="357291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176154" y="357971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260210" y="357095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70145" y="357971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638304" y="357095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72861" y="35780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718608" y="35652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828543" y="35653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5915457" y="35780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4466429" y="358129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0" name="直線接點 49"/>
          <p:cNvCxnSpPr>
            <a:stCxn id="49" idx="0"/>
            <a:endCxn id="49" idx="2"/>
          </p:cNvCxnSpPr>
          <p:nvPr/>
        </p:nvCxnSpPr>
        <p:spPr>
          <a:xfrm>
            <a:off x="4854618" y="35812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4466429" y="357807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898949" y="35836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5" name="乘號 54"/>
          <p:cNvSpPr/>
          <p:nvPr/>
        </p:nvSpPr>
        <p:spPr>
          <a:xfrm>
            <a:off x="3121244" y="3682032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2709982" y="3580861"/>
            <a:ext cx="312906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1" name="直線單箭頭接點 60"/>
          <p:cNvCxnSpPr>
            <a:stCxn id="49" idx="3"/>
            <a:endCxn id="24" idx="1"/>
          </p:cNvCxnSpPr>
          <p:nvPr/>
        </p:nvCxnSpPr>
        <p:spPr>
          <a:xfrm>
            <a:off x="5242807" y="3779705"/>
            <a:ext cx="249393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接點 66"/>
          <p:cNvCxnSpPr>
            <a:stCxn id="45" idx="2"/>
            <a:endCxn id="51" idx="2"/>
          </p:cNvCxnSpPr>
          <p:nvPr/>
        </p:nvCxnSpPr>
        <p:spPr>
          <a:xfrm rot="16200000" flipH="1">
            <a:off x="3774628" y="3065808"/>
            <a:ext cx="12806" cy="1811941"/>
          </a:xfrm>
          <a:prstGeom prst="bentConnector3">
            <a:avLst>
              <a:gd name="adj1" fmla="val 188510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乘號 67"/>
          <p:cNvSpPr/>
          <p:nvPr/>
        </p:nvSpPr>
        <p:spPr>
          <a:xfrm>
            <a:off x="3514212" y="3501008"/>
            <a:ext cx="540000" cy="540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7671816" y="4504415"/>
            <a:ext cx="697627" cy="392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7671815" y="2516531"/>
            <a:ext cx="697627" cy="39221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3415632" y="3570125"/>
            <a:ext cx="756769" cy="392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2274745" y="3583932"/>
            <a:ext cx="756769" cy="39221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乘號 62"/>
          <p:cNvSpPr/>
          <p:nvPr/>
        </p:nvSpPr>
        <p:spPr>
          <a:xfrm>
            <a:off x="4194163" y="3670113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33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3" grpId="0" animBg="1"/>
      <p:bldP spid="42" grpId="0"/>
      <p:bldP spid="46" grpId="0"/>
      <p:bldP spid="55" grpId="0" animBg="1"/>
      <p:bldP spid="55" grpId="1" animBg="1"/>
      <p:bldP spid="56" grpId="0" animBg="1"/>
      <p:bldP spid="68" grpId="0" animBg="1"/>
      <p:bldP spid="68" grpId="1" animBg="1"/>
      <p:bldP spid="48" grpId="0" animBg="1"/>
      <p:bldP spid="58" grpId="0" animBg="1"/>
      <p:bldP spid="59" grpId="0" animBg="1"/>
      <p:bldP spid="59" grpId="1" animBg="1"/>
      <p:bldP spid="60" grpId="0" animBg="1"/>
      <p:bldP spid="63" grpId="0" animBg="1"/>
      <p:bldP spid="6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儲存台灣著名景點的節點陣列如右：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將阿里山插入太魯閣之後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刪除太魯閣</a:t>
            </a:r>
            <a:endParaRPr lang="zh-TW" altLang="en-US" dirty="0"/>
          </a:p>
        </p:txBody>
      </p:sp>
      <p:cxnSp>
        <p:nvCxnSpPr>
          <p:cNvPr id="55" name="肘形接點 54"/>
          <p:cNvCxnSpPr>
            <a:stCxn id="79" idx="2"/>
            <a:endCxn id="78" idx="2"/>
          </p:cNvCxnSpPr>
          <p:nvPr/>
        </p:nvCxnSpPr>
        <p:spPr>
          <a:xfrm rot="16200000" flipH="1">
            <a:off x="2685567" y="4566836"/>
            <a:ext cx="8766" cy="1795961"/>
          </a:xfrm>
          <a:prstGeom prst="bentConnector3">
            <a:avLst>
              <a:gd name="adj1" fmla="val 2707803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群組 144"/>
          <p:cNvGrpSpPr/>
          <p:nvPr/>
        </p:nvGrpSpPr>
        <p:grpSpPr>
          <a:xfrm>
            <a:off x="146817" y="5054765"/>
            <a:ext cx="6652454" cy="491834"/>
            <a:chOff x="146817" y="5054765"/>
            <a:chExt cx="6652454" cy="491834"/>
          </a:xfrm>
        </p:grpSpPr>
        <p:sp>
          <p:nvSpPr>
            <p:cNvPr id="57" name="圓角矩形 56"/>
            <p:cNvSpPr/>
            <p:nvPr/>
          </p:nvSpPr>
          <p:spPr>
            <a:xfrm>
              <a:off x="1207871" y="507073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8" name="圓角矩形 57"/>
            <p:cNvSpPr/>
            <p:nvPr/>
          </p:nvSpPr>
          <p:spPr>
            <a:xfrm>
              <a:off x="2283301" y="507073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9" name="圓角矩形 58"/>
            <p:cNvSpPr/>
            <p:nvPr/>
          </p:nvSpPr>
          <p:spPr>
            <a:xfrm>
              <a:off x="3393236" y="507073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0" name="圓角矩形 59"/>
            <p:cNvSpPr/>
            <p:nvPr/>
          </p:nvSpPr>
          <p:spPr>
            <a:xfrm>
              <a:off x="5489413" y="507073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1" name="直線單箭頭接點 60"/>
            <p:cNvCxnSpPr>
              <a:stCxn id="57" idx="3"/>
              <a:endCxn id="58" idx="1"/>
            </p:cNvCxnSpPr>
            <p:nvPr/>
          </p:nvCxnSpPr>
          <p:spPr>
            <a:xfrm>
              <a:off x="1984249" y="5269147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>
              <a:stCxn id="58" idx="3"/>
              <a:endCxn id="59" idx="1"/>
            </p:cNvCxnSpPr>
            <p:nvPr/>
          </p:nvCxnSpPr>
          <p:spPr>
            <a:xfrm>
              <a:off x="3059679" y="5269147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59" idx="3"/>
              <a:endCxn id="84" idx="1"/>
            </p:cNvCxnSpPr>
            <p:nvPr/>
          </p:nvCxnSpPr>
          <p:spPr>
            <a:xfrm flipV="1">
              <a:off x="4169614" y="5269076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肘形接點 63"/>
            <p:cNvCxnSpPr>
              <a:stCxn id="60" idx="3"/>
            </p:cNvCxnSpPr>
            <p:nvPr/>
          </p:nvCxnSpPr>
          <p:spPr>
            <a:xfrm>
              <a:off x="6265791" y="5269147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>
              <a:off x="6514599" y="5471871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/>
            <p:nvPr/>
          </p:nvCxnSpPr>
          <p:spPr>
            <a:xfrm>
              <a:off x="6567682" y="5546599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圓角矩形 66"/>
            <p:cNvSpPr/>
            <p:nvPr/>
          </p:nvSpPr>
          <p:spPr>
            <a:xfrm>
              <a:off x="146817" y="507073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8" name="直線單箭頭接點 67"/>
            <p:cNvCxnSpPr>
              <a:stCxn id="67" idx="3"/>
              <a:endCxn id="57" idx="1"/>
            </p:cNvCxnSpPr>
            <p:nvPr/>
          </p:nvCxnSpPr>
          <p:spPr>
            <a:xfrm>
              <a:off x="923195" y="5269146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57" idx="0"/>
              <a:endCxn id="57" idx="2"/>
            </p:cNvCxnSpPr>
            <p:nvPr/>
          </p:nvCxnSpPr>
          <p:spPr>
            <a:xfrm>
              <a:off x="1596060" y="507073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67" idx="0"/>
              <a:endCxn id="67" idx="2"/>
            </p:cNvCxnSpPr>
            <p:nvPr/>
          </p:nvCxnSpPr>
          <p:spPr>
            <a:xfrm>
              <a:off x="535006" y="50707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/>
            <p:cNvCxnSpPr>
              <a:stCxn id="58" idx="0"/>
              <a:endCxn id="58" idx="2"/>
            </p:cNvCxnSpPr>
            <p:nvPr/>
          </p:nvCxnSpPr>
          <p:spPr>
            <a:xfrm>
              <a:off x="2671490" y="507073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59" idx="0"/>
              <a:endCxn id="59" idx="2"/>
            </p:cNvCxnSpPr>
            <p:nvPr/>
          </p:nvCxnSpPr>
          <p:spPr>
            <a:xfrm>
              <a:off x="3781425" y="507073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>
              <a:stCxn id="60" idx="0"/>
              <a:endCxn id="60" idx="2"/>
            </p:cNvCxnSpPr>
            <p:nvPr/>
          </p:nvCxnSpPr>
          <p:spPr>
            <a:xfrm>
              <a:off x="5877602" y="507073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5463535" y="50622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墾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1173367" y="506909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溪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2257423" y="506032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太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3367358" y="506909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阿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1635517" y="50603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70074" y="50674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825756" y="505476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5912670" y="50674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4" name="圓角矩形 83"/>
            <p:cNvSpPr/>
            <p:nvPr/>
          </p:nvSpPr>
          <p:spPr>
            <a:xfrm>
              <a:off x="4463642" y="507066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5" name="直線接點 84"/>
            <p:cNvCxnSpPr>
              <a:stCxn id="84" idx="0"/>
              <a:endCxn id="84" idx="2"/>
            </p:cNvCxnSpPr>
            <p:nvPr/>
          </p:nvCxnSpPr>
          <p:spPr>
            <a:xfrm>
              <a:off x="4851831" y="507066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字方塊 85"/>
            <p:cNvSpPr txBox="1"/>
            <p:nvPr/>
          </p:nvSpPr>
          <p:spPr>
            <a:xfrm>
              <a:off x="4463642" y="506744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日</a:t>
              </a: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4896162" y="50730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線單箭頭接點 87"/>
            <p:cNvCxnSpPr>
              <a:stCxn id="84" idx="3"/>
              <a:endCxn id="60" idx="1"/>
            </p:cNvCxnSpPr>
            <p:nvPr/>
          </p:nvCxnSpPr>
          <p:spPr>
            <a:xfrm>
              <a:off x="5240020" y="5269076"/>
              <a:ext cx="249393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以陣列實作鏈結串列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355333" y="1625085"/>
          <a:ext cx="1702808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日月潭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墾丁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溪頭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太魯閣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912547" y="16303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12547" y="202184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912546" y="241704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912546" y="280852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912546" y="320950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912546" y="360099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912545" y="399619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912545" y="438767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912544" y="479644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575425" y="4429533"/>
            <a:ext cx="312906" cy="324000"/>
          </a:xfrm>
          <a:prstGeom prst="rect">
            <a:avLst/>
          </a:prstGeom>
          <a:solidFill>
            <a:srgbClr val="E7F3F4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556557" y="2825778"/>
            <a:ext cx="312906" cy="400110"/>
          </a:xfrm>
          <a:prstGeom prst="rect">
            <a:avLst/>
          </a:prstGeom>
          <a:solidFill>
            <a:srgbClr val="E7F3F4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乘號 19"/>
          <p:cNvSpPr/>
          <p:nvPr/>
        </p:nvSpPr>
        <p:spPr>
          <a:xfrm>
            <a:off x="7701083" y="4427784"/>
            <a:ext cx="360000" cy="360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1229095" y="290979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2304525" y="290979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414460" y="290979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直線單箭頭接點 24"/>
          <p:cNvCxnSpPr>
            <a:stCxn id="21" idx="3"/>
            <a:endCxn id="22" idx="1"/>
          </p:cNvCxnSpPr>
          <p:nvPr/>
        </p:nvCxnSpPr>
        <p:spPr>
          <a:xfrm>
            <a:off x="2005473" y="3108198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2" idx="3"/>
            <a:endCxn id="23" idx="1"/>
          </p:cNvCxnSpPr>
          <p:nvPr/>
        </p:nvCxnSpPr>
        <p:spPr>
          <a:xfrm>
            <a:off x="3080903" y="3108198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3" idx="3"/>
            <a:endCxn id="48" idx="1"/>
          </p:cNvCxnSpPr>
          <p:nvPr/>
        </p:nvCxnSpPr>
        <p:spPr>
          <a:xfrm flipV="1">
            <a:off x="4190838" y="3108127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>
            <a:off x="5261244" y="3108198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5510052" y="3310922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5563135" y="3385650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圓角矩形 30"/>
          <p:cNvSpPr/>
          <p:nvPr/>
        </p:nvSpPr>
        <p:spPr>
          <a:xfrm>
            <a:off x="168041" y="290978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2" name="直線單箭頭接點 31"/>
          <p:cNvCxnSpPr>
            <a:stCxn id="31" idx="3"/>
            <a:endCxn id="21" idx="1"/>
          </p:cNvCxnSpPr>
          <p:nvPr/>
        </p:nvCxnSpPr>
        <p:spPr>
          <a:xfrm>
            <a:off x="944419" y="3108197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1" idx="0"/>
            <a:endCxn id="21" idx="2"/>
          </p:cNvCxnSpPr>
          <p:nvPr/>
        </p:nvCxnSpPr>
        <p:spPr>
          <a:xfrm>
            <a:off x="1617284" y="290979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1" idx="0"/>
            <a:endCxn id="31" idx="2"/>
          </p:cNvCxnSpPr>
          <p:nvPr/>
        </p:nvCxnSpPr>
        <p:spPr>
          <a:xfrm>
            <a:off x="556230" y="290978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22" idx="0"/>
            <a:endCxn id="22" idx="2"/>
          </p:cNvCxnSpPr>
          <p:nvPr/>
        </p:nvCxnSpPr>
        <p:spPr>
          <a:xfrm>
            <a:off x="2692714" y="290979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23" idx="0"/>
            <a:endCxn id="23" idx="2"/>
          </p:cNvCxnSpPr>
          <p:nvPr/>
        </p:nvCxnSpPr>
        <p:spPr>
          <a:xfrm>
            <a:off x="3802649" y="290979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194591" y="29081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溪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278647" y="289937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太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88582" y="29081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1656741" y="28993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91298" y="29064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737045" y="28936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846980" y="28938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4484866" y="290971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9" name="直線接點 48"/>
          <p:cNvCxnSpPr>
            <a:stCxn id="48" idx="0"/>
            <a:endCxn id="48" idx="2"/>
          </p:cNvCxnSpPr>
          <p:nvPr/>
        </p:nvCxnSpPr>
        <p:spPr>
          <a:xfrm>
            <a:off x="4873055" y="290971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484866" y="29064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墾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917386" y="29120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7378152" y="280939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阿里山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33" name="群組 132"/>
          <p:cNvGrpSpPr/>
          <p:nvPr/>
        </p:nvGrpSpPr>
        <p:grpSpPr>
          <a:xfrm>
            <a:off x="2853458" y="3541434"/>
            <a:ext cx="810882" cy="400110"/>
            <a:chOff x="2853458" y="2980744"/>
            <a:chExt cx="810882" cy="400110"/>
          </a:xfrm>
        </p:grpSpPr>
        <p:sp>
          <p:nvSpPr>
            <p:cNvPr id="118" name="圓角矩形 117"/>
            <p:cNvSpPr/>
            <p:nvPr/>
          </p:nvSpPr>
          <p:spPr>
            <a:xfrm>
              <a:off x="2887962" y="298239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9" name="直線接點 118"/>
            <p:cNvCxnSpPr>
              <a:stCxn id="118" idx="0"/>
              <a:endCxn id="118" idx="2"/>
            </p:cNvCxnSpPr>
            <p:nvPr/>
          </p:nvCxnSpPr>
          <p:spPr>
            <a:xfrm>
              <a:off x="3276151" y="298239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2853458" y="298074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阿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21" name="文字方塊 120"/>
          <p:cNvSpPr txBox="1"/>
          <p:nvPr/>
        </p:nvSpPr>
        <p:spPr>
          <a:xfrm>
            <a:off x="3315608" y="35326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2" name="肘形接點 121"/>
          <p:cNvCxnSpPr>
            <a:stCxn id="118" idx="3"/>
            <a:endCxn id="42" idx="2"/>
          </p:cNvCxnSpPr>
          <p:nvPr/>
        </p:nvCxnSpPr>
        <p:spPr>
          <a:xfrm flipH="1" flipV="1">
            <a:off x="3609155" y="3308251"/>
            <a:ext cx="55185" cy="433240"/>
          </a:xfrm>
          <a:prstGeom prst="bentConnector4">
            <a:avLst>
              <a:gd name="adj1" fmla="val -414243"/>
              <a:gd name="adj2" fmla="val 72898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接點 124"/>
          <p:cNvCxnSpPr>
            <a:stCxn id="45" idx="2"/>
            <a:endCxn id="120" idx="1"/>
          </p:cNvCxnSpPr>
          <p:nvPr/>
        </p:nvCxnSpPr>
        <p:spPr>
          <a:xfrm rot="5400000">
            <a:off x="2649633" y="3497623"/>
            <a:ext cx="447691" cy="40040"/>
          </a:xfrm>
          <a:prstGeom prst="bentConnector4">
            <a:avLst>
              <a:gd name="adj1" fmla="val 27657"/>
              <a:gd name="adj2" fmla="val 670929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2715821" y="5054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8515559" y="4412093"/>
            <a:ext cx="397866" cy="360000"/>
          </a:xfrm>
          <a:prstGeom prst="rect">
            <a:avLst/>
          </a:prstGeom>
          <a:solidFill>
            <a:srgbClr val="E7F3F4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8559547" y="3626394"/>
            <a:ext cx="312906" cy="360000"/>
          </a:xfrm>
          <a:prstGeom prst="rect">
            <a:avLst/>
          </a:prstGeom>
          <a:solidFill>
            <a:srgbClr val="E7F3F4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4" name="橢圓 133"/>
          <p:cNvSpPr/>
          <p:nvPr/>
        </p:nvSpPr>
        <p:spPr>
          <a:xfrm>
            <a:off x="7378151" y="4415301"/>
            <a:ext cx="954107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文字方塊 136"/>
          <p:cNvSpPr txBox="1"/>
          <p:nvPr/>
        </p:nvSpPr>
        <p:spPr>
          <a:xfrm>
            <a:off x="2733080" y="2908001"/>
            <a:ext cx="312906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5" name="橢圓 134"/>
          <p:cNvSpPr/>
          <p:nvPr/>
        </p:nvSpPr>
        <p:spPr>
          <a:xfrm>
            <a:off x="2293574" y="2910807"/>
            <a:ext cx="787329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8" name="乘號 137"/>
          <p:cNvSpPr/>
          <p:nvPr/>
        </p:nvSpPr>
        <p:spPr>
          <a:xfrm>
            <a:off x="3116860" y="3003123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1" name="橢圓 140"/>
          <p:cNvSpPr/>
          <p:nvPr/>
        </p:nvSpPr>
        <p:spPr>
          <a:xfrm>
            <a:off x="2285502" y="5059460"/>
            <a:ext cx="764449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6" name="乘號 55"/>
          <p:cNvSpPr/>
          <p:nvPr/>
        </p:nvSpPr>
        <p:spPr>
          <a:xfrm>
            <a:off x="2401490" y="4997498"/>
            <a:ext cx="540000" cy="540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2" name="乘號 51"/>
          <p:cNvSpPr/>
          <p:nvPr/>
        </p:nvSpPr>
        <p:spPr>
          <a:xfrm>
            <a:off x="2005473" y="5165071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3" name="乘號 142"/>
          <p:cNvSpPr/>
          <p:nvPr/>
        </p:nvSpPr>
        <p:spPr>
          <a:xfrm>
            <a:off x="3095465" y="5169773"/>
            <a:ext cx="216000" cy="216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1635737" y="5081642"/>
            <a:ext cx="312906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7" name="橢圓 146"/>
          <p:cNvSpPr/>
          <p:nvPr/>
        </p:nvSpPr>
        <p:spPr>
          <a:xfrm>
            <a:off x="1204071" y="5064637"/>
            <a:ext cx="764449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8" name="橢圓 147"/>
          <p:cNvSpPr/>
          <p:nvPr/>
        </p:nvSpPr>
        <p:spPr>
          <a:xfrm>
            <a:off x="7343529" y="3609616"/>
            <a:ext cx="988729" cy="39148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46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89" grpId="0"/>
      <p:bldP spid="121" grpId="0"/>
      <p:bldP spid="81" grpId="0"/>
      <p:bldP spid="131" grpId="0" animBg="1"/>
      <p:bldP spid="132" grpId="0" animBg="1"/>
      <p:bldP spid="134" grpId="0" animBg="1"/>
      <p:bldP spid="134" grpId="1" animBg="1"/>
      <p:bldP spid="134" grpId="2" animBg="1"/>
      <p:bldP spid="137" grpId="0" animBg="1"/>
      <p:bldP spid="135" grpId="0" animBg="1"/>
      <p:bldP spid="138" grpId="0" animBg="1"/>
      <p:bldP spid="141" grpId="0" animBg="1"/>
      <p:bldP spid="56" grpId="0" animBg="1"/>
      <p:bldP spid="52" grpId="0" animBg="1"/>
      <p:bldP spid="143" grpId="0" animBg="1"/>
      <p:bldP spid="130" grpId="0" animBg="1"/>
      <p:bldP spid="147" grpId="0" animBg="1"/>
      <p:bldP spid="1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;</a:t>
            </a:r>
          </a:p>
          <a:p>
            <a:r>
              <a:rPr lang="en-US" altLang="zh-TW" i="1" dirty="0" err="1" smtClean="0"/>
              <a:t>i</a:t>
            </a:r>
            <a:r>
              <a:rPr lang="en-US" altLang="zh-TW" dirty="0" smtClean="0"/>
              <a:t> = 5;</a:t>
            </a:r>
          </a:p>
          <a:p>
            <a:r>
              <a:rPr lang="en-US" altLang="zh-TW" i="1" dirty="0" smtClean="0"/>
              <a:t>j</a:t>
            </a:r>
            <a:r>
              <a:rPr lang="en-US" altLang="zh-TW" dirty="0" smtClean="0"/>
              <a:t> = 5;</a:t>
            </a:r>
          </a:p>
          <a:p>
            <a:endParaRPr lang="en-US" altLang="zh-TW" dirty="0"/>
          </a:p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*</a:t>
            </a:r>
            <a:r>
              <a:rPr lang="en-US" altLang="zh-TW" i="1" dirty="0" err="1" smtClean="0"/>
              <a:t>ptr</a:t>
            </a:r>
            <a:r>
              <a:rPr lang="en-US" altLang="zh-TW" dirty="0" smtClean="0"/>
              <a:t>;</a:t>
            </a:r>
          </a:p>
          <a:p>
            <a:r>
              <a:rPr lang="en-US" altLang="zh-TW" i="1" dirty="0" err="1" smtClean="0"/>
              <a:t>ptr</a:t>
            </a:r>
            <a:r>
              <a:rPr lang="en-US" altLang="zh-TW" dirty="0" smtClean="0"/>
              <a:t> = &amp;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*</a:t>
            </a:r>
            <a:r>
              <a:rPr lang="en-US" altLang="zh-TW" i="1" dirty="0" err="1" smtClean="0"/>
              <a:t>ptr</a:t>
            </a:r>
            <a:r>
              <a:rPr lang="en-US" altLang="zh-TW" dirty="0" smtClean="0"/>
              <a:t> = 10;</a:t>
            </a:r>
          </a:p>
          <a:p>
            <a:r>
              <a:rPr lang="en-US" altLang="zh-TW" i="1" dirty="0" smtClean="0"/>
              <a:t>j</a:t>
            </a:r>
            <a:r>
              <a:rPr lang="en-US" altLang="zh-TW" dirty="0" smtClean="0"/>
              <a:t> = *</a:t>
            </a:r>
            <a:r>
              <a:rPr lang="en-US" altLang="zh-TW" i="1" dirty="0" err="1" smtClean="0"/>
              <a:t>ptr</a:t>
            </a:r>
            <a:r>
              <a:rPr lang="en-US" altLang="zh-TW" dirty="0" smtClean="0"/>
              <a:t>;</a:t>
            </a:r>
          </a:p>
          <a:p>
            <a:endParaRPr lang="en-US" altLang="zh-TW" dirty="0"/>
          </a:p>
          <a:p>
            <a:r>
              <a:rPr lang="zh-TW" altLang="en-US" dirty="0" smtClean="0"/>
              <a:t>指標裡面存放的是</a:t>
            </a:r>
            <a:r>
              <a:rPr lang="zh-TW" altLang="en-US" dirty="0" smtClean="0">
                <a:solidFill>
                  <a:srgbClr val="C00000"/>
                </a:solidFill>
              </a:rPr>
              <a:t>位址</a:t>
            </a:r>
            <a:r>
              <a:rPr lang="zh-TW" altLang="en-US" dirty="0" smtClean="0"/>
              <a:t>，而非資料。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928617" y="2650887"/>
            <a:ext cx="540000" cy="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5745251" y="2650887"/>
            <a:ext cx="540000" cy="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069415" y="2259402"/>
            <a:ext cx="258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886049" y="2259402"/>
            <a:ext cx="258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3804308" y="2259402"/>
            <a:ext cx="1124309" cy="931485"/>
            <a:chOff x="3804308" y="2259402"/>
            <a:chExt cx="1124309" cy="931485"/>
          </a:xfrm>
        </p:grpSpPr>
        <p:sp>
          <p:nvSpPr>
            <p:cNvPr id="11" name="圓角矩形 10"/>
            <p:cNvSpPr/>
            <p:nvPr/>
          </p:nvSpPr>
          <p:spPr>
            <a:xfrm>
              <a:off x="3804308" y="2650887"/>
              <a:ext cx="540000" cy="540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832896" y="225940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ptr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單箭頭接點 13"/>
            <p:cNvCxnSpPr>
              <a:stCxn id="11" idx="3"/>
              <a:endCxn id="7" idx="1"/>
            </p:cNvCxnSpPr>
            <p:nvPr/>
          </p:nvCxnSpPr>
          <p:spPr>
            <a:xfrm>
              <a:off x="4344308" y="2920887"/>
              <a:ext cx="58430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圓角矩形 14"/>
          <p:cNvSpPr/>
          <p:nvPr/>
        </p:nvSpPr>
        <p:spPr>
          <a:xfrm>
            <a:off x="4928617" y="2650887"/>
            <a:ext cx="540000" cy="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5745251" y="2650887"/>
            <a:ext cx="540000" cy="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1573698" y="3892986"/>
            <a:ext cx="1124752" cy="400110"/>
            <a:chOff x="1573698" y="4804914"/>
            <a:chExt cx="1124752" cy="400110"/>
          </a:xfrm>
        </p:grpSpPr>
        <p:sp>
          <p:nvSpPr>
            <p:cNvPr id="18" name="文字方塊 17"/>
            <p:cNvSpPr txBox="1"/>
            <p:nvPr/>
          </p:nvSpPr>
          <p:spPr>
            <a:xfrm>
              <a:off x="2013647" y="4804914"/>
              <a:ext cx="6848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zh-TW" alt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TW" alt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左-右雙向箭號 18"/>
            <p:cNvSpPr/>
            <p:nvPr/>
          </p:nvSpPr>
          <p:spPr>
            <a:xfrm>
              <a:off x="1573698" y="4979914"/>
              <a:ext cx="301925" cy="13637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498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動態配置實作鏈結串列 </a:t>
            </a:r>
            <a:r>
              <a:rPr lang="en-US" altLang="zh-TW" dirty="0" smtClean="0"/>
              <a:t>(1/9)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宣告節點結構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 {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data;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 *next;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} NODE;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NODE *list A</a:t>
            </a:r>
          </a:p>
          <a:p>
            <a:endParaRPr lang="en-US" altLang="zh-TW" dirty="0" smtClean="0"/>
          </a:p>
          <a:p>
            <a:r>
              <a:rPr lang="zh-TW" altLang="en-US" dirty="0" smtClean="0">
                <a:solidFill>
                  <a:srgbClr val="0000FF"/>
                </a:solidFill>
              </a:rPr>
              <a:t>動態</a:t>
            </a:r>
            <a:r>
              <a:rPr lang="zh-TW" altLang="en-US" dirty="0">
                <a:solidFill>
                  <a:srgbClr val="0000FF"/>
                </a:solidFill>
              </a:rPr>
              <a:t>配置</a:t>
            </a:r>
            <a:r>
              <a:rPr lang="zh-TW" altLang="en-US" dirty="0" smtClean="0">
                <a:solidFill>
                  <a:srgbClr val="0000FF"/>
                </a:solidFill>
              </a:rPr>
              <a:t>節點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zh-TW" dirty="0" err="1" smtClean="0"/>
              <a:t>listA</a:t>
            </a:r>
            <a:r>
              <a:rPr lang="en-US" altLang="zh-TW" dirty="0" smtClean="0"/>
              <a:t> = (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*) </a:t>
            </a:r>
            <a:r>
              <a:rPr lang="en-US" altLang="zh-TW" dirty="0" err="1" smtClean="0"/>
              <a:t>malloc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sizeof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));</a:t>
            </a:r>
          </a:p>
          <a:p>
            <a:pPr lvl="1">
              <a:spcBef>
                <a:spcPts val="0"/>
              </a:spcBef>
            </a:pPr>
            <a:r>
              <a:rPr lang="en-US" altLang="zh-TW" dirty="0" err="1" smtClean="0"/>
              <a:t>listA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 data = 20;</a:t>
            </a:r>
          </a:p>
          <a:p>
            <a:pPr lvl="1">
              <a:spcBef>
                <a:spcPts val="0"/>
              </a:spcBef>
            </a:pPr>
            <a:r>
              <a:rPr lang="en-US" altLang="zh-TW" dirty="0" err="1" smtClean="0">
                <a:sym typeface="Symbol"/>
              </a:rPr>
              <a:t>listA</a:t>
            </a:r>
            <a:r>
              <a:rPr lang="en-US" altLang="zh-TW" dirty="0" smtClean="0">
                <a:sym typeface="Symbol"/>
              </a:rPr>
              <a:t>  next = NULL;</a:t>
            </a:r>
          </a:p>
          <a:p>
            <a:pPr lvl="1">
              <a:spcBef>
                <a:spcPts val="0"/>
              </a:spcBef>
            </a:pPr>
            <a:r>
              <a:rPr lang="en-US" altLang="zh-TW" dirty="0" smtClean="0">
                <a:sym typeface="Symbol"/>
              </a:rPr>
              <a:t>free (</a:t>
            </a:r>
            <a:r>
              <a:rPr lang="en-US" altLang="zh-TW" dirty="0" err="1" smtClean="0">
                <a:sym typeface="Symbol"/>
              </a:rPr>
              <a:t>listA</a:t>
            </a:r>
            <a:r>
              <a:rPr lang="en-US" altLang="zh-TW" dirty="0" smtClean="0">
                <a:sym typeface="Symbol"/>
              </a:rPr>
              <a:t>);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0" name="群組 19"/>
          <p:cNvGrpSpPr/>
          <p:nvPr/>
        </p:nvGrpSpPr>
        <p:grpSpPr>
          <a:xfrm>
            <a:off x="4769964" y="2201864"/>
            <a:ext cx="1289016" cy="408876"/>
            <a:chOff x="5803068" y="2324421"/>
            <a:chExt cx="1289016" cy="408876"/>
          </a:xfrm>
        </p:grpSpPr>
        <p:sp>
          <p:nvSpPr>
            <p:cNvPr id="7" name="圓角矩形 6"/>
            <p:cNvSpPr/>
            <p:nvPr/>
          </p:nvSpPr>
          <p:spPr>
            <a:xfrm>
              <a:off x="5811694" y="2334836"/>
              <a:ext cx="1260000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" name="直線接點 7"/>
            <p:cNvCxnSpPr>
              <a:stCxn id="7" idx="0"/>
              <a:endCxn id="7" idx="2"/>
            </p:cNvCxnSpPr>
            <p:nvPr/>
          </p:nvCxnSpPr>
          <p:spPr>
            <a:xfrm>
              <a:off x="6441694" y="233483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5803068" y="2333187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data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437738" y="2324421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next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4778590" y="2636912"/>
            <a:ext cx="1110299" cy="400110"/>
            <a:chOff x="4692769" y="2334836"/>
            <a:chExt cx="1110299" cy="400110"/>
          </a:xfrm>
        </p:grpSpPr>
        <p:sp>
          <p:nvSpPr>
            <p:cNvPr id="11" name="文字方塊 10"/>
            <p:cNvSpPr txBox="1"/>
            <p:nvPr/>
          </p:nvSpPr>
          <p:spPr>
            <a:xfrm>
              <a:off x="4692769" y="2334836"/>
              <a:ext cx="6960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V="1">
              <a:off x="5388793" y="2540595"/>
              <a:ext cx="414275" cy="164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4836543" y="5144167"/>
            <a:ext cx="2912405" cy="475858"/>
            <a:chOff x="4836543" y="5144167"/>
            <a:chExt cx="2912405" cy="475858"/>
          </a:xfrm>
        </p:grpSpPr>
        <p:grpSp>
          <p:nvGrpSpPr>
            <p:cNvPr id="24" name="群組 23"/>
            <p:cNvGrpSpPr/>
            <p:nvPr/>
          </p:nvGrpSpPr>
          <p:grpSpPr>
            <a:xfrm>
              <a:off x="4836543" y="5144167"/>
              <a:ext cx="1118925" cy="400110"/>
              <a:chOff x="4836543" y="5144167"/>
              <a:chExt cx="1118925" cy="400110"/>
            </a:xfrm>
          </p:grpSpPr>
          <p:sp>
            <p:nvSpPr>
              <p:cNvPr id="18" name="文字方塊 17"/>
              <p:cNvSpPr txBox="1"/>
              <p:nvPr/>
            </p:nvSpPr>
            <p:spPr>
              <a:xfrm>
                <a:off x="4836543" y="5144167"/>
                <a:ext cx="6960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" name="直線單箭頭接點 18"/>
              <p:cNvCxnSpPr>
                <a:stCxn id="18" idx="3"/>
                <a:endCxn id="14" idx="1"/>
              </p:cNvCxnSpPr>
              <p:nvPr/>
            </p:nvCxnSpPr>
            <p:spPr>
              <a:xfrm flipV="1">
                <a:off x="5532567" y="5342575"/>
                <a:ext cx="422901" cy="1647"/>
              </a:xfrm>
              <a:prstGeom prst="straightConnector1">
                <a:avLst/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5955468" y="5144167"/>
              <a:ext cx="1793480" cy="475858"/>
              <a:chOff x="5955468" y="5144167"/>
              <a:chExt cx="1793480" cy="475858"/>
            </a:xfrm>
          </p:grpSpPr>
          <p:sp>
            <p:nvSpPr>
              <p:cNvPr id="14" name="圓角矩形 13"/>
              <p:cNvSpPr/>
              <p:nvPr/>
            </p:nvSpPr>
            <p:spPr>
              <a:xfrm>
                <a:off x="5955468" y="5144167"/>
                <a:ext cx="1260000" cy="39681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15" name="直線接點 14"/>
              <p:cNvCxnSpPr>
                <a:stCxn id="14" idx="0"/>
                <a:endCxn id="14" idx="2"/>
              </p:cNvCxnSpPr>
              <p:nvPr/>
            </p:nvCxnSpPr>
            <p:spPr>
              <a:xfrm>
                <a:off x="6585468" y="5144167"/>
                <a:ext cx="0" cy="396815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肘形接點 20"/>
              <p:cNvCxnSpPr/>
              <p:nvPr/>
            </p:nvCxnSpPr>
            <p:spPr>
              <a:xfrm>
                <a:off x="7215468" y="5342573"/>
                <a:ext cx="391144" cy="198407"/>
              </a:xfrm>
              <a:prstGeom prst="bentConnector2">
                <a:avLst/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>
                <a:off x="7464276" y="5545297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>
                <a:off x="7517359" y="5620025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文字方塊 15"/>
          <p:cNvSpPr txBox="1"/>
          <p:nvPr/>
        </p:nvSpPr>
        <p:spPr>
          <a:xfrm>
            <a:off x="6058980" y="514251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529756" y="5168256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NULL</a:t>
            </a:r>
            <a:endParaRPr lang="zh-TW" altLang="en-US" sz="16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54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</a:t>
            </a:r>
            <a:r>
              <a:rPr lang="zh-TW" altLang="en-US" dirty="0" smtClean="0"/>
              <a:t>配置實</a:t>
            </a:r>
            <a:r>
              <a:rPr lang="zh-TW" altLang="en-US" dirty="0"/>
              <a:t>作鏈結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(2/9)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指標在串列中移動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240359" y="269354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315789" y="2693540"/>
            <a:ext cx="776378" cy="39681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425724" y="269354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521901" y="269354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016737" y="2891948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092167" y="2891948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34" idx="1"/>
          </p:cNvCxnSpPr>
          <p:nvPr/>
        </p:nvCxnSpPr>
        <p:spPr>
          <a:xfrm flipV="1">
            <a:off x="5202102" y="2891877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298279" y="2891948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547087" y="3094672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600170" y="3169400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179305" y="269353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1955683" y="2891947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098427" y="307451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直線接點 19"/>
          <p:cNvCxnSpPr>
            <a:stCxn id="7" idx="0"/>
            <a:endCxn id="7" idx="2"/>
          </p:cNvCxnSpPr>
          <p:nvPr/>
        </p:nvCxnSpPr>
        <p:spPr>
          <a:xfrm>
            <a:off x="2628548" y="269354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0"/>
            <a:endCxn id="17" idx="2"/>
          </p:cNvCxnSpPr>
          <p:nvPr/>
        </p:nvCxnSpPr>
        <p:spPr>
          <a:xfrm>
            <a:off x="1567494" y="269353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0"/>
            <a:endCxn id="8" idx="2"/>
          </p:cNvCxnSpPr>
          <p:nvPr/>
        </p:nvCxnSpPr>
        <p:spPr>
          <a:xfrm>
            <a:off x="3703978" y="269354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0"/>
            <a:endCxn id="9" idx="2"/>
          </p:cNvCxnSpPr>
          <p:nvPr/>
        </p:nvCxnSpPr>
        <p:spPr>
          <a:xfrm>
            <a:off x="4813913" y="269354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0" idx="0"/>
            <a:endCxn id="10" idx="2"/>
          </p:cNvCxnSpPr>
          <p:nvPr/>
        </p:nvCxnSpPr>
        <p:spPr>
          <a:xfrm>
            <a:off x="6910090" y="269354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496023" y="268508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05855" y="269189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289911" y="268312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399846" y="269189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5496130" y="269346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5" name="直線接點 34"/>
          <p:cNvCxnSpPr>
            <a:stCxn id="34" idx="0"/>
            <a:endCxn id="34" idx="2"/>
          </p:cNvCxnSpPr>
          <p:nvPr/>
        </p:nvCxnSpPr>
        <p:spPr>
          <a:xfrm>
            <a:off x="5884319" y="269346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496130" y="26902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0" name="直線單箭頭接點 39"/>
          <p:cNvCxnSpPr>
            <a:stCxn id="34" idx="3"/>
            <a:endCxn id="10" idx="1"/>
          </p:cNvCxnSpPr>
          <p:nvPr/>
        </p:nvCxnSpPr>
        <p:spPr>
          <a:xfrm>
            <a:off x="6272508" y="2891877"/>
            <a:ext cx="249393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3547525" y="20111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4" name="直線單箭頭接點 43"/>
          <p:cNvCxnSpPr>
            <a:stCxn id="43" idx="2"/>
            <a:endCxn id="8" idx="0"/>
          </p:cNvCxnSpPr>
          <p:nvPr/>
        </p:nvCxnSpPr>
        <p:spPr>
          <a:xfrm>
            <a:off x="3703978" y="2411240"/>
            <a:ext cx="0" cy="2823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1091332" y="4353928"/>
            <a:ext cx="6733332" cy="1463494"/>
            <a:chOff x="1091332" y="4353928"/>
            <a:chExt cx="6733332" cy="1463494"/>
          </a:xfrm>
        </p:grpSpPr>
        <p:sp>
          <p:nvSpPr>
            <p:cNvPr id="47" name="圓角矩形 46"/>
            <p:cNvSpPr/>
            <p:nvPr/>
          </p:nvSpPr>
          <p:spPr>
            <a:xfrm>
              <a:off x="2233264" y="503633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3308694" y="503633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9" name="圓角矩形 48"/>
            <p:cNvSpPr/>
            <p:nvPr/>
          </p:nvSpPr>
          <p:spPr>
            <a:xfrm>
              <a:off x="4418629" y="5036338"/>
              <a:ext cx="776378" cy="396815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0" name="圓角矩形 49"/>
            <p:cNvSpPr/>
            <p:nvPr/>
          </p:nvSpPr>
          <p:spPr>
            <a:xfrm>
              <a:off x="6514806" y="503633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1" name="直線單箭頭接點 50"/>
            <p:cNvCxnSpPr>
              <a:stCxn id="47" idx="3"/>
              <a:endCxn id="48" idx="1"/>
            </p:cNvCxnSpPr>
            <p:nvPr/>
          </p:nvCxnSpPr>
          <p:spPr>
            <a:xfrm>
              <a:off x="3009642" y="5234746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>
              <a:stCxn id="48" idx="3"/>
              <a:endCxn id="49" idx="1"/>
            </p:cNvCxnSpPr>
            <p:nvPr/>
          </p:nvCxnSpPr>
          <p:spPr>
            <a:xfrm>
              <a:off x="4085072" y="5234746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>
              <a:stCxn id="49" idx="3"/>
              <a:endCxn id="74" idx="1"/>
            </p:cNvCxnSpPr>
            <p:nvPr/>
          </p:nvCxnSpPr>
          <p:spPr>
            <a:xfrm flipV="1">
              <a:off x="5195007" y="5234675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肘形接點 53"/>
            <p:cNvCxnSpPr>
              <a:stCxn id="50" idx="3"/>
            </p:cNvCxnSpPr>
            <p:nvPr/>
          </p:nvCxnSpPr>
          <p:spPr>
            <a:xfrm>
              <a:off x="7291184" y="5234746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/>
            <p:nvPr/>
          </p:nvCxnSpPr>
          <p:spPr>
            <a:xfrm>
              <a:off x="7539992" y="5437470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>
              <a:off x="7593075" y="5512198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圓角矩形 56"/>
            <p:cNvSpPr/>
            <p:nvPr/>
          </p:nvSpPr>
          <p:spPr>
            <a:xfrm>
              <a:off x="1172210" y="5036337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8" name="直線單箭頭接點 57"/>
            <p:cNvCxnSpPr>
              <a:stCxn id="57" idx="3"/>
              <a:endCxn id="47" idx="1"/>
            </p:cNvCxnSpPr>
            <p:nvPr/>
          </p:nvCxnSpPr>
          <p:spPr>
            <a:xfrm>
              <a:off x="1948588" y="5234745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字方塊 58"/>
            <p:cNvSpPr txBox="1"/>
            <p:nvPr/>
          </p:nvSpPr>
          <p:spPr>
            <a:xfrm>
              <a:off x="1091332" y="541731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首節點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0" name="直線接點 59"/>
            <p:cNvCxnSpPr>
              <a:stCxn id="47" idx="0"/>
              <a:endCxn id="47" idx="2"/>
            </p:cNvCxnSpPr>
            <p:nvPr/>
          </p:nvCxnSpPr>
          <p:spPr>
            <a:xfrm>
              <a:off x="2621453" y="50363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>
              <a:stCxn id="57" idx="0"/>
              <a:endCxn id="57" idx="2"/>
            </p:cNvCxnSpPr>
            <p:nvPr/>
          </p:nvCxnSpPr>
          <p:spPr>
            <a:xfrm>
              <a:off x="1560399" y="503633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/>
            <p:cNvCxnSpPr>
              <a:stCxn id="48" idx="0"/>
              <a:endCxn id="48" idx="2"/>
            </p:cNvCxnSpPr>
            <p:nvPr/>
          </p:nvCxnSpPr>
          <p:spPr>
            <a:xfrm>
              <a:off x="3696883" y="50363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>
              <a:stCxn id="49" idx="0"/>
              <a:endCxn id="49" idx="2"/>
            </p:cNvCxnSpPr>
            <p:nvPr/>
          </p:nvCxnSpPr>
          <p:spPr>
            <a:xfrm>
              <a:off x="4806818" y="50363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/>
            <p:cNvCxnSpPr>
              <a:stCxn id="50" idx="0"/>
              <a:endCxn id="50" idx="2"/>
            </p:cNvCxnSpPr>
            <p:nvPr/>
          </p:nvCxnSpPr>
          <p:spPr>
            <a:xfrm>
              <a:off x="6902995" y="50363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字方塊 64"/>
            <p:cNvSpPr txBox="1"/>
            <p:nvPr/>
          </p:nvSpPr>
          <p:spPr>
            <a:xfrm>
              <a:off x="6488928" y="5027882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2198760" y="503468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282816" y="502592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4392751" y="503468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74" name="圓角矩形 73"/>
            <p:cNvSpPr/>
            <p:nvPr/>
          </p:nvSpPr>
          <p:spPr>
            <a:xfrm>
              <a:off x="5489035" y="5036267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5" name="直線接點 74"/>
            <p:cNvCxnSpPr>
              <a:stCxn id="74" idx="0"/>
              <a:endCxn id="74" idx="2"/>
            </p:cNvCxnSpPr>
            <p:nvPr/>
          </p:nvCxnSpPr>
          <p:spPr>
            <a:xfrm>
              <a:off x="5877224" y="503626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5489035" y="5033042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8" name="直線單箭頭接點 77"/>
            <p:cNvCxnSpPr>
              <a:stCxn id="74" idx="3"/>
              <a:endCxn id="50" idx="1"/>
            </p:cNvCxnSpPr>
            <p:nvPr/>
          </p:nvCxnSpPr>
          <p:spPr>
            <a:xfrm>
              <a:off x="6265413" y="5234675"/>
              <a:ext cx="249393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字方塊 78"/>
            <p:cNvSpPr txBox="1"/>
            <p:nvPr/>
          </p:nvSpPr>
          <p:spPr>
            <a:xfrm>
              <a:off x="4646035" y="43539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線單箭頭接點 79"/>
            <p:cNvCxnSpPr>
              <a:stCxn id="79" idx="2"/>
            </p:cNvCxnSpPr>
            <p:nvPr/>
          </p:nvCxnSpPr>
          <p:spPr>
            <a:xfrm>
              <a:off x="4802488" y="4754038"/>
              <a:ext cx="0" cy="2823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文字方塊 80"/>
          <p:cNvSpPr txBox="1"/>
          <p:nvPr/>
        </p:nvSpPr>
        <p:spPr>
          <a:xfrm>
            <a:off x="3418929" y="3755207"/>
            <a:ext cx="1665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next;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81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</a:t>
            </a:r>
            <a:r>
              <a:rPr lang="zh-TW" altLang="en-US" dirty="0" smtClean="0"/>
              <a:t>配置實</a:t>
            </a:r>
            <a:r>
              <a:rPr lang="zh-TW" altLang="en-US" dirty="0"/>
              <a:t>作鏈結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(3/9)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走訪整個鏈結串列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void </a:t>
            </a:r>
            <a:r>
              <a:rPr lang="en-US" altLang="zh-TW" dirty="0" err="1" smtClean="0"/>
              <a:t>ListTraverse</a:t>
            </a:r>
            <a:r>
              <a:rPr lang="en-US" altLang="zh-TW" dirty="0" smtClean="0"/>
              <a:t> (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 *head){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ListNode</a:t>
            </a:r>
            <a:r>
              <a:rPr lang="en-US" altLang="zh-TW" dirty="0" smtClean="0"/>
              <a:t> *p = head;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p = p </a:t>
            </a:r>
            <a:r>
              <a:rPr lang="en-US" altLang="zh-TW" dirty="0">
                <a:sym typeface="Symbol"/>
              </a:rPr>
              <a:t></a:t>
            </a:r>
            <a:r>
              <a:rPr lang="en-US" altLang="zh-TW" dirty="0" smtClean="0"/>
              <a:t> next;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while (p != NULL)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 (“\</a:t>
            </a:r>
            <a:r>
              <a:rPr lang="en-US" altLang="zh-TW" dirty="0" err="1" smtClean="0"/>
              <a:t>n%d</a:t>
            </a:r>
            <a:r>
              <a:rPr lang="en-US" altLang="zh-TW" dirty="0" smtClean="0"/>
              <a:t>”, p </a:t>
            </a:r>
            <a:r>
              <a:rPr lang="en-US" altLang="zh-TW" dirty="0">
                <a:sym typeface="Symbol"/>
              </a:rPr>
              <a:t></a:t>
            </a:r>
            <a:r>
              <a:rPr lang="en-US" altLang="zh-TW" dirty="0" smtClean="0"/>
              <a:t> data);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     p = p </a:t>
            </a:r>
            <a:r>
              <a:rPr lang="en-US" altLang="zh-TW" dirty="0" smtClean="0">
                <a:sym typeface="Symbol"/>
              </a:rPr>
              <a:t></a:t>
            </a:r>
            <a:r>
              <a:rPr lang="en-US" altLang="zh-TW" dirty="0" smtClean="0"/>
              <a:t> next;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   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48038" y="5691921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3468" y="5691921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3403" y="569192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29580" y="569192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4416" y="5890329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399846" y="5890329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34" idx="1"/>
          </p:cNvCxnSpPr>
          <p:nvPr/>
        </p:nvCxnSpPr>
        <p:spPr>
          <a:xfrm flipV="1">
            <a:off x="5509781" y="5890258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05958" y="5890329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54766" y="6093053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07849" y="6167781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86984" y="5691920"/>
            <a:ext cx="776378" cy="396815"/>
          </a:xfrm>
          <a:prstGeom prst="round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3362" y="5890328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406106" y="60728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直線接點 19"/>
          <p:cNvCxnSpPr>
            <a:stCxn id="7" idx="0"/>
            <a:endCxn id="7" idx="2"/>
          </p:cNvCxnSpPr>
          <p:nvPr/>
        </p:nvCxnSpPr>
        <p:spPr>
          <a:xfrm>
            <a:off x="2936227" y="569192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0"/>
            <a:endCxn id="17" idx="2"/>
          </p:cNvCxnSpPr>
          <p:nvPr/>
        </p:nvCxnSpPr>
        <p:spPr>
          <a:xfrm>
            <a:off x="1875173" y="569192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0"/>
            <a:endCxn id="8" idx="2"/>
          </p:cNvCxnSpPr>
          <p:nvPr/>
        </p:nvCxnSpPr>
        <p:spPr>
          <a:xfrm>
            <a:off x="4011657" y="569192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0"/>
            <a:endCxn id="9" idx="2"/>
          </p:cNvCxnSpPr>
          <p:nvPr/>
        </p:nvCxnSpPr>
        <p:spPr>
          <a:xfrm>
            <a:off x="5121592" y="569192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0" idx="0"/>
            <a:endCxn id="10" idx="2"/>
          </p:cNvCxnSpPr>
          <p:nvPr/>
        </p:nvCxnSpPr>
        <p:spPr>
          <a:xfrm>
            <a:off x="7217769" y="569192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803702" y="568346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13534" y="569027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97590" y="568150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707525" y="569027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5803809" y="569185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5" name="直線接點 34"/>
          <p:cNvCxnSpPr>
            <a:stCxn id="34" idx="0"/>
            <a:endCxn id="34" idx="2"/>
          </p:cNvCxnSpPr>
          <p:nvPr/>
        </p:nvCxnSpPr>
        <p:spPr>
          <a:xfrm>
            <a:off x="6191998" y="569185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803809" y="568862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4" idx="3"/>
            <a:endCxn id="10" idx="1"/>
          </p:cNvCxnSpPr>
          <p:nvPr/>
        </p:nvCxnSpPr>
        <p:spPr>
          <a:xfrm>
            <a:off x="6580187" y="5890258"/>
            <a:ext cx="249393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2779774" y="5009511"/>
            <a:ext cx="312906" cy="682409"/>
            <a:chOff x="1718720" y="5009511"/>
            <a:chExt cx="312906" cy="682409"/>
          </a:xfrm>
        </p:grpSpPr>
        <p:sp>
          <p:nvSpPr>
            <p:cNvPr id="39" name="文字方塊 38"/>
            <p:cNvSpPr txBox="1"/>
            <p:nvPr/>
          </p:nvSpPr>
          <p:spPr>
            <a:xfrm>
              <a:off x="1718720" y="50095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  <a:endCxn id="17" idx="0"/>
            </p:cNvCxnSpPr>
            <p:nvPr/>
          </p:nvCxnSpPr>
          <p:spPr>
            <a:xfrm>
              <a:off x="1875173" y="5409621"/>
              <a:ext cx="0" cy="28229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矩形 42"/>
          <p:cNvSpPr/>
          <p:nvPr/>
        </p:nvSpPr>
        <p:spPr>
          <a:xfrm>
            <a:off x="4928098" y="3140968"/>
            <a:ext cx="18646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印出節點資料</a:t>
            </a:r>
          </a:p>
        </p:txBody>
      </p:sp>
      <p:sp>
        <p:nvSpPr>
          <p:cNvPr id="44" name="矩形 43"/>
          <p:cNvSpPr/>
          <p:nvPr/>
        </p:nvSpPr>
        <p:spPr>
          <a:xfrm>
            <a:off x="4894867" y="3553114"/>
            <a:ext cx="4206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指標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沿著鏈結而指向下一個節點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1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59259E-6 L 0.11788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88 -2.59259E-6 L 0.2368 -2.59259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8 -2.59259E-6 L 0.35573 -2.59259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73 -2.59259E-6 L 0.46892 -2.59259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92 -2.59259E-6 L 0.55104 -2.59259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</a:t>
            </a:r>
            <a:r>
              <a:rPr lang="zh-TW" altLang="en-US" dirty="0" smtClean="0"/>
              <a:t>配置實</a:t>
            </a:r>
            <a:r>
              <a:rPr lang="zh-TW" altLang="en-US" dirty="0"/>
              <a:t>作鏈結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(4/9)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插入新節點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48038" y="2661642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3468" y="2661642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3403" y="266164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29580" y="266164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4416" y="2860050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399846" y="2860050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34" idx="1"/>
          </p:cNvCxnSpPr>
          <p:nvPr/>
        </p:nvCxnSpPr>
        <p:spPr>
          <a:xfrm flipV="1">
            <a:off x="5509781" y="285997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05958" y="2860050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54766" y="306277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07849" y="313750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86984" y="2661641"/>
            <a:ext cx="776378" cy="396815"/>
          </a:xfrm>
          <a:prstGeom prst="roundRect">
            <a:avLst/>
          </a:prstGeom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3362" y="2860049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406106" y="304261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直線接點 19"/>
          <p:cNvCxnSpPr>
            <a:stCxn id="7" idx="0"/>
            <a:endCxn id="7" idx="2"/>
          </p:cNvCxnSpPr>
          <p:nvPr/>
        </p:nvCxnSpPr>
        <p:spPr>
          <a:xfrm>
            <a:off x="2936227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0"/>
            <a:endCxn id="17" idx="2"/>
          </p:cNvCxnSpPr>
          <p:nvPr/>
        </p:nvCxnSpPr>
        <p:spPr>
          <a:xfrm>
            <a:off x="1875173" y="266164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0"/>
            <a:endCxn id="8" idx="2"/>
          </p:cNvCxnSpPr>
          <p:nvPr/>
        </p:nvCxnSpPr>
        <p:spPr>
          <a:xfrm>
            <a:off x="4011657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0"/>
            <a:endCxn id="9" idx="2"/>
          </p:cNvCxnSpPr>
          <p:nvPr/>
        </p:nvCxnSpPr>
        <p:spPr>
          <a:xfrm>
            <a:off x="5121592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0" idx="0"/>
            <a:endCxn id="10" idx="2"/>
          </p:cNvCxnSpPr>
          <p:nvPr/>
        </p:nvCxnSpPr>
        <p:spPr>
          <a:xfrm>
            <a:off x="7217769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803702" y="265318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13534" y="265999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97590" y="265122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707525" y="265999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5803809" y="26615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5" name="直線接點 34"/>
          <p:cNvCxnSpPr>
            <a:stCxn id="34" idx="0"/>
            <a:endCxn id="34" idx="2"/>
          </p:cNvCxnSpPr>
          <p:nvPr/>
        </p:nvCxnSpPr>
        <p:spPr>
          <a:xfrm>
            <a:off x="6191998" y="26615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803809" y="265834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4" idx="3"/>
            <a:endCxn id="10" idx="1"/>
          </p:cNvCxnSpPr>
          <p:nvPr/>
        </p:nvCxnSpPr>
        <p:spPr>
          <a:xfrm>
            <a:off x="6580187" y="2859979"/>
            <a:ext cx="249393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群組 29"/>
          <p:cNvGrpSpPr/>
          <p:nvPr/>
        </p:nvGrpSpPr>
        <p:grpSpPr>
          <a:xfrm>
            <a:off x="3855704" y="1947333"/>
            <a:ext cx="312906" cy="714309"/>
            <a:chOff x="3855704" y="1947333"/>
            <a:chExt cx="312906" cy="714309"/>
          </a:xfrm>
        </p:grpSpPr>
        <p:sp>
          <p:nvSpPr>
            <p:cNvPr id="39" name="文字方塊 38"/>
            <p:cNvSpPr txBox="1"/>
            <p:nvPr/>
          </p:nvSpPr>
          <p:spPr>
            <a:xfrm>
              <a:off x="3855704" y="194733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  <a:endCxn id="8" idx="0"/>
            </p:cNvCxnSpPr>
            <p:nvPr/>
          </p:nvCxnSpPr>
          <p:spPr>
            <a:xfrm flipH="1">
              <a:off x="4011657" y="2347443"/>
              <a:ext cx="500" cy="31419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圓角矩形 40"/>
          <p:cNvSpPr/>
          <p:nvPr/>
        </p:nvSpPr>
        <p:spPr>
          <a:xfrm>
            <a:off x="4178435" y="333503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2" name="直線接點 41"/>
          <p:cNvCxnSpPr>
            <a:stCxn id="41" idx="0"/>
            <a:endCxn id="41" idx="2"/>
          </p:cNvCxnSpPr>
          <p:nvPr/>
        </p:nvCxnSpPr>
        <p:spPr>
          <a:xfrm>
            <a:off x="4566624" y="33350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4152557" y="333338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6" name="肘形接點 45"/>
          <p:cNvCxnSpPr>
            <a:endCxn id="43" idx="1"/>
          </p:cNvCxnSpPr>
          <p:nvPr/>
        </p:nvCxnSpPr>
        <p:spPr>
          <a:xfrm rot="5400000">
            <a:off x="3938603" y="3259604"/>
            <a:ext cx="487793" cy="59884"/>
          </a:xfrm>
          <a:prstGeom prst="bentConnector4">
            <a:avLst>
              <a:gd name="adj1" fmla="val 29494"/>
              <a:gd name="adj2" fmla="val 481738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41" idx="3"/>
            <a:endCxn id="28" idx="2"/>
          </p:cNvCxnSpPr>
          <p:nvPr/>
        </p:nvCxnSpPr>
        <p:spPr>
          <a:xfrm flipH="1" flipV="1">
            <a:off x="4928098" y="3060103"/>
            <a:ext cx="26715" cy="473342"/>
          </a:xfrm>
          <a:prstGeom prst="bentConnector4">
            <a:avLst>
              <a:gd name="adj1" fmla="val -855699"/>
              <a:gd name="adj2" fmla="val 70958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5021610" y="3782971"/>
            <a:ext cx="3448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掛上新節點的鏈結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 = p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996093" y="3804603"/>
            <a:ext cx="3041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3.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改變舊節點的鏈結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 = </a:t>
            </a:r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乘號 28"/>
          <p:cNvSpPr/>
          <p:nvPr/>
        </p:nvSpPr>
        <p:spPr>
          <a:xfrm>
            <a:off x="4414746" y="2734050"/>
            <a:ext cx="252000" cy="252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816556" y="4911812"/>
            <a:ext cx="3810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找到新節點欲插入的位置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  <p:bldP spid="29" grpId="0" animBg="1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</a:t>
            </a:r>
            <a:r>
              <a:rPr lang="zh-TW" altLang="en-US" dirty="0" smtClean="0"/>
              <a:t>配置實</a:t>
            </a:r>
            <a:r>
              <a:rPr lang="zh-TW" altLang="en-US" dirty="0"/>
              <a:t>作鏈結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(5/9)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刪除某節點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48038" y="2661642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207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3468" y="2661642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207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3403" y="266164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29580" y="266164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4416" y="2860050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399846" y="2860050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34" idx="1"/>
          </p:cNvCxnSpPr>
          <p:nvPr/>
        </p:nvCxnSpPr>
        <p:spPr>
          <a:xfrm flipV="1">
            <a:off x="5509781" y="285997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05958" y="2860050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54766" y="306277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07849" y="313750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86984" y="266164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3362" y="2860049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406106" y="304261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首節點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直線接點 19"/>
          <p:cNvCxnSpPr>
            <a:stCxn id="7" idx="0"/>
            <a:endCxn id="7" idx="2"/>
          </p:cNvCxnSpPr>
          <p:nvPr/>
        </p:nvCxnSpPr>
        <p:spPr>
          <a:xfrm>
            <a:off x="2936227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0"/>
            <a:endCxn id="17" idx="2"/>
          </p:cNvCxnSpPr>
          <p:nvPr/>
        </p:nvCxnSpPr>
        <p:spPr>
          <a:xfrm>
            <a:off x="1875173" y="266164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0"/>
            <a:endCxn id="8" idx="2"/>
          </p:cNvCxnSpPr>
          <p:nvPr/>
        </p:nvCxnSpPr>
        <p:spPr>
          <a:xfrm>
            <a:off x="4011657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0"/>
            <a:endCxn id="9" idx="2"/>
          </p:cNvCxnSpPr>
          <p:nvPr/>
        </p:nvCxnSpPr>
        <p:spPr>
          <a:xfrm>
            <a:off x="5121592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0" idx="0"/>
            <a:endCxn id="10" idx="2"/>
          </p:cNvCxnSpPr>
          <p:nvPr/>
        </p:nvCxnSpPr>
        <p:spPr>
          <a:xfrm>
            <a:off x="7217769" y="266164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803702" y="265318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13534" y="265999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597590" y="265122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707525" y="265999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5803809" y="266157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5" name="直線接點 34"/>
          <p:cNvCxnSpPr>
            <a:stCxn id="34" idx="0"/>
            <a:endCxn id="34" idx="2"/>
          </p:cNvCxnSpPr>
          <p:nvPr/>
        </p:nvCxnSpPr>
        <p:spPr>
          <a:xfrm>
            <a:off x="6191998" y="26615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803809" y="265834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4" idx="3"/>
            <a:endCxn id="10" idx="1"/>
          </p:cNvCxnSpPr>
          <p:nvPr/>
        </p:nvCxnSpPr>
        <p:spPr>
          <a:xfrm>
            <a:off x="6580187" y="2859979"/>
            <a:ext cx="249393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3643044" y="1947333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Node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0" name="直線單箭頭接點 39"/>
          <p:cNvCxnSpPr>
            <a:stCxn id="39" idx="2"/>
            <a:endCxn id="8" idx="0"/>
          </p:cNvCxnSpPr>
          <p:nvPr/>
        </p:nvCxnSpPr>
        <p:spPr>
          <a:xfrm flipH="1">
            <a:off x="4011657" y="2347443"/>
            <a:ext cx="1841" cy="3141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群組 28"/>
          <p:cNvGrpSpPr/>
          <p:nvPr/>
        </p:nvGrpSpPr>
        <p:grpSpPr>
          <a:xfrm>
            <a:off x="2380626" y="3058457"/>
            <a:ext cx="1111202" cy="784379"/>
            <a:chOff x="2380626" y="3058457"/>
            <a:chExt cx="1111202" cy="784379"/>
          </a:xfrm>
        </p:grpSpPr>
        <p:sp>
          <p:nvSpPr>
            <p:cNvPr id="47" name="文字方塊 46"/>
            <p:cNvSpPr txBox="1"/>
            <p:nvPr/>
          </p:nvSpPr>
          <p:spPr>
            <a:xfrm>
              <a:off x="2380626" y="3442726"/>
              <a:ext cx="11112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PreNode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線單箭頭接點 47"/>
            <p:cNvCxnSpPr>
              <a:stCxn id="47" idx="0"/>
              <a:endCxn id="7" idx="2"/>
            </p:cNvCxnSpPr>
            <p:nvPr/>
          </p:nvCxnSpPr>
          <p:spPr>
            <a:xfrm flipV="1">
              <a:off x="2936227" y="3058457"/>
              <a:ext cx="0" cy="38426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肘形接點 51"/>
          <p:cNvCxnSpPr>
            <a:endCxn id="28" idx="2"/>
          </p:cNvCxnSpPr>
          <p:nvPr/>
        </p:nvCxnSpPr>
        <p:spPr>
          <a:xfrm rot="16200000" flipH="1">
            <a:off x="4025734" y="2157739"/>
            <a:ext cx="8766" cy="1795961"/>
          </a:xfrm>
          <a:prstGeom prst="bentConnector3">
            <a:avLst>
              <a:gd name="adj1" fmla="val 2707803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229043" y="3988613"/>
            <a:ext cx="43031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前一個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GetPreNode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(head, Node);</a:t>
            </a:r>
            <a:r>
              <a:rPr lang="zh-TW" altLang="en-US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641892" y="3988613"/>
            <a:ext cx="43236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3.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將前一節點的鏈結越過舊節點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next = 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 next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543992" y="1793445"/>
            <a:ext cx="30412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4.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舊節點動態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歸還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627784" y="5123164"/>
            <a:ext cx="31053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找到欲刪除的節點</a:t>
            </a:r>
            <a:r>
              <a:rPr lang="zh-TW" altLang="en-US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4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/>
      <p:bldP spid="39" grpId="0"/>
      <p:bldP spid="39" grpId="1"/>
      <p:bldP spid="53" grpId="0"/>
      <p:bldP spid="54" grpId="0"/>
      <p:bldP spid="55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</a:t>
            </a:r>
            <a:r>
              <a:rPr lang="zh-TW" altLang="en-US" dirty="0" smtClean="0"/>
              <a:t>配置實</a:t>
            </a:r>
            <a:r>
              <a:rPr lang="zh-TW" altLang="en-US" dirty="0"/>
              <a:t>作鏈結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(6/9)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建立鏈結串列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重複地將新節點加入串列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486984" y="2385609"/>
            <a:ext cx="1309858" cy="475861"/>
            <a:chOff x="1486984" y="2385609"/>
            <a:chExt cx="1309858" cy="475861"/>
          </a:xfrm>
        </p:grpSpPr>
        <p:cxnSp>
          <p:nvCxnSpPr>
            <p:cNvPr id="14" name="肘形接點 13"/>
            <p:cNvCxnSpPr/>
            <p:nvPr/>
          </p:nvCxnSpPr>
          <p:spPr>
            <a:xfrm>
              <a:off x="2263362" y="2584018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2512170" y="278674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2565253" y="286147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圓角矩形 16"/>
            <p:cNvSpPr/>
            <p:nvPr/>
          </p:nvSpPr>
          <p:spPr>
            <a:xfrm>
              <a:off x="1486984" y="238560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1" name="直線接點 20"/>
            <p:cNvCxnSpPr>
              <a:stCxn id="17" idx="0"/>
              <a:endCxn id="17" idx="2"/>
            </p:cNvCxnSpPr>
            <p:nvPr/>
          </p:nvCxnSpPr>
          <p:spPr>
            <a:xfrm>
              <a:off x="1875173" y="238560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群組 7"/>
          <p:cNvGrpSpPr/>
          <p:nvPr/>
        </p:nvGrpSpPr>
        <p:grpSpPr>
          <a:xfrm>
            <a:off x="1486984" y="3028323"/>
            <a:ext cx="2370912" cy="477509"/>
            <a:chOff x="1486984" y="3028323"/>
            <a:chExt cx="2370912" cy="477509"/>
          </a:xfrm>
        </p:grpSpPr>
        <p:sp>
          <p:nvSpPr>
            <p:cNvPr id="75" name="圓角矩形 74"/>
            <p:cNvSpPr/>
            <p:nvPr/>
          </p:nvSpPr>
          <p:spPr>
            <a:xfrm>
              <a:off x="2548038" y="3029972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2" name="肘形接點 81"/>
            <p:cNvCxnSpPr/>
            <p:nvPr/>
          </p:nvCxnSpPr>
          <p:spPr>
            <a:xfrm>
              <a:off x="3324416" y="3228380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>
              <a:off x="3573224" y="3431104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>
              <a:off x="3626307" y="3505832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圓角矩形 84"/>
            <p:cNvSpPr/>
            <p:nvPr/>
          </p:nvSpPr>
          <p:spPr>
            <a:xfrm>
              <a:off x="1486984" y="3029971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6" name="直線單箭頭接點 85"/>
            <p:cNvCxnSpPr>
              <a:stCxn id="85" idx="3"/>
              <a:endCxn id="75" idx="1"/>
            </p:cNvCxnSpPr>
            <p:nvPr/>
          </p:nvCxnSpPr>
          <p:spPr>
            <a:xfrm>
              <a:off x="2263362" y="3228379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>
              <a:stCxn id="75" idx="0"/>
              <a:endCxn id="75" idx="2"/>
            </p:cNvCxnSpPr>
            <p:nvPr/>
          </p:nvCxnSpPr>
          <p:spPr>
            <a:xfrm>
              <a:off x="2936227" y="302997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/>
            <p:cNvCxnSpPr>
              <a:stCxn id="85" idx="0"/>
              <a:endCxn id="85" idx="2"/>
            </p:cNvCxnSpPr>
            <p:nvPr/>
          </p:nvCxnSpPr>
          <p:spPr>
            <a:xfrm>
              <a:off x="1875173" y="302997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/>
            <p:cNvSpPr txBox="1"/>
            <p:nvPr/>
          </p:nvSpPr>
          <p:spPr>
            <a:xfrm>
              <a:off x="2513534" y="302832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486984" y="3657661"/>
            <a:ext cx="3446342" cy="486275"/>
            <a:chOff x="1486984" y="3657661"/>
            <a:chExt cx="3446342" cy="486275"/>
          </a:xfrm>
        </p:grpSpPr>
        <p:sp>
          <p:nvSpPr>
            <p:cNvPr id="107" name="圓角矩形 106"/>
            <p:cNvSpPr/>
            <p:nvPr/>
          </p:nvSpPr>
          <p:spPr>
            <a:xfrm>
              <a:off x="2548038" y="3668076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8" name="圓角矩形 107"/>
            <p:cNvSpPr/>
            <p:nvPr/>
          </p:nvSpPr>
          <p:spPr>
            <a:xfrm>
              <a:off x="3623468" y="3668076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1" name="直線單箭頭接點 110"/>
            <p:cNvCxnSpPr>
              <a:stCxn id="107" idx="3"/>
              <a:endCxn id="108" idx="1"/>
            </p:cNvCxnSpPr>
            <p:nvPr/>
          </p:nvCxnSpPr>
          <p:spPr>
            <a:xfrm>
              <a:off x="3324416" y="3866484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肘形接點 113"/>
            <p:cNvCxnSpPr/>
            <p:nvPr/>
          </p:nvCxnSpPr>
          <p:spPr>
            <a:xfrm>
              <a:off x="4399846" y="3866484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接點 114"/>
            <p:cNvCxnSpPr/>
            <p:nvPr/>
          </p:nvCxnSpPr>
          <p:spPr>
            <a:xfrm>
              <a:off x="4648654" y="4069208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接點 115"/>
            <p:cNvCxnSpPr/>
            <p:nvPr/>
          </p:nvCxnSpPr>
          <p:spPr>
            <a:xfrm>
              <a:off x="4701737" y="4143936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圓角矩形 116"/>
            <p:cNvSpPr/>
            <p:nvPr/>
          </p:nvSpPr>
          <p:spPr>
            <a:xfrm>
              <a:off x="1486984" y="3668075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8" name="直線單箭頭接點 117"/>
            <p:cNvCxnSpPr>
              <a:stCxn id="117" idx="3"/>
              <a:endCxn id="107" idx="1"/>
            </p:cNvCxnSpPr>
            <p:nvPr/>
          </p:nvCxnSpPr>
          <p:spPr>
            <a:xfrm>
              <a:off x="2263362" y="3866483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接點 118"/>
            <p:cNvCxnSpPr>
              <a:stCxn id="107" idx="0"/>
              <a:endCxn id="107" idx="2"/>
            </p:cNvCxnSpPr>
            <p:nvPr/>
          </p:nvCxnSpPr>
          <p:spPr>
            <a:xfrm>
              <a:off x="2936227" y="366807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/>
            <p:cNvCxnSpPr>
              <a:stCxn id="117" idx="0"/>
              <a:endCxn id="117" idx="2"/>
            </p:cNvCxnSpPr>
            <p:nvPr/>
          </p:nvCxnSpPr>
          <p:spPr>
            <a:xfrm>
              <a:off x="1875173" y="3668075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20"/>
            <p:cNvCxnSpPr>
              <a:stCxn id="108" idx="0"/>
              <a:endCxn id="108" idx="2"/>
            </p:cNvCxnSpPr>
            <p:nvPr/>
          </p:nvCxnSpPr>
          <p:spPr>
            <a:xfrm>
              <a:off x="4011657" y="366807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字方塊 124"/>
            <p:cNvSpPr txBox="1"/>
            <p:nvPr/>
          </p:nvSpPr>
          <p:spPr>
            <a:xfrm>
              <a:off x="2513534" y="366642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3597590" y="3657661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1486984" y="4302023"/>
            <a:ext cx="4556277" cy="486275"/>
            <a:chOff x="1486984" y="4302023"/>
            <a:chExt cx="4556277" cy="486275"/>
          </a:xfrm>
        </p:grpSpPr>
        <p:sp>
          <p:nvSpPr>
            <p:cNvPr id="139" name="圓角矩形 138"/>
            <p:cNvSpPr/>
            <p:nvPr/>
          </p:nvSpPr>
          <p:spPr>
            <a:xfrm>
              <a:off x="2548038" y="4312438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0" name="圓角矩形 139"/>
            <p:cNvSpPr/>
            <p:nvPr/>
          </p:nvSpPr>
          <p:spPr>
            <a:xfrm>
              <a:off x="3623468" y="4312438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1" name="圓角矩形 140"/>
            <p:cNvSpPr/>
            <p:nvPr/>
          </p:nvSpPr>
          <p:spPr>
            <a:xfrm>
              <a:off x="4733403" y="431243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43" name="直線單箭頭接點 142"/>
            <p:cNvCxnSpPr>
              <a:stCxn id="139" idx="3"/>
              <a:endCxn id="140" idx="1"/>
            </p:cNvCxnSpPr>
            <p:nvPr/>
          </p:nvCxnSpPr>
          <p:spPr>
            <a:xfrm>
              <a:off x="3324416" y="4510846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單箭頭接點 143"/>
            <p:cNvCxnSpPr>
              <a:stCxn id="140" idx="3"/>
              <a:endCxn id="141" idx="1"/>
            </p:cNvCxnSpPr>
            <p:nvPr/>
          </p:nvCxnSpPr>
          <p:spPr>
            <a:xfrm>
              <a:off x="4399846" y="4510846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肘形接點 145"/>
            <p:cNvCxnSpPr/>
            <p:nvPr/>
          </p:nvCxnSpPr>
          <p:spPr>
            <a:xfrm>
              <a:off x="5509781" y="4510846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接點 146"/>
            <p:cNvCxnSpPr/>
            <p:nvPr/>
          </p:nvCxnSpPr>
          <p:spPr>
            <a:xfrm>
              <a:off x="5758589" y="4713570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/>
            <p:cNvCxnSpPr/>
            <p:nvPr/>
          </p:nvCxnSpPr>
          <p:spPr>
            <a:xfrm>
              <a:off x="5811672" y="4788298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圓角矩形 148"/>
            <p:cNvSpPr/>
            <p:nvPr/>
          </p:nvSpPr>
          <p:spPr>
            <a:xfrm>
              <a:off x="1486984" y="4312437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50" name="直線單箭頭接點 149"/>
            <p:cNvCxnSpPr>
              <a:stCxn id="149" idx="3"/>
              <a:endCxn id="139" idx="1"/>
            </p:cNvCxnSpPr>
            <p:nvPr/>
          </p:nvCxnSpPr>
          <p:spPr>
            <a:xfrm>
              <a:off x="2263362" y="4510845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150"/>
            <p:cNvCxnSpPr>
              <a:stCxn id="139" idx="0"/>
              <a:endCxn id="139" idx="2"/>
            </p:cNvCxnSpPr>
            <p:nvPr/>
          </p:nvCxnSpPr>
          <p:spPr>
            <a:xfrm>
              <a:off x="2936227" y="43124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接點 151"/>
            <p:cNvCxnSpPr>
              <a:stCxn id="149" idx="0"/>
              <a:endCxn id="149" idx="2"/>
            </p:cNvCxnSpPr>
            <p:nvPr/>
          </p:nvCxnSpPr>
          <p:spPr>
            <a:xfrm>
              <a:off x="1875173" y="431243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/>
            <p:cNvCxnSpPr>
              <a:stCxn id="140" idx="0"/>
              <a:endCxn id="140" idx="2"/>
            </p:cNvCxnSpPr>
            <p:nvPr/>
          </p:nvCxnSpPr>
          <p:spPr>
            <a:xfrm>
              <a:off x="4011657" y="43124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/>
            <p:cNvCxnSpPr>
              <a:stCxn id="141" idx="0"/>
              <a:endCxn id="141" idx="2"/>
            </p:cNvCxnSpPr>
            <p:nvPr/>
          </p:nvCxnSpPr>
          <p:spPr>
            <a:xfrm>
              <a:off x="5121592" y="431243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/>
            <p:cNvSpPr txBox="1"/>
            <p:nvPr/>
          </p:nvSpPr>
          <p:spPr>
            <a:xfrm>
              <a:off x="2513534" y="431078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3597590" y="430202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9" name="文字方塊 158"/>
            <p:cNvSpPr txBox="1"/>
            <p:nvPr/>
          </p:nvSpPr>
          <p:spPr>
            <a:xfrm>
              <a:off x="4707525" y="431078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486984" y="4934364"/>
            <a:ext cx="5626683" cy="491847"/>
            <a:chOff x="1486984" y="4934364"/>
            <a:chExt cx="5626683" cy="491847"/>
          </a:xfrm>
        </p:grpSpPr>
        <p:sp>
          <p:nvSpPr>
            <p:cNvPr id="171" name="圓角矩形 170"/>
            <p:cNvSpPr/>
            <p:nvPr/>
          </p:nvSpPr>
          <p:spPr>
            <a:xfrm>
              <a:off x="2548038" y="4944779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72" name="圓角矩形 171"/>
            <p:cNvSpPr/>
            <p:nvPr/>
          </p:nvSpPr>
          <p:spPr>
            <a:xfrm>
              <a:off x="3623468" y="4944779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73" name="圓角矩形 172"/>
            <p:cNvSpPr/>
            <p:nvPr/>
          </p:nvSpPr>
          <p:spPr>
            <a:xfrm>
              <a:off x="4733403" y="494477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75" name="直線單箭頭接點 174"/>
            <p:cNvCxnSpPr>
              <a:stCxn id="171" idx="3"/>
              <a:endCxn id="172" idx="1"/>
            </p:cNvCxnSpPr>
            <p:nvPr/>
          </p:nvCxnSpPr>
          <p:spPr>
            <a:xfrm>
              <a:off x="3324416" y="5143187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單箭頭接點 175"/>
            <p:cNvCxnSpPr>
              <a:stCxn id="172" idx="3"/>
              <a:endCxn id="173" idx="1"/>
            </p:cNvCxnSpPr>
            <p:nvPr/>
          </p:nvCxnSpPr>
          <p:spPr>
            <a:xfrm>
              <a:off x="4399846" y="5143187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單箭頭接點 176"/>
            <p:cNvCxnSpPr>
              <a:stCxn id="173" idx="3"/>
              <a:endCxn id="197" idx="1"/>
            </p:cNvCxnSpPr>
            <p:nvPr/>
          </p:nvCxnSpPr>
          <p:spPr>
            <a:xfrm flipV="1">
              <a:off x="5509781" y="5143116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肘形接點 177"/>
            <p:cNvCxnSpPr/>
            <p:nvPr/>
          </p:nvCxnSpPr>
          <p:spPr>
            <a:xfrm>
              <a:off x="6580187" y="5148759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接點 178"/>
            <p:cNvCxnSpPr/>
            <p:nvPr/>
          </p:nvCxnSpPr>
          <p:spPr>
            <a:xfrm>
              <a:off x="6828995" y="5351483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線接點 179"/>
            <p:cNvCxnSpPr/>
            <p:nvPr/>
          </p:nvCxnSpPr>
          <p:spPr>
            <a:xfrm>
              <a:off x="6882078" y="5426211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圓角矩形 180"/>
            <p:cNvSpPr/>
            <p:nvPr/>
          </p:nvSpPr>
          <p:spPr>
            <a:xfrm>
              <a:off x="1486984" y="494477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82" name="直線單箭頭接點 181"/>
            <p:cNvCxnSpPr>
              <a:stCxn id="181" idx="3"/>
              <a:endCxn id="171" idx="1"/>
            </p:cNvCxnSpPr>
            <p:nvPr/>
          </p:nvCxnSpPr>
          <p:spPr>
            <a:xfrm>
              <a:off x="2263362" y="5143186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接點 182"/>
            <p:cNvCxnSpPr>
              <a:stCxn id="171" idx="0"/>
              <a:endCxn id="171" idx="2"/>
            </p:cNvCxnSpPr>
            <p:nvPr/>
          </p:nvCxnSpPr>
          <p:spPr>
            <a:xfrm>
              <a:off x="2936227" y="494477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線接點 183"/>
            <p:cNvCxnSpPr>
              <a:stCxn id="181" idx="0"/>
              <a:endCxn id="181" idx="2"/>
            </p:cNvCxnSpPr>
            <p:nvPr/>
          </p:nvCxnSpPr>
          <p:spPr>
            <a:xfrm>
              <a:off x="1875173" y="494477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線接點 184"/>
            <p:cNvCxnSpPr>
              <a:stCxn id="172" idx="0"/>
              <a:endCxn id="172" idx="2"/>
            </p:cNvCxnSpPr>
            <p:nvPr/>
          </p:nvCxnSpPr>
          <p:spPr>
            <a:xfrm>
              <a:off x="4011657" y="494477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線接點 185"/>
            <p:cNvCxnSpPr>
              <a:stCxn id="173" idx="0"/>
              <a:endCxn id="173" idx="2"/>
            </p:cNvCxnSpPr>
            <p:nvPr/>
          </p:nvCxnSpPr>
          <p:spPr>
            <a:xfrm>
              <a:off x="5121592" y="494477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字方塊 188"/>
            <p:cNvSpPr txBox="1"/>
            <p:nvPr/>
          </p:nvSpPr>
          <p:spPr>
            <a:xfrm>
              <a:off x="2513534" y="494313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90" name="文字方塊 189"/>
            <p:cNvSpPr txBox="1"/>
            <p:nvPr/>
          </p:nvSpPr>
          <p:spPr>
            <a:xfrm>
              <a:off x="3597590" y="493436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4707525" y="494313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97" name="圓角矩形 196"/>
            <p:cNvSpPr/>
            <p:nvPr/>
          </p:nvSpPr>
          <p:spPr>
            <a:xfrm>
              <a:off x="5803809" y="494470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98" name="直線接點 197"/>
            <p:cNvCxnSpPr>
              <a:stCxn id="197" idx="0"/>
              <a:endCxn id="197" idx="2"/>
            </p:cNvCxnSpPr>
            <p:nvPr/>
          </p:nvCxnSpPr>
          <p:spPr>
            <a:xfrm>
              <a:off x="6191998" y="494470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文字方塊 198"/>
            <p:cNvSpPr txBox="1"/>
            <p:nvPr/>
          </p:nvSpPr>
          <p:spPr>
            <a:xfrm>
              <a:off x="5803809" y="49414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1486984" y="5578726"/>
            <a:ext cx="6652454" cy="486275"/>
            <a:chOff x="1486984" y="5578726"/>
            <a:chExt cx="6652454" cy="486275"/>
          </a:xfrm>
        </p:grpSpPr>
        <p:sp>
          <p:nvSpPr>
            <p:cNvPr id="203" name="圓角矩形 202"/>
            <p:cNvSpPr/>
            <p:nvPr/>
          </p:nvSpPr>
          <p:spPr>
            <a:xfrm>
              <a:off x="2548038" y="5589141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04" name="圓角矩形 203"/>
            <p:cNvSpPr/>
            <p:nvPr/>
          </p:nvSpPr>
          <p:spPr>
            <a:xfrm>
              <a:off x="3623468" y="5589141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05" name="圓角矩形 204"/>
            <p:cNvSpPr/>
            <p:nvPr/>
          </p:nvSpPr>
          <p:spPr>
            <a:xfrm>
              <a:off x="4733403" y="5589141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06" name="圓角矩形 205"/>
            <p:cNvSpPr/>
            <p:nvPr/>
          </p:nvSpPr>
          <p:spPr>
            <a:xfrm>
              <a:off x="6829580" y="5589141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07" name="直線單箭頭接點 206"/>
            <p:cNvCxnSpPr>
              <a:stCxn id="203" idx="3"/>
              <a:endCxn id="204" idx="1"/>
            </p:cNvCxnSpPr>
            <p:nvPr/>
          </p:nvCxnSpPr>
          <p:spPr>
            <a:xfrm>
              <a:off x="3324416" y="5787549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單箭頭接點 207"/>
            <p:cNvCxnSpPr>
              <a:stCxn id="204" idx="3"/>
              <a:endCxn id="205" idx="1"/>
            </p:cNvCxnSpPr>
            <p:nvPr/>
          </p:nvCxnSpPr>
          <p:spPr>
            <a:xfrm>
              <a:off x="4399846" y="5787549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單箭頭接點 208"/>
            <p:cNvCxnSpPr>
              <a:stCxn id="205" idx="3"/>
              <a:endCxn id="229" idx="1"/>
            </p:cNvCxnSpPr>
            <p:nvPr/>
          </p:nvCxnSpPr>
          <p:spPr>
            <a:xfrm flipV="1">
              <a:off x="5509781" y="578747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肘形接點 209"/>
            <p:cNvCxnSpPr>
              <a:stCxn id="206" idx="3"/>
            </p:cNvCxnSpPr>
            <p:nvPr/>
          </p:nvCxnSpPr>
          <p:spPr>
            <a:xfrm>
              <a:off x="7605958" y="5787549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線接點 210"/>
            <p:cNvCxnSpPr/>
            <p:nvPr/>
          </p:nvCxnSpPr>
          <p:spPr>
            <a:xfrm>
              <a:off x="7854766" y="5990273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線接點 211"/>
            <p:cNvCxnSpPr/>
            <p:nvPr/>
          </p:nvCxnSpPr>
          <p:spPr>
            <a:xfrm>
              <a:off x="7907849" y="6065001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圓角矩形 212"/>
            <p:cNvSpPr/>
            <p:nvPr/>
          </p:nvSpPr>
          <p:spPr>
            <a:xfrm>
              <a:off x="1486984" y="5589140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14" name="直線單箭頭接點 213"/>
            <p:cNvCxnSpPr>
              <a:stCxn id="213" idx="3"/>
              <a:endCxn id="203" idx="1"/>
            </p:cNvCxnSpPr>
            <p:nvPr/>
          </p:nvCxnSpPr>
          <p:spPr>
            <a:xfrm>
              <a:off x="2263362" y="5787548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線接點 214"/>
            <p:cNvCxnSpPr>
              <a:stCxn id="203" idx="0"/>
              <a:endCxn id="203" idx="2"/>
            </p:cNvCxnSpPr>
            <p:nvPr/>
          </p:nvCxnSpPr>
          <p:spPr>
            <a:xfrm>
              <a:off x="2936227" y="558914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線接點 215"/>
            <p:cNvCxnSpPr>
              <a:stCxn id="213" idx="0"/>
              <a:endCxn id="213" idx="2"/>
            </p:cNvCxnSpPr>
            <p:nvPr/>
          </p:nvCxnSpPr>
          <p:spPr>
            <a:xfrm>
              <a:off x="1875173" y="558914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線接點 216"/>
            <p:cNvCxnSpPr>
              <a:stCxn id="204" idx="0"/>
              <a:endCxn id="204" idx="2"/>
            </p:cNvCxnSpPr>
            <p:nvPr/>
          </p:nvCxnSpPr>
          <p:spPr>
            <a:xfrm>
              <a:off x="4011657" y="558914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接點 217"/>
            <p:cNvCxnSpPr>
              <a:stCxn id="205" idx="0"/>
              <a:endCxn id="205" idx="2"/>
            </p:cNvCxnSpPr>
            <p:nvPr/>
          </p:nvCxnSpPr>
          <p:spPr>
            <a:xfrm>
              <a:off x="5121592" y="558914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線接點 218"/>
            <p:cNvCxnSpPr>
              <a:stCxn id="206" idx="0"/>
              <a:endCxn id="206" idx="2"/>
            </p:cNvCxnSpPr>
            <p:nvPr/>
          </p:nvCxnSpPr>
          <p:spPr>
            <a:xfrm>
              <a:off x="7217769" y="558914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文字方塊 219"/>
            <p:cNvSpPr txBox="1"/>
            <p:nvPr/>
          </p:nvSpPr>
          <p:spPr>
            <a:xfrm>
              <a:off x="6803702" y="558068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1" name="文字方塊 220"/>
            <p:cNvSpPr txBox="1"/>
            <p:nvPr/>
          </p:nvSpPr>
          <p:spPr>
            <a:xfrm>
              <a:off x="2513534" y="5587492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3597590" y="557872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3" name="文字方塊 222"/>
            <p:cNvSpPr txBox="1"/>
            <p:nvPr/>
          </p:nvSpPr>
          <p:spPr>
            <a:xfrm>
              <a:off x="4707525" y="5587492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9" name="圓角矩形 228"/>
            <p:cNvSpPr/>
            <p:nvPr/>
          </p:nvSpPr>
          <p:spPr>
            <a:xfrm>
              <a:off x="5803809" y="5589070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30" name="直線接點 229"/>
            <p:cNvCxnSpPr>
              <a:stCxn id="229" idx="0"/>
              <a:endCxn id="229" idx="2"/>
            </p:cNvCxnSpPr>
            <p:nvPr/>
          </p:nvCxnSpPr>
          <p:spPr>
            <a:xfrm>
              <a:off x="6191998" y="558907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文字方塊 230"/>
            <p:cNvSpPr txBox="1"/>
            <p:nvPr/>
          </p:nvSpPr>
          <p:spPr>
            <a:xfrm>
              <a:off x="5803809" y="5585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33" name="直線單箭頭接點 232"/>
            <p:cNvCxnSpPr>
              <a:stCxn id="229" idx="3"/>
              <a:endCxn id="206" idx="1"/>
            </p:cNvCxnSpPr>
            <p:nvPr/>
          </p:nvCxnSpPr>
          <p:spPr>
            <a:xfrm>
              <a:off x="6580187" y="5787478"/>
              <a:ext cx="249393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/>
        </p:nvSpPr>
        <p:spPr>
          <a:xfrm>
            <a:off x="4928098" y="2561006"/>
            <a:ext cx="39040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新節點加入的位置</a:t>
            </a:r>
          </a:p>
          <a:p>
            <a:pPr lvl="1">
              <a:buFontTx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可以是串列的前面</a:t>
            </a:r>
          </a:p>
          <a:p>
            <a:pPr lvl="1">
              <a:buFontTx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也可以是在串列的尾端</a:t>
            </a:r>
          </a:p>
          <a:p>
            <a:pPr lvl="1">
              <a:buFontTx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也可以是在串列的特定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地方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58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動態配置實作鏈結串列 </a:t>
            </a:r>
            <a:r>
              <a:rPr lang="en-US" altLang="zh-TW" dirty="0" smtClean="0"/>
              <a:t>(7/9)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將兩個單項鏈結串列連接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NODE</a:t>
            </a:r>
            <a:r>
              <a:rPr lang="zh-TW" altLang="en-US" dirty="0" smtClean="0"/>
              <a:t> *</a:t>
            </a:r>
            <a:r>
              <a:rPr lang="en-US" altLang="zh-TW" dirty="0" smtClean="0"/>
              <a:t>p = </a:t>
            </a:r>
            <a:r>
              <a:rPr lang="en-US" altLang="zh-TW" dirty="0" err="1" smtClean="0"/>
              <a:t>listA</a:t>
            </a:r>
            <a:r>
              <a:rPr lang="en-US" altLang="zh-TW" dirty="0" smtClean="0"/>
              <a:t>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while (p </a:t>
            </a:r>
            <a:r>
              <a:rPr lang="en-US" altLang="zh-TW" dirty="0" smtClean="0">
                <a:sym typeface="Symbol"/>
              </a:rPr>
              <a:t> next != NULL)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p = p  next;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p  next = </a:t>
            </a:r>
            <a:r>
              <a:rPr lang="en-US" altLang="zh-TW" dirty="0" err="1" smtClean="0">
                <a:sym typeface="Symbol"/>
              </a:rPr>
              <a:t>listB</a:t>
            </a:r>
            <a:r>
              <a:rPr lang="en-US" altLang="zh-TW" dirty="0" smtClean="0">
                <a:sym typeface="Symbol"/>
              </a:rPr>
              <a:t>  next;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53525" y="2603429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8955" y="2603429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8890" y="260342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69571" y="260342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9903" y="2801837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405333" y="2801837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33" idx="1"/>
          </p:cNvCxnSpPr>
          <p:nvPr/>
        </p:nvCxnSpPr>
        <p:spPr>
          <a:xfrm flipV="1">
            <a:off x="5515268" y="2801766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45949" y="2801837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94757" y="3004561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47840" y="3079289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92471" y="260342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8849" y="2801836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0"/>
            <a:endCxn id="7" idx="2"/>
          </p:cNvCxnSpPr>
          <p:nvPr/>
        </p:nvCxnSpPr>
        <p:spPr>
          <a:xfrm>
            <a:off x="2941714" y="260342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7" idx="2"/>
          </p:cNvCxnSpPr>
          <p:nvPr/>
        </p:nvCxnSpPr>
        <p:spPr>
          <a:xfrm>
            <a:off x="1880660" y="260342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0"/>
            <a:endCxn id="8" idx="2"/>
          </p:cNvCxnSpPr>
          <p:nvPr/>
        </p:nvCxnSpPr>
        <p:spPr>
          <a:xfrm>
            <a:off x="4017144" y="260342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5127079" y="260342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7257760" y="260342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43693" y="259497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519021" y="260178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603077" y="25930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13012" y="260178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5809296" y="2603358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4" name="直線接點 33"/>
          <p:cNvCxnSpPr>
            <a:stCxn id="33" idx="0"/>
            <a:endCxn id="33" idx="2"/>
          </p:cNvCxnSpPr>
          <p:nvPr/>
        </p:nvCxnSpPr>
        <p:spPr>
          <a:xfrm>
            <a:off x="6197485" y="2603358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809296" y="260013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7" name="直線單箭頭接點 36"/>
          <p:cNvCxnSpPr>
            <a:stCxn id="33" idx="3"/>
            <a:endCxn id="10" idx="1"/>
          </p:cNvCxnSpPr>
          <p:nvPr/>
        </p:nvCxnSpPr>
        <p:spPr>
          <a:xfrm>
            <a:off x="6585674" y="2801766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/>
          <p:cNvSpPr/>
          <p:nvPr/>
        </p:nvSpPr>
        <p:spPr>
          <a:xfrm>
            <a:off x="2553525" y="3601212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圓角矩形 50"/>
          <p:cNvSpPr/>
          <p:nvPr/>
        </p:nvSpPr>
        <p:spPr>
          <a:xfrm>
            <a:off x="3628955" y="3601212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圓角矩形 51"/>
          <p:cNvSpPr/>
          <p:nvPr/>
        </p:nvSpPr>
        <p:spPr>
          <a:xfrm>
            <a:off x="4738890" y="360121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4" name="直線單箭頭接點 53"/>
          <p:cNvCxnSpPr>
            <a:stCxn id="50" idx="3"/>
            <a:endCxn id="51" idx="1"/>
          </p:cNvCxnSpPr>
          <p:nvPr/>
        </p:nvCxnSpPr>
        <p:spPr>
          <a:xfrm>
            <a:off x="3329903" y="3799620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51" idx="3"/>
            <a:endCxn id="52" idx="1"/>
          </p:cNvCxnSpPr>
          <p:nvPr/>
        </p:nvCxnSpPr>
        <p:spPr>
          <a:xfrm>
            <a:off x="4405333" y="3799620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接點 56"/>
          <p:cNvCxnSpPr/>
          <p:nvPr/>
        </p:nvCxnSpPr>
        <p:spPr>
          <a:xfrm>
            <a:off x="5515268" y="3799620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5764076" y="400234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817159" y="407707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圓角矩形 59"/>
          <p:cNvSpPr/>
          <p:nvPr/>
        </p:nvSpPr>
        <p:spPr>
          <a:xfrm>
            <a:off x="1492471" y="3601211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61" name="直線單箭頭接點 60"/>
          <p:cNvCxnSpPr>
            <a:stCxn id="60" idx="3"/>
            <a:endCxn id="50" idx="1"/>
          </p:cNvCxnSpPr>
          <p:nvPr/>
        </p:nvCxnSpPr>
        <p:spPr>
          <a:xfrm>
            <a:off x="2268849" y="3799619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50" idx="0"/>
            <a:endCxn id="50" idx="2"/>
          </p:cNvCxnSpPr>
          <p:nvPr/>
        </p:nvCxnSpPr>
        <p:spPr>
          <a:xfrm>
            <a:off x="2941714" y="360121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60" idx="0"/>
            <a:endCxn id="60" idx="2"/>
          </p:cNvCxnSpPr>
          <p:nvPr/>
        </p:nvCxnSpPr>
        <p:spPr>
          <a:xfrm>
            <a:off x="1880660" y="36012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51" idx="0"/>
            <a:endCxn id="51" idx="2"/>
          </p:cNvCxnSpPr>
          <p:nvPr/>
        </p:nvCxnSpPr>
        <p:spPr>
          <a:xfrm>
            <a:off x="4017144" y="360121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52" idx="0"/>
            <a:endCxn id="52" idx="2"/>
          </p:cNvCxnSpPr>
          <p:nvPr/>
        </p:nvCxnSpPr>
        <p:spPr>
          <a:xfrm>
            <a:off x="5127079" y="360121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2519021" y="359956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603077" y="359079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比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713012" y="359956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德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98314" y="259497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listA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89788" y="3590797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listB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4" name="肘形接點 83"/>
          <p:cNvCxnSpPr>
            <a:endCxn id="68" idx="0"/>
          </p:cNvCxnSpPr>
          <p:nvPr/>
        </p:nvCxnSpPr>
        <p:spPr>
          <a:xfrm rot="5400000">
            <a:off x="4794778" y="945060"/>
            <a:ext cx="599320" cy="4709687"/>
          </a:xfrm>
          <a:prstGeom prst="bentConnector3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1723706" y="1882495"/>
            <a:ext cx="312906" cy="682409"/>
            <a:chOff x="1718720" y="5009511"/>
            <a:chExt cx="312906" cy="682409"/>
          </a:xfrm>
        </p:grpSpPr>
        <p:sp>
          <p:nvSpPr>
            <p:cNvPr id="66" name="文字方塊 65"/>
            <p:cNvSpPr txBox="1"/>
            <p:nvPr/>
          </p:nvSpPr>
          <p:spPr>
            <a:xfrm>
              <a:off x="1718720" y="50095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67" name="直線單箭頭接點 66"/>
            <p:cNvCxnSpPr>
              <a:stCxn id="66" idx="2"/>
            </p:cNvCxnSpPr>
            <p:nvPr/>
          </p:nvCxnSpPr>
          <p:spPr>
            <a:xfrm>
              <a:off x="1875173" y="5409621"/>
              <a:ext cx="0" cy="28229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3717054" y="4862053"/>
            <a:ext cx="36744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一路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往右直到最後一個節點</a:t>
            </a:r>
          </a:p>
        </p:txBody>
      </p:sp>
      <p:sp>
        <p:nvSpPr>
          <p:cNvPr id="29" name="矩形 28"/>
          <p:cNvSpPr/>
          <p:nvPr/>
        </p:nvSpPr>
        <p:spPr>
          <a:xfrm>
            <a:off x="3717054" y="5517232"/>
            <a:ext cx="1672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改變其鏈結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35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44444E-6 L 0.11788 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88 4.44444E-6 L 0.2368 4.44444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8 4.44444E-6 L 0.35572 4.44444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72 4.44444E-6 L 0.46892 4.44444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92 4.44444E-6 L 0.58802 -0.0002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動態配置實作鏈結串列 </a:t>
            </a:r>
            <a:r>
              <a:rPr lang="en-US" altLang="zh-TW" dirty="0" smtClean="0"/>
              <a:t>(8/9)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將串列反轉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p = head </a:t>
            </a:r>
            <a:r>
              <a:rPr lang="en-US" altLang="zh-TW" dirty="0" smtClean="0">
                <a:sym typeface="Symbol" panose="05050102010706020507" pitchFamily="18" charset="2"/>
              </a:rPr>
              <a:t> next;</a:t>
            </a: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current = NULL;</a:t>
            </a:r>
            <a:endParaRPr lang="en-US" altLang="zh-TW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/>
              <a:t>while (p </a:t>
            </a:r>
            <a:r>
              <a:rPr lang="en-US" altLang="zh-TW" dirty="0">
                <a:sym typeface="Symbol"/>
              </a:rPr>
              <a:t> next != NULL</a:t>
            </a:r>
            <a:r>
              <a:rPr lang="en-US" altLang="zh-TW" dirty="0" smtClean="0">
                <a:sym typeface="Symbol"/>
              </a:rPr>
              <a:t>) {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</a:t>
            </a:r>
            <a:r>
              <a:rPr lang="en-US" altLang="zh-TW" dirty="0" err="1" smtClean="0">
                <a:sym typeface="Symbol"/>
              </a:rPr>
              <a:t>prev</a:t>
            </a:r>
            <a:r>
              <a:rPr lang="en-US" altLang="zh-TW" dirty="0" smtClean="0">
                <a:sym typeface="Symbol"/>
              </a:rPr>
              <a:t> = current;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current = p;</a:t>
            </a:r>
            <a:endParaRPr lang="en-US" altLang="zh-TW" dirty="0">
              <a:sym typeface="Symbol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>
                <a:sym typeface="Symbol"/>
              </a:rPr>
              <a:t>     p = p  next</a:t>
            </a:r>
            <a:r>
              <a:rPr lang="en-US" altLang="zh-TW" dirty="0" smtClean="0">
                <a:sym typeface="Symbol"/>
              </a:rPr>
              <a:t>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>
                <a:sym typeface="Symbol"/>
              </a:rPr>
              <a:t> </a:t>
            </a:r>
            <a:r>
              <a:rPr lang="en-US" altLang="zh-TW" dirty="0" smtClean="0">
                <a:sym typeface="Symbol"/>
              </a:rPr>
              <a:t>    current </a:t>
            </a:r>
            <a:r>
              <a:rPr lang="en-US" altLang="zh-TW" dirty="0" smtClean="0">
                <a:sym typeface="Symbol" panose="05050102010706020507" pitchFamily="18" charset="2"/>
              </a:rPr>
              <a:t> next = </a:t>
            </a:r>
            <a:r>
              <a:rPr lang="en-US" altLang="zh-TW" dirty="0" err="1" smtClean="0">
                <a:sym typeface="Symbol" panose="05050102010706020507" pitchFamily="18" charset="2"/>
              </a:rPr>
              <a:t>prev</a:t>
            </a:r>
            <a:r>
              <a:rPr lang="en-US" altLang="zh-TW" dirty="0" smtClean="0">
                <a:sym typeface="Symbol" panose="05050102010706020507" pitchFamily="18" charset="2"/>
              </a:rPr>
              <a:t>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>
                <a:sym typeface="Symbol" panose="05050102010706020507" pitchFamily="18" charset="2"/>
              </a:rPr>
              <a:t>}</a:t>
            </a:r>
            <a:endParaRPr lang="en-US" altLang="zh-TW" dirty="0">
              <a:sym typeface="Symbol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head </a:t>
            </a:r>
            <a:r>
              <a:rPr lang="en-US" altLang="zh-TW" dirty="0">
                <a:sym typeface="Symbol"/>
              </a:rPr>
              <a:t> next = </a:t>
            </a:r>
            <a:r>
              <a:rPr lang="en-US" altLang="zh-TW" dirty="0" smtClean="0">
                <a:sym typeface="Symbol"/>
              </a:rPr>
              <a:t>current;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16</a:t>
            </a:fld>
            <a:endParaRPr lang="en-US" altLang="zh-TW" dirty="0"/>
          </a:p>
        </p:txBody>
      </p:sp>
      <p:sp>
        <p:nvSpPr>
          <p:cNvPr id="7" name="圓角矩形 6"/>
          <p:cNvSpPr/>
          <p:nvPr/>
        </p:nvSpPr>
        <p:spPr>
          <a:xfrm>
            <a:off x="2553525" y="2071263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8955" y="2071263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8890" y="2071263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69571" y="2071263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9903" y="2269671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405333" y="2269671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28" idx="1"/>
          </p:cNvCxnSpPr>
          <p:nvPr/>
        </p:nvCxnSpPr>
        <p:spPr>
          <a:xfrm flipV="1">
            <a:off x="5515268" y="2269600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45949" y="2269671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94757" y="2472395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47840" y="2547123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92471" y="207126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8849" y="2269670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0"/>
            <a:endCxn id="7" idx="2"/>
          </p:cNvCxnSpPr>
          <p:nvPr/>
        </p:nvCxnSpPr>
        <p:spPr>
          <a:xfrm>
            <a:off x="2941714" y="207126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7" idx="2"/>
          </p:cNvCxnSpPr>
          <p:nvPr/>
        </p:nvCxnSpPr>
        <p:spPr>
          <a:xfrm>
            <a:off x="1880660" y="207126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0"/>
            <a:endCxn id="8" idx="2"/>
          </p:cNvCxnSpPr>
          <p:nvPr/>
        </p:nvCxnSpPr>
        <p:spPr>
          <a:xfrm>
            <a:off x="4017144" y="207126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5127079" y="207126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7257760" y="207126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43693" y="206280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519021" y="20696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603077" y="206084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13012" y="20696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809296" y="2071192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/>
          <p:cNvCxnSpPr>
            <a:stCxn id="28" idx="0"/>
            <a:endCxn id="28" idx="2"/>
          </p:cNvCxnSpPr>
          <p:nvPr/>
        </p:nvCxnSpPr>
        <p:spPr>
          <a:xfrm>
            <a:off x="6197485" y="2071192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5809296" y="206796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1" name="直線單箭頭接點 30"/>
          <p:cNvCxnSpPr>
            <a:stCxn id="28" idx="3"/>
            <a:endCxn id="10" idx="1"/>
          </p:cNvCxnSpPr>
          <p:nvPr/>
        </p:nvCxnSpPr>
        <p:spPr>
          <a:xfrm>
            <a:off x="6585674" y="2269600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798314" y="2062807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listA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3653079" y="2909382"/>
            <a:ext cx="533480" cy="277452"/>
            <a:chOff x="3653079" y="2909382"/>
            <a:chExt cx="533480" cy="277452"/>
          </a:xfrm>
        </p:grpSpPr>
        <p:cxnSp>
          <p:nvCxnSpPr>
            <p:cNvPr id="33" name="肘形接點 32"/>
            <p:cNvCxnSpPr/>
            <p:nvPr/>
          </p:nvCxnSpPr>
          <p:spPr>
            <a:xfrm>
              <a:off x="3653079" y="2909382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3901887" y="3112106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3954970" y="3186834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字方塊 36"/>
          <p:cNvSpPr txBox="1"/>
          <p:nvPr/>
        </p:nvSpPr>
        <p:spPr>
          <a:xfrm>
            <a:off x="2784156" y="13349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8" name="直線單箭頭接點 37"/>
          <p:cNvCxnSpPr>
            <a:stCxn id="37" idx="2"/>
          </p:cNvCxnSpPr>
          <p:nvPr/>
        </p:nvCxnSpPr>
        <p:spPr>
          <a:xfrm>
            <a:off x="2940609" y="1735077"/>
            <a:ext cx="0" cy="2822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2740973" y="2682967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current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067985" y="2673980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prev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457143" y="1143000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current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860691" y="13349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5" name="直線單箭頭接點 44"/>
          <p:cNvCxnSpPr>
            <a:stCxn id="44" idx="2"/>
          </p:cNvCxnSpPr>
          <p:nvPr/>
        </p:nvCxnSpPr>
        <p:spPr>
          <a:xfrm>
            <a:off x="4017144" y="1735077"/>
            <a:ext cx="0" cy="2822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群組 60"/>
          <p:cNvGrpSpPr/>
          <p:nvPr/>
        </p:nvGrpSpPr>
        <p:grpSpPr>
          <a:xfrm>
            <a:off x="3327031" y="2276904"/>
            <a:ext cx="284672" cy="352592"/>
            <a:chOff x="6580667" y="3228155"/>
            <a:chExt cx="284672" cy="352592"/>
          </a:xfrm>
        </p:grpSpPr>
        <p:cxnSp>
          <p:nvCxnSpPr>
            <p:cNvPr id="56" name="肘形接點 55"/>
            <p:cNvCxnSpPr/>
            <p:nvPr/>
          </p:nvCxnSpPr>
          <p:spPr>
            <a:xfrm>
              <a:off x="6588240" y="3228155"/>
              <a:ext cx="144000" cy="288000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/>
            <p:nvPr/>
          </p:nvCxnSpPr>
          <p:spPr>
            <a:xfrm>
              <a:off x="6580667" y="3506019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6633750" y="3580747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71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39" grpId="0"/>
      <p:bldP spid="39" grpId="1"/>
      <p:bldP spid="40" grpId="0"/>
      <p:bldP spid="41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動態配置實作鏈結串列 </a:t>
            </a:r>
            <a:r>
              <a:rPr lang="en-US" altLang="zh-TW" dirty="0" smtClean="0"/>
              <a:t>(9/9)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</a:pPr>
            <a:r>
              <a:rPr lang="zh-TW" altLang="en-US" dirty="0" smtClean="0">
                <a:solidFill>
                  <a:srgbClr val="0000FF"/>
                </a:solidFill>
              </a:rPr>
              <a:t>計算串列長度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節點數目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counter = 0;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ListNode</a:t>
            </a:r>
            <a:r>
              <a:rPr lang="en-US" altLang="zh-TW" dirty="0" smtClean="0"/>
              <a:t> *p = head </a:t>
            </a:r>
            <a:r>
              <a:rPr lang="en-US" altLang="zh-TW" dirty="0" smtClean="0">
                <a:sym typeface="Symbol"/>
              </a:rPr>
              <a:t> next;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while (p!= NULL){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counter++;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     p = p  next;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}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return counter;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圓角矩形 7"/>
          <p:cNvSpPr/>
          <p:nvPr/>
        </p:nvSpPr>
        <p:spPr>
          <a:xfrm>
            <a:off x="2553525" y="227985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628955" y="2279855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4738890" y="227985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6869571" y="227985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3329903" y="2478263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10" idx="1"/>
          </p:cNvCxnSpPr>
          <p:nvPr/>
        </p:nvCxnSpPr>
        <p:spPr>
          <a:xfrm>
            <a:off x="4405333" y="2478263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10" idx="3"/>
            <a:endCxn id="34" idx="1"/>
          </p:cNvCxnSpPr>
          <p:nvPr/>
        </p:nvCxnSpPr>
        <p:spPr>
          <a:xfrm flipV="1">
            <a:off x="5515268" y="2478192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接點 14"/>
          <p:cNvCxnSpPr>
            <a:stCxn id="11" idx="3"/>
          </p:cNvCxnSpPr>
          <p:nvPr/>
        </p:nvCxnSpPr>
        <p:spPr>
          <a:xfrm>
            <a:off x="7645949" y="2478263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894757" y="2680987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947840" y="2755715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>
          <a:xfrm>
            <a:off x="1492471" y="227985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9" name="直線單箭頭接點 18"/>
          <p:cNvCxnSpPr>
            <a:stCxn id="18" idx="3"/>
            <a:endCxn id="8" idx="1"/>
          </p:cNvCxnSpPr>
          <p:nvPr/>
        </p:nvCxnSpPr>
        <p:spPr>
          <a:xfrm>
            <a:off x="2268849" y="2478262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8" idx="0"/>
            <a:endCxn id="8" idx="2"/>
          </p:cNvCxnSpPr>
          <p:nvPr/>
        </p:nvCxnSpPr>
        <p:spPr>
          <a:xfrm>
            <a:off x="2941714" y="227985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8" idx="0"/>
            <a:endCxn id="18" idx="2"/>
          </p:cNvCxnSpPr>
          <p:nvPr/>
        </p:nvCxnSpPr>
        <p:spPr>
          <a:xfrm>
            <a:off x="1880660" y="227985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4017144" y="227985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5127079" y="227985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1" idx="0"/>
            <a:endCxn id="11" idx="2"/>
          </p:cNvCxnSpPr>
          <p:nvPr/>
        </p:nvCxnSpPr>
        <p:spPr>
          <a:xfrm>
            <a:off x="7257760" y="227985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843693" y="227139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19021" y="227820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603077" y="226944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713012" y="227820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5809296" y="227978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5" name="直線接點 34"/>
          <p:cNvCxnSpPr>
            <a:stCxn id="34" idx="0"/>
            <a:endCxn id="34" idx="2"/>
          </p:cNvCxnSpPr>
          <p:nvPr/>
        </p:nvCxnSpPr>
        <p:spPr>
          <a:xfrm>
            <a:off x="6197485" y="227978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809296" y="227655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4" idx="3"/>
            <a:endCxn id="11" idx="1"/>
          </p:cNvCxnSpPr>
          <p:nvPr/>
        </p:nvCxnSpPr>
        <p:spPr>
          <a:xfrm>
            <a:off x="6585674" y="2478192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1230462" y="2682242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292016" y="2682242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367446" y="2682242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477381" y="2670796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5547787" y="2663991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616688" y="2653544"/>
            <a:ext cx="129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1520639" y="22821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9" name="群組 48"/>
          <p:cNvGrpSpPr/>
          <p:nvPr/>
        </p:nvGrpSpPr>
        <p:grpSpPr>
          <a:xfrm>
            <a:off x="1723706" y="1587031"/>
            <a:ext cx="312906" cy="682409"/>
            <a:chOff x="1718720" y="5009511"/>
            <a:chExt cx="312906" cy="682409"/>
          </a:xfrm>
        </p:grpSpPr>
        <p:sp>
          <p:nvSpPr>
            <p:cNvPr id="50" name="文字方塊 49"/>
            <p:cNvSpPr txBox="1"/>
            <p:nvPr/>
          </p:nvSpPr>
          <p:spPr>
            <a:xfrm>
              <a:off x="1718720" y="50095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>
              <a:stCxn id="50" idx="2"/>
            </p:cNvCxnSpPr>
            <p:nvPr/>
          </p:nvCxnSpPr>
          <p:spPr>
            <a:xfrm>
              <a:off x="1875173" y="5409621"/>
              <a:ext cx="0" cy="28229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45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59259E-6 L 0.11788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88 -2.59259E-6 L 0.2368 -2.59259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8 -2.59259E-6 L 0.35573 -2.59259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73 -2.59259E-6 L 0.46892 -2.59259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92 0 L 0.58802 -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802 -0.00023 L 0.67413 -0.0002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環狀鏈結串列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線性鏈結串列 </a:t>
            </a:r>
            <a:r>
              <a:rPr lang="en-US" altLang="zh-TW" dirty="0" smtClean="0">
                <a:solidFill>
                  <a:srgbClr val="0000FF"/>
                </a:solidFill>
              </a:rPr>
              <a:t>linear linked list</a:t>
            </a:r>
          </a:p>
          <a:p>
            <a:pPr lvl="1"/>
            <a:r>
              <a:rPr lang="zh-TW" altLang="en-US" dirty="0" smtClean="0"/>
              <a:t>拜訪串列所有節點，一定得從</a:t>
            </a:r>
            <a:r>
              <a:rPr lang="zh-TW" altLang="en-US" dirty="0" smtClean="0">
                <a:solidFill>
                  <a:srgbClr val="C00000"/>
                </a:solidFill>
              </a:rPr>
              <a:t>首節點</a:t>
            </a:r>
            <a:r>
              <a:rPr lang="zh-TW" altLang="en-US" dirty="0" smtClean="0"/>
              <a:t>開始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 smtClean="0">
                <a:solidFill>
                  <a:srgbClr val="0000FF"/>
                </a:solidFill>
              </a:rPr>
              <a:t>環狀鏈結串列 </a:t>
            </a:r>
            <a:r>
              <a:rPr lang="en-US" altLang="zh-TW" dirty="0" smtClean="0">
                <a:solidFill>
                  <a:srgbClr val="0000FF"/>
                </a:solidFill>
              </a:rPr>
              <a:t>circular linked list</a:t>
            </a:r>
            <a:endParaRPr lang="en-US" altLang="zh-TW" dirty="0">
              <a:solidFill>
                <a:srgbClr val="0000FF"/>
              </a:solidFill>
            </a:endParaRP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pPr lvl="1"/>
            <a:r>
              <a:rPr lang="zh-TW" altLang="en-US" dirty="0" smtClean="0"/>
              <a:t>最後節點的鏈結指向首節點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從任一節點開始都可以拜訪所有節點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53525" y="2426497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8955" y="2426497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8890" y="2426497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69571" y="242649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9903" y="2624905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405333" y="2624905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28" idx="1"/>
          </p:cNvCxnSpPr>
          <p:nvPr/>
        </p:nvCxnSpPr>
        <p:spPr>
          <a:xfrm flipV="1">
            <a:off x="5515268" y="2624834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45949" y="2624905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94757" y="2827629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47840" y="2902357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92471" y="2426496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8849" y="2624904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0"/>
            <a:endCxn id="7" idx="2"/>
          </p:cNvCxnSpPr>
          <p:nvPr/>
        </p:nvCxnSpPr>
        <p:spPr>
          <a:xfrm>
            <a:off x="2941714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7" idx="2"/>
          </p:cNvCxnSpPr>
          <p:nvPr/>
        </p:nvCxnSpPr>
        <p:spPr>
          <a:xfrm>
            <a:off x="1880660" y="242649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0"/>
            <a:endCxn id="8" idx="2"/>
          </p:cNvCxnSpPr>
          <p:nvPr/>
        </p:nvCxnSpPr>
        <p:spPr>
          <a:xfrm>
            <a:off x="4017144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5127079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7257760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43693" y="24180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519021" y="242484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603077" y="241608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13012" y="242484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809296" y="2426426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/>
          <p:cNvCxnSpPr>
            <a:stCxn id="28" idx="0"/>
            <a:endCxn id="28" idx="2"/>
          </p:cNvCxnSpPr>
          <p:nvPr/>
        </p:nvCxnSpPr>
        <p:spPr>
          <a:xfrm>
            <a:off x="6197485" y="242642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5809296" y="242320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1" name="直線單箭頭接點 30"/>
          <p:cNvCxnSpPr>
            <a:stCxn id="28" idx="3"/>
            <a:endCxn id="10" idx="1"/>
          </p:cNvCxnSpPr>
          <p:nvPr/>
        </p:nvCxnSpPr>
        <p:spPr>
          <a:xfrm>
            <a:off x="6585674" y="2624834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41" idx="3"/>
          </p:cNvCxnSpPr>
          <p:nvPr/>
        </p:nvCxnSpPr>
        <p:spPr>
          <a:xfrm flipH="1">
            <a:off x="1713044" y="3997863"/>
            <a:ext cx="5932905" cy="198336"/>
          </a:xfrm>
          <a:prstGeom prst="bentConnector4">
            <a:avLst>
              <a:gd name="adj1" fmla="val -3853"/>
              <a:gd name="adj2" fmla="val 215295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/>
          <p:cNvGrpSpPr/>
          <p:nvPr/>
        </p:nvGrpSpPr>
        <p:grpSpPr>
          <a:xfrm>
            <a:off x="1492471" y="3789040"/>
            <a:ext cx="6153478" cy="408876"/>
            <a:chOff x="1492471" y="3853799"/>
            <a:chExt cx="6153478" cy="408876"/>
          </a:xfrm>
        </p:grpSpPr>
        <p:sp>
          <p:nvSpPr>
            <p:cNvPr id="38" name="圓角矩形 37"/>
            <p:cNvSpPr/>
            <p:nvPr/>
          </p:nvSpPr>
          <p:spPr>
            <a:xfrm>
              <a:off x="2553525" y="3864214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9" name="圓角矩形 38"/>
            <p:cNvSpPr/>
            <p:nvPr/>
          </p:nvSpPr>
          <p:spPr>
            <a:xfrm>
              <a:off x="3628955" y="3864214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0" name="圓角矩形 39"/>
            <p:cNvSpPr/>
            <p:nvPr/>
          </p:nvSpPr>
          <p:spPr>
            <a:xfrm>
              <a:off x="4738890" y="386421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1" name="圓角矩形 40"/>
            <p:cNvSpPr/>
            <p:nvPr/>
          </p:nvSpPr>
          <p:spPr>
            <a:xfrm>
              <a:off x="6869571" y="3864214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2" name="直線單箭頭接點 41"/>
            <p:cNvCxnSpPr>
              <a:stCxn id="38" idx="3"/>
              <a:endCxn id="39" idx="1"/>
            </p:cNvCxnSpPr>
            <p:nvPr/>
          </p:nvCxnSpPr>
          <p:spPr>
            <a:xfrm>
              <a:off x="3329903" y="4062622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9" idx="3"/>
              <a:endCxn id="40" idx="1"/>
            </p:cNvCxnSpPr>
            <p:nvPr/>
          </p:nvCxnSpPr>
          <p:spPr>
            <a:xfrm>
              <a:off x="4405333" y="4062622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40" idx="3"/>
              <a:endCxn id="59" idx="1"/>
            </p:cNvCxnSpPr>
            <p:nvPr/>
          </p:nvCxnSpPr>
          <p:spPr>
            <a:xfrm flipV="1">
              <a:off x="5515268" y="4062551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圓角矩形 47"/>
            <p:cNvSpPr/>
            <p:nvPr/>
          </p:nvSpPr>
          <p:spPr>
            <a:xfrm>
              <a:off x="1492471" y="386421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9" name="直線單箭頭接點 48"/>
            <p:cNvCxnSpPr>
              <a:stCxn id="48" idx="3"/>
              <a:endCxn id="38" idx="1"/>
            </p:cNvCxnSpPr>
            <p:nvPr/>
          </p:nvCxnSpPr>
          <p:spPr>
            <a:xfrm>
              <a:off x="2268849" y="4062621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>
              <a:stCxn id="38" idx="0"/>
              <a:endCxn id="38" idx="2"/>
            </p:cNvCxnSpPr>
            <p:nvPr/>
          </p:nvCxnSpPr>
          <p:spPr>
            <a:xfrm>
              <a:off x="2941714" y="386421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>
              <a:stCxn id="48" idx="0"/>
              <a:endCxn id="48" idx="2"/>
            </p:cNvCxnSpPr>
            <p:nvPr/>
          </p:nvCxnSpPr>
          <p:spPr>
            <a:xfrm>
              <a:off x="1880660" y="386421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>
              <a:stCxn id="39" idx="0"/>
              <a:endCxn id="39" idx="2"/>
            </p:cNvCxnSpPr>
            <p:nvPr/>
          </p:nvCxnSpPr>
          <p:spPr>
            <a:xfrm>
              <a:off x="4017144" y="386421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>
              <a:stCxn id="40" idx="0"/>
              <a:endCxn id="40" idx="2"/>
            </p:cNvCxnSpPr>
            <p:nvPr/>
          </p:nvCxnSpPr>
          <p:spPr>
            <a:xfrm>
              <a:off x="5127079" y="386421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>
              <a:stCxn id="41" idx="0"/>
              <a:endCxn id="41" idx="2"/>
            </p:cNvCxnSpPr>
            <p:nvPr/>
          </p:nvCxnSpPr>
          <p:spPr>
            <a:xfrm>
              <a:off x="7257760" y="386421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/>
            <p:cNvSpPr txBox="1"/>
            <p:nvPr/>
          </p:nvSpPr>
          <p:spPr>
            <a:xfrm>
              <a:off x="6843693" y="385575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519021" y="386256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603077" y="385379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4713012" y="386256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9" name="圓角矩形 58"/>
            <p:cNvSpPr/>
            <p:nvPr/>
          </p:nvSpPr>
          <p:spPr>
            <a:xfrm>
              <a:off x="5809296" y="3864143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0" name="直線接點 59"/>
            <p:cNvCxnSpPr>
              <a:stCxn id="59" idx="0"/>
              <a:endCxn id="59" idx="2"/>
            </p:cNvCxnSpPr>
            <p:nvPr/>
          </p:nvCxnSpPr>
          <p:spPr>
            <a:xfrm>
              <a:off x="6197485" y="3864143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5809296" y="386091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2" name="直線單箭頭接點 61"/>
            <p:cNvCxnSpPr>
              <a:stCxn id="59" idx="3"/>
              <a:endCxn id="41" idx="1"/>
            </p:cNvCxnSpPr>
            <p:nvPr/>
          </p:nvCxnSpPr>
          <p:spPr>
            <a:xfrm>
              <a:off x="6585674" y="4062551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文字方塊 31"/>
          <p:cNvSpPr txBox="1"/>
          <p:nvPr/>
        </p:nvSpPr>
        <p:spPr>
          <a:xfrm>
            <a:off x="2747560" y="5517232"/>
            <a:ext cx="3502882" cy="400110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Q1: 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如何回收整個環狀串列？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747560" y="6011139"/>
            <a:ext cx="3738524" cy="400110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Q2: 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如何計算環狀串列的長度？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74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雙向鏈結串列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線性或環狀鏈結串列只有一個鏈結 </a:t>
            </a:r>
            <a:r>
              <a:rPr lang="en-US" altLang="zh-TW" dirty="0" smtClean="0"/>
              <a:t>(</a:t>
            </a:r>
            <a:r>
              <a:rPr lang="zh-TW" altLang="en-US" dirty="0" smtClean="0"/>
              <a:t>單行道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>
                <a:solidFill>
                  <a:srgbClr val="C00000"/>
                </a:solidFill>
              </a:rPr>
              <a:t>將鏈結增加為兩個</a:t>
            </a:r>
            <a:r>
              <a:rPr lang="zh-TW" altLang="en-US" dirty="0" smtClean="0"/>
              <a:t>：一個指向前方，一個指向後方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>
                <a:solidFill>
                  <a:srgbClr val="0000FF"/>
                </a:solidFill>
              </a:rPr>
              <a:t>線性鏈結串列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>
                <a:solidFill>
                  <a:srgbClr val="0000FF"/>
                </a:solidFill>
              </a:rPr>
              <a:t>環狀鏈結串列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89" name="群組 88"/>
          <p:cNvGrpSpPr/>
          <p:nvPr/>
        </p:nvGrpSpPr>
        <p:grpSpPr>
          <a:xfrm>
            <a:off x="887230" y="3382194"/>
            <a:ext cx="7292199" cy="490592"/>
            <a:chOff x="887230" y="2735244"/>
            <a:chExt cx="7292199" cy="490592"/>
          </a:xfrm>
        </p:grpSpPr>
        <p:sp>
          <p:nvSpPr>
            <p:cNvPr id="7" name="圓角矩形 6"/>
            <p:cNvSpPr/>
            <p:nvPr/>
          </p:nvSpPr>
          <p:spPr>
            <a:xfrm>
              <a:off x="2553525" y="2745659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3628955" y="2745659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4738890" y="274565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6869571" y="2745659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" name="直線單箭頭接點 10"/>
            <p:cNvCxnSpPr/>
            <p:nvPr/>
          </p:nvCxnSpPr>
          <p:spPr>
            <a:xfrm>
              <a:off x="3329903" y="2875059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/>
            <p:nvPr/>
          </p:nvCxnSpPr>
          <p:spPr>
            <a:xfrm>
              <a:off x="4405333" y="2875059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/>
            <p:nvPr/>
          </p:nvCxnSpPr>
          <p:spPr>
            <a:xfrm flipV="1">
              <a:off x="5515268" y="287498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接點 13"/>
            <p:cNvCxnSpPr>
              <a:stCxn id="10" idx="3"/>
            </p:cNvCxnSpPr>
            <p:nvPr/>
          </p:nvCxnSpPr>
          <p:spPr>
            <a:xfrm>
              <a:off x="7645949" y="2944067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7894757" y="3146791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7947840" y="3221519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圓角矩形 16"/>
            <p:cNvSpPr/>
            <p:nvPr/>
          </p:nvSpPr>
          <p:spPr>
            <a:xfrm>
              <a:off x="1492471" y="274565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8" name="直線單箭頭接點 17"/>
            <p:cNvCxnSpPr/>
            <p:nvPr/>
          </p:nvCxnSpPr>
          <p:spPr>
            <a:xfrm>
              <a:off x="2268849" y="2875058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2777820" y="274565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1725392" y="274565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>
              <a:off x="3853250" y="274565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4963185" y="274565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>
              <a:off x="7093866" y="274565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7050717" y="273720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726045" y="274401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810101" y="273524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920036" y="274401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8" name="圓角矩形 27"/>
            <p:cNvSpPr/>
            <p:nvPr/>
          </p:nvSpPr>
          <p:spPr>
            <a:xfrm>
              <a:off x="5809296" y="2745588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9" name="直線接點 28"/>
            <p:cNvCxnSpPr/>
            <p:nvPr/>
          </p:nvCxnSpPr>
          <p:spPr>
            <a:xfrm>
              <a:off x="6033591" y="274558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6016320" y="274236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31" name="直線單箭頭接點 30"/>
            <p:cNvCxnSpPr/>
            <p:nvPr/>
          </p:nvCxnSpPr>
          <p:spPr>
            <a:xfrm>
              <a:off x="6585674" y="2874988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>
              <a:off x="3327035" y="3018833"/>
              <a:ext cx="299052" cy="0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/>
            <p:nvPr/>
          </p:nvCxnSpPr>
          <p:spPr>
            <a:xfrm>
              <a:off x="4402465" y="3018833"/>
              <a:ext cx="333557" cy="0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/>
            <p:nvPr/>
          </p:nvCxnSpPr>
          <p:spPr>
            <a:xfrm flipV="1">
              <a:off x="5512400" y="3018762"/>
              <a:ext cx="294028" cy="7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/>
            <p:nvPr/>
          </p:nvCxnSpPr>
          <p:spPr>
            <a:xfrm>
              <a:off x="2265981" y="3018832"/>
              <a:ext cx="284676" cy="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>
              <a:off x="6582806" y="3018762"/>
              <a:ext cx="283897" cy="7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>
              <a:off x="3119992" y="274279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>
              <a:off x="4195422" y="274279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>
              <a:off x="5305357" y="274279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7436038" y="274279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>
              <a:off x="6375763" y="274272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2041686" y="274279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肘形接點 42"/>
            <p:cNvCxnSpPr/>
            <p:nvPr/>
          </p:nvCxnSpPr>
          <p:spPr>
            <a:xfrm rot="10800000" flipV="1">
              <a:off x="1024471" y="2959606"/>
              <a:ext cx="468000" cy="180000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/>
            <p:cNvCxnSpPr/>
            <p:nvPr/>
          </p:nvCxnSpPr>
          <p:spPr>
            <a:xfrm>
              <a:off x="887230" y="3151108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>
              <a:off x="940313" y="3225836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群組 144"/>
          <p:cNvGrpSpPr/>
          <p:nvPr/>
        </p:nvGrpSpPr>
        <p:grpSpPr>
          <a:xfrm>
            <a:off x="1545554" y="5052841"/>
            <a:ext cx="6153478" cy="410524"/>
            <a:chOff x="1545554" y="4535281"/>
            <a:chExt cx="6153478" cy="410524"/>
          </a:xfrm>
        </p:grpSpPr>
        <p:sp>
          <p:nvSpPr>
            <p:cNvPr id="91" name="圓角矩形 90"/>
            <p:cNvSpPr/>
            <p:nvPr/>
          </p:nvSpPr>
          <p:spPr>
            <a:xfrm>
              <a:off x="2606608" y="4545696"/>
              <a:ext cx="776378" cy="396815"/>
            </a:xfrm>
            <a:prstGeom prst="roundRect">
              <a:avLst/>
            </a:prstGeom>
            <a:solidFill>
              <a:srgbClr val="BBE0E3"/>
            </a:solidFill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2" name="圓角矩形 91"/>
            <p:cNvSpPr/>
            <p:nvPr/>
          </p:nvSpPr>
          <p:spPr>
            <a:xfrm>
              <a:off x="3682038" y="4545696"/>
              <a:ext cx="776378" cy="396815"/>
            </a:xfrm>
            <a:prstGeom prst="roundRect">
              <a:avLst/>
            </a:prstGeom>
            <a:solidFill>
              <a:srgbClr val="BBE0E3"/>
            </a:solidFill>
            <a:ln w="9525"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3" name="圓角矩形 92"/>
            <p:cNvSpPr/>
            <p:nvPr/>
          </p:nvSpPr>
          <p:spPr>
            <a:xfrm>
              <a:off x="4791973" y="454569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4" name="圓角矩形 93"/>
            <p:cNvSpPr/>
            <p:nvPr/>
          </p:nvSpPr>
          <p:spPr>
            <a:xfrm>
              <a:off x="6922654" y="454569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5" name="直線單箭頭接點 94"/>
            <p:cNvCxnSpPr/>
            <p:nvPr/>
          </p:nvCxnSpPr>
          <p:spPr>
            <a:xfrm>
              <a:off x="3382986" y="4675096"/>
              <a:ext cx="299052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/>
            <p:nvPr/>
          </p:nvCxnSpPr>
          <p:spPr>
            <a:xfrm>
              <a:off x="4458416" y="4675096"/>
              <a:ext cx="33355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/>
            <p:cNvCxnSpPr/>
            <p:nvPr/>
          </p:nvCxnSpPr>
          <p:spPr>
            <a:xfrm flipV="1">
              <a:off x="5568351" y="4675025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肘形接點 97"/>
            <p:cNvCxnSpPr>
              <a:stCxn id="94" idx="3"/>
            </p:cNvCxnSpPr>
            <p:nvPr/>
          </p:nvCxnSpPr>
          <p:spPr>
            <a:xfrm flipH="1" flipV="1">
              <a:off x="1662615" y="4535281"/>
              <a:ext cx="6036417" cy="208823"/>
            </a:xfrm>
            <a:prstGeom prst="bentConnector4">
              <a:avLst>
                <a:gd name="adj1" fmla="val -3787"/>
                <a:gd name="adj2" fmla="val 209471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圓角矩形 100"/>
            <p:cNvSpPr/>
            <p:nvPr/>
          </p:nvSpPr>
          <p:spPr>
            <a:xfrm>
              <a:off x="1545554" y="4545695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2" name="直線單箭頭接點 101"/>
            <p:cNvCxnSpPr/>
            <p:nvPr/>
          </p:nvCxnSpPr>
          <p:spPr>
            <a:xfrm>
              <a:off x="2321932" y="4675095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/>
            <p:cNvCxnSpPr/>
            <p:nvPr/>
          </p:nvCxnSpPr>
          <p:spPr>
            <a:xfrm>
              <a:off x="2830903" y="454569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>
              <a:off x="1778475" y="4545695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104"/>
            <p:cNvCxnSpPr/>
            <p:nvPr/>
          </p:nvCxnSpPr>
          <p:spPr>
            <a:xfrm>
              <a:off x="3906333" y="454569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/>
            <p:cNvCxnSpPr/>
            <p:nvPr/>
          </p:nvCxnSpPr>
          <p:spPr>
            <a:xfrm>
              <a:off x="5016268" y="454569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/>
            <p:cNvCxnSpPr/>
            <p:nvPr/>
          </p:nvCxnSpPr>
          <p:spPr>
            <a:xfrm>
              <a:off x="7146949" y="454569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字方塊 107"/>
            <p:cNvSpPr txBox="1"/>
            <p:nvPr/>
          </p:nvSpPr>
          <p:spPr>
            <a:xfrm>
              <a:off x="7103800" y="453724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蘇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2779128" y="454404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中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3863184" y="4535281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美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4973119" y="454404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英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2" name="圓角矩形 111"/>
            <p:cNvSpPr/>
            <p:nvPr/>
          </p:nvSpPr>
          <p:spPr>
            <a:xfrm>
              <a:off x="5862379" y="4545625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3" name="直線接點 112"/>
            <p:cNvCxnSpPr/>
            <p:nvPr/>
          </p:nvCxnSpPr>
          <p:spPr>
            <a:xfrm>
              <a:off x="6086674" y="4545625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文字方塊 113"/>
            <p:cNvSpPr txBox="1"/>
            <p:nvPr/>
          </p:nvSpPr>
          <p:spPr>
            <a:xfrm>
              <a:off x="6069403" y="4542400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法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15" name="直線單箭頭接點 114"/>
            <p:cNvCxnSpPr/>
            <p:nvPr/>
          </p:nvCxnSpPr>
          <p:spPr>
            <a:xfrm>
              <a:off x="6638757" y="4675025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/>
            <p:nvPr/>
          </p:nvCxnSpPr>
          <p:spPr>
            <a:xfrm>
              <a:off x="3380118" y="4818870"/>
              <a:ext cx="299052" cy="0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/>
            <p:nvPr/>
          </p:nvCxnSpPr>
          <p:spPr>
            <a:xfrm>
              <a:off x="4455548" y="4818870"/>
              <a:ext cx="333557" cy="0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單箭頭接點 117"/>
            <p:cNvCxnSpPr/>
            <p:nvPr/>
          </p:nvCxnSpPr>
          <p:spPr>
            <a:xfrm flipV="1">
              <a:off x="5565483" y="4818799"/>
              <a:ext cx="294028" cy="7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>
              <a:off x="2319064" y="4818869"/>
              <a:ext cx="284676" cy="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>
              <a:off x="6635889" y="4818799"/>
              <a:ext cx="283897" cy="7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20"/>
            <p:cNvCxnSpPr/>
            <p:nvPr/>
          </p:nvCxnSpPr>
          <p:spPr>
            <a:xfrm>
              <a:off x="3173075" y="454282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接點 121"/>
            <p:cNvCxnSpPr/>
            <p:nvPr/>
          </p:nvCxnSpPr>
          <p:spPr>
            <a:xfrm>
              <a:off x="4248505" y="454282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接點 122"/>
            <p:cNvCxnSpPr/>
            <p:nvPr/>
          </p:nvCxnSpPr>
          <p:spPr>
            <a:xfrm>
              <a:off x="5358440" y="454282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/>
            <p:cNvCxnSpPr/>
            <p:nvPr/>
          </p:nvCxnSpPr>
          <p:spPr>
            <a:xfrm>
              <a:off x="7489121" y="454282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/>
            <p:cNvCxnSpPr/>
            <p:nvPr/>
          </p:nvCxnSpPr>
          <p:spPr>
            <a:xfrm>
              <a:off x="6428846" y="454275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/>
            <p:nvPr/>
          </p:nvCxnSpPr>
          <p:spPr>
            <a:xfrm>
              <a:off x="2094769" y="454282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肘形接點 126"/>
            <p:cNvCxnSpPr>
              <a:stCxn id="101" idx="1"/>
            </p:cNvCxnSpPr>
            <p:nvPr/>
          </p:nvCxnSpPr>
          <p:spPr>
            <a:xfrm rot="10800000" flipH="1" flipV="1">
              <a:off x="1545554" y="4744102"/>
              <a:ext cx="6016644" cy="201703"/>
            </a:xfrm>
            <a:prstGeom prst="bentConnector4">
              <a:avLst>
                <a:gd name="adj1" fmla="val -3799"/>
                <a:gd name="adj2" fmla="val 213335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475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雙向鏈結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插入新節點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圓角矩形 7"/>
          <p:cNvSpPr/>
          <p:nvPr/>
        </p:nvSpPr>
        <p:spPr>
          <a:xfrm>
            <a:off x="2553525" y="292680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628955" y="2926805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4738890" y="292680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6869571" y="292680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3329903" y="3056205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4405333" y="3056205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5515268" y="3056134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接點 14"/>
          <p:cNvCxnSpPr>
            <a:stCxn id="11" idx="3"/>
          </p:cNvCxnSpPr>
          <p:nvPr/>
        </p:nvCxnSpPr>
        <p:spPr>
          <a:xfrm>
            <a:off x="7645949" y="3125213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894757" y="3327937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947840" y="3402665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>
          <a:xfrm>
            <a:off x="1492471" y="292680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>
            <a:off x="2268849" y="3056204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777820" y="292680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1725392" y="292680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3853250" y="292680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4963185" y="292680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7093866" y="292680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7050717" y="291834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726045" y="292515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810101" y="29163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920036" y="292515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5809296" y="2926734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0" name="直線接點 29"/>
          <p:cNvCxnSpPr/>
          <p:nvPr/>
        </p:nvCxnSpPr>
        <p:spPr>
          <a:xfrm>
            <a:off x="6033591" y="292673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6016320" y="292350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6585674" y="3056134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27035" y="3199979"/>
            <a:ext cx="299052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4402465" y="3199979"/>
            <a:ext cx="333557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5512400" y="3199908"/>
            <a:ext cx="294028" cy="7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2265981" y="3199978"/>
            <a:ext cx="284676" cy="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6582806" y="3199908"/>
            <a:ext cx="283897" cy="7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3119992" y="29239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4195422" y="29239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5305357" y="29239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7436038" y="29239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6375763" y="292386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041686" y="292393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/>
          <p:nvPr/>
        </p:nvCxnSpPr>
        <p:spPr>
          <a:xfrm rot="10800000" flipV="1">
            <a:off x="1024471" y="3140752"/>
            <a:ext cx="468000" cy="180000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887230" y="333225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940313" y="340698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圓角矩形 46"/>
          <p:cNvSpPr/>
          <p:nvPr/>
        </p:nvSpPr>
        <p:spPr>
          <a:xfrm>
            <a:off x="4181057" y="3786571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8" name="直線接點 47"/>
          <p:cNvCxnSpPr/>
          <p:nvPr/>
        </p:nvCxnSpPr>
        <p:spPr>
          <a:xfrm>
            <a:off x="4448482" y="378657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362203" y="377615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0" name="直線接點 49"/>
          <p:cNvCxnSpPr/>
          <p:nvPr/>
        </p:nvCxnSpPr>
        <p:spPr>
          <a:xfrm>
            <a:off x="4790654" y="378370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47" idx="1"/>
          </p:cNvCxnSpPr>
          <p:nvPr/>
        </p:nvCxnSpPr>
        <p:spPr>
          <a:xfrm rot="10800000" flipH="1">
            <a:off x="4181056" y="3316501"/>
            <a:ext cx="89021" cy="668479"/>
          </a:xfrm>
          <a:prstGeom prst="bentConnector4">
            <a:avLst>
              <a:gd name="adj1" fmla="val -256793"/>
              <a:gd name="adj2" fmla="val 6484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接點 53"/>
          <p:cNvCxnSpPr>
            <a:stCxn id="47" idx="3"/>
          </p:cNvCxnSpPr>
          <p:nvPr/>
        </p:nvCxnSpPr>
        <p:spPr>
          <a:xfrm flipH="1" flipV="1">
            <a:off x="4803349" y="3316500"/>
            <a:ext cx="144000" cy="668479"/>
          </a:xfrm>
          <a:prstGeom prst="bentConnector4">
            <a:avLst>
              <a:gd name="adj1" fmla="val -148359"/>
              <a:gd name="adj2" fmla="val 6484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>
            <a:stCxn id="9" idx="3"/>
          </p:cNvCxnSpPr>
          <p:nvPr/>
        </p:nvCxnSpPr>
        <p:spPr>
          <a:xfrm>
            <a:off x="4405333" y="3125213"/>
            <a:ext cx="43149" cy="661358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接點 59"/>
          <p:cNvCxnSpPr>
            <a:stCxn id="10" idx="1"/>
            <a:endCxn id="47" idx="0"/>
          </p:cNvCxnSpPr>
          <p:nvPr/>
        </p:nvCxnSpPr>
        <p:spPr>
          <a:xfrm rot="10800000" flipV="1">
            <a:off x="4666890" y="3125213"/>
            <a:ext cx="72000" cy="661358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99170" y="4279504"/>
            <a:ext cx="355417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掛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上新節點的兩個鏈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left = p</a:t>
            </a:r>
          </a:p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 right = p  right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3" name="群組 62"/>
          <p:cNvGrpSpPr/>
          <p:nvPr/>
        </p:nvGrpSpPr>
        <p:grpSpPr>
          <a:xfrm>
            <a:off x="3874221" y="2310695"/>
            <a:ext cx="312906" cy="616110"/>
            <a:chOff x="1719467" y="4311016"/>
            <a:chExt cx="312906" cy="616110"/>
          </a:xfrm>
        </p:grpSpPr>
        <p:sp>
          <p:nvSpPr>
            <p:cNvPr id="64" name="文字方塊 63"/>
            <p:cNvSpPr txBox="1"/>
            <p:nvPr/>
          </p:nvSpPr>
          <p:spPr>
            <a:xfrm>
              <a:off x="1719467" y="43110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線單箭頭接點 64"/>
            <p:cNvCxnSpPr>
              <a:stCxn id="64" idx="2"/>
            </p:cNvCxnSpPr>
            <p:nvPr/>
          </p:nvCxnSpPr>
          <p:spPr>
            <a:xfrm flipH="1">
              <a:off x="1875420" y="4711126"/>
              <a:ext cx="50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矩形 65"/>
          <p:cNvSpPr/>
          <p:nvPr/>
        </p:nvSpPr>
        <p:spPr>
          <a:xfrm>
            <a:off x="5202800" y="4279504"/>
            <a:ext cx="355417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改變舊節點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的兩個鏈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right = </a:t>
            </a:r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NewNode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p  right  left = </a:t>
            </a:r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NewNode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06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雙向鏈結</a:t>
            </a:r>
            <a:r>
              <a:rPr lang="zh-TW" altLang="en-US" dirty="0" smtClean="0"/>
              <a:t>串列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刪除某節點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53525" y="353062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8955" y="3530625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8890" y="353062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69571" y="353062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3329903" y="3660025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405333" y="3660025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5515268" y="3659954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45949" y="3729033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94757" y="3931757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47840" y="4006485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92471" y="353062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2268849" y="3660024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777820" y="35306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725392" y="353062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853250" y="35306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4963185" y="35306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7093866" y="35306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7050717" y="352216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蘇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726045" y="352897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10101" y="352021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美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920036" y="352897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英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809296" y="353055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6033591" y="353055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6016320" y="352732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>
            <a:off x="6585674" y="3659954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3327035" y="3803799"/>
            <a:ext cx="299052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4402465" y="3803799"/>
            <a:ext cx="333557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5512400" y="3803728"/>
            <a:ext cx="294028" cy="7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2265981" y="3803798"/>
            <a:ext cx="284676" cy="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582806" y="3803728"/>
            <a:ext cx="283897" cy="71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>
            <a:off x="3119992" y="352775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4195422" y="352775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5305357" y="352775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7436038" y="352775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6375763" y="352768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2041686" y="352775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/>
          <p:nvPr/>
        </p:nvCxnSpPr>
        <p:spPr>
          <a:xfrm rot="10800000" flipV="1">
            <a:off x="1024471" y="3744572"/>
            <a:ext cx="468000" cy="180000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887230" y="393607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40313" y="401080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3874221" y="2914515"/>
            <a:ext cx="312906" cy="616110"/>
            <a:chOff x="1719467" y="4311016"/>
            <a:chExt cx="312906" cy="616110"/>
          </a:xfrm>
        </p:grpSpPr>
        <p:sp>
          <p:nvSpPr>
            <p:cNvPr id="47" name="文字方塊 46"/>
            <p:cNvSpPr txBox="1"/>
            <p:nvPr/>
          </p:nvSpPr>
          <p:spPr>
            <a:xfrm>
              <a:off x="1719467" y="43110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endParaRPr lang="zh-TW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線單箭頭接點 47"/>
            <p:cNvCxnSpPr>
              <a:stCxn id="47" idx="2"/>
            </p:cNvCxnSpPr>
            <p:nvPr/>
          </p:nvCxnSpPr>
          <p:spPr>
            <a:xfrm flipH="1">
              <a:off x="1875420" y="4711126"/>
              <a:ext cx="500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肘形接點 49"/>
          <p:cNvCxnSpPr/>
          <p:nvPr/>
        </p:nvCxnSpPr>
        <p:spPr>
          <a:xfrm rot="16200000" flipH="1">
            <a:off x="4026330" y="2701579"/>
            <a:ext cx="3891" cy="1652948"/>
          </a:xfrm>
          <a:prstGeom prst="bentConnector3">
            <a:avLst>
              <a:gd name="adj1" fmla="val -12969597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接點 56"/>
          <p:cNvCxnSpPr/>
          <p:nvPr/>
        </p:nvCxnSpPr>
        <p:spPr>
          <a:xfrm rot="5400000" flipH="1">
            <a:off x="4026330" y="3101690"/>
            <a:ext cx="3891" cy="1652948"/>
          </a:xfrm>
          <a:prstGeom prst="bentConnector3">
            <a:avLst>
              <a:gd name="adj1" fmla="val -587509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81859" y="2174653"/>
            <a:ext cx="53495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改變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左邊節點的右指標使它越過舊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left  right = p  right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700992" y="4312465"/>
            <a:ext cx="53495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改變右邊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的左指標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使它越過舊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right  left = p  left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730638" y="5254288"/>
            <a:ext cx="30412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3.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將舊節點歸還系統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 (p)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1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用鏈結串列實作堆疊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鏈結堆疊 </a:t>
            </a:r>
            <a:r>
              <a:rPr lang="en-US" altLang="zh-TW" dirty="0" smtClean="0">
                <a:solidFill>
                  <a:srgbClr val="0000FF"/>
                </a:solidFill>
              </a:rPr>
              <a:t>linked stack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tagnode</a:t>
            </a:r>
            <a:r>
              <a:rPr lang="en-US" altLang="zh-TW" dirty="0" smtClean="0"/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char data;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tagnode</a:t>
            </a:r>
            <a:r>
              <a:rPr lang="en-US" altLang="zh-TW" dirty="0" smtClean="0"/>
              <a:t> *next;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} </a:t>
            </a:r>
            <a:r>
              <a:rPr lang="en-US" altLang="zh-TW" dirty="0" err="1" smtClean="0"/>
              <a:t>StkNode</a:t>
            </a:r>
            <a:r>
              <a:rPr lang="en-US" altLang="zh-TW" dirty="0" smtClean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StkNode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TopOfS</a:t>
            </a:r>
            <a:r>
              <a:rPr lang="en-US" altLang="zh-TW" dirty="0" smtClean="0"/>
              <a:t>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5175842" y="2001308"/>
            <a:ext cx="707366" cy="629727"/>
            <a:chOff x="5029200" y="1570008"/>
            <a:chExt cx="707366" cy="629727"/>
          </a:xfrm>
        </p:grpSpPr>
        <p:sp>
          <p:nvSpPr>
            <p:cNvPr id="10" name="圓角矩形 9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5387189" y="2631035"/>
            <a:ext cx="284672" cy="323281"/>
            <a:chOff x="6868064" y="4830572"/>
            <a:chExt cx="284672" cy="323281"/>
          </a:xfrm>
        </p:grpSpPr>
        <p:grpSp>
          <p:nvGrpSpPr>
            <p:cNvPr id="58" name="群組 57"/>
            <p:cNvGrpSpPr/>
            <p:nvPr/>
          </p:nvGrpSpPr>
          <p:grpSpPr>
            <a:xfrm>
              <a:off x="6868064" y="5079125"/>
              <a:ext cx="284672" cy="74728"/>
              <a:chOff x="7894757" y="2827629"/>
              <a:chExt cx="284672" cy="74728"/>
            </a:xfrm>
          </p:grpSpPr>
          <p:cxnSp>
            <p:nvCxnSpPr>
              <p:cNvPr id="60" name="直線接點 59"/>
              <p:cNvCxnSpPr/>
              <p:nvPr/>
            </p:nvCxnSpPr>
            <p:spPr>
              <a:xfrm>
                <a:off x="7894757" y="2827629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/>
              <p:cNvCxnSpPr/>
              <p:nvPr/>
            </p:nvCxnSpPr>
            <p:spPr>
              <a:xfrm>
                <a:off x="7947840" y="2902357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直線單箭頭接點 58"/>
            <p:cNvCxnSpPr/>
            <p:nvPr/>
          </p:nvCxnSpPr>
          <p:spPr>
            <a:xfrm>
              <a:off x="7001774" y="4830572"/>
              <a:ext cx="0" cy="24855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字方塊 61"/>
          <p:cNvSpPr txBox="1"/>
          <p:nvPr/>
        </p:nvSpPr>
        <p:spPr>
          <a:xfrm>
            <a:off x="3398832" y="2060848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資料欄位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398832" y="2433244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鏈結欄位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883208" y="2116116"/>
            <a:ext cx="1029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TopOfS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7260537" y="2001308"/>
            <a:ext cx="1737328" cy="3583845"/>
            <a:chOff x="7260537" y="2001308"/>
            <a:chExt cx="1737328" cy="3583845"/>
          </a:xfrm>
        </p:grpSpPr>
        <p:grpSp>
          <p:nvGrpSpPr>
            <p:cNvPr id="25" name="群組 24"/>
            <p:cNvGrpSpPr/>
            <p:nvPr/>
          </p:nvGrpSpPr>
          <p:grpSpPr>
            <a:xfrm>
              <a:off x="7260537" y="2001308"/>
              <a:ext cx="707366" cy="629727"/>
              <a:chOff x="5029200" y="1570008"/>
              <a:chExt cx="707366" cy="629727"/>
            </a:xfrm>
          </p:grpSpPr>
          <p:sp>
            <p:nvSpPr>
              <p:cNvPr id="26" name="圓角矩形 25"/>
              <p:cNvSpPr/>
              <p:nvPr/>
            </p:nvSpPr>
            <p:spPr>
              <a:xfrm>
                <a:off x="5029200" y="1570008"/>
                <a:ext cx="707366" cy="62972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7" name="直線接點 26"/>
              <p:cNvCxnSpPr/>
              <p:nvPr/>
            </p:nvCxnSpPr>
            <p:spPr>
              <a:xfrm>
                <a:off x="5029200" y="1997010"/>
                <a:ext cx="70736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群組 27"/>
            <p:cNvGrpSpPr/>
            <p:nvPr/>
          </p:nvGrpSpPr>
          <p:grpSpPr>
            <a:xfrm>
              <a:off x="7260537" y="2878107"/>
              <a:ext cx="707366" cy="629727"/>
              <a:chOff x="5029200" y="1570008"/>
              <a:chExt cx="707366" cy="629727"/>
            </a:xfrm>
          </p:grpSpPr>
          <p:sp>
            <p:nvSpPr>
              <p:cNvPr id="29" name="圓角矩形 28"/>
              <p:cNvSpPr/>
              <p:nvPr/>
            </p:nvSpPr>
            <p:spPr>
              <a:xfrm>
                <a:off x="5029200" y="1570008"/>
                <a:ext cx="707366" cy="62972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0" name="直線接點 29"/>
              <p:cNvCxnSpPr/>
              <p:nvPr/>
            </p:nvCxnSpPr>
            <p:spPr>
              <a:xfrm>
                <a:off x="5029200" y="1997010"/>
                <a:ext cx="70736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字方塊 30"/>
              <p:cNvSpPr txBox="1"/>
              <p:nvPr/>
            </p:nvSpPr>
            <p:spPr>
              <a:xfrm>
                <a:off x="5170936" y="1579648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2" name="直線單箭頭接點 31"/>
            <p:cNvCxnSpPr>
              <a:stCxn id="26" idx="2"/>
              <a:endCxn id="29" idx="0"/>
            </p:cNvCxnSpPr>
            <p:nvPr/>
          </p:nvCxnSpPr>
          <p:spPr>
            <a:xfrm>
              <a:off x="7614220" y="2631035"/>
              <a:ext cx="0" cy="24707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群組 32"/>
            <p:cNvGrpSpPr/>
            <p:nvPr/>
          </p:nvGrpSpPr>
          <p:grpSpPr>
            <a:xfrm>
              <a:off x="7260537" y="3755125"/>
              <a:ext cx="707366" cy="629727"/>
              <a:chOff x="5029200" y="1570008"/>
              <a:chExt cx="707366" cy="629727"/>
            </a:xfrm>
          </p:grpSpPr>
          <p:sp>
            <p:nvSpPr>
              <p:cNvPr id="34" name="圓角矩形 33"/>
              <p:cNvSpPr/>
              <p:nvPr/>
            </p:nvSpPr>
            <p:spPr>
              <a:xfrm>
                <a:off x="5029200" y="1570008"/>
                <a:ext cx="707366" cy="62972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5" name="直線接點 34"/>
              <p:cNvCxnSpPr/>
              <p:nvPr/>
            </p:nvCxnSpPr>
            <p:spPr>
              <a:xfrm>
                <a:off x="5029200" y="1997010"/>
                <a:ext cx="70736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字方塊 35"/>
              <p:cNvSpPr txBox="1"/>
              <p:nvPr/>
            </p:nvSpPr>
            <p:spPr>
              <a:xfrm>
                <a:off x="5170936" y="1579648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7260537" y="4632145"/>
              <a:ext cx="707366" cy="629727"/>
              <a:chOff x="5029200" y="1570008"/>
              <a:chExt cx="707366" cy="629727"/>
            </a:xfrm>
          </p:grpSpPr>
          <p:sp>
            <p:nvSpPr>
              <p:cNvPr id="38" name="圓角矩形 37"/>
              <p:cNvSpPr/>
              <p:nvPr/>
            </p:nvSpPr>
            <p:spPr>
              <a:xfrm>
                <a:off x="5029200" y="1570008"/>
                <a:ext cx="707366" cy="62972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9" name="直線接點 38"/>
              <p:cNvCxnSpPr/>
              <p:nvPr/>
            </p:nvCxnSpPr>
            <p:spPr>
              <a:xfrm>
                <a:off x="5029200" y="1997010"/>
                <a:ext cx="70736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字方塊 39"/>
              <p:cNvSpPr txBox="1"/>
              <p:nvPr/>
            </p:nvSpPr>
            <p:spPr>
              <a:xfrm>
                <a:off x="5170936" y="1579648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4" name="直線單箭頭接點 43"/>
            <p:cNvCxnSpPr>
              <a:stCxn id="34" idx="2"/>
              <a:endCxn id="38" idx="0"/>
            </p:cNvCxnSpPr>
            <p:nvPr/>
          </p:nvCxnSpPr>
          <p:spPr>
            <a:xfrm>
              <a:off x="7614220" y="4384852"/>
              <a:ext cx="0" cy="24729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>
              <a:stCxn id="29" idx="2"/>
              <a:endCxn id="34" idx="0"/>
            </p:cNvCxnSpPr>
            <p:nvPr/>
          </p:nvCxnSpPr>
          <p:spPr>
            <a:xfrm>
              <a:off x="7614220" y="3507834"/>
              <a:ext cx="0" cy="24729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群組 55"/>
            <p:cNvGrpSpPr/>
            <p:nvPr/>
          </p:nvGrpSpPr>
          <p:grpSpPr>
            <a:xfrm>
              <a:off x="7480510" y="5261872"/>
              <a:ext cx="284672" cy="323281"/>
              <a:chOff x="6868064" y="4830572"/>
              <a:chExt cx="284672" cy="323281"/>
            </a:xfrm>
          </p:grpSpPr>
          <p:grpSp>
            <p:nvGrpSpPr>
              <p:cNvPr id="43" name="群組 42"/>
              <p:cNvGrpSpPr/>
              <p:nvPr/>
            </p:nvGrpSpPr>
            <p:grpSpPr>
              <a:xfrm>
                <a:off x="6868064" y="5079125"/>
                <a:ext cx="284672" cy="74728"/>
                <a:chOff x="7894757" y="2827629"/>
                <a:chExt cx="284672" cy="74728"/>
              </a:xfrm>
            </p:grpSpPr>
            <p:cxnSp>
              <p:nvCxnSpPr>
                <p:cNvPr id="41" name="直線接點 40"/>
                <p:cNvCxnSpPr/>
                <p:nvPr/>
              </p:nvCxnSpPr>
              <p:spPr>
                <a:xfrm>
                  <a:off x="7894757" y="2827629"/>
                  <a:ext cx="284672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接點 41"/>
                <p:cNvCxnSpPr/>
                <p:nvPr/>
              </p:nvCxnSpPr>
              <p:spPr>
                <a:xfrm>
                  <a:off x="7947840" y="2902357"/>
                  <a:ext cx="1800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" name="直線單箭頭接點 51"/>
              <p:cNvCxnSpPr/>
              <p:nvPr/>
            </p:nvCxnSpPr>
            <p:spPr>
              <a:xfrm>
                <a:off x="7010400" y="4830572"/>
                <a:ext cx="0" cy="248553"/>
              </a:xfrm>
              <a:prstGeom prst="straightConnector1">
                <a:avLst/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文字方塊 64"/>
            <p:cNvSpPr txBox="1"/>
            <p:nvPr/>
          </p:nvSpPr>
          <p:spPr>
            <a:xfrm>
              <a:off x="7967903" y="2116116"/>
              <a:ext cx="10299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TopOfS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3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用鏈結串列實作</a:t>
            </a:r>
            <a:r>
              <a:rPr lang="zh-TW" altLang="en-US" dirty="0" smtClean="0"/>
              <a:t>堆疊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鏈結堆疊的</a:t>
            </a:r>
            <a:r>
              <a:rPr lang="en-US" altLang="zh-TW" dirty="0" smtClean="0">
                <a:solidFill>
                  <a:srgbClr val="C00000"/>
                </a:solidFill>
              </a:rPr>
              <a:t>Push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C00000"/>
                </a:solidFill>
              </a:rPr>
              <a:t>insert</a:t>
            </a:r>
            <a:r>
              <a:rPr lang="zh-TW" altLang="en-US" dirty="0" smtClean="0"/>
              <a:t>新節點至串列前端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4888239" y="2669369"/>
            <a:ext cx="707366" cy="629727"/>
            <a:chOff x="5029200" y="1570008"/>
            <a:chExt cx="707366" cy="629727"/>
          </a:xfrm>
        </p:grpSpPr>
        <p:sp>
          <p:nvSpPr>
            <p:cNvPr id="8" name="圓角矩形 7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群組 9"/>
          <p:cNvGrpSpPr/>
          <p:nvPr/>
        </p:nvGrpSpPr>
        <p:grpSpPr>
          <a:xfrm>
            <a:off x="4888239" y="3546168"/>
            <a:ext cx="707366" cy="629727"/>
            <a:chOff x="5029200" y="1570008"/>
            <a:chExt cx="707366" cy="629727"/>
          </a:xfrm>
        </p:grpSpPr>
        <p:sp>
          <p:nvSpPr>
            <p:cNvPr id="11" name="圓角矩形 10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" name="直線單箭頭接點 13"/>
          <p:cNvCxnSpPr>
            <a:stCxn id="8" idx="2"/>
            <a:endCxn id="11" idx="0"/>
          </p:cNvCxnSpPr>
          <p:nvPr/>
        </p:nvCxnSpPr>
        <p:spPr>
          <a:xfrm>
            <a:off x="5241922" y="3299096"/>
            <a:ext cx="0" cy="24707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/>
          <p:cNvGrpSpPr/>
          <p:nvPr/>
        </p:nvGrpSpPr>
        <p:grpSpPr>
          <a:xfrm>
            <a:off x="4888239" y="4423186"/>
            <a:ext cx="707366" cy="629727"/>
            <a:chOff x="5029200" y="1570008"/>
            <a:chExt cx="707366" cy="629727"/>
          </a:xfrm>
        </p:grpSpPr>
        <p:sp>
          <p:nvSpPr>
            <p:cNvPr id="16" name="圓角矩形 15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888239" y="5300206"/>
            <a:ext cx="707366" cy="629727"/>
            <a:chOff x="5029200" y="1570008"/>
            <a:chExt cx="707366" cy="629727"/>
          </a:xfrm>
        </p:grpSpPr>
        <p:sp>
          <p:nvSpPr>
            <p:cNvPr id="20" name="圓角矩形 19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直線單箭頭接點 22"/>
          <p:cNvCxnSpPr>
            <a:stCxn id="16" idx="2"/>
            <a:endCxn id="20" idx="0"/>
          </p:cNvCxnSpPr>
          <p:nvPr/>
        </p:nvCxnSpPr>
        <p:spPr>
          <a:xfrm>
            <a:off x="5241922" y="5052913"/>
            <a:ext cx="0" cy="24729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1" idx="2"/>
            <a:endCxn id="16" idx="0"/>
          </p:cNvCxnSpPr>
          <p:nvPr/>
        </p:nvCxnSpPr>
        <p:spPr>
          <a:xfrm>
            <a:off x="5241922" y="4175895"/>
            <a:ext cx="0" cy="24729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5108212" y="5929933"/>
            <a:ext cx="284672" cy="323281"/>
            <a:chOff x="6868064" y="4830572"/>
            <a:chExt cx="284672" cy="323281"/>
          </a:xfrm>
        </p:grpSpPr>
        <p:grpSp>
          <p:nvGrpSpPr>
            <p:cNvPr id="26" name="群組 25"/>
            <p:cNvGrpSpPr/>
            <p:nvPr/>
          </p:nvGrpSpPr>
          <p:grpSpPr>
            <a:xfrm>
              <a:off x="6868064" y="5079125"/>
              <a:ext cx="284672" cy="74728"/>
              <a:chOff x="7894757" y="2827629"/>
              <a:chExt cx="284672" cy="74728"/>
            </a:xfrm>
          </p:grpSpPr>
          <p:cxnSp>
            <p:nvCxnSpPr>
              <p:cNvPr id="28" name="直線接點 27"/>
              <p:cNvCxnSpPr/>
              <p:nvPr/>
            </p:nvCxnSpPr>
            <p:spPr>
              <a:xfrm>
                <a:off x="7894757" y="2827629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>
                <a:off x="7947840" y="2902357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線單箭頭接點 26"/>
            <p:cNvCxnSpPr/>
            <p:nvPr/>
          </p:nvCxnSpPr>
          <p:spPr>
            <a:xfrm>
              <a:off x="7010400" y="4830572"/>
              <a:ext cx="0" cy="24855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字方塊 29"/>
          <p:cNvSpPr txBox="1"/>
          <p:nvPr/>
        </p:nvSpPr>
        <p:spPr>
          <a:xfrm>
            <a:off x="5595605" y="2784177"/>
            <a:ext cx="1029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TopOfS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群組 46"/>
          <p:cNvGrpSpPr/>
          <p:nvPr/>
        </p:nvGrpSpPr>
        <p:grpSpPr>
          <a:xfrm>
            <a:off x="3646061" y="3102010"/>
            <a:ext cx="707366" cy="629727"/>
            <a:chOff x="3646061" y="3102010"/>
            <a:chExt cx="707366" cy="629727"/>
          </a:xfrm>
        </p:grpSpPr>
        <p:sp>
          <p:nvSpPr>
            <p:cNvPr id="32" name="圓角矩形 31"/>
            <p:cNvSpPr/>
            <p:nvPr/>
          </p:nvSpPr>
          <p:spPr>
            <a:xfrm>
              <a:off x="3646061" y="3102010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接點 32"/>
            <p:cNvCxnSpPr/>
            <p:nvPr/>
          </p:nvCxnSpPr>
          <p:spPr>
            <a:xfrm>
              <a:off x="3646061" y="3529012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/>
          <p:cNvSpPr txBox="1"/>
          <p:nvPr/>
        </p:nvSpPr>
        <p:spPr>
          <a:xfrm>
            <a:off x="3787797" y="311165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肘形接點 35"/>
          <p:cNvCxnSpPr>
            <a:stCxn id="8" idx="2"/>
            <a:endCxn id="32" idx="0"/>
          </p:cNvCxnSpPr>
          <p:nvPr/>
        </p:nvCxnSpPr>
        <p:spPr>
          <a:xfrm rot="5400000" flipH="1">
            <a:off x="4522290" y="2579464"/>
            <a:ext cx="197086" cy="1242178"/>
          </a:xfrm>
          <a:prstGeom prst="bentConnector5">
            <a:avLst>
              <a:gd name="adj1" fmla="val -24074"/>
              <a:gd name="adj2" fmla="val 50000"/>
              <a:gd name="adj3" fmla="val 215990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32" idx="2"/>
            <a:endCxn id="11" idx="0"/>
          </p:cNvCxnSpPr>
          <p:nvPr/>
        </p:nvCxnSpPr>
        <p:spPr>
          <a:xfrm rot="5400000" flipH="1" flipV="1">
            <a:off x="4528048" y="3017864"/>
            <a:ext cx="185569" cy="1242178"/>
          </a:xfrm>
          <a:prstGeom prst="bentConnector5">
            <a:avLst>
              <a:gd name="adj1" fmla="val -123189"/>
              <a:gd name="adj2" fmla="val 50000"/>
              <a:gd name="adj3" fmla="val 176702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243821" y="3062930"/>
            <a:ext cx="3012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填入新節點的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</a:t>
            </a:r>
          </a:p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data = 30;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43821" y="2102880"/>
            <a:ext cx="3448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掛上新節點的鏈結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 = S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43821" y="4142302"/>
            <a:ext cx="3041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3.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改變舊節點的鏈結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next = </a:t>
            </a:r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71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4" grpId="0"/>
      <p:bldP spid="45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用鏈結串列實作</a:t>
            </a:r>
            <a:r>
              <a:rPr lang="zh-TW" altLang="en-US" dirty="0" smtClean="0"/>
              <a:t>堆疊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鏈結堆疊的</a:t>
            </a:r>
            <a:r>
              <a:rPr lang="en-US" altLang="zh-TW" dirty="0" smtClean="0">
                <a:solidFill>
                  <a:srgbClr val="C00000"/>
                </a:solidFill>
              </a:rPr>
              <a:t>Pop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C00000"/>
                </a:solidFill>
              </a:rPr>
              <a:t>delete</a:t>
            </a:r>
            <a:r>
              <a:rPr lang="zh-TW" altLang="en-US" dirty="0" smtClean="0"/>
              <a:t>串列</a:t>
            </a:r>
            <a:r>
              <a:rPr lang="zh-TW" altLang="en-US" dirty="0"/>
              <a:t>前</a:t>
            </a:r>
            <a:r>
              <a:rPr lang="zh-TW" altLang="en-US" dirty="0" smtClean="0"/>
              <a:t>端的元素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4379315" y="2211003"/>
            <a:ext cx="707366" cy="629727"/>
            <a:chOff x="5029200" y="1570008"/>
            <a:chExt cx="707366" cy="629727"/>
          </a:xfrm>
        </p:grpSpPr>
        <p:sp>
          <p:nvSpPr>
            <p:cNvPr id="8" name="圓角矩形 7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4379315" y="3964820"/>
            <a:ext cx="707366" cy="629727"/>
            <a:chOff x="5029200" y="1570008"/>
            <a:chExt cx="707366" cy="629727"/>
          </a:xfrm>
        </p:grpSpPr>
        <p:sp>
          <p:nvSpPr>
            <p:cNvPr id="16" name="圓角矩形 15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4379315" y="4841840"/>
            <a:ext cx="707366" cy="629727"/>
            <a:chOff x="5029200" y="1570008"/>
            <a:chExt cx="707366" cy="629727"/>
          </a:xfrm>
        </p:grpSpPr>
        <p:sp>
          <p:nvSpPr>
            <p:cNvPr id="20" name="圓角矩形 19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直線單箭頭接點 22"/>
          <p:cNvCxnSpPr>
            <a:stCxn id="16" idx="2"/>
            <a:endCxn id="20" idx="0"/>
          </p:cNvCxnSpPr>
          <p:nvPr/>
        </p:nvCxnSpPr>
        <p:spPr>
          <a:xfrm>
            <a:off x="4732998" y="4594547"/>
            <a:ext cx="0" cy="24729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4599288" y="5471567"/>
            <a:ext cx="284672" cy="323281"/>
            <a:chOff x="6868064" y="4830572"/>
            <a:chExt cx="284672" cy="323281"/>
          </a:xfrm>
        </p:grpSpPr>
        <p:grpSp>
          <p:nvGrpSpPr>
            <p:cNvPr id="26" name="群組 25"/>
            <p:cNvGrpSpPr/>
            <p:nvPr/>
          </p:nvGrpSpPr>
          <p:grpSpPr>
            <a:xfrm>
              <a:off x="6868064" y="5079125"/>
              <a:ext cx="284672" cy="74728"/>
              <a:chOff x="7894757" y="2827629"/>
              <a:chExt cx="284672" cy="74728"/>
            </a:xfrm>
          </p:grpSpPr>
          <p:cxnSp>
            <p:nvCxnSpPr>
              <p:cNvPr id="28" name="直線接點 27"/>
              <p:cNvCxnSpPr/>
              <p:nvPr/>
            </p:nvCxnSpPr>
            <p:spPr>
              <a:xfrm>
                <a:off x="7894757" y="2827629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>
                <a:off x="7947840" y="2902357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線單箭頭接點 26"/>
            <p:cNvCxnSpPr/>
            <p:nvPr/>
          </p:nvCxnSpPr>
          <p:spPr>
            <a:xfrm>
              <a:off x="7010400" y="4830572"/>
              <a:ext cx="0" cy="24855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字方塊 29"/>
          <p:cNvSpPr txBox="1"/>
          <p:nvPr/>
        </p:nvSpPr>
        <p:spPr>
          <a:xfrm>
            <a:off x="5086681" y="2325811"/>
            <a:ext cx="1029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TopOfS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149" y="3048722"/>
            <a:ext cx="22429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data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7634" y="3925740"/>
            <a:ext cx="40671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3.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將首節點的鏈結越過舊節點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next = 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 next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372146" y="3048722"/>
            <a:ext cx="30412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4.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舊節點動態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歸還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2000" b="1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Node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);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379315" y="3087802"/>
            <a:ext cx="707366" cy="629727"/>
            <a:chOff x="5029200" y="1570008"/>
            <a:chExt cx="707366" cy="629727"/>
          </a:xfrm>
        </p:grpSpPr>
        <p:sp>
          <p:nvSpPr>
            <p:cNvPr id="11" name="圓角矩形 10"/>
            <p:cNvSpPr/>
            <p:nvPr/>
          </p:nvSpPr>
          <p:spPr>
            <a:xfrm>
              <a:off x="5029200" y="1570008"/>
              <a:ext cx="707366" cy="62972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5029200" y="1997010"/>
              <a:ext cx="7073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5170936" y="15796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" name="直線單箭頭接點 13"/>
          <p:cNvCxnSpPr>
            <a:stCxn id="8" idx="2"/>
            <a:endCxn id="11" idx="0"/>
          </p:cNvCxnSpPr>
          <p:nvPr/>
        </p:nvCxnSpPr>
        <p:spPr>
          <a:xfrm>
            <a:off x="4732998" y="2840730"/>
            <a:ext cx="0" cy="24707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1" idx="2"/>
            <a:endCxn id="16" idx="0"/>
          </p:cNvCxnSpPr>
          <p:nvPr/>
        </p:nvCxnSpPr>
        <p:spPr>
          <a:xfrm>
            <a:off x="4732998" y="3717529"/>
            <a:ext cx="0" cy="24729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接點 34"/>
          <p:cNvCxnSpPr/>
          <p:nvPr/>
        </p:nvCxnSpPr>
        <p:spPr>
          <a:xfrm rot="10800000" flipH="1" flipV="1">
            <a:off x="4379314" y="2740818"/>
            <a:ext cx="353683" cy="1224000"/>
          </a:xfrm>
          <a:prstGeom prst="bentConnector4">
            <a:avLst>
              <a:gd name="adj1" fmla="val -64634"/>
              <a:gd name="adj2" fmla="val 90316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84775" y="2256380"/>
            <a:ext cx="30412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檢查堆疊是否為空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next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== NULL?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45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用鏈結串列實作佇列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用指標</a:t>
            </a:r>
            <a:r>
              <a:rPr lang="en-US" altLang="zh-TW" dirty="0" smtClean="0">
                <a:solidFill>
                  <a:srgbClr val="C00000"/>
                </a:solidFill>
              </a:rPr>
              <a:t>front</a:t>
            </a:r>
            <a:r>
              <a:rPr lang="zh-TW" altLang="en-US" dirty="0" smtClean="0"/>
              <a:t>和</a:t>
            </a:r>
            <a:r>
              <a:rPr lang="en-US" altLang="zh-TW" dirty="0" smtClean="0">
                <a:solidFill>
                  <a:srgbClr val="0000FF"/>
                </a:solidFill>
              </a:rPr>
              <a:t>rear</a:t>
            </a:r>
            <a:r>
              <a:rPr lang="zh-TW" altLang="en-US" dirty="0" smtClean="0"/>
              <a:t>分別指向佇列的</a:t>
            </a:r>
            <a:r>
              <a:rPr lang="zh-TW" altLang="en-US" dirty="0" smtClean="0">
                <a:solidFill>
                  <a:srgbClr val="C00000"/>
                </a:solidFill>
              </a:rPr>
              <a:t>排頭</a:t>
            </a:r>
            <a:r>
              <a:rPr lang="zh-TW" altLang="en-US" dirty="0" smtClean="0"/>
              <a:t>和</a:t>
            </a:r>
            <a:r>
              <a:rPr lang="zh-TW" altLang="en-US" dirty="0" smtClean="0">
                <a:solidFill>
                  <a:srgbClr val="0000FF"/>
                </a:solidFill>
              </a:rPr>
              <a:t>排尾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 smtClean="0"/>
              <a:t>使用一個</a:t>
            </a:r>
            <a:r>
              <a:rPr lang="zh-TW" altLang="en-US" dirty="0" smtClean="0">
                <a:solidFill>
                  <a:srgbClr val="C00000"/>
                </a:solidFill>
              </a:rPr>
              <a:t>特別的首節點</a:t>
            </a:r>
            <a:r>
              <a:rPr lang="zh-TW" altLang="en-US" dirty="0" smtClean="0"/>
              <a:t>，包含</a:t>
            </a:r>
            <a:r>
              <a:rPr lang="en-US" altLang="zh-TW" dirty="0" smtClean="0"/>
              <a:t>front</a:t>
            </a:r>
            <a:r>
              <a:rPr lang="zh-TW" altLang="en-US" dirty="0" smtClean="0"/>
              <a:t>和</a:t>
            </a:r>
            <a:r>
              <a:rPr lang="en-US" altLang="zh-TW" dirty="0" smtClean="0"/>
              <a:t>rear</a:t>
            </a:r>
            <a:r>
              <a:rPr lang="zh-TW" altLang="en-US" dirty="0" smtClean="0"/>
              <a:t>兩個指標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553525" y="2426497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628955" y="2426497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738890" y="242649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869571" y="242649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3329903" y="2624905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4405333" y="2624905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28" idx="1"/>
          </p:cNvCxnSpPr>
          <p:nvPr/>
        </p:nvCxnSpPr>
        <p:spPr>
          <a:xfrm flipV="1">
            <a:off x="5515268" y="2624834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>
            <a:stCxn id="10" idx="3"/>
          </p:cNvCxnSpPr>
          <p:nvPr/>
        </p:nvCxnSpPr>
        <p:spPr>
          <a:xfrm>
            <a:off x="7645949" y="2624905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894757" y="2827629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947840" y="2902357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492471" y="2426496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2268849" y="2624904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0"/>
            <a:endCxn id="7" idx="2"/>
          </p:cNvCxnSpPr>
          <p:nvPr/>
        </p:nvCxnSpPr>
        <p:spPr>
          <a:xfrm>
            <a:off x="2941714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7" idx="2"/>
          </p:cNvCxnSpPr>
          <p:nvPr/>
        </p:nvCxnSpPr>
        <p:spPr>
          <a:xfrm>
            <a:off x="1880660" y="242649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0"/>
            <a:endCxn id="8" idx="2"/>
          </p:cNvCxnSpPr>
          <p:nvPr/>
        </p:nvCxnSpPr>
        <p:spPr>
          <a:xfrm>
            <a:off x="4017144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5127079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7257760" y="242649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886823" y="241804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562151" y="2424848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646207" y="241608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56142" y="242484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809296" y="2426426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/>
          <p:cNvCxnSpPr>
            <a:stCxn id="28" idx="0"/>
            <a:endCxn id="28" idx="2"/>
          </p:cNvCxnSpPr>
          <p:nvPr/>
        </p:nvCxnSpPr>
        <p:spPr>
          <a:xfrm>
            <a:off x="6197485" y="242642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5817922" y="242320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/>
          <p:cNvCxnSpPr>
            <a:stCxn id="28" idx="3"/>
            <a:endCxn id="10" idx="1"/>
          </p:cNvCxnSpPr>
          <p:nvPr/>
        </p:nvCxnSpPr>
        <p:spPr>
          <a:xfrm>
            <a:off x="6585674" y="2624834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492471" y="2415749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2553525" y="4840320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3628955" y="4840320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4738890" y="484032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6869571" y="4840320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7" name="直線單箭頭接點 36"/>
          <p:cNvCxnSpPr>
            <a:stCxn id="33" idx="3"/>
            <a:endCxn id="34" idx="1"/>
          </p:cNvCxnSpPr>
          <p:nvPr/>
        </p:nvCxnSpPr>
        <p:spPr>
          <a:xfrm>
            <a:off x="3329903" y="5038728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34" idx="3"/>
            <a:endCxn id="35" idx="1"/>
          </p:cNvCxnSpPr>
          <p:nvPr/>
        </p:nvCxnSpPr>
        <p:spPr>
          <a:xfrm>
            <a:off x="4405333" y="5038728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35" idx="3"/>
            <a:endCxn id="54" idx="1"/>
          </p:cNvCxnSpPr>
          <p:nvPr/>
        </p:nvCxnSpPr>
        <p:spPr>
          <a:xfrm flipV="1">
            <a:off x="5515268" y="5038657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36" idx="3"/>
          </p:cNvCxnSpPr>
          <p:nvPr/>
        </p:nvCxnSpPr>
        <p:spPr>
          <a:xfrm>
            <a:off x="7645949" y="5038728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7894757" y="5241452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947840" y="5316180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圓角矩形 42"/>
          <p:cNvSpPr/>
          <p:nvPr/>
        </p:nvSpPr>
        <p:spPr>
          <a:xfrm>
            <a:off x="1492471" y="484031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4" name="直線單箭頭接點 43"/>
          <p:cNvCxnSpPr>
            <a:stCxn id="43" idx="3"/>
            <a:endCxn id="33" idx="1"/>
          </p:cNvCxnSpPr>
          <p:nvPr/>
        </p:nvCxnSpPr>
        <p:spPr>
          <a:xfrm>
            <a:off x="2268849" y="5038727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3" idx="0"/>
            <a:endCxn id="33" idx="2"/>
          </p:cNvCxnSpPr>
          <p:nvPr/>
        </p:nvCxnSpPr>
        <p:spPr>
          <a:xfrm>
            <a:off x="2941714" y="484032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43" idx="0"/>
            <a:endCxn id="43" idx="2"/>
          </p:cNvCxnSpPr>
          <p:nvPr/>
        </p:nvCxnSpPr>
        <p:spPr>
          <a:xfrm>
            <a:off x="1880660" y="484031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4" idx="0"/>
            <a:endCxn id="34" idx="2"/>
          </p:cNvCxnSpPr>
          <p:nvPr/>
        </p:nvCxnSpPr>
        <p:spPr>
          <a:xfrm>
            <a:off x="4017144" y="484032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5" idx="0"/>
            <a:endCxn id="35" idx="2"/>
          </p:cNvCxnSpPr>
          <p:nvPr/>
        </p:nvCxnSpPr>
        <p:spPr>
          <a:xfrm>
            <a:off x="5127079" y="484032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36" idx="0"/>
            <a:endCxn id="36" idx="2"/>
          </p:cNvCxnSpPr>
          <p:nvPr/>
        </p:nvCxnSpPr>
        <p:spPr>
          <a:xfrm>
            <a:off x="7257760" y="4840320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6886823" y="483186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562151" y="483867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646207" y="482990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756142" y="483867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4" name="圓角矩形 53"/>
          <p:cNvSpPr/>
          <p:nvPr/>
        </p:nvSpPr>
        <p:spPr>
          <a:xfrm>
            <a:off x="5809296" y="4840249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5" name="直線接點 54"/>
          <p:cNvCxnSpPr>
            <a:stCxn id="54" idx="0"/>
            <a:endCxn id="54" idx="2"/>
          </p:cNvCxnSpPr>
          <p:nvPr/>
        </p:nvCxnSpPr>
        <p:spPr>
          <a:xfrm>
            <a:off x="6197485" y="484024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817922" y="4837024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7" name="直線單箭頭接點 56"/>
          <p:cNvCxnSpPr>
            <a:stCxn id="54" idx="3"/>
            <a:endCxn id="36" idx="1"/>
          </p:cNvCxnSpPr>
          <p:nvPr/>
        </p:nvCxnSpPr>
        <p:spPr>
          <a:xfrm>
            <a:off x="6585674" y="5038657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接點 58"/>
          <p:cNvCxnSpPr>
            <a:endCxn id="51" idx="0"/>
          </p:cNvCxnSpPr>
          <p:nvPr/>
        </p:nvCxnSpPr>
        <p:spPr>
          <a:xfrm rot="16200000" flipH="1">
            <a:off x="2219581" y="4318008"/>
            <a:ext cx="3647" cy="1037679"/>
          </a:xfrm>
          <a:prstGeom prst="bentConnector3">
            <a:avLst>
              <a:gd name="adj1" fmla="val -626816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接點 61"/>
          <p:cNvCxnSpPr/>
          <p:nvPr/>
        </p:nvCxnSpPr>
        <p:spPr>
          <a:xfrm rot="5400000" flipH="1" flipV="1">
            <a:off x="4748044" y="2551534"/>
            <a:ext cx="11297" cy="5373155"/>
          </a:xfrm>
          <a:prstGeom prst="bentConnector3">
            <a:avLst>
              <a:gd name="adj1" fmla="val -202354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群組 67"/>
          <p:cNvGrpSpPr/>
          <p:nvPr/>
        </p:nvGrpSpPr>
        <p:grpSpPr>
          <a:xfrm>
            <a:off x="6732838" y="2827629"/>
            <a:ext cx="649730" cy="658898"/>
            <a:chOff x="1985990" y="3292429"/>
            <a:chExt cx="649730" cy="658898"/>
          </a:xfrm>
        </p:grpSpPr>
        <p:sp>
          <p:nvSpPr>
            <p:cNvPr id="69" name="文字方塊 68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單箭頭接點 69"/>
            <p:cNvCxnSpPr>
              <a:stCxn id="69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群組 74"/>
          <p:cNvGrpSpPr/>
          <p:nvPr/>
        </p:nvGrpSpPr>
        <p:grpSpPr>
          <a:xfrm>
            <a:off x="1309783" y="2815859"/>
            <a:ext cx="734688" cy="677606"/>
            <a:chOff x="1309783" y="2815859"/>
            <a:chExt cx="734688" cy="677606"/>
          </a:xfrm>
        </p:grpSpPr>
        <p:sp>
          <p:nvSpPr>
            <p:cNvPr id="72" name="文字方塊 71"/>
            <p:cNvSpPr txBox="1"/>
            <p:nvPr/>
          </p:nvSpPr>
          <p:spPr>
            <a:xfrm>
              <a:off x="1309783" y="3093355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線單箭頭接點 72"/>
            <p:cNvCxnSpPr>
              <a:stCxn id="72" idx="0"/>
              <a:endCxn id="32" idx="2"/>
            </p:cNvCxnSpPr>
            <p:nvPr/>
          </p:nvCxnSpPr>
          <p:spPr>
            <a:xfrm flipV="1">
              <a:off x="1677127" y="2815859"/>
              <a:ext cx="651" cy="27749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856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用鏈結串列實作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C00000"/>
                </a:solidFill>
              </a:rPr>
              <a:t>insert</a:t>
            </a:r>
            <a:r>
              <a:rPr lang="zh-TW" altLang="en-US" dirty="0" smtClean="0"/>
              <a:t>新節點至串列的</a:t>
            </a:r>
            <a:r>
              <a:rPr lang="zh-TW" altLang="en-US" dirty="0" smtClean="0">
                <a:solidFill>
                  <a:srgbClr val="C00000"/>
                </a:solidFill>
              </a:rPr>
              <a:t>後端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r>
              <a:rPr lang="en-US" altLang="zh-TW" dirty="0" err="1" smtClean="0"/>
              <a:t>Dequeue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C00000"/>
                </a:solidFill>
              </a:rPr>
              <a:t>delete</a:t>
            </a:r>
            <a:r>
              <a:rPr lang="zh-TW" altLang="en-US" dirty="0" smtClean="0"/>
              <a:t>串列的</a:t>
            </a:r>
            <a:r>
              <a:rPr lang="zh-TW" altLang="en-US" dirty="0" smtClean="0">
                <a:solidFill>
                  <a:srgbClr val="C00000"/>
                </a:solidFill>
              </a:rPr>
              <a:t>前端</a:t>
            </a:r>
            <a:r>
              <a:rPr lang="zh-TW" altLang="en-US" dirty="0" smtClean="0"/>
              <a:t>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139477" y="3099325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214907" y="3099325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4324842" y="309932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455523" y="3099325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單箭頭接點 10"/>
          <p:cNvCxnSpPr>
            <a:stCxn id="7" idx="3"/>
            <a:endCxn id="8" idx="1"/>
          </p:cNvCxnSpPr>
          <p:nvPr/>
        </p:nvCxnSpPr>
        <p:spPr>
          <a:xfrm>
            <a:off x="2915855" y="3297733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9" idx="1"/>
          </p:cNvCxnSpPr>
          <p:nvPr/>
        </p:nvCxnSpPr>
        <p:spPr>
          <a:xfrm>
            <a:off x="3991285" y="3297733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9" idx="3"/>
            <a:endCxn id="28" idx="1"/>
          </p:cNvCxnSpPr>
          <p:nvPr/>
        </p:nvCxnSpPr>
        <p:spPr>
          <a:xfrm flipV="1">
            <a:off x="5101220" y="3297662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群組 93"/>
          <p:cNvGrpSpPr/>
          <p:nvPr/>
        </p:nvGrpSpPr>
        <p:grpSpPr>
          <a:xfrm>
            <a:off x="7231901" y="3297733"/>
            <a:ext cx="533480" cy="277452"/>
            <a:chOff x="7231901" y="3297733"/>
            <a:chExt cx="533480" cy="277452"/>
          </a:xfrm>
        </p:grpSpPr>
        <p:cxnSp>
          <p:nvCxnSpPr>
            <p:cNvPr id="14" name="肘形接點 13"/>
            <p:cNvCxnSpPr>
              <a:stCxn id="10" idx="3"/>
            </p:cNvCxnSpPr>
            <p:nvPr/>
          </p:nvCxnSpPr>
          <p:spPr>
            <a:xfrm>
              <a:off x="7231901" y="3297733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7480709" y="3500457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7533792" y="3575185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圓角矩形 16"/>
          <p:cNvSpPr/>
          <p:nvPr/>
        </p:nvSpPr>
        <p:spPr>
          <a:xfrm>
            <a:off x="1078423" y="309932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8" name="直線單箭頭接點 17"/>
          <p:cNvCxnSpPr>
            <a:stCxn id="17" idx="3"/>
            <a:endCxn id="7" idx="1"/>
          </p:cNvCxnSpPr>
          <p:nvPr/>
        </p:nvCxnSpPr>
        <p:spPr>
          <a:xfrm>
            <a:off x="1854801" y="3297732"/>
            <a:ext cx="284676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0"/>
            <a:endCxn id="7" idx="2"/>
          </p:cNvCxnSpPr>
          <p:nvPr/>
        </p:nvCxnSpPr>
        <p:spPr>
          <a:xfrm>
            <a:off x="2527666" y="30993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0"/>
            <a:endCxn id="17" idx="2"/>
          </p:cNvCxnSpPr>
          <p:nvPr/>
        </p:nvCxnSpPr>
        <p:spPr>
          <a:xfrm>
            <a:off x="1466612" y="309932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0"/>
            <a:endCxn id="8" idx="2"/>
          </p:cNvCxnSpPr>
          <p:nvPr/>
        </p:nvCxnSpPr>
        <p:spPr>
          <a:xfrm>
            <a:off x="3603096" y="30993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0"/>
            <a:endCxn id="9" idx="2"/>
          </p:cNvCxnSpPr>
          <p:nvPr/>
        </p:nvCxnSpPr>
        <p:spPr>
          <a:xfrm>
            <a:off x="4713031" y="30993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0"/>
            <a:endCxn id="10" idx="2"/>
          </p:cNvCxnSpPr>
          <p:nvPr/>
        </p:nvCxnSpPr>
        <p:spPr>
          <a:xfrm>
            <a:off x="6843712" y="309932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472775" y="309086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148103" y="309767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232159" y="308891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342094" y="309767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5395248" y="3099254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/>
          <p:cNvCxnSpPr>
            <a:stCxn id="28" idx="0"/>
            <a:endCxn id="28" idx="2"/>
          </p:cNvCxnSpPr>
          <p:nvPr/>
        </p:nvCxnSpPr>
        <p:spPr>
          <a:xfrm>
            <a:off x="5783437" y="3099254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5403874" y="309602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/>
          <p:cNvCxnSpPr>
            <a:stCxn id="28" idx="3"/>
            <a:endCxn id="10" idx="1"/>
          </p:cNvCxnSpPr>
          <p:nvPr/>
        </p:nvCxnSpPr>
        <p:spPr>
          <a:xfrm>
            <a:off x="6171626" y="3297662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078423" y="3088577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3" name="群組 32"/>
          <p:cNvGrpSpPr/>
          <p:nvPr/>
        </p:nvGrpSpPr>
        <p:grpSpPr>
          <a:xfrm>
            <a:off x="6318790" y="3500457"/>
            <a:ext cx="649730" cy="658898"/>
            <a:chOff x="1985990" y="3292429"/>
            <a:chExt cx="649730" cy="658898"/>
          </a:xfrm>
        </p:grpSpPr>
        <p:sp>
          <p:nvSpPr>
            <p:cNvPr id="34" name="文字方塊 33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線單箭頭接點 34"/>
            <p:cNvCxnSpPr>
              <a:stCxn id="34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/>
          <p:cNvGrpSpPr/>
          <p:nvPr/>
        </p:nvGrpSpPr>
        <p:grpSpPr>
          <a:xfrm>
            <a:off x="895735" y="3488687"/>
            <a:ext cx="734688" cy="677606"/>
            <a:chOff x="1309783" y="2815859"/>
            <a:chExt cx="734688" cy="677606"/>
          </a:xfrm>
        </p:grpSpPr>
        <p:sp>
          <p:nvSpPr>
            <p:cNvPr id="37" name="文字方塊 36"/>
            <p:cNvSpPr txBox="1"/>
            <p:nvPr/>
          </p:nvSpPr>
          <p:spPr>
            <a:xfrm>
              <a:off x="1309783" y="3093355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線單箭頭接點 37"/>
            <p:cNvCxnSpPr>
              <a:stCxn id="37" idx="0"/>
              <a:endCxn id="32" idx="2"/>
            </p:cNvCxnSpPr>
            <p:nvPr/>
          </p:nvCxnSpPr>
          <p:spPr>
            <a:xfrm flipV="1">
              <a:off x="1677127" y="2815859"/>
              <a:ext cx="9277" cy="27749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群組 91"/>
          <p:cNvGrpSpPr/>
          <p:nvPr/>
        </p:nvGrpSpPr>
        <p:grpSpPr>
          <a:xfrm>
            <a:off x="6866303" y="2363372"/>
            <a:ext cx="776378" cy="396815"/>
            <a:chOff x="6866303" y="2363372"/>
            <a:chExt cx="776378" cy="396815"/>
          </a:xfrm>
        </p:grpSpPr>
        <p:sp>
          <p:nvSpPr>
            <p:cNvPr id="40" name="圓角矩形 39"/>
            <p:cNvSpPr/>
            <p:nvPr/>
          </p:nvSpPr>
          <p:spPr>
            <a:xfrm>
              <a:off x="6866303" y="2363372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1" name="直線接點 40"/>
            <p:cNvCxnSpPr>
              <a:stCxn id="40" idx="0"/>
              <a:endCxn id="40" idx="2"/>
            </p:cNvCxnSpPr>
            <p:nvPr/>
          </p:nvCxnSpPr>
          <p:spPr>
            <a:xfrm>
              <a:off x="7254492" y="236337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字方塊 41"/>
          <p:cNvSpPr txBox="1"/>
          <p:nvPr/>
        </p:nvSpPr>
        <p:spPr>
          <a:xfrm>
            <a:off x="6883555" y="235491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93" name="群組 92"/>
          <p:cNvGrpSpPr/>
          <p:nvPr/>
        </p:nvGrpSpPr>
        <p:grpSpPr>
          <a:xfrm>
            <a:off x="7642681" y="2561779"/>
            <a:ext cx="533480" cy="277452"/>
            <a:chOff x="7642681" y="2561779"/>
            <a:chExt cx="533480" cy="277452"/>
          </a:xfrm>
        </p:grpSpPr>
        <p:cxnSp>
          <p:nvCxnSpPr>
            <p:cNvPr id="43" name="肘形接點 42"/>
            <p:cNvCxnSpPr/>
            <p:nvPr/>
          </p:nvCxnSpPr>
          <p:spPr>
            <a:xfrm>
              <a:off x="7642681" y="2561779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/>
            <p:cNvCxnSpPr/>
            <p:nvPr/>
          </p:nvCxnSpPr>
          <p:spPr>
            <a:xfrm>
              <a:off x="7891489" y="2764503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>
              <a:off x="7944572" y="2839231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肘形接點 47"/>
          <p:cNvCxnSpPr>
            <a:endCxn id="40" idx="1"/>
          </p:cNvCxnSpPr>
          <p:nvPr/>
        </p:nvCxnSpPr>
        <p:spPr>
          <a:xfrm rot="16200000" flipV="1">
            <a:off x="6680566" y="2747518"/>
            <a:ext cx="526797" cy="155321"/>
          </a:xfrm>
          <a:prstGeom prst="bentConnector4">
            <a:avLst>
              <a:gd name="adj1" fmla="val 31169"/>
              <a:gd name="adj2" fmla="val 257196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/>
          <p:cNvGrpSpPr/>
          <p:nvPr/>
        </p:nvGrpSpPr>
        <p:grpSpPr>
          <a:xfrm>
            <a:off x="6926712" y="1686029"/>
            <a:ext cx="649730" cy="677343"/>
            <a:chOff x="6322892" y="1686029"/>
            <a:chExt cx="649730" cy="677343"/>
          </a:xfrm>
        </p:grpSpPr>
        <p:sp>
          <p:nvSpPr>
            <p:cNvPr id="50" name="文字方塊 49"/>
            <p:cNvSpPr txBox="1"/>
            <p:nvPr/>
          </p:nvSpPr>
          <p:spPr>
            <a:xfrm>
              <a:off x="6322892" y="1686029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>
              <a:stCxn id="50" idx="2"/>
              <a:endCxn id="40" idx="0"/>
            </p:cNvCxnSpPr>
            <p:nvPr/>
          </p:nvCxnSpPr>
          <p:spPr>
            <a:xfrm>
              <a:off x="6647757" y="2086139"/>
              <a:ext cx="2915" cy="27723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圓角矩形 54"/>
          <p:cNvSpPr/>
          <p:nvPr/>
        </p:nvSpPr>
        <p:spPr>
          <a:xfrm>
            <a:off x="2136609" y="4692267"/>
            <a:ext cx="776378" cy="396815"/>
          </a:xfrm>
          <a:prstGeom prst="roundRect">
            <a:avLst/>
          </a:prstGeom>
          <a:solidFill>
            <a:srgbClr val="BBE0E3"/>
          </a:solidFill>
          <a:ln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6" name="圓角矩形 55"/>
          <p:cNvSpPr/>
          <p:nvPr/>
        </p:nvSpPr>
        <p:spPr>
          <a:xfrm>
            <a:off x="3212039" y="4692267"/>
            <a:ext cx="776378" cy="396815"/>
          </a:xfrm>
          <a:prstGeom prst="roundRect">
            <a:avLst/>
          </a:prstGeom>
          <a:solidFill>
            <a:srgbClr val="BBE0E3"/>
          </a:solidFill>
          <a:ln w="9525">
            <a:solidFill>
              <a:srgbClr val="89A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7" name="圓角矩形 56"/>
          <p:cNvSpPr/>
          <p:nvPr/>
        </p:nvSpPr>
        <p:spPr>
          <a:xfrm>
            <a:off x="4321974" y="469226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6452655" y="4692267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9" name="直線單箭頭接點 58"/>
          <p:cNvCxnSpPr>
            <a:stCxn id="55" idx="3"/>
            <a:endCxn id="56" idx="1"/>
          </p:cNvCxnSpPr>
          <p:nvPr/>
        </p:nvCxnSpPr>
        <p:spPr>
          <a:xfrm>
            <a:off x="2912987" y="4890675"/>
            <a:ext cx="29905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6" idx="3"/>
            <a:endCxn id="57" idx="1"/>
          </p:cNvCxnSpPr>
          <p:nvPr/>
        </p:nvCxnSpPr>
        <p:spPr>
          <a:xfrm>
            <a:off x="3988417" y="4890675"/>
            <a:ext cx="333557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7" idx="3"/>
            <a:endCxn id="76" idx="1"/>
          </p:cNvCxnSpPr>
          <p:nvPr/>
        </p:nvCxnSpPr>
        <p:spPr>
          <a:xfrm flipV="1">
            <a:off x="5098352" y="4890604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接點 61"/>
          <p:cNvCxnSpPr>
            <a:stCxn id="58" idx="3"/>
          </p:cNvCxnSpPr>
          <p:nvPr/>
        </p:nvCxnSpPr>
        <p:spPr>
          <a:xfrm>
            <a:off x="7229033" y="4890675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>
            <a:off x="7477841" y="5093399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7530924" y="5168127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55" idx="0"/>
            <a:endCxn id="55" idx="2"/>
          </p:cNvCxnSpPr>
          <p:nvPr/>
        </p:nvCxnSpPr>
        <p:spPr>
          <a:xfrm>
            <a:off x="2524798" y="469226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56" idx="0"/>
            <a:endCxn id="56" idx="2"/>
          </p:cNvCxnSpPr>
          <p:nvPr/>
        </p:nvCxnSpPr>
        <p:spPr>
          <a:xfrm>
            <a:off x="3600228" y="469226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57" idx="0"/>
            <a:endCxn id="57" idx="2"/>
          </p:cNvCxnSpPr>
          <p:nvPr/>
        </p:nvCxnSpPr>
        <p:spPr>
          <a:xfrm>
            <a:off x="4710163" y="469226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>
            <a:stCxn id="58" idx="0"/>
            <a:endCxn id="58" idx="2"/>
          </p:cNvCxnSpPr>
          <p:nvPr/>
        </p:nvCxnSpPr>
        <p:spPr>
          <a:xfrm>
            <a:off x="6840844" y="469226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6469907" y="468381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2145235" y="4690618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229291" y="468185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339226" y="469061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6" name="圓角矩形 75"/>
          <p:cNvSpPr/>
          <p:nvPr/>
        </p:nvSpPr>
        <p:spPr>
          <a:xfrm>
            <a:off x="5392380" y="4692196"/>
            <a:ext cx="776378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7" name="直線接點 76"/>
          <p:cNvCxnSpPr>
            <a:stCxn id="76" idx="0"/>
            <a:endCxn id="76" idx="2"/>
          </p:cNvCxnSpPr>
          <p:nvPr/>
        </p:nvCxnSpPr>
        <p:spPr>
          <a:xfrm>
            <a:off x="5780569" y="4692196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5401006" y="468897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79" name="直線單箭頭接點 78"/>
          <p:cNvCxnSpPr>
            <a:stCxn id="76" idx="3"/>
            <a:endCxn id="58" idx="1"/>
          </p:cNvCxnSpPr>
          <p:nvPr/>
        </p:nvCxnSpPr>
        <p:spPr>
          <a:xfrm>
            <a:off x="6168758" y="4890604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群組 94"/>
          <p:cNvGrpSpPr/>
          <p:nvPr/>
        </p:nvGrpSpPr>
        <p:grpSpPr>
          <a:xfrm>
            <a:off x="1075555" y="4681519"/>
            <a:ext cx="1061054" cy="407562"/>
            <a:chOff x="1075555" y="4681519"/>
            <a:chExt cx="1061054" cy="407562"/>
          </a:xfrm>
        </p:grpSpPr>
        <p:sp>
          <p:nvSpPr>
            <p:cNvPr id="65" name="圓角矩形 64"/>
            <p:cNvSpPr/>
            <p:nvPr/>
          </p:nvSpPr>
          <p:spPr>
            <a:xfrm>
              <a:off x="1075555" y="4692266"/>
              <a:ext cx="776378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6" name="直線單箭頭接點 65"/>
            <p:cNvCxnSpPr>
              <a:stCxn id="65" idx="3"/>
              <a:endCxn id="55" idx="1"/>
            </p:cNvCxnSpPr>
            <p:nvPr/>
          </p:nvCxnSpPr>
          <p:spPr>
            <a:xfrm>
              <a:off x="1851933" y="4890674"/>
              <a:ext cx="284676" cy="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65" idx="0"/>
              <a:endCxn id="65" idx="2"/>
            </p:cNvCxnSpPr>
            <p:nvPr/>
          </p:nvCxnSpPr>
          <p:spPr>
            <a:xfrm>
              <a:off x="1463744" y="469226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字方塊 79"/>
            <p:cNvSpPr txBox="1"/>
            <p:nvPr/>
          </p:nvSpPr>
          <p:spPr>
            <a:xfrm>
              <a:off x="1075555" y="4681519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" name="群組 80"/>
          <p:cNvGrpSpPr/>
          <p:nvPr/>
        </p:nvGrpSpPr>
        <p:grpSpPr>
          <a:xfrm>
            <a:off x="6315922" y="5093399"/>
            <a:ext cx="649730" cy="658898"/>
            <a:chOff x="1985990" y="3292429"/>
            <a:chExt cx="649730" cy="658898"/>
          </a:xfrm>
        </p:grpSpPr>
        <p:sp>
          <p:nvSpPr>
            <p:cNvPr id="82" name="文字方塊 8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" name="直線單箭頭接點 82"/>
            <p:cNvCxnSpPr>
              <a:stCxn id="8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群組 83"/>
          <p:cNvGrpSpPr/>
          <p:nvPr/>
        </p:nvGrpSpPr>
        <p:grpSpPr>
          <a:xfrm>
            <a:off x="892867" y="5081629"/>
            <a:ext cx="734688" cy="677606"/>
            <a:chOff x="1309783" y="2815859"/>
            <a:chExt cx="734688" cy="677606"/>
          </a:xfrm>
        </p:grpSpPr>
        <p:sp>
          <p:nvSpPr>
            <p:cNvPr id="85" name="文字方塊 84"/>
            <p:cNvSpPr txBox="1"/>
            <p:nvPr/>
          </p:nvSpPr>
          <p:spPr>
            <a:xfrm>
              <a:off x="1309783" y="3093355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" name="直線單箭頭接點 85"/>
            <p:cNvCxnSpPr>
              <a:stCxn id="85" idx="0"/>
              <a:endCxn id="80" idx="2"/>
            </p:cNvCxnSpPr>
            <p:nvPr/>
          </p:nvCxnSpPr>
          <p:spPr>
            <a:xfrm flipV="1">
              <a:off x="1677127" y="2815859"/>
              <a:ext cx="651" cy="27749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群組 87"/>
          <p:cNvGrpSpPr/>
          <p:nvPr/>
        </p:nvGrpSpPr>
        <p:grpSpPr>
          <a:xfrm>
            <a:off x="1958853" y="5088583"/>
            <a:ext cx="734688" cy="686232"/>
            <a:chOff x="1309783" y="2807233"/>
            <a:chExt cx="734688" cy="686232"/>
          </a:xfrm>
        </p:grpSpPr>
        <p:sp>
          <p:nvSpPr>
            <p:cNvPr id="89" name="文字方塊 88"/>
            <p:cNvSpPr txBox="1"/>
            <p:nvPr/>
          </p:nvSpPr>
          <p:spPr>
            <a:xfrm>
              <a:off x="1309783" y="3093355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線單箭頭接點 89"/>
            <p:cNvCxnSpPr>
              <a:stCxn id="89" idx="0"/>
            </p:cNvCxnSpPr>
            <p:nvPr/>
          </p:nvCxnSpPr>
          <p:spPr>
            <a:xfrm flipV="1">
              <a:off x="1677127" y="2807233"/>
              <a:ext cx="651" cy="28612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39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多項式的表示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一元多項式：</a:t>
            </a:r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n</a:t>
            </a:r>
            <a:r>
              <a:rPr lang="en-US" altLang="zh-TW" i="1" dirty="0" err="1" smtClean="0"/>
              <a:t>x</a:t>
            </a:r>
            <a:r>
              <a:rPr lang="en-US" altLang="zh-TW" i="1" baseline="30000" dirty="0" err="1" smtClean="0"/>
              <a:t>n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i="1" baseline="-25000" dirty="0" smtClean="0"/>
              <a:t>n</a:t>
            </a:r>
            <a:r>
              <a:rPr lang="en-US" altLang="zh-TW" baseline="-25000" dirty="0" smtClean="0"/>
              <a:t>–1</a:t>
            </a:r>
            <a:r>
              <a:rPr lang="en-US" altLang="zh-TW" i="1" dirty="0" smtClean="0"/>
              <a:t>x</a:t>
            </a:r>
            <a:r>
              <a:rPr lang="en-US" altLang="zh-TW" i="1" baseline="30000" dirty="0" smtClean="0"/>
              <a:t>n</a:t>
            </a:r>
            <a:r>
              <a:rPr lang="en-US" altLang="zh-TW" baseline="30000" dirty="0" smtClean="0"/>
              <a:t>–1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i="1" baseline="-25000" dirty="0" smtClean="0"/>
              <a:t>n</a:t>
            </a:r>
            <a:r>
              <a:rPr lang="en-US" altLang="zh-TW" baseline="-25000" dirty="0" smtClean="0"/>
              <a:t>–2</a:t>
            </a:r>
            <a:r>
              <a:rPr lang="en-US" altLang="zh-TW" i="1" dirty="0" smtClean="0"/>
              <a:t>x</a:t>
            </a:r>
            <a:r>
              <a:rPr lang="en-US" altLang="zh-TW" i="1" baseline="30000" dirty="0" smtClean="0"/>
              <a:t>n</a:t>
            </a:r>
            <a:r>
              <a:rPr lang="en-US" altLang="zh-TW" baseline="30000" dirty="0" smtClean="0"/>
              <a:t>–2</a:t>
            </a:r>
            <a:r>
              <a:rPr lang="en-US" altLang="zh-TW" dirty="0" smtClean="0"/>
              <a:t> +…+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1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0</a:t>
            </a:r>
          </a:p>
          <a:p>
            <a:pPr lvl="1"/>
            <a:r>
              <a:rPr lang="en-US" altLang="zh-TW" dirty="0" smtClean="0"/>
              <a:t>5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+ 2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– 4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+ 6 </a:t>
            </a:r>
            <a:r>
              <a:rPr lang="en-US" altLang="zh-TW" dirty="0" smtClean="0">
                <a:sym typeface="Symbol"/>
              </a:rPr>
              <a:t>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= 3,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baseline="-25000" dirty="0" smtClean="0">
                <a:sym typeface="Symbol"/>
              </a:rPr>
              <a:t>0</a:t>
            </a:r>
            <a:r>
              <a:rPr lang="en-US" altLang="zh-TW" dirty="0" smtClean="0">
                <a:sym typeface="Symbol"/>
              </a:rPr>
              <a:t> = 6,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baseline="-25000" dirty="0" smtClean="0">
                <a:sym typeface="Symbol"/>
              </a:rPr>
              <a:t>1</a:t>
            </a:r>
            <a:r>
              <a:rPr lang="en-US" altLang="zh-TW" dirty="0" smtClean="0">
                <a:sym typeface="Symbol"/>
              </a:rPr>
              <a:t> = – 4,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baseline="-25000" dirty="0" smtClean="0">
                <a:sym typeface="Symbol"/>
              </a:rPr>
              <a:t>2</a:t>
            </a:r>
            <a:r>
              <a:rPr lang="en-US" altLang="zh-TW" dirty="0" smtClean="0">
                <a:sym typeface="Symbol"/>
              </a:rPr>
              <a:t> = 2, </a:t>
            </a:r>
            <a:r>
              <a:rPr lang="en-US" altLang="zh-TW" i="1" dirty="0" smtClean="0">
                <a:sym typeface="Symbol"/>
              </a:rPr>
              <a:t>a</a:t>
            </a:r>
            <a:r>
              <a:rPr lang="en-US" altLang="zh-TW" baseline="-25000" dirty="0" smtClean="0">
                <a:sym typeface="Symbol"/>
              </a:rPr>
              <a:t>3</a:t>
            </a:r>
            <a:r>
              <a:rPr lang="en-US" altLang="zh-TW" dirty="0" smtClean="0">
                <a:sym typeface="Symbol"/>
              </a:rPr>
              <a:t> = 5</a:t>
            </a:r>
          </a:p>
          <a:p>
            <a:pPr lvl="1"/>
            <a:endParaRPr lang="en-US" altLang="zh-TW" dirty="0">
              <a:sym typeface="Symbol"/>
            </a:endParaRPr>
          </a:p>
          <a:p>
            <a:pPr lvl="1"/>
            <a:endParaRPr lang="en-US" altLang="zh-TW" dirty="0" smtClean="0">
              <a:sym typeface="Symbol"/>
            </a:endParaRPr>
          </a:p>
          <a:p>
            <a:pPr lvl="1"/>
            <a:endParaRPr lang="en-US" altLang="zh-TW" dirty="0" smtClean="0">
              <a:sym typeface="Symbol"/>
            </a:endParaRPr>
          </a:p>
          <a:p>
            <a:pPr lvl="1"/>
            <a:endParaRPr lang="en-US" altLang="zh-TW" dirty="0">
              <a:sym typeface="Symbol"/>
            </a:endParaRPr>
          </a:p>
          <a:p>
            <a:pPr lvl="1"/>
            <a:r>
              <a:rPr lang="en-US" altLang="zh-TW" dirty="0" smtClean="0">
                <a:sym typeface="Symbol"/>
              </a:rPr>
              <a:t>2</a:t>
            </a:r>
            <a:r>
              <a:rPr lang="en-US" altLang="zh-TW" i="1" dirty="0" smtClean="0">
                <a:sym typeface="Symbol"/>
              </a:rPr>
              <a:t>x</a:t>
            </a:r>
            <a:r>
              <a:rPr lang="en-US" altLang="zh-TW" baseline="30000" dirty="0" smtClean="0">
                <a:sym typeface="Symbol"/>
              </a:rPr>
              <a:t>980</a:t>
            </a:r>
            <a:r>
              <a:rPr lang="en-US" altLang="zh-TW" dirty="0" smtClean="0">
                <a:sym typeface="Symbol"/>
              </a:rPr>
              <a:t> + 5</a:t>
            </a:r>
            <a:r>
              <a:rPr lang="en-US" altLang="zh-TW" i="1" dirty="0" smtClean="0">
                <a:sym typeface="Symbol"/>
              </a:rPr>
              <a:t>x</a:t>
            </a:r>
            <a:r>
              <a:rPr lang="en-US" altLang="zh-TW" baseline="30000" dirty="0" smtClean="0">
                <a:sym typeface="Symbol"/>
              </a:rPr>
              <a:t>50</a:t>
            </a:r>
            <a:r>
              <a:rPr lang="en-US" altLang="zh-TW" dirty="0" smtClean="0">
                <a:sym typeface="Symbol"/>
              </a:rPr>
              <a:t> + 1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259632" y="2450684"/>
          <a:ext cx="357421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4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群組 17"/>
          <p:cNvGrpSpPr/>
          <p:nvPr/>
        </p:nvGrpSpPr>
        <p:grpSpPr>
          <a:xfrm>
            <a:off x="2165412" y="2060848"/>
            <a:ext cx="2517746" cy="400110"/>
            <a:chOff x="3094014" y="2284353"/>
            <a:chExt cx="2517746" cy="400110"/>
          </a:xfrm>
        </p:grpSpPr>
        <p:sp>
          <p:nvSpPr>
            <p:cNvPr id="8" name="文字方塊 7"/>
            <p:cNvSpPr txBox="1"/>
            <p:nvPr/>
          </p:nvSpPr>
          <p:spPr>
            <a:xfrm>
              <a:off x="5213894" y="228435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4527996" y="228435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814094" y="228435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094014" y="228435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2133600" y="4200745"/>
          <a:ext cx="35742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57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3" name="群組 32"/>
          <p:cNvGrpSpPr/>
          <p:nvPr/>
        </p:nvGrpSpPr>
        <p:grpSpPr>
          <a:xfrm>
            <a:off x="2749190" y="3819537"/>
            <a:ext cx="2859684" cy="400110"/>
            <a:chOff x="2749190" y="3946371"/>
            <a:chExt cx="2859684" cy="400110"/>
          </a:xfrm>
        </p:grpSpPr>
        <p:sp>
          <p:nvSpPr>
            <p:cNvPr id="13" name="文字方塊 12"/>
            <p:cNvSpPr txBox="1"/>
            <p:nvPr/>
          </p:nvSpPr>
          <p:spPr>
            <a:xfrm>
              <a:off x="5211008" y="3946371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983580" y="394637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749190" y="3946371"/>
              <a:ext cx="5677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980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154560" y="4116130"/>
                <a:ext cx="1402179" cy="53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altLang="zh-TW" sz="20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𝟗𝟖</m:t>
                        </m:r>
                        <m:r>
                          <a:rPr lang="en-US" altLang="zh-TW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0.3%</a:t>
                </a:r>
                <a:endParaRPr lang="zh-TW" alt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560" y="4116130"/>
                <a:ext cx="1402179" cy="537006"/>
              </a:xfrm>
              <a:prstGeom prst="rect">
                <a:avLst/>
              </a:prstGeom>
              <a:blipFill rotWithShape="0">
                <a:blip r:embed="rId2"/>
                <a:stretch>
                  <a:fillRect r="-2609"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/>
          <p:cNvGrpSpPr/>
          <p:nvPr/>
        </p:nvGrpSpPr>
        <p:grpSpPr>
          <a:xfrm>
            <a:off x="1619672" y="5234204"/>
            <a:ext cx="6113225" cy="1507164"/>
            <a:chOff x="1619672" y="4961588"/>
            <a:chExt cx="6113225" cy="1507164"/>
          </a:xfrm>
        </p:grpSpPr>
        <p:sp>
          <p:nvSpPr>
            <p:cNvPr id="17" name="圓角矩形 16"/>
            <p:cNvSpPr/>
            <p:nvPr/>
          </p:nvSpPr>
          <p:spPr>
            <a:xfrm>
              <a:off x="3475788" y="552089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9" name="直線接點 18"/>
            <p:cNvCxnSpPr/>
            <p:nvPr/>
          </p:nvCxnSpPr>
          <p:spPr>
            <a:xfrm>
              <a:off x="3937600" y="552089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4391910" y="551802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3562048" y="5520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878942" y="5520897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980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4804242" y="552089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5266054" y="552089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5720364" y="551802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4890502" y="5520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276404" y="552089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圓角矩形 27"/>
            <p:cNvSpPr/>
            <p:nvPr/>
          </p:nvSpPr>
          <p:spPr>
            <a:xfrm>
              <a:off x="6137778" y="552089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9" name="直線接點 28"/>
            <p:cNvCxnSpPr/>
            <p:nvPr/>
          </p:nvCxnSpPr>
          <p:spPr>
            <a:xfrm>
              <a:off x="6599590" y="552089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7053900" y="551802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6224038" y="5520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6670322" y="552089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線單箭頭接點 33"/>
            <p:cNvCxnSpPr>
              <a:stCxn id="17" idx="3"/>
              <a:endCxn id="23" idx="1"/>
            </p:cNvCxnSpPr>
            <p:nvPr/>
          </p:nvCxnSpPr>
          <p:spPr>
            <a:xfrm>
              <a:off x="4537427" y="5719305"/>
              <a:ext cx="266815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23" idx="3"/>
              <a:endCxn id="28" idx="1"/>
            </p:cNvCxnSpPr>
            <p:nvPr/>
          </p:nvCxnSpPr>
          <p:spPr>
            <a:xfrm>
              <a:off x="5865881" y="5719305"/>
              <a:ext cx="271897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圓角矩形 37"/>
            <p:cNvSpPr/>
            <p:nvPr/>
          </p:nvSpPr>
          <p:spPr>
            <a:xfrm>
              <a:off x="2118566" y="552089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9" name="直線接點 38"/>
            <p:cNvCxnSpPr/>
            <p:nvPr/>
          </p:nvCxnSpPr>
          <p:spPr>
            <a:xfrm>
              <a:off x="2580378" y="552089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3034688" y="551802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38" idx="3"/>
              <a:endCxn id="17" idx="1"/>
            </p:cNvCxnSpPr>
            <p:nvPr/>
          </p:nvCxnSpPr>
          <p:spPr>
            <a:xfrm>
              <a:off x="3180205" y="5719305"/>
              <a:ext cx="29558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肘形接點 45"/>
            <p:cNvCxnSpPr/>
            <p:nvPr/>
          </p:nvCxnSpPr>
          <p:spPr>
            <a:xfrm>
              <a:off x="7199417" y="5722182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7448225" y="5924906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7501308" y="5999634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1619672" y="6068642"/>
              <a:ext cx="1475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係數</a:t>
              </a:r>
              <a:r>
                <a:rPr lang="zh-TW" altLang="en-US" sz="2000" b="1" dirty="0" smtClean="0">
                  <a:latin typeface="+mj-lt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 smtClean="0">
                  <a:latin typeface="+mj-lt"/>
                  <a:ea typeface="標楷體" panose="03000509000000000000" pitchFamily="65" charset="-120"/>
                  <a:cs typeface="Times New Roman" panose="02020603050405020304" pitchFamily="18" charset="0"/>
                </a:rPr>
                <a:t>COEF</a:t>
              </a:r>
              <a:endParaRPr lang="zh-TW" altLang="en-US" sz="2000" b="1" dirty="0">
                <a:latin typeface="+mj-lt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>
              <a:stCxn id="49" idx="0"/>
            </p:cNvCxnSpPr>
            <p:nvPr/>
          </p:nvCxnSpPr>
          <p:spPr>
            <a:xfrm flipV="1">
              <a:off x="2357214" y="5924906"/>
              <a:ext cx="6520" cy="14373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2123728" y="4961588"/>
              <a:ext cx="12763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指數</a:t>
              </a:r>
              <a:r>
                <a:rPr lang="zh-TW" altLang="en-US" sz="2000" b="1" dirty="0" smtClean="0">
                  <a:latin typeface="+mj-lt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 smtClean="0">
                  <a:latin typeface="+mj-lt"/>
                  <a:ea typeface="標楷體" panose="03000509000000000000" pitchFamily="65" charset="-120"/>
                  <a:cs typeface="Times New Roman" panose="02020603050405020304" pitchFamily="18" charset="0"/>
                </a:rPr>
                <a:t>EXP</a:t>
              </a:r>
              <a:endParaRPr lang="zh-TW" altLang="en-US" sz="2000" b="1" dirty="0">
                <a:latin typeface="+mj-lt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線單箭頭接點 52"/>
            <p:cNvCxnSpPr>
              <a:stCxn id="52" idx="2"/>
            </p:cNvCxnSpPr>
            <p:nvPr/>
          </p:nvCxnSpPr>
          <p:spPr>
            <a:xfrm>
              <a:off x="2761884" y="5361698"/>
              <a:ext cx="907" cy="15633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1259632" y="2918396"/>
          <a:ext cx="641621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29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4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/>
          </p:nvPr>
        </p:nvGraphicFramePr>
        <p:xfrm>
          <a:off x="2133600" y="4688944"/>
          <a:ext cx="416658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5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89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4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多項式的加法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A(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) = 5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+ 2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+ 6, B(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) = 9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5</a:t>
            </a:r>
            <a:r>
              <a:rPr lang="en-US" altLang="zh-TW" dirty="0" smtClean="0"/>
              <a:t> + 3</a:t>
            </a:r>
            <a:r>
              <a:rPr lang="en-US" altLang="zh-TW" i="1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, A(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) + B(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) = ?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458536" y="1906456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+ 5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+ 0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+ 6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458536" y="2712427"/>
            <a:ext cx="334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+ 5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+ 0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+ 9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altLang="zh-TW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173878" y="2710770"/>
            <a:ext cx="36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2165252" y="2305348"/>
            <a:ext cx="3642278" cy="407079"/>
            <a:chOff x="2165252" y="2305348"/>
            <a:chExt cx="3642278" cy="407079"/>
          </a:xfrm>
        </p:grpSpPr>
        <p:sp>
          <p:nvSpPr>
            <p:cNvPr id="8" name="文字方塊 7"/>
            <p:cNvSpPr txBox="1"/>
            <p:nvPr/>
          </p:nvSpPr>
          <p:spPr>
            <a:xfrm>
              <a:off x="2458536" y="2312317"/>
              <a:ext cx="33489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+ 0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+ 0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+ 3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+ 0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+ 0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165252" y="2305348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149000" y="3500470"/>
            <a:ext cx="8862136" cy="2015671"/>
            <a:chOff x="149000" y="3500470"/>
            <a:chExt cx="8862136" cy="2015671"/>
          </a:xfrm>
        </p:grpSpPr>
        <p:sp>
          <p:nvSpPr>
            <p:cNvPr id="13" name="圓角矩形 12"/>
            <p:cNvSpPr/>
            <p:nvPr/>
          </p:nvSpPr>
          <p:spPr>
            <a:xfrm>
              <a:off x="1893717" y="3510942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2355529" y="351094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2809839" y="350807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979977" y="35105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426261" y="35109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3248049" y="3510942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9" name="直線接點 18"/>
            <p:cNvCxnSpPr/>
            <p:nvPr/>
          </p:nvCxnSpPr>
          <p:spPr>
            <a:xfrm>
              <a:off x="3709861" y="351094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4164171" y="350807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3334309" y="35105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789219" y="35109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4598837" y="3510942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5060649" y="351094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5514959" y="350807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4685097" y="35105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131381" y="35109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單箭頭接點 27"/>
            <p:cNvCxnSpPr>
              <a:stCxn id="13" idx="3"/>
              <a:endCxn id="18" idx="1"/>
            </p:cNvCxnSpPr>
            <p:nvPr/>
          </p:nvCxnSpPr>
          <p:spPr>
            <a:xfrm>
              <a:off x="2955356" y="3709350"/>
              <a:ext cx="29269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18" idx="3"/>
              <a:endCxn id="23" idx="1"/>
            </p:cNvCxnSpPr>
            <p:nvPr/>
          </p:nvCxnSpPr>
          <p:spPr>
            <a:xfrm>
              <a:off x="4309688" y="3709350"/>
              <a:ext cx="28914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圓角矩形 29"/>
            <p:cNvSpPr/>
            <p:nvPr/>
          </p:nvSpPr>
          <p:spPr>
            <a:xfrm>
              <a:off x="536495" y="3510942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1" name="直線接點 30"/>
            <p:cNvCxnSpPr/>
            <p:nvPr/>
          </p:nvCxnSpPr>
          <p:spPr>
            <a:xfrm>
              <a:off x="998307" y="351094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1452617" y="350807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>
              <a:stCxn id="30" idx="3"/>
              <a:endCxn id="13" idx="1"/>
            </p:cNvCxnSpPr>
            <p:nvPr/>
          </p:nvCxnSpPr>
          <p:spPr>
            <a:xfrm>
              <a:off x="1598134" y="3709350"/>
              <a:ext cx="29558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肘形接點 33"/>
            <p:cNvCxnSpPr/>
            <p:nvPr/>
          </p:nvCxnSpPr>
          <p:spPr>
            <a:xfrm>
              <a:off x="7043916" y="3716544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7292724" y="3919268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>
              <a:off x="7345807" y="3993996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圓角矩形 38"/>
            <p:cNvSpPr/>
            <p:nvPr/>
          </p:nvSpPr>
          <p:spPr>
            <a:xfrm>
              <a:off x="529460" y="4284444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0" name="直線接點 39"/>
            <p:cNvCxnSpPr/>
            <p:nvPr/>
          </p:nvCxnSpPr>
          <p:spPr>
            <a:xfrm>
              <a:off x="991272" y="428444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>
              <a:off x="1445582" y="428157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圓角矩形 43"/>
            <p:cNvSpPr/>
            <p:nvPr/>
          </p:nvSpPr>
          <p:spPr>
            <a:xfrm>
              <a:off x="1883792" y="4284444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5" name="直線接點 44"/>
            <p:cNvCxnSpPr/>
            <p:nvPr/>
          </p:nvCxnSpPr>
          <p:spPr>
            <a:xfrm>
              <a:off x="2345604" y="428444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2799914" y="428157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1970052" y="42840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2407710" y="428444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圓角矩形 48"/>
            <p:cNvSpPr/>
            <p:nvPr/>
          </p:nvSpPr>
          <p:spPr>
            <a:xfrm>
              <a:off x="3269084" y="4284444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50" name="直線接點 49"/>
            <p:cNvCxnSpPr/>
            <p:nvPr/>
          </p:nvCxnSpPr>
          <p:spPr>
            <a:xfrm>
              <a:off x="3730896" y="428444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4185206" y="428157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3355344" y="42840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3801628" y="428444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線單箭頭接點 53"/>
            <p:cNvCxnSpPr>
              <a:stCxn id="39" idx="3"/>
              <a:endCxn id="44" idx="1"/>
            </p:cNvCxnSpPr>
            <p:nvPr/>
          </p:nvCxnSpPr>
          <p:spPr>
            <a:xfrm>
              <a:off x="1591099" y="4482852"/>
              <a:ext cx="29269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>
              <a:stCxn id="44" idx="3"/>
              <a:endCxn id="49" idx="1"/>
            </p:cNvCxnSpPr>
            <p:nvPr/>
          </p:nvCxnSpPr>
          <p:spPr>
            <a:xfrm>
              <a:off x="2945431" y="4482852"/>
              <a:ext cx="32365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肘形接點 55"/>
            <p:cNvCxnSpPr/>
            <p:nvPr/>
          </p:nvCxnSpPr>
          <p:spPr>
            <a:xfrm>
              <a:off x="4322097" y="4485729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/>
            <p:nvPr/>
          </p:nvCxnSpPr>
          <p:spPr>
            <a:xfrm>
              <a:off x="4570905" y="4688453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4623988" y="4763181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圓角矩形 58"/>
            <p:cNvSpPr/>
            <p:nvPr/>
          </p:nvSpPr>
          <p:spPr>
            <a:xfrm>
              <a:off x="5982277" y="3508074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60" name="直線接點 59"/>
            <p:cNvCxnSpPr/>
            <p:nvPr/>
          </p:nvCxnSpPr>
          <p:spPr>
            <a:xfrm>
              <a:off x="6444089" y="3508074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/>
            <p:nvPr/>
          </p:nvCxnSpPr>
          <p:spPr>
            <a:xfrm>
              <a:off x="6898399" y="350520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6068537" y="350765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6514821" y="350807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單箭頭接點 63"/>
            <p:cNvCxnSpPr>
              <a:stCxn id="23" idx="3"/>
              <a:endCxn id="59" idx="1"/>
            </p:cNvCxnSpPr>
            <p:nvPr/>
          </p:nvCxnSpPr>
          <p:spPr>
            <a:xfrm flipV="1">
              <a:off x="5660476" y="3706482"/>
              <a:ext cx="321801" cy="286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圓角矩形 72"/>
            <p:cNvSpPr/>
            <p:nvPr/>
          </p:nvSpPr>
          <p:spPr>
            <a:xfrm>
              <a:off x="1886681" y="5043568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74" name="直線接點 73"/>
            <p:cNvCxnSpPr/>
            <p:nvPr/>
          </p:nvCxnSpPr>
          <p:spPr>
            <a:xfrm>
              <a:off x="2348493" y="504356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>
              <a:off x="2802803" y="504070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1972941" y="50431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2419225" y="50435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圓角矩形 77"/>
            <p:cNvSpPr/>
            <p:nvPr/>
          </p:nvSpPr>
          <p:spPr>
            <a:xfrm>
              <a:off x="3241013" y="5043568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79" name="直線接點 78"/>
            <p:cNvCxnSpPr/>
            <p:nvPr/>
          </p:nvCxnSpPr>
          <p:spPr>
            <a:xfrm>
              <a:off x="3702825" y="504356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接點 79"/>
            <p:cNvCxnSpPr/>
            <p:nvPr/>
          </p:nvCxnSpPr>
          <p:spPr>
            <a:xfrm>
              <a:off x="4157135" y="504070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3327273" y="50431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782183" y="50435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圓角矩形 82"/>
            <p:cNvSpPr/>
            <p:nvPr/>
          </p:nvSpPr>
          <p:spPr>
            <a:xfrm>
              <a:off x="4591801" y="5043568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84" name="直線接點 83"/>
            <p:cNvCxnSpPr/>
            <p:nvPr/>
          </p:nvCxnSpPr>
          <p:spPr>
            <a:xfrm>
              <a:off x="5053613" y="504356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接點 84"/>
            <p:cNvCxnSpPr/>
            <p:nvPr/>
          </p:nvCxnSpPr>
          <p:spPr>
            <a:xfrm>
              <a:off x="5507923" y="504070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字方塊 85"/>
            <p:cNvSpPr txBox="1"/>
            <p:nvPr/>
          </p:nvSpPr>
          <p:spPr>
            <a:xfrm>
              <a:off x="4678061" y="50431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5124345" y="50435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線單箭頭接點 87"/>
            <p:cNvCxnSpPr>
              <a:stCxn id="73" idx="3"/>
              <a:endCxn id="78" idx="1"/>
            </p:cNvCxnSpPr>
            <p:nvPr/>
          </p:nvCxnSpPr>
          <p:spPr>
            <a:xfrm>
              <a:off x="2948320" y="5241976"/>
              <a:ext cx="29269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>
              <a:stCxn id="78" idx="3"/>
              <a:endCxn id="83" idx="1"/>
            </p:cNvCxnSpPr>
            <p:nvPr/>
          </p:nvCxnSpPr>
          <p:spPr>
            <a:xfrm>
              <a:off x="4302652" y="5241976"/>
              <a:ext cx="289149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圓角矩形 89"/>
            <p:cNvSpPr/>
            <p:nvPr/>
          </p:nvSpPr>
          <p:spPr>
            <a:xfrm>
              <a:off x="529459" y="5043568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1" name="直線接點 90"/>
            <p:cNvCxnSpPr/>
            <p:nvPr/>
          </p:nvCxnSpPr>
          <p:spPr>
            <a:xfrm>
              <a:off x="991271" y="504356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/>
            <p:cNvCxnSpPr/>
            <p:nvPr/>
          </p:nvCxnSpPr>
          <p:spPr>
            <a:xfrm>
              <a:off x="1445581" y="504070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>
              <a:stCxn id="90" idx="3"/>
              <a:endCxn id="73" idx="1"/>
            </p:cNvCxnSpPr>
            <p:nvPr/>
          </p:nvCxnSpPr>
          <p:spPr>
            <a:xfrm>
              <a:off x="1591098" y="5241976"/>
              <a:ext cx="29558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肘形接點 93"/>
            <p:cNvCxnSpPr/>
            <p:nvPr/>
          </p:nvCxnSpPr>
          <p:spPr>
            <a:xfrm>
              <a:off x="8477656" y="5238689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/>
            <p:nvPr/>
          </p:nvCxnSpPr>
          <p:spPr>
            <a:xfrm>
              <a:off x="8726464" y="5441413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8779547" y="5516141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圓角矩形 96"/>
            <p:cNvSpPr/>
            <p:nvPr/>
          </p:nvSpPr>
          <p:spPr>
            <a:xfrm>
              <a:off x="5982277" y="5043150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8" name="直線接點 97"/>
            <p:cNvCxnSpPr/>
            <p:nvPr/>
          </p:nvCxnSpPr>
          <p:spPr>
            <a:xfrm>
              <a:off x="6444089" y="5043150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/>
            <p:nvPr/>
          </p:nvCxnSpPr>
          <p:spPr>
            <a:xfrm>
              <a:off x="6898399" y="5040282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字方塊 99"/>
            <p:cNvSpPr txBox="1"/>
            <p:nvPr/>
          </p:nvSpPr>
          <p:spPr>
            <a:xfrm>
              <a:off x="6068537" y="504273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字方塊 100"/>
            <p:cNvSpPr txBox="1"/>
            <p:nvPr/>
          </p:nvSpPr>
          <p:spPr>
            <a:xfrm>
              <a:off x="6514821" y="50431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2" name="直線單箭頭接點 101"/>
            <p:cNvCxnSpPr>
              <a:stCxn id="83" idx="3"/>
              <a:endCxn id="97" idx="1"/>
            </p:cNvCxnSpPr>
            <p:nvPr/>
          </p:nvCxnSpPr>
          <p:spPr>
            <a:xfrm flipV="1">
              <a:off x="5653440" y="5241558"/>
              <a:ext cx="328837" cy="41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圓角矩形 102"/>
            <p:cNvSpPr/>
            <p:nvPr/>
          </p:nvSpPr>
          <p:spPr>
            <a:xfrm>
              <a:off x="7416017" y="5043986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4" name="直線接點 103"/>
            <p:cNvCxnSpPr/>
            <p:nvPr/>
          </p:nvCxnSpPr>
          <p:spPr>
            <a:xfrm>
              <a:off x="7877829" y="5043986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104"/>
            <p:cNvCxnSpPr/>
            <p:nvPr/>
          </p:nvCxnSpPr>
          <p:spPr>
            <a:xfrm>
              <a:off x="8332139" y="5041118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字方塊 105"/>
            <p:cNvSpPr txBox="1"/>
            <p:nvPr/>
          </p:nvSpPr>
          <p:spPr>
            <a:xfrm>
              <a:off x="7502277" y="50435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7948561" y="504398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直線單箭頭接點 107"/>
            <p:cNvCxnSpPr>
              <a:stCxn id="97" idx="3"/>
              <a:endCxn id="103" idx="1"/>
            </p:cNvCxnSpPr>
            <p:nvPr/>
          </p:nvCxnSpPr>
          <p:spPr>
            <a:xfrm>
              <a:off x="7043916" y="5241558"/>
              <a:ext cx="372101" cy="83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字方塊 114"/>
            <p:cNvSpPr txBox="1"/>
            <p:nvPr/>
          </p:nvSpPr>
          <p:spPr>
            <a:xfrm>
              <a:off x="158845" y="3500470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165881" y="4282796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149000" y="504398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25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多項式的</a:t>
            </a:r>
            <a:r>
              <a:rPr lang="zh-TW" altLang="en-US" dirty="0" smtClean="0"/>
              <a:t>加法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兩多項式分別從高冪次項向右掃瞄</a:t>
            </a:r>
            <a:endParaRPr lang="en-US" altLang="zh-TW" dirty="0" smtClean="0"/>
          </a:p>
          <a:p>
            <a:r>
              <a:rPr lang="zh-TW" altLang="en-US" dirty="0" smtClean="0"/>
              <a:t>比較兩項冪次大小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若冪次相等，係數相加後存放在</a:t>
            </a:r>
            <a:r>
              <a:rPr lang="en-US" altLang="zh-TW" dirty="0" smtClean="0"/>
              <a:t>C</a:t>
            </a:r>
          </a:p>
          <a:p>
            <a:pPr lvl="1"/>
            <a:r>
              <a:rPr lang="zh-TW" altLang="en-US" dirty="0" smtClean="0"/>
              <a:t>若冪次不相等，將冪次大的複製存放在</a:t>
            </a:r>
            <a:r>
              <a:rPr lang="en-US" altLang="zh-TW" dirty="0" smtClean="0"/>
              <a:t>C</a:t>
            </a:r>
          </a:p>
          <a:p>
            <a:r>
              <a:rPr lang="zh-TW" altLang="en-US" dirty="0" smtClean="0"/>
              <a:t>已複製的項，多項式往右移一項</a:t>
            </a:r>
            <a:endParaRPr lang="en-US" altLang="zh-TW" dirty="0" smtClean="0"/>
          </a:p>
          <a:p>
            <a:r>
              <a:rPr lang="zh-TW" altLang="en-US" dirty="0" smtClean="0"/>
              <a:t>重複步驟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</a:t>
            </a:r>
            <a:r>
              <a:rPr lang="en-US" altLang="zh-TW" dirty="0" smtClean="0"/>
              <a:t>2</a:t>
            </a:r>
            <a:r>
              <a:rPr lang="zh-TW" altLang="en-US" dirty="0" smtClean="0"/>
              <a:t>，</a:t>
            </a:r>
            <a:r>
              <a:rPr lang="en-US" altLang="zh-TW" dirty="0" smtClean="0"/>
              <a:t>3</a:t>
            </a:r>
            <a:r>
              <a:rPr lang="zh-TW" altLang="en-US" dirty="0" smtClean="0"/>
              <a:t>，直到多項式都掃瞄完為止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1916824" y="4574879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2378636" y="457487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832946" y="45720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003084" y="45744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449368" y="4574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271156" y="4574879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3732968" y="457487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187278" y="45720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357416" y="45744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2326" y="4574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4621944" y="4574879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8" name="直線接點 17"/>
          <p:cNvCxnSpPr/>
          <p:nvPr/>
        </p:nvCxnSpPr>
        <p:spPr>
          <a:xfrm>
            <a:off x="5083756" y="457487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5538066" y="45720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708204" y="45744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154488" y="4574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/>
          <p:cNvCxnSpPr>
            <a:stCxn id="7" idx="3"/>
            <a:endCxn id="12" idx="1"/>
          </p:cNvCxnSpPr>
          <p:nvPr/>
        </p:nvCxnSpPr>
        <p:spPr>
          <a:xfrm>
            <a:off x="2978463" y="4773287"/>
            <a:ext cx="2926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2" idx="3"/>
            <a:endCxn id="17" idx="1"/>
          </p:cNvCxnSpPr>
          <p:nvPr/>
        </p:nvCxnSpPr>
        <p:spPr>
          <a:xfrm>
            <a:off x="4332795" y="4773287"/>
            <a:ext cx="289149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/>
          <p:cNvSpPr/>
          <p:nvPr/>
        </p:nvSpPr>
        <p:spPr>
          <a:xfrm>
            <a:off x="559602" y="4574879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5" name="直線接點 24"/>
          <p:cNvCxnSpPr/>
          <p:nvPr/>
        </p:nvCxnSpPr>
        <p:spPr>
          <a:xfrm>
            <a:off x="1021414" y="457487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1475724" y="45720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4" idx="3"/>
            <a:endCxn id="7" idx="1"/>
          </p:cNvCxnSpPr>
          <p:nvPr/>
        </p:nvCxnSpPr>
        <p:spPr>
          <a:xfrm>
            <a:off x="1621241" y="4773287"/>
            <a:ext cx="29558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>
            <a:off x="7067023" y="4780481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7315831" y="4983205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7368914" y="5057933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圓角矩形 30"/>
          <p:cNvSpPr/>
          <p:nvPr/>
        </p:nvSpPr>
        <p:spPr>
          <a:xfrm>
            <a:off x="552567" y="551227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1014379" y="551227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1468689" y="550940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 33"/>
          <p:cNvSpPr/>
          <p:nvPr/>
        </p:nvSpPr>
        <p:spPr>
          <a:xfrm>
            <a:off x="1906899" y="551227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5" name="直線接點 34"/>
          <p:cNvCxnSpPr/>
          <p:nvPr/>
        </p:nvCxnSpPr>
        <p:spPr>
          <a:xfrm>
            <a:off x="2368711" y="551227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2823021" y="550940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1993159" y="55118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430817" y="55122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圓角矩形 38"/>
          <p:cNvSpPr/>
          <p:nvPr/>
        </p:nvSpPr>
        <p:spPr>
          <a:xfrm>
            <a:off x="3292191" y="551227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3754003" y="551227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4208313" y="550940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3378451" y="55118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824735" y="55122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線單箭頭接點 43"/>
          <p:cNvCxnSpPr>
            <a:stCxn id="31" idx="3"/>
            <a:endCxn id="34" idx="1"/>
          </p:cNvCxnSpPr>
          <p:nvPr/>
        </p:nvCxnSpPr>
        <p:spPr>
          <a:xfrm>
            <a:off x="1614206" y="5710683"/>
            <a:ext cx="2926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34" idx="3"/>
            <a:endCxn id="39" idx="1"/>
          </p:cNvCxnSpPr>
          <p:nvPr/>
        </p:nvCxnSpPr>
        <p:spPr>
          <a:xfrm>
            <a:off x="2968538" y="5710683"/>
            <a:ext cx="32365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/>
          <p:nvPr/>
        </p:nvCxnSpPr>
        <p:spPr>
          <a:xfrm>
            <a:off x="4345204" y="5713560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4594012" y="591628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4647095" y="599101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圓角矩形 48"/>
          <p:cNvSpPr/>
          <p:nvPr/>
        </p:nvSpPr>
        <p:spPr>
          <a:xfrm>
            <a:off x="6005384" y="4572011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467196" y="4572011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921506" y="4569143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6091644" y="45715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537928" y="45720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線單箭頭接點 53"/>
          <p:cNvCxnSpPr>
            <a:stCxn id="17" idx="3"/>
            <a:endCxn id="49" idx="1"/>
          </p:cNvCxnSpPr>
          <p:nvPr/>
        </p:nvCxnSpPr>
        <p:spPr>
          <a:xfrm flipV="1">
            <a:off x="5683583" y="4770419"/>
            <a:ext cx="321801" cy="286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181952" y="4564407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88988" y="551062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659" y="1299624"/>
            <a:ext cx="3706813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2" name="群組 71"/>
          <p:cNvGrpSpPr/>
          <p:nvPr/>
        </p:nvGrpSpPr>
        <p:grpSpPr>
          <a:xfrm>
            <a:off x="821831" y="4015014"/>
            <a:ext cx="397866" cy="551239"/>
            <a:chOff x="1675590" y="5009511"/>
            <a:chExt cx="397866" cy="551239"/>
          </a:xfrm>
        </p:grpSpPr>
        <p:sp>
          <p:nvSpPr>
            <p:cNvPr id="73" name="文字方塊 72"/>
            <p:cNvSpPr txBox="1"/>
            <p:nvPr/>
          </p:nvSpPr>
          <p:spPr>
            <a:xfrm>
              <a:off x="1675590" y="5009511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74" name="直線單箭頭接點 73"/>
            <p:cNvCxnSpPr>
              <a:stCxn id="73" idx="2"/>
            </p:cNvCxnSpPr>
            <p:nvPr/>
          </p:nvCxnSpPr>
          <p:spPr>
            <a:xfrm>
              <a:off x="1874523" y="5409621"/>
              <a:ext cx="0" cy="15112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821831" y="4958168"/>
            <a:ext cx="397866" cy="551239"/>
            <a:chOff x="1675590" y="5009511"/>
            <a:chExt cx="397866" cy="551239"/>
          </a:xfrm>
        </p:grpSpPr>
        <p:sp>
          <p:nvSpPr>
            <p:cNvPr id="78" name="文字方塊 77"/>
            <p:cNvSpPr txBox="1"/>
            <p:nvPr/>
          </p:nvSpPr>
          <p:spPr>
            <a:xfrm>
              <a:off x="1675590" y="5009511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79" name="直線單箭頭接點 78"/>
            <p:cNvCxnSpPr>
              <a:stCxn id="78" idx="2"/>
            </p:cNvCxnSpPr>
            <p:nvPr/>
          </p:nvCxnSpPr>
          <p:spPr>
            <a:xfrm>
              <a:off x="1874523" y="5409621"/>
              <a:ext cx="0" cy="15112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070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2.96296E-6 L 0.14913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2.96296E-6 L 0.14913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13 -2.96296E-6 L 0.29636 -2.96296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13 -2.96296E-6 L 0.29636 -2.96296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35 -2.96296E-6 L 0.44184 -2.96296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4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36 -2.96296E-6 L 0.40608 -2.96296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184 -2.96296E-6 L 0.5927 -2.96296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0"/>
                            </p:stCondLst>
                            <p:childTnLst>
                              <p:par>
                                <p:cTn id="2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71 -2.96296E-6 L 0.70243 -2.96296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多項式的</a:t>
            </a:r>
            <a:r>
              <a:rPr lang="zh-TW" altLang="en-US" dirty="0" smtClean="0"/>
              <a:t>加法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1924911" y="233199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2386723" y="233199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841033" y="232912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011171" y="233157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457455" y="23319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279243" y="233199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3741055" y="233199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195365" y="232912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365503" y="233157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20413" y="23319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4630031" y="233199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8" name="直線接點 17"/>
          <p:cNvCxnSpPr/>
          <p:nvPr/>
        </p:nvCxnSpPr>
        <p:spPr>
          <a:xfrm>
            <a:off x="5091843" y="233199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5546153" y="232912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716291" y="233157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162575" y="23319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/>
          <p:cNvCxnSpPr>
            <a:stCxn id="7" idx="3"/>
            <a:endCxn id="12" idx="1"/>
          </p:cNvCxnSpPr>
          <p:nvPr/>
        </p:nvCxnSpPr>
        <p:spPr>
          <a:xfrm>
            <a:off x="2986550" y="2530403"/>
            <a:ext cx="2926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2" idx="3"/>
            <a:endCxn id="17" idx="1"/>
          </p:cNvCxnSpPr>
          <p:nvPr/>
        </p:nvCxnSpPr>
        <p:spPr>
          <a:xfrm>
            <a:off x="4340882" y="2530403"/>
            <a:ext cx="289149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/>
          <p:cNvSpPr/>
          <p:nvPr/>
        </p:nvSpPr>
        <p:spPr>
          <a:xfrm>
            <a:off x="567689" y="233199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5" name="直線接點 24"/>
          <p:cNvCxnSpPr/>
          <p:nvPr/>
        </p:nvCxnSpPr>
        <p:spPr>
          <a:xfrm>
            <a:off x="1029501" y="233199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1483811" y="232912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4" idx="3"/>
            <a:endCxn id="7" idx="1"/>
          </p:cNvCxnSpPr>
          <p:nvPr/>
        </p:nvCxnSpPr>
        <p:spPr>
          <a:xfrm>
            <a:off x="1629328" y="2530403"/>
            <a:ext cx="29558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>
            <a:off x="7075110" y="2537597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7323918" y="2740321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7377001" y="2815049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圓角矩形 30"/>
          <p:cNvSpPr/>
          <p:nvPr/>
        </p:nvSpPr>
        <p:spPr>
          <a:xfrm>
            <a:off x="560654" y="351954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1022466" y="351954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1476776" y="351667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圓角矩形 33"/>
          <p:cNvSpPr/>
          <p:nvPr/>
        </p:nvSpPr>
        <p:spPr>
          <a:xfrm>
            <a:off x="1914986" y="351954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5" name="直線接點 34"/>
          <p:cNvCxnSpPr/>
          <p:nvPr/>
        </p:nvCxnSpPr>
        <p:spPr>
          <a:xfrm>
            <a:off x="2376798" y="351954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2831108" y="351667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001246" y="35191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438904" y="35195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圓角矩形 38"/>
          <p:cNvSpPr/>
          <p:nvPr/>
        </p:nvSpPr>
        <p:spPr>
          <a:xfrm>
            <a:off x="3300278" y="3519545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接點 39"/>
          <p:cNvCxnSpPr/>
          <p:nvPr/>
        </p:nvCxnSpPr>
        <p:spPr>
          <a:xfrm>
            <a:off x="3762090" y="3519545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4216400" y="351667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3386538" y="35191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832822" y="35195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線單箭頭接點 43"/>
          <p:cNvCxnSpPr>
            <a:stCxn id="31" idx="3"/>
            <a:endCxn id="34" idx="1"/>
          </p:cNvCxnSpPr>
          <p:nvPr/>
        </p:nvCxnSpPr>
        <p:spPr>
          <a:xfrm>
            <a:off x="1622293" y="3717953"/>
            <a:ext cx="2926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34" idx="3"/>
            <a:endCxn id="39" idx="1"/>
          </p:cNvCxnSpPr>
          <p:nvPr/>
        </p:nvCxnSpPr>
        <p:spPr>
          <a:xfrm>
            <a:off x="2976625" y="3717953"/>
            <a:ext cx="32365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/>
          <p:nvPr/>
        </p:nvCxnSpPr>
        <p:spPr>
          <a:xfrm>
            <a:off x="4353291" y="3720830"/>
            <a:ext cx="391144" cy="198407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4602099" y="3923554"/>
            <a:ext cx="2846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4655182" y="3998282"/>
            <a:ext cx="18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圓角矩形 48"/>
          <p:cNvSpPr/>
          <p:nvPr/>
        </p:nvSpPr>
        <p:spPr>
          <a:xfrm>
            <a:off x="6013471" y="2329127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475283" y="232912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929593" y="232625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6099731" y="23287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546015" y="23291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線單箭頭接點 53"/>
          <p:cNvCxnSpPr>
            <a:stCxn id="17" idx="3"/>
            <a:endCxn id="49" idx="1"/>
          </p:cNvCxnSpPr>
          <p:nvPr/>
        </p:nvCxnSpPr>
        <p:spPr>
          <a:xfrm flipV="1">
            <a:off x="5691670" y="2527535"/>
            <a:ext cx="321801" cy="286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190039" y="2321523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97075" y="351789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1937320" y="4652469"/>
            <a:ext cx="1061639" cy="402978"/>
            <a:chOff x="1937320" y="4652469"/>
            <a:chExt cx="1061639" cy="402978"/>
          </a:xfrm>
        </p:grpSpPr>
        <p:sp>
          <p:nvSpPr>
            <p:cNvPr id="94" name="圓角矩形 93"/>
            <p:cNvSpPr/>
            <p:nvPr/>
          </p:nvSpPr>
          <p:spPr>
            <a:xfrm>
              <a:off x="1937320" y="465533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2399132" y="465533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2853442" y="465246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字方塊 96"/>
            <p:cNvSpPr txBox="1"/>
            <p:nvPr/>
          </p:nvSpPr>
          <p:spPr>
            <a:xfrm>
              <a:off x="2023580" y="465491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2469864" y="46553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群組 66"/>
          <p:cNvGrpSpPr/>
          <p:nvPr/>
        </p:nvGrpSpPr>
        <p:grpSpPr>
          <a:xfrm>
            <a:off x="3291652" y="4652469"/>
            <a:ext cx="1061639" cy="402978"/>
            <a:chOff x="3291652" y="4652469"/>
            <a:chExt cx="1061639" cy="402978"/>
          </a:xfrm>
        </p:grpSpPr>
        <p:sp>
          <p:nvSpPr>
            <p:cNvPr id="99" name="圓角矩形 98"/>
            <p:cNvSpPr/>
            <p:nvPr/>
          </p:nvSpPr>
          <p:spPr>
            <a:xfrm>
              <a:off x="3291652" y="465533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0" name="直線接點 99"/>
            <p:cNvCxnSpPr/>
            <p:nvPr/>
          </p:nvCxnSpPr>
          <p:spPr>
            <a:xfrm>
              <a:off x="3753464" y="465533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/>
            <p:cNvCxnSpPr/>
            <p:nvPr/>
          </p:nvCxnSpPr>
          <p:spPr>
            <a:xfrm>
              <a:off x="4207774" y="465246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3377912" y="465491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3832822" y="46553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642440" y="4652469"/>
            <a:ext cx="1061639" cy="402978"/>
            <a:chOff x="4642440" y="4652469"/>
            <a:chExt cx="1061639" cy="402978"/>
          </a:xfrm>
        </p:grpSpPr>
        <p:sp>
          <p:nvSpPr>
            <p:cNvPr id="104" name="圓角矩形 103"/>
            <p:cNvSpPr/>
            <p:nvPr/>
          </p:nvSpPr>
          <p:spPr>
            <a:xfrm>
              <a:off x="4642440" y="4655337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5" name="直線接點 104"/>
            <p:cNvCxnSpPr/>
            <p:nvPr/>
          </p:nvCxnSpPr>
          <p:spPr>
            <a:xfrm>
              <a:off x="5104252" y="465533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/>
            <p:cNvCxnSpPr/>
            <p:nvPr/>
          </p:nvCxnSpPr>
          <p:spPr>
            <a:xfrm>
              <a:off x="5558562" y="465246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字方塊 106"/>
            <p:cNvSpPr txBox="1"/>
            <p:nvPr/>
          </p:nvSpPr>
          <p:spPr>
            <a:xfrm>
              <a:off x="4728700" y="465491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5174984" y="46553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9" name="直線單箭頭接點 108"/>
          <p:cNvCxnSpPr>
            <a:stCxn id="94" idx="3"/>
            <a:endCxn id="99" idx="1"/>
          </p:cNvCxnSpPr>
          <p:nvPr/>
        </p:nvCxnSpPr>
        <p:spPr>
          <a:xfrm>
            <a:off x="2998959" y="4853745"/>
            <a:ext cx="2926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99" idx="3"/>
            <a:endCxn id="104" idx="1"/>
          </p:cNvCxnSpPr>
          <p:nvPr/>
        </p:nvCxnSpPr>
        <p:spPr>
          <a:xfrm>
            <a:off x="4353291" y="4853745"/>
            <a:ext cx="289149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圓角矩形 110"/>
          <p:cNvSpPr/>
          <p:nvPr/>
        </p:nvSpPr>
        <p:spPr>
          <a:xfrm>
            <a:off x="580098" y="4655337"/>
            <a:ext cx="1061639" cy="3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2" name="直線接點 111"/>
          <p:cNvCxnSpPr/>
          <p:nvPr/>
        </p:nvCxnSpPr>
        <p:spPr>
          <a:xfrm>
            <a:off x="1041910" y="4655337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>
            <a:off x="1496220" y="4652469"/>
            <a:ext cx="0" cy="396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111" idx="3"/>
            <a:endCxn id="94" idx="1"/>
          </p:cNvCxnSpPr>
          <p:nvPr/>
        </p:nvCxnSpPr>
        <p:spPr>
          <a:xfrm>
            <a:off x="1641737" y="4853745"/>
            <a:ext cx="29558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群組 70"/>
          <p:cNvGrpSpPr/>
          <p:nvPr/>
        </p:nvGrpSpPr>
        <p:grpSpPr>
          <a:xfrm>
            <a:off x="8528295" y="4850458"/>
            <a:ext cx="533480" cy="277452"/>
            <a:chOff x="8528295" y="4850458"/>
            <a:chExt cx="533480" cy="277452"/>
          </a:xfrm>
        </p:grpSpPr>
        <p:cxnSp>
          <p:nvCxnSpPr>
            <p:cNvPr id="115" name="肘形接點 114"/>
            <p:cNvCxnSpPr/>
            <p:nvPr/>
          </p:nvCxnSpPr>
          <p:spPr>
            <a:xfrm>
              <a:off x="8528295" y="4850458"/>
              <a:ext cx="391144" cy="198407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接點 115"/>
            <p:cNvCxnSpPr/>
            <p:nvPr/>
          </p:nvCxnSpPr>
          <p:spPr>
            <a:xfrm>
              <a:off x="8777103" y="505318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接點 116"/>
            <p:cNvCxnSpPr/>
            <p:nvPr/>
          </p:nvCxnSpPr>
          <p:spPr>
            <a:xfrm>
              <a:off x="8830186" y="512791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032916" y="4652051"/>
            <a:ext cx="1061639" cy="402978"/>
            <a:chOff x="6032916" y="4652051"/>
            <a:chExt cx="1061639" cy="402978"/>
          </a:xfrm>
        </p:grpSpPr>
        <p:sp>
          <p:nvSpPr>
            <p:cNvPr id="118" name="圓角矩形 117"/>
            <p:cNvSpPr/>
            <p:nvPr/>
          </p:nvSpPr>
          <p:spPr>
            <a:xfrm>
              <a:off x="6032916" y="4654919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9" name="直線接點 118"/>
            <p:cNvCxnSpPr/>
            <p:nvPr/>
          </p:nvCxnSpPr>
          <p:spPr>
            <a:xfrm>
              <a:off x="6494728" y="4654919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/>
            <p:cNvCxnSpPr/>
            <p:nvPr/>
          </p:nvCxnSpPr>
          <p:spPr>
            <a:xfrm>
              <a:off x="6949038" y="4652051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字方塊 120"/>
            <p:cNvSpPr txBox="1"/>
            <p:nvPr/>
          </p:nvSpPr>
          <p:spPr>
            <a:xfrm>
              <a:off x="6119176" y="465450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6565460" y="465491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3" name="直線單箭頭接點 122"/>
          <p:cNvCxnSpPr>
            <a:stCxn id="104" idx="3"/>
            <a:endCxn id="118" idx="1"/>
          </p:cNvCxnSpPr>
          <p:nvPr/>
        </p:nvCxnSpPr>
        <p:spPr>
          <a:xfrm flipV="1">
            <a:off x="5704079" y="4853327"/>
            <a:ext cx="328837" cy="41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7466656" y="4652887"/>
            <a:ext cx="1061639" cy="402978"/>
            <a:chOff x="7466656" y="4652887"/>
            <a:chExt cx="1061639" cy="402978"/>
          </a:xfrm>
        </p:grpSpPr>
        <p:sp>
          <p:nvSpPr>
            <p:cNvPr id="124" name="圓角矩形 123"/>
            <p:cNvSpPr/>
            <p:nvPr/>
          </p:nvSpPr>
          <p:spPr>
            <a:xfrm>
              <a:off x="7466656" y="4655755"/>
              <a:ext cx="1061639" cy="3968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5" name="直線接點 124"/>
            <p:cNvCxnSpPr/>
            <p:nvPr/>
          </p:nvCxnSpPr>
          <p:spPr>
            <a:xfrm>
              <a:off x="7928468" y="4655755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/>
            <p:nvPr/>
          </p:nvCxnSpPr>
          <p:spPr>
            <a:xfrm>
              <a:off x="8382778" y="4652887"/>
              <a:ext cx="0" cy="39681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字方塊 126"/>
            <p:cNvSpPr txBox="1"/>
            <p:nvPr/>
          </p:nvSpPr>
          <p:spPr>
            <a:xfrm>
              <a:off x="7552916" y="46553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7999200" y="46557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9" name="直線單箭頭接點 128"/>
          <p:cNvCxnSpPr>
            <a:stCxn id="118" idx="3"/>
            <a:endCxn id="124" idx="1"/>
          </p:cNvCxnSpPr>
          <p:nvPr/>
        </p:nvCxnSpPr>
        <p:spPr>
          <a:xfrm>
            <a:off x="7094555" y="4853327"/>
            <a:ext cx="372101" cy="83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字方塊 129"/>
          <p:cNvSpPr txBox="1"/>
          <p:nvPr/>
        </p:nvSpPr>
        <p:spPr>
          <a:xfrm>
            <a:off x="199639" y="465575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群組 130"/>
          <p:cNvGrpSpPr/>
          <p:nvPr/>
        </p:nvGrpSpPr>
        <p:grpSpPr>
          <a:xfrm>
            <a:off x="821831" y="1770284"/>
            <a:ext cx="397866" cy="551239"/>
            <a:chOff x="1675590" y="5009511"/>
            <a:chExt cx="397866" cy="551239"/>
          </a:xfrm>
        </p:grpSpPr>
        <p:sp>
          <p:nvSpPr>
            <p:cNvPr id="132" name="文字方塊 131"/>
            <p:cNvSpPr txBox="1"/>
            <p:nvPr/>
          </p:nvSpPr>
          <p:spPr>
            <a:xfrm>
              <a:off x="1675590" y="5009511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線單箭頭接點 132"/>
            <p:cNvCxnSpPr>
              <a:stCxn id="132" idx="2"/>
            </p:cNvCxnSpPr>
            <p:nvPr/>
          </p:nvCxnSpPr>
          <p:spPr>
            <a:xfrm>
              <a:off x="1874523" y="5409621"/>
              <a:ext cx="0" cy="15112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群組 133"/>
          <p:cNvGrpSpPr/>
          <p:nvPr/>
        </p:nvGrpSpPr>
        <p:grpSpPr>
          <a:xfrm>
            <a:off x="830568" y="2965438"/>
            <a:ext cx="397866" cy="551239"/>
            <a:chOff x="1675590" y="5009511"/>
            <a:chExt cx="397866" cy="551239"/>
          </a:xfrm>
        </p:grpSpPr>
        <p:sp>
          <p:nvSpPr>
            <p:cNvPr id="135" name="文字方塊 134"/>
            <p:cNvSpPr txBox="1"/>
            <p:nvPr/>
          </p:nvSpPr>
          <p:spPr>
            <a:xfrm>
              <a:off x="1675590" y="5009511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6" name="直線單箭頭接點 135"/>
            <p:cNvCxnSpPr>
              <a:stCxn id="135" idx="2"/>
            </p:cNvCxnSpPr>
            <p:nvPr/>
          </p:nvCxnSpPr>
          <p:spPr>
            <a:xfrm>
              <a:off x="1874523" y="5409621"/>
              <a:ext cx="0" cy="151129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344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2.96296E-6 L 0.14913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2.96296E-6 L 0.14913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13 -2.96296E-6 L 0.29636 -2.96296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13 -2.96296E-6 L 0.29636 -2.96296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35 -2.96296E-6 L 0.44184 -2.96296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36 -2.96296E-6 L 0.40608 -2.96296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184 -2.96296E-6 L 0.5927 -2.96296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71 -2.96296E-6 L 0.70243 -2.96296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稀疏矩陣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矩陣的非零項元素很少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196087" y="1827388"/>
                <a:ext cx="2499082" cy="1597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087" y="1827388"/>
                <a:ext cx="2499082" cy="1597297"/>
              </a:xfrm>
              <a:prstGeom prst="rect">
                <a:avLst/>
              </a:prstGeom>
              <a:blipFill rotWithShape="1">
                <a:blip r:embed="rId2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2550549" y="3700253"/>
          <a:ext cx="4212565" cy="237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42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7017202" y="4622527"/>
                <a:ext cx="1402179" cy="53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altLang="zh-TW" sz="2000" b="1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altLang="zh-TW" sz="2000" b="1" i="1" dirty="0" smtClean="0"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TW" sz="2000" b="1" i="1" dirty="0" smtClean="0"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30%</a:t>
                </a:r>
                <a:endParaRPr lang="zh-TW" alt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202" y="4622527"/>
                <a:ext cx="1402179" cy="537006"/>
              </a:xfrm>
              <a:prstGeom prst="rect">
                <a:avLst/>
              </a:prstGeom>
              <a:blipFill rotWithShape="1"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63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稀疏</a:t>
            </a:r>
            <a:r>
              <a:rPr lang="zh-TW" altLang="en-US" dirty="0" smtClean="0"/>
              <a:t>矩陣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每個節點包含：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3</a:t>
            </a:r>
            <a:r>
              <a:rPr lang="zh-TW" altLang="en-US" dirty="0" smtClean="0"/>
              <a:t>個資料欄位：</a:t>
            </a:r>
            <a:r>
              <a:rPr lang="en-US" altLang="zh-TW" dirty="0" smtClean="0"/>
              <a:t>row, column, data</a:t>
            </a:r>
          </a:p>
          <a:p>
            <a:pPr lvl="1"/>
            <a:r>
              <a:rPr lang="en-US" altLang="zh-TW" dirty="0" smtClean="0"/>
              <a:t>2</a:t>
            </a:r>
            <a:r>
              <a:rPr lang="zh-TW" altLang="en-US" dirty="0" smtClean="0"/>
              <a:t>個鏈結欄位：</a:t>
            </a:r>
            <a:r>
              <a:rPr lang="en-US" altLang="zh-TW" dirty="0" smtClean="0"/>
              <a:t>right, down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5205434" y="1613140"/>
            <a:ext cx="3347049" cy="1199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接點 8"/>
          <p:cNvCxnSpPr>
            <a:stCxn id="7" idx="1"/>
            <a:endCxn id="7" idx="3"/>
          </p:cNvCxnSpPr>
          <p:nvPr/>
        </p:nvCxnSpPr>
        <p:spPr>
          <a:xfrm>
            <a:off x="5205434" y="2212676"/>
            <a:ext cx="334704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352773" y="1613140"/>
            <a:ext cx="0" cy="612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428155" y="1610272"/>
            <a:ext cx="0" cy="612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878959" y="2208334"/>
            <a:ext cx="0" cy="612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533237" y="1716217"/>
            <a:ext cx="608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381066" y="1719085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686965" y="1719085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698464" y="2314279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55174" y="2314279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611037" y="3326942"/>
          <a:ext cx="4212565" cy="237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42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6289440" y="3233226"/>
            <a:ext cx="1337096" cy="646965"/>
            <a:chOff x="6289440" y="3233226"/>
            <a:chExt cx="1337096" cy="646965"/>
          </a:xfrm>
        </p:grpSpPr>
        <p:grpSp>
          <p:nvGrpSpPr>
            <p:cNvPr id="22" name="群組 21"/>
            <p:cNvGrpSpPr/>
            <p:nvPr/>
          </p:nvGrpSpPr>
          <p:grpSpPr>
            <a:xfrm>
              <a:off x="6289440" y="3280655"/>
              <a:ext cx="1337096" cy="599536"/>
              <a:chOff x="129399" y="2078966"/>
              <a:chExt cx="1337096" cy="59953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24" name="直線接點 23"/>
              <p:cNvCxnSpPr>
                <a:stCxn id="23" idx="1"/>
                <a:endCxn id="23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字方塊 27"/>
            <p:cNvSpPr txBox="1"/>
            <p:nvPr/>
          </p:nvSpPr>
          <p:spPr>
            <a:xfrm>
              <a:off x="6358963" y="32332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807515" y="32332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7264693" y="32332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275058" y="4213762"/>
            <a:ext cx="1337096" cy="646965"/>
            <a:chOff x="6275058" y="4213762"/>
            <a:chExt cx="1337096" cy="646965"/>
          </a:xfrm>
        </p:grpSpPr>
        <p:grpSp>
          <p:nvGrpSpPr>
            <p:cNvPr id="31" name="群組 30"/>
            <p:cNvGrpSpPr/>
            <p:nvPr/>
          </p:nvGrpSpPr>
          <p:grpSpPr>
            <a:xfrm>
              <a:off x="6275058" y="4261191"/>
              <a:ext cx="1337096" cy="599536"/>
              <a:chOff x="129399" y="2078966"/>
              <a:chExt cx="1337096" cy="599536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33" name="直線接點 32"/>
              <p:cNvCxnSpPr>
                <a:stCxn id="32" idx="1"/>
                <a:endCxn id="32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文字方塊 36"/>
            <p:cNvSpPr txBox="1"/>
            <p:nvPr/>
          </p:nvSpPr>
          <p:spPr>
            <a:xfrm>
              <a:off x="6344581" y="421376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793133" y="421376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7250311" y="421376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6289440" y="5197173"/>
            <a:ext cx="1337096" cy="646965"/>
            <a:chOff x="6289440" y="5197173"/>
            <a:chExt cx="1337096" cy="646965"/>
          </a:xfrm>
        </p:grpSpPr>
        <p:grpSp>
          <p:nvGrpSpPr>
            <p:cNvPr id="40" name="群組 39"/>
            <p:cNvGrpSpPr/>
            <p:nvPr/>
          </p:nvGrpSpPr>
          <p:grpSpPr>
            <a:xfrm>
              <a:off x="6289440" y="5244602"/>
              <a:ext cx="1337096" cy="599536"/>
              <a:chOff x="129399" y="2078966"/>
              <a:chExt cx="1337096" cy="59953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42" name="直線接點 41"/>
              <p:cNvCxnSpPr>
                <a:stCxn id="41" idx="1"/>
                <a:endCxn id="41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6358963" y="51971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6807515" y="51971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264693" y="51971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橢圓 7"/>
          <p:cNvSpPr/>
          <p:nvPr/>
        </p:nvSpPr>
        <p:spPr>
          <a:xfrm>
            <a:off x="1457864" y="3334489"/>
            <a:ext cx="836762" cy="39207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3128513" y="4519689"/>
            <a:ext cx="836762" cy="39207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/>
          <p:cNvSpPr/>
          <p:nvPr/>
        </p:nvSpPr>
        <p:spPr>
          <a:xfrm>
            <a:off x="3965275" y="5307062"/>
            <a:ext cx="836762" cy="39207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4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49" grpId="0" animBg="1"/>
      <p:bldP spid="49" grpId="1" animBg="1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稀疏</a:t>
            </a:r>
            <a:r>
              <a:rPr lang="zh-TW" altLang="en-US" dirty="0" smtClean="0"/>
              <a:t>矩陣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36" name="群組 35"/>
          <p:cNvGrpSpPr/>
          <p:nvPr/>
        </p:nvGrpSpPr>
        <p:grpSpPr>
          <a:xfrm>
            <a:off x="129399" y="2078966"/>
            <a:ext cx="1337096" cy="599536"/>
            <a:chOff x="129399" y="2078966"/>
            <a:chExt cx="1337096" cy="599536"/>
          </a:xfrm>
        </p:grpSpPr>
        <p:sp>
          <p:nvSpPr>
            <p:cNvPr id="7" name="矩形 6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1" name="直線接點 30"/>
            <p:cNvCxnSpPr>
              <a:stCxn id="7" idx="1"/>
              <a:endCxn id="7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129399" y="2824892"/>
            <a:ext cx="1337096" cy="599536"/>
            <a:chOff x="129399" y="2078966"/>
            <a:chExt cx="1337096" cy="599536"/>
          </a:xfrm>
        </p:grpSpPr>
        <p:sp>
          <p:nvSpPr>
            <p:cNvPr id="38" name="矩形 37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9" name="直線接點 38"/>
            <p:cNvCxnSpPr>
              <a:stCxn id="38" idx="1"/>
              <a:endCxn id="38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129399" y="3572937"/>
            <a:ext cx="1337096" cy="599536"/>
            <a:chOff x="129399" y="2078966"/>
            <a:chExt cx="1337096" cy="599536"/>
          </a:xfrm>
        </p:grpSpPr>
        <p:sp>
          <p:nvSpPr>
            <p:cNvPr id="44" name="矩形 43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5" name="直線接點 44"/>
            <p:cNvCxnSpPr>
              <a:stCxn id="44" idx="1"/>
              <a:endCxn id="44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/>
          <p:cNvGrpSpPr/>
          <p:nvPr/>
        </p:nvGrpSpPr>
        <p:grpSpPr>
          <a:xfrm>
            <a:off x="129399" y="4318863"/>
            <a:ext cx="1337096" cy="599536"/>
            <a:chOff x="129399" y="2078966"/>
            <a:chExt cx="1337096" cy="599536"/>
          </a:xfrm>
        </p:grpSpPr>
        <p:sp>
          <p:nvSpPr>
            <p:cNvPr id="50" name="矩形 49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51" name="直線接點 50"/>
            <p:cNvCxnSpPr>
              <a:stCxn id="50" idx="1"/>
              <a:endCxn id="50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群組 54"/>
          <p:cNvGrpSpPr/>
          <p:nvPr/>
        </p:nvGrpSpPr>
        <p:grpSpPr>
          <a:xfrm>
            <a:off x="129399" y="5060833"/>
            <a:ext cx="1337096" cy="599536"/>
            <a:chOff x="129399" y="2078966"/>
            <a:chExt cx="1337096" cy="599536"/>
          </a:xfrm>
        </p:grpSpPr>
        <p:sp>
          <p:nvSpPr>
            <p:cNvPr id="56" name="矩形 55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57" name="直線接點 56"/>
            <p:cNvCxnSpPr>
              <a:stCxn id="56" idx="1"/>
              <a:endCxn id="56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60"/>
          <p:cNvGrpSpPr/>
          <p:nvPr/>
        </p:nvGrpSpPr>
        <p:grpSpPr>
          <a:xfrm>
            <a:off x="129399" y="5806759"/>
            <a:ext cx="1337096" cy="599536"/>
            <a:chOff x="129399" y="2078966"/>
            <a:chExt cx="1337096" cy="599536"/>
          </a:xfrm>
        </p:grpSpPr>
        <p:sp>
          <p:nvSpPr>
            <p:cNvPr id="62" name="矩形 61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63" name="直線接點 62"/>
            <p:cNvCxnSpPr>
              <a:stCxn id="62" idx="1"/>
              <a:endCxn id="62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群組 66"/>
          <p:cNvGrpSpPr/>
          <p:nvPr/>
        </p:nvGrpSpPr>
        <p:grpSpPr>
          <a:xfrm>
            <a:off x="1696531" y="1279326"/>
            <a:ext cx="1337096" cy="599536"/>
            <a:chOff x="129399" y="2078966"/>
            <a:chExt cx="1337096" cy="599536"/>
          </a:xfrm>
        </p:grpSpPr>
        <p:sp>
          <p:nvSpPr>
            <p:cNvPr id="68" name="矩形 67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69" name="直線接點 68"/>
            <p:cNvCxnSpPr>
              <a:stCxn id="68" idx="1"/>
              <a:endCxn id="68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/>
          <p:cNvGrpSpPr/>
          <p:nvPr/>
        </p:nvGrpSpPr>
        <p:grpSpPr>
          <a:xfrm>
            <a:off x="3186027" y="1276184"/>
            <a:ext cx="1337096" cy="599536"/>
            <a:chOff x="129399" y="2078966"/>
            <a:chExt cx="1337096" cy="599536"/>
          </a:xfrm>
        </p:grpSpPr>
        <p:sp>
          <p:nvSpPr>
            <p:cNvPr id="74" name="矩形 73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75" name="直線接點 74"/>
            <p:cNvCxnSpPr>
              <a:stCxn id="74" idx="1"/>
              <a:endCxn id="74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接點 77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群組 78"/>
          <p:cNvGrpSpPr/>
          <p:nvPr/>
        </p:nvGrpSpPr>
        <p:grpSpPr>
          <a:xfrm>
            <a:off x="4665465" y="1276184"/>
            <a:ext cx="1337096" cy="599536"/>
            <a:chOff x="129399" y="2078966"/>
            <a:chExt cx="1337096" cy="599536"/>
          </a:xfrm>
        </p:grpSpPr>
        <p:sp>
          <p:nvSpPr>
            <p:cNvPr id="80" name="矩形 79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81" name="直線接點 80"/>
            <p:cNvCxnSpPr>
              <a:stCxn id="80" idx="1"/>
              <a:endCxn id="80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6154961" y="1273042"/>
            <a:ext cx="1337096" cy="599536"/>
            <a:chOff x="129399" y="2078966"/>
            <a:chExt cx="1337096" cy="599536"/>
          </a:xfrm>
        </p:grpSpPr>
        <p:sp>
          <p:nvSpPr>
            <p:cNvPr id="86" name="矩形 85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87" name="直線接點 86"/>
            <p:cNvCxnSpPr>
              <a:stCxn id="86" idx="1"/>
              <a:endCxn id="86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群組 90"/>
          <p:cNvGrpSpPr/>
          <p:nvPr/>
        </p:nvGrpSpPr>
        <p:grpSpPr>
          <a:xfrm>
            <a:off x="7644457" y="1278800"/>
            <a:ext cx="1337096" cy="599536"/>
            <a:chOff x="129399" y="2078966"/>
            <a:chExt cx="1337096" cy="599536"/>
          </a:xfrm>
        </p:grpSpPr>
        <p:sp>
          <p:nvSpPr>
            <p:cNvPr id="92" name="矩形 91"/>
            <p:cNvSpPr/>
            <p:nvPr/>
          </p:nvSpPr>
          <p:spPr>
            <a:xfrm>
              <a:off x="129399" y="2078966"/>
              <a:ext cx="1337096" cy="5995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3" name="直線接點 92"/>
            <p:cNvCxnSpPr>
              <a:stCxn id="92" idx="1"/>
              <a:endCxn id="92" idx="3"/>
            </p:cNvCxnSpPr>
            <p:nvPr/>
          </p:nvCxnSpPr>
          <p:spPr>
            <a:xfrm>
              <a:off x="129399" y="2378734"/>
              <a:ext cx="1337096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/>
            <p:cNvCxnSpPr/>
            <p:nvPr/>
          </p:nvCxnSpPr>
          <p:spPr>
            <a:xfrm>
              <a:off x="573671" y="208759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/>
            <p:nvPr/>
          </p:nvCxnSpPr>
          <p:spPr>
            <a:xfrm>
              <a:off x="1045233" y="2084724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797947" y="2389502"/>
              <a:ext cx="0" cy="288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群組 150"/>
          <p:cNvGrpSpPr/>
          <p:nvPr/>
        </p:nvGrpSpPr>
        <p:grpSpPr>
          <a:xfrm>
            <a:off x="3186000" y="2010877"/>
            <a:ext cx="1337096" cy="646965"/>
            <a:chOff x="2532605" y="2939216"/>
            <a:chExt cx="1337096" cy="646965"/>
          </a:xfrm>
        </p:grpSpPr>
        <p:grpSp>
          <p:nvGrpSpPr>
            <p:cNvPr id="97" name="群組 96"/>
            <p:cNvGrpSpPr/>
            <p:nvPr/>
          </p:nvGrpSpPr>
          <p:grpSpPr>
            <a:xfrm>
              <a:off x="2532605" y="2986645"/>
              <a:ext cx="1337096" cy="599536"/>
              <a:chOff x="129399" y="2078966"/>
              <a:chExt cx="1337096" cy="599536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99" name="直線接點 98"/>
              <p:cNvCxnSpPr>
                <a:stCxn id="98" idx="1"/>
                <a:endCxn id="98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接點 99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文字方塊 102"/>
            <p:cNvSpPr txBox="1"/>
            <p:nvPr/>
          </p:nvSpPr>
          <p:spPr>
            <a:xfrm>
              <a:off x="260212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3050680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350785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2" name="群組 151"/>
          <p:cNvGrpSpPr/>
          <p:nvPr/>
        </p:nvGrpSpPr>
        <p:grpSpPr>
          <a:xfrm>
            <a:off x="6156000" y="4324621"/>
            <a:ext cx="1337096" cy="646965"/>
            <a:chOff x="2518223" y="3919752"/>
            <a:chExt cx="1337096" cy="646965"/>
          </a:xfrm>
        </p:grpSpPr>
        <p:grpSp>
          <p:nvGrpSpPr>
            <p:cNvPr id="106" name="群組 105"/>
            <p:cNvGrpSpPr/>
            <p:nvPr/>
          </p:nvGrpSpPr>
          <p:grpSpPr>
            <a:xfrm>
              <a:off x="2518223" y="3967181"/>
              <a:ext cx="1337096" cy="599536"/>
              <a:chOff x="129399" y="2078966"/>
              <a:chExt cx="1337096" cy="599536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08" name="直線接點 107"/>
              <p:cNvCxnSpPr>
                <a:stCxn id="107" idx="1"/>
                <a:endCxn id="107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108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接點 110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" name="文字方塊 111"/>
            <p:cNvSpPr txBox="1"/>
            <p:nvPr/>
          </p:nvSpPr>
          <p:spPr>
            <a:xfrm>
              <a:off x="258774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3036298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349347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3" name="群組 152"/>
          <p:cNvGrpSpPr/>
          <p:nvPr/>
        </p:nvGrpSpPr>
        <p:grpSpPr>
          <a:xfrm>
            <a:off x="7646400" y="5775582"/>
            <a:ext cx="1337096" cy="646965"/>
            <a:chOff x="2532605" y="4903163"/>
            <a:chExt cx="1337096" cy="646965"/>
          </a:xfrm>
        </p:grpSpPr>
        <p:grpSp>
          <p:nvGrpSpPr>
            <p:cNvPr id="115" name="群組 114"/>
            <p:cNvGrpSpPr/>
            <p:nvPr/>
          </p:nvGrpSpPr>
          <p:grpSpPr>
            <a:xfrm>
              <a:off x="2532605" y="4950592"/>
              <a:ext cx="1337096" cy="599536"/>
              <a:chOff x="129399" y="2078966"/>
              <a:chExt cx="1337096" cy="599536"/>
            </a:xfrm>
          </p:grpSpPr>
          <p:sp>
            <p:nvSpPr>
              <p:cNvPr id="116" name="矩形 115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17" name="直線接點 116"/>
              <p:cNvCxnSpPr>
                <a:stCxn id="116" idx="1"/>
                <a:endCxn id="116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7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文字方塊 120"/>
            <p:cNvSpPr txBox="1"/>
            <p:nvPr/>
          </p:nvSpPr>
          <p:spPr>
            <a:xfrm>
              <a:off x="260212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3050680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350785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4" name="群組 153"/>
          <p:cNvGrpSpPr/>
          <p:nvPr/>
        </p:nvGrpSpPr>
        <p:grpSpPr>
          <a:xfrm>
            <a:off x="4665600" y="2778894"/>
            <a:ext cx="1337096" cy="646965"/>
            <a:chOff x="2532605" y="2939216"/>
            <a:chExt cx="1337096" cy="646965"/>
          </a:xfrm>
        </p:grpSpPr>
        <p:grpSp>
          <p:nvGrpSpPr>
            <p:cNvPr id="155" name="群組 154"/>
            <p:cNvGrpSpPr/>
            <p:nvPr/>
          </p:nvGrpSpPr>
          <p:grpSpPr>
            <a:xfrm>
              <a:off x="2532605" y="2986645"/>
              <a:ext cx="1337096" cy="599536"/>
              <a:chOff x="129399" y="2078966"/>
              <a:chExt cx="1337096" cy="599536"/>
            </a:xfrm>
          </p:grpSpPr>
          <p:sp>
            <p:nvSpPr>
              <p:cNvPr id="159" name="矩形 15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60" name="直線接點 159"/>
              <p:cNvCxnSpPr>
                <a:stCxn id="159" idx="1"/>
                <a:endCxn id="15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接點 16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接點 16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" name="文字方塊 155"/>
            <p:cNvSpPr txBox="1"/>
            <p:nvPr/>
          </p:nvSpPr>
          <p:spPr>
            <a:xfrm>
              <a:off x="260212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文字方塊 156"/>
            <p:cNvSpPr txBox="1"/>
            <p:nvPr/>
          </p:nvSpPr>
          <p:spPr>
            <a:xfrm>
              <a:off x="3050680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350785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7646400" y="3552542"/>
            <a:ext cx="1337096" cy="646965"/>
            <a:chOff x="2518223" y="3919752"/>
            <a:chExt cx="1337096" cy="646965"/>
          </a:xfrm>
        </p:grpSpPr>
        <p:grpSp>
          <p:nvGrpSpPr>
            <p:cNvPr id="165" name="群組 164"/>
            <p:cNvGrpSpPr/>
            <p:nvPr/>
          </p:nvGrpSpPr>
          <p:grpSpPr>
            <a:xfrm>
              <a:off x="2518223" y="3967181"/>
              <a:ext cx="1337096" cy="599536"/>
              <a:chOff x="129399" y="2078966"/>
              <a:chExt cx="1337096" cy="599536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70" name="直線接點 169"/>
              <p:cNvCxnSpPr>
                <a:stCxn id="169" idx="1"/>
                <a:endCxn id="16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線接點 17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線接點 17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接點 17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文字方塊 165"/>
            <p:cNvSpPr txBox="1"/>
            <p:nvPr/>
          </p:nvSpPr>
          <p:spPr>
            <a:xfrm>
              <a:off x="258774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文字方塊 166"/>
            <p:cNvSpPr txBox="1"/>
            <p:nvPr/>
          </p:nvSpPr>
          <p:spPr>
            <a:xfrm>
              <a:off x="3036298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文字方塊 167"/>
            <p:cNvSpPr txBox="1"/>
            <p:nvPr/>
          </p:nvSpPr>
          <p:spPr>
            <a:xfrm>
              <a:off x="349347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4" name="群組 173"/>
          <p:cNvGrpSpPr/>
          <p:nvPr/>
        </p:nvGrpSpPr>
        <p:grpSpPr>
          <a:xfrm>
            <a:off x="1695600" y="5013404"/>
            <a:ext cx="1337096" cy="646965"/>
            <a:chOff x="2532605" y="4903163"/>
            <a:chExt cx="1337096" cy="646965"/>
          </a:xfrm>
        </p:grpSpPr>
        <p:grpSp>
          <p:nvGrpSpPr>
            <p:cNvPr id="175" name="群組 174"/>
            <p:cNvGrpSpPr/>
            <p:nvPr/>
          </p:nvGrpSpPr>
          <p:grpSpPr>
            <a:xfrm>
              <a:off x="2532605" y="4950592"/>
              <a:ext cx="1337096" cy="599536"/>
              <a:chOff x="129399" y="2078966"/>
              <a:chExt cx="1337096" cy="599536"/>
            </a:xfrm>
          </p:grpSpPr>
          <p:sp>
            <p:nvSpPr>
              <p:cNvPr id="179" name="矩形 17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80" name="直線接點 179"/>
              <p:cNvCxnSpPr>
                <a:stCxn id="179" idx="1"/>
                <a:endCxn id="17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接點 18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接點 18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接點 18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文字方塊 175"/>
            <p:cNvSpPr txBox="1"/>
            <p:nvPr/>
          </p:nvSpPr>
          <p:spPr>
            <a:xfrm>
              <a:off x="260212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字方塊 176"/>
            <p:cNvSpPr txBox="1"/>
            <p:nvPr/>
          </p:nvSpPr>
          <p:spPr>
            <a:xfrm>
              <a:off x="3050680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文字方塊 177"/>
            <p:cNvSpPr txBox="1"/>
            <p:nvPr/>
          </p:nvSpPr>
          <p:spPr>
            <a:xfrm>
              <a:off x="350785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" name="群組 183"/>
          <p:cNvGrpSpPr/>
          <p:nvPr/>
        </p:nvGrpSpPr>
        <p:grpSpPr>
          <a:xfrm>
            <a:off x="1695600" y="3528828"/>
            <a:ext cx="1337096" cy="646965"/>
            <a:chOff x="2532605" y="2939216"/>
            <a:chExt cx="1337096" cy="646965"/>
          </a:xfrm>
        </p:grpSpPr>
        <p:grpSp>
          <p:nvGrpSpPr>
            <p:cNvPr id="185" name="群組 184"/>
            <p:cNvGrpSpPr/>
            <p:nvPr/>
          </p:nvGrpSpPr>
          <p:grpSpPr>
            <a:xfrm>
              <a:off x="2532605" y="2986645"/>
              <a:ext cx="1337096" cy="599536"/>
              <a:chOff x="129399" y="2078966"/>
              <a:chExt cx="1337096" cy="599536"/>
            </a:xfrm>
          </p:grpSpPr>
          <p:sp>
            <p:nvSpPr>
              <p:cNvPr id="189" name="矩形 18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0" name="直線接點 189"/>
              <p:cNvCxnSpPr>
                <a:stCxn id="189" idx="1"/>
                <a:endCxn id="18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接點 19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線接點 19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文字方塊 185"/>
            <p:cNvSpPr txBox="1"/>
            <p:nvPr/>
          </p:nvSpPr>
          <p:spPr>
            <a:xfrm>
              <a:off x="260212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文字方塊 186"/>
            <p:cNvSpPr txBox="1"/>
            <p:nvPr/>
          </p:nvSpPr>
          <p:spPr>
            <a:xfrm>
              <a:off x="3050680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文字方塊 187"/>
            <p:cNvSpPr txBox="1"/>
            <p:nvPr/>
          </p:nvSpPr>
          <p:spPr>
            <a:xfrm>
              <a:off x="3507858" y="293921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4" name="群組 193"/>
          <p:cNvGrpSpPr/>
          <p:nvPr/>
        </p:nvGrpSpPr>
        <p:grpSpPr>
          <a:xfrm>
            <a:off x="3186000" y="4312253"/>
            <a:ext cx="1337096" cy="646965"/>
            <a:chOff x="2518223" y="3919752"/>
            <a:chExt cx="1337096" cy="646965"/>
          </a:xfrm>
        </p:grpSpPr>
        <p:grpSp>
          <p:nvGrpSpPr>
            <p:cNvPr id="195" name="群組 194"/>
            <p:cNvGrpSpPr/>
            <p:nvPr/>
          </p:nvGrpSpPr>
          <p:grpSpPr>
            <a:xfrm>
              <a:off x="2518223" y="3967181"/>
              <a:ext cx="1337096" cy="599536"/>
              <a:chOff x="129399" y="2078966"/>
              <a:chExt cx="1337096" cy="599536"/>
            </a:xfrm>
          </p:grpSpPr>
          <p:sp>
            <p:nvSpPr>
              <p:cNvPr id="199" name="矩形 19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200" name="直線接點 199"/>
              <p:cNvCxnSpPr>
                <a:stCxn id="199" idx="1"/>
                <a:endCxn id="19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接點 20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接點 20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接點 20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6" name="文字方塊 195"/>
            <p:cNvSpPr txBox="1"/>
            <p:nvPr/>
          </p:nvSpPr>
          <p:spPr>
            <a:xfrm>
              <a:off x="258774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文字方塊 196"/>
            <p:cNvSpPr txBox="1"/>
            <p:nvPr/>
          </p:nvSpPr>
          <p:spPr>
            <a:xfrm>
              <a:off x="3036298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文字方塊 197"/>
            <p:cNvSpPr txBox="1"/>
            <p:nvPr/>
          </p:nvSpPr>
          <p:spPr>
            <a:xfrm>
              <a:off x="3493476" y="39197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群組 203"/>
          <p:cNvGrpSpPr/>
          <p:nvPr/>
        </p:nvGrpSpPr>
        <p:grpSpPr>
          <a:xfrm>
            <a:off x="6156000" y="5783236"/>
            <a:ext cx="1337096" cy="646965"/>
            <a:chOff x="2532605" y="4903163"/>
            <a:chExt cx="1337096" cy="646965"/>
          </a:xfrm>
        </p:grpSpPr>
        <p:grpSp>
          <p:nvGrpSpPr>
            <p:cNvPr id="205" name="群組 204"/>
            <p:cNvGrpSpPr/>
            <p:nvPr/>
          </p:nvGrpSpPr>
          <p:grpSpPr>
            <a:xfrm>
              <a:off x="2532605" y="4950592"/>
              <a:ext cx="1337096" cy="599536"/>
              <a:chOff x="129399" y="2078966"/>
              <a:chExt cx="1337096" cy="599536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129399" y="2078966"/>
                <a:ext cx="1337096" cy="5995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210" name="直線接點 209"/>
              <p:cNvCxnSpPr>
                <a:stCxn id="209" idx="1"/>
                <a:endCxn id="209" idx="3"/>
              </p:cNvCxnSpPr>
              <p:nvPr/>
            </p:nvCxnSpPr>
            <p:spPr>
              <a:xfrm>
                <a:off x="129399" y="2378734"/>
                <a:ext cx="1337096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接點 210"/>
              <p:cNvCxnSpPr/>
              <p:nvPr/>
            </p:nvCxnSpPr>
            <p:spPr>
              <a:xfrm>
                <a:off x="573671" y="208759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接點 211"/>
              <p:cNvCxnSpPr/>
              <p:nvPr/>
            </p:nvCxnSpPr>
            <p:spPr>
              <a:xfrm>
                <a:off x="1045233" y="2084724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接點 212"/>
              <p:cNvCxnSpPr/>
              <p:nvPr/>
            </p:nvCxnSpPr>
            <p:spPr>
              <a:xfrm>
                <a:off x="797947" y="2389502"/>
                <a:ext cx="0" cy="288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6" name="文字方塊 205"/>
            <p:cNvSpPr txBox="1"/>
            <p:nvPr/>
          </p:nvSpPr>
          <p:spPr>
            <a:xfrm>
              <a:off x="260212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3050680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3507858" y="4903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15" name="直線單箭頭接點 214"/>
          <p:cNvCxnSpPr/>
          <p:nvPr/>
        </p:nvCxnSpPr>
        <p:spPr>
          <a:xfrm>
            <a:off x="2009955" y="1733862"/>
            <a:ext cx="0" cy="1836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單箭頭接點 215"/>
          <p:cNvCxnSpPr/>
          <p:nvPr/>
        </p:nvCxnSpPr>
        <p:spPr>
          <a:xfrm>
            <a:off x="2009955" y="4044725"/>
            <a:ext cx="0" cy="1008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單箭頭接點 216"/>
          <p:cNvCxnSpPr/>
          <p:nvPr/>
        </p:nvCxnSpPr>
        <p:spPr>
          <a:xfrm>
            <a:off x="3522423" y="2516250"/>
            <a:ext cx="0" cy="1836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單箭頭接點 217"/>
          <p:cNvCxnSpPr/>
          <p:nvPr/>
        </p:nvCxnSpPr>
        <p:spPr>
          <a:xfrm>
            <a:off x="3522423" y="1733794"/>
            <a:ext cx="0" cy="324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>
            <a:off x="4974566" y="1725168"/>
            <a:ext cx="0" cy="1080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單箭頭接點 219"/>
          <p:cNvCxnSpPr/>
          <p:nvPr/>
        </p:nvCxnSpPr>
        <p:spPr>
          <a:xfrm>
            <a:off x="6518301" y="1739842"/>
            <a:ext cx="0" cy="2628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單箭頭接點 220"/>
          <p:cNvCxnSpPr/>
          <p:nvPr/>
        </p:nvCxnSpPr>
        <p:spPr>
          <a:xfrm>
            <a:off x="6538429" y="4857582"/>
            <a:ext cx="0" cy="972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>
            <a:off x="7978400" y="1748468"/>
            <a:ext cx="0" cy="1836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單箭頭接點 222"/>
          <p:cNvCxnSpPr/>
          <p:nvPr/>
        </p:nvCxnSpPr>
        <p:spPr>
          <a:xfrm>
            <a:off x="7992778" y="4054507"/>
            <a:ext cx="0" cy="1764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肘形接點 224"/>
          <p:cNvCxnSpPr/>
          <p:nvPr/>
        </p:nvCxnSpPr>
        <p:spPr>
          <a:xfrm rot="5400000" flipH="1">
            <a:off x="-121397" y="3543737"/>
            <a:ext cx="3924000" cy="288000"/>
          </a:xfrm>
          <a:prstGeom prst="bentConnector4">
            <a:avLst>
              <a:gd name="adj1" fmla="val -5601"/>
              <a:gd name="adj2" fmla="val 13438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/>
          <p:nvPr/>
        </p:nvCxnSpPr>
        <p:spPr>
          <a:xfrm rot="5400000" flipH="1">
            <a:off x="1728027" y="3206468"/>
            <a:ext cx="3204000" cy="288000"/>
          </a:xfrm>
          <a:prstGeom prst="bentConnector4">
            <a:avLst>
              <a:gd name="adj1" fmla="val -5601"/>
              <a:gd name="adj2" fmla="val 13438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肘形接點 226"/>
          <p:cNvCxnSpPr/>
          <p:nvPr/>
        </p:nvCxnSpPr>
        <p:spPr>
          <a:xfrm rot="5400000" flipH="1">
            <a:off x="3989900" y="2419111"/>
            <a:ext cx="1692000" cy="288000"/>
          </a:xfrm>
          <a:prstGeom prst="bentConnector4">
            <a:avLst>
              <a:gd name="adj1" fmla="val -5601"/>
              <a:gd name="adj2" fmla="val 13438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肘形接點 227"/>
          <p:cNvCxnSpPr/>
          <p:nvPr/>
        </p:nvCxnSpPr>
        <p:spPr>
          <a:xfrm rot="5400000" flipH="1">
            <a:off x="3940961" y="3936597"/>
            <a:ext cx="4716000" cy="288000"/>
          </a:xfrm>
          <a:prstGeom prst="bentConnector4">
            <a:avLst>
              <a:gd name="adj1" fmla="val -5601"/>
              <a:gd name="adj2" fmla="val 13438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肘形接點 228"/>
          <p:cNvCxnSpPr/>
          <p:nvPr/>
        </p:nvCxnSpPr>
        <p:spPr>
          <a:xfrm rot="5400000" flipH="1">
            <a:off x="5450400" y="3935842"/>
            <a:ext cx="4680000" cy="288000"/>
          </a:xfrm>
          <a:prstGeom prst="bentConnector4">
            <a:avLst>
              <a:gd name="adj1" fmla="val -5601"/>
              <a:gd name="adj2" fmla="val 13438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>
            <a:off x="1155959" y="2512842"/>
            <a:ext cx="2052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單箭頭接點 232"/>
          <p:cNvCxnSpPr/>
          <p:nvPr/>
        </p:nvCxnSpPr>
        <p:spPr>
          <a:xfrm>
            <a:off x="1155959" y="3279428"/>
            <a:ext cx="3528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單箭頭接點 233"/>
          <p:cNvCxnSpPr/>
          <p:nvPr/>
        </p:nvCxnSpPr>
        <p:spPr>
          <a:xfrm>
            <a:off x="1159905" y="4054187"/>
            <a:ext cx="540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線單箭頭接點 234"/>
          <p:cNvCxnSpPr/>
          <p:nvPr/>
        </p:nvCxnSpPr>
        <p:spPr>
          <a:xfrm>
            <a:off x="1142653" y="4796645"/>
            <a:ext cx="2052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線單箭頭接點 235"/>
          <p:cNvCxnSpPr/>
          <p:nvPr/>
        </p:nvCxnSpPr>
        <p:spPr>
          <a:xfrm>
            <a:off x="4249603" y="4826586"/>
            <a:ext cx="1908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線單箭頭接點 236"/>
          <p:cNvCxnSpPr/>
          <p:nvPr/>
        </p:nvCxnSpPr>
        <p:spPr>
          <a:xfrm>
            <a:off x="2783900" y="4018526"/>
            <a:ext cx="4860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單箭頭接點 237"/>
          <p:cNvCxnSpPr/>
          <p:nvPr/>
        </p:nvCxnSpPr>
        <p:spPr>
          <a:xfrm>
            <a:off x="1159905" y="6277547"/>
            <a:ext cx="5004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單箭頭接點 238"/>
          <p:cNvCxnSpPr/>
          <p:nvPr/>
        </p:nvCxnSpPr>
        <p:spPr>
          <a:xfrm>
            <a:off x="1168531" y="5525867"/>
            <a:ext cx="540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線單箭頭接點 239"/>
          <p:cNvCxnSpPr/>
          <p:nvPr/>
        </p:nvCxnSpPr>
        <p:spPr>
          <a:xfrm>
            <a:off x="7259026" y="6285201"/>
            <a:ext cx="3960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肘形接點 241"/>
          <p:cNvCxnSpPr/>
          <p:nvPr/>
        </p:nvCxnSpPr>
        <p:spPr>
          <a:xfrm rot="5400000">
            <a:off x="2630432" y="1151242"/>
            <a:ext cx="10800" cy="3024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肘形接點 242"/>
          <p:cNvCxnSpPr/>
          <p:nvPr/>
        </p:nvCxnSpPr>
        <p:spPr>
          <a:xfrm rot="5400000">
            <a:off x="3383691" y="1126337"/>
            <a:ext cx="10800" cy="4572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肘形接點 243"/>
          <p:cNvCxnSpPr/>
          <p:nvPr/>
        </p:nvCxnSpPr>
        <p:spPr>
          <a:xfrm rot="5400000">
            <a:off x="4812834" y="414141"/>
            <a:ext cx="10800" cy="7488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肘形接點 244"/>
          <p:cNvCxnSpPr/>
          <p:nvPr/>
        </p:nvCxnSpPr>
        <p:spPr>
          <a:xfrm rot="5400000">
            <a:off x="4092570" y="1888286"/>
            <a:ext cx="10800" cy="6012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肘形接點 245"/>
          <p:cNvCxnSpPr/>
          <p:nvPr/>
        </p:nvCxnSpPr>
        <p:spPr>
          <a:xfrm rot="5400000">
            <a:off x="4871805" y="2637895"/>
            <a:ext cx="10800" cy="7524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肘形接點 246"/>
          <p:cNvCxnSpPr/>
          <p:nvPr/>
        </p:nvCxnSpPr>
        <p:spPr>
          <a:xfrm rot="5400000">
            <a:off x="1891453" y="4865891"/>
            <a:ext cx="10800" cy="1548000"/>
          </a:xfrm>
          <a:prstGeom prst="bentConnector3">
            <a:avLst>
              <a:gd name="adj1" fmla="val 120648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89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14339</TotalTime>
  <Words>2666</Words>
  <Application>Microsoft Office PowerPoint</Application>
  <PresentationFormat>如螢幕大小 (4:3)</PresentationFormat>
  <Paragraphs>972</Paragraphs>
  <Slides>33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5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Wingdings</vt:lpstr>
      <vt:lpstr>NCKU3</vt:lpstr>
      <vt:lpstr>DATA STRUCTURES 資料結構</vt:lpstr>
      <vt:lpstr>陣列缺點</vt:lpstr>
      <vt:lpstr>鏈結配置串列</vt:lpstr>
      <vt:lpstr>用結構體陣列實作鏈結串列</vt:lpstr>
      <vt:lpstr>插入(insert)新節點</vt:lpstr>
      <vt:lpstr>刪除(delete)某節點</vt:lpstr>
      <vt:lpstr>以陣列實作鏈結串列</vt:lpstr>
      <vt:lpstr>指標</vt:lpstr>
      <vt:lpstr>動態配置實作鏈結串列 (1/9)</vt:lpstr>
      <vt:lpstr>動態配置實作鏈結串列 (2/9)</vt:lpstr>
      <vt:lpstr>動態配置實作鏈結串列 (3/9)</vt:lpstr>
      <vt:lpstr>動態配置實作鏈結串列 (4/9)</vt:lpstr>
      <vt:lpstr>動態配置實作鏈結串列 (5/9)</vt:lpstr>
      <vt:lpstr>動態配置實作鏈結串列 (6/9)</vt:lpstr>
      <vt:lpstr>動態配置實作鏈結串列 (7/9)</vt:lpstr>
      <vt:lpstr>動態配置實作鏈結串列 (8/9)</vt:lpstr>
      <vt:lpstr>動態配置實作鏈結串列 (9/9)</vt:lpstr>
      <vt:lpstr>環狀鏈結串列</vt:lpstr>
      <vt:lpstr>雙向鏈結串列 (1/3)</vt:lpstr>
      <vt:lpstr>雙向鏈結串列 (2/3)</vt:lpstr>
      <vt:lpstr>雙向鏈結串列 (3/3)</vt:lpstr>
      <vt:lpstr>用鏈結串列實作堆疊 (1/3)</vt:lpstr>
      <vt:lpstr>用鏈結串列實作堆疊 (2/3)</vt:lpstr>
      <vt:lpstr>用鏈結串列實作堆疊 (3/3)</vt:lpstr>
      <vt:lpstr>用鏈結串列實作佇列 (1/2)</vt:lpstr>
      <vt:lpstr>用鏈結串列實作佇列 (2/2)</vt:lpstr>
      <vt:lpstr>多項式的表示</vt:lpstr>
      <vt:lpstr>多項式的加法 (1/3)</vt:lpstr>
      <vt:lpstr>多項式的加法 (2/3)</vt:lpstr>
      <vt:lpstr>多項式的加法 (3/3)</vt:lpstr>
      <vt:lpstr>稀疏矩陣 (1/3)</vt:lpstr>
      <vt:lpstr>稀疏矩陣 (2/3)</vt:lpstr>
      <vt:lpstr>稀疏矩陣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86</cp:revision>
  <cp:lastPrinted>2022-09-24T09:12:24Z</cp:lastPrinted>
  <dcterms:created xsi:type="dcterms:W3CDTF">2018-01-10T03:26:15Z</dcterms:created>
  <dcterms:modified xsi:type="dcterms:W3CDTF">2026-01-27T06:27:56Z</dcterms:modified>
</cp:coreProperties>
</file>