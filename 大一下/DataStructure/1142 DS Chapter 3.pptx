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6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2026/2/26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2523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4828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3126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192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2026/03/04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堆疊 </a:t>
            </a:r>
            <a:r>
              <a:rPr lang="en-US" altLang="zh-TW" dirty="0" smtClean="0"/>
              <a:t>Stack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疊盤子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零錢盒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特性：後進先出</a:t>
            </a:r>
            <a:r>
              <a:rPr lang="en-US" altLang="zh-TW" dirty="0" smtClean="0"/>
              <a:t>(last in first out, LIFO) / </a:t>
            </a:r>
            <a:r>
              <a:rPr lang="zh-TW" altLang="en-US" dirty="0" smtClean="0"/>
              <a:t>先進後出 </a:t>
            </a:r>
            <a:r>
              <a:rPr lang="en-US" altLang="zh-TW" dirty="0" smtClean="0"/>
              <a:t>(first in last out, FILO)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3" b="20215"/>
          <a:stretch/>
        </p:blipFill>
        <p:spPr bwMode="auto">
          <a:xfrm>
            <a:off x="1477927" y="1293160"/>
            <a:ext cx="6470538" cy="181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927" y="3432511"/>
            <a:ext cx="1920961" cy="1394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9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 </a:t>
            </a:r>
            <a:r>
              <a:rPr lang="en-US" altLang="zh-TW" dirty="0" smtClean="0"/>
              <a:t>Stack 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C00000"/>
                </a:solidFill>
              </a:rPr>
              <a:t>推入</a:t>
            </a:r>
            <a:r>
              <a:rPr lang="en-US" altLang="zh-TW" dirty="0" smtClean="0">
                <a:solidFill>
                  <a:srgbClr val="C00000"/>
                </a:solidFill>
              </a:rPr>
              <a:t>(Push)</a:t>
            </a:r>
            <a:r>
              <a:rPr lang="zh-TW" altLang="en-US" dirty="0" smtClean="0">
                <a:solidFill>
                  <a:srgbClr val="C00000"/>
                </a:solidFill>
              </a:rPr>
              <a:t>：</a:t>
            </a:r>
            <a:r>
              <a:rPr lang="zh-TW" altLang="en-US" dirty="0"/>
              <a:t>將一個</a:t>
            </a:r>
            <a:r>
              <a:rPr lang="zh-TW" altLang="en-US" dirty="0" smtClean="0"/>
              <a:t>項目</a:t>
            </a:r>
            <a:r>
              <a:rPr lang="en-US" altLang="zh-TW" dirty="0" smtClean="0"/>
              <a:t>(item)</a:t>
            </a:r>
            <a:r>
              <a:rPr lang="zh-TW" altLang="en-US" dirty="0" smtClean="0"/>
              <a:t>放入堆疊的</a:t>
            </a:r>
            <a:r>
              <a:rPr lang="zh-TW" altLang="en-US" dirty="0" smtClean="0">
                <a:solidFill>
                  <a:srgbClr val="0000FF"/>
                </a:solidFill>
              </a:rPr>
              <a:t>頂端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r>
              <a:rPr lang="zh-TW" altLang="en-US" dirty="0">
                <a:solidFill>
                  <a:srgbClr val="C00000"/>
                </a:solidFill>
              </a:rPr>
              <a:t>彈</a:t>
            </a:r>
            <a:r>
              <a:rPr lang="zh-TW" altLang="en-US" dirty="0" smtClean="0">
                <a:solidFill>
                  <a:srgbClr val="C00000"/>
                </a:solidFill>
              </a:rPr>
              <a:t>出</a:t>
            </a:r>
            <a:r>
              <a:rPr lang="en-US" altLang="zh-TW" dirty="0" smtClean="0">
                <a:solidFill>
                  <a:srgbClr val="C00000"/>
                </a:solidFill>
              </a:rPr>
              <a:t>(Pop)</a:t>
            </a:r>
            <a:r>
              <a:rPr lang="zh-TW" altLang="en-US" dirty="0" smtClean="0">
                <a:solidFill>
                  <a:srgbClr val="C00000"/>
                </a:solidFill>
              </a:rPr>
              <a:t>：</a:t>
            </a:r>
            <a:r>
              <a:rPr lang="zh-TW" altLang="en-US" dirty="0" smtClean="0"/>
              <a:t>從堆疊</a:t>
            </a:r>
            <a:r>
              <a:rPr lang="zh-TW" altLang="en-US" dirty="0" smtClean="0">
                <a:solidFill>
                  <a:srgbClr val="0000FF"/>
                </a:solidFill>
              </a:rPr>
              <a:t>頂端</a:t>
            </a:r>
            <a:r>
              <a:rPr lang="zh-TW" altLang="en-US" dirty="0" smtClean="0"/>
              <a:t>拿走一個項目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/>
              <a:t>可以作用在堆疊結構上面的運算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Push / Pop</a:t>
            </a:r>
          </a:p>
          <a:p>
            <a:pPr lvl="1"/>
            <a:r>
              <a:rPr lang="en-US" altLang="zh-TW" dirty="0" err="1" smtClean="0"/>
              <a:t>TopItem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IsEmpty</a:t>
            </a:r>
            <a:r>
              <a:rPr lang="en-US" altLang="zh-TW" dirty="0" smtClean="0"/>
              <a:t> / </a:t>
            </a:r>
            <a:r>
              <a:rPr lang="en-US" altLang="zh-TW" dirty="0" err="1" smtClean="0"/>
              <a:t>IsFull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 r="5280" b="27944"/>
          <a:stretch/>
        </p:blipFill>
        <p:spPr bwMode="auto">
          <a:xfrm>
            <a:off x="1520459" y="2397903"/>
            <a:ext cx="6166885" cy="173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7318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佇列 </a:t>
            </a:r>
            <a:r>
              <a:rPr lang="en-US" altLang="zh-TW" dirty="0" smtClean="0"/>
              <a:t>Queue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佇列：排隊等待服務</a:t>
            </a:r>
            <a:r>
              <a:rPr lang="en-US" altLang="zh-TW" dirty="0" smtClean="0"/>
              <a:t>/</a:t>
            </a:r>
            <a:r>
              <a:rPr lang="zh-TW" altLang="en-US" dirty="0" smtClean="0"/>
              <a:t>資源的隊伍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售票處：從</a:t>
            </a:r>
            <a:r>
              <a:rPr lang="zh-TW" altLang="en-US" dirty="0" smtClean="0">
                <a:solidFill>
                  <a:srgbClr val="C00000"/>
                </a:solidFill>
              </a:rPr>
              <a:t>後面</a:t>
            </a:r>
            <a:r>
              <a:rPr lang="en-US" altLang="zh-TW" dirty="0" smtClean="0">
                <a:solidFill>
                  <a:srgbClr val="C00000"/>
                </a:solidFill>
              </a:rPr>
              <a:t>(rear)</a:t>
            </a:r>
            <a:r>
              <a:rPr lang="zh-TW" altLang="en-US" dirty="0" smtClean="0">
                <a:solidFill>
                  <a:srgbClr val="C00000"/>
                </a:solidFill>
              </a:rPr>
              <a:t>排隊</a:t>
            </a:r>
            <a:r>
              <a:rPr lang="zh-TW" altLang="en-US" dirty="0" smtClean="0"/>
              <a:t>，從</a:t>
            </a:r>
            <a:r>
              <a:rPr lang="zh-TW" altLang="en-US" dirty="0" smtClean="0">
                <a:solidFill>
                  <a:srgbClr val="C00000"/>
                </a:solidFill>
              </a:rPr>
              <a:t>前面</a:t>
            </a:r>
            <a:r>
              <a:rPr lang="en-US" altLang="zh-TW" dirty="0" smtClean="0">
                <a:solidFill>
                  <a:srgbClr val="C00000"/>
                </a:solidFill>
              </a:rPr>
              <a:t>(front)</a:t>
            </a:r>
            <a:r>
              <a:rPr lang="zh-TW" altLang="en-US" dirty="0" smtClean="0">
                <a:solidFill>
                  <a:srgbClr val="C00000"/>
                </a:solidFill>
              </a:rPr>
              <a:t>離開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佇列特性：先進先出</a:t>
            </a:r>
            <a:r>
              <a:rPr lang="en-US" altLang="zh-TW" dirty="0" smtClean="0"/>
              <a:t>(first in first out, FIFO)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2" t="3140" r="9047"/>
          <a:stretch/>
        </p:blipFill>
        <p:spPr bwMode="auto">
          <a:xfrm>
            <a:off x="2484407" y="2348880"/>
            <a:ext cx="4123427" cy="238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92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佇列 </a:t>
            </a:r>
            <a:r>
              <a:rPr lang="en-US" altLang="zh-TW" dirty="0"/>
              <a:t>Queue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 (add)</a:t>
            </a:r>
            <a:r>
              <a:rPr lang="zh-TW" altLang="en-US" dirty="0" smtClean="0"/>
              <a:t>：將新項目由</a:t>
            </a:r>
            <a:r>
              <a:rPr lang="zh-TW" altLang="en-US" dirty="0" smtClean="0">
                <a:solidFill>
                  <a:srgbClr val="C00000"/>
                </a:solidFill>
              </a:rPr>
              <a:t>後端</a:t>
            </a:r>
            <a:r>
              <a:rPr lang="en-US" altLang="zh-TW" dirty="0" smtClean="0">
                <a:solidFill>
                  <a:srgbClr val="C00000"/>
                </a:solidFill>
              </a:rPr>
              <a:t>(rear)</a:t>
            </a:r>
            <a:r>
              <a:rPr lang="zh-TW" altLang="en-US" dirty="0" smtClean="0"/>
              <a:t>加入佇列 </a:t>
            </a:r>
            <a:r>
              <a:rPr lang="en-US" altLang="zh-TW" dirty="0" smtClean="0"/>
              <a:t>/ </a:t>
            </a:r>
            <a:r>
              <a:rPr lang="zh-TW" altLang="en-US" dirty="0" smtClean="0"/>
              <a:t>加入隊伍</a:t>
            </a:r>
            <a:endParaRPr lang="en-US" altLang="zh-TW" dirty="0" smtClean="0"/>
          </a:p>
          <a:p>
            <a:r>
              <a:rPr lang="en-US" altLang="zh-TW" dirty="0" err="1" smtClean="0"/>
              <a:t>Dequeue</a:t>
            </a:r>
            <a:r>
              <a:rPr lang="en-US" altLang="zh-TW" dirty="0" smtClean="0"/>
              <a:t> (</a:t>
            </a:r>
            <a:r>
              <a:rPr lang="en-US" altLang="zh-TW" dirty="0" err="1" smtClean="0"/>
              <a:t>dellete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：從佇列</a:t>
            </a:r>
            <a:r>
              <a:rPr lang="zh-TW" altLang="en-US" dirty="0" smtClean="0">
                <a:solidFill>
                  <a:srgbClr val="C00000"/>
                </a:solidFill>
              </a:rPr>
              <a:t>前端</a:t>
            </a:r>
            <a:r>
              <a:rPr lang="en-US" altLang="zh-TW" dirty="0" smtClean="0">
                <a:solidFill>
                  <a:srgbClr val="C00000"/>
                </a:solidFill>
              </a:rPr>
              <a:t>(front)</a:t>
            </a:r>
            <a:r>
              <a:rPr lang="zh-TW" altLang="en-US" dirty="0" smtClean="0"/>
              <a:t>刪除一個項目 </a:t>
            </a:r>
            <a:r>
              <a:rPr lang="en-US" altLang="zh-TW" dirty="0" smtClean="0"/>
              <a:t>/ </a:t>
            </a:r>
            <a:r>
              <a:rPr lang="zh-TW" altLang="en-US" dirty="0" smtClean="0"/>
              <a:t>離開隊伍</a:t>
            </a:r>
            <a:endParaRPr lang="en-US" altLang="zh-TW" dirty="0" smtClean="0"/>
          </a:p>
          <a:p>
            <a:r>
              <a:rPr lang="en-US" altLang="zh-TW" dirty="0" err="1" smtClean="0"/>
              <a:t>IsFull</a:t>
            </a:r>
            <a:r>
              <a:rPr lang="zh-TW" altLang="en-US" dirty="0" smtClean="0"/>
              <a:t>：佇列是否已滿，真</a:t>
            </a:r>
            <a:r>
              <a:rPr lang="en-US" altLang="zh-TW" dirty="0" smtClean="0"/>
              <a:t>(TRUE)</a:t>
            </a:r>
            <a:r>
              <a:rPr lang="zh-TW" altLang="en-US" dirty="0" smtClean="0"/>
              <a:t>為滿</a:t>
            </a:r>
            <a:endParaRPr lang="en-US" altLang="zh-TW" dirty="0" smtClean="0"/>
          </a:p>
          <a:p>
            <a:r>
              <a:rPr lang="en-US" altLang="zh-TW" dirty="0" err="1" smtClean="0"/>
              <a:t>IsEmpty</a:t>
            </a:r>
            <a:r>
              <a:rPr lang="zh-TW" altLang="en-US" dirty="0" smtClean="0"/>
              <a:t>：佇列是否為空，真</a:t>
            </a:r>
            <a:r>
              <a:rPr lang="en-US" altLang="zh-TW" dirty="0" smtClean="0"/>
              <a:t>(TRUE)</a:t>
            </a:r>
            <a:r>
              <a:rPr lang="zh-TW" altLang="en-US" dirty="0" smtClean="0"/>
              <a:t>為空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圓柱 7"/>
          <p:cNvSpPr/>
          <p:nvPr/>
        </p:nvSpPr>
        <p:spPr>
          <a:xfrm>
            <a:off x="4390844" y="3088261"/>
            <a:ext cx="534838" cy="3001993"/>
          </a:xfrm>
          <a:prstGeom prst="can">
            <a:avLst/>
          </a:prstGeom>
          <a:noFill/>
          <a:scene3d>
            <a:camera prst="orthographicFront">
              <a:rot lat="0" lon="0" rev="16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6573328" y="4389202"/>
            <a:ext cx="1866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Enqueue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入列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833891" y="4389202"/>
            <a:ext cx="185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Dequeue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出列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>
            <a:stCxn id="9" idx="1"/>
          </p:cNvCxnSpPr>
          <p:nvPr/>
        </p:nvCxnSpPr>
        <p:spPr>
          <a:xfrm flipH="1">
            <a:off x="6142008" y="4589257"/>
            <a:ext cx="43132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 flipH="1">
            <a:off x="2711558" y="4580631"/>
            <a:ext cx="431320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664042" y="438920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4034656" y="438057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4390844" y="438057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761458" y="438920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132072" y="438920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482005" y="5274848"/>
            <a:ext cx="7346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front</a:t>
            </a:r>
          </a:p>
          <a:p>
            <a:pPr algn="ctr"/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前端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960074" y="527484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</a:p>
          <a:p>
            <a:pPr algn="ctr"/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21" name="直線單箭頭接點 20"/>
          <p:cNvCxnSpPr>
            <a:stCxn id="19" idx="0"/>
            <a:endCxn id="14" idx="2"/>
          </p:cNvCxnSpPr>
          <p:nvPr/>
        </p:nvCxnSpPr>
        <p:spPr>
          <a:xfrm flipV="1">
            <a:off x="3849349" y="4789312"/>
            <a:ext cx="0" cy="48553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>
            <a:stCxn id="20" idx="0"/>
            <a:endCxn id="18" idx="2"/>
          </p:cNvCxnSpPr>
          <p:nvPr/>
        </p:nvCxnSpPr>
        <p:spPr>
          <a:xfrm flipV="1">
            <a:off x="5308888" y="4789312"/>
            <a:ext cx="1278" cy="48553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83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結構體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將不同型別的元素集合起來，形成一種新的複合資料型別</a:t>
            </a: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struct</a:t>
            </a:r>
            <a:r>
              <a:rPr lang="en-US" altLang="zh-TW" dirty="0" smtClean="0"/>
              <a:t> student {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char name[8]; //</a:t>
            </a:r>
            <a:r>
              <a:rPr lang="zh-TW" altLang="en-US" dirty="0" smtClean="0"/>
              <a:t>姓名欄位</a:t>
            </a: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age;</a:t>
            </a:r>
            <a:r>
              <a:rPr lang="zh-TW" altLang="en-US" dirty="0" smtClean="0"/>
              <a:t>            </a:t>
            </a:r>
            <a:r>
              <a:rPr lang="en-US" altLang="zh-TW" dirty="0" smtClean="0"/>
              <a:t>//</a:t>
            </a:r>
            <a:r>
              <a:rPr lang="zh-TW" altLang="en-US" dirty="0" smtClean="0"/>
              <a:t>年齡欄位</a:t>
            </a: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height;</a:t>
            </a:r>
            <a:r>
              <a:rPr lang="zh-TW" altLang="en-US" dirty="0" smtClean="0"/>
              <a:t>       </a:t>
            </a:r>
            <a:r>
              <a:rPr lang="en-US" altLang="zh-TW" dirty="0" smtClean="0"/>
              <a:t>//</a:t>
            </a:r>
            <a:r>
              <a:rPr lang="zh-TW" altLang="en-US" dirty="0" smtClean="0"/>
              <a:t>身高欄位</a:t>
            </a: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};</a:t>
            </a:r>
          </a:p>
          <a:p>
            <a:pPr>
              <a:spcBef>
                <a:spcPts val="0"/>
              </a:spcBef>
            </a:pPr>
            <a:endParaRPr lang="en-US" altLang="zh-TW" dirty="0" smtClean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struct</a:t>
            </a:r>
            <a:r>
              <a:rPr lang="en-US" altLang="zh-TW" dirty="0" smtClean="0"/>
              <a:t> student S1;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S1.age = 18;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S1.height = 160;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strcpy</a:t>
            </a:r>
            <a:r>
              <a:rPr lang="en-US" altLang="zh-TW" dirty="0" smtClean="0"/>
              <a:t>(S1.name, “Mary”);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699989" y="3098494"/>
          <a:ext cx="1296836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96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4822972" y="3080074"/>
            <a:ext cx="874122" cy="1139105"/>
            <a:chOff x="4822972" y="3080074"/>
            <a:chExt cx="874122" cy="1139105"/>
          </a:xfrm>
        </p:grpSpPr>
        <p:sp>
          <p:nvSpPr>
            <p:cNvPr id="8" name="文字方塊 7"/>
            <p:cNvSpPr txBox="1"/>
            <p:nvPr/>
          </p:nvSpPr>
          <p:spPr>
            <a:xfrm>
              <a:off x="4909232" y="3080074"/>
              <a:ext cx="7825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142134" y="3471138"/>
              <a:ext cx="554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822972" y="3819069"/>
              <a:ext cx="867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height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字方塊 10"/>
          <p:cNvSpPr txBox="1"/>
          <p:nvPr/>
        </p:nvSpPr>
        <p:spPr>
          <a:xfrm>
            <a:off x="5977260" y="3080074"/>
            <a:ext cx="797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155193" y="347113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091072" y="3818504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43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結構體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4927599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typedef</a:t>
            </a:r>
            <a:r>
              <a:rPr lang="zh-TW" altLang="en-US" dirty="0" smtClean="0"/>
              <a:t>：定義新的型別</a:t>
            </a:r>
            <a:endParaRPr lang="en-US" altLang="zh-TW" dirty="0" smtClean="0"/>
          </a:p>
          <a:p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INTEGER;</a:t>
            </a:r>
          </a:p>
          <a:p>
            <a:r>
              <a:rPr lang="en-US" altLang="zh-TW" dirty="0" smtClean="0"/>
              <a:t>INTEGER </a:t>
            </a:r>
            <a:r>
              <a:rPr lang="en-US" altLang="zh-TW" i="1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j</a:t>
            </a:r>
            <a:r>
              <a:rPr lang="en-US" altLang="zh-TW" dirty="0" smtClean="0"/>
              <a:t>;</a:t>
            </a:r>
          </a:p>
          <a:p>
            <a:endParaRPr lang="en-US" altLang="zh-TW" dirty="0"/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student {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char name [8];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age;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height;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TW" dirty="0" smtClean="0"/>
              <a:t>} STUDENT;</a:t>
            </a:r>
          </a:p>
          <a:p>
            <a:r>
              <a:rPr lang="en-US" altLang="zh-TW" dirty="0" smtClean="0"/>
              <a:t>STUDENT S1;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5699985" y="3697213"/>
          <a:ext cx="1296836" cy="11125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96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7" name="群組 16"/>
          <p:cNvGrpSpPr/>
          <p:nvPr/>
        </p:nvGrpSpPr>
        <p:grpSpPr>
          <a:xfrm>
            <a:off x="4822968" y="3678793"/>
            <a:ext cx="874122" cy="1139105"/>
            <a:chOff x="4822968" y="3678793"/>
            <a:chExt cx="874122" cy="1139105"/>
          </a:xfrm>
        </p:grpSpPr>
        <p:sp>
          <p:nvSpPr>
            <p:cNvPr id="8" name="文字方塊 7"/>
            <p:cNvSpPr txBox="1"/>
            <p:nvPr/>
          </p:nvSpPr>
          <p:spPr>
            <a:xfrm>
              <a:off x="4909228" y="3678793"/>
              <a:ext cx="7825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name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142130" y="4069857"/>
              <a:ext cx="5549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4822968" y="4417788"/>
              <a:ext cx="8675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height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2320503" y="2048492"/>
            <a:ext cx="1355584" cy="400110"/>
            <a:chOff x="2320503" y="2329133"/>
            <a:chExt cx="1355584" cy="400110"/>
          </a:xfrm>
        </p:grpSpPr>
        <p:sp>
          <p:nvSpPr>
            <p:cNvPr id="14" name="文字方塊 13"/>
            <p:cNvSpPr txBox="1"/>
            <p:nvPr/>
          </p:nvSpPr>
          <p:spPr>
            <a:xfrm>
              <a:off x="2760452" y="2329133"/>
              <a:ext cx="9156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TW" sz="20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左-右雙向箭號 14"/>
            <p:cNvSpPr/>
            <p:nvPr/>
          </p:nvSpPr>
          <p:spPr>
            <a:xfrm>
              <a:off x="2320503" y="2504133"/>
              <a:ext cx="301925" cy="136374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694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用陣列實作堆疊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堆疊的陣列型態資料結構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tagSTACK</a:t>
            </a:r>
            <a:r>
              <a:rPr lang="en-US" altLang="zh-TW" dirty="0" smtClean="0"/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smtClean="0"/>
              <a:t>char Item[MAX_ITEM];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Top;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} STACK;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STACK </a:t>
            </a:r>
            <a:r>
              <a:rPr lang="en-US" altLang="zh-TW" dirty="0" err="1"/>
              <a:t>S</a:t>
            </a:r>
            <a:r>
              <a:rPr lang="en-US" altLang="zh-TW" dirty="0" err="1" smtClean="0"/>
              <a:t>tk</a:t>
            </a:r>
            <a:r>
              <a:rPr lang="en-US" altLang="zh-TW" dirty="0" smtClean="0"/>
              <a:t>;</a:t>
            </a:r>
          </a:p>
          <a:p>
            <a:endParaRPr lang="en-US" altLang="zh-TW" dirty="0" smtClean="0"/>
          </a:p>
          <a:p>
            <a:r>
              <a:rPr lang="en-US" altLang="zh-TW" dirty="0" err="1" smtClean="0"/>
              <a:t>Stk.Top</a:t>
            </a:r>
            <a:r>
              <a:rPr lang="en-US" altLang="zh-TW" dirty="0" smtClean="0"/>
              <a:t> == </a:t>
            </a:r>
            <a:r>
              <a:rPr lang="en-US" altLang="zh-TW" dirty="0" smtClean="0">
                <a:solidFill>
                  <a:srgbClr val="C00000"/>
                </a:solidFill>
              </a:rPr>
              <a:t>– 1</a:t>
            </a:r>
            <a:r>
              <a:rPr lang="zh-TW" altLang="en-US" dirty="0" smtClean="0"/>
              <a:t>：堆疊為</a:t>
            </a:r>
            <a:r>
              <a:rPr lang="zh-TW" altLang="en-US" dirty="0" smtClean="0">
                <a:solidFill>
                  <a:srgbClr val="C00000"/>
                </a:solidFill>
              </a:rPr>
              <a:t>空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r>
              <a:rPr lang="en-US" altLang="zh-TW" dirty="0" err="1" smtClean="0"/>
              <a:t>Stk.Top</a:t>
            </a:r>
            <a:r>
              <a:rPr lang="en-US" altLang="zh-TW" dirty="0" smtClean="0"/>
              <a:t> == </a:t>
            </a:r>
            <a:r>
              <a:rPr lang="en-US" altLang="zh-TW" dirty="0" smtClean="0">
                <a:solidFill>
                  <a:srgbClr val="C00000"/>
                </a:solidFill>
              </a:rPr>
              <a:t>MAX_ITEM – 1</a:t>
            </a:r>
            <a:r>
              <a:rPr lang="zh-TW" altLang="en-US" dirty="0" smtClean="0"/>
              <a:t>：堆疊為</a:t>
            </a:r>
            <a:r>
              <a:rPr lang="zh-TW" altLang="en-US" dirty="0" smtClean="0">
                <a:solidFill>
                  <a:srgbClr val="C00000"/>
                </a:solidFill>
              </a:rPr>
              <a:t>滿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6219626" y="3691627"/>
          <a:ext cx="856891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56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3907766" y="2067026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儲存堆疊資料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907766" y="2420888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紀錄目前頂端元素所在位置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8" name="群組 17"/>
          <p:cNvGrpSpPr/>
          <p:nvPr/>
        </p:nvGrpSpPr>
        <p:grpSpPr>
          <a:xfrm>
            <a:off x="5729736" y="3670325"/>
            <a:ext cx="483482" cy="1897007"/>
            <a:chOff x="5729736" y="3670325"/>
            <a:chExt cx="483482" cy="1897007"/>
          </a:xfrm>
        </p:grpSpPr>
        <p:sp>
          <p:nvSpPr>
            <p:cNvPr id="10" name="文字方塊 9"/>
            <p:cNvSpPr txBox="1"/>
            <p:nvPr/>
          </p:nvSpPr>
          <p:spPr>
            <a:xfrm>
              <a:off x="5730394" y="516722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5730394" y="4793409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5729736" y="441795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5729736" y="4044138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5730394" y="367032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7076517" y="4417951"/>
            <a:ext cx="1439069" cy="400110"/>
            <a:chOff x="7076517" y="4417951"/>
            <a:chExt cx="1439069" cy="400110"/>
          </a:xfrm>
        </p:grpSpPr>
        <p:sp>
          <p:nvSpPr>
            <p:cNvPr id="15" name="文字方塊 14"/>
            <p:cNvSpPr txBox="1"/>
            <p:nvPr/>
          </p:nvSpPr>
          <p:spPr>
            <a:xfrm>
              <a:off x="7509670" y="4417951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單箭頭接點 16"/>
            <p:cNvCxnSpPr>
              <a:stCxn id="15" idx="1"/>
              <a:endCxn id="7" idx="3"/>
            </p:cNvCxnSpPr>
            <p:nvPr/>
          </p:nvCxnSpPr>
          <p:spPr>
            <a:xfrm flipH="1">
              <a:off x="7076517" y="4618006"/>
              <a:ext cx="433153" cy="721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331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用陣列實作堆疊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用陣列實作</a:t>
            </a:r>
            <a:r>
              <a:rPr lang="en-US" altLang="zh-TW" dirty="0" smtClean="0"/>
              <a:t>Push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檢查堆疊是否已滿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若堆疊未滿，則</a:t>
            </a:r>
            <a:r>
              <a:rPr lang="en-US" altLang="zh-TW" dirty="0" smtClean="0"/>
              <a:t>Top</a:t>
            </a:r>
            <a:r>
              <a:rPr lang="zh-TW" altLang="en-US" dirty="0" smtClean="0"/>
              <a:t>加一，並把元素存入</a:t>
            </a:r>
            <a:r>
              <a:rPr lang="en-US" altLang="zh-TW" dirty="0" smtClean="0"/>
              <a:t>Item[Top]</a:t>
            </a:r>
            <a:r>
              <a:rPr lang="zh-TW" altLang="en-US" dirty="0" smtClean="0"/>
              <a:t>中</a:t>
            </a:r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>
                <a:solidFill>
                  <a:srgbClr val="C00000"/>
                </a:solidFill>
              </a:rPr>
              <a:t>Full</a:t>
            </a:r>
            <a:r>
              <a:rPr lang="zh-TW" altLang="en-US" dirty="0" smtClean="0">
                <a:solidFill>
                  <a:srgbClr val="C00000"/>
                </a:solidFill>
              </a:rPr>
              <a:t>條件</a:t>
            </a:r>
            <a:r>
              <a:rPr lang="zh-TW" altLang="en-US" dirty="0" smtClean="0"/>
              <a:t>：</a:t>
            </a:r>
            <a:r>
              <a:rPr lang="en-US" altLang="zh-TW" dirty="0" smtClean="0"/>
              <a:t>S </a:t>
            </a:r>
            <a:r>
              <a:rPr lang="en-US" altLang="zh-TW" dirty="0" smtClean="0">
                <a:sym typeface="Symbol"/>
              </a:rPr>
              <a:t> Top == (MAX_ITEM – 1)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009265" y="3139109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>
            <p:extLst/>
          </p:nvPr>
        </p:nvGraphicFramePr>
        <p:xfrm>
          <a:off x="2174433" y="3142781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/>
          </p:nvPr>
        </p:nvGraphicFramePr>
        <p:xfrm>
          <a:off x="3336075" y="3143791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表格 28"/>
          <p:cNvGraphicFramePr>
            <a:graphicFrameLocks noGrp="1"/>
          </p:cNvGraphicFramePr>
          <p:nvPr>
            <p:extLst/>
          </p:nvPr>
        </p:nvGraphicFramePr>
        <p:xfrm>
          <a:off x="4501243" y="3147463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表格 35"/>
          <p:cNvGraphicFramePr>
            <a:graphicFrameLocks noGrp="1"/>
          </p:cNvGraphicFramePr>
          <p:nvPr>
            <p:extLst/>
          </p:nvPr>
        </p:nvGraphicFramePr>
        <p:xfrm>
          <a:off x="5657127" y="3147988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>
            <p:extLst/>
          </p:nvPr>
        </p:nvGraphicFramePr>
        <p:xfrm>
          <a:off x="6818769" y="3148998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0" name="表格 49"/>
          <p:cNvGraphicFramePr>
            <a:graphicFrameLocks noGrp="1"/>
          </p:cNvGraphicFramePr>
          <p:nvPr>
            <p:extLst/>
          </p:nvPr>
        </p:nvGraphicFramePr>
        <p:xfrm>
          <a:off x="7983937" y="3152670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2" name="群組 71"/>
          <p:cNvGrpSpPr/>
          <p:nvPr/>
        </p:nvGrpSpPr>
        <p:grpSpPr>
          <a:xfrm>
            <a:off x="408631" y="3117807"/>
            <a:ext cx="1198277" cy="2277393"/>
            <a:chOff x="408631" y="3117807"/>
            <a:chExt cx="1198277" cy="2277393"/>
          </a:xfrm>
        </p:grpSpPr>
        <p:grpSp>
          <p:nvGrpSpPr>
            <p:cNvPr id="14" name="群組 13"/>
            <p:cNvGrpSpPr/>
            <p:nvPr/>
          </p:nvGrpSpPr>
          <p:grpSpPr>
            <a:xfrm>
              <a:off x="519374" y="3117807"/>
              <a:ext cx="483482" cy="1897007"/>
              <a:chOff x="174334" y="3083303"/>
              <a:chExt cx="483482" cy="1897007"/>
            </a:xfrm>
          </p:grpSpPr>
          <p:sp>
            <p:nvSpPr>
              <p:cNvPr id="8" name="文字方塊 7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字方塊 8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" name="文字方塊 56"/>
            <p:cNvSpPr txBox="1"/>
            <p:nvPr/>
          </p:nvSpPr>
          <p:spPr>
            <a:xfrm>
              <a:off x="408631" y="4995090"/>
              <a:ext cx="1198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–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3" name="群組 72"/>
          <p:cNvGrpSpPr/>
          <p:nvPr/>
        </p:nvGrpSpPr>
        <p:grpSpPr>
          <a:xfrm>
            <a:off x="1667290" y="3121479"/>
            <a:ext cx="1005916" cy="2281128"/>
            <a:chOff x="1667290" y="3121479"/>
            <a:chExt cx="1005916" cy="2281128"/>
          </a:xfrm>
        </p:grpSpPr>
        <p:grpSp>
          <p:nvGrpSpPr>
            <p:cNvPr id="16" name="群組 15"/>
            <p:cNvGrpSpPr/>
            <p:nvPr/>
          </p:nvGrpSpPr>
          <p:grpSpPr>
            <a:xfrm>
              <a:off x="1684542" y="3121479"/>
              <a:ext cx="483482" cy="1897007"/>
              <a:chOff x="174334" y="3083303"/>
              <a:chExt cx="483482" cy="1897007"/>
            </a:xfrm>
          </p:grpSpPr>
          <p:sp>
            <p:nvSpPr>
              <p:cNvPr id="17" name="文字方塊 16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字方塊 19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文字方塊 57"/>
            <p:cNvSpPr txBox="1"/>
            <p:nvPr/>
          </p:nvSpPr>
          <p:spPr>
            <a:xfrm>
              <a:off x="1667290" y="5002497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4" name="群組 73"/>
          <p:cNvGrpSpPr/>
          <p:nvPr/>
        </p:nvGrpSpPr>
        <p:grpSpPr>
          <a:xfrm>
            <a:off x="2828932" y="3122489"/>
            <a:ext cx="1005916" cy="2285072"/>
            <a:chOff x="2828932" y="3122489"/>
            <a:chExt cx="1005916" cy="2285072"/>
          </a:xfrm>
        </p:grpSpPr>
        <p:grpSp>
          <p:nvGrpSpPr>
            <p:cNvPr id="23" name="群組 22"/>
            <p:cNvGrpSpPr/>
            <p:nvPr/>
          </p:nvGrpSpPr>
          <p:grpSpPr>
            <a:xfrm>
              <a:off x="2846184" y="3122489"/>
              <a:ext cx="483482" cy="1897007"/>
              <a:chOff x="174334" y="3083303"/>
              <a:chExt cx="483482" cy="1897007"/>
            </a:xfrm>
          </p:grpSpPr>
          <p:sp>
            <p:nvSpPr>
              <p:cNvPr id="24" name="文字方塊 23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" name="文字方塊 58"/>
            <p:cNvSpPr txBox="1"/>
            <p:nvPr/>
          </p:nvSpPr>
          <p:spPr>
            <a:xfrm>
              <a:off x="2828932" y="5007451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5" name="群組 74"/>
          <p:cNvGrpSpPr/>
          <p:nvPr/>
        </p:nvGrpSpPr>
        <p:grpSpPr>
          <a:xfrm>
            <a:off x="3994100" y="3126161"/>
            <a:ext cx="1005916" cy="2281400"/>
            <a:chOff x="3994100" y="3126161"/>
            <a:chExt cx="1005916" cy="2281400"/>
          </a:xfrm>
        </p:grpSpPr>
        <p:grpSp>
          <p:nvGrpSpPr>
            <p:cNvPr id="30" name="群組 29"/>
            <p:cNvGrpSpPr/>
            <p:nvPr/>
          </p:nvGrpSpPr>
          <p:grpSpPr>
            <a:xfrm>
              <a:off x="4011352" y="3126161"/>
              <a:ext cx="483482" cy="1897007"/>
              <a:chOff x="174334" y="3083303"/>
              <a:chExt cx="483482" cy="1897007"/>
            </a:xfrm>
          </p:grpSpPr>
          <p:sp>
            <p:nvSpPr>
              <p:cNvPr id="31" name="文字方塊 30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字方塊 31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字方塊 32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0" name="文字方塊 59"/>
            <p:cNvSpPr txBox="1"/>
            <p:nvPr/>
          </p:nvSpPr>
          <p:spPr>
            <a:xfrm>
              <a:off x="3994100" y="5007451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群組 75"/>
          <p:cNvGrpSpPr/>
          <p:nvPr/>
        </p:nvGrpSpPr>
        <p:grpSpPr>
          <a:xfrm>
            <a:off x="5155742" y="3126686"/>
            <a:ext cx="1005916" cy="2277203"/>
            <a:chOff x="5155742" y="3126686"/>
            <a:chExt cx="1005916" cy="2277203"/>
          </a:xfrm>
        </p:grpSpPr>
        <p:grpSp>
          <p:nvGrpSpPr>
            <p:cNvPr id="37" name="群組 36"/>
            <p:cNvGrpSpPr/>
            <p:nvPr/>
          </p:nvGrpSpPr>
          <p:grpSpPr>
            <a:xfrm>
              <a:off x="5167236" y="3126686"/>
              <a:ext cx="483482" cy="1897007"/>
              <a:chOff x="174334" y="3083303"/>
              <a:chExt cx="483482" cy="1897007"/>
            </a:xfrm>
          </p:grpSpPr>
          <p:sp>
            <p:nvSpPr>
              <p:cNvPr id="38" name="文字方塊 37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1" name="文字方塊 60"/>
            <p:cNvSpPr txBox="1"/>
            <p:nvPr/>
          </p:nvSpPr>
          <p:spPr>
            <a:xfrm>
              <a:off x="5155742" y="5003779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群組 76"/>
          <p:cNvGrpSpPr/>
          <p:nvPr/>
        </p:nvGrpSpPr>
        <p:grpSpPr>
          <a:xfrm>
            <a:off x="6317370" y="3127696"/>
            <a:ext cx="1005916" cy="2274867"/>
            <a:chOff x="6317370" y="3127696"/>
            <a:chExt cx="1005916" cy="2274867"/>
          </a:xfrm>
        </p:grpSpPr>
        <p:grpSp>
          <p:nvGrpSpPr>
            <p:cNvPr id="44" name="群組 43"/>
            <p:cNvGrpSpPr/>
            <p:nvPr/>
          </p:nvGrpSpPr>
          <p:grpSpPr>
            <a:xfrm>
              <a:off x="6328878" y="3127696"/>
              <a:ext cx="483482" cy="1897007"/>
              <a:chOff x="174334" y="3083303"/>
              <a:chExt cx="483482" cy="1897007"/>
            </a:xfrm>
          </p:grpSpPr>
          <p:sp>
            <p:nvSpPr>
              <p:cNvPr id="45" name="文字方塊 44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文字方塊 46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" name="文字方塊 47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9" name="文字方塊 48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2" name="文字方塊 61"/>
            <p:cNvSpPr txBox="1"/>
            <p:nvPr/>
          </p:nvSpPr>
          <p:spPr>
            <a:xfrm>
              <a:off x="6317370" y="5002453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7479012" y="3131368"/>
            <a:ext cx="1005916" cy="2276149"/>
            <a:chOff x="7479012" y="3131368"/>
            <a:chExt cx="1005916" cy="2276149"/>
          </a:xfrm>
        </p:grpSpPr>
        <p:grpSp>
          <p:nvGrpSpPr>
            <p:cNvPr id="51" name="群組 50"/>
            <p:cNvGrpSpPr/>
            <p:nvPr/>
          </p:nvGrpSpPr>
          <p:grpSpPr>
            <a:xfrm>
              <a:off x="7494046" y="3131368"/>
              <a:ext cx="483482" cy="1897007"/>
              <a:chOff x="174334" y="3083303"/>
              <a:chExt cx="483482" cy="1897007"/>
            </a:xfrm>
          </p:grpSpPr>
          <p:sp>
            <p:nvSpPr>
              <p:cNvPr id="52" name="文字方塊 51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文字方塊 52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文字方塊 53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文字方塊 54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文字方塊 55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3" name="文字方塊 62"/>
            <p:cNvSpPr txBox="1"/>
            <p:nvPr/>
          </p:nvSpPr>
          <p:spPr>
            <a:xfrm>
              <a:off x="7479012" y="5007407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4" name="文字方塊 63"/>
          <p:cNvSpPr txBox="1"/>
          <p:nvPr/>
        </p:nvSpPr>
        <p:spPr>
          <a:xfrm>
            <a:off x="1728428" y="2767670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2890070" y="2771239"/>
            <a:ext cx="883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055238" y="2768920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5210500" y="2771239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6378540" y="2771239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541494" y="2782979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 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6266330" y="53923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堆疊已滿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7494704" y="53903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推入失敗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7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堆疊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用陣列實作</a:t>
            </a:r>
            <a:r>
              <a:rPr lang="en-US" altLang="zh-TW" dirty="0" smtClean="0"/>
              <a:t>Pop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檢查堆疊是否為空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若堆疊不為空，則讀出陣列中第</a:t>
            </a:r>
            <a:r>
              <a:rPr lang="en-US" altLang="zh-TW" dirty="0" smtClean="0"/>
              <a:t>Top</a:t>
            </a:r>
            <a:r>
              <a:rPr lang="zh-TW" altLang="en-US" dirty="0" smtClean="0"/>
              <a:t>個位置</a:t>
            </a:r>
            <a:r>
              <a:rPr lang="en-US" altLang="zh-TW" dirty="0" smtClean="0"/>
              <a:t>(Item[Top])</a:t>
            </a:r>
            <a:r>
              <a:rPr lang="zh-TW" altLang="en-US" dirty="0" smtClean="0"/>
              <a:t>，並且</a:t>
            </a:r>
            <a:r>
              <a:rPr lang="en-US" altLang="zh-TW" dirty="0" smtClean="0"/>
              <a:t>Top</a:t>
            </a:r>
            <a:r>
              <a:rPr lang="zh-TW" altLang="en-US" dirty="0" smtClean="0"/>
              <a:t>減</a:t>
            </a:r>
            <a:r>
              <a:rPr lang="en-US" altLang="zh-TW" dirty="0" smtClean="0"/>
              <a:t>1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smtClean="0">
                <a:solidFill>
                  <a:srgbClr val="C00000"/>
                </a:solidFill>
              </a:rPr>
              <a:t>Empty</a:t>
            </a:r>
            <a:r>
              <a:rPr lang="zh-TW" altLang="en-US" dirty="0" smtClean="0">
                <a:solidFill>
                  <a:srgbClr val="C00000"/>
                </a:solidFill>
              </a:rPr>
              <a:t>條件</a:t>
            </a:r>
            <a:r>
              <a:rPr lang="zh-TW" altLang="en-US" dirty="0" smtClean="0"/>
              <a:t>：</a:t>
            </a:r>
            <a:r>
              <a:rPr lang="en-US" altLang="zh-TW" dirty="0" smtClean="0"/>
              <a:t>S </a:t>
            </a:r>
            <a:r>
              <a:rPr lang="en-US" altLang="zh-TW" dirty="0" smtClean="0">
                <a:sym typeface="Symbol"/>
              </a:rPr>
              <a:t> Top == – 1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888181" y="3147463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4044065" y="3147988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5205707" y="3148998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" name="表格 27"/>
          <p:cNvGraphicFramePr>
            <a:graphicFrameLocks noGrp="1"/>
          </p:cNvGraphicFramePr>
          <p:nvPr>
            <p:extLst/>
          </p:nvPr>
        </p:nvGraphicFramePr>
        <p:xfrm>
          <a:off x="6370875" y="3152670"/>
          <a:ext cx="439965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39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5" name="群組 44"/>
          <p:cNvGrpSpPr/>
          <p:nvPr/>
        </p:nvGrpSpPr>
        <p:grpSpPr>
          <a:xfrm>
            <a:off x="2381038" y="3126161"/>
            <a:ext cx="1005916" cy="2281400"/>
            <a:chOff x="2381038" y="3126161"/>
            <a:chExt cx="1005916" cy="2281400"/>
          </a:xfrm>
        </p:grpSpPr>
        <p:grpSp>
          <p:nvGrpSpPr>
            <p:cNvPr id="8" name="群組 7"/>
            <p:cNvGrpSpPr/>
            <p:nvPr/>
          </p:nvGrpSpPr>
          <p:grpSpPr>
            <a:xfrm>
              <a:off x="2398290" y="3126161"/>
              <a:ext cx="483482" cy="1897007"/>
              <a:chOff x="174334" y="3083303"/>
              <a:chExt cx="483482" cy="1897007"/>
            </a:xfrm>
          </p:grpSpPr>
          <p:sp>
            <p:nvSpPr>
              <p:cNvPr id="9" name="文字方塊 8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5" name="文字方塊 34"/>
            <p:cNvSpPr txBox="1"/>
            <p:nvPr/>
          </p:nvSpPr>
          <p:spPr>
            <a:xfrm>
              <a:off x="2381038" y="5007451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3542680" y="3126686"/>
            <a:ext cx="1005916" cy="2277203"/>
            <a:chOff x="3542680" y="3126686"/>
            <a:chExt cx="1005916" cy="2277203"/>
          </a:xfrm>
        </p:grpSpPr>
        <p:grpSp>
          <p:nvGrpSpPr>
            <p:cNvPr id="15" name="群組 14"/>
            <p:cNvGrpSpPr/>
            <p:nvPr/>
          </p:nvGrpSpPr>
          <p:grpSpPr>
            <a:xfrm>
              <a:off x="3554174" y="3126686"/>
              <a:ext cx="483482" cy="1897007"/>
              <a:chOff x="174334" y="3083303"/>
              <a:chExt cx="483482" cy="1897007"/>
            </a:xfrm>
          </p:grpSpPr>
          <p:sp>
            <p:nvSpPr>
              <p:cNvPr id="16" name="文字方塊 15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文字方塊 19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" name="文字方塊 35"/>
            <p:cNvSpPr txBox="1"/>
            <p:nvPr/>
          </p:nvSpPr>
          <p:spPr>
            <a:xfrm>
              <a:off x="3542680" y="5003779"/>
              <a:ext cx="1005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0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4609422" y="3127696"/>
            <a:ext cx="1198277" cy="2274867"/>
            <a:chOff x="4609422" y="3127696"/>
            <a:chExt cx="1198277" cy="2274867"/>
          </a:xfrm>
        </p:grpSpPr>
        <p:grpSp>
          <p:nvGrpSpPr>
            <p:cNvPr id="22" name="群組 21"/>
            <p:cNvGrpSpPr/>
            <p:nvPr/>
          </p:nvGrpSpPr>
          <p:grpSpPr>
            <a:xfrm>
              <a:off x="4715816" y="3127696"/>
              <a:ext cx="483482" cy="1897007"/>
              <a:chOff x="174334" y="3083303"/>
              <a:chExt cx="483482" cy="1897007"/>
            </a:xfrm>
          </p:grpSpPr>
          <p:sp>
            <p:nvSpPr>
              <p:cNvPr id="23" name="文字方塊 22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字方塊 26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7" name="文字方塊 36"/>
            <p:cNvSpPr txBox="1"/>
            <p:nvPr/>
          </p:nvSpPr>
          <p:spPr>
            <a:xfrm>
              <a:off x="4609422" y="5002453"/>
              <a:ext cx="1198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–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群組 47"/>
          <p:cNvGrpSpPr/>
          <p:nvPr/>
        </p:nvGrpSpPr>
        <p:grpSpPr>
          <a:xfrm>
            <a:off x="5771064" y="3131368"/>
            <a:ext cx="1198277" cy="2276149"/>
            <a:chOff x="5771064" y="3131368"/>
            <a:chExt cx="1198277" cy="2276149"/>
          </a:xfrm>
        </p:grpSpPr>
        <p:grpSp>
          <p:nvGrpSpPr>
            <p:cNvPr id="29" name="群組 28"/>
            <p:cNvGrpSpPr/>
            <p:nvPr/>
          </p:nvGrpSpPr>
          <p:grpSpPr>
            <a:xfrm>
              <a:off x="5880984" y="3131368"/>
              <a:ext cx="483482" cy="1897007"/>
              <a:chOff x="174334" y="3083303"/>
              <a:chExt cx="483482" cy="1897007"/>
            </a:xfrm>
          </p:grpSpPr>
          <p:sp>
            <p:nvSpPr>
              <p:cNvPr id="30" name="文字方塊 29"/>
              <p:cNvSpPr txBox="1"/>
              <p:nvPr/>
            </p:nvSpPr>
            <p:spPr>
              <a:xfrm>
                <a:off x="174992" y="4580200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[0]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字方塊 30"/>
              <p:cNvSpPr txBox="1"/>
              <p:nvPr/>
            </p:nvSpPr>
            <p:spPr>
              <a:xfrm>
                <a:off x="174992" y="4206387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文字方塊 31"/>
              <p:cNvSpPr txBox="1"/>
              <p:nvPr/>
            </p:nvSpPr>
            <p:spPr>
              <a:xfrm>
                <a:off x="174334" y="3830929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字方塊 32"/>
              <p:cNvSpPr txBox="1"/>
              <p:nvPr/>
            </p:nvSpPr>
            <p:spPr>
              <a:xfrm>
                <a:off x="174334" y="3457116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[3]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174992" y="3083303"/>
                <a:ext cx="48282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0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[4]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" name="文字方塊 37"/>
            <p:cNvSpPr txBox="1"/>
            <p:nvPr/>
          </p:nvSpPr>
          <p:spPr>
            <a:xfrm>
              <a:off x="5771064" y="5007407"/>
              <a:ext cx="119827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Top = –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4653268" y="539239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堆疊已空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881642" y="539030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彈出失敗</a:t>
            </a:r>
            <a:endParaRPr lang="zh-TW" altLang="en-US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54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用陣列實作佇列 </a:t>
            </a:r>
            <a:r>
              <a:rPr lang="en-US" altLang="zh-TW" dirty="0" smtClean="0"/>
              <a:t>(1/11)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 err="1" smtClean="0"/>
              <a:t>typedef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struct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tagQUEUE</a:t>
            </a:r>
            <a:r>
              <a:rPr lang="en-US" altLang="zh-TW" dirty="0" smtClean="0"/>
              <a:t> {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smtClean="0"/>
              <a:t>char item[MAX_ITEM];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front;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rear;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} QUEUE;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 smtClean="0"/>
              <a:t>QUEUE Que;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初始值：</a:t>
            </a:r>
            <a:r>
              <a:rPr lang="en-US" altLang="zh-TW" dirty="0" err="1" smtClean="0"/>
              <a:t>Que.front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C00000"/>
                </a:solidFill>
              </a:rPr>
              <a:t>– 1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Que.rear</a:t>
            </a:r>
            <a:r>
              <a:rPr lang="en-US" altLang="zh-TW" dirty="0" smtClean="0"/>
              <a:t> = </a:t>
            </a:r>
            <a:r>
              <a:rPr lang="en-US" altLang="zh-TW" dirty="0" smtClean="0">
                <a:solidFill>
                  <a:srgbClr val="C00000"/>
                </a:solidFill>
              </a:rPr>
              <a:t>– 1</a:t>
            </a:r>
          </a:p>
          <a:p>
            <a:r>
              <a:rPr lang="zh-TW" altLang="en-US" dirty="0" smtClean="0"/>
              <a:t>空佇列：</a:t>
            </a:r>
            <a:r>
              <a:rPr lang="en-US" altLang="zh-TW" dirty="0" err="1" smtClean="0"/>
              <a:t>Que.front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=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Que.rear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3907766" y="1700808"/>
            <a:ext cx="18646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儲存佇列資料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3907766" y="2060848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紀錄佇列</a:t>
            </a:r>
            <a:r>
              <a:rPr lang="zh-TW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端元素所在位置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907766" y="2420888"/>
            <a:ext cx="3403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//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紀錄佇列</a:t>
            </a:r>
            <a:r>
              <a:rPr lang="zh-TW" altLang="en-US" sz="2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端元素所在位置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3571317" y="460602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群組 10"/>
          <p:cNvGrpSpPr/>
          <p:nvPr/>
        </p:nvGrpSpPr>
        <p:grpSpPr>
          <a:xfrm>
            <a:off x="2915816" y="3971031"/>
            <a:ext cx="734688" cy="635470"/>
            <a:chOff x="3506994" y="3971031"/>
            <a:chExt cx="734688" cy="635470"/>
          </a:xfrm>
        </p:grpSpPr>
        <p:sp>
          <p:nvSpPr>
            <p:cNvPr id="12" name="文字方塊 11"/>
            <p:cNvSpPr txBox="1"/>
            <p:nvPr/>
          </p:nvSpPr>
          <p:spPr>
            <a:xfrm>
              <a:off x="3506994" y="3971031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線單箭頭接點 12"/>
            <p:cNvCxnSpPr>
              <a:stCxn id="12" idx="2"/>
            </p:cNvCxnSpPr>
            <p:nvPr/>
          </p:nvCxnSpPr>
          <p:spPr>
            <a:xfrm>
              <a:off x="3874338" y="4371141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群組 13"/>
          <p:cNvGrpSpPr/>
          <p:nvPr/>
        </p:nvGrpSpPr>
        <p:grpSpPr>
          <a:xfrm>
            <a:off x="6100667" y="5011942"/>
            <a:ext cx="649730" cy="658898"/>
            <a:chOff x="6100667" y="5011942"/>
            <a:chExt cx="649730" cy="658898"/>
          </a:xfrm>
        </p:grpSpPr>
        <p:sp>
          <p:nvSpPr>
            <p:cNvPr id="16" name="文字方塊 15"/>
            <p:cNvSpPr txBox="1"/>
            <p:nvPr/>
          </p:nvSpPr>
          <p:spPr>
            <a:xfrm>
              <a:off x="6100667" y="5270730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線單箭頭接點 16"/>
            <p:cNvCxnSpPr>
              <a:stCxn id="16" idx="0"/>
            </p:cNvCxnSpPr>
            <p:nvPr/>
          </p:nvCxnSpPr>
          <p:spPr>
            <a:xfrm flipV="1">
              <a:off x="6425532" y="5011942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2492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(2/11)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檢查佇列</a:t>
            </a:r>
            <a:r>
              <a:rPr lang="zh-TW" altLang="en-US" dirty="0" smtClean="0">
                <a:solidFill>
                  <a:srgbClr val="C00000"/>
                </a:solidFill>
              </a:rPr>
              <a:t>是否已滿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若還有空間則</a:t>
            </a:r>
            <a:r>
              <a:rPr lang="en-US" altLang="zh-TW" dirty="0" smtClean="0"/>
              <a:t>rear</a:t>
            </a:r>
            <a:r>
              <a:rPr lang="zh-TW" altLang="en-US" dirty="0" smtClean="0"/>
              <a:t>加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，並將新項目放入</a:t>
            </a:r>
            <a:r>
              <a:rPr lang="en-US" altLang="zh-TW" dirty="0" smtClean="0"/>
              <a:t>item[rear]</a:t>
            </a:r>
          </a:p>
          <a:p>
            <a:endParaRPr lang="en-US" altLang="zh-TW" dirty="0"/>
          </a:p>
          <a:p>
            <a:r>
              <a:rPr lang="en-US" altLang="zh-TW" dirty="0" err="1" smtClean="0"/>
              <a:t>Dequeue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檢查佇列</a:t>
            </a:r>
            <a:r>
              <a:rPr lang="zh-TW" altLang="en-US" dirty="0" smtClean="0">
                <a:solidFill>
                  <a:srgbClr val="C00000"/>
                </a:solidFill>
              </a:rPr>
              <a:t>是否為空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若尚有資料則</a:t>
            </a:r>
            <a:r>
              <a:rPr lang="en-US" altLang="zh-TW" dirty="0" smtClean="0"/>
              <a:t>front</a:t>
            </a:r>
            <a:r>
              <a:rPr lang="zh-TW" altLang="en-US" dirty="0" smtClean="0"/>
              <a:t>加</a:t>
            </a:r>
            <a:r>
              <a:rPr lang="en-US" altLang="zh-TW" dirty="0" smtClean="0"/>
              <a:t>1</a:t>
            </a:r>
            <a:r>
              <a:rPr lang="zh-TW" altLang="en-US" dirty="0" smtClean="0"/>
              <a:t>，並讀出</a:t>
            </a:r>
            <a:r>
              <a:rPr lang="en-US" altLang="zh-TW" dirty="0" smtClean="0"/>
              <a:t>item[front]</a:t>
            </a:r>
            <a:r>
              <a:rPr lang="zh-TW" altLang="en-US" dirty="0" smtClean="0"/>
              <a:t>項目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09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(3/11)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(A)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1930933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1971310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2719838" y="471929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1930933" y="4090071"/>
            <a:ext cx="734688" cy="635470"/>
            <a:chOff x="1945613" y="2251518"/>
            <a:chExt cx="734688" cy="635470"/>
          </a:xfrm>
        </p:grpSpPr>
        <p:sp>
          <p:nvSpPr>
            <p:cNvPr id="39" name="文字方塊 38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/>
          <p:cNvGrpSpPr/>
          <p:nvPr/>
        </p:nvGrpSpPr>
        <p:grpSpPr>
          <a:xfrm>
            <a:off x="2721772" y="5156860"/>
            <a:ext cx="649730" cy="658898"/>
            <a:chOff x="1985990" y="3292429"/>
            <a:chExt cx="649730" cy="658898"/>
          </a:xfrm>
        </p:grpSpPr>
        <p:sp>
          <p:nvSpPr>
            <p:cNvPr id="42" name="文字方塊 4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單箭頭接點 42"/>
            <p:cNvCxnSpPr>
              <a:stCxn id="4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字方塊 43"/>
          <p:cNvSpPr txBox="1"/>
          <p:nvPr/>
        </p:nvSpPr>
        <p:spPr>
          <a:xfrm>
            <a:off x="2045643" y="470828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371502" y="3643794"/>
            <a:ext cx="5607170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是否已滿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若還有空間則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，並將新項目放入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item[rear]</a:t>
            </a:r>
          </a:p>
        </p:txBody>
      </p:sp>
    </p:spTree>
    <p:extLst>
      <p:ext uri="{BB962C8B-B14F-4D97-AF65-F5344CB8AC3E}">
        <p14:creationId xmlns:p14="http://schemas.microsoft.com/office/powerpoint/2010/main" val="123405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(4/11)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(B)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(C)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1930933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3334218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2719838" y="471929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1930933" y="4090071"/>
            <a:ext cx="734688" cy="635470"/>
            <a:chOff x="1945613" y="2251518"/>
            <a:chExt cx="734688" cy="635470"/>
          </a:xfrm>
        </p:grpSpPr>
        <p:sp>
          <p:nvSpPr>
            <p:cNvPr id="39" name="文字方塊 38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/>
          <p:cNvGrpSpPr/>
          <p:nvPr/>
        </p:nvGrpSpPr>
        <p:grpSpPr>
          <a:xfrm>
            <a:off x="3963916" y="5156860"/>
            <a:ext cx="649730" cy="658898"/>
            <a:chOff x="1985990" y="3292429"/>
            <a:chExt cx="649730" cy="658898"/>
          </a:xfrm>
        </p:grpSpPr>
        <p:sp>
          <p:nvSpPr>
            <p:cNvPr id="42" name="文字方塊 4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單箭頭接點 42"/>
            <p:cNvCxnSpPr>
              <a:stCxn id="4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字方塊 43"/>
          <p:cNvSpPr txBox="1"/>
          <p:nvPr/>
        </p:nvSpPr>
        <p:spPr>
          <a:xfrm>
            <a:off x="2045643" y="470828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334218" y="1297628"/>
            <a:ext cx="5607170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是否已滿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若還有空間則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，並將新項目放入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item[rear]</a:t>
            </a:r>
          </a:p>
        </p:txBody>
      </p:sp>
    </p:spTree>
    <p:extLst>
      <p:ext uri="{BB962C8B-B14F-4D97-AF65-F5344CB8AC3E}">
        <p14:creationId xmlns:p14="http://schemas.microsoft.com/office/powerpoint/2010/main" val="310140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(5/11)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Dequeue</a:t>
            </a:r>
            <a:r>
              <a:rPr lang="en-US" altLang="zh-TW" dirty="0" smtClean="0"/>
              <a:t>()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en-US" altLang="zh-TW" dirty="0" err="1" smtClean="0"/>
              <a:t>Dequeue</a:t>
            </a:r>
            <a:r>
              <a:rPr lang="en-US" altLang="zh-TW" dirty="0" smtClean="0"/>
              <a:t>()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2681395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3963916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2719838" y="471929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3311093" y="4090071"/>
            <a:ext cx="734688" cy="635470"/>
            <a:chOff x="1945613" y="2251518"/>
            <a:chExt cx="734688" cy="635470"/>
          </a:xfrm>
        </p:grpSpPr>
        <p:sp>
          <p:nvSpPr>
            <p:cNvPr id="39" name="文字方塊 38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/>
          <p:cNvGrpSpPr/>
          <p:nvPr/>
        </p:nvGrpSpPr>
        <p:grpSpPr>
          <a:xfrm>
            <a:off x="3963916" y="5156860"/>
            <a:ext cx="649730" cy="658898"/>
            <a:chOff x="1985990" y="3292429"/>
            <a:chExt cx="649730" cy="658898"/>
          </a:xfrm>
        </p:grpSpPr>
        <p:sp>
          <p:nvSpPr>
            <p:cNvPr id="42" name="文字方塊 4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單箭頭接點 42"/>
            <p:cNvCxnSpPr>
              <a:stCxn id="4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字方塊 43"/>
          <p:cNvSpPr txBox="1"/>
          <p:nvPr/>
        </p:nvSpPr>
        <p:spPr>
          <a:xfrm>
            <a:off x="2045643" y="470828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416083" y="1268951"/>
            <a:ext cx="5305246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是否為空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若尚有資料則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front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，並讀出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item[front]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</a:t>
            </a:r>
          </a:p>
        </p:txBody>
      </p:sp>
    </p:spTree>
    <p:extLst>
      <p:ext uri="{BB962C8B-B14F-4D97-AF65-F5344CB8AC3E}">
        <p14:creationId xmlns:p14="http://schemas.microsoft.com/office/powerpoint/2010/main" val="214191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(6/11)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Dequeue</a:t>
            </a:r>
            <a:r>
              <a:rPr lang="en-US" altLang="zh-TW" dirty="0" smtClean="0"/>
              <a:t>()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依序加入</a:t>
            </a:r>
            <a:r>
              <a:rPr lang="en-US" altLang="zh-TW" dirty="0" smtClean="0"/>
              <a:t>D~H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3923539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3963916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2719838" y="471929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3923539" y="4090071"/>
            <a:ext cx="734688" cy="635470"/>
            <a:chOff x="1945613" y="2251518"/>
            <a:chExt cx="734688" cy="635470"/>
          </a:xfrm>
        </p:grpSpPr>
        <p:sp>
          <p:nvSpPr>
            <p:cNvPr id="39" name="文字方塊 38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/>
          <p:cNvGrpSpPr/>
          <p:nvPr/>
        </p:nvGrpSpPr>
        <p:grpSpPr>
          <a:xfrm>
            <a:off x="7103780" y="5156860"/>
            <a:ext cx="649730" cy="658898"/>
            <a:chOff x="1985990" y="3292429"/>
            <a:chExt cx="649730" cy="658898"/>
          </a:xfrm>
        </p:grpSpPr>
        <p:sp>
          <p:nvSpPr>
            <p:cNvPr id="42" name="文字方塊 4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單箭頭接點 42"/>
            <p:cNvCxnSpPr>
              <a:stCxn id="4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字方塊 43"/>
          <p:cNvSpPr txBox="1"/>
          <p:nvPr/>
        </p:nvSpPr>
        <p:spPr>
          <a:xfrm>
            <a:off x="2045643" y="470828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529531" y="2911410"/>
            <a:ext cx="2499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= rear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：空佇列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416083" y="1068896"/>
            <a:ext cx="5305246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是否為空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若尚有資料則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front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，並讀出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item[front]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</a:t>
            </a:r>
          </a:p>
        </p:txBody>
      </p:sp>
      <p:sp>
        <p:nvSpPr>
          <p:cNvPr id="25" name="矩形 24"/>
          <p:cNvSpPr/>
          <p:nvPr/>
        </p:nvSpPr>
        <p:spPr>
          <a:xfrm>
            <a:off x="3265121" y="3514617"/>
            <a:ext cx="5607170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是否已滿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若還有空間則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，並將新項目放入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item[rear]</a:t>
            </a:r>
          </a:p>
        </p:txBody>
      </p:sp>
    </p:spTree>
    <p:extLst>
      <p:ext uri="{BB962C8B-B14F-4D97-AF65-F5344CB8AC3E}">
        <p14:creationId xmlns:p14="http://schemas.microsoft.com/office/powerpoint/2010/main" val="354798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4" grpId="0"/>
      <p:bldP spid="12" grpId="0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(7/11)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(I)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解決方法一：</a:t>
            </a:r>
            <a:r>
              <a:rPr lang="zh-TW" altLang="en-US" dirty="0" smtClean="0">
                <a:solidFill>
                  <a:srgbClr val="C00000"/>
                </a:solidFill>
              </a:rPr>
              <a:t>搬移資料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3923539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7095154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表格 36"/>
          <p:cNvGraphicFramePr>
            <a:graphicFrameLocks noGrp="1"/>
          </p:cNvGraphicFramePr>
          <p:nvPr>
            <p:extLst/>
          </p:nvPr>
        </p:nvGraphicFramePr>
        <p:xfrm>
          <a:off x="2719838" y="4719291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2638265" y="4090071"/>
            <a:ext cx="734688" cy="635470"/>
            <a:chOff x="1945613" y="2251518"/>
            <a:chExt cx="734688" cy="635470"/>
          </a:xfrm>
        </p:grpSpPr>
        <p:sp>
          <p:nvSpPr>
            <p:cNvPr id="39" name="文字方塊 38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線單箭頭接點 39"/>
            <p:cNvCxnSpPr>
              <a:stCxn id="39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群組 40"/>
          <p:cNvGrpSpPr/>
          <p:nvPr/>
        </p:nvGrpSpPr>
        <p:grpSpPr>
          <a:xfrm>
            <a:off x="5818506" y="5156860"/>
            <a:ext cx="649730" cy="658898"/>
            <a:chOff x="1985990" y="3292429"/>
            <a:chExt cx="649730" cy="658898"/>
          </a:xfrm>
        </p:grpSpPr>
        <p:sp>
          <p:nvSpPr>
            <p:cNvPr id="42" name="文字方塊 41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3" name="直線單箭頭接點 42"/>
            <p:cNvCxnSpPr>
              <a:stCxn id="42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字方塊 43"/>
          <p:cNvSpPr txBox="1"/>
          <p:nvPr/>
        </p:nvSpPr>
        <p:spPr>
          <a:xfrm>
            <a:off x="2045643" y="470828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331160" y="1030208"/>
            <a:ext cx="5607170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是否已滿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若還有空間則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，並將新項目放入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item[rear]</a:t>
            </a:r>
          </a:p>
        </p:txBody>
      </p:sp>
      <p:sp>
        <p:nvSpPr>
          <p:cNvPr id="16" name="圓角矩形 15"/>
          <p:cNvSpPr/>
          <p:nvPr/>
        </p:nvSpPr>
        <p:spPr>
          <a:xfrm>
            <a:off x="2638265" y="2238558"/>
            <a:ext cx="2097637" cy="577966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04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(8/11)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(I)</a:t>
            </a:r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r>
              <a:rPr lang="zh-TW" altLang="en-US" dirty="0" smtClean="0"/>
              <a:t>解決方法二：</a:t>
            </a:r>
            <a:r>
              <a:rPr lang="zh-TW" altLang="en-US" dirty="0" smtClean="0">
                <a:solidFill>
                  <a:srgbClr val="C00000"/>
                </a:solidFill>
              </a:rPr>
              <a:t>環狀 </a:t>
            </a:r>
            <a:r>
              <a:rPr lang="en-US" altLang="zh-TW" dirty="0" smtClean="0">
                <a:solidFill>
                  <a:srgbClr val="C00000"/>
                </a:solidFill>
              </a:rPr>
              <a:t>(3.4)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719838" y="2344447"/>
          <a:ext cx="5013512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6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68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" name="群組 13"/>
          <p:cNvGrpSpPr/>
          <p:nvPr/>
        </p:nvGrpSpPr>
        <p:grpSpPr>
          <a:xfrm>
            <a:off x="3923539" y="1715227"/>
            <a:ext cx="734688" cy="635470"/>
            <a:chOff x="1945613" y="2251518"/>
            <a:chExt cx="734688" cy="635470"/>
          </a:xfrm>
        </p:grpSpPr>
        <p:sp>
          <p:nvSpPr>
            <p:cNvPr id="8" name="文字方塊 7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線單箭頭接點 8"/>
            <p:cNvCxnSpPr>
              <a:stCxn id="8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群組 12"/>
          <p:cNvGrpSpPr/>
          <p:nvPr/>
        </p:nvGrpSpPr>
        <p:grpSpPr>
          <a:xfrm>
            <a:off x="7095154" y="2782016"/>
            <a:ext cx="649730" cy="658898"/>
            <a:chOff x="1985990" y="3292429"/>
            <a:chExt cx="649730" cy="658898"/>
          </a:xfrm>
        </p:grpSpPr>
        <p:sp>
          <p:nvSpPr>
            <p:cNvPr id="10" name="文字方塊 9"/>
            <p:cNvSpPr txBox="1"/>
            <p:nvPr/>
          </p:nvSpPr>
          <p:spPr>
            <a:xfrm>
              <a:off x="1985990" y="3551217"/>
              <a:ext cx="649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rear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線單箭頭接點 10"/>
            <p:cNvCxnSpPr>
              <a:stCxn id="10" idx="0"/>
            </p:cNvCxnSpPr>
            <p:nvPr/>
          </p:nvCxnSpPr>
          <p:spPr>
            <a:xfrm flipV="1">
              <a:off x="2310855" y="3292429"/>
              <a:ext cx="0" cy="258788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字方塊 14"/>
          <p:cNvSpPr txBox="1"/>
          <p:nvPr/>
        </p:nvSpPr>
        <p:spPr>
          <a:xfrm>
            <a:off x="2045643" y="23334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群組 56"/>
          <p:cNvGrpSpPr/>
          <p:nvPr/>
        </p:nvGrpSpPr>
        <p:grpSpPr>
          <a:xfrm>
            <a:off x="4027051" y="3889505"/>
            <a:ext cx="2837145" cy="2731997"/>
            <a:chOff x="4027051" y="3889505"/>
            <a:chExt cx="2837145" cy="2731997"/>
          </a:xfrm>
        </p:grpSpPr>
        <p:sp>
          <p:nvSpPr>
            <p:cNvPr id="16" name="甜甜圈 15"/>
            <p:cNvSpPr/>
            <p:nvPr/>
          </p:nvSpPr>
          <p:spPr>
            <a:xfrm>
              <a:off x="4368519" y="4201065"/>
              <a:ext cx="2160000" cy="2160000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18" name="直線接點 17"/>
            <p:cNvCxnSpPr>
              <a:stCxn id="16" idx="0"/>
              <a:endCxn id="16" idx="4"/>
            </p:cNvCxnSpPr>
            <p:nvPr/>
          </p:nvCxnSpPr>
          <p:spPr>
            <a:xfrm>
              <a:off x="5448519" y="4201065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16" idx="7"/>
            </p:cNvCxnSpPr>
            <p:nvPr/>
          </p:nvCxnSpPr>
          <p:spPr>
            <a:xfrm flipH="1">
              <a:off x="5831457" y="4517390"/>
              <a:ext cx="380737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6" idx="1"/>
            </p:cNvCxnSpPr>
            <p:nvPr/>
          </p:nvCxnSpPr>
          <p:spPr>
            <a:xfrm>
              <a:off x="4684844" y="4517390"/>
              <a:ext cx="396114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/>
            <p:cNvCxnSpPr>
              <a:stCxn id="16" idx="2"/>
              <a:endCxn id="16" idx="6"/>
            </p:cNvCxnSpPr>
            <p:nvPr/>
          </p:nvCxnSpPr>
          <p:spPr>
            <a:xfrm>
              <a:off x="4368519" y="5281065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/>
            <p:cNvCxnSpPr/>
            <p:nvPr/>
          </p:nvCxnSpPr>
          <p:spPr>
            <a:xfrm>
              <a:off x="5448519" y="5804016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/>
            <p:cNvCxnSpPr/>
            <p:nvPr/>
          </p:nvCxnSpPr>
          <p:spPr>
            <a:xfrm>
              <a:off x="5988519" y="5291390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/>
            <p:cNvCxnSpPr>
              <a:endCxn id="16" idx="3"/>
            </p:cNvCxnSpPr>
            <p:nvPr/>
          </p:nvCxnSpPr>
          <p:spPr>
            <a:xfrm flipH="1">
              <a:off x="4684844" y="5650302"/>
              <a:ext cx="396114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/>
            <p:cNvCxnSpPr>
              <a:endCxn id="16" idx="5"/>
            </p:cNvCxnSpPr>
            <p:nvPr/>
          </p:nvCxnSpPr>
          <p:spPr>
            <a:xfrm>
              <a:off x="5831457" y="5650302"/>
              <a:ext cx="380737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文字方塊 47"/>
            <p:cNvSpPr txBox="1"/>
            <p:nvPr/>
          </p:nvSpPr>
          <p:spPr>
            <a:xfrm>
              <a:off x="4027051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4710722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5624549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6381372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6381372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5624549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4710722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4027051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6" name="文字方塊 55"/>
          <p:cNvSpPr txBox="1"/>
          <p:nvPr/>
        </p:nvSpPr>
        <p:spPr>
          <a:xfrm>
            <a:off x="6022538" y="4798405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036636" y="540390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5605072" y="5810181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969386" y="579540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4532872" y="5378028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4570257" y="4765646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4" name="群組 63"/>
          <p:cNvGrpSpPr/>
          <p:nvPr/>
        </p:nvGrpSpPr>
        <p:grpSpPr>
          <a:xfrm>
            <a:off x="5497953" y="3334117"/>
            <a:ext cx="734688" cy="635470"/>
            <a:chOff x="1945613" y="2251518"/>
            <a:chExt cx="734688" cy="635470"/>
          </a:xfrm>
        </p:grpSpPr>
        <p:sp>
          <p:nvSpPr>
            <p:cNvPr id="65" name="文字方塊 64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線單箭頭接點 65"/>
            <p:cNvCxnSpPr>
              <a:stCxn id="65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文字方塊 67"/>
          <p:cNvSpPr txBox="1"/>
          <p:nvPr/>
        </p:nvSpPr>
        <p:spPr>
          <a:xfrm>
            <a:off x="3089622" y="4538686"/>
            <a:ext cx="64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單箭頭接點 68"/>
          <p:cNvCxnSpPr>
            <a:stCxn id="68" idx="3"/>
            <a:endCxn id="48" idx="1"/>
          </p:cNvCxnSpPr>
          <p:nvPr/>
        </p:nvCxnSpPr>
        <p:spPr>
          <a:xfrm>
            <a:off x="3739352" y="4738741"/>
            <a:ext cx="287699" cy="232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3331160" y="1030208"/>
            <a:ext cx="5607170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是否已滿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若還有空間則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rear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，並將新項目放入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item[rear]</a:t>
            </a:r>
          </a:p>
        </p:txBody>
      </p:sp>
      <p:sp>
        <p:nvSpPr>
          <p:cNvPr id="67" name="文字方塊 66"/>
          <p:cNvSpPr txBox="1"/>
          <p:nvPr/>
        </p:nvSpPr>
        <p:spPr>
          <a:xfrm>
            <a:off x="3089622" y="5579694"/>
            <a:ext cx="64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直線單箭頭接點 69"/>
          <p:cNvCxnSpPr>
            <a:stCxn id="67" idx="3"/>
          </p:cNvCxnSpPr>
          <p:nvPr/>
        </p:nvCxnSpPr>
        <p:spPr>
          <a:xfrm>
            <a:off x="3739352" y="5779749"/>
            <a:ext cx="287699" cy="232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6393152" y="3889505"/>
            <a:ext cx="1469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</a:t>
            </a:r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rear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73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8" grpId="0"/>
      <p:bldP spid="59" grpId="0"/>
      <p:bldP spid="60" grpId="0"/>
      <p:bldP spid="61" grpId="0"/>
      <p:bldP spid="62" grpId="0"/>
      <p:bldP spid="68" grpId="0"/>
      <p:bldP spid="67" grpId="0"/>
      <p:bldP spid="67" grpId="1"/>
      <p:bldP spid="7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(9/11)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rear = (rear + 1) </a:t>
            </a:r>
            <a:r>
              <a:rPr lang="en-US" altLang="zh-TW" dirty="0">
                <a:solidFill>
                  <a:srgbClr val="C00000"/>
                </a:solidFill>
              </a:rPr>
              <a:t>% MAX_ITEM</a:t>
            </a:r>
            <a:r>
              <a:rPr lang="en-US" altLang="zh-TW" dirty="0"/>
              <a:t>;</a:t>
            </a:r>
            <a:endParaRPr lang="zh-TW" altLang="en-US" dirty="0"/>
          </a:p>
          <a:p>
            <a:r>
              <a:rPr lang="en-US" altLang="zh-TW" dirty="0" smtClean="0"/>
              <a:t>front = (front + 1) </a:t>
            </a:r>
            <a:r>
              <a:rPr lang="en-US" altLang="zh-TW" dirty="0" smtClean="0">
                <a:solidFill>
                  <a:srgbClr val="C00000"/>
                </a:solidFill>
              </a:rPr>
              <a:t>% MAX_ITEM</a:t>
            </a:r>
            <a:r>
              <a:rPr lang="en-US" altLang="zh-TW" dirty="0" smtClean="0"/>
              <a:t>;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2994312" y="3461860"/>
            <a:ext cx="2837145" cy="2731997"/>
            <a:chOff x="4027051" y="3889505"/>
            <a:chExt cx="2837145" cy="2731997"/>
          </a:xfrm>
        </p:grpSpPr>
        <p:sp>
          <p:nvSpPr>
            <p:cNvPr id="26" name="甜甜圈 25"/>
            <p:cNvSpPr/>
            <p:nvPr/>
          </p:nvSpPr>
          <p:spPr>
            <a:xfrm>
              <a:off x="4368519" y="4201065"/>
              <a:ext cx="2160000" cy="2160000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7" name="直線接點 26"/>
            <p:cNvCxnSpPr>
              <a:stCxn id="26" idx="0"/>
              <a:endCxn id="26" idx="4"/>
            </p:cNvCxnSpPr>
            <p:nvPr/>
          </p:nvCxnSpPr>
          <p:spPr>
            <a:xfrm>
              <a:off x="5448519" y="4201065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26" idx="7"/>
            </p:cNvCxnSpPr>
            <p:nvPr/>
          </p:nvCxnSpPr>
          <p:spPr>
            <a:xfrm flipH="1">
              <a:off x="5831457" y="4517390"/>
              <a:ext cx="380737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26" idx="1"/>
            </p:cNvCxnSpPr>
            <p:nvPr/>
          </p:nvCxnSpPr>
          <p:spPr>
            <a:xfrm>
              <a:off x="4684844" y="4517390"/>
              <a:ext cx="396114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26" idx="2"/>
              <a:endCxn id="26" idx="6"/>
            </p:cNvCxnSpPr>
            <p:nvPr/>
          </p:nvCxnSpPr>
          <p:spPr>
            <a:xfrm>
              <a:off x="4368519" y="5281065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5448519" y="5804016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5988519" y="5291390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endCxn id="26" idx="3"/>
            </p:cNvCxnSpPr>
            <p:nvPr/>
          </p:nvCxnSpPr>
          <p:spPr>
            <a:xfrm flipH="1">
              <a:off x="4684844" y="5650302"/>
              <a:ext cx="396114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endCxn id="26" idx="5"/>
            </p:cNvCxnSpPr>
            <p:nvPr/>
          </p:nvCxnSpPr>
          <p:spPr>
            <a:xfrm>
              <a:off x="5831457" y="5650302"/>
              <a:ext cx="380737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4027051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4710722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624549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381372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381372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624549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710722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4027051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4989799" y="437076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003897" y="497626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572333" y="5382536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936647" y="5367759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500133" y="4950383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537518" y="433800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9" name="群組 48"/>
          <p:cNvGrpSpPr/>
          <p:nvPr/>
        </p:nvGrpSpPr>
        <p:grpSpPr>
          <a:xfrm>
            <a:off x="4465214" y="2906472"/>
            <a:ext cx="734688" cy="635470"/>
            <a:chOff x="1945613" y="2251518"/>
            <a:chExt cx="734688" cy="635470"/>
          </a:xfrm>
        </p:grpSpPr>
        <p:sp>
          <p:nvSpPr>
            <p:cNvPr id="50" name="文字方塊 49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>
              <a:stCxn id="50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文字方塊 51"/>
          <p:cNvSpPr txBox="1"/>
          <p:nvPr/>
        </p:nvSpPr>
        <p:spPr>
          <a:xfrm>
            <a:off x="2056883" y="4111041"/>
            <a:ext cx="64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線單箭頭接點 52"/>
          <p:cNvCxnSpPr>
            <a:stCxn id="52" idx="3"/>
            <a:endCxn id="35" idx="1"/>
          </p:cNvCxnSpPr>
          <p:nvPr/>
        </p:nvCxnSpPr>
        <p:spPr>
          <a:xfrm>
            <a:off x="2706613" y="4311096"/>
            <a:ext cx="287699" cy="232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/>
          <p:cNvGrpSpPr/>
          <p:nvPr/>
        </p:nvGrpSpPr>
        <p:grpSpPr>
          <a:xfrm>
            <a:off x="5222701" y="3568036"/>
            <a:ext cx="734688" cy="635470"/>
            <a:chOff x="1945613" y="2251518"/>
            <a:chExt cx="734688" cy="635470"/>
          </a:xfrm>
        </p:grpSpPr>
        <p:sp>
          <p:nvSpPr>
            <p:cNvPr id="55" name="文字方塊 54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線單箭頭接點 55"/>
            <p:cNvCxnSpPr>
              <a:stCxn id="55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文字方塊 56"/>
          <p:cNvSpPr txBox="1"/>
          <p:nvPr/>
        </p:nvSpPr>
        <p:spPr>
          <a:xfrm>
            <a:off x="5957389" y="3225439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718058" y="2232676"/>
            <a:ext cx="5305246" cy="646331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檢查佇列</a:t>
            </a:r>
            <a:r>
              <a: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是否為空</a:t>
            </a:r>
            <a:endParaRPr lang="en-US" altLang="zh-TW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若尚有資料則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front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，並讀出</a:t>
            </a:r>
            <a:r>
              <a:rPr lang="en-US" altLang="zh-TW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item[front]</a:t>
            </a:r>
            <a:r>
              <a:rPr lang="zh-TW" altLang="en-US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</a:t>
            </a:r>
          </a:p>
        </p:txBody>
      </p:sp>
    </p:spTree>
    <p:extLst>
      <p:ext uri="{BB962C8B-B14F-4D97-AF65-F5344CB8AC3E}">
        <p14:creationId xmlns:p14="http://schemas.microsoft.com/office/powerpoint/2010/main" val="288997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57" grpId="0"/>
      <p:bldP spid="5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(10/11)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err="1" smtClean="0"/>
              <a:t>Enqueue</a:t>
            </a:r>
            <a:r>
              <a:rPr lang="en-US" altLang="zh-TW" dirty="0" smtClean="0"/>
              <a:t>(J)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Enqueue</a:t>
            </a:r>
            <a:r>
              <a:rPr lang="en-US" altLang="zh-TW" dirty="0" smtClean="0"/>
              <a:t>(K)</a:t>
            </a:r>
            <a:r>
              <a:rPr lang="zh-TW" altLang="en-US" dirty="0" smtClean="0"/>
              <a:t>、</a:t>
            </a:r>
            <a:r>
              <a:rPr lang="en-US" altLang="zh-TW" dirty="0" err="1" smtClean="0"/>
              <a:t>Enqueue</a:t>
            </a:r>
            <a:r>
              <a:rPr lang="en-US" altLang="zh-TW" dirty="0" smtClean="0"/>
              <a:t>(L)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2994312" y="3263462"/>
            <a:ext cx="2837145" cy="2731997"/>
            <a:chOff x="4027051" y="3889505"/>
            <a:chExt cx="2837145" cy="2731997"/>
          </a:xfrm>
        </p:grpSpPr>
        <p:sp>
          <p:nvSpPr>
            <p:cNvPr id="26" name="甜甜圈 25"/>
            <p:cNvSpPr/>
            <p:nvPr/>
          </p:nvSpPr>
          <p:spPr>
            <a:xfrm>
              <a:off x="4368519" y="4201065"/>
              <a:ext cx="2160000" cy="2160000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7" name="直線接點 26"/>
            <p:cNvCxnSpPr>
              <a:stCxn id="26" idx="0"/>
              <a:endCxn id="26" idx="4"/>
            </p:cNvCxnSpPr>
            <p:nvPr/>
          </p:nvCxnSpPr>
          <p:spPr>
            <a:xfrm>
              <a:off x="5448519" y="4201065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26" idx="7"/>
            </p:cNvCxnSpPr>
            <p:nvPr/>
          </p:nvCxnSpPr>
          <p:spPr>
            <a:xfrm flipH="1">
              <a:off x="5831457" y="4517390"/>
              <a:ext cx="380737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26" idx="1"/>
            </p:cNvCxnSpPr>
            <p:nvPr/>
          </p:nvCxnSpPr>
          <p:spPr>
            <a:xfrm>
              <a:off x="4684844" y="4517390"/>
              <a:ext cx="396114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26" idx="2"/>
              <a:endCxn id="26" idx="6"/>
            </p:cNvCxnSpPr>
            <p:nvPr/>
          </p:nvCxnSpPr>
          <p:spPr>
            <a:xfrm>
              <a:off x="4368519" y="5281065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5448519" y="5804016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5988519" y="5291390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endCxn id="26" idx="3"/>
            </p:cNvCxnSpPr>
            <p:nvPr/>
          </p:nvCxnSpPr>
          <p:spPr>
            <a:xfrm flipH="1">
              <a:off x="4684844" y="5650302"/>
              <a:ext cx="396114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endCxn id="26" idx="5"/>
            </p:cNvCxnSpPr>
            <p:nvPr/>
          </p:nvCxnSpPr>
          <p:spPr>
            <a:xfrm>
              <a:off x="5831457" y="5650302"/>
              <a:ext cx="380737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4027051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4710722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624549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381372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381372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624549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710722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4027051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4998425" y="417236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003897" y="477786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572333" y="5184138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936647" y="5169361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500133" y="4751985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537518" y="4139603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6128550" y="3913200"/>
            <a:ext cx="64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直線單箭頭接點 52"/>
          <p:cNvCxnSpPr>
            <a:stCxn id="52" idx="1"/>
            <a:endCxn id="38" idx="3"/>
          </p:cNvCxnSpPr>
          <p:nvPr/>
        </p:nvCxnSpPr>
        <p:spPr>
          <a:xfrm flipH="1">
            <a:off x="5831457" y="4113255"/>
            <a:ext cx="297093" cy="176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群組 53"/>
          <p:cNvGrpSpPr/>
          <p:nvPr/>
        </p:nvGrpSpPr>
        <p:grpSpPr>
          <a:xfrm>
            <a:off x="5222701" y="3369638"/>
            <a:ext cx="734688" cy="635470"/>
            <a:chOff x="1945613" y="2251518"/>
            <a:chExt cx="734688" cy="635470"/>
          </a:xfrm>
        </p:grpSpPr>
        <p:sp>
          <p:nvSpPr>
            <p:cNvPr id="55" name="文字方塊 54"/>
            <p:cNvSpPr txBox="1"/>
            <p:nvPr/>
          </p:nvSpPr>
          <p:spPr>
            <a:xfrm>
              <a:off x="1945613" y="2251518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6" name="直線單箭頭接點 55"/>
            <p:cNvCxnSpPr>
              <a:stCxn id="55" idx="2"/>
            </p:cNvCxnSpPr>
            <p:nvPr/>
          </p:nvCxnSpPr>
          <p:spPr>
            <a:xfrm>
              <a:off x="2312957" y="2651628"/>
              <a:ext cx="0" cy="23536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文字方塊 57"/>
          <p:cNvSpPr txBox="1"/>
          <p:nvPr/>
        </p:nvSpPr>
        <p:spPr>
          <a:xfrm>
            <a:off x="4544013" y="3726647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944788" y="3726647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495780" y="2370835"/>
            <a:ext cx="2499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 = rear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：空佇列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403818" y="2640317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8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6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用</a:t>
            </a:r>
            <a:r>
              <a:rPr lang="zh-TW" altLang="en-US" dirty="0" smtClean="0"/>
              <a:t>陣列實</a:t>
            </a:r>
            <a:r>
              <a:rPr lang="zh-TW" altLang="en-US" dirty="0"/>
              <a:t>作</a:t>
            </a:r>
            <a:r>
              <a:rPr lang="zh-TW" altLang="en-US" dirty="0" smtClean="0"/>
              <a:t>佇列 </a:t>
            </a:r>
            <a:r>
              <a:rPr lang="en-US" altLang="zh-TW" dirty="0" smtClean="0"/>
              <a:t>(11/11)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278636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允許最多存放 </a:t>
            </a:r>
            <a:r>
              <a:rPr lang="en-US" altLang="zh-TW" dirty="0" smtClean="0">
                <a:solidFill>
                  <a:srgbClr val="C00000"/>
                </a:solidFill>
              </a:rPr>
              <a:t>MAX_ITEM – 1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zh-TW" altLang="en-US" dirty="0" smtClean="0"/>
              <a:t>個項目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犧牲</a:t>
            </a:r>
            <a:r>
              <a:rPr lang="en-US" altLang="zh-TW" dirty="0" smtClean="0"/>
              <a:t>1</a:t>
            </a:r>
            <a:r>
              <a:rPr lang="zh-TW" altLang="en-US" dirty="0" smtClean="0"/>
              <a:t>個空間，換取分辨佇列為空或已滿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r>
              <a:rPr lang="zh-TW" altLang="en-US" dirty="0" smtClean="0"/>
              <a:t>多加一判斷的變數</a:t>
            </a:r>
            <a:r>
              <a:rPr lang="en-US" altLang="zh-TW" dirty="0" smtClean="0"/>
              <a:t>(tag)</a:t>
            </a:r>
            <a:r>
              <a:rPr lang="zh-TW" altLang="en-US" dirty="0" smtClean="0"/>
              <a:t>來輔助：省一個空間，但多花時間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25" name="群組 24"/>
          <p:cNvGrpSpPr/>
          <p:nvPr/>
        </p:nvGrpSpPr>
        <p:grpSpPr>
          <a:xfrm>
            <a:off x="2994312" y="2929251"/>
            <a:ext cx="2837145" cy="2731997"/>
            <a:chOff x="4027051" y="3889505"/>
            <a:chExt cx="2837145" cy="2731997"/>
          </a:xfrm>
        </p:grpSpPr>
        <p:sp>
          <p:nvSpPr>
            <p:cNvPr id="26" name="甜甜圈 25"/>
            <p:cNvSpPr/>
            <p:nvPr/>
          </p:nvSpPr>
          <p:spPr>
            <a:xfrm>
              <a:off x="4368519" y="4201065"/>
              <a:ext cx="2160000" cy="2160000"/>
            </a:xfrm>
            <a:prstGeom prst="don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cxnSp>
          <p:nvCxnSpPr>
            <p:cNvPr id="27" name="直線接點 26"/>
            <p:cNvCxnSpPr>
              <a:stCxn id="26" idx="0"/>
              <a:endCxn id="26" idx="4"/>
            </p:cNvCxnSpPr>
            <p:nvPr/>
          </p:nvCxnSpPr>
          <p:spPr>
            <a:xfrm>
              <a:off x="5448519" y="4201065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/>
            <p:cNvCxnSpPr>
              <a:stCxn id="26" idx="7"/>
            </p:cNvCxnSpPr>
            <p:nvPr/>
          </p:nvCxnSpPr>
          <p:spPr>
            <a:xfrm flipH="1">
              <a:off x="5831457" y="4517390"/>
              <a:ext cx="380737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/>
            <p:cNvCxnSpPr>
              <a:stCxn id="26" idx="1"/>
            </p:cNvCxnSpPr>
            <p:nvPr/>
          </p:nvCxnSpPr>
          <p:spPr>
            <a:xfrm>
              <a:off x="4684844" y="4517390"/>
              <a:ext cx="396114" cy="39104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/>
            <p:cNvCxnSpPr>
              <a:stCxn id="26" idx="2"/>
              <a:endCxn id="26" idx="6"/>
            </p:cNvCxnSpPr>
            <p:nvPr/>
          </p:nvCxnSpPr>
          <p:spPr>
            <a:xfrm>
              <a:off x="4368519" y="5281065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/>
            <p:nvPr/>
          </p:nvCxnSpPr>
          <p:spPr>
            <a:xfrm>
              <a:off x="5448519" y="5804016"/>
              <a:ext cx="0" cy="54000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/>
            <p:cNvCxnSpPr/>
            <p:nvPr/>
          </p:nvCxnSpPr>
          <p:spPr>
            <a:xfrm>
              <a:off x="5988519" y="5291390"/>
              <a:ext cx="5400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endCxn id="26" idx="3"/>
            </p:cNvCxnSpPr>
            <p:nvPr/>
          </p:nvCxnSpPr>
          <p:spPr>
            <a:xfrm flipH="1">
              <a:off x="4684844" y="5650302"/>
              <a:ext cx="396114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endCxn id="26" idx="5"/>
            </p:cNvCxnSpPr>
            <p:nvPr/>
          </p:nvCxnSpPr>
          <p:spPr>
            <a:xfrm>
              <a:off x="5831457" y="5650302"/>
              <a:ext cx="380737" cy="39443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字方塊 34"/>
            <p:cNvSpPr txBox="1"/>
            <p:nvPr/>
          </p:nvSpPr>
          <p:spPr>
            <a:xfrm>
              <a:off x="4027051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[0]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4710722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[1]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624549" y="3889505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[2]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381372" y="4541010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[3]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6381372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[4]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624549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[5]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4710722" y="6221392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[6]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4027051" y="5560831"/>
              <a:ext cx="48282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[7]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文字方塊 42"/>
          <p:cNvSpPr txBox="1"/>
          <p:nvPr/>
        </p:nvSpPr>
        <p:spPr>
          <a:xfrm>
            <a:off x="4551494" y="337842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5003897" y="444365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572333" y="4849927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3936647" y="4835150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3500133" y="4417774"/>
            <a:ext cx="3834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3537518" y="3805392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4508357" y="2376957"/>
            <a:ext cx="649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線單箭頭接點 55"/>
          <p:cNvCxnSpPr>
            <a:stCxn id="55" idx="2"/>
          </p:cNvCxnSpPr>
          <p:nvPr/>
        </p:nvCxnSpPr>
        <p:spPr>
          <a:xfrm flipH="1">
            <a:off x="4830779" y="2777067"/>
            <a:ext cx="2443" cy="23536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/>
          <p:cNvSpPr txBox="1"/>
          <p:nvPr/>
        </p:nvSpPr>
        <p:spPr>
          <a:xfrm>
            <a:off x="3944788" y="339243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225780" y="2339948"/>
            <a:ext cx="38529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佇列已</a:t>
            </a:r>
            <a:r>
              <a:rPr lang="zh-TW" altLang="en-US" sz="2000" b="1" dirty="0" smtClean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滿：</a:t>
            </a:r>
            <a:endParaRPr lang="en-US" altLang="zh-TW" sz="2000" b="1" dirty="0" smtClean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(rear + 1) % MAX_ITEM = front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49" name="群組 48"/>
          <p:cNvGrpSpPr/>
          <p:nvPr/>
        </p:nvGrpSpPr>
        <p:grpSpPr>
          <a:xfrm>
            <a:off x="5831457" y="3579459"/>
            <a:ext cx="1008124" cy="400110"/>
            <a:chOff x="3311192" y="3537196"/>
            <a:chExt cx="1008124" cy="400110"/>
          </a:xfrm>
        </p:grpSpPr>
        <p:sp>
          <p:nvSpPr>
            <p:cNvPr id="50" name="文字方塊 49"/>
            <p:cNvSpPr txBox="1"/>
            <p:nvPr/>
          </p:nvSpPr>
          <p:spPr>
            <a:xfrm>
              <a:off x="3584628" y="3537196"/>
              <a:ext cx="7346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線單箭頭接點 50"/>
            <p:cNvCxnSpPr>
              <a:stCxn id="50" idx="1"/>
              <a:endCxn id="38" idx="3"/>
            </p:cNvCxnSpPr>
            <p:nvPr/>
          </p:nvCxnSpPr>
          <p:spPr>
            <a:xfrm flipH="1">
              <a:off x="3311192" y="3737251"/>
              <a:ext cx="273436" cy="6437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017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副程式的呼叫與返回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439936" y="1587271"/>
            <a:ext cx="4157931" cy="17543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main() {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(“main before calling f1\n”);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f1();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(“main returned from f1\n”);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39935" y="3483458"/>
            <a:ext cx="4157931" cy="14773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f1() {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(“f1 before calling f2\n”);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f2(2);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(“f1 returned from f2\n”);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39936" y="5105457"/>
            <a:ext cx="4157931" cy="12003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f2(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k) {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(“f2 no more calling\n”);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k++;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208123" y="2952460"/>
            <a:ext cx="2392405" cy="1477328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before calling f1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 before calling f2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f2 no more calling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 returned from f2</a:t>
            </a:r>
          </a:p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returned from f1</a:t>
            </a:r>
          </a:p>
        </p:txBody>
      </p:sp>
      <p:sp>
        <p:nvSpPr>
          <p:cNvPr id="11" name="向右箭號 10"/>
          <p:cNvSpPr/>
          <p:nvPr/>
        </p:nvSpPr>
        <p:spPr>
          <a:xfrm>
            <a:off x="5080956" y="3483458"/>
            <a:ext cx="819509" cy="605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844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副程式的呼叫與返回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420462" y="2426241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3798477" y="2426241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6219624" y="2426241"/>
            <a:ext cx="753393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</a:p>
        </p:txBody>
      </p:sp>
      <p:cxnSp>
        <p:nvCxnSpPr>
          <p:cNvPr id="11" name="直線接點 10"/>
          <p:cNvCxnSpPr/>
          <p:nvPr/>
        </p:nvCxnSpPr>
        <p:spPr>
          <a:xfrm>
            <a:off x="3057135" y="2198908"/>
            <a:ext cx="0" cy="3852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5461035" y="2171637"/>
            <a:ext cx="0" cy="3852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417585" y="3475788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1420461" y="3845120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798477" y="3475788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3792727" y="3845120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23" name="直線單箭頭接點 22"/>
          <p:cNvCxnSpPr>
            <a:stCxn id="7" idx="2"/>
            <a:endCxn id="15" idx="0"/>
          </p:cNvCxnSpPr>
          <p:nvPr/>
        </p:nvCxnSpPr>
        <p:spPr>
          <a:xfrm flipH="1">
            <a:off x="1794282" y="2795573"/>
            <a:ext cx="2877" cy="68021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15" idx="3"/>
            <a:endCxn id="8" idx="2"/>
          </p:cNvCxnSpPr>
          <p:nvPr/>
        </p:nvCxnSpPr>
        <p:spPr>
          <a:xfrm flipV="1">
            <a:off x="2170978" y="2795573"/>
            <a:ext cx="2004196" cy="86488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/>
          <p:cNvCxnSpPr>
            <a:stCxn id="8" idx="2"/>
            <a:endCxn id="17" idx="0"/>
          </p:cNvCxnSpPr>
          <p:nvPr/>
        </p:nvCxnSpPr>
        <p:spPr>
          <a:xfrm>
            <a:off x="4175174" y="2795573"/>
            <a:ext cx="0" cy="68021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7" idx="3"/>
            <a:endCxn id="9" idx="2"/>
          </p:cNvCxnSpPr>
          <p:nvPr/>
        </p:nvCxnSpPr>
        <p:spPr>
          <a:xfrm flipV="1">
            <a:off x="4551870" y="2795573"/>
            <a:ext cx="2044451" cy="86488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9" idx="2"/>
          </p:cNvCxnSpPr>
          <p:nvPr/>
        </p:nvCxnSpPr>
        <p:spPr>
          <a:xfrm>
            <a:off x="6596321" y="2795573"/>
            <a:ext cx="0" cy="247450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>
            <a:endCxn id="18" idx="3"/>
          </p:cNvCxnSpPr>
          <p:nvPr/>
        </p:nvCxnSpPr>
        <p:spPr>
          <a:xfrm flipH="1" flipV="1">
            <a:off x="4546120" y="4029786"/>
            <a:ext cx="2050201" cy="124029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>
            <a:stCxn id="18" idx="2"/>
          </p:cNvCxnSpPr>
          <p:nvPr/>
        </p:nvCxnSpPr>
        <p:spPr>
          <a:xfrm flipH="1">
            <a:off x="4166548" y="4214452"/>
            <a:ext cx="2876" cy="105563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endCxn id="16" idx="3"/>
          </p:cNvCxnSpPr>
          <p:nvPr/>
        </p:nvCxnSpPr>
        <p:spPr>
          <a:xfrm flipH="1" flipV="1">
            <a:off x="2173854" y="4029786"/>
            <a:ext cx="1992694" cy="124029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6" idx="2"/>
          </p:cNvCxnSpPr>
          <p:nvPr/>
        </p:nvCxnSpPr>
        <p:spPr>
          <a:xfrm flipH="1">
            <a:off x="1794282" y="4214452"/>
            <a:ext cx="2876" cy="105563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" name="表格 47"/>
          <p:cNvGraphicFramePr>
            <a:graphicFrameLocks noGrp="1"/>
          </p:cNvGraphicFramePr>
          <p:nvPr>
            <p:extLst/>
          </p:nvPr>
        </p:nvGraphicFramePr>
        <p:xfrm>
          <a:off x="7646982" y="2888067"/>
          <a:ext cx="71201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1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文字方塊 48"/>
          <p:cNvSpPr txBox="1"/>
          <p:nvPr/>
        </p:nvSpPr>
        <p:spPr>
          <a:xfrm>
            <a:off x="7628606" y="4001647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50" name="文字方塊 49"/>
          <p:cNvSpPr txBox="1"/>
          <p:nvPr/>
        </p:nvSpPr>
        <p:spPr>
          <a:xfrm>
            <a:off x="7628605" y="3640940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</a:p>
        </p:txBody>
      </p:sp>
      <p:sp>
        <p:nvSpPr>
          <p:cNvPr id="51" name="文字方塊 50"/>
          <p:cNvSpPr txBox="1"/>
          <p:nvPr/>
        </p:nvSpPr>
        <p:spPr>
          <a:xfrm>
            <a:off x="7628604" y="3269347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</a:p>
        </p:txBody>
      </p:sp>
      <p:sp>
        <p:nvSpPr>
          <p:cNvPr id="52" name="文字方塊 51"/>
          <p:cNvSpPr txBox="1"/>
          <p:nvPr/>
        </p:nvSpPr>
        <p:spPr>
          <a:xfrm rot="5400000">
            <a:off x="7714866" y="4376073"/>
            <a:ext cx="753393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7170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50" grpId="0"/>
      <p:bldP spid="50" grpId="1"/>
      <p:bldP spid="51" grpId="0"/>
      <p:bldP spid="51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運算式的轉換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算術運算式</a:t>
            </a:r>
            <a:r>
              <a:rPr lang="en-US" altLang="zh-TW" dirty="0" smtClean="0"/>
              <a:t>(arithmetic expression)</a:t>
            </a:r>
            <a:r>
              <a:rPr lang="zh-TW" altLang="en-US" dirty="0" smtClean="0"/>
              <a:t>是由運算元</a:t>
            </a:r>
            <a:r>
              <a:rPr lang="en-US" altLang="zh-TW" dirty="0" smtClean="0"/>
              <a:t>(operand)</a:t>
            </a:r>
            <a:r>
              <a:rPr lang="zh-TW" altLang="en-US" dirty="0" smtClean="0"/>
              <a:t>和運算子</a:t>
            </a:r>
            <a:r>
              <a:rPr lang="en-US" altLang="zh-TW" dirty="0" smtClean="0"/>
              <a:t>(operator)</a:t>
            </a:r>
            <a:r>
              <a:rPr lang="zh-TW" altLang="en-US" dirty="0" smtClean="0"/>
              <a:t>組成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運算子也就是運算符號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括號算術運算子、比較運算子、關係運算子、邏輯運算子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運算子有</a:t>
            </a:r>
            <a:r>
              <a:rPr lang="zh-TW" altLang="en-US" dirty="0" smtClean="0">
                <a:solidFill>
                  <a:srgbClr val="C00000"/>
                </a:solidFill>
              </a:rPr>
              <a:t>優先</a:t>
            </a:r>
            <a:r>
              <a:rPr lang="zh-TW" altLang="en-US" dirty="0" smtClean="0"/>
              <a:t>順序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863972" y="3890528"/>
            <a:ext cx="31587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C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–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(D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+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E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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F)</a:t>
            </a:r>
            <a:endParaRPr lang="en-US" altLang="zh-TW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= 4 + 2 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 3 – (5 + 6  3)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470540" y="4937993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先乘除，後加減，有括號先做括號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730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運算式的轉換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優先序</a:t>
            </a:r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 smtClean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 smtClean="0"/>
              <a:t>運算式寫法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中</a:t>
            </a:r>
            <a:r>
              <a:rPr lang="zh-TW" altLang="en-US" dirty="0" smtClean="0"/>
              <a:t>序法 </a:t>
            </a:r>
            <a:r>
              <a:rPr lang="en-US" altLang="zh-TW" dirty="0" smtClean="0"/>
              <a:t>infix</a:t>
            </a:r>
            <a:r>
              <a:rPr lang="zh-TW" altLang="en-US" dirty="0" smtClean="0"/>
              <a:t>：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C00000"/>
                </a:solidFill>
              </a:rPr>
              <a:t>+</a:t>
            </a:r>
            <a:r>
              <a:rPr lang="en-US" altLang="zh-TW" dirty="0" smtClean="0"/>
              <a:t> B</a:t>
            </a:r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後</a:t>
            </a:r>
            <a:r>
              <a:rPr lang="zh-TW" altLang="en-US" dirty="0" smtClean="0"/>
              <a:t>序法 </a:t>
            </a:r>
            <a:r>
              <a:rPr lang="en-US" altLang="zh-TW" dirty="0" smtClean="0"/>
              <a:t>postfix</a:t>
            </a:r>
            <a:r>
              <a:rPr lang="zh-TW" altLang="en-US" dirty="0" smtClean="0"/>
              <a:t>：</a:t>
            </a:r>
            <a:r>
              <a:rPr lang="en-US" altLang="zh-TW" dirty="0" smtClean="0"/>
              <a:t>A B </a:t>
            </a:r>
            <a:r>
              <a:rPr lang="en-US" altLang="zh-TW" dirty="0" smtClean="0">
                <a:solidFill>
                  <a:srgbClr val="C00000"/>
                </a:solidFill>
              </a:rPr>
              <a:t>+</a:t>
            </a:r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前</a:t>
            </a:r>
            <a:r>
              <a:rPr lang="zh-TW" altLang="en-US" dirty="0" smtClean="0"/>
              <a:t>序法 </a:t>
            </a:r>
            <a:r>
              <a:rPr lang="en-US" altLang="zh-TW" dirty="0" smtClean="0"/>
              <a:t>prefix</a:t>
            </a:r>
            <a:r>
              <a:rPr lang="zh-TW" altLang="en-US" dirty="0" smtClean="0"/>
              <a:t>：</a:t>
            </a:r>
            <a:r>
              <a:rPr lang="en-US" altLang="zh-TW" dirty="0" smtClean="0">
                <a:solidFill>
                  <a:srgbClr val="C00000"/>
                </a:solidFill>
              </a:rPr>
              <a:t>+</a:t>
            </a:r>
            <a:r>
              <a:rPr lang="en-US" altLang="zh-TW" dirty="0" smtClean="0"/>
              <a:t> A B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2878345" y="1422883"/>
          <a:ext cx="3203276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優先序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運算子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(, )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*, /, %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+, –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&lt;, &lt;=, &gt;, &gt;=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&amp;&amp;, ||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 smtClean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=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02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群組 88"/>
          <p:cNvGrpSpPr/>
          <p:nvPr/>
        </p:nvGrpSpPr>
        <p:grpSpPr>
          <a:xfrm>
            <a:off x="1590403" y="3163617"/>
            <a:ext cx="6516037" cy="369332"/>
            <a:chOff x="1590403" y="3163617"/>
            <a:chExt cx="6516037" cy="369332"/>
          </a:xfrm>
        </p:grpSpPr>
        <p:sp>
          <p:nvSpPr>
            <p:cNvPr id="49" name="文字方塊 48"/>
            <p:cNvSpPr txBox="1"/>
            <p:nvPr/>
          </p:nvSpPr>
          <p:spPr>
            <a:xfrm>
              <a:off x="2182770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2775137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367504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959871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4552238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1590403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5144605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6329339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6921706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/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7514073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736972" y="3163617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括號法 </a:t>
            </a:r>
            <a:r>
              <a:rPr lang="en-US" altLang="zh-TW" dirty="0" smtClean="0"/>
              <a:t>- </a:t>
            </a:r>
            <a:r>
              <a:rPr lang="zh-TW" altLang="en-US" dirty="0" smtClean="0"/>
              <a:t>中序轉後序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r>
              <a:rPr lang="zh-TW" altLang="en-US" dirty="0"/>
              <a:t>依照運算子的優先順序，將每個運算子和相關的運算元用括號括</a:t>
            </a:r>
            <a:r>
              <a:rPr lang="zh-TW" altLang="en-US" dirty="0" smtClean="0"/>
              <a:t>起來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對</a:t>
            </a:r>
            <a:r>
              <a:rPr lang="zh-TW" altLang="en-US" dirty="0"/>
              <a:t>每個運算子找到在它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zh-TW" altLang="en-US" dirty="0"/>
              <a:t>邊最接近而且未配對的</a:t>
            </a:r>
            <a:r>
              <a:rPr lang="zh-TW" altLang="en-US" dirty="0">
                <a:solidFill>
                  <a:srgbClr val="C00000"/>
                </a:solidFill>
              </a:rPr>
              <a:t>右</a:t>
            </a:r>
            <a:r>
              <a:rPr lang="zh-TW" altLang="en-US" dirty="0"/>
              <a:t>括號，加上</a:t>
            </a:r>
            <a:r>
              <a:rPr lang="zh-TW" altLang="en-US" dirty="0" smtClean="0"/>
              <a:t>箭頭</a:t>
            </a:r>
            <a:endParaRPr lang="en-US" altLang="zh-TW" dirty="0" smtClean="0"/>
          </a:p>
          <a:p>
            <a:pPr lvl="1"/>
            <a:r>
              <a:rPr lang="zh-TW" altLang="en-US" dirty="0"/>
              <a:t>將運算子移到箭頭所指到的地方，並且去掉所有的括號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22" name="肘形接點 21"/>
          <p:cNvCxnSpPr>
            <a:stCxn id="50" idx="2"/>
            <a:endCxn id="52" idx="2"/>
          </p:cNvCxnSpPr>
          <p:nvPr/>
        </p:nvCxnSpPr>
        <p:spPr>
          <a:xfrm rot="16200000" flipH="1">
            <a:off x="3663688" y="2940582"/>
            <a:ext cx="12700" cy="118473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接點 23"/>
          <p:cNvCxnSpPr>
            <a:stCxn id="53" idx="2"/>
            <a:endCxn id="60" idx="2"/>
          </p:cNvCxnSpPr>
          <p:nvPr/>
        </p:nvCxnSpPr>
        <p:spPr>
          <a:xfrm rot="16200000" flipH="1">
            <a:off x="5292697" y="3088674"/>
            <a:ext cx="12700" cy="888550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2182770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2775137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367504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959871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2" name="文字方塊 41"/>
          <p:cNvSpPr txBox="1"/>
          <p:nvPr/>
        </p:nvSpPr>
        <p:spPr>
          <a:xfrm>
            <a:off x="4552238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590403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44" name="文字方塊 43"/>
          <p:cNvSpPr txBox="1"/>
          <p:nvPr/>
        </p:nvSpPr>
        <p:spPr>
          <a:xfrm>
            <a:off x="5144605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5736972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6329339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6921706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514073" y="166550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60" name="文字方塊 59"/>
          <p:cNvSpPr txBox="1"/>
          <p:nvPr/>
        </p:nvSpPr>
        <p:spPr>
          <a:xfrm>
            <a:off x="5440788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1294219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62" name="文字方塊 61"/>
          <p:cNvSpPr txBox="1"/>
          <p:nvPr/>
        </p:nvSpPr>
        <p:spPr>
          <a:xfrm>
            <a:off x="7810256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3" name="文字方塊 62"/>
          <p:cNvSpPr txBox="1"/>
          <p:nvPr/>
        </p:nvSpPr>
        <p:spPr>
          <a:xfrm>
            <a:off x="6033155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64" name="文字方塊 63"/>
          <p:cNvSpPr txBox="1"/>
          <p:nvPr/>
        </p:nvSpPr>
        <p:spPr>
          <a:xfrm>
            <a:off x="1004064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65" name="文字方塊 64"/>
          <p:cNvSpPr txBox="1"/>
          <p:nvPr/>
        </p:nvSpPr>
        <p:spPr>
          <a:xfrm>
            <a:off x="8098307" y="3163617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70" name="肘形接點 69"/>
          <p:cNvCxnSpPr>
            <a:stCxn id="58" idx="2"/>
            <a:endCxn id="62" idx="2"/>
          </p:cNvCxnSpPr>
          <p:nvPr/>
        </p:nvCxnSpPr>
        <p:spPr>
          <a:xfrm rot="16200000" flipH="1">
            <a:off x="7662165" y="3088674"/>
            <a:ext cx="12700" cy="888550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接點 72"/>
          <p:cNvCxnSpPr>
            <a:stCxn id="56" idx="2"/>
            <a:endCxn id="65" idx="2"/>
          </p:cNvCxnSpPr>
          <p:nvPr/>
        </p:nvCxnSpPr>
        <p:spPr>
          <a:xfrm rot="16200000" flipH="1">
            <a:off x="7213823" y="2352281"/>
            <a:ext cx="12700" cy="2361335"/>
          </a:xfrm>
          <a:prstGeom prst="bentConnector3">
            <a:avLst>
              <a:gd name="adj1" fmla="val 2411323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群組 89"/>
          <p:cNvGrpSpPr/>
          <p:nvPr/>
        </p:nvGrpSpPr>
        <p:grpSpPr>
          <a:xfrm>
            <a:off x="2182769" y="5397869"/>
            <a:ext cx="5331303" cy="369332"/>
            <a:chOff x="2182769" y="5397869"/>
            <a:chExt cx="5331303" cy="369332"/>
          </a:xfrm>
        </p:grpSpPr>
        <p:sp>
          <p:nvSpPr>
            <p:cNvPr id="79" name="文字方塊 78"/>
            <p:cNvSpPr txBox="1"/>
            <p:nvPr/>
          </p:nvSpPr>
          <p:spPr>
            <a:xfrm>
              <a:off x="2182769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2775136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3367503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3959870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4552237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5144604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5736971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6329338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/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6921705" y="539786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84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括號法 </a:t>
            </a:r>
            <a:r>
              <a:rPr lang="en-US" altLang="zh-TW" dirty="0" smtClean="0"/>
              <a:t>- </a:t>
            </a:r>
            <a:r>
              <a:rPr lang="zh-TW" altLang="en-US" dirty="0" smtClean="0"/>
              <a:t>中序轉前序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 smtClean="0"/>
          </a:p>
          <a:p>
            <a:endParaRPr lang="en-US" altLang="zh-TW" dirty="0" smtClean="0"/>
          </a:p>
          <a:p>
            <a:pPr lvl="1"/>
            <a:r>
              <a:rPr lang="zh-TW" altLang="en-US" dirty="0"/>
              <a:t>依照運算子的優先順序，將每個運算子和相關的運算元用括號括</a:t>
            </a:r>
            <a:r>
              <a:rPr lang="zh-TW" altLang="en-US" dirty="0" smtClean="0"/>
              <a:t>起來</a:t>
            </a:r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/>
          </a:p>
          <a:p>
            <a:pPr lvl="1"/>
            <a:r>
              <a:rPr lang="zh-TW" altLang="en-US" dirty="0" smtClean="0"/>
              <a:t>對</a:t>
            </a:r>
            <a:r>
              <a:rPr lang="zh-TW" altLang="en-US" dirty="0"/>
              <a:t>每個運算子找到在</a:t>
            </a:r>
            <a:r>
              <a:rPr lang="zh-TW" altLang="en-US" dirty="0" smtClean="0"/>
              <a:t>它</a:t>
            </a:r>
            <a:r>
              <a:rPr lang="zh-TW" altLang="en-US" dirty="0" smtClean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邊</a:t>
            </a:r>
            <a:r>
              <a:rPr lang="zh-TW" altLang="en-US" dirty="0"/>
              <a:t>最接近而且未配對</a:t>
            </a:r>
            <a:r>
              <a:rPr lang="zh-TW" altLang="en-US" dirty="0" smtClean="0"/>
              <a:t>的</a:t>
            </a:r>
            <a:r>
              <a:rPr lang="zh-TW" altLang="en-US" dirty="0" smtClean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括號</a:t>
            </a:r>
            <a:r>
              <a:rPr lang="zh-TW" altLang="en-US" dirty="0"/>
              <a:t>，加上</a:t>
            </a:r>
            <a:r>
              <a:rPr lang="zh-TW" altLang="en-US" dirty="0" smtClean="0"/>
              <a:t>箭頭</a:t>
            </a:r>
            <a:endParaRPr lang="en-US" altLang="zh-TW" dirty="0" smtClean="0"/>
          </a:p>
          <a:p>
            <a:pPr lvl="1"/>
            <a:r>
              <a:rPr lang="zh-TW" altLang="en-US" dirty="0"/>
              <a:t>將運算子移到箭頭所指到的地方，並且去掉所有的括號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22" name="肘形接點 21"/>
          <p:cNvCxnSpPr>
            <a:stCxn id="50" idx="2"/>
            <a:endCxn id="54" idx="2"/>
          </p:cNvCxnSpPr>
          <p:nvPr/>
        </p:nvCxnSpPr>
        <p:spPr>
          <a:xfrm rot="5400000">
            <a:off x="2478954" y="2914704"/>
            <a:ext cx="12700" cy="1184734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肘形接點 23"/>
          <p:cNvCxnSpPr>
            <a:stCxn id="53" idx="2"/>
            <a:endCxn id="61" idx="2"/>
          </p:cNvCxnSpPr>
          <p:nvPr/>
        </p:nvCxnSpPr>
        <p:spPr>
          <a:xfrm rot="5400000">
            <a:off x="3219413" y="1878062"/>
            <a:ext cx="12700" cy="3258019"/>
          </a:xfrm>
          <a:prstGeom prst="bentConnector3">
            <a:avLst>
              <a:gd name="adj1" fmla="val 2479252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字方塊 37"/>
          <p:cNvSpPr txBox="1"/>
          <p:nvPr/>
        </p:nvSpPr>
        <p:spPr>
          <a:xfrm>
            <a:off x="2182770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2775137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3367504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1" name="文字方塊 40"/>
          <p:cNvSpPr txBox="1"/>
          <p:nvPr/>
        </p:nvSpPr>
        <p:spPr>
          <a:xfrm>
            <a:off x="3959871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2" name="文字方塊 41"/>
          <p:cNvSpPr txBox="1"/>
          <p:nvPr/>
        </p:nvSpPr>
        <p:spPr>
          <a:xfrm>
            <a:off x="4552238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1590403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44" name="文字方塊 43"/>
          <p:cNvSpPr txBox="1"/>
          <p:nvPr/>
        </p:nvSpPr>
        <p:spPr>
          <a:xfrm>
            <a:off x="5144605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5736972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46" name="文字方塊 45"/>
          <p:cNvSpPr txBox="1"/>
          <p:nvPr/>
        </p:nvSpPr>
        <p:spPr>
          <a:xfrm>
            <a:off x="6329339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6921706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7514073" y="16827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70" name="肘形接點 69"/>
          <p:cNvCxnSpPr>
            <a:stCxn id="58" idx="2"/>
            <a:endCxn id="63" idx="2"/>
          </p:cNvCxnSpPr>
          <p:nvPr/>
        </p:nvCxnSpPr>
        <p:spPr>
          <a:xfrm rot="5400000">
            <a:off x="6773615" y="3062796"/>
            <a:ext cx="12700" cy="888551"/>
          </a:xfrm>
          <a:prstGeom prst="bentConnector3">
            <a:avLst>
              <a:gd name="adj1" fmla="val 180000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接點 72"/>
          <p:cNvCxnSpPr>
            <a:stCxn id="56" idx="2"/>
            <a:endCxn id="64" idx="2"/>
          </p:cNvCxnSpPr>
          <p:nvPr/>
        </p:nvCxnSpPr>
        <p:spPr>
          <a:xfrm rot="5400000">
            <a:off x="3666702" y="1140617"/>
            <a:ext cx="12700" cy="4732908"/>
          </a:xfrm>
          <a:prstGeom prst="bentConnector3">
            <a:avLst>
              <a:gd name="adj1" fmla="val 3294339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群組 12"/>
          <p:cNvGrpSpPr/>
          <p:nvPr/>
        </p:nvGrpSpPr>
        <p:grpSpPr>
          <a:xfrm>
            <a:off x="1004064" y="3137739"/>
            <a:ext cx="7686610" cy="369332"/>
            <a:chOff x="1004064" y="3137739"/>
            <a:chExt cx="7686610" cy="369332"/>
          </a:xfrm>
        </p:grpSpPr>
        <p:sp>
          <p:nvSpPr>
            <p:cNvPr id="49" name="文字方塊 48"/>
            <p:cNvSpPr txBox="1"/>
            <p:nvPr/>
          </p:nvSpPr>
          <p:spPr>
            <a:xfrm>
              <a:off x="2182770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2775137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367504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959871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3" name="文字方塊 52"/>
            <p:cNvSpPr txBox="1"/>
            <p:nvPr/>
          </p:nvSpPr>
          <p:spPr>
            <a:xfrm>
              <a:off x="4552238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1590403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5144605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6329339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6921706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/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7514073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440788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1" name="文字方塊 60"/>
            <p:cNvSpPr txBox="1"/>
            <p:nvPr/>
          </p:nvSpPr>
          <p:spPr>
            <a:xfrm>
              <a:off x="1294219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7810256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6033155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004064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8098307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5736972" y="3137739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2182769" y="5415121"/>
            <a:ext cx="5331303" cy="369332"/>
            <a:chOff x="2182769" y="5415121"/>
            <a:chExt cx="5331303" cy="369332"/>
          </a:xfrm>
        </p:grpSpPr>
        <p:sp>
          <p:nvSpPr>
            <p:cNvPr id="66" name="文字方塊 65"/>
            <p:cNvSpPr txBox="1"/>
            <p:nvPr/>
          </p:nvSpPr>
          <p:spPr>
            <a:xfrm>
              <a:off x="2182769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2775136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68" name="文字方塊 67"/>
            <p:cNvSpPr txBox="1"/>
            <p:nvPr/>
          </p:nvSpPr>
          <p:spPr>
            <a:xfrm>
              <a:off x="3367503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69" name="文字方塊 68"/>
            <p:cNvSpPr txBox="1"/>
            <p:nvPr/>
          </p:nvSpPr>
          <p:spPr>
            <a:xfrm>
              <a:off x="3959870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4552237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5144604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5736971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</a:t>
              </a: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6329338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  <a:sym typeface="Symbol"/>
                </a:rPr>
                <a:t>D</a:t>
              </a:r>
              <a:endPara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921705" y="5415121"/>
              <a:ext cx="592367" cy="36933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521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堆疊法 </a:t>
            </a:r>
            <a:r>
              <a:rPr lang="en-US" altLang="zh-TW" dirty="0" smtClean="0"/>
              <a:t>– </a:t>
            </a:r>
            <a:r>
              <a:rPr lang="zh-TW" altLang="en-US" dirty="0" smtClean="0"/>
              <a:t>中序轉後序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運算法原則</a:t>
            </a:r>
            <a:endParaRPr lang="en-US" altLang="zh-TW" dirty="0" smtClean="0"/>
          </a:p>
          <a:p>
            <a:pPr lvl="1"/>
            <a:r>
              <a:rPr lang="zh-TW" altLang="en-US" dirty="0"/>
              <a:t>由左而右讀出中序式，一次</a:t>
            </a:r>
            <a:r>
              <a:rPr lang="zh-TW" altLang="en-US" dirty="0" smtClean="0"/>
              <a:t>讀取一個</a:t>
            </a:r>
            <a:r>
              <a:rPr lang="zh-TW" altLang="en-US" dirty="0"/>
              <a:t>運算元或運算子 </a:t>
            </a:r>
            <a:endParaRPr lang="en-US" altLang="zh-TW" dirty="0" smtClean="0"/>
          </a:p>
          <a:p>
            <a:pPr lvl="1"/>
            <a:r>
              <a:rPr lang="zh-TW" altLang="en-US" dirty="0"/>
              <a:t>如果是運算元，直接輸出到後序</a:t>
            </a:r>
            <a:r>
              <a:rPr lang="zh-TW" altLang="en-US" dirty="0" smtClean="0"/>
              <a:t>式</a:t>
            </a:r>
            <a:endParaRPr lang="en-US" altLang="zh-TW" dirty="0" smtClean="0"/>
          </a:p>
          <a:p>
            <a:pPr lvl="1"/>
            <a:r>
              <a:rPr lang="zh-TW" altLang="en-US" dirty="0"/>
              <a:t>如果是運算子，則必須用到</a:t>
            </a:r>
            <a:r>
              <a:rPr lang="zh-TW" altLang="en-US" dirty="0">
                <a:solidFill>
                  <a:srgbClr val="C00000"/>
                </a:solidFill>
              </a:rPr>
              <a:t>運算子</a:t>
            </a:r>
            <a:r>
              <a:rPr lang="zh-TW" altLang="en-US" dirty="0" smtClean="0">
                <a:solidFill>
                  <a:srgbClr val="C00000"/>
                </a:solidFill>
              </a:rPr>
              <a:t>堆疊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中序式讀完之後，如果運算子堆疊不是空的，則一個一個</a:t>
            </a:r>
            <a:r>
              <a:rPr lang="en-US" altLang="zh-TW" dirty="0"/>
              <a:t>Pop</a:t>
            </a:r>
            <a:r>
              <a:rPr lang="zh-TW" altLang="en-US" dirty="0"/>
              <a:t>出來，輸出到後序</a:t>
            </a:r>
            <a:r>
              <a:rPr lang="zh-TW" altLang="en-US" dirty="0" smtClean="0"/>
              <a:t>式</a:t>
            </a:r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zh-TW" altLang="en-US" dirty="0" smtClean="0"/>
              <a:t>運算子堆疊使用規則</a:t>
            </a:r>
            <a:endParaRPr lang="en-US" altLang="zh-TW" dirty="0" smtClean="0"/>
          </a:p>
          <a:p>
            <a:pPr lvl="1"/>
            <a:r>
              <a:rPr lang="zh-TW" altLang="en-US" dirty="0"/>
              <a:t>左括號‘</a:t>
            </a:r>
            <a:r>
              <a:rPr lang="en-US" altLang="zh-TW" dirty="0"/>
              <a:t>(’ </a:t>
            </a:r>
            <a:r>
              <a:rPr lang="zh-TW" altLang="en-US" dirty="0"/>
              <a:t>：一律</a:t>
            </a:r>
            <a:r>
              <a:rPr lang="en-US" altLang="zh-TW" dirty="0" smtClean="0"/>
              <a:t>Push</a:t>
            </a:r>
            <a:r>
              <a:rPr lang="zh-TW" altLang="en-US" dirty="0" smtClean="0"/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  <a:latin typeface="標楷體" panose="03000509000000000000" pitchFamily="65" charset="-120"/>
              </a:rPr>
              <a:t>優先序</a:t>
            </a:r>
            <a:r>
              <a:rPr lang="zh-TW" altLang="en-US" dirty="0" smtClean="0">
                <a:solidFill>
                  <a:srgbClr val="C00000"/>
                </a:solidFill>
                <a:latin typeface="標楷體" panose="03000509000000000000" pitchFamily="65" charset="-120"/>
              </a:rPr>
              <a:t>最小</a:t>
            </a:r>
            <a:r>
              <a:rPr lang="en-US" altLang="zh-TW" dirty="0" smtClean="0">
                <a:solidFill>
                  <a:srgbClr val="C00000"/>
                </a:solidFill>
                <a:ea typeface="新細明體" pitchFamily="18" charset="-120"/>
              </a:rPr>
              <a:t>)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右括號 ‘</a:t>
            </a:r>
            <a:r>
              <a:rPr lang="en-US" altLang="zh-TW" dirty="0"/>
              <a:t>)’</a:t>
            </a:r>
            <a:r>
              <a:rPr lang="zh-TW" altLang="en-US" dirty="0"/>
              <a:t>：一直做</a:t>
            </a:r>
            <a:r>
              <a:rPr lang="en-US" altLang="zh-TW" dirty="0"/>
              <a:t>Pop</a:t>
            </a:r>
            <a:r>
              <a:rPr lang="zh-TW" altLang="en-US" dirty="0"/>
              <a:t>輸出至後序式，直到遇見左括號，一同</a:t>
            </a:r>
            <a:r>
              <a:rPr lang="zh-TW" altLang="en-US" dirty="0" smtClean="0"/>
              <a:t>抵銷</a:t>
            </a:r>
            <a:endParaRPr lang="en-US" altLang="zh-TW" dirty="0" smtClean="0"/>
          </a:p>
          <a:p>
            <a:pPr lvl="1"/>
            <a:r>
              <a:rPr lang="zh-TW" altLang="en-US" dirty="0"/>
              <a:t>其他的運算子：運算子在堆疊中只能</a:t>
            </a:r>
            <a:r>
              <a:rPr lang="zh-TW" altLang="en-US" dirty="0">
                <a:solidFill>
                  <a:srgbClr val="C00000"/>
                </a:solidFill>
              </a:rPr>
              <a:t>優先序大的壓優先序小</a:t>
            </a:r>
            <a:r>
              <a:rPr lang="zh-TW" altLang="en-US" dirty="0"/>
              <a:t>的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pPr lvl="2"/>
            <a:r>
              <a:rPr lang="zh-TW" altLang="en-US" dirty="0"/>
              <a:t>外面的運算子優先序較大，則</a:t>
            </a:r>
            <a:r>
              <a:rPr lang="en-US" altLang="zh-TW" dirty="0" smtClean="0"/>
              <a:t>Push</a:t>
            </a:r>
            <a:r>
              <a:rPr lang="zh-TW" altLang="en-US" dirty="0" smtClean="0"/>
              <a:t>，否則</a:t>
            </a:r>
            <a:r>
              <a:rPr lang="zh-TW" altLang="en-US" dirty="0"/>
              <a:t>就一直做</a:t>
            </a:r>
            <a:r>
              <a:rPr lang="en-US" altLang="zh-TW" dirty="0"/>
              <a:t>Pop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39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堆疊法 </a:t>
            </a:r>
            <a:r>
              <a:rPr lang="en-US" altLang="zh-TW" dirty="0"/>
              <a:t>– </a:t>
            </a:r>
            <a:r>
              <a:rPr lang="zh-TW" altLang="en-US" dirty="0"/>
              <a:t>中序轉後</a:t>
            </a:r>
            <a:r>
              <a:rPr lang="zh-TW" altLang="en-US" dirty="0" smtClean="0"/>
              <a:t>序 </a:t>
            </a:r>
            <a:r>
              <a:rPr lang="en-US" altLang="zh-TW" dirty="0" smtClean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(A + B) * C – D / E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20815" y="2915250"/>
          <a:ext cx="1029419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29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5281" y="533975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運算子堆疊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724398" y="533975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後序式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984362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576729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169096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3761463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353830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1391995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4946197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5538564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130931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6723298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15665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1" name="文字方塊 20"/>
          <p:cNvSpPr txBox="1"/>
          <p:nvPr/>
        </p:nvSpPr>
        <p:spPr>
          <a:xfrm>
            <a:off x="2162631" y="490617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3514468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3" name="文字方塊 22"/>
          <p:cNvSpPr txBox="1"/>
          <p:nvPr/>
        </p:nvSpPr>
        <p:spPr>
          <a:xfrm>
            <a:off x="2162630" y="45093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4057646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4609084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6" name="文字方塊 25"/>
          <p:cNvSpPr txBox="1"/>
          <p:nvPr/>
        </p:nvSpPr>
        <p:spPr>
          <a:xfrm>
            <a:off x="2162631" y="4906523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5086138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2162631" y="49061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29" name="文字方塊 28"/>
          <p:cNvSpPr txBox="1"/>
          <p:nvPr/>
        </p:nvSpPr>
        <p:spPr>
          <a:xfrm>
            <a:off x="6027881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0" name="文字方塊 29"/>
          <p:cNvSpPr txBox="1"/>
          <p:nvPr/>
        </p:nvSpPr>
        <p:spPr>
          <a:xfrm>
            <a:off x="2162629" y="450935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5538564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527786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3" name="文字方塊 32"/>
          <p:cNvSpPr txBox="1"/>
          <p:nvPr/>
        </p:nvSpPr>
        <p:spPr>
          <a:xfrm>
            <a:off x="6922191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315665" y="3871006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</p:spTree>
    <p:extLst>
      <p:ext uri="{BB962C8B-B14F-4D97-AF65-F5344CB8AC3E}">
        <p14:creationId xmlns:p14="http://schemas.microsoft.com/office/powerpoint/2010/main" val="249124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1" grpId="1"/>
      <p:bldP spid="22" grpId="0"/>
      <p:bldP spid="23" grpId="0"/>
      <p:bldP spid="23" grpId="1"/>
      <p:bldP spid="24" grpId="0"/>
      <p:bldP spid="25" grpId="0"/>
      <p:bldP spid="26" grpId="0"/>
      <p:bldP spid="26" grpId="1"/>
      <p:bldP spid="27" grpId="0"/>
      <p:bldP spid="28" grpId="0"/>
      <p:bldP spid="28" grpId="1"/>
      <p:bldP spid="29" grpId="0"/>
      <p:bldP spid="30" grpId="0"/>
      <p:bldP spid="30" grpId="1"/>
      <p:bldP spid="31" grpId="0"/>
      <p:bldP spid="32" grpId="0"/>
      <p:bldP spid="33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後序運算式的求值 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由左而右讀出後序式，一次讀取一個句</a:t>
            </a:r>
            <a:r>
              <a:rPr lang="zh-TW" altLang="en-US" dirty="0" smtClean="0"/>
              <a:t>元</a:t>
            </a:r>
            <a:endParaRPr lang="en-US" altLang="zh-TW" dirty="0" smtClean="0"/>
          </a:p>
          <a:p>
            <a:r>
              <a:rPr lang="zh-TW" altLang="en-US" dirty="0"/>
              <a:t>如果是</a:t>
            </a:r>
            <a:r>
              <a:rPr lang="zh-TW" altLang="en-US" dirty="0">
                <a:solidFill>
                  <a:srgbClr val="C00000"/>
                </a:solidFill>
              </a:rPr>
              <a:t>運算元</a:t>
            </a:r>
            <a:r>
              <a:rPr lang="zh-TW" altLang="en-US" dirty="0"/>
              <a:t>，一律</a:t>
            </a:r>
            <a:r>
              <a:rPr lang="en-US" altLang="zh-TW" dirty="0">
                <a:solidFill>
                  <a:srgbClr val="C00000"/>
                </a:solidFill>
              </a:rPr>
              <a:t>Push</a:t>
            </a:r>
            <a:r>
              <a:rPr lang="zh-TW" altLang="en-US" dirty="0"/>
              <a:t>入運算元</a:t>
            </a:r>
            <a:r>
              <a:rPr lang="zh-TW" altLang="en-US" dirty="0" smtClean="0"/>
              <a:t>堆疊</a:t>
            </a:r>
            <a:endParaRPr lang="en-US" altLang="zh-TW" dirty="0" smtClean="0"/>
          </a:p>
          <a:p>
            <a:r>
              <a:rPr lang="zh-TW" altLang="en-US" dirty="0"/>
              <a:t>如果是</a:t>
            </a:r>
            <a:r>
              <a:rPr lang="zh-TW" altLang="en-US" dirty="0">
                <a:solidFill>
                  <a:srgbClr val="C00000"/>
                </a:solidFill>
              </a:rPr>
              <a:t>運算子</a:t>
            </a:r>
            <a:r>
              <a:rPr lang="zh-TW" altLang="en-US" dirty="0"/>
              <a:t>，則</a:t>
            </a:r>
            <a:r>
              <a:rPr lang="zh-TW" altLang="en-US" dirty="0">
                <a:solidFill>
                  <a:srgbClr val="C00000"/>
                </a:solidFill>
              </a:rPr>
              <a:t>作兩次</a:t>
            </a:r>
            <a:r>
              <a:rPr lang="en-US" altLang="zh-TW" dirty="0">
                <a:solidFill>
                  <a:srgbClr val="C00000"/>
                </a:solidFill>
              </a:rPr>
              <a:t>Pop</a:t>
            </a:r>
            <a:r>
              <a:rPr lang="zh-TW" altLang="en-US" dirty="0"/>
              <a:t>，第一次</a:t>
            </a:r>
            <a:r>
              <a:rPr lang="en-US" altLang="zh-TW" dirty="0"/>
              <a:t>Pop</a:t>
            </a:r>
            <a:r>
              <a:rPr lang="zh-TW" altLang="en-US" dirty="0"/>
              <a:t>出來的單元是第二運算元，第二次</a:t>
            </a:r>
            <a:r>
              <a:rPr lang="en-US" altLang="zh-TW" dirty="0"/>
              <a:t>Pop</a:t>
            </a:r>
            <a:r>
              <a:rPr lang="zh-TW" altLang="en-US" dirty="0"/>
              <a:t>出來的則是第一運算元。第一運算元和第二運算元根據運算子作適當的運算，結果再</a:t>
            </a:r>
            <a:r>
              <a:rPr lang="en-US" altLang="zh-TW" dirty="0"/>
              <a:t>Push</a:t>
            </a:r>
            <a:r>
              <a:rPr lang="zh-TW" altLang="en-US" dirty="0"/>
              <a:t>回運算元</a:t>
            </a:r>
            <a:r>
              <a:rPr lang="zh-TW" altLang="en-US" dirty="0" smtClean="0"/>
              <a:t>堆疊</a:t>
            </a:r>
            <a:endParaRPr lang="en-US" altLang="zh-TW" dirty="0" smtClean="0"/>
          </a:p>
          <a:p>
            <a:r>
              <a:rPr lang="zh-TW" altLang="en-US" dirty="0"/>
              <a:t>最後的結果會在堆疊的頂端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22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後序運算式的求值 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 smtClean="0"/>
              <a:t>2 5 + 4 * 6 3 / –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920815" y="2915250"/>
          <a:ext cx="1029419" cy="23774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29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1725281" y="533975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運算元堆疊</a:t>
            </a:r>
            <a:endParaRPr lang="zh-TW" altLang="en-US" sz="20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1984362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576729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3169096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3761463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14" name="文字方塊 13"/>
          <p:cNvSpPr txBox="1"/>
          <p:nvPr/>
        </p:nvSpPr>
        <p:spPr>
          <a:xfrm>
            <a:off x="4353830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5" name="文字方塊 14"/>
          <p:cNvSpPr txBox="1"/>
          <p:nvPr/>
        </p:nvSpPr>
        <p:spPr>
          <a:xfrm>
            <a:off x="1391995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4946197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6130931" y="215722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19" name="文字方塊 18"/>
          <p:cNvSpPr txBox="1"/>
          <p:nvPr/>
        </p:nvSpPr>
        <p:spPr>
          <a:xfrm>
            <a:off x="5538563" y="215624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2162631" y="49061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文字方塊 35"/>
          <p:cNvSpPr txBox="1"/>
          <p:nvPr/>
        </p:nvSpPr>
        <p:spPr>
          <a:xfrm>
            <a:off x="2162631" y="451573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7" name="文字方塊 36"/>
          <p:cNvSpPr txBox="1"/>
          <p:nvPr/>
        </p:nvSpPr>
        <p:spPr>
          <a:xfrm>
            <a:off x="5448778" y="312054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8" name="文字方塊 37"/>
          <p:cNvSpPr txBox="1"/>
          <p:nvPr/>
        </p:nvSpPr>
        <p:spPr>
          <a:xfrm>
            <a:off x="4264044" y="312054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9" name="文字方塊 38"/>
          <p:cNvSpPr txBox="1"/>
          <p:nvPr/>
        </p:nvSpPr>
        <p:spPr>
          <a:xfrm>
            <a:off x="4856411" y="312054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6479219" y="312054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162631" y="49061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2162631" y="4511873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4856411" y="361124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</p:txBody>
      </p:sp>
      <p:sp>
        <p:nvSpPr>
          <p:cNvPr id="44" name="文字方塊 43"/>
          <p:cNvSpPr txBox="1"/>
          <p:nvPr/>
        </p:nvSpPr>
        <p:spPr>
          <a:xfrm>
            <a:off x="5448777" y="361124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5" name="文字方塊 44"/>
          <p:cNvSpPr txBox="1"/>
          <p:nvPr/>
        </p:nvSpPr>
        <p:spPr>
          <a:xfrm>
            <a:off x="4264044" y="361124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79219" y="3611249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47" name="文字方塊 46"/>
          <p:cNvSpPr txBox="1"/>
          <p:nvPr/>
        </p:nvSpPr>
        <p:spPr>
          <a:xfrm>
            <a:off x="2162631" y="49061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48" name="文字方塊 47"/>
          <p:cNvSpPr txBox="1"/>
          <p:nvPr/>
        </p:nvSpPr>
        <p:spPr>
          <a:xfrm>
            <a:off x="2162631" y="451573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9" name="文字方塊 48"/>
          <p:cNvSpPr txBox="1"/>
          <p:nvPr/>
        </p:nvSpPr>
        <p:spPr>
          <a:xfrm>
            <a:off x="2162631" y="4112804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0" name="文字方塊 49"/>
          <p:cNvSpPr txBox="1"/>
          <p:nvPr/>
        </p:nvSpPr>
        <p:spPr>
          <a:xfrm>
            <a:off x="4856410" y="4066841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/</a:t>
            </a:r>
            <a:endParaRPr lang="en-US" altLang="zh-TW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448776" y="4066841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2" name="文字方塊 51"/>
          <p:cNvSpPr txBox="1"/>
          <p:nvPr/>
        </p:nvSpPr>
        <p:spPr>
          <a:xfrm>
            <a:off x="4264043" y="4066841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6479219" y="4066841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4" name="文字方塊 53"/>
          <p:cNvSpPr txBox="1"/>
          <p:nvPr/>
        </p:nvSpPr>
        <p:spPr>
          <a:xfrm>
            <a:off x="2162977" y="4511873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5" name="文字方塊 54"/>
          <p:cNvSpPr txBox="1"/>
          <p:nvPr/>
        </p:nvSpPr>
        <p:spPr>
          <a:xfrm>
            <a:off x="4856411" y="45185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</p:txBody>
      </p:sp>
      <p:sp>
        <p:nvSpPr>
          <p:cNvPr id="56" name="文字方塊 55"/>
          <p:cNvSpPr txBox="1"/>
          <p:nvPr/>
        </p:nvSpPr>
        <p:spPr>
          <a:xfrm>
            <a:off x="5448775" y="4518575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7" name="文字方塊 56"/>
          <p:cNvSpPr txBox="1"/>
          <p:nvPr/>
        </p:nvSpPr>
        <p:spPr>
          <a:xfrm>
            <a:off x="4264846" y="4522433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</p:txBody>
      </p:sp>
      <p:sp>
        <p:nvSpPr>
          <p:cNvPr id="58" name="文字方塊 57"/>
          <p:cNvSpPr txBox="1"/>
          <p:nvPr/>
        </p:nvSpPr>
        <p:spPr>
          <a:xfrm>
            <a:off x="6479219" y="4522433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sp>
        <p:nvSpPr>
          <p:cNvPr id="59" name="文字方塊 58"/>
          <p:cNvSpPr txBox="1"/>
          <p:nvPr/>
        </p:nvSpPr>
        <p:spPr>
          <a:xfrm>
            <a:off x="2162630" y="4900912"/>
            <a:ext cx="592367" cy="36933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64800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xit" presetSubtype="1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35" grpId="0"/>
      <p:bldP spid="35" grpId="1"/>
      <p:bldP spid="36" grpId="0"/>
      <p:bldP spid="36" grpId="1"/>
      <p:bldP spid="37" grpId="0"/>
      <p:bldP spid="38" grpId="0"/>
      <p:bldP spid="39" grpId="0"/>
      <p:bldP spid="40" grpId="0"/>
      <p:bldP spid="41" grpId="0"/>
      <p:bldP spid="41" grpId="1"/>
      <p:bldP spid="42" grpId="0"/>
      <p:bldP spid="42" grpId="1"/>
      <p:bldP spid="43" grpId="0"/>
      <p:bldP spid="44" grpId="0"/>
      <p:bldP spid="45" grpId="0"/>
      <p:bldP spid="46" grpId="0"/>
      <p:bldP spid="47" grpId="0"/>
      <p:bldP spid="47" grpId="1"/>
      <p:bldP spid="48" grpId="0"/>
      <p:bldP spid="48" grpId="1"/>
      <p:bldP spid="49" grpId="0"/>
      <p:bldP spid="49" grpId="1"/>
      <p:bldP spid="50" grpId="0"/>
      <p:bldP spid="51" grpId="0"/>
      <p:bldP spid="52" grpId="0"/>
      <p:bldP spid="53" grpId="0"/>
      <p:bldP spid="54" grpId="0"/>
      <p:bldP spid="54" grpId="1"/>
      <p:bldP spid="55" grpId="0"/>
      <p:bldP spid="56" grpId="0"/>
      <p:bldP spid="57" grpId="0"/>
      <p:bldP spid="58" grpId="0"/>
      <p:bldP spid="5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用兩個佇列實作堆疊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21" name="群組 20"/>
          <p:cNvGrpSpPr/>
          <p:nvPr/>
        </p:nvGrpSpPr>
        <p:grpSpPr>
          <a:xfrm>
            <a:off x="2037781" y="1816761"/>
            <a:ext cx="5184482" cy="1200330"/>
            <a:chOff x="2037781" y="1816761"/>
            <a:chExt cx="5184482" cy="1200330"/>
          </a:xfrm>
        </p:grpSpPr>
        <p:sp>
          <p:nvSpPr>
            <p:cNvPr id="7" name="文字方塊 6"/>
            <p:cNvSpPr txBox="1"/>
            <p:nvPr/>
          </p:nvSpPr>
          <p:spPr>
            <a:xfrm>
              <a:off x="2037781" y="1816761"/>
              <a:ext cx="18934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佇列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先進先出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037781" y="2616981"/>
              <a:ext cx="18934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佇列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先進先出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5328796" y="2216871"/>
              <a:ext cx="18934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堆疊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zh-TW" altLang="en-US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後進先出</a:t>
              </a:r>
              <a:r>
                <a:rPr lang="en-US" altLang="zh-TW" sz="2000" b="1" dirty="0" smtClean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0" name="十字形 9"/>
            <p:cNvSpPr/>
            <p:nvPr/>
          </p:nvSpPr>
          <p:spPr>
            <a:xfrm>
              <a:off x="2804514" y="2229779"/>
              <a:ext cx="360000" cy="360000"/>
            </a:xfrm>
            <a:prstGeom prst="plus">
              <a:avLst>
                <a:gd name="adj" fmla="val 387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向右箭號 10"/>
            <p:cNvSpPr/>
            <p:nvPr/>
          </p:nvSpPr>
          <p:spPr>
            <a:xfrm>
              <a:off x="4473149" y="2282327"/>
              <a:ext cx="547470" cy="26919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aphicFrame>
        <p:nvGraphicFramePr>
          <p:cNvPr id="13" name="內容版面配置區 11"/>
          <p:cNvGraphicFramePr>
            <a:graphicFrameLocks/>
          </p:cNvGraphicFramePr>
          <p:nvPr>
            <p:extLst/>
          </p:nvPr>
        </p:nvGraphicFramePr>
        <p:xfrm>
          <a:off x="1339962" y="4820869"/>
          <a:ext cx="493556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內容版面配置區 11"/>
          <p:cNvGraphicFramePr>
            <a:graphicFrameLocks/>
          </p:cNvGraphicFramePr>
          <p:nvPr>
            <p:extLst/>
          </p:nvPr>
        </p:nvGraphicFramePr>
        <p:xfrm>
          <a:off x="1330069" y="4250255"/>
          <a:ext cx="493556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>
            <p:extLst/>
          </p:nvPr>
        </p:nvGraphicFramePr>
        <p:xfrm>
          <a:off x="7222263" y="3017091"/>
          <a:ext cx="70883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1483945" y="4236893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83000" y="4244972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Main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46318" y="4820945"/>
            <a:ext cx="641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Aux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99192" y="539938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399192" y="4995818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189238" y="423689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399192" y="459570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911810" y="424497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911810" y="424497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399192" y="459109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06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3466E-6 L 4.72222E-6 0.0786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466E-6 L 0.00053 0.07913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39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1.3466E-6 L 4.72222E-6 0.08075 " pathEditMode="relative" rAng="0" ptsTypes="AA">
                                      <p:cBhvr>
                                        <p:cTn id="71" dur="20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3466E-6 L -4.16667E-6 0.07682 " pathEditMode="relative" rAng="0" ptsTypes="AA">
                                      <p:cBhvr>
                                        <p:cTn id="75" dur="2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7" grpId="2"/>
      <p:bldP spid="18" grpId="0"/>
      <p:bldP spid="19" grpId="0"/>
      <p:bldP spid="20" grpId="0"/>
      <p:bldP spid="22" grpId="0"/>
      <p:bldP spid="23" grpId="0"/>
      <p:bldP spid="23" grpId="1"/>
      <p:bldP spid="23" grpId="2"/>
      <p:bldP spid="24" grpId="0"/>
      <p:bldP spid="24" grpId="1"/>
      <p:bldP spid="25" grpId="0"/>
      <p:bldP spid="25" grpId="1"/>
      <p:bldP spid="27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用兩個堆疊實作佇列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2037781" y="1816761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堆疊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後進先出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037781" y="2616981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堆疊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後進先出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328796" y="2216871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佇列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先進先出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十字形 9"/>
          <p:cNvSpPr/>
          <p:nvPr/>
        </p:nvSpPr>
        <p:spPr>
          <a:xfrm>
            <a:off x="2804514" y="2229779"/>
            <a:ext cx="360000" cy="360000"/>
          </a:xfrm>
          <a:prstGeom prst="plus">
            <a:avLst>
              <a:gd name="adj" fmla="val 387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右箭號 10"/>
          <p:cNvSpPr/>
          <p:nvPr/>
        </p:nvSpPr>
        <p:spPr>
          <a:xfrm>
            <a:off x="4473149" y="2282327"/>
            <a:ext cx="547470" cy="269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12" name="內容版面配置區 11"/>
          <p:cNvGraphicFramePr>
            <a:graphicFrameLocks/>
          </p:cNvGraphicFramePr>
          <p:nvPr>
            <p:extLst/>
          </p:nvPr>
        </p:nvGraphicFramePr>
        <p:xfrm>
          <a:off x="3509736" y="4537343"/>
          <a:ext cx="493556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/>
          </p:nvPr>
        </p:nvGraphicFramePr>
        <p:xfrm>
          <a:off x="864002" y="3346704"/>
          <a:ext cx="70883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>
            <p:extLst/>
          </p:nvPr>
        </p:nvGraphicFramePr>
        <p:xfrm>
          <a:off x="1991719" y="3350250"/>
          <a:ext cx="70883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1040923" y="569709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3699814" y="453106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040923" y="5318254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395695" y="453106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105683" y="453106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040923" y="491814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171519" y="5697098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2171519" y="5318254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040923" y="570773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040923" y="531825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800346" y="4531061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1040923" y="491814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25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17" grpId="0"/>
      <p:bldP spid="17" grpId="1"/>
      <p:bldP spid="18" grpId="0"/>
      <p:bldP spid="19" grpId="0"/>
      <p:bldP spid="20" grpId="0"/>
      <p:bldP spid="20" grpId="1"/>
      <p:bldP spid="21" grpId="0"/>
      <p:bldP spid="21" grpId="1"/>
      <p:bldP spid="22" grpId="0"/>
      <p:bldP spid="22" grpId="1"/>
      <p:bldP spid="23" grpId="0"/>
      <p:bldP spid="24" grpId="0"/>
      <p:bldP spid="25" grpId="0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用一個佇列實作堆疊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2026/03/04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328796" y="2216871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堆疊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後進先出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向右箭號 7"/>
          <p:cNvSpPr/>
          <p:nvPr/>
        </p:nvSpPr>
        <p:spPr>
          <a:xfrm>
            <a:off x="4473149" y="2282327"/>
            <a:ext cx="547470" cy="269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111920" y="2216870"/>
            <a:ext cx="18934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佇列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先進先出</a:t>
            </a:r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內容版面配置區 11"/>
          <p:cNvGraphicFramePr>
            <a:graphicFrameLocks/>
          </p:cNvGraphicFramePr>
          <p:nvPr>
            <p:extLst/>
          </p:nvPr>
        </p:nvGraphicFramePr>
        <p:xfrm>
          <a:off x="1330069" y="4250255"/>
          <a:ext cx="4935567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0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7222263" y="3017091"/>
          <a:ext cx="708837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08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7399192" y="5399386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1480401" y="424398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399192" y="4995360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196984" y="424398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399192" y="459525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901825" y="424398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634773" y="424398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326954" y="4243982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7399192" y="4595250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5057672" y="4243982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404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3" grpId="1"/>
      <p:bldP spid="14" grpId="0"/>
      <p:bldP spid="15" grpId="0"/>
      <p:bldP spid="15" grpId="1"/>
      <p:bldP spid="16" grpId="0"/>
      <p:bldP spid="16" grpId="1"/>
      <p:bldP spid="17" grpId="0"/>
      <p:bldP spid="17" grpId="1"/>
      <p:bldP spid="18" grpId="0"/>
      <p:bldP spid="19" grpId="0"/>
      <p:bldP spid="20" grpId="0"/>
      <p:bldP spid="21" grpId="0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14339</TotalTime>
  <Words>2797</Words>
  <Application>Microsoft Office PowerPoint</Application>
  <PresentationFormat>如螢幕大小 (4:3)</PresentationFormat>
  <Paragraphs>883</Paragraphs>
  <Slides>34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4" baseType="lpstr">
      <vt:lpstr>新細明體</vt:lpstr>
      <vt:lpstr>標楷體</vt:lpstr>
      <vt:lpstr>Angsana New</vt:lpstr>
      <vt:lpstr>Arial</vt:lpstr>
      <vt:lpstr>Calibri</vt:lpstr>
      <vt:lpstr>Monotype Corsiva</vt:lpstr>
      <vt:lpstr>Nirmala UI</vt:lpstr>
      <vt:lpstr>Symbol</vt:lpstr>
      <vt:lpstr>Times New Roman</vt:lpstr>
      <vt:lpstr>NCKU3</vt:lpstr>
      <vt:lpstr>DATA STRUCTURES 資料結構</vt:lpstr>
      <vt:lpstr>堆疊 Stack (1/2)</vt:lpstr>
      <vt:lpstr>堆疊 Stack (2/2)</vt:lpstr>
      <vt:lpstr>佇列 Queue (1/2)</vt:lpstr>
      <vt:lpstr>佇列 Queue (2/2)</vt:lpstr>
      <vt:lpstr>結構體 (1/2)</vt:lpstr>
      <vt:lpstr>結構體 (2/2)</vt:lpstr>
      <vt:lpstr>用陣列實作堆疊(1/3)</vt:lpstr>
      <vt:lpstr>用陣列實作堆疊(2/3)</vt:lpstr>
      <vt:lpstr>用陣列實作堆疊 (3/3)</vt:lpstr>
      <vt:lpstr>用陣列實作佇列 (1/11)</vt:lpstr>
      <vt:lpstr>用陣列實作佇列 (2/11)</vt:lpstr>
      <vt:lpstr>用陣列實作佇列 (3/11)</vt:lpstr>
      <vt:lpstr>用陣列實作佇列 (4/11)</vt:lpstr>
      <vt:lpstr>用陣列實作佇列 (5/11)</vt:lpstr>
      <vt:lpstr>用陣列實作佇列 (6/11)</vt:lpstr>
      <vt:lpstr>用陣列實作佇列 (7/11)</vt:lpstr>
      <vt:lpstr>用陣列實作佇列 (8/11)</vt:lpstr>
      <vt:lpstr>用陣列實作佇列 (9/11)</vt:lpstr>
      <vt:lpstr>用陣列實作佇列 (10/11)</vt:lpstr>
      <vt:lpstr>用陣列實作佇列 (11/11)</vt:lpstr>
      <vt:lpstr>副程式的呼叫與返回 (1/2)</vt:lpstr>
      <vt:lpstr>副程式的呼叫與返回 (2/2)</vt:lpstr>
      <vt:lpstr>運算式的轉換 (1/2)</vt:lpstr>
      <vt:lpstr>運算式的轉換 (2/2)</vt:lpstr>
      <vt:lpstr>括號法 - 中序轉後序</vt:lpstr>
      <vt:lpstr>括號法 - 中序轉前序</vt:lpstr>
      <vt:lpstr>堆疊法 – 中序轉後序 (1/2)</vt:lpstr>
      <vt:lpstr>堆疊法 – 中序轉後序 (2/2)</vt:lpstr>
      <vt:lpstr>後序運算式的求值 (1/2)</vt:lpstr>
      <vt:lpstr>後序運算式的求值 (2/2)</vt:lpstr>
      <vt:lpstr>用兩個佇列實作堆疊</vt:lpstr>
      <vt:lpstr>用兩個堆疊實作佇列</vt:lpstr>
      <vt:lpstr>用一個佇列實作堆疊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84</cp:revision>
  <cp:lastPrinted>2026-02-26T12:32:18Z</cp:lastPrinted>
  <dcterms:created xsi:type="dcterms:W3CDTF">2018-01-10T03:26:15Z</dcterms:created>
  <dcterms:modified xsi:type="dcterms:W3CDTF">2026-02-26T12:32:23Z</dcterms:modified>
</cp:coreProperties>
</file>