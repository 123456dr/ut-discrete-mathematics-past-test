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2"/>
  </p:notesMasterIdLst>
  <p:sldIdLst>
    <p:sldId id="365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89" r:id="rId26"/>
    <p:sldId id="390" r:id="rId27"/>
    <p:sldId id="391" r:id="rId28"/>
    <p:sldId id="392" r:id="rId29"/>
    <p:sldId id="393" r:id="rId30"/>
    <p:sldId id="394" r:id="rId31"/>
    <p:sldId id="395" r:id="rId32"/>
    <p:sldId id="396" r:id="rId33"/>
    <p:sldId id="397" r:id="rId34"/>
    <p:sldId id="398" r:id="rId35"/>
    <p:sldId id="399" r:id="rId36"/>
    <p:sldId id="400" r:id="rId37"/>
    <p:sldId id="401" r:id="rId38"/>
    <p:sldId id="402" r:id="rId39"/>
    <p:sldId id="403" r:id="rId40"/>
    <p:sldId id="404" r:id="rId41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DCDDE"/>
    <a:srgbClr val="E8E8EF"/>
    <a:srgbClr val="FFFFCC"/>
    <a:srgbClr val="820000"/>
    <a:srgbClr val="700000"/>
    <a:srgbClr val="9E0000"/>
    <a:srgbClr val="323232"/>
    <a:srgbClr val="3333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0932" autoAdjust="0"/>
  </p:normalViewPr>
  <p:slideViewPr>
    <p:cSldViewPr>
      <p:cViewPr varScale="1">
        <p:scale>
          <a:sx n="86" d="100"/>
          <a:sy n="86" d="100"/>
        </p:scale>
        <p:origin x="133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r">
              <a:defRPr sz="1200"/>
            </a:lvl1pPr>
          </a:lstStyle>
          <a:p>
            <a:fld id="{7F921807-99F1-4DF0-94D7-7548FA810751}" type="datetimeFigureOut">
              <a:rPr lang="zh-TW" altLang="en-US" smtClean="0"/>
              <a:pPr/>
              <a:t>2026/3/4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42" tIns="45921" rIns="91842" bIns="4592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3"/>
          </a:xfrm>
          <a:prstGeom prst="rect">
            <a:avLst/>
          </a:prstGeom>
        </p:spPr>
        <p:txBody>
          <a:bodyPr vert="horz" lIns="91842" tIns="45921" rIns="91842" bIns="45921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r">
              <a:defRPr sz="1200"/>
            </a:lvl1pPr>
          </a:lstStyle>
          <a:p>
            <a:fld id="{6C24E503-88D4-45A6-8EBB-14391082A01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1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22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7677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4231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9168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3233" y="225653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2483768" y="4530498"/>
            <a:ext cx="6552728" cy="1676400"/>
          </a:xfrm>
        </p:spPr>
        <p:txBody>
          <a:bodyPr/>
          <a:lstStyle>
            <a:lvl1pPr marL="0" indent="0" algn="ctr">
              <a:buFontTx/>
              <a:buNone/>
              <a:defRPr b="1"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2026/02/25</a:t>
            </a:r>
            <a:endParaRPr lang="en-US" altLang="zh-TW"/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924896" y="2394158"/>
            <a:ext cx="6111600" cy="1860612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3233" y="425477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300993" y="6581001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 smtClean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12" name="Picture 2" descr="C:\Users\admin\Dropbox\世暘&amp;莉淳\相片\DSC_9359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92" y="2382770"/>
            <a:ext cx="2812457" cy="1872000"/>
          </a:xfrm>
          <a:prstGeom prst="rect">
            <a:avLst/>
          </a:prstGeom>
          <a:noFill/>
        </p:spPr>
      </p:pic>
      <p:pic>
        <p:nvPicPr>
          <p:cNvPr id="20" name="圖片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458" y="1161633"/>
            <a:ext cx="3566038" cy="108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0"/>
            <a:ext cx="6861448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950" y="1268760"/>
            <a:ext cx="8928100" cy="532730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2026/02/25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3F35E6-A8E7-488D-BD9F-ED9A7F7FA10F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2026/02/25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183EC-7050-45EB-9E88-B86B53D28D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795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2026/02/25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32F3C-BFB5-4433-80F2-31E4E599C27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2026/02/25</a:t>
            </a:r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71ADB-DDEF-4830-B9BC-5050A26247A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2026/02/25</a:t>
            </a: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8238B-CE9D-4BC3-843E-48DE31256F2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2026/02/25</a:t>
            </a: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989FA-7C75-4428-B4F8-334FD772112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2026/02/25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ED4DE-EAF4-4F9D-92A9-54CDF4DC460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2026/02/25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BED88-20FD-46BD-AA27-41E91F90C6D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2026/02/25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5973D2-4DDA-41F5-8DAD-51687E6176F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04025" y="0"/>
            <a:ext cx="2232025" cy="659606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07950" y="0"/>
            <a:ext cx="6543675" cy="659606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2026/02/25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BEB42-A2EB-4830-8F53-FDF4A3AEB5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86816" y="0"/>
            <a:ext cx="6861448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40" y="1250328"/>
            <a:ext cx="8940456" cy="53457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en-US" altLang="zh-TW" smtClean="0"/>
              <a:t>2026/02/25</a:t>
            </a:r>
            <a:endParaRPr lang="en-US" altLang="zh-TW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97650"/>
            <a:ext cx="28956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+mn-lt"/>
                <a:cs typeface="Angsana New" pitchFamily="18" charset="-34"/>
              </a:defRPr>
            </a:lvl1pPr>
          </a:lstStyle>
          <a:p>
            <a:fld id="{88815D73-EF14-4780-98ED-F121D5ADB135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16" name="矩形 15"/>
          <p:cNvSpPr/>
          <p:nvPr userDrawn="1"/>
        </p:nvSpPr>
        <p:spPr>
          <a:xfrm>
            <a:off x="0" y="1160664"/>
            <a:ext cx="9144000" cy="72000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4343620" y="935059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 smtClean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43" y="18248"/>
            <a:ext cx="2133600" cy="64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+mj-lt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DATA</a:t>
            </a:r>
            <a:r>
              <a:rPr lang="zh-TW" altLang="en-US" dirty="0" smtClean="0"/>
              <a:t> </a:t>
            </a:r>
            <a:r>
              <a:rPr lang="en-US" altLang="zh-TW" dirty="0" smtClean="0"/>
              <a:t>STRUCTURES</a:t>
            </a:r>
            <a:br>
              <a:rPr lang="en-US" altLang="zh-TW" dirty="0" smtClean="0"/>
            </a:br>
            <a:r>
              <a:rPr lang="zh-TW" altLang="en-US" dirty="0" smtClean="0"/>
              <a:t>資料結構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dirty="0"/>
              <a:t>Chia-Wei Lee </a:t>
            </a:r>
            <a:r>
              <a:rPr lang="zh-TW" altLang="en-US" dirty="0"/>
              <a:t>李佳衛</a:t>
            </a:r>
          </a:p>
          <a:p>
            <a:pPr algn="r"/>
            <a:r>
              <a:rPr lang="en-US" altLang="zh-TW" dirty="0"/>
              <a:t>cwlee@utaipei.edu.tw</a:t>
            </a:r>
          </a:p>
          <a:p>
            <a:pPr algn="r"/>
            <a:r>
              <a:rPr lang="en-US" altLang="zh-TW" dirty="0"/>
              <a:t>Department of Computer Science</a:t>
            </a:r>
          </a:p>
          <a:p>
            <a:pPr algn="r"/>
            <a:r>
              <a:rPr lang="en-US" altLang="zh-TW" dirty="0"/>
              <a:t>University of Taipei</a:t>
            </a:r>
          </a:p>
        </p:txBody>
      </p:sp>
    </p:spTree>
    <p:extLst>
      <p:ext uri="{BB962C8B-B14F-4D97-AF65-F5344CB8AC3E}">
        <p14:creationId xmlns:p14="http://schemas.microsoft.com/office/powerpoint/2010/main" val="1714987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陣列 </a:t>
            </a:r>
            <a:r>
              <a:rPr lang="en-US" altLang="zh-TW" dirty="0" smtClean="0"/>
              <a:t>Array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最基本的</a:t>
            </a:r>
            <a:r>
              <a:rPr lang="zh-TW" altLang="en-US" dirty="0" smtClean="0"/>
              <a:t>資料結構</a:t>
            </a:r>
            <a:endParaRPr lang="en-US" altLang="zh-TW" dirty="0" smtClean="0"/>
          </a:p>
          <a:p>
            <a:endParaRPr lang="en-US" altLang="zh-TW" dirty="0" smtClean="0">
              <a:solidFill>
                <a:srgbClr val="C00000"/>
              </a:solidFill>
            </a:endParaRPr>
          </a:p>
          <a:p>
            <a:r>
              <a:rPr lang="zh-TW" altLang="zh-TW" dirty="0" smtClean="0">
                <a:solidFill>
                  <a:srgbClr val="C00000"/>
                </a:solidFill>
              </a:rPr>
              <a:t>「</a:t>
            </a:r>
            <a:r>
              <a:rPr lang="zh-TW" altLang="zh-TW" dirty="0">
                <a:solidFill>
                  <a:srgbClr val="C00000"/>
                </a:solidFill>
              </a:rPr>
              <a:t>陣列」</a:t>
            </a:r>
            <a:r>
              <a:rPr lang="en-US" altLang="zh-TW" dirty="0">
                <a:solidFill>
                  <a:srgbClr val="C00000"/>
                </a:solidFill>
              </a:rPr>
              <a:t> (Array)</a:t>
            </a:r>
            <a:r>
              <a:rPr lang="zh-TW" altLang="zh-TW" dirty="0">
                <a:solidFill>
                  <a:srgbClr val="FF0000"/>
                </a:solidFill>
              </a:rPr>
              <a:t> </a:t>
            </a:r>
            <a:r>
              <a:rPr lang="zh-TW" altLang="zh-TW" dirty="0"/>
              <a:t>是由多個相同型別元素所組成的串列，這些元素共用一個名稱來表示，並且加上</a:t>
            </a:r>
            <a:r>
              <a:rPr lang="zh-TW" altLang="zh-TW" dirty="0" smtClean="0"/>
              <a:t>編號</a:t>
            </a:r>
            <a:r>
              <a:rPr lang="en-US" altLang="zh-TW" dirty="0" smtClean="0"/>
              <a:t>(</a:t>
            </a:r>
            <a:r>
              <a:rPr lang="zh-TW" altLang="zh-TW" dirty="0" smtClean="0"/>
              <a:t>或</a:t>
            </a:r>
            <a:r>
              <a:rPr lang="zh-TW" altLang="zh-TW" dirty="0"/>
              <a:t>稱註標，</a:t>
            </a:r>
            <a:r>
              <a:rPr lang="en-US" altLang="zh-TW" dirty="0" smtClean="0"/>
              <a:t>index)</a:t>
            </a:r>
            <a:r>
              <a:rPr lang="zh-TW" altLang="zh-TW" dirty="0" smtClean="0"/>
              <a:t>以</a:t>
            </a:r>
            <a:r>
              <a:rPr lang="zh-TW" altLang="zh-TW" dirty="0"/>
              <a:t>區別個別的元素</a:t>
            </a:r>
            <a:r>
              <a:rPr lang="zh-TW" altLang="zh-TW" dirty="0" smtClean="0"/>
              <a:t>。</a:t>
            </a:r>
            <a:endParaRPr lang="en-US" altLang="zh-TW" dirty="0" smtClean="0"/>
          </a:p>
          <a:p>
            <a:pPr lvl="1"/>
            <a:r>
              <a:rPr lang="zh-TW" altLang="zh-TW" dirty="0">
                <a:solidFill>
                  <a:srgbClr val="000000"/>
                </a:solidFill>
              </a:rPr>
              <a:t>想像成一排有編號的</a:t>
            </a:r>
            <a:r>
              <a:rPr lang="zh-TW" altLang="zh-TW" dirty="0" smtClean="0">
                <a:solidFill>
                  <a:srgbClr val="000000"/>
                </a:solidFill>
              </a:rPr>
              <a:t>格子</a:t>
            </a:r>
            <a:endParaRPr lang="en-US" altLang="zh-TW" dirty="0" smtClean="0">
              <a:solidFill>
                <a:srgbClr val="000000"/>
              </a:solidFill>
            </a:endParaRPr>
          </a:p>
          <a:p>
            <a:pPr lvl="1"/>
            <a:r>
              <a:rPr lang="zh-TW" altLang="zh-TW" dirty="0">
                <a:solidFill>
                  <a:srgbClr val="000000"/>
                </a:solidFill>
              </a:rPr>
              <a:t>存放相同類型的</a:t>
            </a:r>
            <a:r>
              <a:rPr lang="zh-TW" altLang="zh-TW" dirty="0" smtClean="0">
                <a:solidFill>
                  <a:srgbClr val="000000"/>
                </a:solidFill>
              </a:rPr>
              <a:t>物品</a:t>
            </a:r>
            <a:endParaRPr lang="en-US" altLang="zh-TW" dirty="0" smtClean="0">
              <a:solidFill>
                <a:srgbClr val="000000"/>
              </a:solidFill>
            </a:endParaRPr>
          </a:p>
          <a:p>
            <a:pPr lvl="1"/>
            <a:endParaRPr lang="en-US" altLang="zh-TW" dirty="0" smtClean="0">
              <a:solidFill>
                <a:srgbClr val="000000"/>
              </a:solidFill>
            </a:endParaRPr>
          </a:p>
          <a:p>
            <a:pPr lvl="1"/>
            <a:r>
              <a:rPr lang="zh-TW" altLang="en-US" dirty="0" smtClean="0">
                <a:solidFill>
                  <a:srgbClr val="C00000"/>
                </a:solidFill>
              </a:rPr>
              <a:t>隨機存取 </a:t>
            </a:r>
            <a:r>
              <a:rPr lang="en-US" altLang="zh-TW" dirty="0" smtClean="0">
                <a:solidFill>
                  <a:srgbClr val="C00000"/>
                </a:solidFill>
              </a:rPr>
              <a:t>(random access)</a:t>
            </a:r>
            <a:endParaRPr lang="zh-TW" altLang="en-US" dirty="0">
              <a:solidFill>
                <a:srgbClr val="C00000"/>
              </a:solidFill>
            </a:endParaRPr>
          </a:p>
          <a:p>
            <a:pPr lvl="1"/>
            <a:r>
              <a:rPr lang="zh-TW" altLang="zh-TW" dirty="0" smtClean="0">
                <a:solidFill>
                  <a:srgbClr val="000000"/>
                </a:solidFill>
              </a:rPr>
              <a:t>隨意打開某一個編號的格子，查看裡面的內容</a:t>
            </a:r>
            <a:endParaRPr lang="en-US" altLang="zh-TW" dirty="0" smtClean="0">
              <a:solidFill>
                <a:srgbClr val="000000"/>
              </a:solidFill>
            </a:endParaRPr>
          </a:p>
          <a:p>
            <a:pPr lvl="1"/>
            <a:r>
              <a:rPr lang="zh-TW" altLang="zh-TW" dirty="0" smtClean="0">
                <a:solidFill>
                  <a:srgbClr val="000000"/>
                </a:solidFill>
              </a:rPr>
              <a:t>擺</a:t>
            </a:r>
            <a:r>
              <a:rPr lang="zh-TW" altLang="zh-TW" dirty="0">
                <a:solidFill>
                  <a:srgbClr val="000000"/>
                </a:solidFill>
              </a:rPr>
              <a:t>在某一個喜歡</a:t>
            </a:r>
            <a:r>
              <a:rPr lang="zh-TW" altLang="zh-TW" dirty="0" smtClean="0">
                <a:solidFill>
                  <a:srgbClr val="000000"/>
                </a:solidFill>
              </a:rPr>
              <a:t>的</a:t>
            </a:r>
            <a:r>
              <a:rPr lang="zh-TW" altLang="en-US" dirty="0" smtClean="0">
                <a:solidFill>
                  <a:srgbClr val="000000"/>
                </a:solidFill>
              </a:rPr>
              <a:t>格子</a:t>
            </a:r>
            <a:r>
              <a:rPr lang="zh-TW" altLang="zh-TW" dirty="0" smtClean="0">
                <a:solidFill>
                  <a:srgbClr val="000000"/>
                </a:solidFill>
              </a:rPr>
              <a:t>內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39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69" t="3642" r="15329" b="4573"/>
          <a:stretch/>
        </p:blipFill>
        <p:spPr bwMode="auto">
          <a:xfrm>
            <a:off x="6228184" y="2780928"/>
            <a:ext cx="2501659" cy="39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704490" y="5373216"/>
          <a:ext cx="4988945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7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7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77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4" name="群組 13"/>
          <p:cNvGrpSpPr/>
          <p:nvPr/>
        </p:nvGrpSpPr>
        <p:grpSpPr>
          <a:xfrm>
            <a:off x="793630" y="5813642"/>
            <a:ext cx="4825269" cy="405861"/>
            <a:chOff x="793630" y="5607170"/>
            <a:chExt cx="4825269" cy="405861"/>
          </a:xfrm>
        </p:grpSpPr>
        <p:sp>
          <p:nvSpPr>
            <p:cNvPr id="9" name="文字方塊 8"/>
            <p:cNvSpPr txBox="1"/>
            <p:nvPr/>
          </p:nvSpPr>
          <p:spPr>
            <a:xfrm>
              <a:off x="793630" y="5607170"/>
              <a:ext cx="8082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list[0]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1794749" y="5607170"/>
              <a:ext cx="8082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list[1]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2792082" y="5607170"/>
              <a:ext cx="8082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list[2]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3810000" y="5612921"/>
              <a:ext cx="8082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list[3]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4810664" y="5612921"/>
              <a:ext cx="8082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list[4]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4248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陣列的表示法 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線性串列</a:t>
            </a:r>
            <a:r>
              <a:rPr lang="zh-TW" altLang="en-US" dirty="0"/>
              <a:t>又稱</a:t>
            </a:r>
            <a:r>
              <a:rPr lang="zh-TW" altLang="en-US" dirty="0">
                <a:solidFill>
                  <a:srgbClr val="C00000"/>
                </a:solidFill>
              </a:rPr>
              <a:t>循序</a:t>
            </a:r>
            <a:r>
              <a:rPr lang="zh-TW" altLang="en-US" dirty="0" smtClean="0">
                <a:solidFill>
                  <a:srgbClr val="C00000"/>
                </a:solidFill>
              </a:rPr>
              <a:t>串列</a:t>
            </a:r>
            <a:r>
              <a:rPr lang="en-US" altLang="zh-TW" dirty="0" smtClean="0">
                <a:solidFill>
                  <a:srgbClr val="C00000"/>
                </a:solidFill>
              </a:rPr>
              <a:t>(sequential list)</a:t>
            </a:r>
            <a:r>
              <a:rPr lang="zh-TW" altLang="en-US" dirty="0" smtClean="0"/>
              <a:t>或</a:t>
            </a:r>
            <a:r>
              <a:rPr lang="zh-TW" altLang="en-US" dirty="0">
                <a:solidFill>
                  <a:srgbClr val="C00000"/>
                </a:solidFill>
              </a:rPr>
              <a:t>有序</a:t>
            </a:r>
            <a:r>
              <a:rPr lang="zh-TW" altLang="en-US" dirty="0" smtClean="0">
                <a:solidFill>
                  <a:srgbClr val="C00000"/>
                </a:solidFill>
              </a:rPr>
              <a:t>串列</a:t>
            </a:r>
            <a:r>
              <a:rPr lang="en-US" altLang="zh-TW" dirty="0" smtClean="0">
                <a:solidFill>
                  <a:srgbClr val="C00000"/>
                </a:solidFill>
              </a:rPr>
              <a:t>(ordered list)</a:t>
            </a:r>
          </a:p>
          <a:p>
            <a:pPr lvl="1"/>
            <a:r>
              <a:rPr lang="zh-TW" altLang="en-US" dirty="0" smtClean="0"/>
              <a:t>特性是</a:t>
            </a:r>
            <a:r>
              <a:rPr lang="zh-TW" altLang="en-US" dirty="0"/>
              <a:t>每一項依據它在串列的位置</a:t>
            </a:r>
            <a:r>
              <a:rPr lang="zh-TW" altLang="en-US" dirty="0" smtClean="0"/>
              <a:t>，形成</a:t>
            </a:r>
            <a:r>
              <a:rPr lang="zh-TW" altLang="en-US" dirty="0"/>
              <a:t>一個線性的排列次序，</a:t>
            </a:r>
            <a:r>
              <a:rPr lang="zh-TW" altLang="en-US" dirty="0" smtClean="0"/>
              <a:t>所以</a:t>
            </a:r>
            <a:r>
              <a:rPr lang="zh-TW" altLang="en-US" dirty="0" smtClean="0">
                <a:solidFill>
                  <a:srgbClr val="C00000"/>
                </a:solidFill>
              </a:rPr>
              <a:t> </a:t>
            </a:r>
            <a:r>
              <a:rPr lang="en-US" altLang="zh-TW" i="1" dirty="0" smtClean="0">
                <a:solidFill>
                  <a:srgbClr val="C00000"/>
                </a:solidFill>
              </a:rPr>
              <a:t>x</a:t>
            </a:r>
            <a:r>
              <a:rPr lang="en-US" altLang="zh-TW" dirty="0" smtClean="0">
                <a:solidFill>
                  <a:srgbClr val="C00000"/>
                </a:solidFill>
              </a:rPr>
              <a:t>[</a:t>
            </a:r>
            <a:r>
              <a:rPr lang="en-US" altLang="zh-TW" i="1" dirty="0" err="1" smtClean="0">
                <a:solidFill>
                  <a:srgbClr val="C00000"/>
                </a:solidFill>
              </a:rPr>
              <a:t>i</a:t>
            </a:r>
            <a:r>
              <a:rPr lang="en-US" altLang="zh-TW" dirty="0">
                <a:solidFill>
                  <a:srgbClr val="C00000"/>
                </a:solidFill>
              </a:rPr>
              <a:t>]</a:t>
            </a:r>
            <a:r>
              <a:rPr lang="zh-TW" altLang="en-US" dirty="0" smtClean="0">
                <a:solidFill>
                  <a:srgbClr val="C00000"/>
                </a:solidFill>
              </a:rPr>
              <a:t>在 </a:t>
            </a:r>
            <a:r>
              <a:rPr lang="en-US" altLang="zh-TW" i="1" dirty="0" smtClean="0">
                <a:solidFill>
                  <a:srgbClr val="C00000"/>
                </a:solidFill>
              </a:rPr>
              <a:t>x</a:t>
            </a:r>
            <a:r>
              <a:rPr lang="en-US" altLang="zh-TW" dirty="0" smtClean="0">
                <a:solidFill>
                  <a:srgbClr val="C00000"/>
                </a:solidFill>
              </a:rPr>
              <a:t>[</a:t>
            </a:r>
            <a:r>
              <a:rPr lang="en-US" altLang="zh-TW" i="1" dirty="0" err="1" smtClean="0">
                <a:solidFill>
                  <a:srgbClr val="C00000"/>
                </a:solidFill>
              </a:rPr>
              <a:t>i</a:t>
            </a:r>
            <a:r>
              <a:rPr lang="en-US" altLang="zh-TW" dirty="0" smtClean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</a:rPr>
              <a:t>+ 1</a:t>
            </a:r>
            <a:r>
              <a:rPr lang="en-US" altLang="zh-TW" dirty="0" smtClean="0">
                <a:solidFill>
                  <a:srgbClr val="C00000"/>
                </a:solidFill>
              </a:rPr>
              <a:t>] </a:t>
            </a:r>
            <a:r>
              <a:rPr lang="zh-TW" altLang="en-US" dirty="0" smtClean="0">
                <a:solidFill>
                  <a:srgbClr val="C00000"/>
                </a:solidFill>
              </a:rPr>
              <a:t>之前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endParaRPr lang="en-US" altLang="zh-TW" dirty="0"/>
          </a:p>
          <a:p>
            <a:r>
              <a:rPr lang="zh-TW" altLang="en-US" dirty="0"/>
              <a:t>線性</a:t>
            </a:r>
            <a:r>
              <a:rPr lang="zh-TW" altLang="en-US" dirty="0" smtClean="0"/>
              <a:t>串列的操作</a:t>
            </a:r>
            <a:r>
              <a:rPr lang="en-US" altLang="zh-TW" dirty="0" smtClean="0"/>
              <a:t>(operation)</a:t>
            </a:r>
            <a:r>
              <a:rPr lang="zh-TW" altLang="en-US" dirty="0" smtClean="0"/>
              <a:t>如下：</a:t>
            </a:r>
            <a:endParaRPr lang="en-US" altLang="zh-TW" dirty="0" smtClean="0"/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取出</a:t>
            </a:r>
            <a:r>
              <a:rPr lang="zh-TW" altLang="en-US" dirty="0"/>
              <a:t>串列中的</a:t>
            </a:r>
            <a:r>
              <a:rPr lang="zh-TW" altLang="en-US" dirty="0" smtClean="0"/>
              <a:t>第 </a:t>
            </a:r>
            <a:r>
              <a:rPr lang="en-US" altLang="zh-TW" i="1" dirty="0" err="1" smtClean="0"/>
              <a:t>i</a:t>
            </a:r>
            <a:r>
              <a:rPr lang="en-US" altLang="zh-TW" i="1" dirty="0" smtClean="0"/>
              <a:t> </a:t>
            </a:r>
            <a:r>
              <a:rPr lang="zh-TW" altLang="en-US" dirty="0" smtClean="0"/>
              <a:t>項</a:t>
            </a:r>
            <a:r>
              <a:rPr lang="zh-TW" altLang="en-US" dirty="0"/>
              <a:t>；</a:t>
            </a:r>
            <a:r>
              <a:rPr lang="en-US" altLang="zh-TW" dirty="0" smtClean="0"/>
              <a:t>0 </a:t>
            </a:r>
            <a:r>
              <a:rPr lang="en-US" altLang="zh-TW" dirty="0" smtClean="0">
                <a:sym typeface="Symbol" panose="05050102010706020507" pitchFamily="18" charset="2"/>
              </a:rPr>
              <a:t></a:t>
            </a:r>
            <a:r>
              <a:rPr lang="en-US" altLang="zh-TW" dirty="0" smtClean="0"/>
              <a:t> </a:t>
            </a:r>
            <a:r>
              <a:rPr lang="en-US" altLang="zh-TW" i="1" dirty="0" err="1"/>
              <a:t>i</a:t>
            </a:r>
            <a:r>
              <a:rPr lang="en-US" altLang="zh-TW" dirty="0"/>
              <a:t> </a:t>
            </a:r>
            <a:r>
              <a:rPr lang="en-US" altLang="zh-TW" dirty="0" smtClean="0">
                <a:sym typeface="Symbol" panose="05050102010706020507" pitchFamily="18" charset="2"/>
              </a:rPr>
              <a:t></a:t>
            </a:r>
            <a:r>
              <a:rPr lang="en-US" altLang="zh-TW" dirty="0" smtClean="0"/>
              <a:t>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– 1 </a:t>
            </a:r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計算</a:t>
            </a:r>
            <a:r>
              <a:rPr lang="zh-TW" altLang="en-US" dirty="0"/>
              <a:t>串列的</a:t>
            </a:r>
            <a:r>
              <a:rPr lang="zh-TW" altLang="en-US" dirty="0" smtClean="0"/>
              <a:t>長度</a:t>
            </a:r>
            <a:endParaRPr lang="en-US" altLang="zh-TW" dirty="0" smtClean="0"/>
          </a:p>
          <a:p>
            <a:pPr lvl="1"/>
            <a:r>
              <a:rPr lang="zh-TW" altLang="en-US" dirty="0"/>
              <a:t>由左至右或由右至左</a:t>
            </a:r>
            <a:r>
              <a:rPr lang="zh-TW" altLang="en-US" dirty="0" smtClean="0">
                <a:solidFill>
                  <a:srgbClr val="C00000"/>
                </a:solidFill>
              </a:rPr>
              <a:t>讀取</a:t>
            </a:r>
            <a:r>
              <a:rPr lang="zh-TW" altLang="en-US" dirty="0" smtClean="0"/>
              <a:t>串列</a:t>
            </a:r>
            <a:endParaRPr lang="en-US" altLang="zh-TW" dirty="0" smtClean="0"/>
          </a:p>
          <a:p>
            <a:pPr lvl="1"/>
            <a:r>
              <a:rPr lang="zh-TW" altLang="en-US" dirty="0"/>
              <a:t>在</a:t>
            </a:r>
            <a:r>
              <a:rPr lang="zh-TW" altLang="en-US" dirty="0" smtClean="0"/>
              <a:t>第 </a:t>
            </a:r>
            <a:r>
              <a:rPr lang="en-US" altLang="zh-TW" i="1" dirty="0" err="1" smtClean="0"/>
              <a:t>i</a:t>
            </a:r>
            <a:r>
              <a:rPr lang="en-US" altLang="zh-TW" i="1" dirty="0" smtClean="0"/>
              <a:t> </a:t>
            </a:r>
            <a:r>
              <a:rPr lang="zh-TW" altLang="en-US" dirty="0" smtClean="0"/>
              <a:t>項</a:t>
            </a:r>
            <a:r>
              <a:rPr lang="zh-TW" altLang="en-US" dirty="0">
                <a:solidFill>
                  <a:srgbClr val="C00000"/>
                </a:solidFill>
              </a:rPr>
              <a:t>加入</a:t>
            </a:r>
            <a:r>
              <a:rPr lang="zh-TW" altLang="en-US" dirty="0"/>
              <a:t>一個新值，使其原來的</a:t>
            </a:r>
            <a:r>
              <a:rPr lang="zh-TW" altLang="en-US" dirty="0" smtClean="0"/>
              <a:t>第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, </a:t>
            </a:r>
            <a:r>
              <a:rPr lang="en-US" altLang="zh-TW" i="1" dirty="0" err="1" smtClean="0"/>
              <a:t>i</a:t>
            </a:r>
            <a:r>
              <a:rPr lang="en-US" altLang="zh-TW" i="1" dirty="0" smtClean="0"/>
              <a:t> </a:t>
            </a:r>
            <a:r>
              <a:rPr lang="en-US" altLang="zh-TW" dirty="0" smtClean="0"/>
              <a:t>+ 1,…, </a:t>
            </a:r>
            <a:r>
              <a:rPr lang="en-US" altLang="zh-TW" i="1" dirty="0" smtClean="0"/>
              <a:t>n </a:t>
            </a:r>
            <a:r>
              <a:rPr lang="zh-TW" altLang="en-US" dirty="0" smtClean="0"/>
              <a:t>項</a:t>
            </a:r>
            <a:r>
              <a:rPr lang="zh-TW" altLang="en-US" dirty="0"/>
              <a:t>變為</a:t>
            </a:r>
            <a:r>
              <a:rPr lang="zh-TW" altLang="en-US" dirty="0" smtClean="0"/>
              <a:t>第 </a:t>
            </a:r>
            <a:r>
              <a:rPr lang="en-US" altLang="zh-TW" i="1" dirty="0" err="1" smtClean="0"/>
              <a:t>i</a:t>
            </a:r>
            <a:r>
              <a:rPr lang="en-US" altLang="zh-TW" i="1" dirty="0" smtClean="0"/>
              <a:t> </a:t>
            </a:r>
            <a:r>
              <a:rPr lang="en-US" altLang="zh-TW" dirty="0" smtClean="0"/>
              <a:t>+ 1,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 + 2,…,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+ 1 </a:t>
            </a:r>
            <a:r>
              <a:rPr lang="zh-TW" altLang="en-US" dirty="0" smtClean="0"/>
              <a:t>項</a:t>
            </a:r>
            <a:endParaRPr lang="en-US" altLang="zh-TW" dirty="0" smtClean="0"/>
          </a:p>
          <a:p>
            <a:pPr lvl="1"/>
            <a:r>
              <a:rPr lang="zh-TW" altLang="en-US" dirty="0" smtClean="0">
                <a:solidFill>
                  <a:srgbClr val="C00000"/>
                </a:solidFill>
              </a:rPr>
              <a:t>刪除</a:t>
            </a:r>
            <a:r>
              <a:rPr lang="zh-TW" altLang="en-US" dirty="0" smtClean="0"/>
              <a:t>第 </a:t>
            </a:r>
            <a:r>
              <a:rPr lang="en-US" altLang="zh-TW" i="1" dirty="0" err="1" smtClean="0"/>
              <a:t>i</a:t>
            </a:r>
            <a:r>
              <a:rPr lang="en-US" altLang="zh-TW" i="1" dirty="0" smtClean="0"/>
              <a:t> </a:t>
            </a:r>
            <a:r>
              <a:rPr lang="zh-TW" altLang="en-US" dirty="0" smtClean="0"/>
              <a:t>項，</a:t>
            </a:r>
            <a:r>
              <a:rPr lang="zh-TW" altLang="en-US" dirty="0"/>
              <a:t>使其原來的</a:t>
            </a:r>
            <a:r>
              <a:rPr lang="zh-TW" altLang="en-US" dirty="0" smtClean="0"/>
              <a:t>第 </a:t>
            </a:r>
            <a:r>
              <a:rPr lang="en-US" altLang="zh-TW" i="1" dirty="0" err="1" smtClean="0"/>
              <a:t>i</a:t>
            </a:r>
            <a:r>
              <a:rPr lang="zh-TW" altLang="en-US" dirty="0" smtClean="0"/>
              <a:t> </a:t>
            </a:r>
            <a:r>
              <a:rPr lang="en-US" altLang="zh-TW" dirty="0" smtClean="0"/>
              <a:t>+</a:t>
            </a:r>
            <a:r>
              <a:rPr lang="zh-TW" altLang="en-US" dirty="0" smtClean="0"/>
              <a:t> </a:t>
            </a:r>
            <a:r>
              <a:rPr lang="en-US" altLang="zh-TW" dirty="0" smtClean="0"/>
              <a:t>1, </a:t>
            </a:r>
            <a:r>
              <a:rPr lang="en-US" altLang="zh-TW" i="1" dirty="0" err="1"/>
              <a:t>i</a:t>
            </a:r>
            <a:r>
              <a:rPr lang="en-US" altLang="zh-TW" i="1" dirty="0"/>
              <a:t> </a:t>
            </a:r>
            <a:r>
              <a:rPr lang="en-US" altLang="zh-TW" dirty="0"/>
              <a:t>+ </a:t>
            </a:r>
            <a:r>
              <a:rPr lang="en-US" altLang="zh-TW" dirty="0" smtClean="0"/>
              <a:t>2,…, </a:t>
            </a:r>
            <a:r>
              <a:rPr lang="en-US" altLang="zh-TW" i="1" dirty="0" smtClean="0"/>
              <a:t>n </a:t>
            </a:r>
            <a:r>
              <a:rPr lang="zh-TW" altLang="en-US" dirty="0" smtClean="0"/>
              <a:t>項</a:t>
            </a:r>
            <a:r>
              <a:rPr lang="zh-TW" altLang="en-US" dirty="0"/>
              <a:t>變為第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, </a:t>
            </a:r>
            <a:r>
              <a:rPr lang="en-US" altLang="zh-TW" i="1" dirty="0" err="1"/>
              <a:t>i</a:t>
            </a:r>
            <a:r>
              <a:rPr lang="en-US" altLang="zh-TW" dirty="0"/>
              <a:t> + </a:t>
            </a:r>
            <a:r>
              <a:rPr lang="en-US" altLang="zh-TW" dirty="0" smtClean="0"/>
              <a:t>1,…,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– 1 </a:t>
            </a:r>
            <a:r>
              <a:rPr lang="zh-TW" altLang="en-US" dirty="0" smtClean="0"/>
              <a:t>項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3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5429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陣列的表示法 </a:t>
            </a:r>
            <a:r>
              <a:rPr lang="en-US" altLang="zh-TW" dirty="0" smtClean="0"/>
              <a:t>(2/2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一維陣列 </a:t>
            </a:r>
            <a:r>
              <a:rPr lang="en-US" altLang="zh-TW" dirty="0" smtClean="0"/>
              <a:t>list[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</a:t>
            </a:r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/>
              <a:t>二維陣列 </a:t>
            </a:r>
            <a:r>
              <a:rPr lang="en-US" altLang="zh-TW" dirty="0" smtClean="0"/>
              <a:t>list[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][</a:t>
            </a:r>
            <a:r>
              <a:rPr lang="en-US" altLang="zh-TW" i="1" dirty="0" smtClean="0"/>
              <a:t>j</a:t>
            </a:r>
            <a:r>
              <a:rPr lang="en-US" altLang="zh-TW" dirty="0" smtClean="0"/>
              <a:t>]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三維陣列 </a:t>
            </a:r>
            <a:r>
              <a:rPr lang="en-US" altLang="zh-TW" dirty="0" smtClean="0"/>
              <a:t>list[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][</a:t>
            </a:r>
            <a:r>
              <a:rPr lang="en-US" altLang="zh-TW" i="1" dirty="0" smtClean="0"/>
              <a:t>j</a:t>
            </a:r>
            <a:r>
              <a:rPr lang="en-US" altLang="zh-TW" dirty="0" smtClean="0"/>
              <a:t>][</a:t>
            </a:r>
            <a:r>
              <a:rPr lang="en-US" altLang="zh-TW" i="1" dirty="0" smtClean="0"/>
              <a:t>k</a:t>
            </a:r>
            <a:r>
              <a:rPr lang="en-US" altLang="zh-TW" dirty="0" smtClean="0"/>
              <a:t>]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225" name="群組 224"/>
          <p:cNvGrpSpPr/>
          <p:nvPr/>
        </p:nvGrpSpPr>
        <p:grpSpPr>
          <a:xfrm>
            <a:off x="2483768" y="4478068"/>
            <a:ext cx="2671306" cy="1575817"/>
            <a:chOff x="2355011" y="4432540"/>
            <a:chExt cx="2671306" cy="1575817"/>
          </a:xfrm>
        </p:grpSpPr>
        <p:grpSp>
          <p:nvGrpSpPr>
            <p:cNvPr id="206" name="群組 205"/>
            <p:cNvGrpSpPr/>
            <p:nvPr/>
          </p:nvGrpSpPr>
          <p:grpSpPr>
            <a:xfrm>
              <a:off x="2355011" y="5265977"/>
              <a:ext cx="2070336" cy="742380"/>
              <a:chOff x="2355011" y="5265977"/>
              <a:chExt cx="2070336" cy="742380"/>
            </a:xfrm>
          </p:grpSpPr>
          <p:cxnSp>
            <p:nvCxnSpPr>
              <p:cNvPr id="115" name="直線接點 114"/>
              <p:cNvCxnSpPr/>
              <p:nvPr/>
            </p:nvCxnSpPr>
            <p:spPr>
              <a:xfrm>
                <a:off x="2355011" y="5265977"/>
                <a:ext cx="2070336" cy="5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接點 122"/>
              <p:cNvCxnSpPr/>
              <p:nvPr/>
            </p:nvCxnSpPr>
            <p:spPr>
              <a:xfrm>
                <a:off x="2355011" y="5637421"/>
                <a:ext cx="207033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線接點 126"/>
              <p:cNvCxnSpPr/>
              <p:nvPr/>
            </p:nvCxnSpPr>
            <p:spPr>
              <a:xfrm>
                <a:off x="2355011" y="5265977"/>
                <a:ext cx="0" cy="7423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線接點 128"/>
              <p:cNvCxnSpPr/>
              <p:nvPr/>
            </p:nvCxnSpPr>
            <p:spPr>
              <a:xfrm>
                <a:off x="4425347" y="5266485"/>
                <a:ext cx="0" cy="74187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線接點 149"/>
              <p:cNvCxnSpPr/>
              <p:nvPr/>
            </p:nvCxnSpPr>
            <p:spPr>
              <a:xfrm>
                <a:off x="2355011" y="6008357"/>
                <a:ext cx="207033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線接點 160"/>
              <p:cNvCxnSpPr/>
              <p:nvPr/>
            </p:nvCxnSpPr>
            <p:spPr>
              <a:xfrm>
                <a:off x="2877511" y="5266485"/>
                <a:ext cx="0" cy="74187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線接點 165"/>
              <p:cNvCxnSpPr/>
              <p:nvPr/>
            </p:nvCxnSpPr>
            <p:spPr>
              <a:xfrm>
                <a:off x="3410913" y="5266485"/>
                <a:ext cx="0" cy="74187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直線接點 170"/>
              <p:cNvCxnSpPr/>
              <p:nvPr/>
            </p:nvCxnSpPr>
            <p:spPr>
              <a:xfrm>
                <a:off x="3939291" y="5266485"/>
                <a:ext cx="0" cy="74187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6" name="直線接點 175"/>
            <p:cNvCxnSpPr/>
            <p:nvPr/>
          </p:nvCxnSpPr>
          <p:spPr>
            <a:xfrm flipV="1">
              <a:off x="2355011" y="4433048"/>
              <a:ext cx="600970" cy="83343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線接點 178"/>
            <p:cNvCxnSpPr/>
            <p:nvPr/>
          </p:nvCxnSpPr>
          <p:spPr>
            <a:xfrm>
              <a:off x="2955981" y="4432540"/>
              <a:ext cx="2070336" cy="5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線接點 181"/>
            <p:cNvCxnSpPr/>
            <p:nvPr/>
          </p:nvCxnSpPr>
          <p:spPr>
            <a:xfrm>
              <a:off x="5026317" y="4433048"/>
              <a:ext cx="0" cy="741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線接點 191"/>
            <p:cNvCxnSpPr/>
            <p:nvPr/>
          </p:nvCxnSpPr>
          <p:spPr>
            <a:xfrm flipV="1">
              <a:off x="2877511" y="4432541"/>
              <a:ext cx="600970" cy="8339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線接點 193"/>
            <p:cNvCxnSpPr/>
            <p:nvPr/>
          </p:nvCxnSpPr>
          <p:spPr>
            <a:xfrm flipV="1">
              <a:off x="3410913" y="4433048"/>
              <a:ext cx="600970" cy="83343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線接點 195"/>
            <p:cNvCxnSpPr/>
            <p:nvPr/>
          </p:nvCxnSpPr>
          <p:spPr>
            <a:xfrm flipV="1">
              <a:off x="3939291" y="4433049"/>
              <a:ext cx="600970" cy="8334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線接點 197"/>
            <p:cNvCxnSpPr/>
            <p:nvPr/>
          </p:nvCxnSpPr>
          <p:spPr>
            <a:xfrm flipV="1">
              <a:off x="4425347" y="4433049"/>
              <a:ext cx="600970" cy="8334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線接點 199"/>
            <p:cNvCxnSpPr/>
            <p:nvPr/>
          </p:nvCxnSpPr>
          <p:spPr>
            <a:xfrm flipV="1">
              <a:off x="4425347" y="4803730"/>
              <a:ext cx="600970" cy="8336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線接點 201"/>
            <p:cNvCxnSpPr/>
            <p:nvPr/>
          </p:nvCxnSpPr>
          <p:spPr>
            <a:xfrm flipV="1">
              <a:off x="4425347" y="5174920"/>
              <a:ext cx="600970" cy="8334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接點 207"/>
            <p:cNvCxnSpPr/>
            <p:nvPr/>
          </p:nvCxnSpPr>
          <p:spPr>
            <a:xfrm>
              <a:off x="2528145" y="5021456"/>
              <a:ext cx="2070336" cy="5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線接點 210"/>
            <p:cNvCxnSpPr/>
            <p:nvPr/>
          </p:nvCxnSpPr>
          <p:spPr>
            <a:xfrm>
              <a:off x="4598481" y="5021964"/>
              <a:ext cx="0" cy="741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線接點 216"/>
            <p:cNvCxnSpPr/>
            <p:nvPr/>
          </p:nvCxnSpPr>
          <p:spPr>
            <a:xfrm>
              <a:off x="2751983" y="4709573"/>
              <a:ext cx="2070336" cy="5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線接點 219"/>
            <p:cNvCxnSpPr/>
            <p:nvPr/>
          </p:nvCxnSpPr>
          <p:spPr>
            <a:xfrm>
              <a:off x="4822319" y="4710081"/>
              <a:ext cx="0" cy="741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7" name="群組 226"/>
          <p:cNvGrpSpPr/>
          <p:nvPr/>
        </p:nvGrpSpPr>
        <p:grpSpPr>
          <a:xfrm>
            <a:off x="3032880" y="2893233"/>
            <a:ext cx="2070336" cy="742380"/>
            <a:chOff x="2355011" y="5265977"/>
            <a:chExt cx="2070336" cy="742380"/>
          </a:xfrm>
        </p:grpSpPr>
        <p:cxnSp>
          <p:nvCxnSpPr>
            <p:cNvPr id="241" name="直線接點 240"/>
            <p:cNvCxnSpPr/>
            <p:nvPr/>
          </p:nvCxnSpPr>
          <p:spPr>
            <a:xfrm>
              <a:off x="2355011" y="5265977"/>
              <a:ext cx="2070336" cy="5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線接點 241"/>
            <p:cNvCxnSpPr/>
            <p:nvPr/>
          </p:nvCxnSpPr>
          <p:spPr>
            <a:xfrm>
              <a:off x="2355011" y="5637421"/>
              <a:ext cx="207033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線接點 242"/>
            <p:cNvCxnSpPr/>
            <p:nvPr/>
          </p:nvCxnSpPr>
          <p:spPr>
            <a:xfrm>
              <a:off x="2355011" y="5265977"/>
              <a:ext cx="0" cy="74238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線接點 243"/>
            <p:cNvCxnSpPr/>
            <p:nvPr/>
          </p:nvCxnSpPr>
          <p:spPr>
            <a:xfrm>
              <a:off x="4425347" y="5266485"/>
              <a:ext cx="0" cy="741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線接點 244"/>
            <p:cNvCxnSpPr/>
            <p:nvPr/>
          </p:nvCxnSpPr>
          <p:spPr>
            <a:xfrm>
              <a:off x="2355011" y="6008357"/>
              <a:ext cx="207033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線接點 245"/>
            <p:cNvCxnSpPr/>
            <p:nvPr/>
          </p:nvCxnSpPr>
          <p:spPr>
            <a:xfrm>
              <a:off x="2877511" y="5266485"/>
              <a:ext cx="0" cy="741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線接點 246"/>
            <p:cNvCxnSpPr/>
            <p:nvPr/>
          </p:nvCxnSpPr>
          <p:spPr>
            <a:xfrm>
              <a:off x="3410913" y="5266485"/>
              <a:ext cx="0" cy="741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線接點 247"/>
            <p:cNvCxnSpPr/>
            <p:nvPr/>
          </p:nvCxnSpPr>
          <p:spPr>
            <a:xfrm>
              <a:off x="3939291" y="5266485"/>
              <a:ext cx="0" cy="741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8" name="群組 257"/>
          <p:cNvGrpSpPr/>
          <p:nvPr/>
        </p:nvGrpSpPr>
        <p:grpSpPr>
          <a:xfrm>
            <a:off x="3032880" y="1596396"/>
            <a:ext cx="2070336" cy="378508"/>
            <a:chOff x="3861548" y="1596396"/>
            <a:chExt cx="2070336" cy="378508"/>
          </a:xfrm>
        </p:grpSpPr>
        <p:cxnSp>
          <p:nvCxnSpPr>
            <p:cNvPr id="250" name="直線接點 249"/>
            <p:cNvCxnSpPr/>
            <p:nvPr/>
          </p:nvCxnSpPr>
          <p:spPr>
            <a:xfrm>
              <a:off x="3861548" y="1596396"/>
              <a:ext cx="2070336" cy="5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線接點 250"/>
            <p:cNvCxnSpPr/>
            <p:nvPr/>
          </p:nvCxnSpPr>
          <p:spPr>
            <a:xfrm>
              <a:off x="3861548" y="1967840"/>
              <a:ext cx="207033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線接點 251"/>
            <p:cNvCxnSpPr/>
            <p:nvPr/>
          </p:nvCxnSpPr>
          <p:spPr>
            <a:xfrm>
              <a:off x="3861548" y="1596396"/>
              <a:ext cx="0" cy="378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線接點 252"/>
            <p:cNvCxnSpPr/>
            <p:nvPr/>
          </p:nvCxnSpPr>
          <p:spPr>
            <a:xfrm>
              <a:off x="5931884" y="1596904"/>
              <a:ext cx="0" cy="378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線接點 254"/>
            <p:cNvCxnSpPr/>
            <p:nvPr/>
          </p:nvCxnSpPr>
          <p:spPr>
            <a:xfrm>
              <a:off x="4384048" y="1596904"/>
              <a:ext cx="0" cy="378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線接點 255"/>
            <p:cNvCxnSpPr/>
            <p:nvPr/>
          </p:nvCxnSpPr>
          <p:spPr>
            <a:xfrm>
              <a:off x="4917450" y="1596904"/>
              <a:ext cx="0" cy="378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線接點 256"/>
            <p:cNvCxnSpPr/>
            <p:nvPr/>
          </p:nvCxnSpPr>
          <p:spPr>
            <a:xfrm>
              <a:off x="5445828" y="1596904"/>
              <a:ext cx="0" cy="378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5517263" y="1431453"/>
            <a:ext cx="140936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+mj-lt"/>
              </a:rPr>
              <a:t>A[0: </a:t>
            </a:r>
            <a:r>
              <a:rPr lang="en-US" altLang="zh-TW" sz="2000" b="1" i="1" dirty="0">
                <a:latin typeface="+mj-lt"/>
              </a:rPr>
              <a:t>u</a:t>
            </a:r>
            <a:r>
              <a:rPr lang="en-US" altLang="zh-TW" sz="2000" b="1" dirty="0">
                <a:latin typeface="+mj-lt"/>
              </a:rPr>
              <a:t> – 1</a:t>
            </a:r>
            <a:r>
              <a:rPr lang="en-US" altLang="zh-TW" sz="2000" b="1" dirty="0" smtClean="0">
                <a:latin typeface="+mj-lt"/>
              </a:rPr>
              <a:t>] </a:t>
            </a:r>
          </a:p>
          <a:p>
            <a:r>
              <a:rPr lang="en-US" altLang="zh-TW" sz="2000" b="1" dirty="0" smtClean="0">
                <a:latin typeface="+mj-lt"/>
              </a:rPr>
              <a:t>A[</a:t>
            </a:r>
            <a:r>
              <a:rPr lang="en-US" altLang="zh-TW" sz="2000" b="1" i="1" dirty="0" smtClean="0">
                <a:latin typeface="+mj-lt"/>
              </a:rPr>
              <a:t>u</a:t>
            </a:r>
            <a:r>
              <a:rPr lang="en-US" altLang="zh-TW" sz="2000" b="1" dirty="0">
                <a:latin typeface="+mj-lt"/>
              </a:rPr>
              <a:t>]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516212" y="2879337"/>
            <a:ext cx="255550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+mj-lt"/>
              </a:rPr>
              <a:t>A[0: </a:t>
            </a:r>
            <a:r>
              <a:rPr lang="en-US" altLang="zh-TW" sz="2000" b="1" i="1" dirty="0" smtClean="0">
                <a:latin typeface="+mj-lt"/>
              </a:rPr>
              <a:t>u</a:t>
            </a:r>
            <a:r>
              <a:rPr lang="en-US" altLang="zh-TW" sz="2000" b="1" baseline="-25000" dirty="0" smtClean="0">
                <a:latin typeface="+mj-lt"/>
              </a:rPr>
              <a:t>1</a:t>
            </a:r>
            <a:r>
              <a:rPr lang="en-US" altLang="zh-TW" sz="2000" b="1" dirty="0" smtClean="0">
                <a:latin typeface="+mj-lt"/>
              </a:rPr>
              <a:t> </a:t>
            </a:r>
            <a:r>
              <a:rPr lang="en-US" altLang="zh-TW" sz="2000" b="1" dirty="0">
                <a:latin typeface="+mj-lt"/>
              </a:rPr>
              <a:t>– </a:t>
            </a:r>
            <a:r>
              <a:rPr lang="en-US" altLang="zh-TW" sz="2000" b="1" dirty="0" smtClean="0">
                <a:latin typeface="+mj-lt"/>
              </a:rPr>
              <a:t>1, 0: </a:t>
            </a:r>
            <a:r>
              <a:rPr lang="en-US" altLang="zh-TW" sz="2000" b="1" i="1" dirty="0" smtClean="0">
                <a:latin typeface="+mj-lt"/>
              </a:rPr>
              <a:t>u</a:t>
            </a:r>
            <a:r>
              <a:rPr lang="en-US" altLang="zh-TW" sz="2000" b="1" baseline="-25000" dirty="0" smtClean="0">
                <a:latin typeface="+mj-lt"/>
              </a:rPr>
              <a:t>2</a:t>
            </a:r>
            <a:r>
              <a:rPr lang="en-US" altLang="zh-TW" sz="2000" b="1" dirty="0" smtClean="0">
                <a:latin typeface="+mj-lt"/>
              </a:rPr>
              <a:t> – 1] </a:t>
            </a:r>
          </a:p>
          <a:p>
            <a:r>
              <a:rPr lang="en-US" altLang="zh-TW" sz="2000" b="1" dirty="0" smtClean="0">
                <a:latin typeface="+mj-lt"/>
              </a:rPr>
              <a:t>A[</a:t>
            </a:r>
            <a:r>
              <a:rPr lang="en-US" altLang="zh-TW" sz="2000" b="1" i="1" dirty="0" smtClean="0">
                <a:latin typeface="+mj-lt"/>
              </a:rPr>
              <a:t>u</a:t>
            </a:r>
            <a:r>
              <a:rPr lang="en-US" altLang="zh-TW" sz="2000" b="1" baseline="-25000" dirty="0" smtClean="0">
                <a:latin typeface="+mj-lt"/>
              </a:rPr>
              <a:t>1</a:t>
            </a:r>
            <a:r>
              <a:rPr lang="en-US" altLang="zh-TW" sz="2000" b="1" dirty="0" smtClean="0">
                <a:latin typeface="+mj-lt"/>
              </a:rPr>
              <a:t>, </a:t>
            </a:r>
            <a:r>
              <a:rPr lang="en-US" altLang="zh-TW" sz="2000" b="1" i="1" dirty="0" smtClean="0">
                <a:latin typeface="+mj-lt"/>
              </a:rPr>
              <a:t>u</a:t>
            </a:r>
            <a:r>
              <a:rPr lang="en-US" altLang="zh-TW" sz="2000" b="1" baseline="-25000" dirty="0" smtClean="0">
                <a:latin typeface="+mj-lt"/>
              </a:rPr>
              <a:t>2</a:t>
            </a:r>
            <a:r>
              <a:rPr lang="en-US" altLang="zh-TW" sz="2000" b="1" dirty="0" smtClean="0">
                <a:latin typeface="+mj-lt"/>
              </a:rPr>
              <a:t>]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516861" y="4755860"/>
            <a:ext cx="337561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b="1" dirty="0">
                <a:latin typeface="+mj-lt"/>
              </a:rPr>
              <a:t>A[0: </a:t>
            </a:r>
            <a:r>
              <a:rPr lang="en-US" altLang="zh-TW" sz="2000" b="1" i="1" dirty="0" smtClean="0">
                <a:latin typeface="+mj-lt"/>
              </a:rPr>
              <a:t>u</a:t>
            </a:r>
            <a:r>
              <a:rPr lang="en-US" altLang="zh-TW" sz="2000" b="1" baseline="-25000" dirty="0" smtClean="0">
                <a:latin typeface="+mj-lt"/>
              </a:rPr>
              <a:t>1</a:t>
            </a:r>
            <a:r>
              <a:rPr lang="en-US" altLang="zh-TW" sz="2000" b="1" dirty="0" smtClean="0">
                <a:latin typeface="+mj-lt"/>
              </a:rPr>
              <a:t> </a:t>
            </a:r>
            <a:r>
              <a:rPr lang="en-US" altLang="zh-TW" sz="2000" b="1" dirty="0">
                <a:latin typeface="+mj-lt"/>
              </a:rPr>
              <a:t>– </a:t>
            </a:r>
            <a:r>
              <a:rPr lang="en-US" altLang="zh-TW" sz="2000" b="1" dirty="0" smtClean="0">
                <a:latin typeface="+mj-lt"/>
              </a:rPr>
              <a:t>1, 0: </a:t>
            </a:r>
            <a:r>
              <a:rPr lang="en-US" altLang="zh-TW" sz="2000" b="1" i="1" dirty="0" smtClean="0">
                <a:latin typeface="+mj-lt"/>
              </a:rPr>
              <a:t>u</a:t>
            </a:r>
            <a:r>
              <a:rPr lang="en-US" altLang="zh-TW" sz="2000" b="1" baseline="-25000" dirty="0" smtClean="0">
                <a:latin typeface="+mj-lt"/>
              </a:rPr>
              <a:t>2</a:t>
            </a:r>
            <a:r>
              <a:rPr lang="en-US" altLang="zh-TW" sz="2000" b="1" dirty="0" smtClean="0">
                <a:latin typeface="+mj-lt"/>
              </a:rPr>
              <a:t> – 1, 0: </a:t>
            </a:r>
            <a:r>
              <a:rPr lang="en-US" altLang="zh-TW" sz="2000" b="1" i="1" dirty="0" smtClean="0">
                <a:latin typeface="+mj-lt"/>
              </a:rPr>
              <a:t>u</a:t>
            </a:r>
            <a:r>
              <a:rPr lang="en-US" altLang="zh-TW" sz="2000" b="1" baseline="-25000" dirty="0" smtClean="0">
                <a:latin typeface="+mj-lt"/>
              </a:rPr>
              <a:t>3</a:t>
            </a:r>
            <a:r>
              <a:rPr lang="en-US" altLang="zh-TW" sz="2000" b="1" dirty="0" smtClean="0">
                <a:latin typeface="+mj-lt"/>
              </a:rPr>
              <a:t> – 1] </a:t>
            </a:r>
          </a:p>
          <a:p>
            <a:r>
              <a:rPr lang="en-US" altLang="zh-TW" sz="2000" b="1" dirty="0" smtClean="0">
                <a:latin typeface="+mj-lt"/>
              </a:rPr>
              <a:t>A[</a:t>
            </a:r>
            <a:r>
              <a:rPr lang="en-US" altLang="zh-TW" sz="2000" b="1" i="1" dirty="0" smtClean="0">
                <a:latin typeface="+mj-lt"/>
              </a:rPr>
              <a:t>u</a:t>
            </a:r>
            <a:r>
              <a:rPr lang="en-US" altLang="zh-TW" sz="2000" b="1" baseline="-25000" dirty="0" smtClean="0">
                <a:latin typeface="+mj-lt"/>
              </a:rPr>
              <a:t>1</a:t>
            </a:r>
            <a:r>
              <a:rPr lang="en-US" altLang="zh-TW" sz="2000" b="1" dirty="0" smtClean="0">
                <a:latin typeface="+mj-lt"/>
              </a:rPr>
              <a:t>, </a:t>
            </a:r>
            <a:r>
              <a:rPr lang="en-US" altLang="zh-TW" sz="2000" b="1" i="1" dirty="0" smtClean="0">
                <a:latin typeface="+mj-lt"/>
              </a:rPr>
              <a:t>u</a:t>
            </a:r>
            <a:r>
              <a:rPr lang="en-US" altLang="zh-TW" sz="2000" b="1" baseline="-25000" dirty="0" smtClean="0">
                <a:latin typeface="+mj-lt"/>
              </a:rPr>
              <a:t>2</a:t>
            </a:r>
            <a:r>
              <a:rPr lang="en-US" altLang="zh-TW" sz="2000" b="1" dirty="0" smtClean="0">
                <a:latin typeface="+mj-lt"/>
              </a:rPr>
              <a:t>, </a:t>
            </a:r>
            <a:r>
              <a:rPr lang="en-US" altLang="zh-TW" sz="2000" b="1" i="1" dirty="0" smtClean="0">
                <a:latin typeface="+mj-lt"/>
              </a:rPr>
              <a:t>u</a:t>
            </a:r>
            <a:r>
              <a:rPr lang="en-US" altLang="zh-TW" sz="2000" b="1" baseline="-25000" dirty="0" smtClean="0">
                <a:latin typeface="+mj-lt"/>
              </a:rPr>
              <a:t>3</a:t>
            </a:r>
            <a:r>
              <a:rPr lang="en-US" altLang="zh-TW" sz="2000" b="1" dirty="0" smtClean="0">
                <a:latin typeface="+mj-lt"/>
              </a:rPr>
              <a:t>]</a:t>
            </a:r>
            <a:endParaRPr lang="zh-TW" alt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3963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一維陣列位址計算 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err="1" smtClean="0"/>
              <a:t>int</a:t>
            </a:r>
            <a:r>
              <a:rPr lang="en-US" altLang="zh-TW" dirty="0" smtClean="0"/>
              <a:t> list[5];</a:t>
            </a:r>
          </a:p>
          <a:p>
            <a:pPr lvl="1"/>
            <a:r>
              <a:rPr lang="zh-TW" altLang="en-US" dirty="0" smtClean="0"/>
              <a:t>起始位置為</a:t>
            </a:r>
            <a:r>
              <a:rPr lang="en-US" altLang="zh-TW" dirty="0" smtClean="0">
                <a:solidFill>
                  <a:srgbClr val="C00000"/>
                </a:solidFill>
              </a:rPr>
              <a:t>0</a:t>
            </a:r>
            <a:r>
              <a:rPr lang="zh-TW" altLang="en-US" dirty="0" smtClean="0"/>
              <a:t>，每</a:t>
            </a:r>
            <a:r>
              <a:rPr lang="zh-TW" altLang="en-US" dirty="0"/>
              <a:t>個元素大小</a:t>
            </a:r>
            <a:r>
              <a:rPr lang="zh-TW" altLang="en-US" dirty="0" smtClean="0"/>
              <a:t>為</a:t>
            </a:r>
            <a:r>
              <a:rPr lang="en-US" altLang="zh-TW" dirty="0" smtClean="0">
                <a:solidFill>
                  <a:srgbClr val="C00000"/>
                </a:solidFill>
              </a:rPr>
              <a:t>1</a:t>
            </a:r>
            <a:r>
              <a:rPr lang="zh-TW" altLang="en-US" dirty="0" smtClean="0"/>
              <a:t>個 </a:t>
            </a:r>
            <a:r>
              <a:rPr lang="en-US" altLang="zh-TW" dirty="0" smtClean="0"/>
              <a:t>bytes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r>
              <a:rPr lang="zh-TW" altLang="en-US" dirty="0"/>
              <a:t>起始位置</a:t>
            </a:r>
            <a:r>
              <a:rPr lang="zh-TW" altLang="en-US" dirty="0" smtClean="0"/>
              <a:t>為</a:t>
            </a:r>
            <a:r>
              <a:rPr lang="en-US" altLang="zh-TW" i="1" dirty="0" smtClean="0">
                <a:solidFill>
                  <a:srgbClr val="C00000"/>
                </a:solidFill>
              </a:rPr>
              <a:t>X</a:t>
            </a:r>
            <a:r>
              <a:rPr lang="zh-TW" altLang="en-US" dirty="0" smtClean="0"/>
              <a:t>，</a:t>
            </a:r>
            <a:r>
              <a:rPr lang="zh-TW" altLang="en-US" dirty="0"/>
              <a:t>每個元素大小</a:t>
            </a:r>
            <a:r>
              <a:rPr lang="zh-TW" altLang="en-US" dirty="0" smtClean="0"/>
              <a:t>為</a:t>
            </a:r>
            <a:r>
              <a:rPr lang="en-US" altLang="zh-TW" i="1" dirty="0" err="1" smtClean="0">
                <a:solidFill>
                  <a:srgbClr val="C00000"/>
                </a:solidFill>
              </a:rPr>
              <a:t>len</a:t>
            </a:r>
            <a:r>
              <a:rPr lang="zh-TW" altLang="en-US" dirty="0" smtClean="0"/>
              <a:t>個 </a:t>
            </a:r>
            <a:r>
              <a:rPr lang="en-US" altLang="zh-TW" dirty="0"/>
              <a:t>bytes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1725506" y="2511900"/>
          <a:ext cx="4988945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7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7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77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" name="群組 14"/>
          <p:cNvGrpSpPr/>
          <p:nvPr/>
        </p:nvGrpSpPr>
        <p:grpSpPr>
          <a:xfrm>
            <a:off x="1814646" y="2132856"/>
            <a:ext cx="4825269" cy="405861"/>
            <a:chOff x="793630" y="5607170"/>
            <a:chExt cx="4825269" cy="405861"/>
          </a:xfrm>
        </p:grpSpPr>
        <p:sp>
          <p:nvSpPr>
            <p:cNvPr id="16" name="文字方塊 15"/>
            <p:cNvSpPr txBox="1"/>
            <p:nvPr/>
          </p:nvSpPr>
          <p:spPr>
            <a:xfrm>
              <a:off x="793630" y="5607170"/>
              <a:ext cx="8082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list[0]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1794749" y="5607170"/>
              <a:ext cx="8082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list[1]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2792082" y="5607170"/>
              <a:ext cx="8082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list[2]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3810000" y="5612921"/>
              <a:ext cx="8082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list[3]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4810664" y="5612921"/>
              <a:ext cx="8082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list[4]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群組 27"/>
          <p:cNvGrpSpPr/>
          <p:nvPr/>
        </p:nvGrpSpPr>
        <p:grpSpPr>
          <a:xfrm>
            <a:off x="2056448" y="2981091"/>
            <a:ext cx="312906" cy="657268"/>
            <a:chOff x="1595887" y="5132715"/>
            <a:chExt cx="312906" cy="657268"/>
          </a:xfrm>
        </p:grpSpPr>
        <p:sp>
          <p:nvSpPr>
            <p:cNvPr id="21" name="文字方塊 20"/>
            <p:cNvSpPr txBox="1"/>
            <p:nvPr/>
          </p:nvSpPr>
          <p:spPr>
            <a:xfrm>
              <a:off x="1595887" y="538987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線單箭頭接點 22"/>
            <p:cNvCxnSpPr/>
            <p:nvPr/>
          </p:nvCxnSpPr>
          <p:spPr>
            <a:xfrm flipV="1">
              <a:off x="1752340" y="5132715"/>
              <a:ext cx="0" cy="324000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群組 28"/>
          <p:cNvGrpSpPr/>
          <p:nvPr/>
        </p:nvGrpSpPr>
        <p:grpSpPr>
          <a:xfrm>
            <a:off x="3057567" y="2981091"/>
            <a:ext cx="312906" cy="657268"/>
            <a:chOff x="2580493" y="5124089"/>
            <a:chExt cx="312906" cy="657268"/>
          </a:xfrm>
        </p:grpSpPr>
        <p:sp>
          <p:nvSpPr>
            <p:cNvPr id="25" name="文字方塊 24"/>
            <p:cNvSpPr txBox="1"/>
            <p:nvPr/>
          </p:nvSpPr>
          <p:spPr>
            <a:xfrm>
              <a:off x="2580493" y="538124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6" name="直線單箭頭接點 25"/>
            <p:cNvCxnSpPr/>
            <p:nvPr/>
          </p:nvCxnSpPr>
          <p:spPr>
            <a:xfrm flipV="1">
              <a:off x="2736946" y="5124089"/>
              <a:ext cx="0" cy="324000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4060762" y="2974409"/>
            <a:ext cx="312906" cy="657268"/>
            <a:chOff x="2580493" y="5124089"/>
            <a:chExt cx="312906" cy="657268"/>
          </a:xfrm>
        </p:grpSpPr>
        <p:sp>
          <p:nvSpPr>
            <p:cNvPr id="31" name="文字方塊 30"/>
            <p:cNvSpPr txBox="1"/>
            <p:nvPr/>
          </p:nvSpPr>
          <p:spPr>
            <a:xfrm>
              <a:off x="2580493" y="538124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" name="直線單箭頭接點 31"/>
            <p:cNvCxnSpPr/>
            <p:nvPr/>
          </p:nvCxnSpPr>
          <p:spPr>
            <a:xfrm flipV="1">
              <a:off x="2736946" y="5124089"/>
              <a:ext cx="0" cy="324000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群組 32"/>
          <p:cNvGrpSpPr/>
          <p:nvPr/>
        </p:nvGrpSpPr>
        <p:grpSpPr>
          <a:xfrm>
            <a:off x="5072818" y="2967831"/>
            <a:ext cx="312906" cy="657268"/>
            <a:chOff x="2580493" y="5124089"/>
            <a:chExt cx="312906" cy="657268"/>
          </a:xfrm>
        </p:grpSpPr>
        <p:sp>
          <p:nvSpPr>
            <p:cNvPr id="34" name="文字方塊 33"/>
            <p:cNvSpPr txBox="1"/>
            <p:nvPr/>
          </p:nvSpPr>
          <p:spPr>
            <a:xfrm>
              <a:off x="2580493" y="538124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直線單箭頭接點 34"/>
            <p:cNvCxnSpPr/>
            <p:nvPr/>
          </p:nvCxnSpPr>
          <p:spPr>
            <a:xfrm flipV="1">
              <a:off x="2736946" y="5124089"/>
              <a:ext cx="0" cy="324000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群組 35"/>
          <p:cNvGrpSpPr/>
          <p:nvPr/>
        </p:nvGrpSpPr>
        <p:grpSpPr>
          <a:xfrm>
            <a:off x="6073482" y="2961527"/>
            <a:ext cx="312906" cy="657268"/>
            <a:chOff x="2580493" y="5124089"/>
            <a:chExt cx="312906" cy="657268"/>
          </a:xfrm>
        </p:grpSpPr>
        <p:sp>
          <p:nvSpPr>
            <p:cNvPr id="37" name="文字方塊 36"/>
            <p:cNvSpPr txBox="1"/>
            <p:nvPr/>
          </p:nvSpPr>
          <p:spPr>
            <a:xfrm>
              <a:off x="2580493" y="538124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8" name="直線單箭頭接點 37"/>
            <p:cNvCxnSpPr/>
            <p:nvPr/>
          </p:nvCxnSpPr>
          <p:spPr>
            <a:xfrm flipV="1">
              <a:off x="2736946" y="5124089"/>
              <a:ext cx="0" cy="324000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9" name="表格 38"/>
          <p:cNvGraphicFramePr>
            <a:graphicFrameLocks noGrp="1"/>
          </p:cNvGraphicFramePr>
          <p:nvPr>
            <p:extLst/>
          </p:nvPr>
        </p:nvGraphicFramePr>
        <p:xfrm>
          <a:off x="1725506" y="4736189"/>
          <a:ext cx="4988945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7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7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77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0" name="群組 39"/>
          <p:cNvGrpSpPr/>
          <p:nvPr/>
        </p:nvGrpSpPr>
        <p:grpSpPr>
          <a:xfrm>
            <a:off x="1814646" y="4357145"/>
            <a:ext cx="4825269" cy="405861"/>
            <a:chOff x="793630" y="5607170"/>
            <a:chExt cx="4825269" cy="405861"/>
          </a:xfrm>
        </p:grpSpPr>
        <p:sp>
          <p:nvSpPr>
            <p:cNvPr id="41" name="文字方塊 40"/>
            <p:cNvSpPr txBox="1"/>
            <p:nvPr/>
          </p:nvSpPr>
          <p:spPr>
            <a:xfrm>
              <a:off x="793630" y="5607170"/>
              <a:ext cx="8082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list[0]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1794749" y="5607170"/>
              <a:ext cx="8082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list[1]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2792082" y="5607170"/>
              <a:ext cx="8082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list[2]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3810000" y="5612921"/>
              <a:ext cx="8082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list[3]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4810664" y="5612921"/>
              <a:ext cx="8082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list[4]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2039196" y="5205380"/>
            <a:ext cx="356188" cy="657268"/>
            <a:chOff x="1578635" y="5132715"/>
            <a:chExt cx="356188" cy="657268"/>
          </a:xfrm>
        </p:grpSpPr>
        <p:sp>
          <p:nvSpPr>
            <p:cNvPr id="47" name="文字方塊 46"/>
            <p:cNvSpPr txBox="1"/>
            <p:nvPr/>
          </p:nvSpPr>
          <p:spPr>
            <a:xfrm>
              <a:off x="1578635" y="5389873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8" name="直線單箭頭接點 47"/>
            <p:cNvCxnSpPr/>
            <p:nvPr/>
          </p:nvCxnSpPr>
          <p:spPr>
            <a:xfrm flipV="1">
              <a:off x="1752340" y="5132715"/>
              <a:ext cx="0" cy="324000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群組 48"/>
          <p:cNvGrpSpPr/>
          <p:nvPr/>
        </p:nvGrpSpPr>
        <p:grpSpPr>
          <a:xfrm>
            <a:off x="2729779" y="5205380"/>
            <a:ext cx="971741" cy="657268"/>
            <a:chOff x="2252705" y="5124089"/>
            <a:chExt cx="971741" cy="657268"/>
          </a:xfrm>
        </p:grpSpPr>
        <p:sp>
          <p:nvSpPr>
            <p:cNvPr id="50" name="文字方塊 49"/>
            <p:cNvSpPr txBox="1"/>
            <p:nvPr/>
          </p:nvSpPr>
          <p:spPr>
            <a:xfrm>
              <a:off x="2252705" y="5381247"/>
              <a:ext cx="97174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US" altLang="zh-TW" sz="2000" b="1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len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1" name="直線單箭頭接點 50"/>
            <p:cNvCxnSpPr/>
            <p:nvPr/>
          </p:nvCxnSpPr>
          <p:spPr>
            <a:xfrm flipV="1">
              <a:off x="2736946" y="5124089"/>
              <a:ext cx="0" cy="324000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群組 51"/>
          <p:cNvGrpSpPr/>
          <p:nvPr/>
        </p:nvGrpSpPr>
        <p:grpSpPr>
          <a:xfrm>
            <a:off x="3672592" y="5198698"/>
            <a:ext cx="1099981" cy="657268"/>
            <a:chOff x="2192323" y="5124089"/>
            <a:chExt cx="1099981" cy="657268"/>
          </a:xfrm>
        </p:grpSpPr>
        <p:sp>
          <p:nvSpPr>
            <p:cNvPr id="53" name="文字方塊 52"/>
            <p:cNvSpPr txBox="1"/>
            <p:nvPr/>
          </p:nvSpPr>
          <p:spPr>
            <a:xfrm>
              <a:off x="2192323" y="5381247"/>
              <a:ext cx="10999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+ 2</a:t>
              </a:r>
              <a:r>
                <a:rPr lang="en-US" altLang="zh-TW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len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4" name="直線單箭頭接點 53"/>
            <p:cNvCxnSpPr/>
            <p:nvPr/>
          </p:nvCxnSpPr>
          <p:spPr>
            <a:xfrm flipV="1">
              <a:off x="2736946" y="5124089"/>
              <a:ext cx="0" cy="324000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群組 54"/>
          <p:cNvGrpSpPr/>
          <p:nvPr/>
        </p:nvGrpSpPr>
        <p:grpSpPr>
          <a:xfrm>
            <a:off x="4676022" y="5192120"/>
            <a:ext cx="1099981" cy="657268"/>
            <a:chOff x="2183697" y="5124089"/>
            <a:chExt cx="1099981" cy="657268"/>
          </a:xfrm>
        </p:grpSpPr>
        <p:sp>
          <p:nvSpPr>
            <p:cNvPr id="56" name="文字方塊 55"/>
            <p:cNvSpPr txBox="1"/>
            <p:nvPr/>
          </p:nvSpPr>
          <p:spPr>
            <a:xfrm>
              <a:off x="2183697" y="5381247"/>
              <a:ext cx="10999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+ 3</a:t>
              </a:r>
              <a:r>
                <a:rPr lang="en-US" altLang="zh-TW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len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7" name="直線單箭頭接點 56"/>
            <p:cNvCxnSpPr/>
            <p:nvPr/>
          </p:nvCxnSpPr>
          <p:spPr>
            <a:xfrm flipV="1">
              <a:off x="2736946" y="5124089"/>
              <a:ext cx="0" cy="324000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群組 57"/>
          <p:cNvGrpSpPr/>
          <p:nvPr/>
        </p:nvGrpSpPr>
        <p:grpSpPr>
          <a:xfrm>
            <a:off x="5676686" y="5185816"/>
            <a:ext cx="1099981" cy="657268"/>
            <a:chOff x="2183697" y="5124089"/>
            <a:chExt cx="1099981" cy="657268"/>
          </a:xfrm>
        </p:grpSpPr>
        <p:sp>
          <p:nvSpPr>
            <p:cNvPr id="59" name="文字方塊 58"/>
            <p:cNvSpPr txBox="1"/>
            <p:nvPr/>
          </p:nvSpPr>
          <p:spPr>
            <a:xfrm>
              <a:off x="2183697" y="5381247"/>
              <a:ext cx="10999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+ 4</a:t>
              </a:r>
              <a:r>
                <a:rPr lang="en-US" altLang="zh-TW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len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0" name="直線單箭頭接點 59"/>
            <p:cNvCxnSpPr/>
            <p:nvPr/>
          </p:nvCxnSpPr>
          <p:spPr>
            <a:xfrm flipV="1">
              <a:off x="2736946" y="5124089"/>
              <a:ext cx="0" cy="324000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48834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一維陣列</a:t>
            </a:r>
            <a:r>
              <a:rPr lang="zh-TW" altLang="en-US" dirty="0" smtClean="0"/>
              <a:t>位址計算 </a:t>
            </a:r>
            <a:r>
              <a:rPr lang="en-US" altLang="zh-TW" dirty="0" smtClean="0"/>
              <a:t>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有一整數陣列</a:t>
            </a:r>
            <a:r>
              <a:rPr lang="en-US" altLang="zh-TW" dirty="0" err="1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srgbClr val="0000FF"/>
                </a:solidFill>
              </a:rPr>
              <a:t> A[60</a:t>
            </a:r>
            <a:r>
              <a:rPr lang="en-US" altLang="zh-TW" dirty="0" smtClean="0">
                <a:solidFill>
                  <a:srgbClr val="0000FF"/>
                </a:solidFill>
              </a:rPr>
              <a:t>]</a:t>
            </a:r>
            <a:r>
              <a:rPr lang="zh-TW" altLang="en-US" dirty="0" smtClean="0">
                <a:solidFill>
                  <a:srgbClr val="0000FF"/>
                </a:solidFill>
              </a:rPr>
              <a:t>；則</a:t>
            </a:r>
            <a:r>
              <a:rPr lang="zh-TW" altLang="en-US" dirty="0">
                <a:solidFill>
                  <a:srgbClr val="0000FF"/>
                </a:solidFill>
              </a:rPr>
              <a:t>此陣列共佔多少</a:t>
            </a:r>
            <a:r>
              <a:rPr lang="zh-TW" altLang="en-US" dirty="0" smtClean="0">
                <a:solidFill>
                  <a:srgbClr val="0000FF"/>
                </a:solidFill>
              </a:rPr>
              <a:t>位元組</a:t>
            </a:r>
            <a:r>
              <a:rPr lang="en-US" altLang="zh-TW" dirty="0" smtClean="0">
                <a:solidFill>
                  <a:srgbClr val="0000FF"/>
                </a:solidFill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</a:rPr>
              <a:t>設</a:t>
            </a:r>
            <a:r>
              <a:rPr lang="en-US" altLang="zh-TW" dirty="0" err="1">
                <a:solidFill>
                  <a:srgbClr val="0000FF"/>
                </a:solidFill>
              </a:rPr>
              <a:t>sizeof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en-US" altLang="zh-TW" dirty="0" err="1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srgbClr val="0000FF"/>
                </a:solidFill>
              </a:rPr>
              <a:t>)=</a:t>
            </a:r>
            <a:r>
              <a:rPr lang="en-US" altLang="zh-TW" dirty="0" smtClean="0">
                <a:solidFill>
                  <a:srgbClr val="0000FF"/>
                </a:solidFill>
              </a:rPr>
              <a:t>4)</a:t>
            </a:r>
            <a:r>
              <a:rPr lang="zh-TW" altLang="en-US" dirty="0" smtClean="0">
                <a:solidFill>
                  <a:srgbClr val="0000FF"/>
                </a:solidFill>
              </a:rPr>
              <a:t>？若</a:t>
            </a:r>
            <a:r>
              <a:rPr lang="en-US" altLang="zh-TW" dirty="0">
                <a:solidFill>
                  <a:srgbClr val="0000FF"/>
                </a:solidFill>
              </a:rPr>
              <a:t>A[0]</a:t>
            </a:r>
            <a:r>
              <a:rPr lang="zh-TW" altLang="en-US" dirty="0">
                <a:solidFill>
                  <a:srgbClr val="0000FF"/>
                </a:solidFill>
              </a:rPr>
              <a:t>在記憶體中的位址為03</a:t>
            </a:r>
            <a:r>
              <a:rPr lang="en-US" altLang="zh-TW" dirty="0">
                <a:solidFill>
                  <a:srgbClr val="0000FF"/>
                </a:solidFill>
              </a:rPr>
              <a:t>C4</a:t>
            </a:r>
            <a:r>
              <a:rPr lang="en-US" altLang="zh-TW" baseline="-30000" dirty="0">
                <a:solidFill>
                  <a:srgbClr val="0000FF"/>
                </a:solidFill>
              </a:rPr>
              <a:t>16</a:t>
            </a:r>
            <a:r>
              <a:rPr lang="en-US" altLang="zh-TW" dirty="0">
                <a:solidFill>
                  <a:srgbClr val="0000FF"/>
                </a:solidFill>
              </a:rPr>
              <a:t>，</a:t>
            </a:r>
            <a:r>
              <a:rPr lang="zh-TW" altLang="en-US" dirty="0">
                <a:solidFill>
                  <a:srgbClr val="0000FF"/>
                </a:solidFill>
              </a:rPr>
              <a:t>則元素</a:t>
            </a:r>
            <a:r>
              <a:rPr lang="en-US" altLang="zh-TW" dirty="0">
                <a:solidFill>
                  <a:srgbClr val="0000FF"/>
                </a:solidFill>
              </a:rPr>
              <a:t>A[20] </a:t>
            </a:r>
            <a:r>
              <a:rPr lang="zh-TW" altLang="en-US" dirty="0">
                <a:solidFill>
                  <a:srgbClr val="0000FF"/>
                </a:solidFill>
              </a:rPr>
              <a:t>的位址為何</a:t>
            </a:r>
            <a:r>
              <a:rPr lang="zh-TW" altLang="en-US" dirty="0" smtClean="0">
                <a:solidFill>
                  <a:srgbClr val="0000FF"/>
                </a:solidFill>
              </a:rPr>
              <a:t>？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A</a:t>
            </a:r>
            <a:r>
              <a:rPr lang="zh-TW" altLang="en-US" dirty="0"/>
              <a:t>陣列共佔 </a:t>
            </a:r>
            <a:r>
              <a:rPr lang="zh-TW" altLang="en-US" dirty="0">
                <a:solidFill>
                  <a:srgbClr val="C00000"/>
                </a:solidFill>
              </a:rPr>
              <a:t>60 </a:t>
            </a:r>
            <a:r>
              <a:rPr lang="en-US" altLang="zh-TW" dirty="0">
                <a:solidFill>
                  <a:srgbClr val="C00000"/>
                </a:solidFill>
                <a:sym typeface="Symbol" pitchFamily="18" charset="2"/>
              </a:rPr>
              <a:t></a:t>
            </a:r>
            <a:r>
              <a:rPr lang="zh-TW" altLang="en-US" dirty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</a:rPr>
              <a:t>4</a:t>
            </a:r>
            <a:r>
              <a:rPr lang="zh-TW" altLang="en-US" dirty="0">
                <a:solidFill>
                  <a:srgbClr val="C00000"/>
                </a:solidFill>
              </a:rPr>
              <a:t> ＝ </a:t>
            </a:r>
            <a:r>
              <a:rPr lang="en-US" altLang="zh-TW" dirty="0">
                <a:solidFill>
                  <a:srgbClr val="C00000"/>
                </a:solidFill>
              </a:rPr>
              <a:t>24</a:t>
            </a:r>
            <a:r>
              <a:rPr lang="zh-TW" altLang="en-US" dirty="0">
                <a:solidFill>
                  <a:srgbClr val="C00000"/>
                </a:solidFill>
              </a:rPr>
              <a:t>0</a:t>
            </a:r>
            <a:r>
              <a:rPr lang="zh-TW" altLang="en-US" dirty="0"/>
              <a:t> (</a:t>
            </a:r>
            <a:r>
              <a:rPr lang="en-US" altLang="zh-TW" dirty="0"/>
              <a:t>bytes</a:t>
            </a:r>
            <a:r>
              <a:rPr lang="en-US" altLang="zh-TW" dirty="0" smtClean="0"/>
              <a:t>)</a:t>
            </a:r>
          </a:p>
          <a:p>
            <a:pPr lvl="1">
              <a:spcBef>
                <a:spcPct val="50000"/>
              </a:spcBef>
            </a:pPr>
            <a:r>
              <a:rPr lang="en-US" altLang="zh-TW" dirty="0" smtClean="0">
                <a:solidFill>
                  <a:srgbClr val="C00000"/>
                </a:solidFill>
              </a:rPr>
              <a:t>A[20</a:t>
            </a:r>
            <a:r>
              <a:rPr lang="en-US" altLang="zh-TW" dirty="0">
                <a:solidFill>
                  <a:srgbClr val="C00000"/>
                </a:solidFill>
              </a:rPr>
              <a:t>] </a:t>
            </a:r>
            <a:r>
              <a:rPr lang="zh-TW" altLang="en-US" dirty="0">
                <a:solidFill>
                  <a:srgbClr val="C00000"/>
                </a:solidFill>
              </a:rPr>
              <a:t>的位址 ＝ </a:t>
            </a:r>
            <a:r>
              <a:rPr lang="en-US" altLang="zh-TW" dirty="0">
                <a:solidFill>
                  <a:srgbClr val="C00000"/>
                </a:solidFill>
              </a:rPr>
              <a:t>A[0] </a:t>
            </a:r>
            <a:r>
              <a:rPr lang="zh-TW" altLang="en-US" dirty="0">
                <a:solidFill>
                  <a:srgbClr val="C00000"/>
                </a:solidFill>
              </a:rPr>
              <a:t>的位址 </a:t>
            </a:r>
            <a:r>
              <a:rPr lang="en-US" altLang="zh-TW" dirty="0">
                <a:solidFill>
                  <a:srgbClr val="C00000"/>
                </a:solidFill>
                <a:sym typeface="Symbol" pitchFamily="18" charset="2"/>
              </a:rPr>
              <a:t>+</a:t>
            </a:r>
            <a:r>
              <a:rPr lang="zh-TW" altLang="en-US" dirty="0">
                <a:solidFill>
                  <a:srgbClr val="C00000"/>
                </a:solidFill>
              </a:rPr>
              <a:t> 位移</a:t>
            </a:r>
            <a:r>
              <a:rPr lang="zh-TW" altLang="en-US" dirty="0" smtClean="0">
                <a:solidFill>
                  <a:srgbClr val="C00000"/>
                </a:solidFill>
              </a:rPr>
              <a:t>量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pPr marL="457200" lvl="1" indent="0">
              <a:spcBef>
                <a:spcPct val="50000"/>
              </a:spcBef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=</a:t>
            </a:r>
            <a:r>
              <a:rPr lang="zh-TW" altLang="en-US" dirty="0" smtClean="0"/>
              <a:t> </a:t>
            </a:r>
            <a:r>
              <a:rPr lang="zh-TW" altLang="en-US" dirty="0"/>
              <a:t>03</a:t>
            </a:r>
            <a:r>
              <a:rPr lang="en-US" altLang="zh-TW" dirty="0"/>
              <a:t>C4</a:t>
            </a:r>
            <a:r>
              <a:rPr lang="en-US" altLang="zh-TW" baseline="-25000" dirty="0"/>
              <a:t>16</a:t>
            </a:r>
            <a:r>
              <a:rPr lang="en-US" altLang="zh-TW" baseline="-30000" dirty="0"/>
              <a:t> </a:t>
            </a:r>
            <a:r>
              <a:rPr lang="en-US" altLang="zh-TW" dirty="0"/>
              <a:t> + (20 – </a:t>
            </a:r>
            <a:r>
              <a:rPr lang="en-US" altLang="zh-TW" dirty="0" smtClean="0"/>
              <a:t>0) </a:t>
            </a:r>
            <a:r>
              <a:rPr lang="en-US" altLang="zh-TW" dirty="0">
                <a:sym typeface="Symbol" pitchFamily="18" charset="2"/>
              </a:rPr>
              <a:t></a:t>
            </a:r>
            <a:r>
              <a:rPr lang="en-US" altLang="zh-TW" dirty="0"/>
              <a:t> 4</a:t>
            </a:r>
          </a:p>
          <a:p>
            <a:pPr marL="457200" lvl="1" indent="0">
              <a:spcBef>
                <a:spcPct val="50000"/>
              </a:spcBef>
              <a:buNone/>
            </a:pPr>
            <a:r>
              <a:rPr lang="en-US" altLang="zh-TW" dirty="0" smtClean="0"/>
              <a:t>    = </a:t>
            </a:r>
            <a:r>
              <a:rPr lang="en-US" altLang="zh-TW" dirty="0"/>
              <a:t>03C4</a:t>
            </a:r>
            <a:r>
              <a:rPr lang="en-US" altLang="zh-TW" baseline="-30000" dirty="0"/>
              <a:t>16 </a:t>
            </a:r>
            <a:r>
              <a:rPr lang="en-US" altLang="zh-TW" dirty="0"/>
              <a:t> + 50</a:t>
            </a:r>
            <a:r>
              <a:rPr lang="en-US" altLang="zh-TW" baseline="-30000" dirty="0"/>
              <a:t>16</a:t>
            </a:r>
            <a:endParaRPr lang="en-US" altLang="zh-TW" dirty="0"/>
          </a:p>
          <a:p>
            <a:pPr marL="457200" lvl="1" indent="0">
              <a:spcBef>
                <a:spcPct val="50000"/>
              </a:spcBef>
              <a:buNone/>
            </a:pPr>
            <a:r>
              <a:rPr lang="en-US" altLang="zh-TW" dirty="0" smtClean="0"/>
              <a:t>    = </a:t>
            </a:r>
            <a:r>
              <a:rPr lang="en-US" altLang="zh-TW" dirty="0"/>
              <a:t>0414</a:t>
            </a:r>
            <a:r>
              <a:rPr lang="en-US" altLang="zh-TW" baseline="-30000" dirty="0"/>
              <a:t>16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230702" y="2665099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199070" y="2303268"/>
            <a:ext cx="6896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A[0]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808414" y="2303268"/>
            <a:ext cx="6896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A[1]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412519" y="2303686"/>
            <a:ext cx="6896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A[2]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021863" y="2303686"/>
            <a:ext cx="6896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A[3]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624831" y="2303686"/>
            <a:ext cx="797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A[59]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793154" y="2303686"/>
            <a:ext cx="797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A[20]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Box 51"/>
          <p:cNvSpPr txBox="1">
            <a:spLocks noChangeArrowheads="1"/>
          </p:cNvSpPr>
          <p:nvPr/>
        </p:nvSpPr>
        <p:spPr bwMode="auto">
          <a:xfrm>
            <a:off x="4096475" y="2297256"/>
            <a:ext cx="360000" cy="432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…</a:t>
            </a:r>
            <a:endParaRPr lang="zh-TW" altLang="zh-TW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Text Box 51"/>
          <p:cNvSpPr txBox="1">
            <a:spLocks noChangeArrowheads="1"/>
          </p:cNvSpPr>
          <p:nvPr/>
        </p:nvSpPr>
        <p:spPr bwMode="auto">
          <a:xfrm>
            <a:off x="5922399" y="2303686"/>
            <a:ext cx="360000" cy="432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…</a:t>
            </a:r>
            <a:endParaRPr lang="zh-TW" altLang="zh-TW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7" name="肘形接點 16"/>
          <p:cNvCxnSpPr/>
          <p:nvPr/>
        </p:nvCxnSpPr>
        <p:spPr>
          <a:xfrm rot="16200000" flipH="1">
            <a:off x="3367559" y="1190230"/>
            <a:ext cx="418" cy="3647785"/>
          </a:xfrm>
          <a:prstGeom prst="bentConnector3">
            <a:avLst>
              <a:gd name="adj1" fmla="val 54788995"/>
            </a:avLst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213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二維陣列位址計算 </a:t>
            </a:r>
            <a:r>
              <a:rPr lang="en-US" altLang="zh-TW" dirty="0" smtClean="0"/>
              <a:t>(1/7)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err="1" smtClean="0"/>
              <a:t>int</a:t>
            </a:r>
            <a:r>
              <a:rPr lang="en-US" altLang="zh-TW" dirty="0" smtClean="0"/>
              <a:t> list[6][5]</a:t>
            </a:r>
          </a:p>
          <a:p>
            <a:pPr lvl="1"/>
            <a:r>
              <a:rPr lang="zh-TW" altLang="zh-TW" dirty="0"/>
              <a:t>在邏輯上可以排成一個有</a:t>
            </a:r>
            <a:r>
              <a:rPr lang="en-US" altLang="zh-TW" dirty="0">
                <a:solidFill>
                  <a:srgbClr val="C00000"/>
                </a:solidFill>
              </a:rPr>
              <a:t>6</a:t>
            </a:r>
            <a:r>
              <a:rPr lang="zh-TW" altLang="zh-TW" dirty="0" smtClean="0">
                <a:solidFill>
                  <a:srgbClr val="C00000"/>
                </a:solidFill>
              </a:rPr>
              <a:t>列</a:t>
            </a:r>
            <a:r>
              <a:rPr lang="en-US" altLang="zh-TW" dirty="0" smtClean="0"/>
              <a:t>(row</a:t>
            </a:r>
            <a:r>
              <a:rPr lang="zh-TW" altLang="zh-TW" dirty="0"/>
              <a:t>，橫者為</a:t>
            </a:r>
            <a:r>
              <a:rPr lang="zh-TW" altLang="zh-TW" dirty="0" smtClean="0"/>
              <a:t>列</a:t>
            </a:r>
            <a:r>
              <a:rPr lang="en-US" altLang="zh-TW" dirty="0" smtClean="0"/>
              <a:t>)</a:t>
            </a:r>
            <a:r>
              <a:rPr lang="zh-TW" altLang="zh-TW" dirty="0" smtClean="0"/>
              <a:t>、</a:t>
            </a:r>
            <a:r>
              <a:rPr lang="en-US" altLang="zh-TW" dirty="0">
                <a:solidFill>
                  <a:srgbClr val="C00000"/>
                </a:solidFill>
              </a:rPr>
              <a:t>5</a:t>
            </a:r>
            <a:r>
              <a:rPr lang="zh-TW" altLang="zh-TW" dirty="0" smtClean="0">
                <a:solidFill>
                  <a:srgbClr val="C00000"/>
                </a:solidFill>
              </a:rPr>
              <a:t>行</a:t>
            </a:r>
            <a:r>
              <a:rPr lang="en-US" altLang="zh-TW" dirty="0" smtClean="0"/>
              <a:t>(column</a:t>
            </a:r>
            <a:r>
              <a:rPr lang="zh-TW" altLang="zh-TW" dirty="0"/>
              <a:t>，直者為</a:t>
            </a:r>
            <a:r>
              <a:rPr lang="zh-TW" altLang="zh-TW" dirty="0" smtClean="0"/>
              <a:t>行</a:t>
            </a:r>
            <a:r>
              <a:rPr lang="en-US" altLang="zh-TW" dirty="0" smtClean="0"/>
              <a:t>)</a:t>
            </a:r>
            <a:r>
              <a:rPr lang="zh-TW" altLang="zh-TW" dirty="0" smtClean="0"/>
              <a:t>的</a:t>
            </a:r>
            <a:r>
              <a:rPr lang="zh-TW" altLang="zh-TW" dirty="0"/>
              <a:t>平面格子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1687902" y="3501844"/>
          <a:ext cx="6096000" cy="23774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854010" y="3503970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859768" y="3906524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859768" y="4303320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865526" y="4705874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856900" y="5085418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862658" y="5487972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1881762" y="3094004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行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086584" y="3094000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行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320166" y="3094000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行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524988" y="3093996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行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755689" y="3093996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行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06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二維陣列位址計算 </a:t>
            </a:r>
            <a:r>
              <a:rPr lang="en-US" altLang="zh-TW" dirty="0" smtClean="0"/>
              <a:t>(2/7)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pPr marL="228600" lvl="1">
              <a:spcBef>
                <a:spcPts val="1000"/>
              </a:spcBef>
            </a:pPr>
            <a:r>
              <a:rPr lang="zh-TW" altLang="zh-TW" dirty="0"/>
              <a:t>邏輯上可以排</a:t>
            </a:r>
            <a:r>
              <a:rPr lang="zh-TW" altLang="zh-TW" dirty="0" smtClean="0"/>
              <a:t>成</a:t>
            </a:r>
            <a:r>
              <a:rPr lang="zh-TW" altLang="zh-TW" dirty="0" smtClean="0">
                <a:solidFill>
                  <a:srgbClr val="C00000"/>
                </a:solidFill>
              </a:rPr>
              <a:t>平面格子</a:t>
            </a:r>
            <a:endParaRPr lang="en-US" altLang="zh-TW" dirty="0">
              <a:solidFill>
                <a:srgbClr val="C00000"/>
              </a:solidFill>
            </a:endParaRPr>
          </a:p>
          <a:p>
            <a:pPr marL="228600" lvl="1">
              <a:spcBef>
                <a:spcPts val="1000"/>
              </a:spcBef>
            </a:pPr>
            <a:r>
              <a:rPr lang="zh-TW" altLang="en-US" dirty="0" smtClean="0"/>
              <a:t>實體</a:t>
            </a:r>
            <a:r>
              <a:rPr lang="zh-TW" altLang="en-US" dirty="0"/>
              <a:t>排列順序是</a:t>
            </a:r>
            <a:r>
              <a:rPr lang="zh-TW" altLang="en-US" dirty="0">
                <a:solidFill>
                  <a:srgbClr val="C00000"/>
                </a:solidFill>
              </a:rPr>
              <a:t>線性</a:t>
            </a:r>
            <a:r>
              <a:rPr lang="zh-TW" altLang="en-US" dirty="0" smtClean="0"/>
              <a:t>的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402566" y="3045126"/>
          <a:ext cx="3755365" cy="255859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51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7235392" y="1368733"/>
          <a:ext cx="751073" cy="255859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51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7235394" y="3930779"/>
          <a:ext cx="751073" cy="255859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51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/>
          </p:nvPr>
        </p:nvGraphicFramePr>
        <p:xfrm>
          <a:off x="5405770" y="1374483"/>
          <a:ext cx="751073" cy="255859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51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8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8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8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8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8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CDE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/>
          </p:nvPr>
        </p:nvGraphicFramePr>
        <p:xfrm>
          <a:off x="5405772" y="3936529"/>
          <a:ext cx="751073" cy="255859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51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CDE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CDE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8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CDE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2" name="群組 11"/>
          <p:cNvGrpSpPr/>
          <p:nvPr/>
        </p:nvGrpSpPr>
        <p:grpSpPr>
          <a:xfrm>
            <a:off x="6156845" y="1372756"/>
            <a:ext cx="988974" cy="2124000"/>
            <a:chOff x="6156845" y="1372756"/>
            <a:chExt cx="988974" cy="2124000"/>
          </a:xfrm>
        </p:grpSpPr>
        <p:cxnSp>
          <p:nvCxnSpPr>
            <p:cNvPr id="13" name="肘形接點 12"/>
            <p:cNvCxnSpPr/>
            <p:nvPr/>
          </p:nvCxnSpPr>
          <p:spPr>
            <a:xfrm>
              <a:off x="6156845" y="1372756"/>
              <a:ext cx="2" cy="2124000"/>
            </a:xfrm>
            <a:prstGeom prst="bentConnector3">
              <a:avLst>
                <a:gd name="adj1" fmla="val 11430100000"/>
              </a:avLst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6319952" y="2234701"/>
              <a:ext cx="8258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第</a:t>
              </a:r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0</a:t>
              </a:r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列</a:t>
              </a:r>
              <a:endPara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6160383" y="3531453"/>
            <a:ext cx="977276" cy="1476000"/>
            <a:chOff x="6160383" y="3531453"/>
            <a:chExt cx="977276" cy="1476000"/>
          </a:xfrm>
        </p:grpSpPr>
        <p:cxnSp>
          <p:nvCxnSpPr>
            <p:cNvPr id="16" name="肘形接點 15"/>
            <p:cNvCxnSpPr/>
            <p:nvPr/>
          </p:nvCxnSpPr>
          <p:spPr>
            <a:xfrm rot="16200000" flipH="1">
              <a:off x="5539383" y="4152453"/>
              <a:ext cx="1476000" cy="234000"/>
            </a:xfrm>
            <a:prstGeom prst="bentConnector3">
              <a:avLst>
                <a:gd name="adj1" fmla="val -631"/>
              </a:avLst>
            </a:prstGeom>
            <a:ln w="1905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字方塊 26"/>
            <p:cNvSpPr txBox="1"/>
            <p:nvPr/>
          </p:nvSpPr>
          <p:spPr>
            <a:xfrm>
              <a:off x="6311792" y="4105220"/>
              <a:ext cx="8258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第</a:t>
              </a:r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列</a:t>
              </a:r>
              <a:endPara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群組 14"/>
          <p:cNvGrpSpPr/>
          <p:nvPr/>
        </p:nvGrpSpPr>
        <p:grpSpPr>
          <a:xfrm>
            <a:off x="6160385" y="5426167"/>
            <a:ext cx="985434" cy="1062000"/>
            <a:chOff x="6160385" y="5426167"/>
            <a:chExt cx="985434" cy="1062000"/>
          </a:xfrm>
        </p:grpSpPr>
        <p:cxnSp>
          <p:nvCxnSpPr>
            <p:cNvPr id="20" name="肘形接點 19"/>
            <p:cNvCxnSpPr/>
            <p:nvPr/>
          </p:nvCxnSpPr>
          <p:spPr>
            <a:xfrm rot="5400000">
              <a:off x="5746384" y="5840168"/>
              <a:ext cx="1062000" cy="233998"/>
            </a:xfrm>
            <a:prstGeom prst="bentConnector3">
              <a:avLst>
                <a:gd name="adj1" fmla="val 99058"/>
              </a:avLst>
            </a:prstGeom>
            <a:ln w="19050">
              <a:solidFill>
                <a:srgbClr val="FF9933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6319952" y="5748451"/>
              <a:ext cx="8258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第</a:t>
              </a:r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5</a:t>
              </a:r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列</a:t>
              </a:r>
              <a:endPara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7978626" y="1376294"/>
            <a:ext cx="988979" cy="2538000"/>
            <a:chOff x="7978626" y="1376294"/>
            <a:chExt cx="988979" cy="2538000"/>
          </a:xfrm>
        </p:grpSpPr>
        <p:cxnSp>
          <p:nvCxnSpPr>
            <p:cNvPr id="23" name="肘形接點 22"/>
            <p:cNvCxnSpPr/>
            <p:nvPr/>
          </p:nvCxnSpPr>
          <p:spPr>
            <a:xfrm>
              <a:off x="7978626" y="1376294"/>
              <a:ext cx="2" cy="2538000"/>
            </a:xfrm>
            <a:prstGeom prst="bentConnector3">
              <a:avLst>
                <a:gd name="adj1" fmla="val 11430100000"/>
              </a:avLst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/>
            <p:cNvSpPr txBox="1"/>
            <p:nvPr/>
          </p:nvSpPr>
          <p:spPr>
            <a:xfrm>
              <a:off x="8141738" y="2448191"/>
              <a:ext cx="8258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第</a:t>
              </a:r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0</a:t>
              </a:r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行</a:t>
              </a:r>
              <a:endPara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7982164" y="3945725"/>
            <a:ext cx="977281" cy="1044000"/>
            <a:chOff x="7982164" y="3945725"/>
            <a:chExt cx="977281" cy="1044000"/>
          </a:xfrm>
        </p:grpSpPr>
        <p:cxnSp>
          <p:nvCxnSpPr>
            <p:cNvPr id="24" name="肘形接點 23"/>
            <p:cNvCxnSpPr/>
            <p:nvPr/>
          </p:nvCxnSpPr>
          <p:spPr>
            <a:xfrm rot="16200000" flipH="1">
              <a:off x="7577164" y="4350725"/>
              <a:ext cx="1044000" cy="234000"/>
            </a:xfrm>
            <a:prstGeom prst="bentConnector3">
              <a:avLst>
                <a:gd name="adj1" fmla="val -631"/>
              </a:avLst>
            </a:prstGeom>
            <a:ln w="1905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字方塊 29"/>
            <p:cNvSpPr txBox="1"/>
            <p:nvPr/>
          </p:nvSpPr>
          <p:spPr>
            <a:xfrm>
              <a:off x="8133578" y="4297444"/>
              <a:ext cx="8258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第</a:t>
              </a:r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行</a:t>
              </a:r>
              <a:endPara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7982166" y="5429705"/>
            <a:ext cx="985439" cy="1062000"/>
            <a:chOff x="7982166" y="5429705"/>
            <a:chExt cx="985439" cy="1062000"/>
          </a:xfrm>
        </p:grpSpPr>
        <p:cxnSp>
          <p:nvCxnSpPr>
            <p:cNvPr id="25" name="肘形接點 24"/>
            <p:cNvCxnSpPr/>
            <p:nvPr/>
          </p:nvCxnSpPr>
          <p:spPr>
            <a:xfrm rot="5400000">
              <a:off x="7568165" y="5843706"/>
              <a:ext cx="1062000" cy="233998"/>
            </a:xfrm>
            <a:prstGeom prst="bentConnector3">
              <a:avLst>
                <a:gd name="adj1" fmla="val 99058"/>
              </a:avLst>
            </a:prstGeom>
            <a:ln w="19050">
              <a:solidFill>
                <a:srgbClr val="FF9933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8141738" y="5759914"/>
              <a:ext cx="8258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第</a:t>
              </a:r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4</a:t>
              </a:r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行</a:t>
              </a:r>
              <a:endPara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32" name="文字方塊 31"/>
          <p:cNvSpPr txBox="1"/>
          <p:nvPr/>
        </p:nvSpPr>
        <p:spPr>
          <a:xfrm>
            <a:off x="5182116" y="930474"/>
            <a:ext cx="1210588" cy="400110"/>
          </a:xfrm>
          <a:prstGeom prst="rect">
            <a:avLst/>
          </a:prstGeom>
          <a:solidFill>
            <a:srgbClr val="FFFFCC"/>
          </a:solidFill>
          <a:ln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以列為主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7009712" y="933652"/>
            <a:ext cx="1210588" cy="400110"/>
          </a:xfrm>
          <a:prstGeom prst="rect">
            <a:avLst/>
          </a:prstGeom>
          <a:solidFill>
            <a:srgbClr val="FFFFCC"/>
          </a:solidFill>
          <a:ln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以行為主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02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二維陣列位址計算 </a:t>
            </a:r>
            <a:r>
              <a:rPr lang="en-US" altLang="zh-TW" dirty="0" smtClean="0"/>
              <a:t>(3/7)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以</a:t>
            </a:r>
            <a:r>
              <a:rPr lang="zh-TW" altLang="en-US" dirty="0" smtClean="0">
                <a:solidFill>
                  <a:srgbClr val="C00000"/>
                </a:solidFill>
              </a:rPr>
              <a:t>列</a:t>
            </a:r>
            <a:r>
              <a:rPr lang="zh-TW" altLang="en-US" dirty="0" smtClean="0"/>
              <a:t>為主的對應</a:t>
            </a:r>
            <a:endParaRPr lang="en-US" altLang="zh-TW" dirty="0" smtClean="0"/>
          </a:p>
          <a:p>
            <a:pPr lvl="1"/>
            <a:r>
              <a:rPr lang="en-US" altLang="zh-TW" dirty="0"/>
              <a:t>list[6][5] </a:t>
            </a:r>
            <a:r>
              <a:rPr lang="zh-TW" altLang="en-US" dirty="0"/>
              <a:t>可以想像成有</a:t>
            </a:r>
            <a:r>
              <a:rPr lang="en-US" altLang="zh-TW" dirty="0"/>
              <a:t>6</a:t>
            </a:r>
            <a:r>
              <a:rPr lang="zh-TW" altLang="en-US" dirty="0"/>
              <a:t>個長度為</a:t>
            </a:r>
            <a:r>
              <a:rPr lang="en-US" altLang="zh-TW" dirty="0"/>
              <a:t>5</a:t>
            </a:r>
            <a:r>
              <a:rPr lang="zh-TW" altLang="en-US" dirty="0"/>
              <a:t>的一維陣列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285603" y="2768697"/>
          <a:ext cx="3755365" cy="255859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51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/>
          </p:nvPr>
        </p:nvGraphicFramePr>
        <p:xfrm>
          <a:off x="5135697" y="2502136"/>
          <a:ext cx="3755365" cy="42643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51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/>
          </p:nvPr>
        </p:nvGraphicFramePr>
        <p:xfrm>
          <a:off x="5135697" y="3033764"/>
          <a:ext cx="3755365" cy="42643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51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/>
          </p:nvPr>
        </p:nvGraphicFramePr>
        <p:xfrm>
          <a:off x="5135697" y="3586657"/>
          <a:ext cx="3755365" cy="42643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51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5135697" y="4128918"/>
          <a:ext cx="3755365" cy="42643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51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5135697" y="4671178"/>
          <a:ext cx="3755365" cy="42643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51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5135697" y="5181540"/>
          <a:ext cx="3755365" cy="42643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51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10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[5][0]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[5][1]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[5][2]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[5][3]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[5][4]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向右箭號 15"/>
          <p:cNvSpPr/>
          <p:nvPr/>
        </p:nvSpPr>
        <p:spPr>
          <a:xfrm>
            <a:off x="4327452" y="3864950"/>
            <a:ext cx="627319" cy="4146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8134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二維陣列位址計算 </a:t>
            </a:r>
            <a:r>
              <a:rPr lang="en-US" altLang="zh-TW" dirty="0" smtClean="0"/>
              <a:t>(4/7)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err="1" smtClean="0"/>
              <a:t>int</a:t>
            </a:r>
            <a:r>
              <a:rPr lang="en-US" altLang="zh-TW" dirty="0" smtClean="0"/>
              <a:t> list[6][5]</a:t>
            </a:r>
          </a:p>
          <a:p>
            <a:pPr lvl="1"/>
            <a:r>
              <a:rPr lang="zh-TW" altLang="en-US" dirty="0"/>
              <a:t>每個元素大小</a:t>
            </a:r>
            <a:r>
              <a:rPr lang="zh-TW" altLang="en-US" dirty="0" smtClean="0"/>
              <a:t>為</a:t>
            </a:r>
            <a:r>
              <a:rPr lang="en-US" altLang="zh-TW" dirty="0" smtClean="0">
                <a:solidFill>
                  <a:srgbClr val="C00000"/>
                </a:solidFill>
              </a:rPr>
              <a:t>1</a:t>
            </a:r>
            <a:r>
              <a:rPr lang="zh-TW" altLang="en-US" dirty="0" smtClean="0"/>
              <a:t>個 </a:t>
            </a:r>
            <a:r>
              <a:rPr lang="en-US" altLang="zh-TW" dirty="0"/>
              <a:t>bytes，</a:t>
            </a:r>
            <a:r>
              <a:rPr lang="zh-TW" altLang="en-US" dirty="0"/>
              <a:t>而且 </a:t>
            </a:r>
            <a:r>
              <a:rPr lang="en-US" altLang="zh-TW" dirty="0"/>
              <a:t>list[0][0] </a:t>
            </a:r>
            <a:r>
              <a:rPr lang="zh-TW" altLang="en-US" dirty="0"/>
              <a:t>的位址為 </a:t>
            </a:r>
            <a:r>
              <a:rPr lang="en-US" altLang="zh-TW" dirty="0" smtClean="0">
                <a:solidFill>
                  <a:srgbClr val="C00000"/>
                </a:solidFill>
              </a:rPr>
              <a:t>0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04854" y="3023878"/>
          <a:ext cx="2808470" cy="255859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61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1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6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3465141" y="3016789"/>
          <a:ext cx="5583165" cy="255859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11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6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6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6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+ 4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3043946" y="302831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039893" y="346190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043946" y="388922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039893" y="432281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3035840" y="473513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3031787" y="516872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群組 24"/>
          <p:cNvGrpSpPr/>
          <p:nvPr/>
        </p:nvGrpSpPr>
        <p:grpSpPr>
          <a:xfrm>
            <a:off x="3866198" y="2596307"/>
            <a:ext cx="4767947" cy="421376"/>
            <a:chOff x="3866198" y="2596307"/>
            <a:chExt cx="4767947" cy="421376"/>
          </a:xfrm>
        </p:grpSpPr>
        <p:sp>
          <p:nvSpPr>
            <p:cNvPr id="15" name="文字方塊 14"/>
            <p:cNvSpPr txBox="1"/>
            <p:nvPr/>
          </p:nvSpPr>
          <p:spPr>
            <a:xfrm>
              <a:off x="3866198" y="261757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4975525" y="260694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6102581" y="260694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7211908" y="259630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8321239" y="260694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文字方塊 19"/>
          <p:cNvSpPr txBox="1"/>
          <p:nvPr/>
        </p:nvSpPr>
        <p:spPr>
          <a:xfrm>
            <a:off x="233407" y="261757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800477" y="261757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353367" y="261757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1920437" y="261757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487507" y="261757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123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二維陣列位址計算 </a:t>
            </a:r>
            <a:r>
              <a:rPr lang="en-US" altLang="zh-TW" dirty="0" smtClean="0"/>
              <a:t>(5/7)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err="1"/>
              <a:t>int</a:t>
            </a:r>
            <a:r>
              <a:rPr lang="en-US" altLang="zh-TW" dirty="0"/>
              <a:t> list[6][5]</a:t>
            </a:r>
          </a:p>
          <a:p>
            <a:pPr lvl="1"/>
            <a:r>
              <a:rPr lang="zh-TW" altLang="en-US" dirty="0"/>
              <a:t>每個元素大小</a:t>
            </a:r>
            <a:r>
              <a:rPr lang="zh-TW" altLang="en-US" dirty="0" smtClean="0"/>
              <a:t>為</a:t>
            </a:r>
            <a:r>
              <a:rPr lang="en-US" altLang="zh-TW" i="1" dirty="0" err="1" smtClean="0">
                <a:solidFill>
                  <a:srgbClr val="C00000"/>
                </a:solidFill>
              </a:rPr>
              <a:t>len</a:t>
            </a:r>
            <a:r>
              <a:rPr lang="zh-TW" altLang="en-US" dirty="0" smtClean="0"/>
              <a:t>個 </a:t>
            </a:r>
            <a:r>
              <a:rPr lang="en-US" altLang="zh-TW" dirty="0"/>
              <a:t>bytes，</a:t>
            </a:r>
            <a:r>
              <a:rPr lang="zh-TW" altLang="en-US" dirty="0"/>
              <a:t>而且 </a:t>
            </a:r>
            <a:r>
              <a:rPr lang="en-US" altLang="zh-TW" dirty="0"/>
              <a:t>list[0][0] </a:t>
            </a:r>
            <a:r>
              <a:rPr lang="zh-TW" altLang="en-US" dirty="0"/>
              <a:t>的位址為 </a:t>
            </a:r>
            <a:r>
              <a:rPr lang="en-US" altLang="zh-TW" i="1" dirty="0" smtClean="0">
                <a:solidFill>
                  <a:srgbClr val="C00000"/>
                </a:solidFill>
              </a:rPr>
              <a:t>X</a:t>
            </a:r>
            <a:endParaRPr lang="zh-TW" altLang="en-US" i="1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94223" y="2928177"/>
          <a:ext cx="8954085" cy="255859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7906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0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0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0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1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+ 1</a:t>
                      </a: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</a:t>
                      </a: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+ 3</a:t>
                      </a: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+ 4</a:t>
                      </a: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(1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5+0)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(1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5+1)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(1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5+2)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(1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5+3)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(1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5+4)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(2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5+0)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(2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5+1)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(2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5+2)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(2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5+3)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(2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5+4)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(3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5+0)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(3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5+1)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(3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5+2)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(3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5+3)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(3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5+4)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(4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5+0)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(4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5+1)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(4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5+2)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(4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5+3)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(4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5+4)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(5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5+0)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(5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5+1)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(5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5+2)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(5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5+3)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(5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5+4)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260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二維陣列位址計算 </a:t>
            </a:r>
            <a:r>
              <a:rPr lang="en-US" altLang="zh-TW" dirty="0" smtClean="0"/>
              <a:t>(6/7)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err="1"/>
              <a:t>int</a:t>
            </a:r>
            <a:r>
              <a:rPr lang="en-US" altLang="zh-TW" dirty="0"/>
              <a:t> </a:t>
            </a:r>
            <a:r>
              <a:rPr lang="en-US" altLang="zh-TW" dirty="0" smtClean="0"/>
              <a:t>list[</a:t>
            </a:r>
            <a:r>
              <a:rPr lang="en-US" altLang="zh-TW" i="1" dirty="0" smtClean="0"/>
              <a:t>r</a:t>
            </a:r>
            <a:r>
              <a:rPr lang="en-US" altLang="zh-TW" dirty="0" smtClean="0"/>
              <a:t>][</a:t>
            </a:r>
            <a:r>
              <a:rPr lang="en-US" altLang="zh-TW" i="1" dirty="0" smtClean="0"/>
              <a:t>c</a:t>
            </a:r>
            <a:r>
              <a:rPr lang="en-US" altLang="zh-TW" dirty="0" smtClean="0"/>
              <a:t>]</a:t>
            </a:r>
            <a:endParaRPr lang="en-US" altLang="zh-TW" dirty="0"/>
          </a:p>
          <a:p>
            <a:pPr lvl="1"/>
            <a:r>
              <a:rPr lang="zh-TW" altLang="en-US" dirty="0"/>
              <a:t>每個元素大小</a:t>
            </a:r>
            <a:r>
              <a:rPr lang="zh-TW" altLang="en-US" dirty="0" smtClean="0"/>
              <a:t>為</a:t>
            </a:r>
            <a:r>
              <a:rPr lang="en-US" altLang="zh-TW" i="1" dirty="0" err="1" smtClean="0">
                <a:solidFill>
                  <a:srgbClr val="C00000"/>
                </a:solidFill>
              </a:rPr>
              <a:t>len</a:t>
            </a:r>
            <a:r>
              <a:rPr lang="zh-TW" altLang="en-US" dirty="0" smtClean="0"/>
              <a:t>個 </a:t>
            </a:r>
            <a:r>
              <a:rPr lang="en-US" altLang="zh-TW" dirty="0"/>
              <a:t>bytes，</a:t>
            </a:r>
            <a:r>
              <a:rPr lang="zh-TW" altLang="en-US" dirty="0"/>
              <a:t>而且 </a:t>
            </a:r>
            <a:r>
              <a:rPr lang="en-US" altLang="zh-TW" dirty="0"/>
              <a:t>list[0][0</a:t>
            </a:r>
            <a:r>
              <a:rPr lang="en-US" altLang="zh-TW" dirty="0" smtClean="0"/>
              <a:t>]</a:t>
            </a:r>
            <a:r>
              <a:rPr lang="zh-TW" altLang="en-US" dirty="0" smtClean="0"/>
              <a:t>的</a:t>
            </a:r>
            <a:r>
              <a:rPr lang="zh-TW" altLang="en-US" dirty="0"/>
              <a:t>位址為 </a:t>
            </a:r>
            <a:r>
              <a:rPr lang="en-US" altLang="zh-TW" i="1" dirty="0" smtClean="0">
                <a:solidFill>
                  <a:srgbClr val="C00000"/>
                </a:solidFill>
              </a:rPr>
              <a:t>X</a:t>
            </a:r>
          </a:p>
          <a:p>
            <a:pPr lvl="1"/>
            <a:r>
              <a:rPr lang="en-US" altLang="zh-TW" dirty="0" smtClean="0"/>
              <a:t>list[</a:t>
            </a:r>
            <a:r>
              <a:rPr lang="en-US" altLang="zh-TW" i="1" dirty="0" smtClean="0"/>
              <a:t>m</a:t>
            </a:r>
            <a:r>
              <a:rPr lang="en-US" altLang="zh-TW" dirty="0" smtClean="0"/>
              <a:t>][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]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i="1" dirty="0" smtClean="0"/>
              <a:t>X</a:t>
            </a:r>
            <a:r>
              <a:rPr lang="en-US" altLang="zh-TW" dirty="0" smtClean="0"/>
              <a:t> + (</a:t>
            </a:r>
            <a:r>
              <a:rPr lang="en-US" altLang="zh-TW" dirty="0" smtClean="0">
                <a:solidFill>
                  <a:srgbClr val="C00000"/>
                </a:solidFill>
              </a:rPr>
              <a:t>(</a:t>
            </a:r>
            <a:r>
              <a:rPr lang="en-US" altLang="zh-TW" i="1" dirty="0" smtClean="0">
                <a:solidFill>
                  <a:srgbClr val="C00000"/>
                </a:solidFill>
              </a:rPr>
              <a:t>m</a:t>
            </a:r>
            <a:r>
              <a:rPr lang="zh-TW" altLang="en-US" dirty="0" smtClean="0">
                <a:solidFill>
                  <a:srgbClr val="C00000"/>
                </a:solidFill>
              </a:rPr>
              <a:t> </a:t>
            </a:r>
            <a:r>
              <a:rPr lang="en-US" altLang="zh-TW" dirty="0" smtClean="0">
                <a:solidFill>
                  <a:srgbClr val="C00000"/>
                </a:solidFill>
              </a:rPr>
              <a:t>– 0) </a:t>
            </a:r>
            <a:r>
              <a:rPr lang="en-US" altLang="zh-TW" dirty="0" smtClean="0">
                <a:solidFill>
                  <a:srgbClr val="C00000"/>
                </a:solidFill>
                <a:sym typeface="Symbol"/>
              </a:rPr>
              <a:t> </a:t>
            </a:r>
            <a:r>
              <a:rPr lang="en-US" altLang="zh-TW" i="1" dirty="0" smtClean="0">
                <a:solidFill>
                  <a:srgbClr val="C00000"/>
                </a:solidFill>
                <a:sym typeface="Symbol"/>
              </a:rPr>
              <a:t>c</a:t>
            </a:r>
            <a:r>
              <a:rPr lang="en-US" altLang="zh-TW" dirty="0" smtClean="0">
                <a:sym typeface="Symbol"/>
              </a:rPr>
              <a:t> + </a:t>
            </a:r>
            <a:r>
              <a:rPr lang="en-US" altLang="zh-TW" dirty="0" smtClean="0">
                <a:solidFill>
                  <a:srgbClr val="0000FF"/>
                </a:solidFill>
                <a:sym typeface="Symbol"/>
              </a:rPr>
              <a:t>(</a:t>
            </a:r>
            <a:r>
              <a:rPr lang="en-US" altLang="zh-TW" i="1" dirty="0" smtClean="0">
                <a:solidFill>
                  <a:srgbClr val="0000FF"/>
                </a:solidFill>
                <a:sym typeface="Symbol"/>
              </a:rPr>
              <a:t>n</a:t>
            </a:r>
            <a:r>
              <a:rPr lang="en-US" altLang="zh-TW" dirty="0" smtClean="0">
                <a:solidFill>
                  <a:srgbClr val="0000FF"/>
                </a:solidFill>
                <a:sym typeface="Symbol"/>
              </a:rPr>
              <a:t> – 0)</a:t>
            </a:r>
            <a:r>
              <a:rPr lang="en-US" altLang="zh-TW" dirty="0" smtClean="0">
                <a:sym typeface="Symbol"/>
              </a:rPr>
              <a:t>)  </a:t>
            </a:r>
            <a:r>
              <a:rPr lang="en-US" altLang="zh-TW" i="1" dirty="0" err="1" smtClean="0">
                <a:sym typeface="Symbol"/>
              </a:rPr>
              <a:t>len</a:t>
            </a:r>
            <a:r>
              <a:rPr lang="en-US" altLang="zh-TW" i="1" dirty="0" smtClean="0">
                <a:sym typeface="Symbol"/>
              </a:rPr>
              <a:t> = X + </a:t>
            </a:r>
            <a:r>
              <a:rPr lang="en-US" altLang="zh-TW" dirty="0" smtClean="0">
                <a:sym typeface="Symbol"/>
              </a:rPr>
              <a:t>(</a:t>
            </a:r>
            <a:r>
              <a:rPr lang="en-US" altLang="zh-TW" i="1" dirty="0" smtClean="0">
                <a:sym typeface="Symbol"/>
              </a:rPr>
              <a:t>m </a:t>
            </a:r>
            <a:r>
              <a:rPr lang="en-US" altLang="zh-TW" dirty="0" smtClean="0">
                <a:sym typeface="Symbol"/>
              </a:rPr>
              <a:t> </a:t>
            </a:r>
            <a:r>
              <a:rPr lang="en-US" altLang="zh-TW" i="1" dirty="0" smtClean="0">
                <a:sym typeface="Symbol"/>
              </a:rPr>
              <a:t>c</a:t>
            </a:r>
            <a:r>
              <a:rPr lang="en-US" altLang="zh-TW" dirty="0" smtClean="0">
                <a:sym typeface="Symbol"/>
              </a:rPr>
              <a:t> + </a:t>
            </a:r>
            <a:r>
              <a:rPr lang="en-US" altLang="zh-TW" i="1" dirty="0" smtClean="0">
                <a:sym typeface="Symbol"/>
              </a:rPr>
              <a:t>n</a:t>
            </a:r>
            <a:r>
              <a:rPr lang="en-US" altLang="zh-TW" dirty="0" smtClean="0">
                <a:sym typeface="Symbol"/>
              </a:rPr>
              <a:t>)  </a:t>
            </a:r>
            <a:r>
              <a:rPr lang="en-US" altLang="zh-TW" i="1" dirty="0" err="1" smtClean="0">
                <a:sym typeface="Symbol"/>
              </a:rPr>
              <a:t>len</a:t>
            </a:r>
            <a:endParaRPr lang="zh-TW" altLang="en-US" i="1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333650" y="3640814"/>
          <a:ext cx="4729481" cy="23774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88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1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81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85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0070">
                <a:tc>
                  <a:txBody>
                    <a:bodyPr/>
                    <a:lstStyle/>
                    <a:p>
                      <a:pPr algn="ctr"/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70">
                <a:tc>
                  <a:txBody>
                    <a:bodyPr/>
                    <a:lstStyle/>
                    <a:p>
                      <a:pPr algn="ctr"/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070">
                <a:tc>
                  <a:txBody>
                    <a:bodyPr/>
                    <a:lstStyle/>
                    <a:p>
                      <a:pPr algn="ctr"/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070">
                <a:tc>
                  <a:txBody>
                    <a:bodyPr/>
                    <a:lstStyle/>
                    <a:p>
                      <a:pPr algn="ctr"/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070">
                <a:tc>
                  <a:txBody>
                    <a:bodyPr/>
                    <a:lstStyle/>
                    <a:p>
                      <a:pPr algn="ctr"/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070">
                <a:tc>
                  <a:txBody>
                    <a:bodyPr/>
                    <a:lstStyle/>
                    <a:p>
                      <a:pPr algn="ctr"/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9" name="群組 8"/>
          <p:cNvGrpSpPr/>
          <p:nvPr/>
        </p:nvGrpSpPr>
        <p:grpSpPr>
          <a:xfrm>
            <a:off x="6578511" y="4029434"/>
            <a:ext cx="1616584" cy="1600200"/>
            <a:chOff x="1258888" y="4581525"/>
            <a:chExt cx="1616584" cy="1600200"/>
          </a:xfrm>
        </p:grpSpPr>
        <p:sp>
          <p:nvSpPr>
            <p:cNvPr id="10" name="Text Box 3"/>
            <p:cNvSpPr txBox="1">
              <a:spLocks noChangeArrowheads="1"/>
            </p:cNvSpPr>
            <p:nvPr/>
          </p:nvSpPr>
          <p:spPr bwMode="auto">
            <a:xfrm>
              <a:off x="1258888" y="4581525"/>
              <a:ext cx="1616584" cy="160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TW" altLang="en-US" sz="2000" b="1" dirty="0"/>
                <a:t>  </a:t>
              </a:r>
              <a:r>
                <a:rPr kumimoji="0" lang="en-US" altLang="zh-TW" sz="2000" b="1" i="1" dirty="0"/>
                <a:t>r</a:t>
              </a:r>
              <a:r>
                <a:rPr kumimoji="0" lang="en-US" altLang="zh-TW" sz="2000" b="1" dirty="0"/>
                <a:t>       	  </a:t>
              </a:r>
              <a:r>
                <a:rPr kumimoji="0" lang="en-US" altLang="zh-TW" sz="2000" b="1" i="1" dirty="0"/>
                <a:t>c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TW" sz="2000" b="1" dirty="0"/>
                <a:t>      </a:t>
              </a:r>
              <a:r>
                <a:rPr kumimoji="0" lang="en-US" altLang="zh-TW" sz="2000" b="1" dirty="0" smtClean="0"/>
                <a:t> ×         +</a:t>
              </a:r>
              <a:endParaRPr kumimoji="0" lang="en-US" altLang="zh-TW" sz="2000" b="1" dirty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TW" sz="2000" b="1" dirty="0"/>
                <a:t>  </a:t>
              </a:r>
              <a:r>
                <a:rPr kumimoji="0" lang="en-US" altLang="zh-TW" sz="2000" b="1" i="1" dirty="0"/>
                <a:t>m</a:t>
              </a:r>
              <a:r>
                <a:rPr kumimoji="0" lang="en-US" altLang="zh-TW" sz="2000" b="1" dirty="0"/>
                <a:t>           </a:t>
              </a:r>
              <a:r>
                <a:rPr kumimoji="0" lang="en-US" altLang="zh-TW" sz="2000" b="1" i="1" dirty="0"/>
                <a:t>n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kumimoji="0" lang="en-US" altLang="zh-TW" sz="2000" b="1" dirty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TW" sz="2000" b="1" dirty="0"/>
                <a:t> </a:t>
              </a:r>
              <a:r>
                <a:rPr kumimoji="0" lang="en-US" altLang="zh-TW" sz="2000" b="1" dirty="0" smtClean="0"/>
                <a:t>  </a:t>
              </a:r>
              <a:r>
                <a:rPr kumimoji="0" lang="en-US" altLang="zh-TW" sz="2000" b="1" i="1" dirty="0" smtClean="0"/>
                <a:t>m</a:t>
              </a:r>
              <a:r>
                <a:rPr kumimoji="0" lang="en-US" altLang="zh-TW" sz="2000" b="1" dirty="0" smtClean="0"/>
                <a:t> </a:t>
              </a:r>
              <a:r>
                <a:rPr kumimoji="0" lang="en-US" altLang="zh-TW" sz="2000" b="1" dirty="0"/>
                <a:t>× </a:t>
              </a:r>
              <a:r>
                <a:rPr kumimoji="0" lang="en-US" altLang="zh-TW" sz="2000" b="1" i="1" dirty="0"/>
                <a:t>c</a:t>
              </a:r>
              <a:r>
                <a:rPr kumimoji="0" lang="en-US" altLang="zh-TW" sz="2000" b="1" dirty="0"/>
                <a:t> + </a:t>
              </a:r>
              <a:r>
                <a:rPr kumimoji="0" lang="en-US" altLang="zh-TW" sz="2000" b="1" i="1" dirty="0"/>
                <a:t>n</a:t>
              </a:r>
            </a:p>
          </p:txBody>
        </p:sp>
        <p:sp>
          <p:nvSpPr>
            <p:cNvPr id="11" name="Line 4"/>
            <p:cNvSpPr>
              <a:spLocks noChangeShapeType="1"/>
            </p:cNvSpPr>
            <p:nvPr/>
          </p:nvSpPr>
          <p:spPr bwMode="auto">
            <a:xfrm>
              <a:off x="1335088" y="5724525"/>
              <a:ext cx="144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b="1"/>
            </a:p>
          </p:txBody>
        </p:sp>
        <p:sp>
          <p:nvSpPr>
            <p:cNvPr id="12" name="Line 5"/>
            <p:cNvSpPr>
              <a:spLocks noChangeShapeType="1"/>
            </p:cNvSpPr>
            <p:nvPr/>
          </p:nvSpPr>
          <p:spPr bwMode="auto">
            <a:xfrm flipV="1">
              <a:off x="1716088" y="4962525"/>
              <a:ext cx="6858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b="1"/>
            </a:p>
          </p:txBody>
        </p:sp>
        <p:sp>
          <p:nvSpPr>
            <p:cNvPr id="13" name="Line 6"/>
            <p:cNvSpPr>
              <a:spLocks noChangeShapeType="1"/>
            </p:cNvSpPr>
            <p:nvPr/>
          </p:nvSpPr>
          <p:spPr bwMode="auto">
            <a:xfrm>
              <a:off x="2401888" y="4962525"/>
              <a:ext cx="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b="1"/>
            </a:p>
          </p:txBody>
        </p:sp>
      </p:grpSp>
      <p:sp>
        <p:nvSpPr>
          <p:cNvPr id="14" name="AutoShape 1304"/>
          <p:cNvSpPr>
            <a:spLocks noChangeArrowheads="1"/>
          </p:cNvSpPr>
          <p:nvPr/>
        </p:nvSpPr>
        <p:spPr bwMode="auto">
          <a:xfrm>
            <a:off x="5607169" y="2743199"/>
            <a:ext cx="2587925" cy="498685"/>
          </a:xfrm>
          <a:prstGeom prst="wedgeRoundRectCallout">
            <a:avLst>
              <a:gd name="adj1" fmla="val -73431"/>
              <a:gd name="adj2" fmla="val 254762"/>
              <a:gd name="adj3" fmla="val 16667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TW" sz="2000" b="1" i="1" dirty="0">
                <a:solidFill>
                  <a:srgbClr val="C00000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kumimoji="0" lang="en-US" altLang="zh-TW" sz="2000" b="1" dirty="0">
                <a:solidFill>
                  <a:srgbClr val="C00000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C00000"/>
                </a:solidFill>
                <a:ea typeface="標楷體" panose="03000509000000000000" pitchFamily="65" charset="-120"/>
                <a:cs typeface="Times New Roman" panose="02020603050405020304" pitchFamily="18" charset="0"/>
                <a:sym typeface="Symbol" pitchFamily="18" charset="2"/>
              </a:rPr>
              <a:t> </a:t>
            </a:r>
            <a:r>
              <a:rPr lang="en-US" altLang="zh-TW" sz="2000" b="1" i="1" dirty="0">
                <a:solidFill>
                  <a:srgbClr val="C00000"/>
                </a:solidFill>
                <a:ea typeface="標楷體" panose="03000509000000000000" pitchFamily="65" charset="-120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TW" sz="2000" b="1" dirty="0">
                <a:ea typeface="標楷體" panose="03000509000000000000" pitchFamily="65" charset="-120"/>
                <a:cs typeface="Times New Roman" panose="02020603050405020304" pitchFamily="18" charset="0"/>
                <a:sym typeface="Symbol" pitchFamily="18" charset="2"/>
              </a:rPr>
              <a:t> : </a:t>
            </a:r>
            <a:r>
              <a:rPr lang="zh-TW" altLang="en-US" sz="2000" b="1" dirty="0">
                <a:ea typeface="標楷體" panose="03000509000000000000" pitchFamily="65" charset="-120"/>
                <a:cs typeface="Times New Roman" panose="02020603050405020304" pitchFamily="18" charset="0"/>
                <a:sym typeface="Symbol" pitchFamily="18" charset="2"/>
              </a:rPr>
              <a:t>整塊矩形區域</a:t>
            </a:r>
          </a:p>
        </p:txBody>
      </p:sp>
      <p:sp>
        <p:nvSpPr>
          <p:cNvPr id="15" name="AutoShape 1305"/>
          <p:cNvSpPr>
            <a:spLocks noChangeArrowheads="1"/>
          </p:cNvSpPr>
          <p:nvPr/>
        </p:nvSpPr>
        <p:spPr bwMode="auto">
          <a:xfrm>
            <a:off x="493652" y="2844591"/>
            <a:ext cx="1671578" cy="503237"/>
          </a:xfrm>
          <a:prstGeom prst="wedgeRoundRectCallout">
            <a:avLst>
              <a:gd name="adj1" fmla="val 69105"/>
              <a:gd name="adj2" fmla="val 389736"/>
              <a:gd name="adj3" fmla="val 16667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TW" sz="2000" b="1" i="1" dirty="0">
                <a:solidFill>
                  <a:srgbClr val="0000FF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kumimoji="0" lang="en-US" altLang="zh-TW" sz="2000" b="1" dirty="0"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ea typeface="標楷體" panose="03000509000000000000" pitchFamily="65" charset="-120"/>
                <a:cs typeface="Times New Roman" panose="02020603050405020304" pitchFamily="18" charset="0"/>
                <a:sym typeface="Symbol" pitchFamily="18" charset="2"/>
              </a:rPr>
              <a:t>: </a:t>
            </a:r>
            <a:r>
              <a:rPr lang="zh-TW" altLang="en-US" sz="2000" b="1" dirty="0">
                <a:ea typeface="標楷體" panose="03000509000000000000" pitchFamily="65" charset="-120"/>
                <a:cs typeface="Times New Roman" panose="02020603050405020304" pitchFamily="18" charset="0"/>
                <a:sym typeface="Symbol" pitchFamily="18" charset="2"/>
              </a:rPr>
              <a:t>長條區域</a:t>
            </a:r>
          </a:p>
        </p:txBody>
      </p:sp>
    </p:spTree>
    <p:extLst>
      <p:ext uri="{BB962C8B-B14F-4D97-AF65-F5344CB8AC3E}">
        <p14:creationId xmlns:p14="http://schemas.microsoft.com/office/powerpoint/2010/main" val="4269943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二維陣列</a:t>
            </a:r>
            <a:r>
              <a:rPr lang="zh-TW" altLang="en-US" dirty="0" smtClean="0"/>
              <a:t>位址計算 </a:t>
            </a:r>
            <a:r>
              <a:rPr lang="en-US" altLang="zh-TW" dirty="0" smtClean="0"/>
              <a:t>(7/7)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pPr>
              <a:spcBef>
                <a:spcPct val="0"/>
              </a:spcBef>
            </a:pPr>
            <a:r>
              <a:rPr lang="zh-TW" altLang="en-US" dirty="0">
                <a:solidFill>
                  <a:srgbClr val="0000FF"/>
                </a:solidFill>
              </a:rPr>
              <a:t>假設有一宣告</a:t>
            </a:r>
            <a:r>
              <a:rPr lang="zh-TW" altLang="en-US" dirty="0" smtClean="0">
                <a:solidFill>
                  <a:srgbClr val="0000FF"/>
                </a:solidFill>
              </a:rPr>
              <a:t>為</a:t>
            </a:r>
            <a:r>
              <a:rPr lang="en-US" altLang="zh-TW" dirty="0" smtClean="0">
                <a:solidFill>
                  <a:srgbClr val="0000FF"/>
                </a:solidFill>
              </a:rPr>
              <a:t>float </a:t>
            </a:r>
            <a:r>
              <a:rPr lang="en-US" altLang="zh-TW" dirty="0">
                <a:solidFill>
                  <a:srgbClr val="0000FF"/>
                </a:solidFill>
              </a:rPr>
              <a:t>A[8][10</a:t>
            </a:r>
            <a:r>
              <a:rPr lang="en-US" altLang="zh-TW" dirty="0" smtClean="0">
                <a:solidFill>
                  <a:srgbClr val="0000FF"/>
                </a:solidFill>
              </a:rPr>
              <a:t>]</a:t>
            </a:r>
            <a:r>
              <a:rPr lang="zh-TW" altLang="en-US" dirty="0" smtClean="0">
                <a:solidFill>
                  <a:srgbClr val="0000FF"/>
                </a:solidFill>
              </a:rPr>
              <a:t>的</a:t>
            </a:r>
            <a:r>
              <a:rPr lang="zh-TW" altLang="en-US" dirty="0">
                <a:solidFill>
                  <a:srgbClr val="0000FF"/>
                </a:solidFill>
              </a:rPr>
              <a:t>浮點數陣列，</a:t>
            </a:r>
            <a:r>
              <a:rPr lang="zh-TW" altLang="en-US" dirty="0" smtClean="0">
                <a:solidFill>
                  <a:srgbClr val="0000FF"/>
                </a:solidFill>
              </a:rPr>
              <a:t>則：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pPr marL="457200" lvl="1" indent="0">
              <a:spcBef>
                <a:spcPct val="0"/>
              </a:spcBef>
              <a:buNone/>
            </a:pPr>
            <a:r>
              <a:rPr lang="en-US" altLang="zh-TW" dirty="0" smtClean="0">
                <a:solidFill>
                  <a:srgbClr val="0000FF"/>
                </a:solidFill>
              </a:rPr>
              <a:t>(1)</a:t>
            </a:r>
            <a:r>
              <a:rPr lang="zh-TW" altLang="en-US" dirty="0" smtClean="0">
                <a:solidFill>
                  <a:srgbClr val="0000FF"/>
                </a:solidFill>
              </a:rPr>
              <a:t>此</a:t>
            </a:r>
            <a:r>
              <a:rPr lang="zh-TW" altLang="en-US" dirty="0">
                <a:solidFill>
                  <a:srgbClr val="0000FF"/>
                </a:solidFill>
              </a:rPr>
              <a:t>陣列共佔多少</a:t>
            </a:r>
            <a:r>
              <a:rPr lang="zh-TW" altLang="en-US" dirty="0" smtClean="0">
                <a:solidFill>
                  <a:srgbClr val="0000FF"/>
                </a:solidFill>
              </a:rPr>
              <a:t>位元組</a:t>
            </a:r>
            <a:r>
              <a:rPr lang="en-US" altLang="zh-TW" dirty="0" smtClean="0">
                <a:solidFill>
                  <a:srgbClr val="0000FF"/>
                </a:solidFill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</a:rPr>
              <a:t>設</a:t>
            </a:r>
            <a:r>
              <a:rPr lang="en-US" altLang="zh-TW" dirty="0" err="1">
                <a:solidFill>
                  <a:srgbClr val="0000FF"/>
                </a:solidFill>
              </a:rPr>
              <a:t>sizeof</a:t>
            </a:r>
            <a:r>
              <a:rPr lang="en-US" altLang="zh-TW" dirty="0">
                <a:solidFill>
                  <a:srgbClr val="0000FF"/>
                </a:solidFill>
              </a:rPr>
              <a:t>(float) = </a:t>
            </a:r>
            <a:r>
              <a:rPr lang="en-US" altLang="zh-TW" dirty="0" smtClean="0">
                <a:solidFill>
                  <a:srgbClr val="0000FF"/>
                </a:solidFill>
              </a:rPr>
              <a:t>4)</a:t>
            </a:r>
            <a:r>
              <a:rPr lang="zh-TW" altLang="en-US" dirty="0" smtClean="0">
                <a:solidFill>
                  <a:srgbClr val="0000FF"/>
                </a:solidFill>
              </a:rPr>
              <a:t>？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pPr marL="457200" lvl="1" indent="0">
              <a:spcBef>
                <a:spcPct val="0"/>
              </a:spcBef>
              <a:buNone/>
            </a:pPr>
            <a:r>
              <a:rPr lang="en-US" altLang="zh-TW" dirty="0" smtClean="0">
                <a:solidFill>
                  <a:srgbClr val="0000FF"/>
                </a:solidFill>
              </a:rPr>
              <a:t>(2)</a:t>
            </a:r>
            <a:r>
              <a:rPr lang="zh-TW" altLang="en-US" dirty="0" smtClean="0">
                <a:solidFill>
                  <a:srgbClr val="0000FF"/>
                </a:solidFill>
              </a:rPr>
              <a:t>若</a:t>
            </a:r>
            <a:r>
              <a:rPr lang="en-US" altLang="zh-TW" dirty="0">
                <a:solidFill>
                  <a:srgbClr val="0000FF"/>
                </a:solidFill>
              </a:rPr>
              <a:t>A[0][0] </a:t>
            </a:r>
            <a:r>
              <a:rPr lang="zh-TW" altLang="en-US" dirty="0">
                <a:solidFill>
                  <a:srgbClr val="0000FF"/>
                </a:solidFill>
              </a:rPr>
              <a:t>在記憶體中的位址為</a:t>
            </a:r>
            <a:r>
              <a:rPr lang="en-US" altLang="zh-TW" dirty="0">
                <a:solidFill>
                  <a:srgbClr val="0000FF"/>
                </a:solidFill>
              </a:rPr>
              <a:t>03C4</a:t>
            </a:r>
            <a:r>
              <a:rPr lang="en-US" altLang="zh-TW" baseline="-25000" dirty="0">
                <a:solidFill>
                  <a:srgbClr val="0000FF"/>
                </a:solidFill>
              </a:rPr>
              <a:t>16</a:t>
            </a:r>
            <a:r>
              <a:rPr lang="zh-TW" altLang="en-US" dirty="0" smtClean="0">
                <a:solidFill>
                  <a:srgbClr val="0000FF"/>
                </a:solidFill>
              </a:rPr>
              <a:t>，則</a:t>
            </a:r>
            <a:r>
              <a:rPr lang="zh-TW" altLang="en-US" dirty="0">
                <a:solidFill>
                  <a:srgbClr val="0000FF"/>
                </a:solidFill>
              </a:rPr>
              <a:t>元素</a:t>
            </a:r>
            <a:r>
              <a:rPr lang="en-US" altLang="zh-TW" dirty="0">
                <a:solidFill>
                  <a:srgbClr val="0000FF"/>
                </a:solidFill>
              </a:rPr>
              <a:t>A[0][9</a:t>
            </a:r>
            <a:r>
              <a:rPr lang="en-US" altLang="zh-TW" dirty="0" smtClean="0">
                <a:solidFill>
                  <a:srgbClr val="0000FF"/>
                </a:solidFill>
              </a:rPr>
              <a:t>]</a:t>
            </a:r>
            <a:r>
              <a:rPr lang="zh-TW" altLang="en-US" dirty="0" smtClean="0">
                <a:solidFill>
                  <a:srgbClr val="0000FF"/>
                </a:solidFill>
              </a:rPr>
              <a:t>的</a:t>
            </a:r>
            <a:r>
              <a:rPr lang="zh-TW" altLang="en-US" dirty="0">
                <a:solidFill>
                  <a:srgbClr val="0000FF"/>
                </a:solidFill>
              </a:rPr>
              <a:t>位址為何</a:t>
            </a:r>
            <a:r>
              <a:rPr lang="zh-TW" altLang="en-US" dirty="0" smtClean="0">
                <a:solidFill>
                  <a:srgbClr val="0000FF"/>
                </a:solidFill>
              </a:rPr>
              <a:t>？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pPr marL="457200" lvl="1" indent="0">
              <a:spcBef>
                <a:spcPct val="0"/>
              </a:spcBef>
              <a:buNone/>
            </a:pPr>
            <a:r>
              <a:rPr lang="en-US" altLang="zh-TW" dirty="0" smtClean="0">
                <a:solidFill>
                  <a:srgbClr val="0000FF"/>
                </a:solidFill>
              </a:rPr>
              <a:t>(3)</a:t>
            </a:r>
            <a:r>
              <a:rPr lang="zh-TW" altLang="en-US" dirty="0" smtClean="0">
                <a:solidFill>
                  <a:srgbClr val="0000FF"/>
                </a:solidFill>
              </a:rPr>
              <a:t>元素</a:t>
            </a:r>
            <a:r>
              <a:rPr lang="en-US" altLang="zh-TW" dirty="0">
                <a:solidFill>
                  <a:srgbClr val="0000FF"/>
                </a:solidFill>
              </a:rPr>
              <a:t>A[6][5] </a:t>
            </a:r>
            <a:r>
              <a:rPr lang="zh-TW" altLang="en-US" dirty="0">
                <a:solidFill>
                  <a:srgbClr val="0000FF"/>
                </a:solidFill>
              </a:rPr>
              <a:t>的位址為何</a:t>
            </a:r>
            <a:r>
              <a:rPr lang="zh-TW" altLang="en-US" dirty="0" smtClean="0">
                <a:solidFill>
                  <a:srgbClr val="0000FF"/>
                </a:solidFill>
              </a:rPr>
              <a:t>？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</a:pPr>
            <a:endParaRPr lang="en-US" altLang="zh-TW" dirty="0" smtClean="0"/>
          </a:p>
          <a:p>
            <a:pPr>
              <a:spcBef>
                <a:spcPct val="0"/>
              </a:spcBef>
            </a:pPr>
            <a:r>
              <a:rPr lang="en-US" altLang="zh-TW" dirty="0" smtClean="0"/>
              <a:t>(1)</a:t>
            </a:r>
            <a:r>
              <a:rPr lang="zh-TW" altLang="en-US" dirty="0">
                <a:solidFill>
                  <a:srgbClr val="000000"/>
                </a:solidFill>
              </a:rPr>
              <a:t>陣列</a:t>
            </a:r>
            <a:r>
              <a:rPr lang="en-US" altLang="zh-TW" dirty="0">
                <a:solidFill>
                  <a:srgbClr val="000000"/>
                </a:solidFill>
              </a:rPr>
              <a:t>A</a:t>
            </a:r>
            <a:r>
              <a:rPr lang="zh-TW" altLang="en-US" dirty="0">
                <a:solidFill>
                  <a:srgbClr val="000000"/>
                </a:solidFill>
              </a:rPr>
              <a:t>共佔 </a:t>
            </a:r>
            <a:r>
              <a:rPr lang="en-US" altLang="zh-TW" dirty="0">
                <a:solidFill>
                  <a:srgbClr val="C00000"/>
                </a:solidFill>
              </a:rPr>
              <a:t>8 </a:t>
            </a:r>
            <a:r>
              <a:rPr lang="en-US" altLang="zh-TW" dirty="0" smtClean="0">
                <a:solidFill>
                  <a:srgbClr val="C00000"/>
                </a:solidFill>
                <a:sym typeface="Symbol" pitchFamily="18" charset="2"/>
              </a:rPr>
              <a:t> </a:t>
            </a:r>
            <a:r>
              <a:rPr lang="en-US" altLang="zh-TW" dirty="0" smtClean="0">
                <a:solidFill>
                  <a:srgbClr val="C00000"/>
                </a:solidFill>
              </a:rPr>
              <a:t>10 </a:t>
            </a:r>
            <a:r>
              <a:rPr lang="en-US" altLang="zh-TW" dirty="0">
                <a:solidFill>
                  <a:srgbClr val="C00000"/>
                </a:solidFill>
                <a:sym typeface="Symbol" pitchFamily="18" charset="2"/>
              </a:rPr>
              <a:t></a:t>
            </a:r>
            <a:r>
              <a:rPr lang="en-US" altLang="zh-TW" dirty="0">
                <a:solidFill>
                  <a:srgbClr val="C00000"/>
                </a:solidFill>
              </a:rPr>
              <a:t> 4 </a:t>
            </a:r>
            <a:r>
              <a:rPr lang="en-US" altLang="zh-TW" dirty="0" smtClean="0">
                <a:solidFill>
                  <a:srgbClr val="C00000"/>
                </a:solidFill>
              </a:rPr>
              <a:t>= 320 </a:t>
            </a:r>
            <a:r>
              <a:rPr lang="en-US" altLang="zh-TW" dirty="0">
                <a:solidFill>
                  <a:srgbClr val="000000"/>
                </a:solidFill>
              </a:rPr>
              <a:t>(bytes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</a:p>
          <a:p>
            <a:pPr>
              <a:spcBef>
                <a:spcPct val="0"/>
              </a:spcBef>
            </a:pPr>
            <a:endParaRPr lang="en-US" altLang="zh-TW" dirty="0" smtClean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</a:pPr>
            <a:r>
              <a:rPr lang="en-US" altLang="zh-TW" dirty="0" smtClean="0">
                <a:solidFill>
                  <a:srgbClr val="000000"/>
                </a:solidFill>
              </a:rPr>
              <a:t>(2) </a:t>
            </a:r>
            <a:r>
              <a:rPr lang="en-US" altLang="zh-TW" dirty="0">
                <a:solidFill>
                  <a:srgbClr val="C00000"/>
                </a:solidFill>
              </a:rPr>
              <a:t>A[0][9</a:t>
            </a:r>
            <a:r>
              <a:rPr lang="en-US" altLang="zh-TW" dirty="0" smtClean="0">
                <a:solidFill>
                  <a:srgbClr val="C00000"/>
                </a:solidFill>
              </a:rPr>
              <a:t>]</a:t>
            </a:r>
            <a:r>
              <a:rPr lang="zh-TW" altLang="en-US" dirty="0" smtClean="0">
                <a:solidFill>
                  <a:srgbClr val="C00000"/>
                </a:solidFill>
              </a:rPr>
              <a:t>的</a:t>
            </a:r>
            <a:r>
              <a:rPr lang="zh-TW" altLang="en-US" dirty="0">
                <a:solidFill>
                  <a:srgbClr val="C00000"/>
                </a:solidFill>
              </a:rPr>
              <a:t>位址 </a:t>
            </a:r>
            <a:r>
              <a:rPr lang="en-US" altLang="zh-TW" dirty="0" smtClean="0">
                <a:solidFill>
                  <a:srgbClr val="C00000"/>
                </a:solidFill>
              </a:rPr>
              <a:t>=</a:t>
            </a:r>
            <a:r>
              <a:rPr lang="zh-TW" altLang="en-US" dirty="0" smtClean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</a:rPr>
              <a:t>A[0][0</a:t>
            </a:r>
            <a:r>
              <a:rPr lang="en-US" altLang="zh-TW" dirty="0" smtClean="0">
                <a:solidFill>
                  <a:srgbClr val="C00000"/>
                </a:solidFill>
              </a:rPr>
              <a:t>]</a:t>
            </a:r>
            <a:r>
              <a:rPr lang="zh-TW" altLang="en-US" dirty="0" smtClean="0">
                <a:solidFill>
                  <a:srgbClr val="C00000"/>
                </a:solidFill>
              </a:rPr>
              <a:t>的</a:t>
            </a:r>
            <a:r>
              <a:rPr lang="zh-TW" altLang="en-US" dirty="0">
                <a:solidFill>
                  <a:srgbClr val="C00000"/>
                </a:solidFill>
              </a:rPr>
              <a:t>位址 </a:t>
            </a:r>
            <a:r>
              <a:rPr lang="en-US" altLang="zh-TW" dirty="0">
                <a:solidFill>
                  <a:srgbClr val="C00000"/>
                </a:solidFill>
              </a:rPr>
              <a:t>+ </a:t>
            </a:r>
            <a:r>
              <a:rPr lang="zh-TW" altLang="en-US" dirty="0">
                <a:solidFill>
                  <a:srgbClr val="C00000"/>
                </a:solidFill>
              </a:rPr>
              <a:t>位移</a:t>
            </a:r>
            <a:r>
              <a:rPr lang="zh-TW" altLang="en-US" dirty="0" smtClean="0">
                <a:solidFill>
                  <a:srgbClr val="C00000"/>
                </a:solidFill>
              </a:rPr>
              <a:t>量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zh-TW" dirty="0" smtClean="0">
                <a:solidFill>
                  <a:srgbClr val="000000"/>
                </a:solidFill>
              </a:rPr>
              <a:t>                                  = 03C4</a:t>
            </a:r>
            <a:r>
              <a:rPr lang="en-US" altLang="zh-TW" baseline="-25000" dirty="0" smtClean="0">
                <a:solidFill>
                  <a:srgbClr val="000000"/>
                </a:solidFill>
              </a:rPr>
              <a:t>16</a:t>
            </a:r>
            <a:r>
              <a:rPr lang="en-US" altLang="zh-TW" dirty="0" smtClean="0">
                <a:solidFill>
                  <a:srgbClr val="000000"/>
                </a:solidFill>
              </a:rPr>
              <a:t> + ((0 – 0) </a:t>
            </a:r>
            <a:r>
              <a:rPr lang="en-US" altLang="zh-TW" dirty="0" smtClean="0">
                <a:solidFill>
                  <a:srgbClr val="000000"/>
                </a:solidFill>
                <a:sym typeface="Symbol"/>
              </a:rPr>
              <a:t> 10</a:t>
            </a:r>
            <a:r>
              <a:rPr lang="en-US" altLang="zh-TW" dirty="0" smtClean="0">
                <a:solidFill>
                  <a:srgbClr val="000000"/>
                </a:solidFill>
              </a:rPr>
              <a:t> + (9 – 0)) </a:t>
            </a:r>
            <a:r>
              <a:rPr lang="en-US" altLang="zh-TW" dirty="0" smtClean="0">
                <a:solidFill>
                  <a:srgbClr val="000000"/>
                </a:solidFill>
                <a:sym typeface="Symbol"/>
              </a:rPr>
              <a:t> 4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zh-TW" dirty="0">
                <a:solidFill>
                  <a:srgbClr val="000000"/>
                </a:solidFill>
                <a:sym typeface="Symbol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sym typeface="Symbol"/>
              </a:rPr>
              <a:t>                                 = 03C4</a:t>
            </a:r>
            <a:r>
              <a:rPr lang="en-US" altLang="zh-TW" baseline="-25000" dirty="0" smtClean="0">
                <a:solidFill>
                  <a:srgbClr val="000000"/>
                </a:solidFill>
                <a:sym typeface="Symbol"/>
              </a:rPr>
              <a:t>16</a:t>
            </a:r>
            <a:r>
              <a:rPr lang="en-US" altLang="zh-TW" dirty="0" smtClean="0">
                <a:solidFill>
                  <a:srgbClr val="000000"/>
                </a:solidFill>
                <a:sym typeface="Symbol"/>
              </a:rPr>
              <a:t> + 24</a:t>
            </a:r>
            <a:r>
              <a:rPr lang="en-US" altLang="zh-TW" baseline="-25000" dirty="0" smtClean="0">
                <a:solidFill>
                  <a:srgbClr val="000000"/>
                </a:solidFill>
                <a:sym typeface="Symbol"/>
              </a:rPr>
              <a:t>16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zh-TW" baseline="-25000" dirty="0" smtClean="0">
                <a:solidFill>
                  <a:srgbClr val="000000"/>
                </a:solidFill>
                <a:sym typeface="Symbol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sym typeface="Symbol"/>
              </a:rPr>
              <a:t>                                 = 03E8</a:t>
            </a:r>
            <a:r>
              <a:rPr lang="en-US" altLang="zh-TW" baseline="-25000" dirty="0" smtClean="0">
                <a:solidFill>
                  <a:srgbClr val="000000"/>
                </a:solidFill>
                <a:sym typeface="Symbol"/>
              </a:rPr>
              <a:t>16</a:t>
            </a:r>
          </a:p>
          <a:p>
            <a:pPr>
              <a:spcBef>
                <a:spcPct val="0"/>
              </a:spcBef>
            </a:pPr>
            <a:endParaRPr lang="en-US" altLang="zh-TW" dirty="0" smtClean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</a:pPr>
            <a:r>
              <a:rPr lang="en-US" altLang="zh-TW" dirty="0" smtClean="0">
                <a:solidFill>
                  <a:srgbClr val="000000"/>
                </a:solidFill>
              </a:rPr>
              <a:t>(3) </a:t>
            </a:r>
            <a:r>
              <a:rPr lang="en-US" altLang="zh-TW" dirty="0" smtClean="0">
                <a:solidFill>
                  <a:srgbClr val="C00000"/>
                </a:solidFill>
              </a:rPr>
              <a:t>A[6][5]</a:t>
            </a:r>
            <a:r>
              <a:rPr lang="zh-TW" altLang="en-US" dirty="0">
                <a:solidFill>
                  <a:srgbClr val="C00000"/>
                </a:solidFill>
              </a:rPr>
              <a:t>的位址 </a:t>
            </a:r>
            <a:r>
              <a:rPr lang="en-US" altLang="zh-TW" dirty="0">
                <a:solidFill>
                  <a:srgbClr val="C00000"/>
                </a:solidFill>
              </a:rPr>
              <a:t>=</a:t>
            </a:r>
            <a:r>
              <a:rPr lang="zh-TW" altLang="en-US" dirty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</a:rPr>
              <a:t>A[0][0]</a:t>
            </a:r>
            <a:r>
              <a:rPr lang="zh-TW" altLang="en-US" dirty="0">
                <a:solidFill>
                  <a:srgbClr val="C00000"/>
                </a:solidFill>
              </a:rPr>
              <a:t>的位址 </a:t>
            </a:r>
            <a:r>
              <a:rPr lang="en-US" altLang="zh-TW" dirty="0">
                <a:solidFill>
                  <a:srgbClr val="C00000"/>
                </a:solidFill>
              </a:rPr>
              <a:t>+ </a:t>
            </a:r>
            <a:r>
              <a:rPr lang="zh-TW" altLang="en-US" dirty="0">
                <a:solidFill>
                  <a:srgbClr val="C00000"/>
                </a:solidFill>
              </a:rPr>
              <a:t>位移量</a:t>
            </a:r>
            <a:endParaRPr lang="en-US" altLang="zh-TW" dirty="0">
              <a:solidFill>
                <a:srgbClr val="C00000"/>
              </a:solidFill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zh-TW" dirty="0">
                <a:solidFill>
                  <a:srgbClr val="000000"/>
                </a:solidFill>
              </a:rPr>
              <a:t>                                  = 03C4</a:t>
            </a:r>
            <a:r>
              <a:rPr lang="en-US" altLang="zh-TW" baseline="-25000" dirty="0">
                <a:solidFill>
                  <a:srgbClr val="000000"/>
                </a:solidFill>
              </a:rPr>
              <a:t>16</a:t>
            </a:r>
            <a:r>
              <a:rPr lang="en-US" altLang="zh-TW" dirty="0">
                <a:solidFill>
                  <a:srgbClr val="000000"/>
                </a:solidFill>
              </a:rPr>
              <a:t> + </a:t>
            </a:r>
            <a:r>
              <a:rPr lang="en-US" altLang="zh-TW" dirty="0" smtClean="0">
                <a:solidFill>
                  <a:srgbClr val="000000"/>
                </a:solidFill>
              </a:rPr>
              <a:t>((6 </a:t>
            </a:r>
            <a:r>
              <a:rPr lang="en-US" altLang="zh-TW" dirty="0">
                <a:solidFill>
                  <a:srgbClr val="000000"/>
                </a:solidFill>
              </a:rPr>
              <a:t>– 0) </a:t>
            </a:r>
            <a:r>
              <a:rPr lang="en-US" altLang="zh-TW" dirty="0">
                <a:solidFill>
                  <a:srgbClr val="000000"/>
                </a:solidFill>
                <a:sym typeface="Symbol"/>
              </a:rPr>
              <a:t> 10</a:t>
            </a:r>
            <a:r>
              <a:rPr lang="en-US" altLang="zh-TW" dirty="0">
                <a:solidFill>
                  <a:srgbClr val="000000"/>
                </a:solidFill>
              </a:rPr>
              <a:t> + </a:t>
            </a:r>
            <a:r>
              <a:rPr lang="en-US" altLang="zh-TW" dirty="0" smtClean="0">
                <a:solidFill>
                  <a:srgbClr val="000000"/>
                </a:solidFill>
              </a:rPr>
              <a:t>(5 </a:t>
            </a:r>
            <a:r>
              <a:rPr lang="en-US" altLang="zh-TW" dirty="0">
                <a:solidFill>
                  <a:srgbClr val="000000"/>
                </a:solidFill>
              </a:rPr>
              <a:t>– 0)) </a:t>
            </a:r>
            <a:r>
              <a:rPr lang="en-US" altLang="zh-TW" dirty="0">
                <a:solidFill>
                  <a:srgbClr val="000000"/>
                </a:solidFill>
                <a:sym typeface="Symbol"/>
              </a:rPr>
              <a:t> 4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zh-TW" dirty="0">
                <a:solidFill>
                  <a:srgbClr val="000000"/>
                </a:solidFill>
                <a:sym typeface="Symbol"/>
              </a:rPr>
              <a:t>                                  = 03C4</a:t>
            </a:r>
            <a:r>
              <a:rPr lang="en-US" altLang="zh-TW" baseline="-25000" dirty="0">
                <a:solidFill>
                  <a:srgbClr val="000000"/>
                </a:solidFill>
                <a:sym typeface="Symbol"/>
              </a:rPr>
              <a:t>16</a:t>
            </a:r>
            <a:r>
              <a:rPr lang="en-US" altLang="zh-TW" dirty="0">
                <a:solidFill>
                  <a:srgbClr val="000000"/>
                </a:solidFill>
                <a:sym typeface="Symbol"/>
              </a:rPr>
              <a:t> + </a:t>
            </a:r>
            <a:r>
              <a:rPr lang="en-US" altLang="zh-TW" dirty="0" smtClean="0">
                <a:solidFill>
                  <a:srgbClr val="000000"/>
                </a:solidFill>
                <a:sym typeface="Symbol"/>
              </a:rPr>
              <a:t>104</a:t>
            </a:r>
            <a:r>
              <a:rPr lang="en-US" altLang="zh-TW" baseline="-25000" dirty="0" smtClean="0">
                <a:solidFill>
                  <a:srgbClr val="000000"/>
                </a:solidFill>
                <a:sym typeface="Symbol"/>
              </a:rPr>
              <a:t>16</a:t>
            </a:r>
            <a:endParaRPr lang="en-US" altLang="zh-TW" baseline="-25000" dirty="0">
              <a:solidFill>
                <a:srgbClr val="000000"/>
              </a:solidFill>
              <a:sym typeface="Symbol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zh-TW" baseline="-25000" dirty="0">
                <a:solidFill>
                  <a:srgbClr val="000000"/>
                </a:solidFill>
                <a:sym typeface="Symbol"/>
              </a:rPr>
              <a:t> </a:t>
            </a:r>
            <a:r>
              <a:rPr lang="en-US" altLang="zh-TW" dirty="0">
                <a:solidFill>
                  <a:srgbClr val="000000"/>
                </a:solidFill>
                <a:sym typeface="Symbol"/>
              </a:rPr>
              <a:t>                                 = </a:t>
            </a:r>
            <a:r>
              <a:rPr lang="en-US" altLang="zh-TW" dirty="0" smtClean="0">
                <a:solidFill>
                  <a:srgbClr val="000000"/>
                </a:solidFill>
                <a:sym typeface="Symbol"/>
              </a:rPr>
              <a:t>04C8</a:t>
            </a:r>
            <a:r>
              <a:rPr lang="en-US" altLang="zh-TW" baseline="-25000" dirty="0" smtClean="0">
                <a:solidFill>
                  <a:srgbClr val="000000"/>
                </a:solidFill>
                <a:sym typeface="Symbol"/>
              </a:rPr>
              <a:t>16</a:t>
            </a:r>
            <a:endParaRPr lang="en-US" altLang="zh-TW" baseline="-25000" dirty="0" smtClean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291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三維</a:t>
            </a:r>
            <a:r>
              <a:rPr lang="zh-TW" altLang="en-US" dirty="0"/>
              <a:t>陣列</a:t>
            </a:r>
            <a:r>
              <a:rPr lang="zh-TW" altLang="en-US" dirty="0" smtClean="0"/>
              <a:t>位址計算 </a:t>
            </a:r>
            <a:r>
              <a:rPr lang="en-US" altLang="zh-TW" dirty="0" smtClean="0"/>
              <a:t>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三維陣列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C</a:t>
            </a:r>
            <a:r>
              <a:rPr lang="en-US" altLang="zh-TW" baseline="-25000" dirty="0"/>
              <a:t>1</a:t>
            </a:r>
            <a:r>
              <a:rPr lang="en-US" altLang="zh-TW" dirty="0"/>
              <a:t>][</a:t>
            </a:r>
            <a:r>
              <a:rPr lang="en-US" altLang="zh-TW" i="1" dirty="0"/>
              <a:t>C</a:t>
            </a:r>
            <a:r>
              <a:rPr lang="en-US" altLang="zh-TW" baseline="-25000" dirty="0"/>
              <a:t>2</a:t>
            </a:r>
            <a:r>
              <a:rPr lang="en-US" altLang="zh-TW" dirty="0"/>
              <a:t>][</a:t>
            </a:r>
            <a:r>
              <a:rPr lang="en-US" altLang="zh-TW" i="1" dirty="0"/>
              <a:t>C</a:t>
            </a:r>
            <a:r>
              <a:rPr lang="en-US" altLang="zh-TW" baseline="-25000" dirty="0"/>
              <a:t>3</a:t>
            </a:r>
            <a:r>
              <a:rPr lang="en-US" altLang="zh-TW" dirty="0" smtClean="0"/>
              <a:t>]，</a:t>
            </a:r>
            <a:r>
              <a:rPr lang="zh-TW" altLang="en-US" dirty="0" smtClean="0"/>
              <a:t>想像</a:t>
            </a:r>
            <a:r>
              <a:rPr lang="zh-TW" altLang="en-US" dirty="0"/>
              <a:t>三維陣列是由小方塊疊成的立方體：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grpSp>
        <p:nvGrpSpPr>
          <p:cNvPr id="124" name="群組 123"/>
          <p:cNvGrpSpPr/>
          <p:nvPr/>
        </p:nvGrpSpPr>
        <p:grpSpPr>
          <a:xfrm>
            <a:off x="678422" y="3390616"/>
            <a:ext cx="2677064" cy="1575817"/>
            <a:chOff x="937461" y="3179792"/>
            <a:chExt cx="2677064" cy="1575817"/>
          </a:xfrm>
        </p:grpSpPr>
        <p:grpSp>
          <p:nvGrpSpPr>
            <p:cNvPr id="7" name="群組 6"/>
            <p:cNvGrpSpPr/>
            <p:nvPr/>
          </p:nvGrpSpPr>
          <p:grpSpPr>
            <a:xfrm>
              <a:off x="940329" y="3179792"/>
              <a:ext cx="2671306" cy="1575817"/>
              <a:chOff x="2355011" y="4432540"/>
              <a:chExt cx="2671306" cy="1575817"/>
            </a:xfrm>
          </p:grpSpPr>
          <p:grpSp>
            <p:nvGrpSpPr>
              <p:cNvPr id="8" name="群組 7"/>
              <p:cNvGrpSpPr/>
              <p:nvPr/>
            </p:nvGrpSpPr>
            <p:grpSpPr>
              <a:xfrm>
                <a:off x="2355011" y="5265977"/>
                <a:ext cx="2070336" cy="742380"/>
                <a:chOff x="2355011" y="5265977"/>
                <a:chExt cx="2070336" cy="742380"/>
              </a:xfrm>
            </p:grpSpPr>
            <p:cxnSp>
              <p:nvCxnSpPr>
                <p:cNvPr id="22" name="直線接點 21"/>
                <p:cNvCxnSpPr/>
                <p:nvPr/>
              </p:nvCxnSpPr>
              <p:spPr>
                <a:xfrm>
                  <a:off x="2355011" y="5265977"/>
                  <a:ext cx="2070336" cy="50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接點 22"/>
                <p:cNvCxnSpPr/>
                <p:nvPr/>
              </p:nvCxnSpPr>
              <p:spPr>
                <a:xfrm>
                  <a:off x="2355011" y="5637421"/>
                  <a:ext cx="207033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線接點 23"/>
                <p:cNvCxnSpPr/>
                <p:nvPr/>
              </p:nvCxnSpPr>
              <p:spPr>
                <a:xfrm>
                  <a:off x="2355011" y="5265977"/>
                  <a:ext cx="0" cy="74238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線接點 24"/>
                <p:cNvCxnSpPr/>
                <p:nvPr/>
              </p:nvCxnSpPr>
              <p:spPr>
                <a:xfrm>
                  <a:off x="4425347" y="5266485"/>
                  <a:ext cx="0" cy="74187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線接點 25"/>
                <p:cNvCxnSpPr/>
                <p:nvPr/>
              </p:nvCxnSpPr>
              <p:spPr>
                <a:xfrm>
                  <a:off x="2355011" y="6008357"/>
                  <a:ext cx="207033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線接點 26"/>
                <p:cNvCxnSpPr/>
                <p:nvPr/>
              </p:nvCxnSpPr>
              <p:spPr>
                <a:xfrm>
                  <a:off x="2877511" y="5266485"/>
                  <a:ext cx="0" cy="74187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線接點 27"/>
                <p:cNvCxnSpPr/>
                <p:nvPr/>
              </p:nvCxnSpPr>
              <p:spPr>
                <a:xfrm>
                  <a:off x="3410913" y="5266485"/>
                  <a:ext cx="0" cy="74187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線接點 28"/>
                <p:cNvCxnSpPr/>
                <p:nvPr/>
              </p:nvCxnSpPr>
              <p:spPr>
                <a:xfrm>
                  <a:off x="3939291" y="5266485"/>
                  <a:ext cx="0" cy="74187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" name="直線接點 8"/>
              <p:cNvCxnSpPr/>
              <p:nvPr/>
            </p:nvCxnSpPr>
            <p:spPr>
              <a:xfrm flipV="1">
                <a:off x="2355011" y="4433048"/>
                <a:ext cx="600970" cy="833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線接點 9"/>
              <p:cNvCxnSpPr/>
              <p:nvPr/>
            </p:nvCxnSpPr>
            <p:spPr>
              <a:xfrm>
                <a:off x="2955981" y="4432540"/>
                <a:ext cx="2070336" cy="5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線接點 10"/>
              <p:cNvCxnSpPr/>
              <p:nvPr/>
            </p:nvCxnSpPr>
            <p:spPr>
              <a:xfrm>
                <a:off x="5026317" y="4433048"/>
                <a:ext cx="0" cy="74187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線接點 11"/>
              <p:cNvCxnSpPr/>
              <p:nvPr/>
            </p:nvCxnSpPr>
            <p:spPr>
              <a:xfrm flipV="1">
                <a:off x="2877511" y="4432541"/>
                <a:ext cx="600970" cy="83394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線接點 12"/>
              <p:cNvCxnSpPr/>
              <p:nvPr/>
            </p:nvCxnSpPr>
            <p:spPr>
              <a:xfrm flipV="1">
                <a:off x="3410913" y="4433048"/>
                <a:ext cx="600970" cy="833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線接點 13"/>
              <p:cNvCxnSpPr/>
              <p:nvPr/>
            </p:nvCxnSpPr>
            <p:spPr>
              <a:xfrm flipV="1">
                <a:off x="3939291" y="4433049"/>
                <a:ext cx="600970" cy="833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線接點 14"/>
              <p:cNvCxnSpPr/>
              <p:nvPr/>
            </p:nvCxnSpPr>
            <p:spPr>
              <a:xfrm flipV="1">
                <a:off x="4425347" y="4433049"/>
                <a:ext cx="600970" cy="833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線接點 15"/>
              <p:cNvCxnSpPr/>
              <p:nvPr/>
            </p:nvCxnSpPr>
            <p:spPr>
              <a:xfrm flipV="1">
                <a:off x="4425347" y="4803730"/>
                <a:ext cx="600970" cy="83369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接點 16"/>
              <p:cNvCxnSpPr/>
              <p:nvPr/>
            </p:nvCxnSpPr>
            <p:spPr>
              <a:xfrm flipV="1">
                <a:off x="4425347" y="5174920"/>
                <a:ext cx="600970" cy="833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接點 17"/>
              <p:cNvCxnSpPr/>
              <p:nvPr/>
            </p:nvCxnSpPr>
            <p:spPr>
              <a:xfrm>
                <a:off x="2528145" y="5021456"/>
                <a:ext cx="2070336" cy="5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接點 18"/>
              <p:cNvCxnSpPr/>
              <p:nvPr/>
            </p:nvCxnSpPr>
            <p:spPr>
              <a:xfrm>
                <a:off x="4598481" y="5021964"/>
                <a:ext cx="0" cy="74187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接點 19"/>
              <p:cNvCxnSpPr/>
              <p:nvPr/>
            </p:nvCxnSpPr>
            <p:spPr>
              <a:xfrm>
                <a:off x="2751983" y="4709573"/>
                <a:ext cx="2070336" cy="5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接點 20"/>
              <p:cNvCxnSpPr/>
              <p:nvPr/>
            </p:nvCxnSpPr>
            <p:spPr>
              <a:xfrm>
                <a:off x="4822319" y="4710081"/>
                <a:ext cx="0" cy="74187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直線接點 30"/>
            <p:cNvCxnSpPr/>
            <p:nvPr/>
          </p:nvCxnSpPr>
          <p:spPr>
            <a:xfrm>
              <a:off x="940329" y="4211899"/>
              <a:ext cx="2070336" cy="25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>
              <a:off x="937461" y="4579949"/>
              <a:ext cx="2070336" cy="25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007797" y="3746512"/>
              <a:ext cx="600970" cy="8336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/>
            <p:nvPr/>
          </p:nvCxnSpPr>
          <p:spPr>
            <a:xfrm flipV="1">
              <a:off x="3013555" y="3372726"/>
              <a:ext cx="600970" cy="8336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向右箭號 124"/>
          <p:cNvSpPr/>
          <p:nvPr/>
        </p:nvSpPr>
        <p:spPr>
          <a:xfrm>
            <a:off x="3709358" y="3807589"/>
            <a:ext cx="897148" cy="5665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6" name="文字方塊 125"/>
          <p:cNvSpPr txBox="1"/>
          <p:nvPr/>
        </p:nvSpPr>
        <p:spPr>
          <a:xfrm>
            <a:off x="1633025" y="2377562"/>
            <a:ext cx="12650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[4][3][4]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" name="群組 29"/>
          <p:cNvGrpSpPr/>
          <p:nvPr/>
        </p:nvGrpSpPr>
        <p:grpSpPr>
          <a:xfrm>
            <a:off x="5097390" y="2008387"/>
            <a:ext cx="3623811" cy="1032361"/>
            <a:chOff x="5097390" y="2008387"/>
            <a:chExt cx="3623811" cy="1032361"/>
          </a:xfrm>
        </p:grpSpPr>
        <p:grpSp>
          <p:nvGrpSpPr>
            <p:cNvPr id="63" name="群組 62"/>
            <p:cNvGrpSpPr/>
            <p:nvPr/>
          </p:nvGrpSpPr>
          <p:grpSpPr>
            <a:xfrm>
              <a:off x="5097390" y="2008387"/>
              <a:ext cx="2674196" cy="1032361"/>
              <a:chOff x="4788316" y="2555344"/>
              <a:chExt cx="2674196" cy="1032361"/>
            </a:xfrm>
          </p:grpSpPr>
          <p:cxnSp>
            <p:nvCxnSpPr>
              <p:cNvPr id="51" name="直線接點 50"/>
              <p:cNvCxnSpPr/>
              <p:nvPr/>
            </p:nvCxnSpPr>
            <p:spPr>
              <a:xfrm>
                <a:off x="4788316" y="3388781"/>
                <a:ext cx="2070336" cy="5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線接點 52"/>
              <p:cNvCxnSpPr/>
              <p:nvPr/>
            </p:nvCxnSpPr>
            <p:spPr>
              <a:xfrm>
                <a:off x="4788316" y="3388781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線接點 53"/>
              <p:cNvCxnSpPr/>
              <p:nvPr/>
            </p:nvCxnSpPr>
            <p:spPr>
              <a:xfrm>
                <a:off x="6858652" y="3389289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線接點 55"/>
              <p:cNvCxnSpPr/>
              <p:nvPr/>
            </p:nvCxnSpPr>
            <p:spPr>
              <a:xfrm>
                <a:off x="5310816" y="3389289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線接點 56"/>
              <p:cNvCxnSpPr/>
              <p:nvPr/>
            </p:nvCxnSpPr>
            <p:spPr>
              <a:xfrm>
                <a:off x="5844218" y="3389289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線接點 57"/>
              <p:cNvCxnSpPr/>
              <p:nvPr/>
            </p:nvCxnSpPr>
            <p:spPr>
              <a:xfrm>
                <a:off x="6372596" y="3389289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線接點 37"/>
              <p:cNvCxnSpPr/>
              <p:nvPr/>
            </p:nvCxnSpPr>
            <p:spPr>
              <a:xfrm flipV="1">
                <a:off x="4788316" y="2555852"/>
                <a:ext cx="600970" cy="833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線接點 38"/>
              <p:cNvCxnSpPr/>
              <p:nvPr/>
            </p:nvCxnSpPr>
            <p:spPr>
              <a:xfrm>
                <a:off x="5389286" y="2555344"/>
                <a:ext cx="2070336" cy="5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線接點 39"/>
              <p:cNvCxnSpPr/>
              <p:nvPr/>
            </p:nvCxnSpPr>
            <p:spPr>
              <a:xfrm>
                <a:off x="7459622" y="2555852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線接點 40"/>
              <p:cNvCxnSpPr/>
              <p:nvPr/>
            </p:nvCxnSpPr>
            <p:spPr>
              <a:xfrm flipV="1">
                <a:off x="5310816" y="2555345"/>
                <a:ext cx="600970" cy="83394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線接點 41"/>
              <p:cNvCxnSpPr/>
              <p:nvPr/>
            </p:nvCxnSpPr>
            <p:spPr>
              <a:xfrm flipV="1">
                <a:off x="5844218" y="2555852"/>
                <a:ext cx="600970" cy="833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線接點 42"/>
              <p:cNvCxnSpPr/>
              <p:nvPr/>
            </p:nvCxnSpPr>
            <p:spPr>
              <a:xfrm flipV="1">
                <a:off x="6372596" y="2555853"/>
                <a:ext cx="600970" cy="833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線接點 43"/>
              <p:cNvCxnSpPr/>
              <p:nvPr/>
            </p:nvCxnSpPr>
            <p:spPr>
              <a:xfrm flipV="1">
                <a:off x="6858652" y="2555853"/>
                <a:ext cx="600970" cy="833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接點 46"/>
              <p:cNvCxnSpPr/>
              <p:nvPr/>
            </p:nvCxnSpPr>
            <p:spPr>
              <a:xfrm>
                <a:off x="4961450" y="3144260"/>
                <a:ext cx="2070336" cy="5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線接點 47"/>
              <p:cNvCxnSpPr/>
              <p:nvPr/>
            </p:nvCxnSpPr>
            <p:spPr>
              <a:xfrm>
                <a:off x="7031786" y="3144768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線接點 48"/>
              <p:cNvCxnSpPr/>
              <p:nvPr/>
            </p:nvCxnSpPr>
            <p:spPr>
              <a:xfrm>
                <a:off x="5185288" y="2832377"/>
                <a:ext cx="2070336" cy="5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線接點 49"/>
              <p:cNvCxnSpPr/>
              <p:nvPr/>
            </p:nvCxnSpPr>
            <p:spPr>
              <a:xfrm>
                <a:off x="7255624" y="2832885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線接點 58"/>
              <p:cNvCxnSpPr/>
              <p:nvPr/>
            </p:nvCxnSpPr>
            <p:spPr>
              <a:xfrm>
                <a:off x="4788316" y="3587451"/>
                <a:ext cx="2070336" cy="25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線接點 61"/>
              <p:cNvCxnSpPr/>
              <p:nvPr/>
            </p:nvCxnSpPr>
            <p:spPr>
              <a:xfrm flipV="1">
                <a:off x="6861542" y="2748278"/>
                <a:ext cx="600970" cy="83369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7" name="文字方塊 126"/>
            <p:cNvSpPr txBox="1"/>
            <p:nvPr/>
          </p:nvSpPr>
          <p:spPr>
            <a:xfrm>
              <a:off x="7768696" y="2310321"/>
              <a:ext cx="95250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[3][4]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5097390" y="3104847"/>
            <a:ext cx="3656412" cy="1032361"/>
            <a:chOff x="5097390" y="3104847"/>
            <a:chExt cx="3656412" cy="1032361"/>
          </a:xfrm>
        </p:grpSpPr>
        <p:grpSp>
          <p:nvGrpSpPr>
            <p:cNvPr id="64" name="群組 63"/>
            <p:cNvGrpSpPr/>
            <p:nvPr/>
          </p:nvGrpSpPr>
          <p:grpSpPr>
            <a:xfrm>
              <a:off x="5097390" y="3104847"/>
              <a:ext cx="2674196" cy="1032361"/>
              <a:chOff x="4788316" y="2555344"/>
              <a:chExt cx="2674196" cy="1032361"/>
            </a:xfrm>
          </p:grpSpPr>
          <p:cxnSp>
            <p:nvCxnSpPr>
              <p:cNvPr id="65" name="直線接點 64"/>
              <p:cNvCxnSpPr/>
              <p:nvPr/>
            </p:nvCxnSpPr>
            <p:spPr>
              <a:xfrm>
                <a:off x="4788316" y="3388781"/>
                <a:ext cx="2070336" cy="5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線接點 65"/>
              <p:cNvCxnSpPr/>
              <p:nvPr/>
            </p:nvCxnSpPr>
            <p:spPr>
              <a:xfrm>
                <a:off x="4788316" y="3388781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線接點 66"/>
              <p:cNvCxnSpPr/>
              <p:nvPr/>
            </p:nvCxnSpPr>
            <p:spPr>
              <a:xfrm>
                <a:off x="6858652" y="3389289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接點 67"/>
              <p:cNvCxnSpPr/>
              <p:nvPr/>
            </p:nvCxnSpPr>
            <p:spPr>
              <a:xfrm>
                <a:off x="5310816" y="3389289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接點 68"/>
              <p:cNvCxnSpPr/>
              <p:nvPr/>
            </p:nvCxnSpPr>
            <p:spPr>
              <a:xfrm>
                <a:off x="5844218" y="3389289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線接點 69"/>
              <p:cNvCxnSpPr/>
              <p:nvPr/>
            </p:nvCxnSpPr>
            <p:spPr>
              <a:xfrm>
                <a:off x="6372596" y="3389289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線接點 70"/>
              <p:cNvCxnSpPr/>
              <p:nvPr/>
            </p:nvCxnSpPr>
            <p:spPr>
              <a:xfrm flipV="1">
                <a:off x="4788316" y="2555852"/>
                <a:ext cx="600970" cy="833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線接點 71"/>
              <p:cNvCxnSpPr/>
              <p:nvPr/>
            </p:nvCxnSpPr>
            <p:spPr>
              <a:xfrm>
                <a:off x="5389286" y="2555344"/>
                <a:ext cx="2070336" cy="5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接點 72"/>
              <p:cNvCxnSpPr/>
              <p:nvPr/>
            </p:nvCxnSpPr>
            <p:spPr>
              <a:xfrm>
                <a:off x="7459622" y="2555852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線接點 73"/>
              <p:cNvCxnSpPr/>
              <p:nvPr/>
            </p:nvCxnSpPr>
            <p:spPr>
              <a:xfrm flipV="1">
                <a:off x="5310816" y="2555345"/>
                <a:ext cx="600970" cy="83394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線接點 74"/>
              <p:cNvCxnSpPr/>
              <p:nvPr/>
            </p:nvCxnSpPr>
            <p:spPr>
              <a:xfrm flipV="1">
                <a:off x="5844218" y="2555852"/>
                <a:ext cx="600970" cy="833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接點 75"/>
              <p:cNvCxnSpPr/>
              <p:nvPr/>
            </p:nvCxnSpPr>
            <p:spPr>
              <a:xfrm flipV="1">
                <a:off x="6372596" y="2555853"/>
                <a:ext cx="600970" cy="833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線接點 76"/>
              <p:cNvCxnSpPr/>
              <p:nvPr/>
            </p:nvCxnSpPr>
            <p:spPr>
              <a:xfrm flipV="1">
                <a:off x="6858652" y="2555853"/>
                <a:ext cx="600970" cy="833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線接點 77"/>
              <p:cNvCxnSpPr/>
              <p:nvPr/>
            </p:nvCxnSpPr>
            <p:spPr>
              <a:xfrm>
                <a:off x="4961450" y="3144260"/>
                <a:ext cx="2070336" cy="5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線接點 78"/>
              <p:cNvCxnSpPr/>
              <p:nvPr/>
            </p:nvCxnSpPr>
            <p:spPr>
              <a:xfrm>
                <a:off x="7031786" y="3144768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接點 79"/>
              <p:cNvCxnSpPr/>
              <p:nvPr/>
            </p:nvCxnSpPr>
            <p:spPr>
              <a:xfrm>
                <a:off x="5185288" y="2832377"/>
                <a:ext cx="2070336" cy="5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線接點 80"/>
              <p:cNvCxnSpPr/>
              <p:nvPr/>
            </p:nvCxnSpPr>
            <p:spPr>
              <a:xfrm>
                <a:off x="7255624" y="2832885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線接點 81"/>
              <p:cNvCxnSpPr/>
              <p:nvPr/>
            </p:nvCxnSpPr>
            <p:spPr>
              <a:xfrm>
                <a:off x="4788316" y="3587451"/>
                <a:ext cx="2070336" cy="25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線接點 82"/>
              <p:cNvCxnSpPr/>
              <p:nvPr/>
            </p:nvCxnSpPr>
            <p:spPr>
              <a:xfrm flipV="1">
                <a:off x="6861542" y="2748278"/>
                <a:ext cx="600970" cy="83369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字方塊 127"/>
            <p:cNvSpPr txBox="1"/>
            <p:nvPr/>
          </p:nvSpPr>
          <p:spPr>
            <a:xfrm>
              <a:off x="7801297" y="3361696"/>
              <a:ext cx="95250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[3][4]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5097390" y="4217804"/>
            <a:ext cx="3656412" cy="1032361"/>
            <a:chOff x="5097390" y="4217804"/>
            <a:chExt cx="3656412" cy="1032361"/>
          </a:xfrm>
        </p:grpSpPr>
        <p:grpSp>
          <p:nvGrpSpPr>
            <p:cNvPr id="84" name="群組 83"/>
            <p:cNvGrpSpPr/>
            <p:nvPr/>
          </p:nvGrpSpPr>
          <p:grpSpPr>
            <a:xfrm>
              <a:off x="5097390" y="4217804"/>
              <a:ext cx="2674196" cy="1032361"/>
              <a:chOff x="4788316" y="2555344"/>
              <a:chExt cx="2674196" cy="1032361"/>
            </a:xfrm>
          </p:grpSpPr>
          <p:cxnSp>
            <p:nvCxnSpPr>
              <p:cNvPr id="85" name="直線接點 84"/>
              <p:cNvCxnSpPr/>
              <p:nvPr/>
            </p:nvCxnSpPr>
            <p:spPr>
              <a:xfrm>
                <a:off x="4788316" y="3388781"/>
                <a:ext cx="2070336" cy="5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線接點 85"/>
              <p:cNvCxnSpPr/>
              <p:nvPr/>
            </p:nvCxnSpPr>
            <p:spPr>
              <a:xfrm>
                <a:off x="4788316" y="3388781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線接點 86"/>
              <p:cNvCxnSpPr/>
              <p:nvPr/>
            </p:nvCxnSpPr>
            <p:spPr>
              <a:xfrm>
                <a:off x="6858652" y="3389289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線接點 87"/>
              <p:cNvCxnSpPr/>
              <p:nvPr/>
            </p:nvCxnSpPr>
            <p:spPr>
              <a:xfrm>
                <a:off x="5310816" y="3389289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接點 88"/>
              <p:cNvCxnSpPr/>
              <p:nvPr/>
            </p:nvCxnSpPr>
            <p:spPr>
              <a:xfrm>
                <a:off x="5844218" y="3389289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接點 89"/>
              <p:cNvCxnSpPr/>
              <p:nvPr/>
            </p:nvCxnSpPr>
            <p:spPr>
              <a:xfrm>
                <a:off x="6372596" y="3389289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線接點 90"/>
              <p:cNvCxnSpPr/>
              <p:nvPr/>
            </p:nvCxnSpPr>
            <p:spPr>
              <a:xfrm flipV="1">
                <a:off x="4788316" y="2555852"/>
                <a:ext cx="600970" cy="833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線接點 91"/>
              <p:cNvCxnSpPr/>
              <p:nvPr/>
            </p:nvCxnSpPr>
            <p:spPr>
              <a:xfrm>
                <a:off x="5389286" y="2555344"/>
                <a:ext cx="2070336" cy="5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線接點 92"/>
              <p:cNvCxnSpPr/>
              <p:nvPr/>
            </p:nvCxnSpPr>
            <p:spPr>
              <a:xfrm>
                <a:off x="7459622" y="2555852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線接點 93"/>
              <p:cNvCxnSpPr/>
              <p:nvPr/>
            </p:nvCxnSpPr>
            <p:spPr>
              <a:xfrm flipV="1">
                <a:off x="5310816" y="2555345"/>
                <a:ext cx="600970" cy="83394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接點 94"/>
              <p:cNvCxnSpPr/>
              <p:nvPr/>
            </p:nvCxnSpPr>
            <p:spPr>
              <a:xfrm flipV="1">
                <a:off x="5844218" y="2555852"/>
                <a:ext cx="600970" cy="833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接點 95"/>
              <p:cNvCxnSpPr/>
              <p:nvPr/>
            </p:nvCxnSpPr>
            <p:spPr>
              <a:xfrm flipV="1">
                <a:off x="6372596" y="2555853"/>
                <a:ext cx="600970" cy="833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線接點 96"/>
              <p:cNvCxnSpPr/>
              <p:nvPr/>
            </p:nvCxnSpPr>
            <p:spPr>
              <a:xfrm flipV="1">
                <a:off x="6858652" y="2555853"/>
                <a:ext cx="600970" cy="833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線接點 97"/>
              <p:cNvCxnSpPr/>
              <p:nvPr/>
            </p:nvCxnSpPr>
            <p:spPr>
              <a:xfrm>
                <a:off x="4961450" y="3144260"/>
                <a:ext cx="2070336" cy="5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接點 98"/>
              <p:cNvCxnSpPr/>
              <p:nvPr/>
            </p:nvCxnSpPr>
            <p:spPr>
              <a:xfrm>
                <a:off x="7031786" y="3144768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線接點 99"/>
              <p:cNvCxnSpPr/>
              <p:nvPr/>
            </p:nvCxnSpPr>
            <p:spPr>
              <a:xfrm>
                <a:off x="5185288" y="2832377"/>
                <a:ext cx="2070336" cy="5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線接點 100"/>
              <p:cNvCxnSpPr/>
              <p:nvPr/>
            </p:nvCxnSpPr>
            <p:spPr>
              <a:xfrm>
                <a:off x="7255624" y="2832885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線接點 101"/>
              <p:cNvCxnSpPr/>
              <p:nvPr/>
            </p:nvCxnSpPr>
            <p:spPr>
              <a:xfrm>
                <a:off x="4788316" y="3587451"/>
                <a:ext cx="2070336" cy="25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線接點 102"/>
              <p:cNvCxnSpPr/>
              <p:nvPr/>
            </p:nvCxnSpPr>
            <p:spPr>
              <a:xfrm flipV="1">
                <a:off x="6861542" y="2748278"/>
                <a:ext cx="600970" cy="83369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9" name="文字方塊 128"/>
            <p:cNvSpPr txBox="1"/>
            <p:nvPr/>
          </p:nvSpPr>
          <p:spPr>
            <a:xfrm>
              <a:off x="7801297" y="4562298"/>
              <a:ext cx="95250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[3][4]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群組 36"/>
          <p:cNvGrpSpPr/>
          <p:nvPr/>
        </p:nvGrpSpPr>
        <p:grpSpPr>
          <a:xfrm>
            <a:off x="5097390" y="5314264"/>
            <a:ext cx="3689013" cy="1032361"/>
            <a:chOff x="5097390" y="5314264"/>
            <a:chExt cx="3689013" cy="1032361"/>
          </a:xfrm>
        </p:grpSpPr>
        <p:grpSp>
          <p:nvGrpSpPr>
            <p:cNvPr id="104" name="群組 103"/>
            <p:cNvGrpSpPr/>
            <p:nvPr/>
          </p:nvGrpSpPr>
          <p:grpSpPr>
            <a:xfrm>
              <a:off x="5097390" y="5314264"/>
              <a:ext cx="2674196" cy="1032361"/>
              <a:chOff x="4788316" y="2555344"/>
              <a:chExt cx="2674196" cy="1032361"/>
            </a:xfrm>
          </p:grpSpPr>
          <p:cxnSp>
            <p:nvCxnSpPr>
              <p:cNvPr id="105" name="直線接點 104"/>
              <p:cNvCxnSpPr/>
              <p:nvPr/>
            </p:nvCxnSpPr>
            <p:spPr>
              <a:xfrm>
                <a:off x="4788316" y="3388781"/>
                <a:ext cx="2070336" cy="5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線接點 105"/>
              <p:cNvCxnSpPr/>
              <p:nvPr/>
            </p:nvCxnSpPr>
            <p:spPr>
              <a:xfrm>
                <a:off x="4788316" y="3388781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線接點 106"/>
              <p:cNvCxnSpPr/>
              <p:nvPr/>
            </p:nvCxnSpPr>
            <p:spPr>
              <a:xfrm>
                <a:off x="6858652" y="3389289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線接點 107"/>
              <p:cNvCxnSpPr/>
              <p:nvPr/>
            </p:nvCxnSpPr>
            <p:spPr>
              <a:xfrm>
                <a:off x="5310816" y="3389289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線接點 108"/>
              <p:cNvCxnSpPr/>
              <p:nvPr/>
            </p:nvCxnSpPr>
            <p:spPr>
              <a:xfrm>
                <a:off x="5844218" y="3389289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線接點 109"/>
              <p:cNvCxnSpPr/>
              <p:nvPr/>
            </p:nvCxnSpPr>
            <p:spPr>
              <a:xfrm>
                <a:off x="6372596" y="3389289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線接點 110"/>
              <p:cNvCxnSpPr/>
              <p:nvPr/>
            </p:nvCxnSpPr>
            <p:spPr>
              <a:xfrm flipV="1">
                <a:off x="4788316" y="2555852"/>
                <a:ext cx="600970" cy="833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線接點 111"/>
              <p:cNvCxnSpPr/>
              <p:nvPr/>
            </p:nvCxnSpPr>
            <p:spPr>
              <a:xfrm>
                <a:off x="5389286" y="2555344"/>
                <a:ext cx="2070336" cy="5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線接點 112"/>
              <p:cNvCxnSpPr/>
              <p:nvPr/>
            </p:nvCxnSpPr>
            <p:spPr>
              <a:xfrm>
                <a:off x="7459622" y="2555852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線接點 113"/>
              <p:cNvCxnSpPr/>
              <p:nvPr/>
            </p:nvCxnSpPr>
            <p:spPr>
              <a:xfrm flipV="1">
                <a:off x="5310816" y="2555345"/>
                <a:ext cx="600970" cy="83394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線接點 114"/>
              <p:cNvCxnSpPr/>
              <p:nvPr/>
            </p:nvCxnSpPr>
            <p:spPr>
              <a:xfrm flipV="1">
                <a:off x="5844218" y="2555852"/>
                <a:ext cx="600970" cy="833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線接點 115"/>
              <p:cNvCxnSpPr/>
              <p:nvPr/>
            </p:nvCxnSpPr>
            <p:spPr>
              <a:xfrm flipV="1">
                <a:off x="6372596" y="2555853"/>
                <a:ext cx="600970" cy="833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線接點 116"/>
              <p:cNvCxnSpPr/>
              <p:nvPr/>
            </p:nvCxnSpPr>
            <p:spPr>
              <a:xfrm flipV="1">
                <a:off x="6858652" y="2555853"/>
                <a:ext cx="600970" cy="833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線接點 117"/>
              <p:cNvCxnSpPr/>
              <p:nvPr/>
            </p:nvCxnSpPr>
            <p:spPr>
              <a:xfrm>
                <a:off x="4961450" y="3144260"/>
                <a:ext cx="2070336" cy="5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線接點 118"/>
              <p:cNvCxnSpPr/>
              <p:nvPr/>
            </p:nvCxnSpPr>
            <p:spPr>
              <a:xfrm>
                <a:off x="7031786" y="3144768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線接點 119"/>
              <p:cNvCxnSpPr/>
              <p:nvPr/>
            </p:nvCxnSpPr>
            <p:spPr>
              <a:xfrm>
                <a:off x="5185288" y="2832377"/>
                <a:ext cx="2070336" cy="5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線接點 120"/>
              <p:cNvCxnSpPr/>
              <p:nvPr/>
            </p:nvCxnSpPr>
            <p:spPr>
              <a:xfrm>
                <a:off x="7255624" y="2832885"/>
                <a:ext cx="0" cy="19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線接點 121"/>
              <p:cNvCxnSpPr/>
              <p:nvPr/>
            </p:nvCxnSpPr>
            <p:spPr>
              <a:xfrm>
                <a:off x="4788316" y="3587451"/>
                <a:ext cx="2070336" cy="25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接點 122"/>
              <p:cNvCxnSpPr/>
              <p:nvPr/>
            </p:nvCxnSpPr>
            <p:spPr>
              <a:xfrm flipV="1">
                <a:off x="6861542" y="2748278"/>
                <a:ext cx="600970" cy="83369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0" name="文字方塊 129"/>
            <p:cNvSpPr txBox="1"/>
            <p:nvPr/>
          </p:nvSpPr>
          <p:spPr>
            <a:xfrm>
              <a:off x="7833898" y="5613673"/>
              <a:ext cx="95250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[3][4]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32" name="直線單箭頭接點 131"/>
          <p:cNvCxnSpPr/>
          <p:nvPr/>
        </p:nvCxnSpPr>
        <p:spPr>
          <a:xfrm>
            <a:off x="582718" y="4239033"/>
            <a:ext cx="0" cy="720000"/>
          </a:xfrm>
          <a:prstGeom prst="straightConnector1">
            <a:avLst/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單箭頭接點 134"/>
          <p:cNvCxnSpPr/>
          <p:nvPr/>
        </p:nvCxnSpPr>
        <p:spPr>
          <a:xfrm flipH="1">
            <a:off x="591344" y="3373873"/>
            <a:ext cx="600970" cy="847908"/>
          </a:xfrm>
          <a:prstGeom prst="straightConnector1">
            <a:avLst/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單箭頭接點 136"/>
          <p:cNvCxnSpPr/>
          <p:nvPr/>
        </p:nvCxnSpPr>
        <p:spPr>
          <a:xfrm>
            <a:off x="1293912" y="3314219"/>
            <a:ext cx="2070336" cy="508"/>
          </a:xfrm>
          <a:prstGeom prst="straightConnector1">
            <a:avLst/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文字方塊 137"/>
          <p:cNvSpPr txBox="1"/>
          <p:nvPr/>
        </p:nvSpPr>
        <p:spPr>
          <a:xfrm>
            <a:off x="150198" y="439184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488706" y="346169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文字方塊 139"/>
          <p:cNvSpPr txBox="1"/>
          <p:nvPr/>
        </p:nvSpPr>
        <p:spPr>
          <a:xfrm>
            <a:off x="2081612" y="291804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83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三維陣列</a:t>
            </a:r>
            <a:r>
              <a:rPr lang="zh-TW" altLang="en-US" dirty="0" smtClean="0"/>
              <a:t>位址計算 </a:t>
            </a:r>
            <a:r>
              <a:rPr lang="en-US" altLang="zh-TW" dirty="0" smtClean="0"/>
              <a:t>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a</a:t>
            </a:r>
            <a:r>
              <a:rPr lang="en-US" altLang="zh-TW" dirty="0"/>
              <a:t>][</a:t>
            </a:r>
            <a:r>
              <a:rPr lang="en-US" altLang="zh-TW" i="1" dirty="0"/>
              <a:t>b</a:t>
            </a:r>
            <a:r>
              <a:rPr lang="en-US" altLang="zh-TW" dirty="0"/>
              <a:t>][</a:t>
            </a:r>
            <a:r>
              <a:rPr lang="en-US" altLang="zh-TW" i="1" dirty="0"/>
              <a:t>c</a:t>
            </a:r>
            <a:r>
              <a:rPr lang="en-US" altLang="zh-TW" dirty="0" smtClean="0"/>
              <a:t>]</a:t>
            </a:r>
            <a:r>
              <a:rPr lang="zh-TW" altLang="en-US" dirty="0" smtClean="0"/>
              <a:t>在</a:t>
            </a:r>
            <a:r>
              <a:rPr lang="zh-TW" altLang="en-US" dirty="0"/>
              <a:t>三維陣列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C</a:t>
            </a:r>
            <a:r>
              <a:rPr lang="en-US" altLang="zh-TW" baseline="-25000" dirty="0"/>
              <a:t>1</a:t>
            </a:r>
            <a:r>
              <a:rPr lang="en-US" altLang="zh-TW" dirty="0"/>
              <a:t>][</a:t>
            </a:r>
            <a:r>
              <a:rPr lang="en-US" altLang="zh-TW" i="1" dirty="0"/>
              <a:t>C</a:t>
            </a:r>
            <a:r>
              <a:rPr lang="en-US" altLang="zh-TW" baseline="-25000" dirty="0"/>
              <a:t>2</a:t>
            </a:r>
            <a:r>
              <a:rPr lang="en-US" altLang="zh-TW" dirty="0"/>
              <a:t>][</a:t>
            </a:r>
            <a:r>
              <a:rPr lang="en-US" altLang="zh-TW" i="1" dirty="0"/>
              <a:t>C</a:t>
            </a:r>
            <a:r>
              <a:rPr lang="en-US" altLang="zh-TW" baseline="-25000" dirty="0"/>
              <a:t>3</a:t>
            </a:r>
            <a:r>
              <a:rPr lang="en-US" altLang="zh-TW" dirty="0"/>
              <a:t>]</a:t>
            </a:r>
            <a:r>
              <a:rPr lang="zh-TW" altLang="en-US" dirty="0" smtClean="0"/>
              <a:t>的位址計算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在</a:t>
            </a:r>
            <a:r>
              <a:rPr lang="zh-TW" altLang="en-US" dirty="0"/>
              <a:t>它之上有</a:t>
            </a:r>
            <a:r>
              <a:rPr lang="zh-TW" altLang="en-US" dirty="0" smtClean="0"/>
              <a:t>整整</a:t>
            </a:r>
            <a:r>
              <a:rPr lang="en-US" altLang="zh-TW" i="1" dirty="0" smtClean="0">
                <a:solidFill>
                  <a:srgbClr val="C00000"/>
                </a:solidFill>
              </a:rPr>
              <a:t>a</a:t>
            </a:r>
            <a:r>
              <a:rPr lang="zh-TW" altLang="en-US" dirty="0" smtClean="0"/>
              <a:t>層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同</a:t>
            </a:r>
            <a:r>
              <a:rPr lang="zh-TW" altLang="en-US" dirty="0"/>
              <a:t>一層中在它之前有</a:t>
            </a:r>
            <a:r>
              <a:rPr lang="zh-TW" altLang="en-US" dirty="0" smtClean="0"/>
              <a:t>整整</a:t>
            </a:r>
            <a:r>
              <a:rPr lang="en-US" altLang="zh-TW" i="1" dirty="0" smtClean="0">
                <a:solidFill>
                  <a:srgbClr val="C00000"/>
                </a:solidFill>
              </a:rPr>
              <a:t>b</a:t>
            </a:r>
            <a:r>
              <a:rPr lang="zh-TW" altLang="en-US" dirty="0" smtClean="0"/>
              <a:t>列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而</a:t>
            </a:r>
            <a:r>
              <a:rPr lang="zh-TW" altLang="en-US" dirty="0"/>
              <a:t>同列中在它之前</a:t>
            </a:r>
            <a:r>
              <a:rPr lang="zh-TW" altLang="en-US" dirty="0" smtClean="0"/>
              <a:t>有</a:t>
            </a:r>
            <a:r>
              <a:rPr lang="en-US" altLang="zh-TW" i="1" dirty="0" smtClean="0">
                <a:solidFill>
                  <a:srgbClr val="C00000"/>
                </a:solidFill>
              </a:rPr>
              <a:t>c</a:t>
            </a:r>
            <a:r>
              <a:rPr lang="zh-TW" altLang="en-US" dirty="0" smtClean="0"/>
              <a:t>個元素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拉</a:t>
            </a:r>
            <a:r>
              <a:rPr lang="zh-TW" altLang="en-US" dirty="0"/>
              <a:t>成線性相當於距離</a:t>
            </a:r>
            <a:r>
              <a:rPr lang="en-US" altLang="zh-TW" i="1" dirty="0"/>
              <a:t>A</a:t>
            </a:r>
            <a:r>
              <a:rPr lang="en-US" altLang="zh-TW" dirty="0"/>
              <a:t>[0][0][0</a:t>
            </a:r>
            <a:r>
              <a:rPr lang="en-US" altLang="zh-TW" dirty="0" smtClean="0"/>
              <a:t>]</a:t>
            </a:r>
            <a:r>
              <a:rPr lang="zh-TW" altLang="en-US" dirty="0" smtClean="0"/>
              <a:t>：</a:t>
            </a:r>
            <a:r>
              <a:rPr lang="en-US" altLang="zh-TW" i="1" dirty="0" smtClean="0">
                <a:solidFill>
                  <a:srgbClr val="C00000"/>
                </a:solidFill>
              </a:rPr>
              <a:t>a</a:t>
            </a:r>
            <a:r>
              <a:rPr lang="en-US" altLang="zh-TW" dirty="0" smtClean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</a:rPr>
              <a:t>× </a:t>
            </a:r>
            <a:r>
              <a:rPr lang="en-US" altLang="zh-TW" i="1" dirty="0">
                <a:solidFill>
                  <a:srgbClr val="C00000"/>
                </a:solidFill>
              </a:rPr>
              <a:t>C</a:t>
            </a:r>
            <a:r>
              <a:rPr lang="en-US" altLang="zh-TW" baseline="-25000" dirty="0">
                <a:solidFill>
                  <a:srgbClr val="C00000"/>
                </a:solidFill>
              </a:rPr>
              <a:t>2</a:t>
            </a:r>
            <a:r>
              <a:rPr lang="en-US" altLang="zh-TW" dirty="0">
                <a:solidFill>
                  <a:srgbClr val="C00000"/>
                </a:solidFill>
              </a:rPr>
              <a:t> × </a:t>
            </a:r>
            <a:r>
              <a:rPr lang="en-US" altLang="zh-TW" i="1" dirty="0">
                <a:solidFill>
                  <a:srgbClr val="C00000"/>
                </a:solidFill>
              </a:rPr>
              <a:t>C</a:t>
            </a:r>
            <a:r>
              <a:rPr lang="en-US" altLang="zh-TW" baseline="-25000" dirty="0">
                <a:solidFill>
                  <a:srgbClr val="C00000"/>
                </a:solidFill>
              </a:rPr>
              <a:t>3</a:t>
            </a:r>
            <a:r>
              <a:rPr lang="en-US" altLang="zh-TW" dirty="0">
                <a:solidFill>
                  <a:srgbClr val="C00000"/>
                </a:solidFill>
              </a:rPr>
              <a:t> </a:t>
            </a:r>
            <a:r>
              <a:rPr lang="en-US" altLang="zh-TW" dirty="0" smtClean="0">
                <a:solidFill>
                  <a:srgbClr val="C00000"/>
                </a:solidFill>
              </a:rPr>
              <a:t>+ </a:t>
            </a:r>
            <a:r>
              <a:rPr lang="en-US" altLang="zh-TW" i="1" dirty="0">
                <a:solidFill>
                  <a:srgbClr val="C00000"/>
                </a:solidFill>
              </a:rPr>
              <a:t>b</a:t>
            </a:r>
            <a:r>
              <a:rPr lang="en-US" altLang="zh-TW" dirty="0">
                <a:solidFill>
                  <a:srgbClr val="C00000"/>
                </a:solidFill>
              </a:rPr>
              <a:t> × </a:t>
            </a:r>
            <a:r>
              <a:rPr lang="en-US" altLang="zh-TW" i="1" dirty="0">
                <a:solidFill>
                  <a:srgbClr val="C00000"/>
                </a:solidFill>
              </a:rPr>
              <a:t>C</a:t>
            </a:r>
            <a:r>
              <a:rPr lang="en-US" altLang="zh-TW" baseline="-25000" dirty="0">
                <a:solidFill>
                  <a:srgbClr val="C00000"/>
                </a:solidFill>
              </a:rPr>
              <a:t>3</a:t>
            </a:r>
            <a:r>
              <a:rPr lang="en-US" altLang="zh-TW" dirty="0">
                <a:solidFill>
                  <a:srgbClr val="C00000"/>
                </a:solidFill>
              </a:rPr>
              <a:t> </a:t>
            </a:r>
            <a:r>
              <a:rPr lang="en-US" altLang="zh-TW" dirty="0" smtClean="0">
                <a:solidFill>
                  <a:srgbClr val="C00000"/>
                </a:solidFill>
              </a:rPr>
              <a:t>+ c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zh-TW" altLang="en-US" dirty="0"/>
              <a:t>個元素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17" name="群組 16"/>
          <p:cNvGrpSpPr/>
          <p:nvPr/>
        </p:nvGrpSpPr>
        <p:grpSpPr>
          <a:xfrm>
            <a:off x="2188951" y="3930051"/>
            <a:ext cx="4360653" cy="1677120"/>
            <a:chOff x="2188951" y="3930051"/>
            <a:chExt cx="4360653" cy="1677120"/>
          </a:xfrm>
        </p:grpSpPr>
        <p:sp>
          <p:nvSpPr>
            <p:cNvPr id="7" name="Text Box 56"/>
            <p:cNvSpPr txBox="1">
              <a:spLocks noChangeArrowheads="1"/>
            </p:cNvSpPr>
            <p:nvPr/>
          </p:nvSpPr>
          <p:spPr bwMode="auto">
            <a:xfrm>
              <a:off x="2188951" y="3930051"/>
              <a:ext cx="4360653" cy="16771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TW" altLang="en-US" sz="2000" b="1" dirty="0">
                  <a:cs typeface="Times New Roman" panose="02020603050405020304" pitchFamily="18" charset="0"/>
                </a:rPr>
                <a:t>  </a:t>
              </a:r>
              <a:r>
                <a:rPr kumimoji="0" lang="en-US" altLang="zh-TW" sz="2000" b="1" i="1" dirty="0">
                  <a:cs typeface="Times New Roman" panose="02020603050405020304" pitchFamily="18" charset="0"/>
                </a:rPr>
                <a:t>C</a:t>
              </a:r>
              <a:r>
                <a:rPr kumimoji="0" lang="en-US" altLang="zh-TW" sz="2000" b="1" baseline="-25000" dirty="0">
                  <a:cs typeface="Times New Roman" panose="02020603050405020304" pitchFamily="18" charset="0"/>
                </a:rPr>
                <a:t>1</a:t>
              </a:r>
              <a:r>
                <a:rPr kumimoji="0" lang="en-US" altLang="zh-TW" sz="2000" b="1" dirty="0">
                  <a:cs typeface="Times New Roman" panose="02020603050405020304" pitchFamily="18" charset="0"/>
                </a:rPr>
                <a:t>       	</a:t>
              </a:r>
              <a:r>
                <a:rPr kumimoji="0" lang="zh-TW" altLang="en-US" sz="2000" b="1" dirty="0" smtClean="0">
                  <a:cs typeface="Times New Roman" panose="02020603050405020304" pitchFamily="18" charset="0"/>
                </a:rPr>
                <a:t>             </a:t>
              </a:r>
              <a:r>
                <a:rPr kumimoji="0" lang="en-US" altLang="zh-TW" sz="2000" b="1" i="1" dirty="0" smtClean="0">
                  <a:cs typeface="Times New Roman" panose="02020603050405020304" pitchFamily="18" charset="0"/>
                </a:rPr>
                <a:t>C</a:t>
              </a:r>
              <a:r>
                <a:rPr kumimoji="0" lang="en-US" altLang="zh-TW" sz="2000" b="1" baseline="-25000" dirty="0" smtClean="0">
                  <a:cs typeface="Times New Roman" panose="02020603050405020304" pitchFamily="18" charset="0"/>
                </a:rPr>
                <a:t>2</a:t>
              </a:r>
              <a:r>
                <a:rPr kumimoji="0" lang="en-US" altLang="zh-TW" sz="2000" b="1" dirty="0" smtClean="0">
                  <a:cs typeface="Times New Roman" panose="02020603050405020304" pitchFamily="18" charset="0"/>
                </a:rPr>
                <a:t>       </a:t>
              </a:r>
              <a:r>
                <a:rPr kumimoji="0" lang="en-US" altLang="zh-TW" sz="2000" b="1" dirty="0">
                  <a:cs typeface="Times New Roman" panose="02020603050405020304" pitchFamily="18" charset="0"/>
                </a:rPr>
                <a:t>	</a:t>
              </a:r>
              <a:r>
                <a:rPr kumimoji="0" lang="zh-TW" altLang="en-US" sz="2000" b="1" dirty="0" smtClean="0">
                  <a:cs typeface="Times New Roman" panose="02020603050405020304" pitchFamily="18" charset="0"/>
                </a:rPr>
                <a:t>        </a:t>
              </a:r>
              <a:r>
                <a:rPr kumimoji="0" lang="en-US" altLang="zh-TW" sz="2000" b="1" dirty="0">
                  <a:cs typeface="Times New Roman" panose="02020603050405020304" pitchFamily="18" charset="0"/>
                </a:rPr>
                <a:t>	</a:t>
              </a:r>
              <a:r>
                <a:rPr kumimoji="0" lang="en-US" altLang="zh-TW" sz="2000" b="1" i="1" dirty="0">
                  <a:cs typeface="Times New Roman" panose="02020603050405020304" pitchFamily="18" charset="0"/>
                </a:rPr>
                <a:t>C</a:t>
              </a:r>
              <a:r>
                <a:rPr kumimoji="0" lang="en-US" altLang="zh-TW" sz="2000" b="1" baseline="-25000" dirty="0">
                  <a:cs typeface="Times New Roman" panose="02020603050405020304" pitchFamily="18" charset="0"/>
                </a:rPr>
                <a:t>3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kumimoji="0" lang="en-US" altLang="zh-TW" sz="2000" b="1" dirty="0">
                <a:cs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TW" sz="2000" b="1" dirty="0">
                  <a:cs typeface="Times New Roman" panose="02020603050405020304" pitchFamily="18" charset="0"/>
                </a:rPr>
                <a:t>  </a:t>
              </a:r>
              <a:r>
                <a:rPr kumimoji="0" lang="en-US" altLang="zh-TW" sz="2000" b="1" i="1" dirty="0">
                  <a:cs typeface="Times New Roman" panose="02020603050405020304" pitchFamily="18" charset="0"/>
                </a:rPr>
                <a:t>a</a:t>
              </a:r>
              <a:r>
                <a:rPr kumimoji="0" lang="en-US" altLang="zh-TW" sz="2000" b="1" dirty="0">
                  <a:cs typeface="Times New Roman" panose="02020603050405020304" pitchFamily="18" charset="0"/>
                </a:rPr>
                <a:t>         	</a:t>
              </a:r>
              <a:r>
                <a:rPr kumimoji="0" lang="zh-TW" altLang="en-US" sz="2000" b="1" dirty="0" smtClean="0">
                  <a:cs typeface="Times New Roman" panose="02020603050405020304" pitchFamily="18" charset="0"/>
                </a:rPr>
                <a:t>              </a:t>
              </a:r>
              <a:r>
                <a:rPr kumimoji="0" lang="en-US" altLang="zh-TW" sz="2000" b="1" i="1" dirty="0" smtClean="0">
                  <a:cs typeface="Times New Roman" panose="02020603050405020304" pitchFamily="18" charset="0"/>
                </a:rPr>
                <a:t>b</a:t>
              </a:r>
              <a:r>
                <a:rPr kumimoji="0" lang="en-US" altLang="zh-TW" sz="2000" b="1" dirty="0" smtClean="0">
                  <a:cs typeface="Times New Roman" panose="02020603050405020304" pitchFamily="18" charset="0"/>
                </a:rPr>
                <a:t>        </a:t>
              </a:r>
              <a:r>
                <a:rPr kumimoji="0" lang="en-US" altLang="zh-TW" sz="2000" b="1" dirty="0">
                  <a:cs typeface="Times New Roman" panose="02020603050405020304" pitchFamily="18" charset="0"/>
                </a:rPr>
                <a:t>		</a:t>
              </a:r>
              <a:r>
                <a:rPr kumimoji="0" lang="zh-TW" altLang="en-US" sz="2000" b="1" dirty="0" smtClean="0">
                  <a:cs typeface="Times New Roman" panose="02020603050405020304" pitchFamily="18" charset="0"/>
                </a:rPr>
                <a:t> </a:t>
              </a:r>
              <a:r>
                <a:rPr kumimoji="0" lang="en-US" altLang="zh-TW" sz="2000" b="1" i="1" dirty="0" smtClean="0">
                  <a:cs typeface="Times New Roman" panose="02020603050405020304" pitchFamily="18" charset="0"/>
                </a:rPr>
                <a:t>c</a:t>
              </a:r>
              <a:endParaRPr kumimoji="0" lang="en-US" altLang="zh-TW" sz="2000" b="1" i="1" dirty="0">
                <a:cs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TW" altLang="en-US" sz="2000" b="1" dirty="0" smtClean="0">
                  <a:cs typeface="Times New Roman" panose="02020603050405020304" pitchFamily="18" charset="0"/>
                </a:rPr>
                <a:t>            </a:t>
              </a:r>
              <a:r>
                <a:rPr kumimoji="0" lang="en-US" altLang="zh-TW" sz="2000" b="1" dirty="0" smtClean="0">
                  <a:cs typeface="Times New Roman" panose="02020603050405020304" pitchFamily="18" charset="0"/>
                </a:rPr>
                <a:t> </a:t>
              </a:r>
              <a:r>
                <a:rPr kumimoji="0" lang="en-US" altLang="zh-TW" sz="2000" b="1" dirty="0">
                  <a:cs typeface="Times New Roman" panose="02020603050405020304" pitchFamily="18" charset="0"/>
                </a:rPr>
                <a:t>((</a:t>
              </a:r>
              <a:r>
                <a:rPr kumimoji="0" lang="en-US" altLang="zh-TW" sz="2000" b="1" i="1" dirty="0">
                  <a:cs typeface="Times New Roman" panose="02020603050405020304" pitchFamily="18" charset="0"/>
                </a:rPr>
                <a:t>a</a:t>
              </a:r>
              <a:r>
                <a:rPr kumimoji="0" lang="en-US" altLang="zh-TW" sz="2000" b="1" dirty="0">
                  <a:cs typeface="Times New Roman" panose="02020603050405020304" pitchFamily="18" charset="0"/>
                </a:rPr>
                <a:t> </a:t>
              </a:r>
              <a:r>
                <a:rPr kumimoji="0" lang="en-US" altLang="zh-TW" sz="2000" b="1" dirty="0" smtClean="0">
                  <a:cs typeface="Times New Roman" panose="02020603050405020304" pitchFamily="18" charset="0"/>
                </a:rPr>
                <a:t>×</a:t>
              </a:r>
              <a:r>
                <a:rPr kumimoji="0" lang="zh-TW" altLang="en-US" sz="2000" b="1" dirty="0" smtClean="0">
                  <a:cs typeface="Times New Roman" panose="02020603050405020304" pitchFamily="18" charset="0"/>
                </a:rPr>
                <a:t> </a:t>
              </a:r>
              <a:r>
                <a:rPr kumimoji="0" lang="en-US" altLang="zh-TW" sz="2000" b="1" i="1" dirty="0" smtClean="0">
                  <a:cs typeface="Times New Roman" panose="02020603050405020304" pitchFamily="18" charset="0"/>
                </a:rPr>
                <a:t>C</a:t>
              </a:r>
              <a:r>
                <a:rPr kumimoji="0" lang="en-US" altLang="zh-TW" sz="2000" b="1" baseline="-25000" dirty="0" smtClean="0">
                  <a:cs typeface="Times New Roman" panose="02020603050405020304" pitchFamily="18" charset="0"/>
                </a:rPr>
                <a:t>2</a:t>
              </a:r>
              <a:r>
                <a:rPr kumimoji="0" lang="en-US" altLang="zh-TW" sz="2000" b="1" dirty="0">
                  <a:cs typeface="Times New Roman" panose="02020603050405020304" pitchFamily="18" charset="0"/>
                </a:rPr>
                <a:t>) + </a:t>
              </a:r>
              <a:r>
                <a:rPr kumimoji="0" lang="en-US" altLang="zh-TW" sz="2000" b="1" i="1" dirty="0">
                  <a:cs typeface="Times New Roman" panose="02020603050405020304" pitchFamily="18" charset="0"/>
                </a:rPr>
                <a:t>b</a:t>
              </a:r>
              <a:r>
                <a:rPr kumimoji="0" lang="en-US" altLang="zh-TW" sz="2000" b="1" dirty="0">
                  <a:cs typeface="Times New Roman" panose="02020603050405020304" pitchFamily="18" charset="0"/>
                </a:rPr>
                <a:t>) </a:t>
              </a:r>
              <a:r>
                <a:rPr kumimoji="0" lang="en-US" altLang="zh-TW" sz="2000" b="1" dirty="0" smtClean="0">
                  <a:cs typeface="Times New Roman" panose="02020603050405020304" pitchFamily="18" charset="0"/>
                </a:rPr>
                <a:t>×</a:t>
              </a:r>
              <a:r>
                <a:rPr kumimoji="0" lang="zh-TW" altLang="en-US" sz="2000" b="1" dirty="0" smtClean="0">
                  <a:cs typeface="Times New Roman" panose="02020603050405020304" pitchFamily="18" charset="0"/>
                </a:rPr>
                <a:t> </a:t>
              </a:r>
              <a:r>
                <a:rPr kumimoji="0" lang="en-US" altLang="zh-TW" sz="2000" b="1" i="1" dirty="0" smtClean="0">
                  <a:cs typeface="Times New Roman" panose="02020603050405020304" pitchFamily="18" charset="0"/>
                </a:rPr>
                <a:t>C</a:t>
              </a:r>
              <a:r>
                <a:rPr kumimoji="0" lang="en-US" altLang="zh-TW" sz="2000" b="1" baseline="-25000" dirty="0" smtClean="0">
                  <a:cs typeface="Times New Roman" panose="02020603050405020304" pitchFamily="18" charset="0"/>
                </a:rPr>
                <a:t>3</a:t>
              </a:r>
              <a:r>
                <a:rPr kumimoji="0" lang="en-US" altLang="zh-TW" sz="2000" b="1" dirty="0">
                  <a:cs typeface="Times New Roman" panose="02020603050405020304" pitchFamily="18" charset="0"/>
                </a:rPr>
                <a:t>) + </a:t>
              </a:r>
              <a:r>
                <a:rPr kumimoji="0" lang="en-US" altLang="zh-TW" sz="2000" b="1" i="1" dirty="0">
                  <a:cs typeface="Times New Roman" panose="02020603050405020304" pitchFamily="18" charset="0"/>
                </a:rPr>
                <a:t>c</a:t>
              </a:r>
              <a:r>
                <a:rPr kumimoji="0" lang="en-US" altLang="zh-TW" sz="2000" b="1" dirty="0">
                  <a:cs typeface="Times New Roman" panose="02020603050405020304" pitchFamily="18" charset="0"/>
                </a:rPr>
                <a:t> </a:t>
              </a:r>
              <a:endParaRPr kumimoji="0" lang="en-US" altLang="zh-TW" sz="2000" b="1" dirty="0" smtClean="0">
                <a:cs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TW" altLang="en-US" sz="2000" b="1" dirty="0" smtClean="0">
                  <a:cs typeface="Times New Roman" panose="02020603050405020304" pitchFamily="18" charset="0"/>
                </a:rPr>
                <a:t>          </a:t>
              </a:r>
              <a:r>
                <a:rPr kumimoji="0" lang="en-US" altLang="zh-TW" sz="2000" b="1" dirty="0" smtClean="0">
                  <a:cs typeface="Times New Roman" panose="02020603050405020304" pitchFamily="18" charset="0"/>
                </a:rPr>
                <a:t>= </a:t>
              </a:r>
              <a:r>
                <a:rPr kumimoji="0" lang="en-US" altLang="zh-TW" sz="2000" b="1" i="1" dirty="0">
                  <a:cs typeface="Times New Roman" panose="02020603050405020304" pitchFamily="18" charset="0"/>
                </a:rPr>
                <a:t>a</a:t>
              </a:r>
              <a:r>
                <a:rPr kumimoji="0" lang="en-US" altLang="zh-TW" sz="2000" b="1" dirty="0">
                  <a:cs typeface="Times New Roman" panose="02020603050405020304" pitchFamily="18" charset="0"/>
                </a:rPr>
                <a:t> × </a:t>
              </a:r>
              <a:r>
                <a:rPr kumimoji="0" lang="en-US" altLang="zh-TW" sz="2000" b="1" i="1" dirty="0" smtClean="0">
                  <a:cs typeface="Times New Roman" panose="02020603050405020304" pitchFamily="18" charset="0"/>
                </a:rPr>
                <a:t>C</a:t>
              </a:r>
              <a:r>
                <a:rPr kumimoji="0" lang="en-US" altLang="zh-TW" sz="2000" b="1" baseline="-25000" dirty="0" smtClean="0">
                  <a:cs typeface="Times New Roman" panose="02020603050405020304" pitchFamily="18" charset="0"/>
                </a:rPr>
                <a:t>2</a:t>
              </a:r>
              <a:r>
                <a:rPr kumimoji="0" lang="zh-TW" altLang="en-US" sz="2000" b="1" baseline="-25000" dirty="0" smtClean="0">
                  <a:cs typeface="Times New Roman" panose="02020603050405020304" pitchFamily="18" charset="0"/>
                </a:rPr>
                <a:t> </a:t>
              </a:r>
              <a:r>
                <a:rPr kumimoji="0" lang="en-US" altLang="zh-TW" sz="2000" b="1" dirty="0" smtClean="0">
                  <a:cs typeface="Times New Roman" panose="02020603050405020304" pitchFamily="18" charset="0"/>
                </a:rPr>
                <a:t>× </a:t>
              </a:r>
              <a:r>
                <a:rPr kumimoji="0" lang="en-US" altLang="zh-TW" sz="2000" b="1" i="1" dirty="0" smtClean="0">
                  <a:cs typeface="Times New Roman" panose="02020603050405020304" pitchFamily="18" charset="0"/>
                </a:rPr>
                <a:t>C</a:t>
              </a:r>
              <a:r>
                <a:rPr kumimoji="0" lang="en-US" altLang="zh-TW" sz="2000" b="1" baseline="-25000" dirty="0" smtClean="0">
                  <a:cs typeface="Times New Roman" panose="02020603050405020304" pitchFamily="18" charset="0"/>
                </a:rPr>
                <a:t>3</a:t>
              </a:r>
              <a:r>
                <a:rPr kumimoji="0" lang="zh-TW" altLang="en-US" sz="2000" b="1" baseline="-25000" dirty="0" smtClean="0">
                  <a:cs typeface="Times New Roman" panose="02020603050405020304" pitchFamily="18" charset="0"/>
                </a:rPr>
                <a:t> </a:t>
              </a:r>
              <a:r>
                <a:rPr kumimoji="0" lang="en-US" altLang="zh-TW" sz="2000" b="1" dirty="0" smtClean="0">
                  <a:cs typeface="Times New Roman" panose="02020603050405020304" pitchFamily="18" charset="0"/>
                </a:rPr>
                <a:t>+</a:t>
              </a:r>
              <a:r>
                <a:rPr kumimoji="0" lang="zh-TW" altLang="en-US" sz="2000" b="1" baseline="-25000" dirty="0" smtClean="0">
                  <a:cs typeface="Times New Roman" panose="02020603050405020304" pitchFamily="18" charset="0"/>
                </a:rPr>
                <a:t> </a:t>
              </a:r>
              <a:r>
                <a:rPr kumimoji="0" lang="en-US" altLang="zh-TW" sz="2000" b="1" i="1" dirty="0" smtClean="0">
                  <a:cs typeface="Times New Roman" panose="02020603050405020304" pitchFamily="18" charset="0"/>
                </a:rPr>
                <a:t>b</a:t>
              </a:r>
              <a:r>
                <a:rPr kumimoji="0" lang="en-US" altLang="zh-TW" sz="2000" b="1" dirty="0" smtClean="0">
                  <a:cs typeface="Times New Roman" panose="02020603050405020304" pitchFamily="18" charset="0"/>
                </a:rPr>
                <a:t> </a:t>
              </a:r>
              <a:r>
                <a:rPr kumimoji="0" lang="en-US" altLang="zh-TW" sz="2000" b="1" dirty="0">
                  <a:cs typeface="Times New Roman" panose="02020603050405020304" pitchFamily="18" charset="0"/>
                </a:rPr>
                <a:t>× </a:t>
              </a:r>
              <a:r>
                <a:rPr kumimoji="0" lang="en-US" altLang="zh-TW" sz="2000" b="1" i="1" dirty="0">
                  <a:cs typeface="Times New Roman" panose="02020603050405020304" pitchFamily="18" charset="0"/>
                </a:rPr>
                <a:t>C</a:t>
              </a:r>
              <a:r>
                <a:rPr kumimoji="0" lang="en-US" altLang="zh-TW" sz="2000" b="1" baseline="-25000" dirty="0">
                  <a:cs typeface="Times New Roman" panose="02020603050405020304" pitchFamily="18" charset="0"/>
                </a:rPr>
                <a:t>3</a:t>
              </a:r>
              <a:r>
                <a:rPr kumimoji="0" lang="en-US" altLang="zh-TW" sz="2000" b="1" dirty="0">
                  <a:cs typeface="Times New Roman" panose="02020603050405020304" pitchFamily="18" charset="0"/>
                </a:rPr>
                <a:t> </a:t>
              </a:r>
              <a:r>
                <a:rPr kumimoji="0" lang="en-US" altLang="zh-TW" sz="2000" b="1" dirty="0" smtClean="0">
                  <a:cs typeface="Times New Roman" panose="02020603050405020304" pitchFamily="18" charset="0"/>
                </a:rPr>
                <a:t>+</a:t>
              </a:r>
              <a:r>
                <a:rPr kumimoji="0" lang="zh-TW" altLang="en-US" sz="2000" b="1" dirty="0" smtClean="0">
                  <a:cs typeface="Times New Roman" panose="02020603050405020304" pitchFamily="18" charset="0"/>
                </a:rPr>
                <a:t> </a:t>
              </a:r>
              <a:r>
                <a:rPr kumimoji="0" lang="en-US" altLang="zh-TW" sz="2000" b="1" i="1" dirty="0" smtClean="0">
                  <a:cs typeface="Times New Roman" panose="02020603050405020304" pitchFamily="18" charset="0"/>
                </a:rPr>
                <a:t>c</a:t>
              </a:r>
              <a:endParaRPr kumimoji="0" lang="en-US" altLang="zh-TW" sz="2000" b="1" i="1" dirty="0">
                <a:cs typeface="Times New Roman" panose="02020603050405020304" pitchFamily="18" charset="0"/>
              </a:endParaRPr>
            </a:p>
          </p:txBody>
        </p:sp>
        <p:sp>
          <p:nvSpPr>
            <p:cNvPr id="8" name="Line 57"/>
            <p:cNvSpPr>
              <a:spLocks noChangeShapeType="1"/>
            </p:cNvSpPr>
            <p:nvPr/>
          </p:nvSpPr>
          <p:spPr bwMode="auto">
            <a:xfrm flipV="1">
              <a:off x="2531851" y="4234851"/>
              <a:ext cx="1562100" cy="4191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Line 58"/>
            <p:cNvSpPr>
              <a:spLocks noChangeShapeType="1"/>
            </p:cNvSpPr>
            <p:nvPr/>
          </p:nvSpPr>
          <p:spPr bwMode="auto">
            <a:xfrm>
              <a:off x="4170151" y="4277981"/>
              <a:ext cx="0" cy="342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Line 59"/>
            <p:cNvSpPr>
              <a:spLocks noChangeShapeType="1"/>
            </p:cNvSpPr>
            <p:nvPr/>
          </p:nvSpPr>
          <p:spPr bwMode="auto">
            <a:xfrm flipV="1">
              <a:off x="4398751" y="4234851"/>
              <a:ext cx="1600200" cy="4191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Line 60"/>
            <p:cNvSpPr>
              <a:spLocks noChangeShapeType="1"/>
            </p:cNvSpPr>
            <p:nvPr/>
          </p:nvSpPr>
          <p:spPr bwMode="auto">
            <a:xfrm>
              <a:off x="6067959" y="4319677"/>
              <a:ext cx="0" cy="342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Line 61"/>
            <p:cNvSpPr>
              <a:spLocks noChangeShapeType="1"/>
            </p:cNvSpPr>
            <p:nvPr/>
          </p:nvSpPr>
          <p:spPr bwMode="auto">
            <a:xfrm>
              <a:off x="2265151" y="4903399"/>
              <a:ext cx="41760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 Box 62"/>
            <p:cNvSpPr txBox="1">
              <a:spLocks noChangeArrowheads="1"/>
            </p:cNvSpPr>
            <p:nvPr/>
          </p:nvSpPr>
          <p:spPr bwMode="auto">
            <a:xfrm>
              <a:off x="3044044" y="4159010"/>
              <a:ext cx="342900" cy="342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TW" altLang="en-US" sz="2000" b="1" dirty="0" smtClean="0"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</a:t>
              </a:r>
              <a:endParaRPr kumimoji="0" lang="zh-TW" altLang="en-US" sz="2000" b="1" dirty="0"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4" name="Text Box 63"/>
            <p:cNvSpPr txBox="1">
              <a:spLocks noChangeArrowheads="1"/>
            </p:cNvSpPr>
            <p:nvPr/>
          </p:nvSpPr>
          <p:spPr bwMode="auto">
            <a:xfrm>
              <a:off x="4958029" y="4141399"/>
              <a:ext cx="342900" cy="342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TW" altLang="en-US" sz="2000" b="1" dirty="0" smtClean="0">
                  <a:cs typeface="Times New Roman" panose="02020603050405020304" pitchFamily="18" charset="0"/>
                  <a:sym typeface="Symbol"/>
                </a:rPr>
                <a:t></a:t>
              </a:r>
              <a:endParaRPr kumimoji="0" lang="zh-TW" altLang="en-US" sz="2000" b="1" dirty="0">
                <a:cs typeface="Times New Roman" panose="02020603050405020304" pitchFamily="18" charset="0"/>
              </a:endParaRPr>
            </a:p>
          </p:txBody>
        </p:sp>
        <p:sp>
          <p:nvSpPr>
            <p:cNvPr id="15" name="Text Box 64"/>
            <p:cNvSpPr txBox="1">
              <a:spLocks noChangeArrowheads="1"/>
            </p:cNvSpPr>
            <p:nvPr/>
          </p:nvSpPr>
          <p:spPr bwMode="auto">
            <a:xfrm>
              <a:off x="4134213" y="4243477"/>
              <a:ext cx="342900" cy="342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TW" altLang="en-US" sz="2000" b="1" dirty="0"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6" name="Text Box 65"/>
            <p:cNvSpPr txBox="1">
              <a:spLocks noChangeArrowheads="1"/>
            </p:cNvSpPr>
            <p:nvPr/>
          </p:nvSpPr>
          <p:spPr bwMode="auto">
            <a:xfrm>
              <a:off x="6055031" y="4250669"/>
              <a:ext cx="342900" cy="342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TW" altLang="en-US" sz="2000" b="1" dirty="0">
                  <a:cs typeface="Times New Roman" panose="02020603050405020304" pitchFamily="18" charset="0"/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796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三維陣列</a:t>
            </a:r>
            <a:r>
              <a:rPr lang="zh-TW" altLang="en-US" dirty="0" smtClean="0"/>
              <a:t>位址計算 </a:t>
            </a:r>
            <a:r>
              <a:rPr lang="en-US" altLang="zh-TW" dirty="0" smtClean="0"/>
              <a:t>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若已知三維陣列</a:t>
            </a:r>
            <a:r>
              <a:rPr lang="en-US" altLang="zh-TW" dirty="0" err="1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srgbClr val="0000FF"/>
                </a:solidFill>
              </a:rPr>
              <a:t> </a:t>
            </a:r>
            <a:r>
              <a:rPr lang="en-US" altLang="zh-TW" i="1" dirty="0">
                <a:solidFill>
                  <a:srgbClr val="0000FF"/>
                </a:solidFill>
              </a:rPr>
              <a:t>A</a:t>
            </a:r>
            <a:r>
              <a:rPr lang="en-US" altLang="zh-TW" dirty="0">
                <a:solidFill>
                  <a:srgbClr val="0000FF"/>
                </a:solidFill>
              </a:rPr>
              <a:t>[8][10][5]</a:t>
            </a:r>
            <a:r>
              <a:rPr lang="zh-TW" altLang="en-US" dirty="0">
                <a:solidFill>
                  <a:srgbClr val="0000FF"/>
                </a:solidFill>
              </a:rPr>
              <a:t>在記憶體中的起始位址為</a:t>
            </a:r>
            <a:r>
              <a:rPr lang="en-US" altLang="zh-TW" dirty="0">
                <a:solidFill>
                  <a:srgbClr val="0000FF"/>
                </a:solidFill>
              </a:rPr>
              <a:t>03C4</a:t>
            </a:r>
            <a:r>
              <a:rPr lang="en-US" altLang="zh-TW" baseline="-30000" dirty="0">
                <a:solidFill>
                  <a:srgbClr val="0000FF"/>
                </a:solidFill>
              </a:rPr>
              <a:t>16</a:t>
            </a:r>
            <a:r>
              <a:rPr lang="zh-TW" altLang="en-US" dirty="0">
                <a:solidFill>
                  <a:srgbClr val="0000FF"/>
                </a:solidFill>
              </a:rPr>
              <a:t>，且假設每個</a:t>
            </a:r>
            <a:r>
              <a:rPr lang="zh-TW" altLang="en-US" dirty="0" smtClean="0">
                <a:solidFill>
                  <a:srgbClr val="0000FF"/>
                </a:solidFill>
              </a:rPr>
              <a:t>整數</a:t>
            </a:r>
            <a:r>
              <a:rPr lang="en-US" altLang="zh-TW" dirty="0" smtClean="0">
                <a:solidFill>
                  <a:srgbClr val="0000FF"/>
                </a:solidFill>
              </a:rPr>
              <a:t>(</a:t>
            </a:r>
            <a:r>
              <a:rPr lang="en-US" altLang="zh-TW" dirty="0" err="1" smtClean="0">
                <a:solidFill>
                  <a:srgbClr val="0000FF"/>
                </a:solidFill>
              </a:rPr>
              <a:t>int</a:t>
            </a:r>
            <a:r>
              <a:rPr lang="en-US" altLang="zh-TW" dirty="0" smtClean="0">
                <a:solidFill>
                  <a:srgbClr val="0000FF"/>
                </a:solidFill>
              </a:rPr>
              <a:t>)</a:t>
            </a:r>
            <a:r>
              <a:rPr lang="zh-TW" altLang="en-US" dirty="0" smtClean="0">
                <a:solidFill>
                  <a:srgbClr val="0000FF"/>
                </a:solidFill>
              </a:rPr>
              <a:t>的</a:t>
            </a:r>
            <a:r>
              <a:rPr lang="zh-TW" altLang="en-US" dirty="0">
                <a:solidFill>
                  <a:srgbClr val="0000FF"/>
                </a:solidFill>
              </a:rPr>
              <a:t>大小為 </a:t>
            </a:r>
            <a:r>
              <a:rPr lang="en-US" altLang="zh-TW" dirty="0">
                <a:solidFill>
                  <a:srgbClr val="0000FF"/>
                </a:solidFill>
              </a:rPr>
              <a:t>2</a:t>
            </a:r>
            <a:r>
              <a:rPr lang="zh-TW" altLang="en-US" dirty="0">
                <a:solidFill>
                  <a:srgbClr val="0000FF"/>
                </a:solidFill>
              </a:rPr>
              <a:t>，則元素</a:t>
            </a:r>
            <a:r>
              <a:rPr lang="en-US" altLang="zh-TW" i="1" dirty="0">
                <a:solidFill>
                  <a:srgbClr val="0000FF"/>
                </a:solidFill>
              </a:rPr>
              <a:t>A</a:t>
            </a:r>
            <a:r>
              <a:rPr lang="en-US" altLang="zh-TW" dirty="0">
                <a:solidFill>
                  <a:srgbClr val="0000FF"/>
                </a:solidFill>
              </a:rPr>
              <a:t>[3][8][4] </a:t>
            </a:r>
            <a:r>
              <a:rPr lang="zh-TW" altLang="en-US" dirty="0">
                <a:solidFill>
                  <a:srgbClr val="0000FF"/>
                </a:solidFill>
              </a:rPr>
              <a:t>的位址為何</a:t>
            </a:r>
            <a:r>
              <a:rPr lang="zh-TW" altLang="en-US" dirty="0" smtClean="0">
                <a:solidFill>
                  <a:srgbClr val="0000FF"/>
                </a:solidFill>
              </a:rPr>
              <a:t>？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</a:pPr>
            <a:endParaRPr lang="en-US" altLang="zh-TW" dirty="0" smtClean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</a:pPr>
            <a:r>
              <a:rPr lang="en-US" altLang="zh-TW" dirty="0" smtClean="0">
                <a:solidFill>
                  <a:srgbClr val="C00000"/>
                </a:solidFill>
              </a:rPr>
              <a:t>A[3][8][4]</a:t>
            </a:r>
            <a:r>
              <a:rPr lang="zh-TW" altLang="en-US" dirty="0" smtClean="0">
                <a:solidFill>
                  <a:srgbClr val="C00000"/>
                </a:solidFill>
              </a:rPr>
              <a:t>的</a:t>
            </a:r>
            <a:r>
              <a:rPr lang="zh-TW" altLang="en-US" dirty="0">
                <a:solidFill>
                  <a:srgbClr val="C00000"/>
                </a:solidFill>
              </a:rPr>
              <a:t>位址 </a:t>
            </a:r>
            <a:r>
              <a:rPr lang="en-US" altLang="zh-TW" dirty="0">
                <a:solidFill>
                  <a:srgbClr val="C00000"/>
                </a:solidFill>
              </a:rPr>
              <a:t>=</a:t>
            </a:r>
            <a:r>
              <a:rPr lang="zh-TW" altLang="en-US" dirty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</a:rPr>
              <a:t>A[0][0</a:t>
            </a:r>
            <a:r>
              <a:rPr lang="en-US" altLang="zh-TW" dirty="0" smtClean="0">
                <a:solidFill>
                  <a:srgbClr val="C00000"/>
                </a:solidFill>
              </a:rPr>
              <a:t>][0]</a:t>
            </a:r>
            <a:r>
              <a:rPr lang="zh-TW" altLang="en-US" dirty="0" smtClean="0">
                <a:solidFill>
                  <a:srgbClr val="C00000"/>
                </a:solidFill>
              </a:rPr>
              <a:t>的</a:t>
            </a:r>
            <a:r>
              <a:rPr lang="zh-TW" altLang="en-US" dirty="0">
                <a:solidFill>
                  <a:srgbClr val="C00000"/>
                </a:solidFill>
              </a:rPr>
              <a:t>位址 </a:t>
            </a:r>
            <a:r>
              <a:rPr lang="en-US" altLang="zh-TW" dirty="0">
                <a:solidFill>
                  <a:srgbClr val="C00000"/>
                </a:solidFill>
              </a:rPr>
              <a:t>+ </a:t>
            </a:r>
            <a:r>
              <a:rPr lang="zh-TW" altLang="en-US" dirty="0">
                <a:solidFill>
                  <a:srgbClr val="C00000"/>
                </a:solidFill>
              </a:rPr>
              <a:t>位移量</a:t>
            </a:r>
            <a:endParaRPr lang="en-US" altLang="zh-TW" dirty="0">
              <a:solidFill>
                <a:srgbClr val="C00000"/>
              </a:solidFill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zh-TW" dirty="0">
                <a:solidFill>
                  <a:srgbClr val="000000"/>
                </a:solidFill>
              </a:rPr>
              <a:t>                   </a:t>
            </a:r>
            <a:r>
              <a:rPr lang="en-US" altLang="zh-TW" dirty="0" smtClean="0">
                <a:solidFill>
                  <a:srgbClr val="000000"/>
                </a:solidFill>
              </a:rPr>
              <a:t>               </a:t>
            </a:r>
            <a:r>
              <a:rPr lang="en-US" altLang="zh-TW" dirty="0">
                <a:solidFill>
                  <a:srgbClr val="000000"/>
                </a:solidFill>
              </a:rPr>
              <a:t>= 03C4</a:t>
            </a:r>
            <a:r>
              <a:rPr lang="en-US" altLang="zh-TW" baseline="-25000" dirty="0">
                <a:solidFill>
                  <a:srgbClr val="000000"/>
                </a:solidFill>
              </a:rPr>
              <a:t>16</a:t>
            </a:r>
            <a:r>
              <a:rPr lang="en-US" altLang="zh-TW" dirty="0">
                <a:solidFill>
                  <a:srgbClr val="000000"/>
                </a:solidFill>
              </a:rPr>
              <a:t> + </a:t>
            </a:r>
            <a:r>
              <a:rPr lang="en-US" altLang="zh-TW" dirty="0" smtClean="0">
                <a:solidFill>
                  <a:srgbClr val="000000"/>
                </a:solidFill>
              </a:rPr>
              <a:t>(3 </a:t>
            </a:r>
            <a:r>
              <a:rPr lang="en-US" altLang="zh-TW" dirty="0">
                <a:solidFill>
                  <a:srgbClr val="000000"/>
                </a:solidFill>
                <a:sym typeface="Symbol"/>
              </a:rPr>
              <a:t> 10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sym typeface="Symbol"/>
              </a:rPr>
              <a:t> 5 </a:t>
            </a:r>
            <a:r>
              <a:rPr lang="en-US" altLang="zh-TW" dirty="0" smtClean="0">
                <a:solidFill>
                  <a:srgbClr val="000000"/>
                </a:solidFill>
              </a:rPr>
              <a:t>+ 8 </a:t>
            </a:r>
            <a:r>
              <a:rPr lang="en-US" altLang="zh-TW" dirty="0" smtClean="0">
                <a:solidFill>
                  <a:srgbClr val="000000"/>
                </a:solidFill>
                <a:sym typeface="Symbol"/>
              </a:rPr>
              <a:t> 5 + 4</a:t>
            </a:r>
            <a:r>
              <a:rPr lang="en-US" altLang="zh-TW" dirty="0" smtClean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sym typeface="Symbol"/>
              </a:rPr>
              <a:t> </a:t>
            </a:r>
            <a:r>
              <a:rPr lang="en-US" altLang="zh-TW" dirty="0" smtClean="0">
                <a:solidFill>
                  <a:srgbClr val="000000"/>
                </a:solidFill>
                <a:sym typeface="Symbol"/>
              </a:rPr>
              <a:t>2</a:t>
            </a:r>
            <a:endParaRPr lang="en-US" altLang="zh-TW" dirty="0">
              <a:solidFill>
                <a:srgbClr val="000000"/>
              </a:solidFill>
              <a:sym typeface="Symbol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zh-TW" dirty="0">
                <a:solidFill>
                  <a:srgbClr val="000000"/>
                </a:solidFill>
                <a:sym typeface="Symbol"/>
              </a:rPr>
              <a:t>                   </a:t>
            </a:r>
            <a:r>
              <a:rPr lang="en-US" altLang="zh-TW" dirty="0" smtClean="0">
                <a:solidFill>
                  <a:srgbClr val="000000"/>
                </a:solidFill>
                <a:sym typeface="Symbol"/>
              </a:rPr>
              <a:t>               </a:t>
            </a:r>
            <a:r>
              <a:rPr lang="en-US" altLang="zh-TW" dirty="0">
                <a:solidFill>
                  <a:srgbClr val="000000"/>
                </a:solidFill>
                <a:sym typeface="Symbol"/>
              </a:rPr>
              <a:t>= 03C4</a:t>
            </a:r>
            <a:r>
              <a:rPr lang="en-US" altLang="zh-TW" baseline="-25000" dirty="0">
                <a:solidFill>
                  <a:srgbClr val="000000"/>
                </a:solidFill>
                <a:sym typeface="Symbol"/>
              </a:rPr>
              <a:t>16</a:t>
            </a:r>
            <a:r>
              <a:rPr lang="en-US" altLang="zh-TW" dirty="0">
                <a:solidFill>
                  <a:srgbClr val="000000"/>
                </a:solidFill>
                <a:sym typeface="Symbol"/>
              </a:rPr>
              <a:t> + </a:t>
            </a:r>
            <a:r>
              <a:rPr lang="en-US" altLang="zh-TW" dirty="0" smtClean="0">
                <a:solidFill>
                  <a:srgbClr val="000000"/>
                </a:solidFill>
                <a:sym typeface="Symbol"/>
              </a:rPr>
              <a:t>184</a:t>
            </a:r>
            <a:r>
              <a:rPr lang="en-US" altLang="zh-TW" baseline="-25000" dirty="0" smtClean="0">
                <a:solidFill>
                  <a:srgbClr val="000000"/>
                </a:solidFill>
                <a:sym typeface="Symbol"/>
              </a:rPr>
              <a:t>16</a:t>
            </a:r>
            <a:endParaRPr lang="en-US" altLang="zh-TW" baseline="-25000" dirty="0">
              <a:solidFill>
                <a:srgbClr val="000000"/>
              </a:solidFill>
              <a:sym typeface="Symbol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zh-TW" baseline="-25000" dirty="0">
                <a:solidFill>
                  <a:srgbClr val="000000"/>
                </a:solidFill>
                <a:sym typeface="Symbol"/>
              </a:rPr>
              <a:t> </a:t>
            </a:r>
            <a:r>
              <a:rPr lang="en-US" altLang="zh-TW" dirty="0">
                <a:solidFill>
                  <a:srgbClr val="000000"/>
                </a:solidFill>
                <a:sym typeface="Symbol"/>
              </a:rPr>
              <a:t>                  </a:t>
            </a:r>
            <a:r>
              <a:rPr lang="en-US" altLang="zh-TW" dirty="0" smtClean="0">
                <a:solidFill>
                  <a:srgbClr val="000000"/>
                </a:solidFill>
                <a:sym typeface="Symbol"/>
              </a:rPr>
              <a:t>               = 0548</a:t>
            </a:r>
            <a:r>
              <a:rPr lang="en-US" altLang="zh-TW" baseline="-25000" dirty="0" smtClean="0">
                <a:solidFill>
                  <a:srgbClr val="000000"/>
                </a:solidFill>
                <a:sym typeface="Symbol"/>
              </a:rPr>
              <a:t>16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2339752" y="5301208"/>
            <a:ext cx="4265911" cy="400110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Q: </a:t>
            </a:r>
            <a:r>
              <a:rPr lang="en-US" altLang="zh-TW" sz="2000" b="1" i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n</a:t>
            </a:r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維陣列應該要如何計算位址呢？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4729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一維陣列基本運算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六種基本運算 (</a:t>
            </a:r>
            <a:r>
              <a:rPr lang="en-US" altLang="zh-TW" dirty="0"/>
              <a:t>operation</a:t>
            </a:r>
            <a:r>
              <a:rPr lang="en-US" altLang="zh-TW" dirty="0" smtClean="0"/>
              <a:t>)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 lvl="1"/>
            <a:r>
              <a:rPr lang="zh-TW" altLang="en-US" dirty="0" smtClean="0">
                <a:solidFill>
                  <a:srgbClr val="C00000"/>
                </a:solidFill>
              </a:rPr>
              <a:t>檢索</a:t>
            </a:r>
            <a:r>
              <a:rPr lang="en-US" altLang="zh-TW" dirty="0" smtClean="0"/>
              <a:t>(</a:t>
            </a:r>
            <a:r>
              <a:rPr lang="zh-TW" altLang="en-US" dirty="0" smtClean="0"/>
              <a:t>讀出</a:t>
            </a:r>
            <a:r>
              <a:rPr lang="en-US" altLang="zh-TW" dirty="0" smtClean="0"/>
              <a:t>)</a:t>
            </a:r>
            <a:r>
              <a:rPr lang="zh-TW" altLang="en-US" dirty="0" smtClean="0"/>
              <a:t>編號為</a:t>
            </a:r>
            <a:r>
              <a:rPr lang="en-US" altLang="zh-TW" i="1" dirty="0" err="1" smtClean="0"/>
              <a:t>i</a:t>
            </a:r>
            <a:r>
              <a:rPr lang="zh-TW" altLang="en-US" dirty="0" smtClean="0"/>
              <a:t>的</a:t>
            </a:r>
            <a:r>
              <a:rPr lang="zh-TW" altLang="en-US" dirty="0"/>
              <a:t>元素內含</a:t>
            </a:r>
            <a:r>
              <a:rPr lang="zh-TW" altLang="en-US" dirty="0" smtClean="0"/>
              <a:t>值</a:t>
            </a:r>
            <a:endParaRPr lang="en-US" altLang="zh-TW" dirty="0" smtClean="0"/>
          </a:p>
          <a:p>
            <a:pPr lvl="2"/>
            <a:r>
              <a:rPr lang="en-US" altLang="zh-TW" dirty="0"/>
              <a:t>value </a:t>
            </a:r>
            <a:r>
              <a:rPr lang="en-US" altLang="zh-TW" dirty="0" smtClean="0"/>
              <a:t>= </a:t>
            </a:r>
            <a:r>
              <a:rPr lang="en-US" altLang="zh-TW" dirty="0"/>
              <a:t>list[4</a:t>
            </a:r>
            <a:r>
              <a:rPr lang="en-US" altLang="zh-TW" dirty="0" smtClean="0"/>
              <a:t>];</a:t>
            </a:r>
          </a:p>
          <a:p>
            <a:pPr lvl="1"/>
            <a:r>
              <a:rPr lang="zh-TW" altLang="en-US" dirty="0"/>
              <a:t>將新</a:t>
            </a:r>
            <a:r>
              <a:rPr lang="zh-TW" altLang="en-US" dirty="0" smtClean="0"/>
              <a:t>值</a:t>
            </a:r>
            <a:r>
              <a:rPr lang="zh-TW" altLang="en-US" dirty="0" smtClean="0">
                <a:solidFill>
                  <a:srgbClr val="C00000"/>
                </a:solidFill>
              </a:rPr>
              <a:t>寫入</a:t>
            </a:r>
            <a:r>
              <a:rPr lang="zh-TW" altLang="en-US" dirty="0" smtClean="0"/>
              <a:t>編號為</a:t>
            </a:r>
            <a:r>
              <a:rPr lang="en-US" altLang="zh-TW" i="1" dirty="0" err="1" smtClean="0"/>
              <a:t>i</a:t>
            </a:r>
            <a:r>
              <a:rPr lang="zh-TW" altLang="en-US" dirty="0" smtClean="0"/>
              <a:t>的</a:t>
            </a:r>
            <a:r>
              <a:rPr lang="zh-TW" altLang="en-US" dirty="0"/>
              <a:t>元素</a:t>
            </a:r>
            <a:r>
              <a:rPr lang="zh-TW" altLang="en-US" dirty="0" smtClean="0"/>
              <a:t>位置</a:t>
            </a:r>
            <a:endParaRPr lang="en-US" altLang="zh-TW" dirty="0" smtClean="0"/>
          </a:p>
          <a:p>
            <a:pPr lvl="2"/>
            <a:r>
              <a:rPr lang="en-US" altLang="zh-TW" dirty="0"/>
              <a:t>list[4] = </a:t>
            </a:r>
            <a:r>
              <a:rPr lang="en-US" altLang="zh-TW" dirty="0" err="1" smtClean="0"/>
              <a:t>NewValue</a:t>
            </a:r>
            <a:r>
              <a:rPr lang="en-US" altLang="zh-TW" dirty="0" smtClean="0"/>
              <a:t>;</a:t>
            </a:r>
          </a:p>
          <a:p>
            <a:pPr lvl="1"/>
            <a:r>
              <a:rPr lang="zh-TW" altLang="en-US" dirty="0"/>
              <a:t>將一陣列的所有</a:t>
            </a:r>
            <a:r>
              <a:rPr lang="zh-TW" altLang="en-US" dirty="0" smtClean="0"/>
              <a:t>元素</a:t>
            </a:r>
            <a:r>
              <a:rPr lang="zh-TW" altLang="en-US" dirty="0" smtClean="0">
                <a:solidFill>
                  <a:srgbClr val="C00000"/>
                </a:solidFill>
              </a:rPr>
              <a:t>複製</a:t>
            </a:r>
            <a:r>
              <a:rPr lang="zh-TW" altLang="en-US" dirty="0" smtClean="0"/>
              <a:t>到</a:t>
            </a:r>
            <a:r>
              <a:rPr lang="zh-TW" altLang="en-US" dirty="0"/>
              <a:t>另一</a:t>
            </a:r>
            <a:r>
              <a:rPr lang="zh-TW" altLang="en-US" dirty="0" smtClean="0"/>
              <a:t>陣列</a:t>
            </a:r>
            <a:r>
              <a:rPr lang="en-US" altLang="zh-TW" dirty="0" smtClean="0"/>
              <a:t>(</a:t>
            </a:r>
            <a:r>
              <a:rPr lang="zh-TW" altLang="en-US" dirty="0" smtClean="0"/>
              <a:t>陣列</a:t>
            </a:r>
            <a:r>
              <a:rPr lang="zh-TW" altLang="en-US" dirty="0"/>
              <a:t>的</a:t>
            </a:r>
            <a:r>
              <a:rPr lang="zh-TW" altLang="en-US" dirty="0" smtClean="0"/>
              <a:t>複製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 lvl="1"/>
            <a:r>
              <a:rPr lang="zh-TW" altLang="en-US" dirty="0"/>
              <a:t>將一陣列的所有</a:t>
            </a:r>
            <a:r>
              <a:rPr lang="zh-TW" altLang="en-US" dirty="0" smtClean="0"/>
              <a:t>元素</a:t>
            </a:r>
            <a:r>
              <a:rPr lang="zh-TW" altLang="en-US" dirty="0" smtClean="0">
                <a:solidFill>
                  <a:srgbClr val="C00000"/>
                </a:solidFill>
              </a:rPr>
              <a:t>輸出</a:t>
            </a:r>
            <a:r>
              <a:rPr lang="zh-TW" altLang="en-US" dirty="0" smtClean="0"/>
              <a:t>到螢幕</a:t>
            </a:r>
            <a:endParaRPr lang="en-US" altLang="zh-TW" dirty="0" smtClean="0"/>
          </a:p>
          <a:p>
            <a:pPr lvl="1"/>
            <a:r>
              <a:rPr lang="zh-TW" altLang="en-US" dirty="0"/>
              <a:t>在</a:t>
            </a:r>
            <a:r>
              <a:rPr lang="zh-TW" altLang="en-US" dirty="0" smtClean="0"/>
              <a:t>編號</a:t>
            </a:r>
            <a:r>
              <a:rPr lang="en-US" altLang="zh-TW" i="1" dirty="0" err="1" smtClean="0"/>
              <a:t>i</a:t>
            </a:r>
            <a:r>
              <a:rPr lang="zh-TW" altLang="en-US" dirty="0" smtClean="0"/>
              <a:t>的位置</a:t>
            </a:r>
            <a:r>
              <a:rPr lang="zh-TW" altLang="en-US" dirty="0" smtClean="0">
                <a:solidFill>
                  <a:srgbClr val="C00000"/>
                </a:solidFill>
              </a:rPr>
              <a:t>插入</a:t>
            </a:r>
            <a:r>
              <a:rPr lang="zh-TW" altLang="en-US" dirty="0" smtClean="0"/>
              <a:t>一</a:t>
            </a:r>
            <a:r>
              <a:rPr lang="zh-TW" altLang="en-US" dirty="0"/>
              <a:t>新元素，</a:t>
            </a:r>
            <a:r>
              <a:rPr lang="zh-TW" altLang="en-US" dirty="0" smtClean="0"/>
              <a:t>原來</a:t>
            </a:r>
            <a:r>
              <a:rPr lang="en-US" altLang="zh-TW" i="1" dirty="0" err="1" smtClean="0"/>
              <a:t>i</a:t>
            </a:r>
            <a:r>
              <a:rPr lang="zh-TW" altLang="en-US" dirty="0" smtClean="0"/>
              <a:t>和</a:t>
            </a:r>
            <a:r>
              <a:rPr lang="zh-TW" altLang="en-US" dirty="0"/>
              <a:t>之後的元素各往後挪一個位置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2"/>
            <a:r>
              <a:rPr lang="zh-TW" altLang="en-US" dirty="0" smtClean="0"/>
              <a:t>如果</a:t>
            </a:r>
            <a:r>
              <a:rPr lang="zh-TW" altLang="en-US" dirty="0"/>
              <a:t>陣列編號</a:t>
            </a:r>
            <a:r>
              <a:rPr lang="zh-TW" altLang="en-US" dirty="0" smtClean="0"/>
              <a:t>從0到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– 1</a:t>
            </a:r>
            <a:r>
              <a:rPr lang="en-US" altLang="zh-TW" dirty="0"/>
              <a:t>，</a:t>
            </a:r>
            <a:r>
              <a:rPr lang="zh-TW" altLang="en-US" dirty="0" smtClean="0"/>
              <a:t>則</a:t>
            </a:r>
            <a:r>
              <a:rPr lang="en-US" altLang="zh-TW" i="1" dirty="0" smtClean="0"/>
              <a:t>n </a:t>
            </a:r>
            <a:r>
              <a:rPr lang="en-US" altLang="zh-TW" dirty="0"/>
              <a:t>– </a:t>
            </a:r>
            <a:r>
              <a:rPr lang="en-US" altLang="zh-TW" dirty="0" smtClean="0"/>
              <a:t>1</a:t>
            </a:r>
            <a:r>
              <a:rPr lang="zh-TW" altLang="en-US" dirty="0" smtClean="0"/>
              <a:t>號</a:t>
            </a:r>
            <a:r>
              <a:rPr lang="zh-TW" altLang="en-US" dirty="0"/>
              <a:t>元素可能將</a:t>
            </a:r>
            <a:r>
              <a:rPr lang="zh-TW" altLang="en-US" dirty="0" smtClean="0"/>
              <a:t>喪失</a:t>
            </a:r>
            <a:endParaRPr lang="en-US" altLang="zh-TW" dirty="0" smtClean="0"/>
          </a:p>
          <a:p>
            <a:pPr lvl="1"/>
            <a:r>
              <a:rPr lang="zh-TW" altLang="en-US" dirty="0" smtClean="0">
                <a:solidFill>
                  <a:srgbClr val="C00000"/>
                </a:solidFill>
              </a:rPr>
              <a:t>刪除</a:t>
            </a:r>
            <a:r>
              <a:rPr lang="zh-TW" altLang="en-US" dirty="0" smtClean="0"/>
              <a:t>編號</a:t>
            </a:r>
            <a:r>
              <a:rPr lang="en-US" altLang="zh-TW" i="1" dirty="0" err="1" smtClean="0"/>
              <a:t>i</a:t>
            </a:r>
            <a:r>
              <a:rPr lang="zh-TW" altLang="en-US" dirty="0" smtClean="0"/>
              <a:t>的</a:t>
            </a:r>
            <a:r>
              <a:rPr lang="zh-TW" altLang="en-US" dirty="0"/>
              <a:t>元素，</a:t>
            </a:r>
            <a:r>
              <a:rPr lang="zh-TW" altLang="en-US" dirty="0" smtClean="0"/>
              <a:t>原來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 + 1</a:t>
            </a:r>
            <a:r>
              <a:rPr lang="zh-TW" altLang="en-US" dirty="0" smtClean="0"/>
              <a:t>和</a:t>
            </a:r>
            <a:r>
              <a:rPr lang="zh-TW" altLang="en-US" dirty="0"/>
              <a:t>之後的元素各往前挪一個位置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2"/>
            <a:r>
              <a:rPr lang="zh-TW" altLang="en-US" dirty="0" smtClean="0"/>
              <a:t>第 </a:t>
            </a:r>
            <a:r>
              <a:rPr lang="en-US" altLang="zh-TW" i="1" dirty="0" smtClean="0"/>
              <a:t>n </a:t>
            </a:r>
            <a:r>
              <a:rPr lang="en-US" altLang="zh-TW" dirty="0"/>
              <a:t>– </a:t>
            </a:r>
            <a:r>
              <a:rPr lang="en-US" altLang="zh-TW" dirty="0" smtClean="0"/>
              <a:t> 1</a:t>
            </a:r>
            <a:r>
              <a:rPr lang="zh-TW" altLang="en-US" dirty="0" smtClean="0"/>
              <a:t>號</a:t>
            </a:r>
            <a:r>
              <a:rPr lang="zh-TW" altLang="en-US" dirty="0"/>
              <a:t>元素變成無</a:t>
            </a:r>
            <a:r>
              <a:rPr lang="zh-TW" altLang="en-US" dirty="0" smtClean="0"/>
              <a:t>意義</a:t>
            </a:r>
            <a:r>
              <a:rPr lang="en-US" altLang="zh-TW" dirty="0" smtClean="0"/>
              <a:t>(</a:t>
            </a:r>
            <a:r>
              <a:rPr lang="zh-TW" altLang="en-US" dirty="0" smtClean="0"/>
              <a:t>或</a:t>
            </a:r>
            <a:r>
              <a:rPr lang="zh-TW" altLang="en-US" dirty="0"/>
              <a:t>填入固定</a:t>
            </a:r>
            <a:r>
              <a:rPr lang="zh-TW" altLang="en-US" dirty="0" smtClean="0"/>
              <a:t>值</a:t>
            </a:r>
            <a:r>
              <a:rPr lang="en-US" altLang="zh-TW" dirty="0" smtClean="0"/>
              <a:t>)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87726" y="1665868"/>
            <a:ext cx="6815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87727" y="2405728"/>
            <a:ext cx="6815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80514" y="3128612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000" b="1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80514" y="3850857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000" b="1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80514" y="4581128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000" b="1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80514" y="3493301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000" b="1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26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陣列的複製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將陣列 </a:t>
            </a:r>
            <a:r>
              <a:rPr lang="en-US" altLang="zh-TW" dirty="0" smtClean="0"/>
              <a:t>list2</a:t>
            </a:r>
            <a:r>
              <a:rPr lang="zh-TW" altLang="en-US" dirty="0" smtClean="0"/>
              <a:t> 複製到陣列 </a:t>
            </a:r>
            <a:r>
              <a:rPr lang="en-US" altLang="zh-TW" dirty="0" smtClean="0"/>
              <a:t>list1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for (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 = 0;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 &lt;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;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++)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      list1[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 = list2[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];</a:t>
            </a:r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for</a:t>
            </a:r>
            <a:r>
              <a:rPr lang="zh-TW" altLang="en-US" dirty="0" smtClean="0"/>
              <a:t> 迴圈主體共執行 </a:t>
            </a:r>
            <a:r>
              <a:rPr lang="en-US" altLang="zh-TW" i="1" dirty="0" smtClean="0">
                <a:solidFill>
                  <a:srgbClr val="C00000"/>
                </a:solidFill>
              </a:rPr>
              <a:t>n</a:t>
            </a:r>
            <a:r>
              <a:rPr lang="en-US" altLang="zh-TW" dirty="0" smtClean="0"/>
              <a:t> </a:t>
            </a:r>
            <a:r>
              <a:rPr lang="zh-TW" altLang="en-US" dirty="0" smtClean="0"/>
              <a:t>次</a:t>
            </a:r>
            <a:endParaRPr lang="en-US" altLang="zh-TW" dirty="0" smtClean="0"/>
          </a:p>
          <a:p>
            <a:r>
              <a:rPr lang="zh-TW" altLang="en-US" dirty="0" smtClean="0"/>
              <a:t>時間複雜度：</a:t>
            </a:r>
            <a:r>
              <a:rPr lang="en-US" altLang="zh-TW" dirty="0" smtClean="0">
                <a:solidFill>
                  <a:srgbClr val="C00000"/>
                </a:solidFill>
              </a:rPr>
              <a:t>O(</a:t>
            </a:r>
            <a:r>
              <a:rPr lang="en-US" altLang="zh-TW" i="1" dirty="0" smtClean="0">
                <a:solidFill>
                  <a:srgbClr val="C00000"/>
                </a:solidFill>
              </a:rPr>
              <a:t>n</a:t>
            </a:r>
            <a:r>
              <a:rPr lang="en-US" altLang="zh-TW" dirty="0" smtClean="0">
                <a:solidFill>
                  <a:srgbClr val="C00000"/>
                </a:solidFill>
              </a:rPr>
              <a:t>)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5371381" y="2501180"/>
          <a:ext cx="865517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5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7171426" y="2502000"/>
          <a:ext cx="865517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5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文字方塊 17"/>
          <p:cNvSpPr txBox="1"/>
          <p:nvPr/>
        </p:nvSpPr>
        <p:spPr>
          <a:xfrm>
            <a:off x="5486400" y="2094571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7286445" y="2098675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群組 10"/>
          <p:cNvGrpSpPr/>
          <p:nvPr/>
        </p:nvGrpSpPr>
        <p:grpSpPr>
          <a:xfrm>
            <a:off x="5649105" y="2500343"/>
            <a:ext cx="1476212" cy="400110"/>
            <a:chOff x="5649105" y="2500343"/>
            <a:chExt cx="1476212" cy="400110"/>
          </a:xfrm>
        </p:grpSpPr>
        <p:cxnSp>
          <p:nvCxnSpPr>
            <p:cNvPr id="10" name="直線單箭頭接點 9"/>
            <p:cNvCxnSpPr/>
            <p:nvPr/>
          </p:nvCxnSpPr>
          <p:spPr>
            <a:xfrm flipH="1" flipV="1">
              <a:off x="6261317" y="2699578"/>
              <a:ext cx="864000" cy="82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字方塊 8"/>
            <p:cNvSpPr txBox="1"/>
            <p:nvPr/>
          </p:nvSpPr>
          <p:spPr>
            <a:xfrm>
              <a:off x="5649105" y="250034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群組 21"/>
          <p:cNvGrpSpPr/>
          <p:nvPr/>
        </p:nvGrpSpPr>
        <p:grpSpPr>
          <a:xfrm>
            <a:off x="5584985" y="2898883"/>
            <a:ext cx="1539415" cy="400110"/>
            <a:chOff x="5584985" y="2920149"/>
            <a:chExt cx="1539415" cy="400110"/>
          </a:xfrm>
        </p:grpSpPr>
        <p:cxnSp>
          <p:nvCxnSpPr>
            <p:cNvPr id="12" name="直線單箭頭接點 11"/>
            <p:cNvCxnSpPr/>
            <p:nvPr/>
          </p:nvCxnSpPr>
          <p:spPr>
            <a:xfrm flipH="1" flipV="1">
              <a:off x="6260400" y="3119384"/>
              <a:ext cx="864000" cy="82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字方塊 20"/>
            <p:cNvSpPr txBox="1"/>
            <p:nvPr/>
          </p:nvSpPr>
          <p:spPr>
            <a:xfrm>
              <a:off x="5584985" y="292014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5604188" y="3311100"/>
            <a:ext cx="1520212" cy="369332"/>
            <a:chOff x="5604188" y="3332366"/>
            <a:chExt cx="1520212" cy="369332"/>
          </a:xfrm>
        </p:grpSpPr>
        <p:cxnSp>
          <p:nvCxnSpPr>
            <p:cNvPr id="13" name="直線單箭頭接點 12"/>
            <p:cNvCxnSpPr/>
            <p:nvPr/>
          </p:nvCxnSpPr>
          <p:spPr>
            <a:xfrm flipH="1" flipV="1">
              <a:off x="6260400" y="3516212"/>
              <a:ext cx="864000" cy="82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字方塊 22"/>
            <p:cNvSpPr txBox="1"/>
            <p:nvPr/>
          </p:nvSpPr>
          <p:spPr>
            <a:xfrm>
              <a:off x="5604188" y="3332366"/>
              <a:ext cx="402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5585532" y="3694251"/>
            <a:ext cx="1538868" cy="400110"/>
            <a:chOff x="5585532" y="3736783"/>
            <a:chExt cx="1538868" cy="400110"/>
          </a:xfrm>
        </p:grpSpPr>
        <p:cxnSp>
          <p:nvCxnSpPr>
            <p:cNvPr id="14" name="直線單箭頭接點 13"/>
            <p:cNvCxnSpPr/>
            <p:nvPr/>
          </p:nvCxnSpPr>
          <p:spPr>
            <a:xfrm flipH="1" flipV="1">
              <a:off x="6260400" y="3936018"/>
              <a:ext cx="864000" cy="82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5585532" y="3736783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群組 27"/>
          <p:cNvGrpSpPr/>
          <p:nvPr/>
        </p:nvGrpSpPr>
        <p:grpSpPr>
          <a:xfrm>
            <a:off x="5587059" y="4097009"/>
            <a:ext cx="1537341" cy="369332"/>
            <a:chOff x="5587059" y="4139541"/>
            <a:chExt cx="1537341" cy="369332"/>
          </a:xfrm>
        </p:grpSpPr>
        <p:cxnSp>
          <p:nvCxnSpPr>
            <p:cNvPr id="15" name="直線單箭頭接點 14"/>
            <p:cNvCxnSpPr/>
            <p:nvPr/>
          </p:nvCxnSpPr>
          <p:spPr>
            <a:xfrm flipH="1" flipV="1">
              <a:off x="6260400" y="4324207"/>
              <a:ext cx="864000" cy="82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字方塊 26"/>
            <p:cNvSpPr txBox="1"/>
            <p:nvPr/>
          </p:nvSpPr>
          <p:spPr>
            <a:xfrm>
              <a:off x="5587059" y="4139541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39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5572289" y="4478448"/>
            <a:ext cx="1552111" cy="400110"/>
            <a:chOff x="5572289" y="4520980"/>
            <a:chExt cx="1552111" cy="400110"/>
          </a:xfrm>
        </p:grpSpPr>
        <p:cxnSp>
          <p:nvCxnSpPr>
            <p:cNvPr id="16" name="直線單箭頭接點 15"/>
            <p:cNvCxnSpPr/>
            <p:nvPr/>
          </p:nvCxnSpPr>
          <p:spPr>
            <a:xfrm flipH="1" flipV="1">
              <a:off x="6260400" y="4721035"/>
              <a:ext cx="864000" cy="82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/>
            <p:cNvSpPr txBox="1"/>
            <p:nvPr/>
          </p:nvSpPr>
          <p:spPr>
            <a:xfrm>
              <a:off x="5572289" y="4520980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18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5507766" y="4877808"/>
            <a:ext cx="1616634" cy="400110"/>
            <a:chOff x="5507766" y="4941606"/>
            <a:chExt cx="1616634" cy="400110"/>
          </a:xfrm>
        </p:grpSpPr>
        <p:cxnSp>
          <p:nvCxnSpPr>
            <p:cNvPr id="17" name="直線單箭頭接點 16"/>
            <p:cNvCxnSpPr/>
            <p:nvPr/>
          </p:nvCxnSpPr>
          <p:spPr>
            <a:xfrm flipH="1" flipV="1">
              <a:off x="6260400" y="5140841"/>
              <a:ext cx="864000" cy="82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5507766" y="4941606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3615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陣列的輸出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將陣列 </a:t>
            </a:r>
            <a:r>
              <a:rPr lang="en-US" altLang="zh-TW" dirty="0" smtClean="0"/>
              <a:t>list</a:t>
            </a:r>
            <a:r>
              <a:rPr lang="zh-TW" altLang="en-US" dirty="0" smtClean="0"/>
              <a:t> 所有元素輸出</a:t>
            </a:r>
            <a:endParaRPr lang="en-US" altLang="zh-TW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for (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 = 0;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 &lt;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;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++)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      </a:t>
            </a:r>
            <a:r>
              <a:rPr lang="en-US" altLang="zh-TW" dirty="0" err="1" smtClean="0"/>
              <a:t>printf</a:t>
            </a:r>
            <a:r>
              <a:rPr lang="en-US" altLang="zh-TW" dirty="0" smtClean="0"/>
              <a:t> (“%d\n”, list[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]);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for</a:t>
            </a:r>
            <a:r>
              <a:rPr lang="zh-TW" altLang="en-US" dirty="0"/>
              <a:t> 迴圈主體共執行 </a:t>
            </a:r>
            <a:r>
              <a:rPr lang="en-US" altLang="zh-TW" i="1" dirty="0">
                <a:solidFill>
                  <a:srgbClr val="C00000"/>
                </a:solidFill>
              </a:rPr>
              <a:t>n</a:t>
            </a:r>
            <a:r>
              <a:rPr lang="en-US" altLang="zh-TW" dirty="0"/>
              <a:t> </a:t>
            </a:r>
            <a:r>
              <a:rPr lang="zh-TW" altLang="en-US" dirty="0"/>
              <a:t>次</a:t>
            </a:r>
            <a:endParaRPr lang="en-US" altLang="zh-TW" dirty="0"/>
          </a:p>
          <a:p>
            <a:r>
              <a:rPr lang="zh-TW" altLang="en-US" dirty="0"/>
              <a:t>時間複雜度：</a:t>
            </a:r>
            <a:r>
              <a:rPr lang="en-US" altLang="zh-TW" dirty="0">
                <a:solidFill>
                  <a:srgbClr val="C00000"/>
                </a:solidFill>
              </a:rPr>
              <a:t>O(</a:t>
            </a:r>
            <a:r>
              <a:rPr lang="en-US" altLang="zh-TW" i="1" dirty="0">
                <a:solidFill>
                  <a:srgbClr val="C00000"/>
                </a:solidFill>
              </a:rPr>
              <a:t>n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endParaRPr 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6757378" y="2502000"/>
          <a:ext cx="865517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5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9" name="直線單箭頭接點 8"/>
          <p:cNvCxnSpPr/>
          <p:nvPr/>
        </p:nvCxnSpPr>
        <p:spPr>
          <a:xfrm flipH="1" flipV="1">
            <a:off x="5847269" y="2699578"/>
            <a:ext cx="864000" cy="82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H="1" flipV="1">
            <a:off x="5846352" y="3119384"/>
            <a:ext cx="864000" cy="82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flipH="1" flipV="1">
            <a:off x="5846352" y="3516212"/>
            <a:ext cx="864000" cy="82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H="1" flipV="1">
            <a:off x="5846352" y="3936018"/>
            <a:ext cx="864000" cy="82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H="1" flipV="1">
            <a:off x="5846352" y="4324207"/>
            <a:ext cx="864000" cy="82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H="1" flipV="1">
            <a:off x="5846352" y="4721035"/>
            <a:ext cx="864000" cy="82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 flipH="1" flipV="1">
            <a:off x="5846352" y="5140841"/>
            <a:ext cx="864000" cy="82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6941405" y="2098675"/>
            <a:ext cx="5100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50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陣列元素的插入 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 </a:t>
            </a:r>
            <a:r>
              <a:rPr lang="en-US" altLang="zh-TW" dirty="0" smtClean="0"/>
              <a:t>value</a:t>
            </a:r>
            <a:r>
              <a:rPr lang="zh-TW" altLang="en-US" dirty="0" smtClean="0"/>
              <a:t> 插入陣列 </a:t>
            </a:r>
            <a:r>
              <a:rPr lang="en-US" altLang="zh-TW" dirty="0" smtClean="0"/>
              <a:t>list</a:t>
            </a:r>
            <a:r>
              <a:rPr lang="zh-TW" altLang="en-US" dirty="0" smtClean="0"/>
              <a:t> 的第 </a:t>
            </a:r>
            <a:r>
              <a:rPr lang="en-US" altLang="zh-TW" i="1" dirty="0" err="1" smtClean="0">
                <a:solidFill>
                  <a:srgbClr val="C00000"/>
                </a:solidFill>
              </a:rPr>
              <a:t>i</a:t>
            </a:r>
            <a:r>
              <a:rPr lang="zh-TW" altLang="en-US" i="1" dirty="0" smtClean="0">
                <a:solidFill>
                  <a:srgbClr val="FF0000"/>
                </a:solidFill>
              </a:rPr>
              <a:t> </a:t>
            </a:r>
            <a:r>
              <a:rPr lang="zh-TW" altLang="en-US" dirty="0" smtClean="0"/>
              <a:t>個位置</a:t>
            </a:r>
            <a:endParaRPr lang="en-US" altLang="zh-TW" dirty="0" smtClean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 smtClean="0"/>
              <a:t>從倒數第二個資料開始</a:t>
            </a:r>
            <a:r>
              <a:rPr lang="en-US" altLang="zh-TW" dirty="0" smtClean="0"/>
              <a:t>(list[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– 2])</a:t>
            </a:r>
            <a:r>
              <a:rPr lang="zh-TW" altLang="en-US" dirty="0" smtClean="0"/>
              <a:t>，到</a:t>
            </a:r>
            <a:r>
              <a:rPr lang="zh-TW" altLang="en-US" dirty="0" smtClean="0">
                <a:solidFill>
                  <a:srgbClr val="C00000"/>
                </a:solidFill>
              </a:rPr>
              <a:t>插入點為止</a:t>
            </a:r>
            <a:r>
              <a:rPr lang="en-US" altLang="zh-TW" dirty="0" smtClean="0">
                <a:solidFill>
                  <a:srgbClr val="C00000"/>
                </a:solidFill>
              </a:rPr>
              <a:t>(list[</a:t>
            </a:r>
            <a:r>
              <a:rPr lang="en-US" altLang="zh-TW" i="1" dirty="0" err="1" smtClean="0">
                <a:solidFill>
                  <a:srgbClr val="C00000"/>
                </a:solidFill>
              </a:rPr>
              <a:t>i</a:t>
            </a:r>
            <a:r>
              <a:rPr lang="en-US" altLang="zh-TW" dirty="0" smtClean="0">
                <a:solidFill>
                  <a:srgbClr val="C00000"/>
                </a:solidFill>
              </a:rPr>
              <a:t>])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 smtClean="0"/>
              <a:t>       每個元素往下移一個位置</a:t>
            </a:r>
            <a:endParaRPr lang="en-US" altLang="zh-TW" dirty="0" smtClean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 smtClean="0"/>
              <a:t>將 </a:t>
            </a:r>
            <a:r>
              <a:rPr lang="en-US" altLang="zh-TW" dirty="0" smtClean="0"/>
              <a:t>value</a:t>
            </a:r>
            <a:r>
              <a:rPr lang="zh-TW" altLang="en-US" dirty="0" smtClean="0"/>
              <a:t> 寫入 </a:t>
            </a:r>
            <a:r>
              <a:rPr lang="en-US" altLang="zh-TW" dirty="0" smtClean="0"/>
              <a:t>list[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</a:t>
            </a:r>
          </a:p>
          <a:p>
            <a:endParaRPr lang="en-US" altLang="zh-TW" dirty="0" smtClean="0"/>
          </a:p>
          <a:p>
            <a:endParaRPr lang="en-US" altLang="zh-TW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5756660" y="3217991"/>
          <a:ext cx="865517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5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9" name="群組 8"/>
          <p:cNvGrpSpPr/>
          <p:nvPr/>
        </p:nvGrpSpPr>
        <p:grpSpPr>
          <a:xfrm>
            <a:off x="3329743" y="4418372"/>
            <a:ext cx="2377338" cy="400110"/>
            <a:chOff x="3329743" y="4418372"/>
            <a:chExt cx="2377338" cy="400110"/>
          </a:xfrm>
        </p:grpSpPr>
        <p:sp>
          <p:nvSpPr>
            <p:cNvPr id="8" name="文字方塊 7"/>
            <p:cNvSpPr txBox="1"/>
            <p:nvPr/>
          </p:nvSpPr>
          <p:spPr>
            <a:xfrm>
              <a:off x="3329743" y="4418372"/>
              <a:ext cx="18341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插入</a:t>
              </a:r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38</a:t>
              </a:r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至</a:t>
              </a:r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list[3]</a:t>
              </a:r>
              <a:endPara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10" name="直線單箭頭接點 9"/>
            <p:cNvCxnSpPr/>
            <p:nvPr/>
          </p:nvCxnSpPr>
          <p:spPr>
            <a:xfrm>
              <a:off x="5167081" y="4618427"/>
              <a:ext cx="540000" cy="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圓角矩形 10"/>
          <p:cNvSpPr/>
          <p:nvPr/>
        </p:nvSpPr>
        <p:spPr>
          <a:xfrm>
            <a:off x="5707081" y="4418372"/>
            <a:ext cx="961084" cy="1180171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6739687" y="4418372"/>
            <a:ext cx="0" cy="1180171"/>
          </a:xfrm>
          <a:prstGeom prst="straightConnector1">
            <a:avLst/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7530820" y="3218400"/>
          <a:ext cx="865517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5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向右箭號 15"/>
          <p:cNvSpPr/>
          <p:nvPr/>
        </p:nvSpPr>
        <p:spPr>
          <a:xfrm>
            <a:off x="6875252" y="4438920"/>
            <a:ext cx="483079" cy="3795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7741331" y="441837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497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陣列元素的</a:t>
            </a:r>
            <a:r>
              <a:rPr lang="zh-TW" altLang="en-US" dirty="0" smtClean="0"/>
              <a:t>插入 </a:t>
            </a:r>
            <a:r>
              <a:rPr lang="en-US" altLang="zh-TW" dirty="0" smtClean="0"/>
              <a:t>(2/2)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170980" y="1319014"/>
                <a:ext cx="8826061" cy="5098878"/>
              </a:xfrm>
              <a:prstGeom prst="rect">
                <a:avLst/>
              </a:prstGeom>
            </p:spPr>
            <p:txBody>
              <a:bodyPr/>
              <a:lstStyle/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 smtClean="0"/>
              </a:p>
              <a:p>
                <a:r>
                  <a:rPr lang="zh-TW" altLang="en-US" dirty="0" smtClean="0"/>
                  <a:t>假設機率均等：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</m:oMath>
                </a14:m>
                <a:endParaRPr lang="en-US" altLang="zh-TW" i="1" dirty="0" smtClean="0">
                  <a:solidFill>
                    <a:srgbClr val="FF0000"/>
                  </a:solidFill>
                </a:endParaRPr>
              </a:p>
              <a:p>
                <a:endParaRPr lang="en-US" altLang="zh-TW" dirty="0" smtClean="0"/>
              </a:p>
              <a:p>
                <a:r>
                  <a:rPr lang="zh-TW" altLang="en-US" dirty="0" smtClean="0"/>
                  <a:t>資料移動格數的期望值：</a:t>
                </a:r>
                <a:endParaRPr lang="en-US" altLang="zh-TW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b="1" i="1" smtClean="0">
                              <a:latin typeface="Cambria Math"/>
                            </a:rPr>
                            <m:t>𝒊</m:t>
                          </m:r>
                          <m:r>
                            <a:rPr lang="en-US" altLang="zh-TW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TW" b="1" i="1" smtClean="0">
                              <a:latin typeface="Cambria Math"/>
                            </a:rPr>
                            <m:t>𝟎</m:t>
                          </m:r>
                        </m:sub>
                        <m:sup>
                          <m:r>
                            <a:rPr lang="en-US" altLang="zh-TW" b="1" i="1" smtClean="0">
                              <a:latin typeface="Cambria Math"/>
                            </a:rPr>
                            <m:t>𝒏</m:t>
                          </m:r>
                          <m:r>
                            <a:rPr lang="en-US" altLang="zh-TW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TW" b="1" i="1" smtClean="0">
                              <a:latin typeface="Cambria Math"/>
                            </a:rPr>
                            <m:t>𝟏</m:t>
                          </m:r>
                        </m:sup>
                        <m:e>
                          <m:d>
                            <m:d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1" i="1" smtClean="0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altLang="zh-TW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b="1" i="1" smtClean="0">
                                  <a:latin typeface="Cambria Math"/>
                                </a:rPr>
                                <m:t>𝒊</m:t>
                              </m:r>
                              <m:r>
                                <a:rPr lang="en-US" altLang="zh-TW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f>
                            <m:f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𝒏</m:t>
                              </m:r>
                            </m:den>
                          </m:f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=</m:t>
                          </m:r>
                          <m:d>
                            <m:d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 smtClean="0">
                                      <a:latin typeface="Cambria Math"/>
                                      <a:ea typeface="Cambria Math"/>
                                    </a:rPr>
                                    <m:t>𝒏</m:t>
                                  </m:r>
                                  <m:r>
                                    <a:rPr lang="en-US" altLang="zh-TW" b="1" i="1" smtClean="0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r>
                                    <a:rPr lang="en-US" altLang="zh-TW" b="1" i="1" smtClean="0"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 smtClean="0">
                                      <a:latin typeface="Cambria Math"/>
                                      <a:ea typeface="Cambria Math"/>
                                    </a:rPr>
                                    <m:t>𝒏</m:t>
                                  </m:r>
                                  <m:r>
                                    <a:rPr lang="en-US" altLang="zh-TW" b="1" i="1" smtClean="0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r>
                                    <a:rPr lang="en-US" altLang="zh-TW" b="1" i="1" smtClean="0">
                                      <a:latin typeface="Cambria Math"/>
                                      <a:ea typeface="Cambria Math"/>
                                    </a:rPr>
                                    <m:t>𝟐</m:t>
                                  </m:r>
                                </m:e>
                              </m:d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+…+</m:t>
                              </m:r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+</m:t>
                              </m:r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𝟎</m:t>
                              </m:r>
                            </m:e>
                          </m:d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f>
                            <m:f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𝒏</m:t>
                              </m:r>
                            </m:den>
                          </m:f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𝒏</m:t>
                              </m:r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𝟐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TW" dirty="0"/>
              </a:p>
              <a:p>
                <a:endParaRPr lang="en-US" altLang="zh-TW" dirty="0" smtClean="0"/>
              </a:p>
              <a:p>
                <a:r>
                  <a:rPr lang="zh-TW" altLang="en-US" dirty="0" smtClean="0"/>
                  <a:t>時間複雜度：</a:t>
                </a:r>
                <a:r>
                  <a:rPr lang="en-US" altLang="zh-TW" dirty="0" smtClean="0">
                    <a:solidFill>
                      <a:srgbClr val="C00000"/>
                    </a:solidFill>
                  </a:rPr>
                  <a:t>O(</a:t>
                </a:r>
                <a:r>
                  <a:rPr lang="en-US" altLang="zh-TW" i="1" dirty="0" smtClean="0">
                    <a:solidFill>
                      <a:srgbClr val="C00000"/>
                    </a:solidFill>
                  </a:rPr>
                  <a:t>n</a:t>
                </a:r>
                <a:r>
                  <a:rPr lang="en-US" altLang="zh-TW" dirty="0" smtClean="0">
                    <a:solidFill>
                      <a:srgbClr val="C00000"/>
                    </a:solidFill>
                  </a:rPr>
                  <a:t>)</a:t>
                </a:r>
                <a:endParaRPr lang="zh-TW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170980" y="1319014"/>
                <a:ext cx="8826061" cy="509887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170330" y="1647164"/>
          <a:ext cx="6672897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25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插入點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err="1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000" b="1" i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– 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– 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需搬移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– 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– 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i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4486939" y="2054890"/>
            <a:ext cx="10390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 1 – </a:t>
            </a: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44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陣列元素的刪除 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將陣列 </a:t>
            </a:r>
            <a:r>
              <a:rPr lang="en-US" altLang="zh-TW" dirty="0" smtClean="0"/>
              <a:t>list </a:t>
            </a:r>
            <a:r>
              <a:rPr lang="zh-TW" altLang="en-US" dirty="0" smtClean="0"/>
              <a:t>的第 </a:t>
            </a:r>
            <a:r>
              <a:rPr lang="en-US" altLang="zh-TW" i="1" dirty="0" err="1" smtClean="0">
                <a:solidFill>
                  <a:srgbClr val="C00000"/>
                </a:solidFill>
              </a:rPr>
              <a:t>i</a:t>
            </a:r>
            <a:r>
              <a:rPr lang="en-US" altLang="zh-TW" i="1" dirty="0" smtClean="0">
                <a:solidFill>
                  <a:srgbClr val="FF0000"/>
                </a:solidFill>
              </a:rPr>
              <a:t> </a:t>
            </a:r>
            <a:r>
              <a:rPr lang="zh-TW" altLang="en-US" dirty="0" smtClean="0"/>
              <a:t>個位置刪除</a:t>
            </a:r>
            <a:endParaRPr lang="en-US" altLang="zh-TW" dirty="0" smtClean="0"/>
          </a:p>
          <a:p>
            <a:pPr marL="457200" indent="-457200">
              <a:buFont typeface="+mj-lt"/>
              <a:buAutoNum type="arabicPeriod"/>
            </a:pPr>
            <a:r>
              <a:rPr lang="zh-TW" altLang="zh-TW" dirty="0"/>
              <a:t>從</a:t>
            </a:r>
            <a:r>
              <a:rPr lang="zh-TW" altLang="zh-TW" dirty="0">
                <a:solidFill>
                  <a:srgbClr val="C00000"/>
                </a:solidFill>
              </a:rPr>
              <a:t>刪除點的下一個資料開始</a:t>
            </a:r>
            <a:r>
              <a:rPr lang="en-US" altLang="zh-TW" dirty="0">
                <a:solidFill>
                  <a:srgbClr val="C00000"/>
                </a:solidFill>
              </a:rPr>
              <a:t>(list[</a:t>
            </a:r>
            <a:r>
              <a:rPr lang="en-US" altLang="zh-TW" i="1" dirty="0">
                <a:solidFill>
                  <a:srgbClr val="C00000"/>
                </a:solidFill>
              </a:rPr>
              <a:t>i</a:t>
            </a:r>
            <a:r>
              <a:rPr lang="en-US" altLang="zh-TW" dirty="0">
                <a:solidFill>
                  <a:srgbClr val="C00000"/>
                </a:solidFill>
              </a:rPr>
              <a:t>+1])</a:t>
            </a:r>
            <a:r>
              <a:rPr lang="zh-TW" altLang="zh-TW" dirty="0"/>
              <a:t>，到最後一個資料為止</a:t>
            </a:r>
            <a:r>
              <a:rPr lang="en-US" altLang="zh-TW" dirty="0"/>
              <a:t>(</a:t>
            </a:r>
            <a:r>
              <a:rPr lang="en-US" altLang="zh-TW" dirty="0" smtClean="0"/>
              <a:t>list[</a:t>
            </a:r>
            <a:r>
              <a:rPr lang="en-US" altLang="zh-TW" i="1" dirty="0" smtClean="0"/>
              <a:t>n</a:t>
            </a:r>
            <a:r>
              <a:rPr lang="zh-TW" altLang="en-US" i="1" dirty="0" smtClean="0"/>
              <a:t> </a:t>
            </a:r>
            <a:r>
              <a:rPr lang="en-US" altLang="zh-TW" dirty="0" smtClean="0"/>
              <a:t>– 1])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      </a:t>
            </a:r>
            <a:r>
              <a:rPr lang="zh-TW" altLang="zh-TW" dirty="0" smtClean="0"/>
              <a:t>每</a:t>
            </a:r>
            <a:r>
              <a:rPr lang="zh-TW" altLang="zh-TW" dirty="0"/>
              <a:t>個元素往上移一個</a:t>
            </a:r>
            <a:r>
              <a:rPr lang="zh-TW" altLang="zh-TW" dirty="0" smtClean="0"/>
              <a:t>位置</a:t>
            </a:r>
            <a:endParaRPr lang="en-US" altLang="zh-TW" dirty="0" smtClean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最後一個位置</a:t>
            </a:r>
            <a:r>
              <a:rPr lang="zh-TW" altLang="en-US" dirty="0" smtClean="0"/>
              <a:t>填入 </a:t>
            </a:r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22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5756660" y="3217991"/>
          <a:ext cx="865517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5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4" name="群組 13"/>
          <p:cNvGrpSpPr/>
          <p:nvPr/>
        </p:nvGrpSpPr>
        <p:grpSpPr>
          <a:xfrm>
            <a:off x="3106450" y="4418372"/>
            <a:ext cx="2600631" cy="400110"/>
            <a:chOff x="3106450" y="4418372"/>
            <a:chExt cx="2600631" cy="400110"/>
          </a:xfrm>
        </p:grpSpPr>
        <p:sp>
          <p:nvSpPr>
            <p:cNvPr id="8" name="文字方塊 7"/>
            <p:cNvSpPr txBox="1"/>
            <p:nvPr/>
          </p:nvSpPr>
          <p:spPr>
            <a:xfrm>
              <a:off x="3106450" y="4418372"/>
              <a:ext cx="20906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將</a:t>
              </a:r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list[3]</a:t>
              </a:r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的值刪除</a:t>
              </a:r>
              <a:endPara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線單箭頭接點 8"/>
            <p:cNvCxnSpPr/>
            <p:nvPr/>
          </p:nvCxnSpPr>
          <p:spPr>
            <a:xfrm>
              <a:off x="5167081" y="4618427"/>
              <a:ext cx="540000" cy="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圓角矩形 9"/>
          <p:cNvSpPr/>
          <p:nvPr/>
        </p:nvSpPr>
        <p:spPr>
          <a:xfrm>
            <a:off x="5707081" y="4801160"/>
            <a:ext cx="961084" cy="1180171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/>
          <p:cNvCxnSpPr/>
          <p:nvPr/>
        </p:nvCxnSpPr>
        <p:spPr>
          <a:xfrm>
            <a:off x="6739687" y="4801160"/>
            <a:ext cx="0" cy="1180171"/>
          </a:xfrm>
          <a:prstGeom prst="straightConnector1">
            <a:avLst/>
          </a:prstGeom>
          <a:ln w="190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表格 11"/>
          <p:cNvGraphicFramePr>
            <a:graphicFrameLocks noGrp="1"/>
          </p:cNvGraphicFramePr>
          <p:nvPr>
            <p:extLst/>
          </p:nvPr>
        </p:nvGraphicFramePr>
        <p:xfrm>
          <a:off x="7530820" y="3218400"/>
          <a:ext cx="865517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5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向右箭號 12"/>
          <p:cNvSpPr/>
          <p:nvPr/>
        </p:nvSpPr>
        <p:spPr>
          <a:xfrm>
            <a:off x="6875252" y="4438920"/>
            <a:ext cx="483079" cy="3795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乘號 14"/>
          <p:cNvSpPr/>
          <p:nvPr/>
        </p:nvSpPr>
        <p:spPr>
          <a:xfrm>
            <a:off x="6007394" y="4428287"/>
            <a:ext cx="360000" cy="36000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7814930" y="559185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053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5" grpId="0" animBg="1"/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陣列元素</a:t>
            </a:r>
            <a:r>
              <a:rPr lang="zh-TW" altLang="en-US" dirty="0" smtClean="0"/>
              <a:t>的刪除 </a:t>
            </a:r>
            <a:r>
              <a:rPr lang="en-US" altLang="zh-TW" dirty="0" smtClean="0"/>
              <a:t>(2/2)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170980" y="1319014"/>
                <a:ext cx="8826061" cy="5098878"/>
              </a:xfrm>
              <a:prstGeom prst="rect">
                <a:avLst/>
              </a:prstGeom>
            </p:spPr>
            <p:txBody>
              <a:bodyPr/>
              <a:lstStyle/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 smtClean="0"/>
              </a:p>
              <a:p>
                <a:r>
                  <a:rPr lang="zh-TW" altLang="en-US" dirty="0" smtClean="0"/>
                  <a:t>假設機率均等：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</m:oMath>
                </a14:m>
                <a:endParaRPr lang="en-US" altLang="zh-TW" i="1" dirty="0" smtClean="0">
                  <a:solidFill>
                    <a:srgbClr val="FF0000"/>
                  </a:solidFill>
                </a:endParaRPr>
              </a:p>
              <a:p>
                <a:endParaRPr lang="en-US" altLang="zh-TW" dirty="0" smtClean="0"/>
              </a:p>
              <a:p>
                <a:r>
                  <a:rPr lang="zh-TW" altLang="en-US" dirty="0" smtClean="0"/>
                  <a:t>資料移動格數的期望值：</a:t>
                </a:r>
                <a:endParaRPr lang="en-US" altLang="zh-TW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b="1" i="1" smtClean="0">
                              <a:latin typeface="Cambria Math"/>
                            </a:rPr>
                            <m:t>𝒊</m:t>
                          </m:r>
                          <m:r>
                            <a:rPr lang="en-US" altLang="zh-TW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TW" b="1" i="1" smtClean="0">
                              <a:latin typeface="Cambria Math"/>
                            </a:rPr>
                            <m:t>𝟎</m:t>
                          </m:r>
                        </m:sub>
                        <m:sup>
                          <m:r>
                            <a:rPr lang="en-US" altLang="zh-TW" b="1" i="1" smtClean="0">
                              <a:latin typeface="Cambria Math"/>
                            </a:rPr>
                            <m:t>𝒏</m:t>
                          </m:r>
                          <m:r>
                            <a:rPr lang="en-US" altLang="zh-TW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TW" b="1" i="1" smtClean="0">
                              <a:latin typeface="Cambria Math"/>
                            </a:rPr>
                            <m:t>𝟏</m:t>
                          </m:r>
                        </m:sup>
                        <m:e>
                          <m:d>
                            <m:d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1" i="1" smtClean="0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altLang="zh-TW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b="1" i="1" smtClean="0">
                                  <a:latin typeface="Cambria Math"/>
                                </a:rPr>
                                <m:t>𝒊</m:t>
                              </m:r>
                              <m:r>
                                <a:rPr lang="en-US" altLang="zh-TW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f>
                            <m:f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𝒏</m:t>
                              </m:r>
                            </m:den>
                          </m:f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=</m:t>
                          </m:r>
                          <m:d>
                            <m:d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 smtClean="0">
                                      <a:latin typeface="Cambria Math"/>
                                      <a:ea typeface="Cambria Math"/>
                                    </a:rPr>
                                    <m:t>𝒏</m:t>
                                  </m:r>
                                  <m:r>
                                    <a:rPr lang="en-US" altLang="zh-TW" b="1" i="1" smtClean="0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r>
                                    <a:rPr lang="en-US" altLang="zh-TW" b="1" i="1" smtClean="0"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 smtClean="0">
                                      <a:latin typeface="Cambria Math"/>
                                      <a:ea typeface="Cambria Math"/>
                                    </a:rPr>
                                    <m:t>𝒏</m:t>
                                  </m:r>
                                  <m:r>
                                    <a:rPr lang="en-US" altLang="zh-TW" b="1" i="1" smtClean="0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r>
                                    <a:rPr lang="en-US" altLang="zh-TW" b="1" i="1" smtClean="0">
                                      <a:latin typeface="Cambria Math"/>
                                      <a:ea typeface="Cambria Math"/>
                                    </a:rPr>
                                    <m:t>𝟐</m:t>
                                  </m:r>
                                </m:e>
                              </m:d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+…+</m:t>
                              </m:r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+</m:t>
                              </m:r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𝟎</m:t>
                              </m:r>
                            </m:e>
                          </m:d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f>
                            <m:f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𝒏</m:t>
                              </m:r>
                            </m:den>
                          </m:f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𝒏</m:t>
                              </m:r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𝟐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TW" dirty="0"/>
              </a:p>
              <a:p>
                <a:endParaRPr lang="en-US" altLang="zh-TW" dirty="0" smtClean="0"/>
              </a:p>
              <a:p>
                <a:r>
                  <a:rPr lang="zh-TW" altLang="en-US" dirty="0" smtClean="0"/>
                  <a:t>時間複雜度：</a:t>
                </a:r>
                <a:r>
                  <a:rPr lang="en-US" altLang="zh-TW" dirty="0" smtClean="0">
                    <a:solidFill>
                      <a:srgbClr val="C00000"/>
                    </a:solidFill>
                  </a:rPr>
                  <a:t>O(</a:t>
                </a:r>
                <a:r>
                  <a:rPr lang="en-US" altLang="zh-TW" i="1" dirty="0" smtClean="0">
                    <a:solidFill>
                      <a:srgbClr val="C00000"/>
                    </a:solidFill>
                  </a:rPr>
                  <a:t>n</a:t>
                </a:r>
                <a:r>
                  <a:rPr lang="en-US" altLang="zh-TW" dirty="0" smtClean="0">
                    <a:solidFill>
                      <a:srgbClr val="C00000"/>
                    </a:solidFill>
                  </a:rPr>
                  <a:t>)</a:t>
                </a:r>
                <a:endParaRPr lang="zh-TW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170980" y="1319014"/>
                <a:ext cx="8826061" cy="509887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23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170330" y="1647164"/>
          <a:ext cx="6672897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25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刪除點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err="1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000" b="1" i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– 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– 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需搬移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– 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– 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i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4488350" y="2042855"/>
            <a:ext cx="10390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 1 – </a:t>
            </a: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588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二維陣列及矩陣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270591" y="3603641"/>
                <a:ext cx="2468496" cy="8107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00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01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11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13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21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22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591" y="3603641"/>
                <a:ext cx="2468496" cy="81073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4869711" y="3414648"/>
          <a:ext cx="3051544" cy="1188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62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8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endParaRPr lang="zh-TW" altLang="en-US" sz="2000" b="1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  <a:endParaRPr lang="zh-TW" altLang="en-US" sz="2000" b="1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</a:t>
                      </a:r>
                      <a:endParaRPr lang="zh-TW" altLang="en-US" sz="2000" b="1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i="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i="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b="1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000" b="1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000" b="1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zh-TW" altLang="en-US" sz="2000" b="1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zh-TW" altLang="en-US" sz="2000" b="1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zh-TW" altLang="en-US" sz="2000" b="1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向右箭號 8"/>
          <p:cNvSpPr/>
          <p:nvPr/>
        </p:nvSpPr>
        <p:spPr>
          <a:xfrm>
            <a:off x="3930481" y="3806483"/>
            <a:ext cx="588364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1771305" y="2171850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數學表示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法</a:t>
            </a:r>
          </a:p>
        </p:txBody>
      </p:sp>
      <p:sp>
        <p:nvSpPr>
          <p:cNvPr id="11" name="矩形 10"/>
          <p:cNvSpPr/>
          <p:nvPr/>
        </p:nvSpPr>
        <p:spPr>
          <a:xfrm>
            <a:off x="5783328" y="2171850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資料結構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220145" y="2927084"/>
            <a:ext cx="5693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行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103928" y="2927084"/>
            <a:ext cx="5693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行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07540" y="3808953"/>
            <a:ext cx="5693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064507" y="3835028"/>
            <a:ext cx="5693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220144" y="5088404"/>
            <a:ext cx="4090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i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000" b="1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ij</a:t>
            </a:r>
            <a:endParaRPr lang="zh-TW" altLang="en-US" sz="2000" b="1" i="1" baseline="-25000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955650" y="5088404"/>
            <a:ext cx="8659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i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72035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/>
      <p:bldP spid="15" grpId="0"/>
      <p:bldP spid="16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矩陣的輸出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</a:t>
            </a:r>
            <a:r>
              <a:rPr lang="en-US" altLang="zh-TW" i="1" dirty="0" smtClean="0"/>
              <a:t>m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Symbol"/>
              </a:rPr>
              <a:t> </a:t>
            </a:r>
            <a:r>
              <a:rPr lang="en-US" altLang="zh-TW" i="1" dirty="0" smtClean="0">
                <a:sym typeface="Symbol"/>
              </a:rPr>
              <a:t>n</a:t>
            </a:r>
            <a:r>
              <a:rPr lang="zh-TW" altLang="en-US" dirty="0" smtClean="0">
                <a:sym typeface="Symbol"/>
              </a:rPr>
              <a:t>矩陣的資料輸出</a:t>
            </a:r>
            <a:endParaRPr lang="en-US" altLang="zh-TW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for (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 = 0;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 &lt; </a:t>
            </a:r>
            <a:r>
              <a:rPr lang="en-US" altLang="zh-TW" i="1" dirty="0" smtClean="0"/>
              <a:t>m</a:t>
            </a:r>
            <a:r>
              <a:rPr lang="en-US" altLang="zh-TW" dirty="0" smtClean="0"/>
              <a:t>;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++)</a:t>
            </a:r>
            <a:r>
              <a:rPr lang="zh-TW" altLang="en-US" dirty="0" smtClean="0"/>
              <a:t> </a:t>
            </a:r>
            <a:r>
              <a:rPr lang="en-US" altLang="zh-TW" dirty="0" smtClean="0"/>
              <a:t>{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 smtClean="0"/>
              <a:t>     </a:t>
            </a:r>
            <a:r>
              <a:rPr lang="en-US" altLang="zh-TW" dirty="0" smtClean="0"/>
              <a:t>for (</a:t>
            </a:r>
            <a:r>
              <a:rPr lang="en-US" altLang="zh-TW" i="1" dirty="0" smtClean="0"/>
              <a:t>j</a:t>
            </a:r>
            <a:r>
              <a:rPr lang="en-US" altLang="zh-TW" dirty="0" smtClean="0"/>
              <a:t> = 0; </a:t>
            </a:r>
            <a:r>
              <a:rPr lang="en-US" altLang="zh-TW" i="1" dirty="0" smtClean="0"/>
              <a:t>j</a:t>
            </a:r>
            <a:r>
              <a:rPr lang="en-US" altLang="zh-TW" dirty="0" smtClean="0"/>
              <a:t> &lt;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; </a:t>
            </a:r>
            <a:r>
              <a:rPr lang="en-US" altLang="zh-TW" i="1" dirty="0" err="1" smtClean="0"/>
              <a:t>j</a:t>
            </a:r>
            <a:r>
              <a:rPr lang="en-US" altLang="zh-TW" dirty="0" err="1" smtClean="0"/>
              <a:t>++</a:t>
            </a:r>
            <a:r>
              <a:rPr lang="en-US" altLang="zh-TW" dirty="0" smtClean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 smtClean="0"/>
              <a:t>          </a:t>
            </a:r>
            <a:r>
              <a:rPr lang="en-US" altLang="zh-TW" dirty="0" err="1" smtClean="0"/>
              <a:t>printf</a:t>
            </a:r>
            <a:r>
              <a:rPr lang="en-US" altLang="zh-TW" dirty="0" smtClean="0"/>
              <a:t>(“%d”, </a:t>
            </a:r>
            <a:r>
              <a:rPr lang="en-US" altLang="zh-TW" i="1" dirty="0" smtClean="0"/>
              <a:t>A</a:t>
            </a:r>
            <a:r>
              <a:rPr lang="en-US" altLang="zh-TW" dirty="0" smtClean="0"/>
              <a:t>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][</a:t>
            </a:r>
            <a:r>
              <a:rPr lang="en-US" altLang="zh-TW" i="1" dirty="0" smtClean="0"/>
              <a:t>j</a:t>
            </a:r>
            <a:r>
              <a:rPr lang="en-US" altLang="zh-TW" dirty="0" smtClean="0"/>
              <a:t>]);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 smtClean="0"/>
              <a:t>     </a:t>
            </a:r>
            <a:r>
              <a:rPr lang="en-US" altLang="zh-TW" dirty="0" err="1" smtClean="0"/>
              <a:t>printf</a:t>
            </a:r>
            <a:r>
              <a:rPr lang="en-US" altLang="zh-TW" dirty="0" smtClean="0"/>
              <a:t>(“\n”);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}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zh-TW" altLang="en-US" dirty="0" smtClean="0"/>
              <a:t>時間複雜度：</a:t>
            </a:r>
            <a:r>
              <a:rPr lang="en-US" altLang="zh-TW" dirty="0" smtClean="0">
                <a:solidFill>
                  <a:srgbClr val="C00000"/>
                </a:solidFill>
              </a:rPr>
              <a:t>O(</a:t>
            </a:r>
            <a:r>
              <a:rPr lang="en-US" altLang="zh-TW" i="1" dirty="0" smtClean="0">
                <a:solidFill>
                  <a:srgbClr val="C00000"/>
                </a:solidFill>
              </a:rPr>
              <a:t>m</a:t>
            </a:r>
            <a:r>
              <a:rPr lang="en-US" altLang="zh-TW" dirty="0" smtClean="0">
                <a:solidFill>
                  <a:srgbClr val="C00000"/>
                </a:solidFill>
              </a:rPr>
              <a:t> </a:t>
            </a:r>
            <a:r>
              <a:rPr lang="en-US" altLang="zh-TW" dirty="0" smtClean="0">
                <a:solidFill>
                  <a:srgbClr val="C00000"/>
                </a:solidFill>
                <a:sym typeface="Symbol"/>
              </a:rPr>
              <a:t> </a:t>
            </a:r>
            <a:r>
              <a:rPr lang="en-US" altLang="zh-TW" i="1" dirty="0" smtClean="0">
                <a:solidFill>
                  <a:srgbClr val="C00000"/>
                </a:solidFill>
                <a:sym typeface="Symbol"/>
              </a:rPr>
              <a:t>n</a:t>
            </a:r>
            <a:r>
              <a:rPr lang="en-US" altLang="zh-TW" dirty="0" smtClean="0">
                <a:solidFill>
                  <a:srgbClr val="C00000"/>
                </a:solidFill>
              </a:rPr>
              <a:t>)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3561907" y="1680804"/>
            <a:ext cx="2377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照顧矩陣的每一列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3561907" y="2060848"/>
            <a:ext cx="2377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照顧矩陣的</a:t>
            </a:r>
            <a:r>
              <a:rPr lang="zh-TW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每一行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561907" y="2812866"/>
            <a:ext cx="2121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印完一列要換行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/>
          </p:nvPr>
        </p:nvGraphicFramePr>
        <p:xfrm>
          <a:off x="4750694" y="4169950"/>
          <a:ext cx="3051544" cy="1188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62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8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endParaRPr lang="zh-TW" altLang="en-US" sz="2000" b="1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  <a:endParaRPr lang="zh-TW" altLang="en-US" sz="2000" b="1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</a:t>
                      </a:r>
                      <a:endParaRPr lang="zh-TW" altLang="en-US" sz="2000" b="1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i="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i="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b="1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000" b="1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000" b="1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zh-TW" altLang="en-US" sz="2000" b="1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zh-TW" altLang="en-US" sz="2000" b="1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0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zh-TW" altLang="en-US" sz="2000" b="1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7" name="群組 16"/>
          <p:cNvGrpSpPr/>
          <p:nvPr/>
        </p:nvGrpSpPr>
        <p:grpSpPr>
          <a:xfrm>
            <a:off x="1998650" y="4178616"/>
            <a:ext cx="2627642" cy="1188000"/>
            <a:chOff x="1998650" y="4380232"/>
            <a:chExt cx="2627642" cy="1188000"/>
          </a:xfrm>
        </p:grpSpPr>
        <p:cxnSp>
          <p:nvCxnSpPr>
            <p:cNvPr id="12" name="直線單箭頭接點 11"/>
            <p:cNvCxnSpPr/>
            <p:nvPr/>
          </p:nvCxnSpPr>
          <p:spPr>
            <a:xfrm flipH="1">
              <a:off x="4622452" y="4380232"/>
              <a:ext cx="1" cy="118800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1998650" y="4789566"/>
              <a:ext cx="262764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b="1" i="1" dirty="0" err="1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i</a:t>
              </a:r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由上而下</a:t>
              </a:r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照顧每一列</a:t>
              </a: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4750694" y="3645024"/>
            <a:ext cx="3060000" cy="400110"/>
            <a:chOff x="4750694" y="3846640"/>
            <a:chExt cx="3060000" cy="400110"/>
          </a:xfrm>
        </p:grpSpPr>
        <p:cxnSp>
          <p:nvCxnSpPr>
            <p:cNvPr id="14" name="直線單箭頭接點 13"/>
            <p:cNvCxnSpPr/>
            <p:nvPr/>
          </p:nvCxnSpPr>
          <p:spPr>
            <a:xfrm>
              <a:off x="4750694" y="4246750"/>
              <a:ext cx="3060000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/>
            <p:cNvSpPr/>
            <p:nvPr/>
          </p:nvSpPr>
          <p:spPr>
            <a:xfrm>
              <a:off x="4998933" y="3846640"/>
              <a:ext cx="256352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b="1" i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j</a:t>
              </a:r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由上而下</a:t>
              </a:r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照顧</a:t>
              </a:r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每一行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824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矩陣的轉置</a:t>
            </a:r>
            <a:r>
              <a:rPr lang="en-US" altLang="zh-TW" dirty="0" smtClean="0"/>
              <a:t>(transpose)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i="1" dirty="0" smtClean="0"/>
              <a:t>A</a:t>
            </a:r>
            <a:r>
              <a:rPr lang="zh-TW" altLang="en-US" dirty="0" smtClean="0"/>
              <a:t>為</a:t>
            </a:r>
            <a:r>
              <a:rPr lang="en-US" altLang="zh-TW" i="1" dirty="0" smtClean="0"/>
              <a:t>m</a:t>
            </a:r>
            <a:r>
              <a:rPr lang="zh-TW" altLang="en-US" dirty="0" smtClean="0"/>
              <a:t> </a:t>
            </a:r>
            <a:r>
              <a:rPr lang="en-US" altLang="zh-TW" dirty="0" smtClean="0">
                <a:sym typeface="Symbol"/>
              </a:rPr>
              <a:t></a:t>
            </a:r>
            <a:r>
              <a:rPr lang="zh-TW" altLang="en-US" dirty="0" smtClean="0">
                <a:sym typeface="Symbol"/>
              </a:rPr>
              <a:t> </a:t>
            </a:r>
            <a:r>
              <a:rPr lang="en-US" altLang="zh-TW" i="1" dirty="0" smtClean="0">
                <a:sym typeface="Symbol"/>
              </a:rPr>
              <a:t>n</a:t>
            </a:r>
            <a:r>
              <a:rPr lang="zh-TW" altLang="en-US" dirty="0" smtClean="0">
                <a:sym typeface="Symbol"/>
              </a:rPr>
              <a:t>的矩陣，則</a:t>
            </a:r>
            <a:r>
              <a:rPr lang="en-US" altLang="zh-TW" i="1" dirty="0" smtClean="0">
                <a:sym typeface="Symbol"/>
              </a:rPr>
              <a:t>A</a:t>
            </a:r>
            <a:r>
              <a:rPr lang="zh-TW" altLang="en-US" dirty="0" smtClean="0">
                <a:sym typeface="Symbol"/>
              </a:rPr>
              <a:t>的轉置矩陣</a:t>
            </a:r>
            <a:r>
              <a:rPr lang="en-US" altLang="zh-TW" i="1" dirty="0" smtClean="0">
                <a:sym typeface="Symbol"/>
              </a:rPr>
              <a:t>B</a:t>
            </a:r>
            <a:r>
              <a:rPr lang="en-US" altLang="zh-TW" dirty="0" smtClean="0">
                <a:sym typeface="Symbol"/>
              </a:rPr>
              <a:t>(=</a:t>
            </a:r>
            <a:r>
              <a:rPr lang="zh-TW" altLang="en-US" dirty="0" smtClean="0">
                <a:sym typeface="Symbol"/>
              </a:rPr>
              <a:t> </a:t>
            </a:r>
            <a:r>
              <a:rPr lang="en-US" altLang="zh-TW" i="1" dirty="0" smtClean="0">
                <a:sym typeface="Symbol"/>
              </a:rPr>
              <a:t>A</a:t>
            </a:r>
            <a:r>
              <a:rPr lang="en-US" altLang="zh-TW" i="1" baseline="30000" dirty="0" smtClean="0">
                <a:sym typeface="Symbol"/>
              </a:rPr>
              <a:t>T</a:t>
            </a:r>
            <a:r>
              <a:rPr lang="en-US" altLang="zh-TW" dirty="0" smtClean="0">
                <a:sym typeface="Symbol"/>
              </a:rPr>
              <a:t>)</a:t>
            </a:r>
            <a:r>
              <a:rPr lang="zh-TW" altLang="en-US" dirty="0" smtClean="0">
                <a:sym typeface="Symbol"/>
              </a:rPr>
              <a:t>為</a:t>
            </a:r>
            <a:r>
              <a:rPr lang="en-US" altLang="zh-TW" i="1" dirty="0" smtClean="0">
                <a:sym typeface="Symbol"/>
              </a:rPr>
              <a:t>n</a:t>
            </a:r>
            <a:r>
              <a:rPr lang="en-US" altLang="zh-TW" dirty="0" smtClean="0">
                <a:sym typeface="Symbol"/>
              </a:rPr>
              <a:t>  </a:t>
            </a:r>
            <a:r>
              <a:rPr lang="en-US" altLang="zh-TW" i="1" dirty="0" smtClean="0">
                <a:sym typeface="Symbol"/>
              </a:rPr>
              <a:t>m</a:t>
            </a:r>
            <a:r>
              <a:rPr lang="zh-TW" altLang="en-US" dirty="0" smtClean="0">
                <a:sym typeface="Symbol"/>
              </a:rPr>
              <a:t>的矩陣</a:t>
            </a:r>
            <a:endParaRPr lang="en-US" altLang="zh-TW" dirty="0" smtClean="0">
              <a:sym typeface="Symbol"/>
            </a:endParaRPr>
          </a:p>
          <a:p>
            <a:pPr lvl="1"/>
            <a:r>
              <a:rPr lang="en-US" altLang="zh-TW" i="1" dirty="0" smtClean="0">
                <a:solidFill>
                  <a:srgbClr val="C00000"/>
                </a:solidFill>
                <a:sym typeface="Symbol"/>
              </a:rPr>
              <a:t>B</a:t>
            </a:r>
            <a:r>
              <a:rPr lang="en-US" altLang="zh-TW" dirty="0" smtClean="0">
                <a:solidFill>
                  <a:srgbClr val="C00000"/>
                </a:solidFill>
                <a:sym typeface="Symbol"/>
              </a:rPr>
              <a:t>[</a:t>
            </a:r>
            <a:r>
              <a:rPr lang="en-US" altLang="zh-TW" i="1" dirty="0" smtClean="0">
                <a:solidFill>
                  <a:srgbClr val="C00000"/>
                </a:solidFill>
                <a:sym typeface="Symbol"/>
              </a:rPr>
              <a:t>j</a:t>
            </a:r>
            <a:r>
              <a:rPr lang="en-US" altLang="zh-TW" dirty="0" smtClean="0">
                <a:solidFill>
                  <a:srgbClr val="C00000"/>
                </a:solidFill>
                <a:sym typeface="Symbol"/>
              </a:rPr>
              <a:t>][</a:t>
            </a:r>
            <a:r>
              <a:rPr lang="en-US" altLang="zh-TW" i="1" dirty="0" err="1" smtClean="0">
                <a:solidFill>
                  <a:srgbClr val="C00000"/>
                </a:solidFill>
                <a:sym typeface="Symbol"/>
              </a:rPr>
              <a:t>i</a:t>
            </a:r>
            <a:r>
              <a:rPr lang="en-US" altLang="zh-TW" dirty="0" smtClean="0">
                <a:solidFill>
                  <a:srgbClr val="C00000"/>
                </a:solidFill>
                <a:sym typeface="Symbol"/>
              </a:rPr>
              <a:t>] = </a:t>
            </a:r>
            <a:r>
              <a:rPr lang="en-US" altLang="zh-TW" i="1" dirty="0" smtClean="0">
                <a:solidFill>
                  <a:srgbClr val="C00000"/>
                </a:solidFill>
                <a:sym typeface="Symbol"/>
              </a:rPr>
              <a:t>A</a:t>
            </a:r>
            <a:r>
              <a:rPr lang="en-US" altLang="zh-TW" dirty="0" smtClean="0">
                <a:solidFill>
                  <a:srgbClr val="C00000"/>
                </a:solidFill>
                <a:sym typeface="Symbol"/>
              </a:rPr>
              <a:t>[</a:t>
            </a:r>
            <a:r>
              <a:rPr lang="en-US" altLang="zh-TW" i="1" dirty="0" err="1" smtClean="0">
                <a:solidFill>
                  <a:srgbClr val="C00000"/>
                </a:solidFill>
                <a:sym typeface="Symbol"/>
              </a:rPr>
              <a:t>i</a:t>
            </a:r>
            <a:r>
              <a:rPr lang="en-US" altLang="zh-TW" dirty="0" smtClean="0">
                <a:solidFill>
                  <a:srgbClr val="C00000"/>
                </a:solidFill>
                <a:sym typeface="Symbol"/>
              </a:rPr>
              <a:t>][</a:t>
            </a:r>
            <a:r>
              <a:rPr lang="en-US" altLang="zh-TW" i="1" dirty="0" smtClean="0">
                <a:solidFill>
                  <a:srgbClr val="C00000"/>
                </a:solidFill>
                <a:sym typeface="Symbol"/>
              </a:rPr>
              <a:t>j</a:t>
            </a:r>
            <a:r>
              <a:rPr lang="en-US" altLang="zh-TW" dirty="0" smtClean="0">
                <a:solidFill>
                  <a:srgbClr val="C00000"/>
                </a:solidFill>
                <a:sym typeface="Symbol"/>
              </a:rPr>
              <a:t>]</a:t>
            </a:r>
          </a:p>
          <a:p>
            <a:endParaRPr lang="en-US" altLang="zh-TW" dirty="0">
              <a:sym typeface="Symbol"/>
            </a:endParaRPr>
          </a:p>
          <a:p>
            <a:endParaRPr lang="en-US" altLang="zh-TW" dirty="0" smtClean="0">
              <a:sym typeface="Symbol"/>
            </a:endParaRPr>
          </a:p>
          <a:p>
            <a:endParaRPr lang="en-US" altLang="zh-TW" dirty="0">
              <a:sym typeface="Symbol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TW" dirty="0" smtClean="0">
              <a:sym typeface="Symbol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>
                <a:sym typeface="Symbol"/>
              </a:rPr>
              <a:t>for (</a:t>
            </a:r>
            <a:r>
              <a:rPr lang="en-US" altLang="zh-TW" i="1" dirty="0" err="1" smtClean="0">
                <a:sym typeface="Symbol"/>
              </a:rPr>
              <a:t>i</a:t>
            </a:r>
            <a:r>
              <a:rPr lang="en-US" altLang="zh-TW" dirty="0" smtClean="0">
                <a:sym typeface="Symbol"/>
              </a:rPr>
              <a:t> = 0; </a:t>
            </a:r>
            <a:r>
              <a:rPr lang="en-US" altLang="zh-TW" i="1" dirty="0" err="1" smtClean="0">
                <a:sym typeface="Symbol"/>
              </a:rPr>
              <a:t>i</a:t>
            </a:r>
            <a:r>
              <a:rPr lang="en-US" altLang="zh-TW" dirty="0" smtClean="0">
                <a:sym typeface="Symbol"/>
              </a:rPr>
              <a:t> &lt; </a:t>
            </a:r>
            <a:r>
              <a:rPr lang="en-US" altLang="zh-TW" i="1" dirty="0" smtClean="0">
                <a:sym typeface="Symbol"/>
              </a:rPr>
              <a:t>m</a:t>
            </a:r>
            <a:r>
              <a:rPr lang="en-US" altLang="zh-TW" dirty="0" smtClean="0">
                <a:sym typeface="Symbol"/>
              </a:rPr>
              <a:t>; </a:t>
            </a:r>
            <a:r>
              <a:rPr lang="en-US" altLang="zh-TW" i="1" dirty="0" err="1" smtClean="0">
                <a:sym typeface="Symbol"/>
              </a:rPr>
              <a:t>i</a:t>
            </a:r>
            <a:r>
              <a:rPr lang="en-US" altLang="zh-TW" dirty="0" smtClean="0">
                <a:sym typeface="Symbol"/>
              </a:rPr>
              <a:t>++)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>
                <a:sym typeface="Symbol"/>
              </a:rPr>
              <a:t>     for (</a:t>
            </a:r>
            <a:r>
              <a:rPr lang="en-US" altLang="zh-TW" i="1" dirty="0" smtClean="0">
                <a:sym typeface="Symbol"/>
              </a:rPr>
              <a:t>j</a:t>
            </a:r>
            <a:r>
              <a:rPr lang="en-US" altLang="zh-TW" dirty="0" smtClean="0">
                <a:sym typeface="Symbol"/>
              </a:rPr>
              <a:t> = 0; </a:t>
            </a:r>
            <a:r>
              <a:rPr lang="en-US" altLang="zh-TW" i="1" dirty="0" smtClean="0">
                <a:sym typeface="Symbol"/>
              </a:rPr>
              <a:t>j</a:t>
            </a:r>
            <a:r>
              <a:rPr lang="en-US" altLang="zh-TW" dirty="0" smtClean="0">
                <a:sym typeface="Symbol"/>
              </a:rPr>
              <a:t> &lt; </a:t>
            </a:r>
            <a:r>
              <a:rPr lang="en-US" altLang="zh-TW" i="1" dirty="0" smtClean="0">
                <a:sym typeface="Symbol"/>
              </a:rPr>
              <a:t>n</a:t>
            </a:r>
            <a:r>
              <a:rPr lang="en-US" altLang="zh-TW" dirty="0" smtClean="0">
                <a:sym typeface="Symbol"/>
              </a:rPr>
              <a:t>; </a:t>
            </a:r>
            <a:r>
              <a:rPr lang="en-US" altLang="zh-TW" i="1" dirty="0" err="1" smtClean="0">
                <a:sym typeface="Symbol"/>
              </a:rPr>
              <a:t>j</a:t>
            </a:r>
            <a:r>
              <a:rPr lang="en-US" altLang="zh-TW" dirty="0" err="1" smtClean="0">
                <a:sym typeface="Symbol"/>
              </a:rPr>
              <a:t>++</a:t>
            </a:r>
            <a:r>
              <a:rPr lang="en-US" altLang="zh-TW" dirty="0" smtClean="0">
                <a:sym typeface="Symbol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>
                <a:sym typeface="Symbol"/>
              </a:rPr>
              <a:t>          </a:t>
            </a:r>
            <a:r>
              <a:rPr lang="en-US" altLang="zh-TW" i="1" dirty="0" smtClean="0">
                <a:sym typeface="Symbol"/>
              </a:rPr>
              <a:t>B</a:t>
            </a:r>
            <a:r>
              <a:rPr lang="en-US" altLang="zh-TW" dirty="0" smtClean="0">
                <a:sym typeface="Symbol"/>
              </a:rPr>
              <a:t>[</a:t>
            </a:r>
            <a:r>
              <a:rPr lang="en-US" altLang="zh-TW" i="1" dirty="0" smtClean="0">
                <a:sym typeface="Symbol"/>
              </a:rPr>
              <a:t>j</a:t>
            </a:r>
            <a:r>
              <a:rPr lang="en-US" altLang="zh-TW" dirty="0" smtClean="0">
                <a:sym typeface="Symbol"/>
              </a:rPr>
              <a:t>][</a:t>
            </a:r>
            <a:r>
              <a:rPr lang="en-US" altLang="zh-TW" i="1" dirty="0" err="1" smtClean="0">
                <a:sym typeface="Symbol"/>
              </a:rPr>
              <a:t>i</a:t>
            </a:r>
            <a:r>
              <a:rPr lang="en-US" altLang="zh-TW" dirty="0" smtClean="0">
                <a:sym typeface="Symbol"/>
              </a:rPr>
              <a:t>] = </a:t>
            </a:r>
            <a:r>
              <a:rPr lang="en-US" altLang="zh-TW" i="1" dirty="0" smtClean="0">
                <a:sym typeface="Symbol"/>
              </a:rPr>
              <a:t>A</a:t>
            </a:r>
            <a:r>
              <a:rPr lang="en-US" altLang="zh-TW" dirty="0" smtClean="0">
                <a:sym typeface="Symbol"/>
              </a:rPr>
              <a:t>[</a:t>
            </a:r>
            <a:r>
              <a:rPr lang="en-US" altLang="zh-TW" i="1" dirty="0" err="1" smtClean="0">
                <a:sym typeface="Symbol"/>
              </a:rPr>
              <a:t>i</a:t>
            </a:r>
            <a:r>
              <a:rPr lang="en-US" altLang="zh-TW" dirty="0" smtClean="0">
                <a:sym typeface="Symbol"/>
              </a:rPr>
              <a:t>][</a:t>
            </a:r>
            <a:r>
              <a:rPr lang="en-US" altLang="zh-TW" i="1" dirty="0" smtClean="0">
                <a:sym typeface="Symbol"/>
              </a:rPr>
              <a:t>j</a:t>
            </a:r>
            <a:r>
              <a:rPr lang="en-US" altLang="zh-TW" dirty="0" smtClean="0">
                <a:sym typeface="Symbol"/>
              </a:rPr>
              <a:t>];</a:t>
            </a:r>
          </a:p>
          <a:p>
            <a:endParaRPr lang="en-US" altLang="zh-TW" dirty="0" smtClean="0">
              <a:sym typeface="Symbol"/>
            </a:endParaRPr>
          </a:p>
          <a:p>
            <a:endParaRPr lang="en-US" altLang="zh-TW" dirty="0">
              <a:sym typeface="Symbol"/>
            </a:endParaRPr>
          </a:p>
          <a:p>
            <a:r>
              <a:rPr lang="zh-TW" altLang="en-US" dirty="0" smtClean="0">
                <a:sym typeface="Symbol"/>
              </a:rPr>
              <a:t>時間複雜度：</a:t>
            </a:r>
            <a:r>
              <a:rPr lang="en-US" altLang="zh-TW" dirty="0" smtClean="0">
                <a:solidFill>
                  <a:srgbClr val="C00000"/>
                </a:solidFill>
                <a:sym typeface="Symbol"/>
              </a:rPr>
              <a:t>O(</a:t>
            </a:r>
            <a:r>
              <a:rPr lang="en-US" altLang="zh-TW" i="1" dirty="0" smtClean="0">
                <a:solidFill>
                  <a:srgbClr val="C00000"/>
                </a:solidFill>
                <a:sym typeface="Symbol"/>
              </a:rPr>
              <a:t>m</a:t>
            </a:r>
            <a:r>
              <a:rPr lang="en-US" altLang="zh-TW" dirty="0" smtClean="0">
                <a:solidFill>
                  <a:srgbClr val="C00000"/>
                </a:solidFill>
                <a:sym typeface="Symbol"/>
              </a:rPr>
              <a:t>  </a:t>
            </a:r>
            <a:r>
              <a:rPr lang="en-US" altLang="zh-TW" i="1" dirty="0" smtClean="0">
                <a:solidFill>
                  <a:srgbClr val="C00000"/>
                </a:solidFill>
                <a:sym typeface="Symbol"/>
              </a:rPr>
              <a:t>n</a:t>
            </a:r>
            <a:r>
              <a:rPr lang="en-US" altLang="zh-TW" dirty="0" smtClean="0">
                <a:solidFill>
                  <a:srgbClr val="C00000"/>
                </a:solidFill>
                <a:sym typeface="Symbol"/>
              </a:rPr>
              <a:t>)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398182" y="2273787"/>
                <a:ext cx="6144054" cy="11128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</a:rPr>
                        <m:t>𝐴</m:t>
                      </m:r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00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01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11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13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21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22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TW" b="0" i="1" smtClean="0">
                          <a:latin typeface="Cambria Math"/>
                        </a:rPr>
                        <m:t>          </m:t>
                      </m:r>
                      <m:r>
                        <a:rPr lang="en-US" altLang="zh-TW" b="0" i="1" smtClean="0">
                          <a:latin typeface="Cambria Math"/>
                        </a:rPr>
                        <m:t>𝐵</m:t>
                      </m:r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𝐴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00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11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21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22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13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 smtClean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182" y="2273787"/>
                <a:ext cx="6144054" cy="111280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0191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矩陣的相加</a:t>
            </a:r>
            <a:r>
              <a:rPr lang="en-US" altLang="zh-TW" dirty="0" smtClean="0"/>
              <a:t>(addition)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170980" y="1319014"/>
                <a:ext cx="8826061" cy="509887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r>
                  <a:rPr lang="zh-TW" altLang="en-US" dirty="0" smtClean="0"/>
                  <a:t>相對應的元素相加：</a:t>
                </a:r>
                <a:r>
                  <a:rPr lang="en-US" altLang="zh-TW" i="1" dirty="0" smtClean="0">
                    <a:solidFill>
                      <a:srgbClr val="C00000"/>
                    </a:solidFill>
                  </a:rPr>
                  <a:t>C</a:t>
                </a:r>
                <a:r>
                  <a:rPr lang="en-US" altLang="zh-TW" dirty="0" smtClean="0">
                    <a:solidFill>
                      <a:srgbClr val="C00000"/>
                    </a:solidFill>
                  </a:rPr>
                  <a:t>[</a:t>
                </a:r>
                <a:r>
                  <a:rPr lang="en-US" altLang="zh-TW" i="1" dirty="0" err="1" smtClean="0">
                    <a:solidFill>
                      <a:srgbClr val="C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C00000"/>
                    </a:solidFill>
                  </a:rPr>
                  <a:t>][</a:t>
                </a:r>
                <a:r>
                  <a:rPr lang="en-US" altLang="zh-TW" i="1" dirty="0" smtClean="0">
                    <a:solidFill>
                      <a:srgbClr val="C00000"/>
                    </a:solidFill>
                  </a:rPr>
                  <a:t>j</a:t>
                </a:r>
                <a:r>
                  <a:rPr lang="en-US" altLang="zh-TW" dirty="0" smtClean="0">
                    <a:solidFill>
                      <a:srgbClr val="C00000"/>
                    </a:solidFill>
                  </a:rPr>
                  <a:t>] = </a:t>
                </a:r>
                <a:r>
                  <a:rPr lang="en-US" altLang="zh-TW" i="1" dirty="0" smtClean="0">
                    <a:solidFill>
                      <a:srgbClr val="C00000"/>
                    </a:solidFill>
                  </a:rPr>
                  <a:t>A</a:t>
                </a:r>
                <a:r>
                  <a:rPr lang="en-US" altLang="zh-TW" dirty="0" smtClean="0">
                    <a:solidFill>
                      <a:srgbClr val="C00000"/>
                    </a:solidFill>
                  </a:rPr>
                  <a:t>[</a:t>
                </a:r>
                <a:r>
                  <a:rPr lang="en-US" altLang="zh-TW" i="1" dirty="0" err="1" smtClean="0">
                    <a:solidFill>
                      <a:srgbClr val="C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C00000"/>
                    </a:solidFill>
                  </a:rPr>
                  <a:t>][</a:t>
                </a:r>
                <a:r>
                  <a:rPr lang="en-US" altLang="zh-TW" i="1" dirty="0" smtClean="0">
                    <a:solidFill>
                      <a:srgbClr val="C00000"/>
                    </a:solidFill>
                  </a:rPr>
                  <a:t>j</a:t>
                </a:r>
                <a:r>
                  <a:rPr lang="en-US" altLang="zh-TW" dirty="0" smtClean="0">
                    <a:solidFill>
                      <a:srgbClr val="C00000"/>
                    </a:solidFill>
                  </a:rPr>
                  <a:t>] + </a:t>
                </a:r>
                <a:r>
                  <a:rPr lang="en-US" altLang="zh-TW" i="1" dirty="0" smtClean="0">
                    <a:solidFill>
                      <a:srgbClr val="C00000"/>
                    </a:solidFill>
                  </a:rPr>
                  <a:t>B</a:t>
                </a:r>
                <a:r>
                  <a:rPr lang="en-US" altLang="zh-TW" dirty="0" smtClean="0">
                    <a:solidFill>
                      <a:srgbClr val="C00000"/>
                    </a:solidFill>
                  </a:rPr>
                  <a:t>[</a:t>
                </a:r>
                <a:r>
                  <a:rPr lang="en-US" altLang="zh-TW" i="1" dirty="0" err="1" smtClean="0">
                    <a:solidFill>
                      <a:srgbClr val="C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C00000"/>
                    </a:solidFill>
                  </a:rPr>
                  <a:t>][</a:t>
                </a:r>
                <a:r>
                  <a:rPr lang="en-US" altLang="zh-TW" i="1" dirty="0" smtClean="0">
                    <a:solidFill>
                      <a:srgbClr val="C00000"/>
                    </a:solidFill>
                  </a:rPr>
                  <a:t>j</a:t>
                </a:r>
                <a:r>
                  <a:rPr lang="en-US" altLang="zh-TW" dirty="0" smtClean="0">
                    <a:solidFill>
                      <a:srgbClr val="C00000"/>
                    </a:solidFill>
                  </a:rPr>
                  <a:t>]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00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01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1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0</m:t>
                                        </m:r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0</m:t>
                                        </m:r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13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2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b="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TW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TW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US" altLang="zh-TW" b="0" i="1">
                        <a:latin typeface="Cambria Math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00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01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10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02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03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13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20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US" altLang="zh-TW" b="1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dirty="0"/>
                  <a:t>=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00</m:t>
                                        </m:r>
                                      </m:sub>
                                    </m:sSub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00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01</m:t>
                                        </m:r>
                                      </m:sub>
                                    </m:sSub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01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10</m:t>
                                        </m:r>
                                      </m:sub>
                                    </m:sSub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1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02</m:t>
                                        </m:r>
                                      </m:sub>
                                    </m:sSub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0</m:t>
                                        </m:r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03</m:t>
                                        </m:r>
                                      </m:sub>
                                    </m:sSub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0</m:t>
                                        </m:r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13</m:t>
                                        </m:r>
                                      </m:sub>
                                    </m:sSub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13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20</m:t>
                                        </m:r>
                                      </m:sub>
                                    </m:sSub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2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>
                                            <a:latin typeface="Cambria Math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altLang="zh-TW" dirty="0"/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dirty="0" smtClean="0">
                  <a:sym typeface="Symbol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dirty="0" smtClean="0">
                    <a:sym typeface="Symbol"/>
                  </a:rPr>
                  <a:t>for </a:t>
                </a:r>
                <a:r>
                  <a:rPr lang="en-US" altLang="zh-TW" dirty="0">
                    <a:sym typeface="Symbol"/>
                  </a:rPr>
                  <a:t>(</a:t>
                </a:r>
                <a:r>
                  <a:rPr lang="en-US" altLang="zh-TW" i="1" dirty="0" err="1">
                    <a:sym typeface="Symbol"/>
                  </a:rPr>
                  <a:t>i</a:t>
                </a:r>
                <a:r>
                  <a:rPr lang="en-US" altLang="zh-TW" dirty="0">
                    <a:sym typeface="Symbol"/>
                  </a:rPr>
                  <a:t> = 0; </a:t>
                </a:r>
                <a:r>
                  <a:rPr lang="en-US" altLang="zh-TW" i="1" dirty="0" err="1">
                    <a:sym typeface="Symbol"/>
                  </a:rPr>
                  <a:t>i</a:t>
                </a:r>
                <a:r>
                  <a:rPr lang="en-US" altLang="zh-TW" dirty="0">
                    <a:sym typeface="Symbol"/>
                  </a:rPr>
                  <a:t> &lt; </a:t>
                </a:r>
                <a:r>
                  <a:rPr lang="en-US" altLang="zh-TW" i="1" dirty="0">
                    <a:sym typeface="Symbol"/>
                  </a:rPr>
                  <a:t>m</a:t>
                </a:r>
                <a:r>
                  <a:rPr lang="en-US" altLang="zh-TW" dirty="0">
                    <a:sym typeface="Symbol"/>
                  </a:rPr>
                  <a:t>; </a:t>
                </a:r>
                <a:r>
                  <a:rPr lang="en-US" altLang="zh-TW" i="1" dirty="0" err="1">
                    <a:sym typeface="Symbol"/>
                  </a:rPr>
                  <a:t>i</a:t>
                </a:r>
                <a:r>
                  <a:rPr lang="en-US" altLang="zh-TW" dirty="0">
                    <a:sym typeface="Symbol"/>
                  </a:rPr>
                  <a:t>++)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dirty="0">
                    <a:sym typeface="Symbol"/>
                  </a:rPr>
                  <a:t>     for (</a:t>
                </a:r>
                <a:r>
                  <a:rPr lang="en-US" altLang="zh-TW" i="1" dirty="0">
                    <a:sym typeface="Symbol"/>
                  </a:rPr>
                  <a:t>j</a:t>
                </a:r>
                <a:r>
                  <a:rPr lang="en-US" altLang="zh-TW" dirty="0">
                    <a:sym typeface="Symbol"/>
                  </a:rPr>
                  <a:t> = 0; </a:t>
                </a:r>
                <a:r>
                  <a:rPr lang="en-US" altLang="zh-TW" i="1" dirty="0">
                    <a:sym typeface="Symbol"/>
                  </a:rPr>
                  <a:t>j</a:t>
                </a:r>
                <a:r>
                  <a:rPr lang="en-US" altLang="zh-TW" dirty="0">
                    <a:sym typeface="Symbol"/>
                  </a:rPr>
                  <a:t> &lt; </a:t>
                </a:r>
                <a:r>
                  <a:rPr lang="en-US" altLang="zh-TW" i="1" dirty="0">
                    <a:sym typeface="Symbol"/>
                  </a:rPr>
                  <a:t>n</a:t>
                </a:r>
                <a:r>
                  <a:rPr lang="en-US" altLang="zh-TW" dirty="0">
                    <a:sym typeface="Symbol"/>
                  </a:rPr>
                  <a:t>; </a:t>
                </a:r>
                <a:r>
                  <a:rPr lang="en-US" altLang="zh-TW" i="1" dirty="0" err="1">
                    <a:sym typeface="Symbol"/>
                  </a:rPr>
                  <a:t>j</a:t>
                </a:r>
                <a:r>
                  <a:rPr lang="en-US" altLang="zh-TW" dirty="0" err="1">
                    <a:sym typeface="Symbol"/>
                  </a:rPr>
                  <a:t>++</a:t>
                </a:r>
                <a:r>
                  <a:rPr lang="en-US" altLang="zh-TW" dirty="0">
                    <a:sym typeface="Symbol"/>
                  </a:rPr>
                  <a:t>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dirty="0">
                    <a:sym typeface="Symbol"/>
                  </a:rPr>
                  <a:t>          </a:t>
                </a:r>
                <a:r>
                  <a:rPr lang="en-US" altLang="zh-TW" i="1" dirty="0" smtClean="0">
                    <a:sym typeface="Symbol"/>
                  </a:rPr>
                  <a:t>C</a:t>
                </a:r>
                <a:r>
                  <a:rPr lang="en-US" altLang="zh-TW" dirty="0" smtClean="0">
                    <a:sym typeface="Symbol"/>
                  </a:rPr>
                  <a:t>[</a:t>
                </a:r>
                <a:r>
                  <a:rPr lang="en-US" altLang="zh-TW" i="1" dirty="0" err="1" smtClean="0">
                    <a:sym typeface="Symbol"/>
                  </a:rPr>
                  <a:t>i</a:t>
                </a:r>
                <a:r>
                  <a:rPr lang="en-US" altLang="zh-TW" dirty="0" smtClean="0">
                    <a:sym typeface="Symbol"/>
                  </a:rPr>
                  <a:t>][</a:t>
                </a:r>
                <a:r>
                  <a:rPr lang="en-US" altLang="zh-TW" i="1" dirty="0" smtClean="0">
                    <a:sym typeface="Symbol"/>
                  </a:rPr>
                  <a:t>j</a:t>
                </a:r>
                <a:r>
                  <a:rPr lang="en-US" altLang="zh-TW" dirty="0" smtClean="0">
                    <a:sym typeface="Symbol"/>
                  </a:rPr>
                  <a:t>] </a:t>
                </a:r>
                <a:r>
                  <a:rPr lang="en-US" altLang="zh-TW" dirty="0">
                    <a:sym typeface="Symbol"/>
                  </a:rPr>
                  <a:t>= </a:t>
                </a:r>
                <a:r>
                  <a:rPr lang="en-US" altLang="zh-TW" i="1" dirty="0">
                    <a:sym typeface="Symbol"/>
                  </a:rPr>
                  <a:t>A</a:t>
                </a:r>
                <a:r>
                  <a:rPr lang="en-US" altLang="zh-TW" dirty="0">
                    <a:sym typeface="Symbol"/>
                  </a:rPr>
                  <a:t>[</a:t>
                </a:r>
                <a:r>
                  <a:rPr lang="en-US" altLang="zh-TW" i="1" dirty="0" err="1">
                    <a:sym typeface="Symbol"/>
                  </a:rPr>
                  <a:t>i</a:t>
                </a:r>
                <a:r>
                  <a:rPr lang="en-US" altLang="zh-TW" dirty="0">
                    <a:sym typeface="Symbol"/>
                  </a:rPr>
                  <a:t>][</a:t>
                </a:r>
                <a:r>
                  <a:rPr lang="en-US" altLang="zh-TW" i="1" dirty="0">
                    <a:sym typeface="Symbol"/>
                  </a:rPr>
                  <a:t>j</a:t>
                </a:r>
                <a:r>
                  <a:rPr lang="en-US" altLang="zh-TW" dirty="0" smtClean="0">
                    <a:sym typeface="Symbol"/>
                  </a:rPr>
                  <a:t>] + </a:t>
                </a:r>
                <a:r>
                  <a:rPr lang="en-US" altLang="zh-TW" i="1" dirty="0" smtClean="0">
                    <a:sym typeface="Symbol"/>
                  </a:rPr>
                  <a:t>B</a:t>
                </a:r>
                <a:r>
                  <a:rPr lang="en-US" altLang="zh-TW" dirty="0" smtClean="0">
                    <a:sym typeface="Symbol"/>
                  </a:rPr>
                  <a:t>[</a:t>
                </a:r>
                <a:r>
                  <a:rPr lang="en-US" altLang="zh-TW" i="1" dirty="0" err="1" smtClean="0">
                    <a:sym typeface="Symbol"/>
                  </a:rPr>
                  <a:t>i</a:t>
                </a:r>
                <a:r>
                  <a:rPr lang="en-US" altLang="zh-TW" dirty="0" smtClean="0">
                    <a:sym typeface="Symbol"/>
                  </a:rPr>
                  <a:t>][</a:t>
                </a:r>
                <a:r>
                  <a:rPr lang="en-US" altLang="zh-TW" i="1" dirty="0" smtClean="0">
                    <a:sym typeface="Symbol"/>
                  </a:rPr>
                  <a:t>j</a:t>
                </a:r>
                <a:r>
                  <a:rPr lang="en-US" altLang="zh-TW" dirty="0" smtClean="0">
                    <a:sym typeface="Symbol"/>
                  </a:rPr>
                  <a:t>];</a:t>
                </a:r>
                <a:endParaRPr lang="en-US" altLang="zh-TW" dirty="0">
                  <a:sym typeface="Symbol"/>
                </a:endParaRPr>
              </a:p>
              <a:p>
                <a:endParaRPr lang="en-US" altLang="zh-TW" dirty="0" smtClean="0">
                  <a:sym typeface="Symbol"/>
                </a:endParaRPr>
              </a:p>
              <a:p>
                <a:r>
                  <a:rPr lang="zh-TW" altLang="en-US" dirty="0" smtClean="0">
                    <a:sym typeface="Symbol"/>
                  </a:rPr>
                  <a:t>時間</a:t>
                </a:r>
                <a:r>
                  <a:rPr lang="zh-TW" altLang="en-US" dirty="0">
                    <a:sym typeface="Symbol"/>
                  </a:rPr>
                  <a:t>複雜度：</a:t>
                </a:r>
                <a:r>
                  <a:rPr lang="en-US" altLang="zh-TW" dirty="0">
                    <a:solidFill>
                      <a:srgbClr val="C00000"/>
                    </a:solidFill>
                    <a:sym typeface="Symbol"/>
                  </a:rPr>
                  <a:t>O(</a:t>
                </a:r>
                <a:r>
                  <a:rPr lang="en-US" altLang="zh-TW" i="1" dirty="0">
                    <a:solidFill>
                      <a:srgbClr val="C00000"/>
                    </a:solidFill>
                    <a:sym typeface="Symbol"/>
                  </a:rPr>
                  <a:t>m</a:t>
                </a:r>
                <a:r>
                  <a:rPr lang="en-US" altLang="zh-TW" dirty="0">
                    <a:solidFill>
                      <a:srgbClr val="C00000"/>
                    </a:solidFill>
                    <a:sym typeface="Symbol"/>
                  </a:rPr>
                  <a:t>  </a:t>
                </a:r>
                <a:r>
                  <a:rPr lang="en-US" altLang="zh-TW" i="1" dirty="0">
                    <a:solidFill>
                      <a:srgbClr val="C00000"/>
                    </a:solidFill>
                    <a:sym typeface="Symbol"/>
                  </a:rPr>
                  <a:t>n</a:t>
                </a:r>
                <a:r>
                  <a:rPr lang="en-US" altLang="zh-TW" dirty="0">
                    <a:solidFill>
                      <a:srgbClr val="C00000"/>
                    </a:solidFill>
                    <a:sym typeface="Symbol"/>
                  </a:rPr>
                  <a:t>)</a:t>
                </a:r>
                <a:endParaRPr lang="zh-TW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170980" y="1319014"/>
                <a:ext cx="8826061" cy="5098878"/>
              </a:xfrm>
              <a:prstGeom prst="rect">
                <a:avLst/>
              </a:prstGeom>
              <a:blipFill rotWithShape="0">
                <a:blip r:embed="rId2"/>
                <a:stretch>
                  <a:fillRect l="-552" t="-5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644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矩陣的相乘</a:t>
            </a:r>
            <a:r>
              <a:rPr lang="en-US" altLang="zh-TW" dirty="0" smtClean="0"/>
              <a:t>(multiplication) (1/2)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170980" y="1319014"/>
                <a:ext cx="8826061" cy="509887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r>
                  <a:rPr lang="en-US" altLang="zh-TW" i="1" dirty="0" smtClean="0"/>
                  <a:t>A</a:t>
                </a:r>
                <a:r>
                  <a:rPr lang="en-US" altLang="zh-TW" dirty="0" smtClean="0"/>
                  <a:t>[</a:t>
                </a:r>
                <a:r>
                  <a:rPr lang="en-US" altLang="zh-TW" i="1" dirty="0" smtClean="0"/>
                  <a:t>m</a:t>
                </a:r>
                <a:r>
                  <a:rPr lang="en-US" altLang="zh-TW" dirty="0" smtClean="0"/>
                  <a:t>][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] </a:t>
                </a:r>
                <a:r>
                  <a:rPr lang="en-US" altLang="zh-TW" dirty="0" smtClean="0">
                    <a:sym typeface="Symbol"/>
                  </a:rPr>
                  <a:t> </a:t>
                </a:r>
                <a:r>
                  <a:rPr lang="en-US" altLang="zh-TW" i="1" dirty="0" smtClean="0">
                    <a:sym typeface="Symbol"/>
                  </a:rPr>
                  <a:t>B</a:t>
                </a:r>
                <a:r>
                  <a:rPr lang="en-US" altLang="zh-TW" dirty="0" smtClean="0">
                    <a:sym typeface="Symbol"/>
                  </a:rPr>
                  <a:t>[</a:t>
                </a:r>
                <a:r>
                  <a:rPr lang="en-US" altLang="zh-TW" i="1" dirty="0" smtClean="0">
                    <a:sym typeface="Symbol"/>
                  </a:rPr>
                  <a:t>n</a:t>
                </a:r>
                <a:r>
                  <a:rPr lang="en-US" altLang="zh-TW" dirty="0" smtClean="0">
                    <a:sym typeface="Symbol"/>
                  </a:rPr>
                  <a:t>][</a:t>
                </a:r>
                <a:r>
                  <a:rPr lang="en-US" altLang="zh-TW" i="1" dirty="0" smtClean="0">
                    <a:sym typeface="Symbol"/>
                  </a:rPr>
                  <a:t>t</a:t>
                </a:r>
                <a:r>
                  <a:rPr lang="en-US" altLang="zh-TW" dirty="0" smtClean="0">
                    <a:sym typeface="Symbol"/>
                  </a:rPr>
                  <a:t>] = </a:t>
                </a:r>
                <a:r>
                  <a:rPr lang="en-US" altLang="zh-TW" i="1" dirty="0" smtClean="0">
                    <a:sym typeface="Symbol"/>
                  </a:rPr>
                  <a:t>C</a:t>
                </a:r>
                <a:r>
                  <a:rPr lang="en-US" altLang="zh-TW" dirty="0" smtClean="0">
                    <a:sym typeface="Symbol"/>
                  </a:rPr>
                  <a:t>[</a:t>
                </a:r>
                <a:r>
                  <a:rPr lang="en-US" altLang="zh-TW" i="1" dirty="0" smtClean="0">
                    <a:sym typeface="Symbol"/>
                  </a:rPr>
                  <a:t>m</a:t>
                </a:r>
                <a:r>
                  <a:rPr lang="en-US" altLang="zh-TW" dirty="0" smtClean="0">
                    <a:sym typeface="Symbol"/>
                  </a:rPr>
                  <a:t>][</a:t>
                </a:r>
                <a:r>
                  <a:rPr lang="en-US" altLang="zh-TW" i="1" dirty="0" smtClean="0">
                    <a:sym typeface="Symbol"/>
                  </a:rPr>
                  <a:t>t</a:t>
                </a:r>
                <a:r>
                  <a:rPr lang="en-US" altLang="zh-TW" dirty="0" smtClean="0">
                    <a:sym typeface="Symbol"/>
                  </a:rPr>
                  <a:t>]</a:t>
                </a:r>
              </a:p>
              <a:p>
                <a:pPr lvl="1"/>
                <a:r>
                  <a:rPr lang="en-US" altLang="zh-TW" i="1" dirty="0" smtClean="0">
                    <a:solidFill>
                      <a:srgbClr val="C00000"/>
                    </a:solidFill>
                  </a:rPr>
                  <a:t>c</a:t>
                </a:r>
                <a:r>
                  <a:rPr lang="en-US" altLang="zh-TW" baseline="-25000" dirty="0" smtClean="0">
                    <a:solidFill>
                      <a:srgbClr val="C00000"/>
                    </a:solidFill>
                  </a:rPr>
                  <a:t>00</a:t>
                </a:r>
                <a:r>
                  <a:rPr lang="zh-TW" altLang="en-US" dirty="0" smtClean="0"/>
                  <a:t>是</a:t>
                </a:r>
                <a:r>
                  <a:rPr lang="en-US" altLang="zh-TW" i="1" dirty="0" smtClean="0"/>
                  <a:t>A</a:t>
                </a:r>
                <a:r>
                  <a:rPr lang="zh-TW" altLang="en-US" dirty="0" smtClean="0"/>
                  <a:t>矩陣</a:t>
                </a:r>
                <a:r>
                  <a:rPr lang="zh-TW" altLang="en-US" dirty="0"/>
                  <a:t>的</a:t>
                </a:r>
                <a:r>
                  <a:rPr lang="zh-TW" altLang="en-US" dirty="0" smtClean="0">
                    <a:solidFill>
                      <a:srgbClr val="C00000"/>
                    </a:solidFill>
                  </a:rPr>
                  <a:t>第0列</a:t>
                </a:r>
                <a:r>
                  <a:rPr lang="zh-TW" altLang="en-US" dirty="0" smtClean="0"/>
                  <a:t>乘上</a:t>
                </a:r>
                <a:r>
                  <a:rPr lang="en-US" altLang="zh-TW" i="1" dirty="0" smtClean="0"/>
                  <a:t>B</a:t>
                </a:r>
                <a:r>
                  <a:rPr lang="zh-TW" altLang="en-US" dirty="0" smtClean="0"/>
                  <a:t>矩陣</a:t>
                </a:r>
                <a:r>
                  <a:rPr lang="zh-TW" altLang="en-US" dirty="0"/>
                  <a:t>的</a:t>
                </a:r>
                <a:r>
                  <a:rPr lang="zh-TW" altLang="en-US" dirty="0" smtClean="0">
                    <a:solidFill>
                      <a:srgbClr val="C00000"/>
                    </a:solidFill>
                  </a:rPr>
                  <a:t>第0行</a:t>
                </a:r>
                <a:endParaRPr lang="en-US" altLang="zh-TW" dirty="0" smtClean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1" smtClean="0">
                              <a:latin typeface="Cambria Math"/>
                            </a:rPr>
                            <m:t>𝒄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/>
                            </a:rPr>
                            <m:t>𝟎𝟎</m:t>
                          </m:r>
                        </m:sub>
                      </m:sSub>
                      <m:r>
                        <a:rPr lang="en-US" altLang="zh-TW" b="1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𝟎𝟎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TW" b="1" i="1" smtClean="0">
                                    <a:latin typeface="Cambria Math"/>
                                    <a:ea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𝒐</m:t>
                                    </m:r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𝒏</m:t>
                                    </m:r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)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TW" b="1" i="1" smtClean="0">
                          <a:latin typeface="Cambria Math"/>
                          <a:ea typeface="Cambria Math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b="1" i="1" smtClean="0">
                                        <a:latin typeface="Cambria Math" panose="02040503050406030204" pitchFamily="18" charset="0"/>
                                        <a:ea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  <a:ea typeface="Cambria Math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  <a:ea typeface="Cambria Math"/>
                                      </a:rPr>
                                      <m:t>𝟎𝟎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TW" b="1" i="1" smtClean="0">
                                    <a:latin typeface="Cambria Math"/>
                                    <a:ea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b="1" i="1" smtClean="0">
                                        <a:latin typeface="Cambria Math" panose="02040503050406030204" pitchFamily="18" charset="0"/>
                                        <a:ea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  <a:ea typeface="Cambria Math"/>
                                      </a:rPr>
                                      <m:t>𝒃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zh-TW" b="1" i="1" smtClean="0">
                                            <a:latin typeface="Cambria Math" panose="02040503050406030204" pitchFamily="18" charset="0"/>
                                            <a:ea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b="1" i="1" smtClean="0">
                                            <a:latin typeface="Cambria Math"/>
                                            <a:ea typeface="Cambria Math"/>
                                          </a:rPr>
                                          <m:t>𝒏</m:t>
                                        </m:r>
                                        <m:r>
                                          <a:rPr lang="en-US" altLang="zh-TW" b="1" i="1" smtClean="0">
                                            <a:latin typeface="Cambria Math"/>
                                            <a:ea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en-US" altLang="zh-TW" b="1" i="1" smtClean="0">
                                            <a:latin typeface="Cambria Math"/>
                                            <a:ea typeface="Cambria Math"/>
                                          </a:rPr>
                                          <m:t>𝟏</m:t>
                                        </m:r>
                                      </m:e>
                                    </m:d>
                                    <m:r>
                                      <a:rPr lang="en-US" altLang="zh-TW" b="1" i="1" smtClean="0">
                                        <a:latin typeface="Cambria Math"/>
                                        <a:ea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TW" b="1" i="1" smtClean="0">
                          <a:latin typeface="Cambria Math"/>
                          <a:ea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𝒂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𝟎𝟎</m:t>
                          </m:r>
                        </m:sub>
                      </m:sSub>
                      <m:sSub>
                        <m:sSub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𝒃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𝟎𝟎</m:t>
                          </m:r>
                        </m:sub>
                      </m:sSub>
                      <m:r>
                        <a:rPr lang="en-US" altLang="zh-TW" b="1" i="1" smtClean="0"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  <a:ea typeface="Cambria Math"/>
                            </a:rPr>
                            <m:t>𝒂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  <a:ea typeface="Cambria Math"/>
                            </a:rPr>
                            <m:t>𝟎</m:t>
                          </m:r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  <a:ea typeface="Cambria Math"/>
                            </a:rPr>
                            <m:t>𝒃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  <m:r>
                            <a:rPr lang="en-US" altLang="zh-TW" i="1">
                              <a:latin typeface="Cambria Math"/>
                              <a:ea typeface="Cambria Math"/>
                            </a:rPr>
                            <m:t>𝟎</m:t>
                          </m:r>
                        </m:sub>
                      </m:sSub>
                      <m:r>
                        <a:rPr lang="en-US" altLang="zh-TW" b="1" i="1" smtClean="0">
                          <a:latin typeface="Cambria Math"/>
                          <a:ea typeface="Cambria Math"/>
                        </a:rPr>
                        <m:t>+⋯+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  <a:ea typeface="Cambria Math"/>
                            </a:rPr>
                            <m:t>𝒂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  <a:ea typeface="Cambria Math"/>
                            </a:rPr>
                            <m:t>𝟎</m:t>
                          </m:r>
                          <m:d>
                            <m:d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𝒏</m:t>
                              </m:r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e>
                          </m:d>
                        </m:sub>
                      </m:sSub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  <a:ea typeface="Cambria Math"/>
                            </a:rPr>
                            <m:t>𝒃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𝒏</m:t>
                              </m:r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e>
                          </m:d>
                          <m:r>
                            <a:rPr lang="en-US" altLang="zh-TW" i="1">
                              <a:latin typeface="Cambria Math"/>
                              <a:ea typeface="Cambria Math"/>
                            </a:rPr>
                            <m:t>𝟎</m:t>
                          </m:r>
                        </m:sub>
                      </m:sSub>
                      <m:r>
                        <a:rPr lang="en-US" altLang="zh-TW" b="1" i="1" smtClean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𝒌</m:t>
                          </m:r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</m:sub>
                        <m:sup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𝟎</m:t>
                              </m:r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𝟎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TW" dirty="0"/>
              </a:p>
              <a:p>
                <a:pPr lvl="1"/>
                <a:endParaRPr lang="en-US" altLang="zh-TW" i="1" dirty="0" smtClean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altLang="zh-TW" i="1" dirty="0" err="1" smtClean="0">
                    <a:solidFill>
                      <a:srgbClr val="C00000"/>
                    </a:solidFill>
                  </a:rPr>
                  <a:t>c</a:t>
                </a:r>
                <a:r>
                  <a:rPr lang="en-US" altLang="zh-TW" i="1" baseline="-25000" dirty="0" err="1" smtClean="0">
                    <a:solidFill>
                      <a:srgbClr val="C00000"/>
                    </a:solidFill>
                  </a:rPr>
                  <a:t>ij</a:t>
                </a:r>
                <a:r>
                  <a:rPr lang="zh-TW" altLang="en-US" dirty="0" smtClean="0"/>
                  <a:t>是</a:t>
                </a:r>
                <a:r>
                  <a:rPr lang="en-US" altLang="zh-TW" i="1" dirty="0"/>
                  <a:t>A</a:t>
                </a:r>
                <a:r>
                  <a:rPr lang="zh-TW" altLang="en-US" dirty="0"/>
                  <a:t>矩陣的</a:t>
                </a:r>
                <a:r>
                  <a:rPr lang="zh-TW" altLang="en-US" dirty="0" smtClean="0">
                    <a:solidFill>
                      <a:srgbClr val="C00000"/>
                    </a:solidFill>
                  </a:rPr>
                  <a:t>第</a:t>
                </a:r>
                <a:r>
                  <a:rPr lang="en-US" altLang="zh-TW" i="1" dirty="0" err="1" smtClean="0">
                    <a:solidFill>
                      <a:srgbClr val="C00000"/>
                    </a:solidFill>
                  </a:rPr>
                  <a:t>i</a:t>
                </a:r>
                <a:r>
                  <a:rPr lang="zh-TW" altLang="en-US" dirty="0" smtClean="0">
                    <a:solidFill>
                      <a:srgbClr val="C00000"/>
                    </a:solidFill>
                  </a:rPr>
                  <a:t>列</a:t>
                </a:r>
                <a:r>
                  <a:rPr lang="zh-TW" altLang="en-US" dirty="0"/>
                  <a:t>乘上</a:t>
                </a:r>
                <a:r>
                  <a:rPr lang="en-US" altLang="zh-TW" i="1" dirty="0"/>
                  <a:t>B</a:t>
                </a:r>
                <a:r>
                  <a:rPr lang="zh-TW" altLang="en-US" dirty="0"/>
                  <a:t>矩陣的</a:t>
                </a:r>
                <a:r>
                  <a:rPr lang="zh-TW" altLang="en-US" dirty="0" smtClean="0">
                    <a:solidFill>
                      <a:srgbClr val="C00000"/>
                    </a:solidFill>
                  </a:rPr>
                  <a:t>第</a:t>
                </a:r>
                <a:r>
                  <a:rPr lang="en-US" altLang="zh-TW" i="1" dirty="0" smtClean="0">
                    <a:solidFill>
                      <a:srgbClr val="C00000"/>
                    </a:solidFill>
                  </a:rPr>
                  <a:t>j</a:t>
                </a:r>
                <a:r>
                  <a:rPr lang="zh-TW" altLang="en-US" dirty="0" smtClean="0">
                    <a:solidFill>
                      <a:srgbClr val="C00000"/>
                    </a:solidFill>
                  </a:rPr>
                  <a:t>行</a:t>
                </a:r>
                <a:r>
                  <a:rPr lang="zh-TW" altLang="en-US" dirty="0" smtClean="0"/>
                  <a:t>，</a:t>
                </a:r>
                <a:r>
                  <a:rPr lang="en-US" altLang="zh-TW" dirty="0" smtClean="0"/>
                  <a:t>0 </a:t>
                </a:r>
                <a:r>
                  <a:rPr lang="en-US" altLang="zh-TW" dirty="0" smtClean="0">
                    <a:sym typeface="Symbol"/>
                  </a:rPr>
                  <a:t> </a:t>
                </a:r>
                <a:r>
                  <a:rPr lang="en-US" altLang="zh-TW" i="1" dirty="0" err="1" smtClean="0">
                    <a:sym typeface="Symbol"/>
                  </a:rPr>
                  <a:t>i</a:t>
                </a:r>
                <a:r>
                  <a:rPr lang="en-US" altLang="zh-TW" dirty="0" smtClean="0">
                    <a:sym typeface="Symbol"/>
                  </a:rPr>
                  <a:t> &lt; </a:t>
                </a:r>
                <a:r>
                  <a:rPr lang="en-US" altLang="zh-TW" i="1" dirty="0" smtClean="0">
                    <a:sym typeface="Symbol"/>
                  </a:rPr>
                  <a:t>m</a:t>
                </a:r>
                <a:r>
                  <a:rPr lang="zh-TW" altLang="en-US" dirty="0" smtClean="0">
                    <a:sym typeface="Symbol"/>
                  </a:rPr>
                  <a:t>，</a:t>
                </a:r>
                <a:r>
                  <a:rPr lang="en-US" altLang="zh-TW" dirty="0" smtClean="0">
                    <a:sym typeface="Symbol"/>
                  </a:rPr>
                  <a:t>0  </a:t>
                </a:r>
                <a:r>
                  <a:rPr lang="en-US" altLang="zh-TW" i="1" dirty="0" smtClean="0">
                    <a:sym typeface="Symbol"/>
                  </a:rPr>
                  <a:t>j</a:t>
                </a:r>
                <a:r>
                  <a:rPr lang="en-US" altLang="zh-TW" dirty="0" smtClean="0">
                    <a:sym typeface="Symbol"/>
                  </a:rPr>
                  <a:t> &lt; </a:t>
                </a:r>
                <a:r>
                  <a:rPr lang="en-US" altLang="zh-TW" i="1" dirty="0" smtClean="0">
                    <a:sym typeface="Symbol"/>
                  </a:rPr>
                  <a:t>t</a:t>
                </a:r>
                <a:endParaRPr lang="en-US" altLang="zh-TW" i="1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</a:rPr>
                            <m:t>𝒄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/>
                            </a:rPr>
                            <m:t>𝒊𝒋</m:t>
                          </m:r>
                        </m:sub>
                      </m:sSub>
                      <m:r>
                        <a:rPr lang="en-US" altLang="zh-TW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i="1">
                              <a:latin typeface="Cambria Math"/>
                              <a:ea typeface="Cambria Math"/>
                            </a:rPr>
                            <m:t>𝒌</m:t>
                          </m:r>
                          <m:r>
                            <a:rPr lang="en-US" altLang="zh-TW" i="1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altLang="zh-TW" i="1">
                              <a:latin typeface="Cambria Math"/>
                              <a:ea typeface="Cambria Math"/>
                            </a:rPr>
                            <m:t>𝟎</m:t>
                          </m:r>
                        </m:sub>
                        <m:sup>
                          <m:r>
                            <a:rPr lang="en-US" altLang="zh-TW" i="1">
                              <a:latin typeface="Cambria Math"/>
                              <a:ea typeface="Cambria Math"/>
                            </a:rPr>
                            <m:t>𝒏</m:t>
                          </m:r>
                          <m:r>
                            <a:rPr lang="en-US" altLang="zh-TW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/>
                                  <a:ea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  <m:r>
                                <a:rPr lang="en-US" altLang="zh-TW" i="1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/>
                                  <a:ea typeface="Cambria Math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  <m:r>
                                <a:rPr lang="en-US" altLang="zh-TW" b="1" i="1" smtClean="0">
                                  <a:latin typeface="Cambria Math"/>
                                  <a:ea typeface="Cambria Math"/>
                                </a:rPr>
                                <m:t>𝒋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170980" y="1319014"/>
                <a:ext cx="8826061" cy="5098878"/>
              </a:xfrm>
              <a:prstGeom prst="rect">
                <a:avLst/>
              </a:prstGeom>
              <a:blipFill rotWithShape="0">
                <a:blip r:embed="rId2"/>
                <a:stretch>
                  <a:fillRect t="-7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58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矩陣的相乘</a:t>
            </a:r>
            <a:r>
              <a:rPr lang="en-US" altLang="zh-TW" dirty="0" smtClean="0"/>
              <a:t>(multiplication) 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for (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 = 0;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 &lt; </a:t>
            </a:r>
            <a:r>
              <a:rPr lang="en-US" altLang="zh-TW" i="1" dirty="0" smtClean="0"/>
              <a:t>m</a:t>
            </a:r>
            <a:r>
              <a:rPr lang="en-US" altLang="zh-TW" dirty="0" smtClean="0"/>
              <a:t>;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++)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     for (</a:t>
            </a:r>
            <a:r>
              <a:rPr lang="en-US" altLang="zh-TW" i="1" dirty="0" smtClean="0"/>
              <a:t>j</a:t>
            </a:r>
            <a:r>
              <a:rPr lang="en-US" altLang="zh-TW" dirty="0" smtClean="0"/>
              <a:t> = 0; </a:t>
            </a:r>
            <a:r>
              <a:rPr lang="en-US" altLang="zh-TW" i="1" dirty="0" smtClean="0"/>
              <a:t>j</a:t>
            </a:r>
            <a:r>
              <a:rPr lang="en-US" altLang="zh-TW" dirty="0" smtClean="0"/>
              <a:t> &lt; </a:t>
            </a:r>
            <a:r>
              <a:rPr lang="en-US" altLang="zh-TW" i="1" dirty="0" smtClean="0"/>
              <a:t>t</a:t>
            </a:r>
            <a:r>
              <a:rPr lang="en-US" altLang="zh-TW" dirty="0" smtClean="0"/>
              <a:t>; </a:t>
            </a:r>
            <a:r>
              <a:rPr lang="en-US" altLang="zh-TW" i="1" dirty="0" err="1" smtClean="0"/>
              <a:t>j</a:t>
            </a:r>
            <a:r>
              <a:rPr lang="en-US" altLang="zh-TW" dirty="0" err="1" smtClean="0"/>
              <a:t>++</a:t>
            </a:r>
            <a:r>
              <a:rPr lang="en-US" altLang="zh-TW" dirty="0" smtClean="0"/>
              <a:t>) {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i="1" dirty="0" smtClean="0"/>
              <a:t>          C</a:t>
            </a:r>
            <a:r>
              <a:rPr lang="en-US" altLang="zh-TW" dirty="0" smtClean="0"/>
              <a:t>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][</a:t>
            </a:r>
            <a:r>
              <a:rPr lang="en-US" altLang="zh-TW" i="1" dirty="0" smtClean="0"/>
              <a:t>j</a:t>
            </a:r>
            <a:r>
              <a:rPr lang="en-US" altLang="zh-TW" dirty="0" smtClean="0"/>
              <a:t>] = 0;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          for (</a:t>
            </a:r>
            <a:r>
              <a:rPr lang="en-US" altLang="zh-TW" i="1" dirty="0" smtClean="0"/>
              <a:t>k</a:t>
            </a:r>
            <a:r>
              <a:rPr lang="en-US" altLang="zh-TW" dirty="0" smtClean="0"/>
              <a:t> = 0; </a:t>
            </a:r>
            <a:r>
              <a:rPr lang="en-US" altLang="zh-TW" i="1" dirty="0" smtClean="0"/>
              <a:t>k</a:t>
            </a:r>
            <a:r>
              <a:rPr lang="en-US" altLang="zh-TW" dirty="0" smtClean="0"/>
              <a:t> &lt;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; </a:t>
            </a:r>
            <a:r>
              <a:rPr lang="en-US" altLang="zh-TW" i="1" dirty="0" smtClean="0"/>
              <a:t>k</a:t>
            </a:r>
            <a:r>
              <a:rPr lang="en-US" altLang="zh-TW" dirty="0" smtClean="0"/>
              <a:t>++)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i="1" dirty="0" smtClean="0"/>
              <a:t>               C</a:t>
            </a:r>
            <a:r>
              <a:rPr lang="en-US" altLang="zh-TW" dirty="0" smtClean="0"/>
              <a:t>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][</a:t>
            </a:r>
            <a:r>
              <a:rPr lang="en-US" altLang="zh-TW" i="1" dirty="0" smtClean="0"/>
              <a:t>j</a:t>
            </a:r>
            <a:r>
              <a:rPr lang="en-US" altLang="zh-TW" dirty="0" smtClean="0"/>
              <a:t>] = </a:t>
            </a:r>
            <a:r>
              <a:rPr lang="en-US" altLang="zh-TW" i="1" dirty="0" smtClean="0"/>
              <a:t>C</a:t>
            </a:r>
            <a:r>
              <a:rPr lang="en-US" altLang="zh-TW" dirty="0" smtClean="0"/>
              <a:t>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][</a:t>
            </a:r>
            <a:r>
              <a:rPr lang="en-US" altLang="zh-TW" i="1" dirty="0" smtClean="0"/>
              <a:t>j</a:t>
            </a:r>
            <a:r>
              <a:rPr lang="en-US" altLang="zh-TW" dirty="0" smtClean="0"/>
              <a:t>] + </a:t>
            </a:r>
            <a:r>
              <a:rPr lang="en-US" altLang="zh-TW" i="1" dirty="0" smtClean="0"/>
              <a:t>A</a:t>
            </a:r>
            <a:r>
              <a:rPr lang="en-US" altLang="zh-TW" dirty="0" smtClean="0"/>
              <a:t>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][</a:t>
            </a:r>
            <a:r>
              <a:rPr lang="en-US" altLang="zh-TW" i="1" dirty="0" smtClean="0"/>
              <a:t>k</a:t>
            </a:r>
            <a:r>
              <a:rPr lang="en-US" altLang="zh-TW" dirty="0" smtClean="0"/>
              <a:t>] </a:t>
            </a:r>
            <a:r>
              <a:rPr lang="en-US" altLang="zh-TW" dirty="0" smtClean="0">
                <a:sym typeface="Symbol"/>
              </a:rPr>
              <a:t> B[</a:t>
            </a:r>
            <a:r>
              <a:rPr lang="en-US" altLang="zh-TW" i="1" dirty="0" smtClean="0">
                <a:sym typeface="Symbol"/>
              </a:rPr>
              <a:t>k</a:t>
            </a:r>
            <a:r>
              <a:rPr lang="en-US" altLang="zh-TW" dirty="0" smtClean="0">
                <a:sym typeface="Symbol"/>
              </a:rPr>
              <a:t>][</a:t>
            </a:r>
            <a:r>
              <a:rPr lang="en-US" altLang="zh-TW" i="1" dirty="0" smtClean="0">
                <a:sym typeface="Symbol"/>
              </a:rPr>
              <a:t>j</a:t>
            </a:r>
            <a:r>
              <a:rPr lang="en-US" altLang="zh-TW" dirty="0" smtClean="0">
                <a:sym typeface="Symbol"/>
              </a:rPr>
              <a:t>];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>
                <a:sym typeface="Symbol"/>
              </a:rPr>
              <a:t>     }</a:t>
            </a:r>
          </a:p>
          <a:p>
            <a:endParaRPr lang="en-US" altLang="zh-TW" dirty="0">
              <a:sym typeface="Symbol"/>
            </a:endParaRPr>
          </a:p>
          <a:p>
            <a:r>
              <a:rPr lang="zh-TW" altLang="en-US" dirty="0" smtClean="0">
                <a:sym typeface="Symbol"/>
              </a:rPr>
              <a:t>時間複雜度：</a:t>
            </a:r>
            <a:r>
              <a:rPr lang="en-US" altLang="zh-TW" dirty="0" smtClean="0">
                <a:solidFill>
                  <a:srgbClr val="C00000"/>
                </a:solidFill>
                <a:sym typeface="Symbol"/>
              </a:rPr>
              <a:t>O(</a:t>
            </a:r>
            <a:r>
              <a:rPr lang="en-US" altLang="zh-TW" i="1" dirty="0" smtClean="0">
                <a:solidFill>
                  <a:srgbClr val="C00000"/>
                </a:solidFill>
                <a:sym typeface="Symbol"/>
              </a:rPr>
              <a:t>m</a:t>
            </a:r>
            <a:r>
              <a:rPr lang="en-US" altLang="zh-TW" dirty="0" smtClean="0">
                <a:solidFill>
                  <a:srgbClr val="C00000"/>
                </a:solidFill>
                <a:sym typeface="Symbol"/>
              </a:rPr>
              <a:t>  </a:t>
            </a:r>
            <a:r>
              <a:rPr lang="en-US" altLang="zh-TW" i="1" dirty="0" smtClean="0">
                <a:solidFill>
                  <a:srgbClr val="C00000"/>
                </a:solidFill>
                <a:sym typeface="Symbol"/>
              </a:rPr>
              <a:t>t</a:t>
            </a:r>
            <a:r>
              <a:rPr lang="en-US" altLang="zh-TW" dirty="0" smtClean="0">
                <a:solidFill>
                  <a:srgbClr val="C00000"/>
                </a:solidFill>
                <a:sym typeface="Symbol"/>
              </a:rPr>
              <a:t>  </a:t>
            </a:r>
            <a:r>
              <a:rPr lang="en-US" altLang="zh-TW" i="1" dirty="0" smtClean="0">
                <a:solidFill>
                  <a:srgbClr val="C00000"/>
                </a:solidFill>
                <a:sym typeface="Symbol"/>
              </a:rPr>
              <a:t>n</a:t>
            </a:r>
            <a:r>
              <a:rPr lang="en-US" altLang="zh-TW" dirty="0" smtClean="0">
                <a:solidFill>
                  <a:srgbClr val="C00000"/>
                </a:solidFill>
                <a:sym typeface="Symbol"/>
              </a:rPr>
              <a:t>)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267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上三角形和下三角形 </a:t>
            </a:r>
            <a:r>
              <a:rPr lang="en-US" altLang="zh-TW" dirty="0" smtClean="0"/>
              <a:t>(1/3)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 smtClean="0">
                    <a:solidFill>
                      <a:srgbClr val="0000FF"/>
                    </a:solidFill>
                  </a:rPr>
                  <a:t>上三角形矩陣 </a:t>
                </a:r>
                <a:r>
                  <a:rPr lang="en-US" altLang="zh-TW" dirty="0" smtClean="0">
                    <a:solidFill>
                      <a:srgbClr val="0000FF"/>
                    </a:solidFill>
                  </a:rPr>
                  <a:t>(upper triangular matrix)</a:t>
                </a:r>
              </a:p>
              <a:p>
                <a:pPr lvl="1"/>
                <a:r>
                  <a:rPr lang="zh-TW" altLang="en-US" dirty="0" smtClean="0"/>
                  <a:t>對角線以</a:t>
                </a:r>
                <a:r>
                  <a:rPr lang="zh-TW" altLang="en-US" dirty="0" smtClean="0">
                    <a:solidFill>
                      <a:srgbClr val="C00000"/>
                    </a:solidFill>
                  </a:rPr>
                  <a:t>下</a:t>
                </a:r>
                <a:r>
                  <a:rPr lang="zh-TW" altLang="en-US" dirty="0" smtClean="0"/>
                  <a:t>的元素均為</a:t>
                </a:r>
                <a:r>
                  <a:rPr lang="zh-TW" altLang="en-US" dirty="0" smtClean="0">
                    <a:solidFill>
                      <a:srgbClr val="C00000"/>
                    </a:solidFill>
                  </a:rPr>
                  <a:t>零</a:t>
                </a:r>
                <a:r>
                  <a:rPr lang="zh-TW" altLang="en-US" dirty="0" smtClean="0"/>
                  <a:t>時</a:t>
                </a:r>
                <a:endParaRPr lang="en-US" altLang="zh-TW" dirty="0" smtClean="0"/>
              </a:p>
              <a:p>
                <a:pPr lvl="1"/>
                <a:r>
                  <a:rPr lang="en-US" altLang="zh-TW" i="1" dirty="0" err="1" smtClean="0"/>
                  <a:t>a</a:t>
                </a:r>
                <a:r>
                  <a:rPr lang="en-US" altLang="zh-TW" i="1" baseline="-25000" dirty="0" err="1" smtClean="0"/>
                  <a:t>ij</a:t>
                </a:r>
                <a:r>
                  <a:rPr lang="en-US" altLang="zh-TW" dirty="0" smtClean="0"/>
                  <a:t> = 0, </a:t>
                </a:r>
                <a:r>
                  <a:rPr lang="en-US" altLang="zh-TW" i="1" dirty="0" err="1" smtClean="0">
                    <a:solidFill>
                      <a:srgbClr val="C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C00000"/>
                    </a:solidFill>
                  </a:rPr>
                  <a:t> &gt; </a:t>
                </a:r>
                <a:r>
                  <a:rPr lang="en-US" altLang="zh-TW" i="1" dirty="0" smtClean="0">
                    <a:solidFill>
                      <a:srgbClr val="C00000"/>
                    </a:solidFill>
                  </a:rPr>
                  <a:t>j</a:t>
                </a:r>
              </a:p>
              <a:p>
                <a:endParaRPr lang="en-US" altLang="zh-TW" dirty="0"/>
              </a:p>
              <a:p>
                <a:endParaRPr lang="en-US" altLang="zh-TW" dirty="0" smtClean="0">
                  <a:solidFill>
                    <a:srgbClr val="0000FF"/>
                  </a:solidFill>
                </a:endParaRPr>
              </a:p>
              <a:p>
                <a:r>
                  <a:rPr lang="zh-TW" altLang="en-US" dirty="0" smtClean="0">
                    <a:solidFill>
                      <a:srgbClr val="0000FF"/>
                    </a:solidFill>
                  </a:rPr>
                  <a:t>下三角形矩陣 </a:t>
                </a:r>
                <a:r>
                  <a:rPr lang="en-US" altLang="zh-TW" dirty="0" smtClean="0">
                    <a:solidFill>
                      <a:srgbClr val="0000FF"/>
                    </a:solidFill>
                  </a:rPr>
                  <a:t>(lower triangular matrix)</a:t>
                </a:r>
              </a:p>
              <a:p>
                <a:pPr lvl="1"/>
                <a:r>
                  <a:rPr lang="zh-TW" altLang="en-US" dirty="0" smtClean="0"/>
                  <a:t>對角線以</a:t>
                </a:r>
                <a:r>
                  <a:rPr lang="zh-TW" altLang="en-US" dirty="0" smtClean="0">
                    <a:solidFill>
                      <a:srgbClr val="C00000"/>
                    </a:solidFill>
                  </a:rPr>
                  <a:t>上</a:t>
                </a:r>
                <a:r>
                  <a:rPr lang="zh-TW" altLang="en-US" dirty="0" smtClean="0"/>
                  <a:t>的元素均為</a:t>
                </a:r>
                <a:r>
                  <a:rPr lang="zh-TW" altLang="en-US" dirty="0" smtClean="0">
                    <a:solidFill>
                      <a:srgbClr val="C00000"/>
                    </a:solidFill>
                  </a:rPr>
                  <a:t>零</a:t>
                </a:r>
                <a:r>
                  <a:rPr lang="zh-TW" altLang="en-US" dirty="0" smtClean="0"/>
                  <a:t>時</a:t>
                </a:r>
                <a:endParaRPr lang="en-US" altLang="zh-TW" dirty="0" smtClean="0"/>
              </a:p>
              <a:p>
                <a:pPr lvl="1"/>
                <a:r>
                  <a:rPr lang="en-US" altLang="zh-TW" i="1" dirty="0" err="1" smtClean="0"/>
                  <a:t>a</a:t>
                </a:r>
                <a:r>
                  <a:rPr lang="en-US" altLang="zh-TW" i="1" baseline="-25000" dirty="0" err="1" smtClean="0"/>
                  <a:t>ij</a:t>
                </a:r>
                <a:r>
                  <a:rPr lang="en-US" altLang="zh-TW" dirty="0" smtClean="0"/>
                  <a:t> = 0, </a:t>
                </a:r>
                <a:r>
                  <a:rPr lang="en-US" altLang="zh-TW" i="1" dirty="0" err="1" smtClean="0">
                    <a:solidFill>
                      <a:srgbClr val="C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C00000"/>
                    </a:solidFill>
                  </a:rPr>
                  <a:t> &lt; </a:t>
                </a:r>
                <a:r>
                  <a:rPr lang="en-US" altLang="zh-TW" i="1" dirty="0" smtClean="0">
                    <a:solidFill>
                      <a:srgbClr val="C00000"/>
                    </a:solidFill>
                  </a:rPr>
                  <a:t>j</a:t>
                </a:r>
              </a:p>
              <a:p>
                <a:endParaRPr lang="en-US" altLang="zh-TW" dirty="0"/>
              </a:p>
              <a:p>
                <a:endParaRPr lang="en-US" altLang="zh-TW" i="1" dirty="0" smtClean="0">
                  <a:solidFill>
                    <a:srgbClr val="0000FF"/>
                  </a:solidFill>
                </a:endParaRPr>
              </a:p>
              <a:p>
                <a:r>
                  <a:rPr lang="en-US" altLang="zh-TW" i="1" dirty="0" smtClean="0">
                    <a:solidFill>
                      <a:srgbClr val="0000FF"/>
                    </a:solidFill>
                  </a:rPr>
                  <a:t>n</a:t>
                </a:r>
                <a:r>
                  <a:rPr lang="en-US" altLang="zh-TW" dirty="0" smtClean="0">
                    <a:solidFill>
                      <a:srgbClr val="0000FF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0000FF"/>
                    </a:solidFill>
                    <a:sym typeface="Symbol" panose="05050102010706020507" pitchFamily="18" charset="2"/>
                  </a:rPr>
                  <a:t> </a:t>
                </a:r>
                <a:r>
                  <a:rPr lang="en-US" altLang="zh-TW" i="1" dirty="0" smtClean="0">
                    <a:solidFill>
                      <a:srgbClr val="0000FF"/>
                    </a:solidFill>
                    <a:sym typeface="Symbol" panose="05050102010706020507" pitchFamily="18" charset="2"/>
                  </a:rPr>
                  <a:t>n</a:t>
                </a:r>
                <a:r>
                  <a:rPr lang="zh-TW" altLang="en-US" dirty="0" smtClean="0">
                    <a:solidFill>
                      <a:srgbClr val="0000FF"/>
                    </a:solidFill>
                    <a:sym typeface="Symbol" panose="05050102010706020507" pitchFamily="18" charset="2"/>
                  </a:rPr>
                  <a:t>的上</a:t>
                </a:r>
                <a:r>
                  <a:rPr lang="en-US" altLang="zh-TW" dirty="0" smtClean="0">
                    <a:solidFill>
                      <a:srgbClr val="0000FF"/>
                    </a:solidFill>
                    <a:sym typeface="Symbol" panose="05050102010706020507" pitchFamily="18" charset="2"/>
                  </a:rPr>
                  <a:t>(</a:t>
                </a:r>
                <a:r>
                  <a:rPr lang="zh-TW" altLang="en-US" dirty="0" smtClean="0">
                    <a:solidFill>
                      <a:srgbClr val="0000FF"/>
                    </a:solidFill>
                    <a:sym typeface="Symbol" panose="05050102010706020507" pitchFamily="18" charset="2"/>
                  </a:rPr>
                  <a:t>下</a:t>
                </a:r>
                <a:r>
                  <a:rPr lang="en-US" altLang="zh-TW" dirty="0" smtClean="0">
                    <a:solidFill>
                      <a:srgbClr val="0000FF"/>
                    </a:solidFill>
                    <a:sym typeface="Symbol" panose="05050102010706020507" pitchFamily="18" charset="2"/>
                  </a:rPr>
                  <a:t>)</a:t>
                </a:r>
                <a:r>
                  <a:rPr lang="zh-TW" altLang="en-US" dirty="0" smtClean="0">
                    <a:solidFill>
                      <a:srgbClr val="0000FF"/>
                    </a:solidFill>
                    <a:sym typeface="Symbol" panose="05050102010706020507" pitchFamily="18" charset="2"/>
                  </a:rPr>
                  <a:t>三角矩陣的</a:t>
                </a:r>
                <a:r>
                  <a:rPr lang="zh-TW" altLang="en-US" dirty="0" smtClean="0">
                    <a:solidFill>
                      <a:srgbClr val="0000FF"/>
                    </a:solidFill>
                  </a:rPr>
                  <a:t>元素個數</a:t>
                </a:r>
                <a:endParaRPr lang="en-US" altLang="zh-TW" dirty="0" smtClean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altLang="zh-TW" dirty="0" smtClean="0"/>
                  <a:t>1 + 2 + … + 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5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30</a:t>
            </a:fld>
            <a:endParaRPr lang="en-US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5652120" y="1556792"/>
                <a:ext cx="2541465" cy="11346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/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/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/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/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/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/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1556792"/>
                <a:ext cx="2541465" cy="113467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5652120" y="3513909"/>
                <a:ext cx="2541465" cy="11791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/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/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/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/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/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30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31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/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32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3513909"/>
                <a:ext cx="2541465" cy="117910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群組 18"/>
          <p:cNvGrpSpPr/>
          <p:nvPr/>
        </p:nvGrpSpPr>
        <p:grpSpPr>
          <a:xfrm>
            <a:off x="8145458" y="1484784"/>
            <a:ext cx="314974" cy="1249233"/>
            <a:chOff x="8145458" y="1484784"/>
            <a:chExt cx="314974" cy="1249233"/>
          </a:xfrm>
        </p:grpSpPr>
        <p:sp>
          <p:nvSpPr>
            <p:cNvPr id="10" name="文字方塊 9"/>
            <p:cNvSpPr txBox="1"/>
            <p:nvPr/>
          </p:nvSpPr>
          <p:spPr>
            <a:xfrm>
              <a:off x="8147526" y="148478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+mj-lt"/>
                </a:rPr>
                <a:t>4</a:t>
              </a:r>
              <a:endParaRPr lang="zh-TW" altLang="en-US" sz="2000" b="1" dirty="0">
                <a:solidFill>
                  <a:srgbClr val="C00000"/>
                </a:solidFill>
                <a:latin typeface="+mj-lt"/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8145769" y="179073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+mj-lt"/>
                </a:rPr>
                <a:t>3</a:t>
              </a:r>
              <a:endParaRPr lang="zh-TW" altLang="en-US" sz="2000" b="1" dirty="0">
                <a:solidFill>
                  <a:srgbClr val="C00000"/>
                </a:solidFill>
                <a:latin typeface="+mj-lt"/>
              </a:endParaRP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8145769" y="206641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+mj-lt"/>
                </a:rPr>
                <a:t>2</a:t>
              </a:r>
              <a:endParaRPr lang="zh-TW" altLang="en-US" sz="2000" b="1" dirty="0">
                <a:solidFill>
                  <a:srgbClr val="C00000"/>
                </a:solidFill>
                <a:latin typeface="+mj-lt"/>
              </a:endParaRPr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8145458" y="233390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+mj-lt"/>
                </a:rPr>
                <a:t>1</a:t>
              </a:r>
              <a:endParaRPr lang="zh-TW" altLang="en-US" sz="2000" b="1" dirty="0">
                <a:solidFill>
                  <a:srgbClr val="C00000"/>
                </a:solidFill>
                <a:latin typeface="+mj-lt"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8143390" y="3475911"/>
            <a:ext cx="314974" cy="1249233"/>
            <a:chOff x="8143390" y="3475911"/>
            <a:chExt cx="314974" cy="1249233"/>
          </a:xfrm>
        </p:grpSpPr>
        <p:sp>
          <p:nvSpPr>
            <p:cNvPr id="14" name="文字方塊 13"/>
            <p:cNvSpPr txBox="1"/>
            <p:nvPr/>
          </p:nvSpPr>
          <p:spPr>
            <a:xfrm>
              <a:off x="8145458" y="3475911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+mj-lt"/>
                </a:rPr>
                <a:t>1</a:t>
              </a:r>
              <a:endParaRPr lang="zh-TW" altLang="en-US" sz="2000" b="1" dirty="0">
                <a:solidFill>
                  <a:srgbClr val="C00000"/>
                </a:solidFill>
                <a:latin typeface="+mj-lt"/>
              </a:endParaRP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8143701" y="378186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+mj-lt"/>
                </a:rPr>
                <a:t>2</a:t>
              </a:r>
              <a:endParaRPr lang="zh-TW" altLang="en-US" sz="2000" b="1" dirty="0">
                <a:solidFill>
                  <a:srgbClr val="C00000"/>
                </a:solidFill>
                <a:latin typeface="+mj-lt"/>
              </a:endParaRPr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8143701" y="405754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+mj-lt"/>
                </a:rPr>
                <a:t>3</a:t>
              </a:r>
              <a:endParaRPr lang="zh-TW" altLang="en-US" sz="2000" b="1" dirty="0">
                <a:solidFill>
                  <a:srgbClr val="C00000"/>
                </a:solidFill>
                <a:latin typeface="+mj-lt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8143390" y="432503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+mj-lt"/>
                </a:rPr>
                <a:t>4</a:t>
              </a:r>
              <a:endParaRPr lang="zh-TW" altLang="en-US" sz="2000" b="1" dirty="0">
                <a:solidFill>
                  <a:srgbClr val="C00000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0986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上三角形和下三角形 </a:t>
            </a:r>
            <a:r>
              <a:rPr lang="en-US" altLang="zh-TW" dirty="0" smtClean="0"/>
              <a:t>(2/3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上三角形矩陣</a:t>
            </a:r>
            <a:r>
              <a:rPr lang="zh-TW" altLang="en-US" dirty="0" smtClean="0">
                <a:solidFill>
                  <a:srgbClr val="C00000"/>
                </a:solidFill>
              </a:rPr>
              <a:t>以列為主</a:t>
            </a:r>
            <a:r>
              <a:rPr lang="zh-TW" altLang="en-US" dirty="0" smtClean="0"/>
              <a:t>表示法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31</a:t>
            </a:fld>
            <a:endParaRPr lang="en-US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816304" y="2078306"/>
                <a:ext cx="2541465" cy="11346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/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24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/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/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/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/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/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304" y="2078306"/>
                <a:ext cx="2541465" cy="113467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5056664" y="2078306"/>
                <a:ext cx="1918602" cy="11339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00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TW" sz="200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  <m:e>
                                      <m:r>
                                        <a:rPr lang="en-US" altLang="zh-TW" sz="200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00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  <m:e>
                                      <m:r>
                                        <a:rPr lang="en-US" altLang="zh-TW" sz="200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00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6664" y="2078306"/>
                <a:ext cx="1918602" cy="11339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2699792" y="5763457"/>
                <a:ext cx="3224601" cy="595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𝒏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d>
                            <m:d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5763457"/>
                <a:ext cx="3224601" cy="59529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2699792" y="3920700"/>
                <a:ext cx="3527569" cy="595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𝟑𝟒</m:t>
                          </m:r>
                        </m:sub>
                      </m:sSub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d>
                            <m:d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3920700"/>
                <a:ext cx="3527569" cy="59529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圓角矩形圖說文字 12"/>
          <p:cNvSpPr/>
          <p:nvPr/>
        </p:nvSpPr>
        <p:spPr>
          <a:xfrm>
            <a:off x="2051720" y="5006869"/>
            <a:ext cx="1637414" cy="510363"/>
          </a:xfrm>
          <a:prstGeom prst="wedgeRoundRectCallout">
            <a:avLst>
              <a:gd name="adj1" fmla="val 73788"/>
              <a:gd name="adj2" fmla="val -16759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位置總</a:t>
            </a:r>
            <a:r>
              <a: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數</a:t>
            </a:r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圓角矩形圖說文字 13"/>
          <p:cNvSpPr/>
          <p:nvPr/>
        </p:nvSpPr>
        <p:spPr>
          <a:xfrm>
            <a:off x="5638824" y="4994287"/>
            <a:ext cx="2520280" cy="510363"/>
          </a:xfrm>
          <a:prstGeom prst="wedgeRoundRectCallout">
            <a:avLst>
              <a:gd name="adj1" fmla="val -56523"/>
              <a:gd name="adj2" fmla="val -14580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不放元素的位置數</a:t>
            </a:r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圓角矩形圖說文字 14"/>
          <p:cNvSpPr/>
          <p:nvPr/>
        </p:nvSpPr>
        <p:spPr>
          <a:xfrm>
            <a:off x="6372200" y="3278677"/>
            <a:ext cx="2088232" cy="510363"/>
          </a:xfrm>
          <a:prstGeom prst="wedgeRoundRectCallout">
            <a:avLst>
              <a:gd name="adj1" fmla="val -57758"/>
              <a:gd name="adj2" fmla="val 12899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元素該行的位置</a:t>
            </a:r>
            <a:r>
              <a:rPr lang="en-US" altLang="zh-TW" sz="2000" b="1" i="1" dirty="0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j</a:t>
            </a:r>
            <a:endParaRPr lang="zh-TW" altLang="en-US" b="1" i="1" dirty="0">
              <a:solidFill>
                <a:schemeClr val="tx1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3767556" y="2642014"/>
            <a:ext cx="504056" cy="28803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6451059" y="2644208"/>
            <a:ext cx="431375" cy="28803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5788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  <p:bldP spid="14" grpId="0" animBg="1"/>
      <p:bldP spid="1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上三角形和下三角形 </a:t>
            </a:r>
            <a:r>
              <a:rPr lang="en-US" altLang="zh-TW" dirty="0" smtClean="0"/>
              <a:t>(3/3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上三角形矩陣</a:t>
            </a:r>
            <a:r>
              <a:rPr lang="zh-TW" altLang="en-US" dirty="0" smtClean="0">
                <a:solidFill>
                  <a:srgbClr val="C00000"/>
                </a:solidFill>
              </a:rPr>
              <a:t>以行為主</a:t>
            </a:r>
            <a:r>
              <a:rPr lang="zh-TW" altLang="en-US" dirty="0" smtClean="0"/>
              <a:t>表示法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32</a:t>
            </a:fld>
            <a:endParaRPr lang="en-US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816304" y="2078306"/>
                <a:ext cx="2541465" cy="11346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/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24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/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/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/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/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34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b/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44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304" y="2078306"/>
                <a:ext cx="2541465" cy="113467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5056664" y="2078306"/>
                <a:ext cx="1918602" cy="11339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00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TW" sz="200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  <m:e>
                                      <m:r>
                                        <a:rPr lang="en-US" altLang="zh-TW" sz="200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00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  <m:e>
                                      <m:r>
                                        <a:rPr lang="en-US" altLang="zh-TW" sz="200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00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6664" y="2078306"/>
                <a:ext cx="1918602" cy="11339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2699792" y="5763457"/>
                <a:ext cx="1983812" cy="595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d>
                            <m:d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5763457"/>
                <a:ext cx="1983812" cy="5952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2699792" y="3920700"/>
                <a:ext cx="2239011" cy="5841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𝟑𝟒</m:t>
                          </m:r>
                        </m:sub>
                      </m:sSub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3920700"/>
                <a:ext cx="2239011" cy="58419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圓角矩形圖說文字 12"/>
          <p:cNvSpPr/>
          <p:nvPr/>
        </p:nvSpPr>
        <p:spPr>
          <a:xfrm>
            <a:off x="565549" y="5015779"/>
            <a:ext cx="2501510" cy="510363"/>
          </a:xfrm>
          <a:prstGeom prst="wedgeRoundRectCallout">
            <a:avLst>
              <a:gd name="adj1" fmla="val 77561"/>
              <a:gd name="adj2" fmla="val -15549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前面</a:t>
            </a:r>
            <a:r>
              <a:rPr lang="en-US" altLang="zh-TW" sz="2000" b="1" i="1" dirty="0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j</a:t>
            </a:r>
            <a:r>
              <a:rPr lang="zh-TW" altLang="en-US" sz="2000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行</a:t>
            </a:r>
            <a:r>
              <a:rPr lang="zh-TW" altLang="en-US" sz="2000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的位置總</a:t>
            </a:r>
            <a:r>
              <a: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數</a:t>
            </a:r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圓角矩形圖說文字 14"/>
          <p:cNvSpPr/>
          <p:nvPr/>
        </p:nvSpPr>
        <p:spPr>
          <a:xfrm>
            <a:off x="5220072" y="3337966"/>
            <a:ext cx="2088232" cy="510363"/>
          </a:xfrm>
          <a:prstGeom prst="wedgeRoundRectCallout">
            <a:avLst>
              <a:gd name="adj1" fmla="val -61308"/>
              <a:gd name="adj2" fmla="val 12052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元素該行的</a:t>
            </a:r>
            <a:r>
              <a:rPr lang="zh-TW" altLang="en-US" sz="2000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位置</a:t>
            </a:r>
            <a:r>
              <a:rPr lang="en-US" altLang="zh-TW" sz="2000" b="1" i="1" dirty="0" err="1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i</a:t>
            </a:r>
            <a:endParaRPr lang="zh-TW" altLang="en-US" b="1" i="1" dirty="0">
              <a:solidFill>
                <a:schemeClr val="tx1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3767556" y="2642014"/>
            <a:ext cx="504056" cy="28803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6451059" y="2644208"/>
            <a:ext cx="431375" cy="28803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790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  <p:bldP spid="1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多項式表示法 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/>
              <a:t>P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i="1" dirty="0" err="1" smtClean="0"/>
              <a:t>a</a:t>
            </a:r>
            <a:r>
              <a:rPr lang="en-US" altLang="zh-TW" i="1" baseline="-25000" dirty="0" err="1" smtClean="0"/>
              <a:t>n</a:t>
            </a:r>
            <a:r>
              <a:rPr lang="en-US" altLang="zh-TW" i="1" dirty="0" err="1" smtClean="0"/>
              <a:t>x</a:t>
            </a:r>
            <a:r>
              <a:rPr lang="en-US" altLang="zh-TW" i="1" baseline="30000" dirty="0" err="1" smtClean="0"/>
              <a:t>n</a:t>
            </a:r>
            <a:r>
              <a:rPr lang="en-US" altLang="zh-TW" dirty="0" smtClean="0"/>
              <a:t> + </a:t>
            </a:r>
            <a:r>
              <a:rPr lang="en-US" altLang="zh-TW" i="1" dirty="0" smtClean="0"/>
              <a:t>a</a:t>
            </a:r>
            <a:r>
              <a:rPr lang="en-US" altLang="zh-TW" i="1" baseline="-25000" dirty="0" smtClean="0"/>
              <a:t>n</a:t>
            </a:r>
            <a:r>
              <a:rPr lang="en-US" altLang="zh-TW" baseline="-25000" dirty="0" smtClean="0"/>
              <a:t>–1</a:t>
            </a:r>
            <a:r>
              <a:rPr lang="en-US" altLang="zh-TW" i="1" dirty="0" smtClean="0"/>
              <a:t>x</a:t>
            </a:r>
            <a:r>
              <a:rPr lang="en-US" altLang="zh-TW" i="1" baseline="30000" dirty="0" smtClean="0"/>
              <a:t>n</a:t>
            </a:r>
            <a:r>
              <a:rPr lang="en-US" altLang="zh-TW" baseline="30000" dirty="0" smtClean="0"/>
              <a:t>–1</a:t>
            </a:r>
            <a:r>
              <a:rPr lang="en-US" altLang="zh-TW" dirty="0" smtClean="0"/>
              <a:t> +…+ </a:t>
            </a:r>
            <a:r>
              <a:rPr lang="en-US" altLang="zh-TW" i="1" dirty="0" smtClean="0"/>
              <a:t>a</a:t>
            </a:r>
            <a:r>
              <a:rPr lang="en-US" altLang="zh-TW" baseline="-25000" dirty="0" smtClean="0"/>
              <a:t>1</a:t>
            </a:r>
            <a:r>
              <a:rPr lang="en-US" altLang="zh-TW" i="1" dirty="0" smtClean="0"/>
              <a:t>x</a:t>
            </a:r>
            <a:r>
              <a:rPr lang="en-US" altLang="zh-TW" dirty="0" smtClean="0"/>
              <a:t> + </a:t>
            </a:r>
            <a:r>
              <a:rPr lang="en-US" altLang="zh-TW" i="1" dirty="0" smtClean="0"/>
              <a:t>a</a:t>
            </a:r>
            <a:r>
              <a:rPr lang="en-US" altLang="zh-TW" baseline="-25000" dirty="0" smtClean="0"/>
              <a:t>0</a:t>
            </a:r>
          </a:p>
          <a:p>
            <a:pPr lvl="1"/>
            <a:r>
              <a:rPr lang="en-US" altLang="zh-TW" i="1" dirty="0" smtClean="0">
                <a:solidFill>
                  <a:srgbClr val="C00000"/>
                </a:solidFill>
              </a:rPr>
              <a:t>n</a:t>
            </a:r>
            <a:r>
              <a:rPr lang="zh-TW" altLang="en-US" dirty="0" smtClean="0">
                <a:solidFill>
                  <a:srgbClr val="C00000"/>
                </a:solidFill>
              </a:rPr>
              <a:t>次多項式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pPr lvl="1"/>
            <a:r>
              <a:rPr lang="en-US" altLang="zh-TW" i="1" dirty="0" err="1" smtClean="0"/>
              <a:t>a</a:t>
            </a:r>
            <a:r>
              <a:rPr lang="en-US" altLang="zh-TW" i="1" baseline="-25000" dirty="0" err="1" smtClean="0"/>
              <a:t>i</a:t>
            </a:r>
            <a:r>
              <a:rPr lang="en-US" altLang="zh-TW" i="1" dirty="0" err="1" smtClean="0"/>
              <a:t>x</a:t>
            </a:r>
            <a:r>
              <a:rPr lang="en-US" altLang="zh-TW" i="1" baseline="30000" dirty="0" err="1" smtClean="0"/>
              <a:t>j</a:t>
            </a:r>
            <a:r>
              <a:rPr lang="zh-TW" altLang="en-US" dirty="0" smtClean="0"/>
              <a:t> 為多項式的項 </a:t>
            </a:r>
            <a:r>
              <a:rPr lang="en-US" altLang="zh-TW" dirty="0" smtClean="0"/>
              <a:t>(0 </a:t>
            </a:r>
            <a:r>
              <a:rPr lang="en-US" altLang="zh-TW" dirty="0" smtClean="0">
                <a:sym typeface="Symbol" panose="05050102010706020507" pitchFamily="18" charset="2"/>
              </a:rPr>
              <a:t> </a:t>
            </a:r>
            <a:r>
              <a:rPr lang="en-US" altLang="zh-TW" i="1" dirty="0" err="1" smtClean="0">
                <a:sym typeface="Symbol" panose="05050102010706020507" pitchFamily="18" charset="2"/>
              </a:rPr>
              <a:t>i</a:t>
            </a:r>
            <a:r>
              <a:rPr lang="en-US" altLang="zh-TW" dirty="0" smtClean="0">
                <a:sym typeface="Symbol" panose="05050102010706020507" pitchFamily="18" charset="2"/>
              </a:rPr>
              <a:t>  </a:t>
            </a:r>
            <a:r>
              <a:rPr lang="en-US" altLang="zh-TW" i="1" dirty="0" smtClean="0">
                <a:sym typeface="Symbol" panose="05050102010706020507" pitchFamily="18" charset="2"/>
              </a:rPr>
              <a:t>n</a:t>
            </a:r>
            <a:r>
              <a:rPr lang="en-US" altLang="zh-TW" dirty="0" smtClean="0">
                <a:sym typeface="Symbol" panose="05050102010706020507" pitchFamily="18" charset="2"/>
              </a:rPr>
              <a:t>, 1  </a:t>
            </a:r>
            <a:r>
              <a:rPr lang="en-US" altLang="zh-TW" i="1" dirty="0" smtClean="0">
                <a:sym typeface="Symbol" panose="05050102010706020507" pitchFamily="18" charset="2"/>
              </a:rPr>
              <a:t>j</a:t>
            </a:r>
            <a:r>
              <a:rPr lang="en-US" altLang="zh-TW" dirty="0" smtClean="0">
                <a:sym typeface="Symbol" panose="05050102010706020507" pitchFamily="18" charset="2"/>
              </a:rPr>
              <a:t>  </a:t>
            </a:r>
            <a:r>
              <a:rPr lang="en-US" altLang="zh-TW" i="1" dirty="0" smtClean="0">
                <a:sym typeface="Symbol" panose="05050102010706020507" pitchFamily="18" charset="2"/>
              </a:rPr>
              <a:t>n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i="1" dirty="0" err="1" smtClean="0"/>
              <a:t>a</a:t>
            </a:r>
            <a:r>
              <a:rPr lang="en-US" altLang="zh-TW" i="1" baseline="-25000" dirty="0" err="1" smtClean="0"/>
              <a:t>i</a:t>
            </a:r>
            <a:r>
              <a:rPr lang="zh-TW" altLang="en-US" dirty="0" smtClean="0"/>
              <a:t> 為係數，</a:t>
            </a:r>
            <a:r>
              <a:rPr lang="en-US" altLang="zh-TW" i="1" dirty="0" smtClean="0"/>
              <a:t>x</a:t>
            </a:r>
            <a:r>
              <a:rPr lang="zh-TW" altLang="en-US" dirty="0" smtClean="0"/>
              <a:t>為變數，</a:t>
            </a:r>
            <a:r>
              <a:rPr lang="en-US" altLang="zh-TW" i="1" dirty="0" smtClean="0"/>
              <a:t>j</a:t>
            </a:r>
            <a:r>
              <a:rPr lang="zh-TW" altLang="en-US" dirty="0" smtClean="0"/>
              <a:t>為指數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>
                <a:solidFill>
                  <a:srgbClr val="0000FF"/>
                </a:solidFill>
              </a:rPr>
              <a:t>使用 </a:t>
            </a:r>
            <a:r>
              <a:rPr lang="en-US" altLang="zh-TW" i="1" dirty="0" smtClean="0">
                <a:solidFill>
                  <a:srgbClr val="0000FF"/>
                </a:solidFill>
              </a:rPr>
              <a:t>n</a:t>
            </a:r>
            <a:r>
              <a:rPr lang="zh-TW" altLang="en-US" dirty="0" smtClean="0">
                <a:solidFill>
                  <a:srgbClr val="0000FF"/>
                </a:solidFill>
              </a:rPr>
              <a:t> </a:t>
            </a:r>
            <a:r>
              <a:rPr lang="en-US" altLang="zh-TW" dirty="0" smtClean="0">
                <a:solidFill>
                  <a:srgbClr val="0000FF"/>
                </a:solidFill>
              </a:rPr>
              <a:t>+</a:t>
            </a:r>
            <a:r>
              <a:rPr lang="zh-TW" altLang="en-US" dirty="0" smtClean="0">
                <a:solidFill>
                  <a:srgbClr val="0000FF"/>
                </a:solidFill>
              </a:rPr>
              <a:t> </a:t>
            </a:r>
            <a:r>
              <a:rPr lang="en-US" altLang="zh-TW" dirty="0" smtClean="0">
                <a:solidFill>
                  <a:srgbClr val="0000FF"/>
                </a:solidFill>
              </a:rPr>
              <a:t>2</a:t>
            </a:r>
            <a:r>
              <a:rPr lang="zh-TW" altLang="en-US" dirty="0" smtClean="0">
                <a:solidFill>
                  <a:srgbClr val="0000FF"/>
                </a:solidFill>
              </a:rPr>
              <a:t> 長度的陣列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pPr lvl="1"/>
            <a:r>
              <a:rPr lang="zh-TW" altLang="en-US" dirty="0" smtClean="0"/>
              <a:t>陣列第一個元素是多項式</a:t>
            </a:r>
            <a:r>
              <a:rPr lang="zh-TW" altLang="en-US" dirty="0" smtClean="0">
                <a:solidFill>
                  <a:srgbClr val="C00000"/>
                </a:solidFill>
              </a:rPr>
              <a:t>最大的指數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pPr lvl="1"/>
            <a:r>
              <a:rPr lang="zh-TW" altLang="en-US" dirty="0" smtClean="0"/>
              <a:t>依據指數由大至小依序儲存係數</a:t>
            </a:r>
            <a:endParaRPr lang="en-US" altLang="zh-TW" dirty="0" smtClean="0"/>
          </a:p>
          <a:p>
            <a:pPr lvl="1"/>
            <a:endParaRPr lang="en-US" altLang="zh-TW" dirty="0" smtClean="0"/>
          </a:p>
          <a:p>
            <a:r>
              <a:rPr lang="zh-TW" altLang="en-US" dirty="0">
                <a:solidFill>
                  <a:srgbClr val="0000FF"/>
                </a:solidFill>
              </a:rPr>
              <a:t>只</a:t>
            </a:r>
            <a:r>
              <a:rPr lang="zh-TW" altLang="en-US" dirty="0" smtClean="0">
                <a:solidFill>
                  <a:srgbClr val="0000FF"/>
                </a:solidFill>
              </a:rPr>
              <a:t>考慮多項式中非零項的係數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pPr lvl="1"/>
            <a:r>
              <a:rPr lang="zh-TW" altLang="en-US" dirty="0" smtClean="0"/>
              <a:t>多項式有</a:t>
            </a:r>
            <a:r>
              <a:rPr lang="en-US" altLang="zh-TW" i="1" dirty="0" smtClean="0"/>
              <a:t>m</a:t>
            </a:r>
            <a:r>
              <a:rPr lang="zh-TW" altLang="en-US" dirty="0" smtClean="0"/>
              <a:t>項，則使用</a:t>
            </a:r>
            <a:r>
              <a:rPr lang="en-US" altLang="zh-TW" dirty="0" smtClean="0"/>
              <a:t>2</a:t>
            </a:r>
            <a:r>
              <a:rPr lang="en-US" altLang="zh-TW" i="1" dirty="0" smtClean="0"/>
              <a:t>m</a:t>
            </a:r>
            <a:r>
              <a:rPr lang="zh-TW" altLang="en-US" dirty="0"/>
              <a:t> </a:t>
            </a:r>
            <a:r>
              <a:rPr lang="en-US" altLang="zh-TW" dirty="0" smtClean="0"/>
              <a:t>+</a:t>
            </a:r>
            <a:r>
              <a:rPr lang="zh-TW" altLang="en-US" dirty="0"/>
              <a:t> </a:t>
            </a:r>
            <a:r>
              <a:rPr lang="en-US" altLang="zh-TW" dirty="0" smtClean="0"/>
              <a:t>1</a:t>
            </a:r>
            <a:r>
              <a:rPr lang="zh-TW" altLang="en-US" dirty="0" smtClean="0"/>
              <a:t>長度的陣列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第一個元素</a:t>
            </a:r>
            <a:r>
              <a:rPr lang="zh-TW" altLang="en-US" dirty="0"/>
              <a:t>是</a:t>
            </a:r>
            <a:r>
              <a:rPr lang="zh-TW" altLang="en-US" dirty="0" smtClean="0"/>
              <a:t>多項式</a:t>
            </a:r>
            <a:r>
              <a:rPr lang="zh-TW" altLang="en-US" dirty="0" smtClean="0">
                <a:solidFill>
                  <a:srgbClr val="C00000"/>
                </a:solidFill>
              </a:rPr>
              <a:t>非零項的個數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pPr lvl="1"/>
            <a:r>
              <a:rPr lang="zh-TW" altLang="en-US" dirty="0" smtClean="0"/>
              <a:t>儲存每一個非零項的指數與係數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33</a:t>
            </a:fld>
            <a:endParaRPr lang="en-US" altLang="zh-TW" dirty="0"/>
          </a:p>
        </p:txBody>
      </p:sp>
      <p:sp>
        <p:nvSpPr>
          <p:cNvPr id="7" name="矩形 6"/>
          <p:cNvSpPr/>
          <p:nvPr/>
        </p:nvSpPr>
        <p:spPr>
          <a:xfrm>
            <a:off x="5076058" y="2924944"/>
            <a:ext cx="27190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P</a:t>
            </a:r>
            <a:r>
              <a:rPr lang="zh-TW" altLang="en-US" sz="2000" b="1" dirty="0">
                <a:latin typeface="+mj-lt"/>
              </a:rPr>
              <a:t> </a:t>
            </a:r>
            <a:r>
              <a:rPr lang="en-US" altLang="zh-TW" sz="2000" b="1" dirty="0">
                <a:latin typeface="+mj-lt"/>
              </a:rPr>
              <a:t>=</a:t>
            </a:r>
            <a:r>
              <a:rPr lang="zh-TW" altLang="en-US" sz="2000" b="1" dirty="0">
                <a:latin typeface="+mj-lt"/>
              </a:rPr>
              <a:t> </a:t>
            </a:r>
            <a:r>
              <a:rPr lang="en-US" altLang="zh-TW" sz="2000" b="1" dirty="0" smtClean="0">
                <a:latin typeface="+mj-lt"/>
              </a:rPr>
              <a:t>8</a:t>
            </a:r>
            <a:r>
              <a:rPr lang="en-US" altLang="zh-TW" sz="2000" b="1" i="1" dirty="0" smtClean="0">
                <a:latin typeface="+mj-lt"/>
              </a:rPr>
              <a:t>x</a:t>
            </a:r>
            <a:r>
              <a:rPr lang="en-US" altLang="zh-TW" sz="2000" b="1" baseline="30000" dirty="0" smtClean="0">
                <a:latin typeface="+mj-lt"/>
              </a:rPr>
              <a:t>5</a:t>
            </a:r>
            <a:r>
              <a:rPr lang="en-US" altLang="zh-TW" sz="2000" b="1" dirty="0" smtClean="0">
                <a:latin typeface="+mj-lt"/>
              </a:rPr>
              <a:t> </a:t>
            </a:r>
            <a:r>
              <a:rPr lang="en-US" altLang="zh-TW" sz="2000" b="1" dirty="0">
                <a:latin typeface="+mj-lt"/>
              </a:rPr>
              <a:t>+ </a:t>
            </a:r>
            <a:r>
              <a:rPr lang="en-US" altLang="zh-TW" sz="2000" b="1" dirty="0" smtClean="0">
                <a:latin typeface="+mj-lt"/>
              </a:rPr>
              <a:t>6</a:t>
            </a:r>
            <a:r>
              <a:rPr lang="en-US" altLang="zh-TW" sz="2000" b="1" i="1" dirty="0" smtClean="0">
                <a:latin typeface="+mj-lt"/>
              </a:rPr>
              <a:t>x</a:t>
            </a:r>
            <a:r>
              <a:rPr lang="en-US" altLang="zh-TW" sz="2000" b="1" baseline="30000" dirty="0" smtClean="0">
                <a:latin typeface="+mj-lt"/>
              </a:rPr>
              <a:t>4</a:t>
            </a:r>
            <a:r>
              <a:rPr lang="en-US" altLang="zh-TW" sz="2000" b="1" dirty="0" smtClean="0">
                <a:latin typeface="+mj-lt"/>
              </a:rPr>
              <a:t> + 3</a:t>
            </a:r>
            <a:r>
              <a:rPr lang="en-US" altLang="zh-TW" sz="2000" b="1" i="1" dirty="0" smtClean="0">
                <a:latin typeface="+mj-lt"/>
              </a:rPr>
              <a:t>x</a:t>
            </a:r>
            <a:r>
              <a:rPr lang="en-US" altLang="zh-TW" sz="2000" b="1" baseline="30000" dirty="0" smtClean="0">
                <a:latin typeface="+mj-lt"/>
              </a:rPr>
              <a:t>2</a:t>
            </a:r>
            <a:r>
              <a:rPr lang="en-US" altLang="zh-TW" sz="2000" b="1" dirty="0" smtClean="0">
                <a:latin typeface="+mj-lt"/>
              </a:rPr>
              <a:t> + 12</a:t>
            </a:r>
            <a:endParaRPr lang="zh-TW" altLang="en-US" sz="2000" b="1" dirty="0">
              <a:latin typeface="+mj-lt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5076059" y="3421397"/>
          <a:ext cx="309589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  <a:latin typeface="+mj-lt"/>
                        </a:rPr>
                        <a:t>5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FF"/>
                          </a:solidFill>
                          <a:latin typeface="+mj-lt"/>
                        </a:rPr>
                        <a:t>0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FF"/>
                          </a:solidFill>
                          <a:latin typeface="+mj-lt"/>
                        </a:rPr>
                        <a:t>0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12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5076058" y="5445224"/>
          <a:ext cx="3959991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9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99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9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99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  <a:latin typeface="+mj-lt"/>
                        </a:rPr>
                        <a:t>4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FF"/>
                          </a:solidFill>
                          <a:latin typeface="+mj-lt"/>
                        </a:rPr>
                        <a:t>8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FF"/>
                          </a:solidFill>
                          <a:latin typeface="+mj-lt"/>
                        </a:rPr>
                        <a:t>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FF"/>
                          </a:solidFill>
                          <a:latin typeface="+mj-lt"/>
                        </a:rPr>
                        <a:t>3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FF"/>
                          </a:solidFill>
                          <a:latin typeface="+mj-lt"/>
                        </a:rPr>
                        <a:t>12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0377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多項式表示法 </a:t>
            </a:r>
            <a:r>
              <a:rPr lang="en-US" altLang="zh-TW" dirty="0" smtClean="0"/>
              <a:t>(2/2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err="1" smtClean="0"/>
              <a:t>P</a:t>
            </a:r>
            <a:r>
              <a:rPr lang="en-US" altLang="zh-TW" i="1" baseline="-25000" dirty="0" err="1" smtClean="0"/>
              <a:t>xy</a:t>
            </a:r>
            <a:r>
              <a:rPr lang="en-US" altLang="zh-TW" dirty="0" smtClean="0"/>
              <a:t> = 8</a:t>
            </a:r>
            <a:r>
              <a:rPr lang="en-US" altLang="zh-TW" i="1" dirty="0" smtClean="0"/>
              <a:t>x</a:t>
            </a:r>
            <a:r>
              <a:rPr lang="en-US" altLang="zh-TW" baseline="30000" dirty="0" smtClean="0"/>
              <a:t>5</a:t>
            </a:r>
            <a:r>
              <a:rPr lang="en-US" altLang="zh-TW" dirty="0" smtClean="0"/>
              <a:t> + 6</a:t>
            </a:r>
            <a:r>
              <a:rPr lang="en-US" altLang="zh-TW" i="1" dirty="0" smtClean="0"/>
              <a:t>x</a:t>
            </a:r>
            <a:r>
              <a:rPr lang="en-US" altLang="zh-TW" baseline="30000" dirty="0" smtClean="0"/>
              <a:t>4</a:t>
            </a:r>
            <a:r>
              <a:rPr lang="en-US" altLang="zh-TW" i="1" dirty="0" smtClean="0"/>
              <a:t>y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 + 4</a:t>
            </a:r>
            <a:r>
              <a:rPr lang="en-US" altLang="zh-TW" i="1" dirty="0" smtClean="0"/>
              <a:t>x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y + 3</a:t>
            </a:r>
            <a:r>
              <a:rPr lang="en-US" altLang="zh-TW" i="1" dirty="0" smtClean="0"/>
              <a:t>xy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 + 7</a:t>
            </a:r>
          </a:p>
          <a:p>
            <a:pPr lvl="1"/>
            <a:r>
              <a:rPr lang="zh-TW" altLang="en-US" dirty="0" smtClean="0"/>
              <a:t>需要</a:t>
            </a:r>
            <a:r>
              <a:rPr lang="zh-TW" altLang="en-US" dirty="0" smtClean="0">
                <a:solidFill>
                  <a:srgbClr val="C00000"/>
                </a:solidFill>
              </a:rPr>
              <a:t> </a:t>
            </a:r>
            <a:r>
              <a:rPr lang="en-US" altLang="zh-TW" dirty="0" smtClean="0">
                <a:solidFill>
                  <a:srgbClr val="C00000"/>
                </a:solidFill>
              </a:rPr>
              <a:t>(5 + 1) </a:t>
            </a:r>
            <a:r>
              <a:rPr lang="en-US" altLang="zh-TW" dirty="0" smtClean="0">
                <a:solidFill>
                  <a:srgbClr val="C00000"/>
                </a:solidFill>
                <a:sym typeface="Symbol" panose="05050102010706020507" pitchFamily="18" charset="2"/>
              </a:rPr>
              <a:t> (3 + 1) = 24</a:t>
            </a:r>
            <a:r>
              <a:rPr lang="zh-TW" altLang="en-US" dirty="0" smtClean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zh-TW" altLang="en-US" dirty="0" smtClean="0">
                <a:sym typeface="Symbol" panose="05050102010706020507" pitchFamily="18" charset="2"/>
              </a:rPr>
              <a:t>的</a:t>
            </a:r>
            <a:r>
              <a:rPr lang="zh-TW" altLang="en-US" dirty="0" smtClean="0">
                <a:solidFill>
                  <a:srgbClr val="C00000"/>
                </a:solidFill>
                <a:sym typeface="Symbol" panose="05050102010706020507" pitchFamily="18" charset="2"/>
              </a:rPr>
              <a:t>二維</a:t>
            </a:r>
            <a:r>
              <a:rPr lang="zh-TW" altLang="en-US" dirty="0" smtClean="0">
                <a:sym typeface="Symbol" panose="05050102010706020507" pitchFamily="18" charset="2"/>
              </a:rPr>
              <a:t>陣列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34</a:t>
            </a:fld>
            <a:endParaRPr lang="en-US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915816" y="2564904"/>
                <a:ext cx="2623539" cy="18895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TW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TW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p>
                                        </m:sSup>
                                      </m:e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TW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p>
                                        </m:sSup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TW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TW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TW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TW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TW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p>
                                        </m:sSup>
                                      </m:e>
                                    </m:mr>
                                    <m:mr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p>
                                        </m:sSup>
                                      </m:e>
                                    </m:mr>
                                    <m:mr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TW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</m:e>
                                    </m:mr>
                                    <m:mr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sup>
                                        </m:sSup>
                                      </m:e>
                                    </m:mr>
                                    <m:mr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sup>
                                        </m:sSup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7</m:t>
                                            </m:r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    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0   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0    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0   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0    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4   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    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0   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3    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0   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0    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0   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    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0    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8    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   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    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0   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0    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6   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0    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0   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2564904"/>
                <a:ext cx="2623539" cy="188955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990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魔術方塊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有一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Symbol" panose="05050102010706020507" pitchFamily="18" charset="2"/>
              </a:rPr>
              <a:t> </a:t>
            </a:r>
            <a:r>
              <a:rPr lang="en-US" altLang="zh-TW" i="1" dirty="0" smtClean="0">
                <a:sym typeface="Symbol" panose="05050102010706020507" pitchFamily="18" charset="2"/>
              </a:rPr>
              <a:t>n</a:t>
            </a:r>
            <a:r>
              <a:rPr lang="zh-TW" altLang="en-US" dirty="0" smtClean="0">
                <a:sym typeface="Symbol" panose="05050102010706020507" pitchFamily="18" charset="2"/>
              </a:rPr>
              <a:t> 的方陣，其中 </a:t>
            </a:r>
            <a:r>
              <a:rPr lang="en-US" altLang="zh-TW" i="1" dirty="0" smtClean="0">
                <a:sym typeface="Symbol" panose="05050102010706020507" pitchFamily="18" charset="2"/>
              </a:rPr>
              <a:t>n</a:t>
            </a:r>
            <a:r>
              <a:rPr lang="en-US" altLang="zh-TW" dirty="0" smtClean="0">
                <a:sym typeface="Symbol" panose="05050102010706020507" pitchFamily="18" charset="2"/>
              </a:rPr>
              <a:t> </a:t>
            </a:r>
            <a:r>
              <a:rPr lang="zh-TW" altLang="en-US" dirty="0" smtClean="0">
                <a:sym typeface="Symbol" panose="05050102010706020507" pitchFamily="18" charset="2"/>
              </a:rPr>
              <a:t>為奇數，請在 </a:t>
            </a:r>
            <a:r>
              <a:rPr lang="en-US" altLang="zh-TW" i="1" dirty="0" smtClean="0">
                <a:sym typeface="Symbol" panose="05050102010706020507" pitchFamily="18" charset="2"/>
              </a:rPr>
              <a:t>n</a:t>
            </a:r>
            <a:r>
              <a:rPr lang="en-US" altLang="zh-TW" dirty="0" smtClean="0">
                <a:sym typeface="Symbol" panose="05050102010706020507" pitchFamily="18" charset="2"/>
              </a:rPr>
              <a:t>  </a:t>
            </a:r>
            <a:r>
              <a:rPr lang="en-US" altLang="zh-TW" i="1" dirty="0" smtClean="0">
                <a:sym typeface="Symbol" panose="05050102010706020507" pitchFamily="18" charset="2"/>
              </a:rPr>
              <a:t>n</a:t>
            </a:r>
            <a:r>
              <a:rPr lang="en-US" altLang="zh-TW" dirty="0" smtClean="0">
                <a:sym typeface="Symbol" panose="05050102010706020507" pitchFamily="18" charset="2"/>
              </a:rPr>
              <a:t> </a:t>
            </a:r>
            <a:r>
              <a:rPr lang="zh-TW" altLang="en-US" dirty="0" smtClean="0">
                <a:sym typeface="Symbol" panose="05050102010706020507" pitchFamily="18" charset="2"/>
              </a:rPr>
              <a:t>的魔術方陣中，將 </a:t>
            </a:r>
            <a:r>
              <a:rPr lang="en-US" altLang="zh-TW" dirty="0" smtClean="0">
                <a:sym typeface="Symbol" panose="05050102010706020507" pitchFamily="18" charset="2"/>
              </a:rPr>
              <a:t>1 </a:t>
            </a:r>
            <a:r>
              <a:rPr lang="zh-TW" altLang="en-US" dirty="0" smtClean="0">
                <a:sym typeface="Symbol" panose="05050102010706020507" pitchFamily="18" charset="2"/>
              </a:rPr>
              <a:t>到 </a:t>
            </a:r>
            <a:r>
              <a:rPr lang="en-US" altLang="zh-TW" i="1" dirty="0" smtClean="0">
                <a:sym typeface="Symbol" panose="05050102010706020507" pitchFamily="18" charset="2"/>
              </a:rPr>
              <a:t>n</a:t>
            </a:r>
            <a:r>
              <a:rPr lang="en-US" altLang="zh-TW" baseline="30000" dirty="0" smtClean="0">
                <a:sym typeface="Symbol" panose="05050102010706020507" pitchFamily="18" charset="2"/>
              </a:rPr>
              <a:t>2</a:t>
            </a:r>
            <a:r>
              <a:rPr lang="zh-TW" altLang="en-US" dirty="0" smtClean="0">
                <a:sym typeface="Symbol" panose="05050102010706020507" pitchFamily="18" charset="2"/>
              </a:rPr>
              <a:t> 的整數填入其中，使其各列、各行及對角線之和皆相等。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35</a:t>
            </a:fld>
            <a:endParaRPr lang="en-US" altLang="zh-TW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2196882" y="2943225"/>
          <a:ext cx="3624065" cy="1854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24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4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4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4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402013" y="256490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0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140627" y="256490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1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846375" y="256490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2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581032" y="256502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3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286780" y="257120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4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827575" y="293424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0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827575" y="329741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1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1830993" y="367027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2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827575" y="404325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3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818636" y="440629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4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842418" y="292189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</a:rPr>
              <a:t>1</a:t>
            </a:r>
            <a:endParaRPr lang="zh-TW" altLang="en-US" sz="2000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140627" y="4418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9900CC"/>
                </a:solidFill>
                <a:latin typeface="+mj-lt"/>
              </a:rPr>
              <a:t>2</a:t>
            </a:r>
            <a:endParaRPr lang="zh-TW" altLang="en-US" sz="2000" b="1" dirty="0">
              <a:solidFill>
                <a:srgbClr val="9900CC"/>
              </a:solidFill>
              <a:latin typeface="+mj-lt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2402013" y="404325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3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286780" y="368431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9900CC"/>
                </a:solidFill>
                <a:latin typeface="+mj-lt"/>
              </a:rPr>
              <a:t>4</a:t>
            </a:r>
            <a:endParaRPr lang="zh-TW" altLang="en-US" sz="2000" b="1" dirty="0">
              <a:solidFill>
                <a:srgbClr val="9900CC"/>
              </a:solidFill>
              <a:latin typeface="+mj-lt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581032" y="330428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5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581032" y="36721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FFC000"/>
                </a:solidFill>
                <a:latin typeface="+mj-lt"/>
              </a:rPr>
              <a:t>6</a:t>
            </a:r>
            <a:endParaRPr lang="zh-TW" altLang="en-US" sz="2000" b="1" dirty="0">
              <a:solidFill>
                <a:srgbClr val="FFC000"/>
              </a:solidFill>
              <a:latin typeface="+mj-lt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842418" y="330428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7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3136670" y="292189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8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402013" y="44186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9900CC"/>
                </a:solidFill>
                <a:latin typeface="+mj-lt"/>
              </a:rPr>
              <a:t>9</a:t>
            </a:r>
            <a:endParaRPr lang="zh-TW" altLang="en-US" sz="2000" b="1" dirty="0">
              <a:solidFill>
                <a:srgbClr val="9900CC"/>
              </a:solidFill>
              <a:latin typeface="+mj-lt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5217016" y="403040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9900CC"/>
                </a:solidFill>
                <a:latin typeface="+mj-lt"/>
              </a:rPr>
              <a:t>10</a:t>
            </a:r>
            <a:endParaRPr lang="zh-TW" altLang="en-US" sz="2000" b="1" dirty="0">
              <a:solidFill>
                <a:srgbClr val="9900CC"/>
              </a:solidFill>
              <a:latin typeface="+mj-lt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231186" y="4413915"/>
            <a:ext cx="4269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FFC000"/>
                </a:solidFill>
                <a:latin typeface="+mj-lt"/>
              </a:rPr>
              <a:t>11</a:t>
            </a:r>
            <a:endParaRPr lang="zh-TW" altLang="en-US" sz="2000" b="1" dirty="0">
              <a:solidFill>
                <a:srgbClr val="FFC000"/>
              </a:solidFill>
              <a:latin typeface="+mj-lt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4520869" y="404008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12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3786021" y="366533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13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3078194" y="3299497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14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2339817" y="292189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15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2341245" y="329390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CC00"/>
                </a:solidFill>
                <a:latin typeface="+mj-lt"/>
              </a:rPr>
              <a:t>16</a:t>
            </a:r>
            <a:endParaRPr lang="zh-TW" altLang="en-US" sz="2000" b="1" dirty="0">
              <a:solidFill>
                <a:srgbClr val="00CC00"/>
              </a:solidFill>
              <a:latin typeface="+mj-lt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5236142" y="2934247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9900CC"/>
                </a:solidFill>
                <a:latin typeface="+mj-lt"/>
              </a:rPr>
              <a:t>17</a:t>
            </a:r>
            <a:endParaRPr lang="zh-TW" altLang="en-US" sz="2000" b="1" dirty="0">
              <a:solidFill>
                <a:srgbClr val="9900CC"/>
              </a:solidFill>
              <a:latin typeface="+mj-lt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4516912" y="441391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9900CC"/>
                </a:solidFill>
                <a:latin typeface="+mj-lt"/>
              </a:rPr>
              <a:t>18</a:t>
            </a:r>
            <a:endParaRPr lang="zh-TW" altLang="en-US" sz="2000" b="1" dirty="0">
              <a:solidFill>
                <a:srgbClr val="9900CC"/>
              </a:solidFill>
              <a:latin typeface="+mj-lt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3788559" y="404008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19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3079463" y="367422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+mj-lt"/>
              </a:rPr>
              <a:t>2</a:t>
            </a:r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0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3096102" y="404008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FFC000"/>
                </a:solidFill>
                <a:latin typeface="+mj-lt"/>
              </a:rPr>
              <a:t>21</a:t>
            </a:r>
            <a:endParaRPr lang="zh-TW" altLang="en-US" sz="2000" b="1" dirty="0">
              <a:solidFill>
                <a:srgbClr val="FFC000"/>
              </a:solidFill>
              <a:latin typeface="+mj-lt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2347153" y="366427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22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5241095" y="331740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9900CC"/>
                </a:solidFill>
                <a:latin typeface="+mj-lt"/>
              </a:rPr>
              <a:t>23</a:t>
            </a:r>
            <a:endParaRPr lang="zh-TW" altLang="en-US" sz="2000" b="1" dirty="0">
              <a:solidFill>
                <a:srgbClr val="9900CC"/>
              </a:solidFill>
              <a:latin typeface="+mj-lt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526437" y="293179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24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3802638" y="442965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9900CC"/>
                </a:solidFill>
                <a:latin typeface="+mj-lt"/>
              </a:rPr>
              <a:t>25</a:t>
            </a:r>
            <a:endParaRPr lang="zh-TW" altLang="en-US" sz="2000" b="1" dirty="0">
              <a:solidFill>
                <a:srgbClr val="9900CC"/>
              </a:solidFill>
              <a:latin typeface="+mj-lt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6251985" y="2935882"/>
            <a:ext cx="840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規則</a:t>
            </a:r>
            <a:r>
              <a:rPr lang="en-US" altLang="zh-TW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1</a:t>
            </a:r>
            <a:endParaRPr lang="zh-TW" altLang="en-US" sz="2000" b="1" dirty="0">
              <a:solidFill>
                <a:srgbClr val="C00000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6256938" y="3331906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solidFill>
                  <a:srgbClr val="FFC000"/>
                </a:solidFill>
                <a:latin typeface="+mj-lt"/>
                <a:ea typeface="標楷體" panose="03000509000000000000" pitchFamily="65" charset="-120"/>
              </a:rPr>
              <a:t>規則</a:t>
            </a:r>
            <a:r>
              <a:rPr lang="en-US" altLang="zh-TW" sz="2000" b="1" dirty="0" smtClean="0">
                <a:solidFill>
                  <a:srgbClr val="FFC000"/>
                </a:solidFill>
                <a:latin typeface="+mj-lt"/>
                <a:ea typeface="標楷體" panose="03000509000000000000" pitchFamily="65" charset="-120"/>
              </a:rPr>
              <a:t>2</a:t>
            </a:r>
            <a:endParaRPr lang="zh-TW" altLang="en-US" sz="2000" b="1" dirty="0">
              <a:solidFill>
                <a:srgbClr val="FFC000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6251985" y="3713750"/>
            <a:ext cx="840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solidFill>
                  <a:srgbClr val="9900CC"/>
                </a:solidFill>
                <a:latin typeface="+mj-lt"/>
                <a:ea typeface="標楷體" panose="03000509000000000000" pitchFamily="65" charset="-120"/>
              </a:rPr>
              <a:t>規則</a:t>
            </a:r>
            <a:r>
              <a:rPr lang="en-US" altLang="zh-TW" sz="2000" b="1" dirty="0" smtClean="0">
                <a:solidFill>
                  <a:srgbClr val="9900CC"/>
                </a:solidFill>
                <a:latin typeface="+mj-lt"/>
                <a:ea typeface="標楷體" panose="03000509000000000000" pitchFamily="65" charset="-120"/>
              </a:rPr>
              <a:t>3</a:t>
            </a:r>
            <a:endParaRPr lang="zh-TW" altLang="en-US" sz="2000" b="1" dirty="0">
              <a:solidFill>
                <a:srgbClr val="9900CC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6249723" y="4126357"/>
            <a:ext cx="840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solidFill>
                  <a:srgbClr val="00CC00"/>
                </a:solidFill>
                <a:latin typeface="+mj-lt"/>
                <a:ea typeface="標楷體" panose="03000509000000000000" pitchFamily="65" charset="-120"/>
              </a:rPr>
              <a:t>規則</a:t>
            </a:r>
            <a:r>
              <a:rPr lang="en-US" altLang="zh-TW" sz="2000" b="1" dirty="0" smtClean="0">
                <a:solidFill>
                  <a:srgbClr val="00CC00"/>
                </a:solidFill>
                <a:latin typeface="+mj-lt"/>
                <a:ea typeface="標楷體" panose="03000509000000000000" pitchFamily="65" charset="-120"/>
              </a:rPr>
              <a:t>4</a:t>
            </a:r>
            <a:endParaRPr lang="zh-TW" altLang="en-US" sz="2000" b="1" dirty="0">
              <a:solidFill>
                <a:srgbClr val="00CC00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971600" y="5463005"/>
            <a:ext cx="7329251" cy="707886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Q1: </a:t>
            </a:r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如果 </a:t>
            </a:r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1</a:t>
            </a:r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 不是填在最上列的中間格時，要如何完成魔術方陣？</a:t>
            </a:r>
            <a:endParaRPr lang="en-US" altLang="zh-TW" sz="2000" b="1" dirty="0" smtClean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Q2: </a:t>
            </a:r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如果 </a:t>
            </a:r>
            <a:r>
              <a:rPr lang="en-US" altLang="zh-TW" sz="2000" b="1" i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n</a:t>
            </a:r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 </a:t>
            </a:r>
            <a:r>
              <a:rPr lang="en-US" altLang="zh-TW" sz="2000" b="1" i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n</a:t>
            </a:r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 的方陣，其中 </a:t>
            </a:r>
            <a:r>
              <a:rPr lang="en-US" altLang="zh-TW" sz="2000" b="1" i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n</a:t>
            </a:r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 為偶數，要如何完成魔術方陣？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489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字串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在 </a:t>
            </a:r>
            <a:r>
              <a:rPr lang="en-US" altLang="zh-TW" dirty="0"/>
              <a:t>C/C++ </a:t>
            </a:r>
            <a:r>
              <a:rPr lang="zh-TW" altLang="en-US" dirty="0"/>
              <a:t>語言中，字串就是有</a:t>
            </a:r>
            <a:r>
              <a:rPr lang="zh-TW" altLang="en-US" dirty="0">
                <a:solidFill>
                  <a:srgbClr val="C00000"/>
                </a:solidFill>
              </a:rPr>
              <a:t>結束符號</a:t>
            </a:r>
            <a:r>
              <a:rPr lang="zh-TW" altLang="en-US" dirty="0"/>
              <a:t>的字元</a:t>
            </a:r>
            <a:r>
              <a:rPr lang="zh-TW" altLang="en-US" dirty="0" smtClean="0"/>
              <a:t>陣列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char name[10] = {“Merry”};</a:t>
            </a:r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char </a:t>
            </a:r>
            <a:r>
              <a:rPr lang="en-US" altLang="zh-TW" dirty="0" err="1" smtClean="0"/>
              <a:t>str</a:t>
            </a:r>
            <a:r>
              <a:rPr lang="en-US" altLang="zh-TW" dirty="0" smtClean="0"/>
              <a:t>[12];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>
              <a:solidFill>
                <a:srgbClr val="C00000"/>
              </a:solidFill>
            </a:endParaRPr>
          </a:p>
          <a:p>
            <a:pPr lvl="1"/>
            <a:r>
              <a:rPr lang="en-US" altLang="zh-TW" dirty="0" smtClean="0">
                <a:solidFill>
                  <a:srgbClr val="C00000"/>
                </a:solidFill>
              </a:rPr>
              <a:t>\0</a:t>
            </a:r>
            <a:r>
              <a:rPr lang="zh-TW" altLang="en-US" dirty="0" smtClean="0"/>
              <a:t>：字串的結束符號</a:t>
            </a:r>
            <a:endParaRPr lang="en-US" altLang="zh-TW" dirty="0" smtClean="0"/>
          </a:p>
          <a:p>
            <a:pPr lvl="2"/>
            <a:r>
              <a:rPr lang="zh-TW" altLang="en-US" dirty="0" smtClean="0"/>
              <a:t>空字元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8</a:t>
            </a:r>
            <a:r>
              <a:rPr lang="zh-TW" altLang="en-US" dirty="0" smtClean="0"/>
              <a:t>個</a:t>
            </a:r>
            <a:r>
              <a:rPr lang="en-US" altLang="zh-TW" dirty="0" smtClean="0"/>
              <a:t>bit</a:t>
            </a:r>
            <a:r>
              <a:rPr lang="zh-TW" altLang="en-US" dirty="0" smtClean="0"/>
              <a:t>都為</a:t>
            </a:r>
            <a:r>
              <a:rPr lang="en-US" altLang="zh-TW" dirty="0" smtClean="0"/>
              <a:t>0</a:t>
            </a:r>
            <a:r>
              <a:rPr lang="zh-TW" altLang="en-US" dirty="0" smtClean="0"/>
              <a:t>的</a:t>
            </a:r>
            <a:r>
              <a:rPr lang="en-US" altLang="zh-TW" dirty="0" smtClean="0"/>
              <a:t>byte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36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428307" y="2396457"/>
          <a:ext cx="502566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\0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1410586" y="3739700"/>
          <a:ext cx="60960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\0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圓角矩形圖說文字 8"/>
          <p:cNvSpPr/>
          <p:nvPr/>
        </p:nvSpPr>
        <p:spPr>
          <a:xfrm>
            <a:off x="4550732" y="3019649"/>
            <a:ext cx="1637414" cy="510363"/>
          </a:xfrm>
          <a:prstGeom prst="wedgeRoundRectCallout">
            <a:avLst>
              <a:gd name="adj1" fmla="val -71482"/>
              <a:gd name="adj2" fmla="val -9375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結束符號</a:t>
            </a:r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圓角矩形圖說文字 9"/>
          <p:cNvSpPr/>
          <p:nvPr/>
        </p:nvSpPr>
        <p:spPr>
          <a:xfrm>
            <a:off x="2140685" y="4235305"/>
            <a:ext cx="1637414" cy="510363"/>
          </a:xfrm>
          <a:prstGeom prst="wedgeRoundRectCallout">
            <a:avLst>
              <a:gd name="adj1" fmla="val -78625"/>
              <a:gd name="adj2" fmla="val -625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結束符號</a:t>
            </a:r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97727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字串的長度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err="1" smtClean="0"/>
              <a:t>len</a:t>
            </a:r>
            <a:r>
              <a:rPr lang="en-US" altLang="zh-TW" dirty="0" smtClean="0"/>
              <a:t> = </a:t>
            </a:r>
            <a:r>
              <a:rPr lang="en-US" altLang="zh-TW" dirty="0" err="1" smtClean="0"/>
              <a:t>strlen</a:t>
            </a:r>
            <a:r>
              <a:rPr lang="en-US" altLang="zh-TW" dirty="0" smtClean="0"/>
              <a:t>(name);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for (</a:t>
            </a:r>
            <a:r>
              <a:rPr lang="en-US" altLang="zh-TW" dirty="0" err="1" smtClean="0"/>
              <a:t>len</a:t>
            </a:r>
            <a:r>
              <a:rPr lang="en-US" altLang="zh-TW" dirty="0" smtClean="0"/>
              <a:t> = 0; S[</a:t>
            </a:r>
            <a:r>
              <a:rPr lang="en-US" altLang="zh-TW" dirty="0" err="1" smtClean="0"/>
              <a:t>len</a:t>
            </a:r>
            <a:r>
              <a:rPr lang="en-US" altLang="zh-TW" dirty="0" smtClean="0"/>
              <a:t>] != ‘\0’; </a:t>
            </a:r>
            <a:r>
              <a:rPr lang="en-US" altLang="zh-TW" dirty="0" err="1" smtClean="0"/>
              <a:t>len</a:t>
            </a:r>
            <a:r>
              <a:rPr lang="en-US" altLang="zh-TW" dirty="0" smtClean="0"/>
              <a:t>++)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return(</a:t>
            </a:r>
            <a:r>
              <a:rPr lang="en-US" altLang="zh-TW" dirty="0" err="1" smtClean="0"/>
              <a:t>len</a:t>
            </a:r>
            <a:r>
              <a:rPr lang="en-US" altLang="zh-TW" dirty="0" smtClean="0"/>
              <a:t>);</a:t>
            </a:r>
          </a:p>
          <a:p>
            <a:endParaRPr lang="en-US" altLang="zh-TW" dirty="0" smtClean="0"/>
          </a:p>
          <a:p>
            <a:r>
              <a:rPr lang="zh-TW" altLang="en-US" dirty="0" smtClean="0"/>
              <a:t>不斷</a:t>
            </a:r>
            <a:r>
              <a:rPr lang="zh-TW" altLang="en-US" dirty="0"/>
              <a:t>將計數器(</a:t>
            </a:r>
            <a:r>
              <a:rPr lang="en-US" altLang="zh-TW" dirty="0" err="1"/>
              <a:t>len</a:t>
            </a:r>
            <a:r>
              <a:rPr lang="en-US" altLang="zh-TW" dirty="0" smtClean="0"/>
              <a:t>)</a:t>
            </a:r>
            <a:r>
              <a:rPr lang="zh-TW" altLang="en-US" dirty="0" smtClean="0"/>
              <a:t>的</a:t>
            </a:r>
            <a:r>
              <a:rPr lang="zh-TW" altLang="en-US" dirty="0"/>
              <a:t>值</a:t>
            </a:r>
            <a:r>
              <a:rPr lang="zh-TW" altLang="en-US" dirty="0">
                <a:solidFill>
                  <a:srgbClr val="C00000"/>
                </a:solidFill>
              </a:rPr>
              <a:t>加 1</a:t>
            </a:r>
            <a:r>
              <a:rPr lang="zh-TW" altLang="en-US" dirty="0" smtClean="0"/>
              <a:t>，</a:t>
            </a:r>
            <a:r>
              <a:rPr lang="zh-TW" altLang="en-US" dirty="0"/>
              <a:t>直到碰到</a:t>
            </a:r>
            <a:r>
              <a:rPr lang="zh-TW" altLang="en-US" dirty="0">
                <a:solidFill>
                  <a:srgbClr val="C00000"/>
                </a:solidFill>
              </a:rPr>
              <a:t>空字元</a:t>
            </a:r>
            <a:r>
              <a:rPr lang="zh-TW" altLang="en-US" dirty="0"/>
              <a:t>時就結束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37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981208" y="1843547"/>
          <a:ext cx="502566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\0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190857" y="1839417"/>
            <a:ext cx="7825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070915" y="143969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574188" y="143969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073001" y="144755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576274" y="144755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084014" y="144755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587287" y="144755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086100" y="145541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5589373" y="145541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089103" y="14470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592376" y="14470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圓角矩形圖說文字 22"/>
          <p:cNvSpPr/>
          <p:nvPr/>
        </p:nvSpPr>
        <p:spPr>
          <a:xfrm>
            <a:off x="72327" y="2711301"/>
            <a:ext cx="2732568" cy="531628"/>
          </a:xfrm>
          <a:prstGeom prst="wedgeRoundRectCallout">
            <a:avLst>
              <a:gd name="adj1" fmla="val 28410"/>
              <a:gd name="adj2" fmla="val -1335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計數器 </a:t>
            </a:r>
            <a:r>
              <a:rPr lang="en-US" altLang="zh-TW" sz="2000" b="1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len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從這裡開始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圓角矩形圖說文字 23"/>
          <p:cNvSpPr/>
          <p:nvPr/>
        </p:nvSpPr>
        <p:spPr>
          <a:xfrm>
            <a:off x="4486939" y="2711301"/>
            <a:ext cx="2526699" cy="531628"/>
          </a:xfrm>
          <a:prstGeom prst="wedgeRoundRectCallout">
            <a:avLst>
              <a:gd name="adj1" fmla="val -37277"/>
              <a:gd name="adj2" fmla="val -1335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計數器 </a:t>
            </a:r>
            <a:r>
              <a:rPr lang="en-US" altLang="zh-TW" sz="2000" b="1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len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停在這裡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836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字串的複製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err="1" smtClean="0"/>
              <a:t>strcopy</a:t>
            </a:r>
            <a:r>
              <a:rPr lang="en-US" altLang="zh-TW" dirty="0" smtClean="0"/>
              <a:t>(S, name)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for (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 = 0; name[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 != ‘\0’;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++)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     S[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 = name[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S[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 = ‘\0’;</a:t>
            </a:r>
          </a:p>
          <a:p>
            <a:endParaRPr lang="en-US" altLang="zh-TW" dirty="0" smtClean="0"/>
          </a:p>
          <a:p>
            <a:r>
              <a:rPr lang="zh-TW" altLang="en-US" dirty="0" smtClean="0"/>
              <a:t>不斷</a:t>
            </a:r>
            <a:r>
              <a:rPr lang="zh-TW" altLang="en-US" dirty="0"/>
              <a:t>做逐字元拷貝，直到碰到</a:t>
            </a:r>
            <a:r>
              <a:rPr lang="zh-TW" altLang="en-US" dirty="0">
                <a:solidFill>
                  <a:srgbClr val="C00000"/>
                </a:solidFill>
              </a:rPr>
              <a:t>空字元</a:t>
            </a:r>
            <a:r>
              <a:rPr lang="zh-TW" altLang="en-US" dirty="0"/>
              <a:t>就停止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38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981208" y="2587857"/>
          <a:ext cx="502566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\0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190857" y="2583727"/>
            <a:ext cx="7825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070915" y="21840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574188" y="21840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073001" y="219186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576274" y="219186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084014" y="219186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587287" y="219186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086100" y="219972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5589373" y="219972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089103" y="219139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592376" y="219139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圓角矩形圖說文字 18"/>
          <p:cNvSpPr/>
          <p:nvPr/>
        </p:nvSpPr>
        <p:spPr>
          <a:xfrm>
            <a:off x="2353532" y="1392852"/>
            <a:ext cx="2732568" cy="531628"/>
          </a:xfrm>
          <a:prstGeom prst="wedgeRoundRectCallout">
            <a:avLst>
              <a:gd name="adj1" fmla="val -52524"/>
              <a:gd name="adj2" fmla="val 1145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計數器 </a:t>
            </a:r>
            <a:r>
              <a:rPr lang="en-US" altLang="zh-TW" sz="20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從這裡開始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圓角矩形圖說文字 19"/>
          <p:cNvSpPr/>
          <p:nvPr/>
        </p:nvSpPr>
        <p:spPr>
          <a:xfrm>
            <a:off x="5138659" y="1392852"/>
            <a:ext cx="2526699" cy="531628"/>
          </a:xfrm>
          <a:prstGeom prst="wedgeRoundRectCallout">
            <a:avLst>
              <a:gd name="adj1" fmla="val -61684"/>
              <a:gd name="adj2" fmla="val 1085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計數器 </a:t>
            </a:r>
            <a:r>
              <a:rPr lang="en-US" altLang="zh-TW" sz="20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停在這裡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/>
          </p:nvPr>
        </p:nvGraphicFramePr>
        <p:xfrm>
          <a:off x="1984077" y="3183032"/>
          <a:ext cx="502566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文字方塊 21"/>
          <p:cNvSpPr txBox="1"/>
          <p:nvPr/>
        </p:nvSpPr>
        <p:spPr>
          <a:xfrm>
            <a:off x="1597780" y="3178902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" name="群組 31"/>
          <p:cNvGrpSpPr/>
          <p:nvPr/>
        </p:nvGrpSpPr>
        <p:grpSpPr>
          <a:xfrm>
            <a:off x="2021810" y="2967805"/>
            <a:ext cx="426720" cy="626596"/>
            <a:chOff x="2021810" y="2967805"/>
            <a:chExt cx="426720" cy="626596"/>
          </a:xfrm>
        </p:grpSpPr>
        <p:cxnSp>
          <p:nvCxnSpPr>
            <p:cNvPr id="24" name="直線單箭頭接點 23"/>
            <p:cNvCxnSpPr/>
            <p:nvPr/>
          </p:nvCxnSpPr>
          <p:spPr>
            <a:xfrm>
              <a:off x="2227368" y="2967805"/>
              <a:ext cx="0" cy="21600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矩形 30"/>
            <p:cNvSpPr/>
            <p:nvPr/>
          </p:nvSpPr>
          <p:spPr>
            <a:xfrm>
              <a:off x="2021810" y="3194291"/>
              <a:ext cx="42672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zh-TW" altLang="en-US" sz="2000" b="1" dirty="0"/>
            </a:p>
          </p:txBody>
        </p:sp>
      </p:grpSp>
      <p:sp>
        <p:nvSpPr>
          <p:cNvPr id="33" name="矩形 32"/>
          <p:cNvSpPr/>
          <p:nvPr/>
        </p:nvSpPr>
        <p:spPr>
          <a:xfrm>
            <a:off x="4377075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TW" altLang="en-US" dirty="0"/>
          </a:p>
        </p:txBody>
      </p:sp>
      <p:grpSp>
        <p:nvGrpSpPr>
          <p:cNvPr id="35" name="群組 34"/>
          <p:cNvGrpSpPr/>
          <p:nvPr/>
        </p:nvGrpSpPr>
        <p:grpSpPr>
          <a:xfrm>
            <a:off x="2584821" y="2967805"/>
            <a:ext cx="298480" cy="626596"/>
            <a:chOff x="2584821" y="2967805"/>
            <a:chExt cx="298480" cy="626596"/>
          </a:xfrm>
        </p:grpSpPr>
        <p:cxnSp>
          <p:nvCxnSpPr>
            <p:cNvPr id="25" name="直線單箭頭接點 24"/>
            <p:cNvCxnSpPr/>
            <p:nvPr/>
          </p:nvCxnSpPr>
          <p:spPr>
            <a:xfrm>
              <a:off x="2730641" y="2967805"/>
              <a:ext cx="0" cy="21600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矩形 33"/>
            <p:cNvSpPr/>
            <p:nvPr/>
          </p:nvSpPr>
          <p:spPr>
            <a:xfrm>
              <a:off x="2584821" y="3194291"/>
              <a:ext cx="29848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sz="2000" b="1" dirty="0"/>
            </a:p>
          </p:txBody>
        </p:sp>
      </p:grpSp>
      <p:grpSp>
        <p:nvGrpSpPr>
          <p:cNvPr id="37" name="群組 36"/>
          <p:cNvGrpSpPr/>
          <p:nvPr/>
        </p:nvGrpSpPr>
        <p:grpSpPr>
          <a:xfrm>
            <a:off x="3083634" y="2962902"/>
            <a:ext cx="298480" cy="616110"/>
            <a:chOff x="3083634" y="2962902"/>
            <a:chExt cx="298480" cy="616110"/>
          </a:xfrm>
        </p:grpSpPr>
        <p:cxnSp>
          <p:nvCxnSpPr>
            <p:cNvPr id="26" name="直線單箭頭接點 25"/>
            <p:cNvCxnSpPr/>
            <p:nvPr/>
          </p:nvCxnSpPr>
          <p:spPr>
            <a:xfrm>
              <a:off x="3229454" y="2962902"/>
              <a:ext cx="0" cy="21600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矩形 35"/>
            <p:cNvSpPr/>
            <p:nvPr/>
          </p:nvSpPr>
          <p:spPr>
            <a:xfrm>
              <a:off x="3083634" y="3178902"/>
              <a:ext cx="29848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3586907" y="2962902"/>
            <a:ext cx="298480" cy="626743"/>
            <a:chOff x="3586907" y="2962902"/>
            <a:chExt cx="298480" cy="626743"/>
          </a:xfrm>
        </p:grpSpPr>
        <p:cxnSp>
          <p:nvCxnSpPr>
            <p:cNvPr id="27" name="直線單箭頭接點 26"/>
            <p:cNvCxnSpPr/>
            <p:nvPr/>
          </p:nvCxnSpPr>
          <p:spPr>
            <a:xfrm>
              <a:off x="3737194" y="2962902"/>
              <a:ext cx="0" cy="21600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矩形 37"/>
            <p:cNvSpPr/>
            <p:nvPr/>
          </p:nvSpPr>
          <p:spPr>
            <a:xfrm>
              <a:off x="3586907" y="3189535"/>
              <a:ext cx="29848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b="1" dirty="0"/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4086458" y="2962902"/>
            <a:ext cx="312906" cy="628377"/>
            <a:chOff x="4086458" y="2962902"/>
            <a:chExt cx="312906" cy="628377"/>
          </a:xfrm>
        </p:grpSpPr>
        <p:cxnSp>
          <p:nvCxnSpPr>
            <p:cNvPr id="28" name="直線單箭頭接點 27"/>
            <p:cNvCxnSpPr/>
            <p:nvPr/>
          </p:nvCxnSpPr>
          <p:spPr>
            <a:xfrm>
              <a:off x="4240467" y="2962902"/>
              <a:ext cx="0" cy="21600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矩形 39"/>
            <p:cNvSpPr/>
            <p:nvPr/>
          </p:nvSpPr>
          <p:spPr>
            <a:xfrm>
              <a:off x="4086458" y="3191169"/>
              <a:ext cx="31290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TW" altLang="en-US" b="1" dirty="0"/>
            </a:p>
          </p:txBody>
        </p:sp>
      </p:grpSp>
      <p:sp>
        <p:nvSpPr>
          <p:cNvPr id="42" name="矩形 41"/>
          <p:cNvSpPr/>
          <p:nvPr/>
        </p:nvSpPr>
        <p:spPr>
          <a:xfrm>
            <a:off x="4560906" y="3202923"/>
            <a:ext cx="3834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54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4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字串的比較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err="1" smtClean="0"/>
              <a:t>strcmp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nsme</a:t>
            </a:r>
            <a:r>
              <a:rPr lang="en-US" altLang="zh-TW" dirty="0" smtClean="0"/>
              <a:t>, 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for (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 = 0; name[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 == S[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];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++)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if (name[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 == ‘\0’ &amp;&amp; S[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 == ‘\0’) return 0;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if (name[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 &lt; S[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]) return -1;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else return 1;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39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981208" y="2587857"/>
          <a:ext cx="502566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\0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190857" y="2583727"/>
            <a:ext cx="7825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070915" y="21840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574188" y="21840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073001" y="219186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576274" y="219186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084014" y="219186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587287" y="219186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086100" y="219972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5589373" y="219972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089103" y="219139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592376" y="219139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/>
          </p:nvPr>
        </p:nvGraphicFramePr>
        <p:xfrm>
          <a:off x="1984077" y="3183032"/>
          <a:ext cx="502566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\0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597780" y="3178902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線單箭頭接點 20"/>
          <p:cNvCxnSpPr/>
          <p:nvPr/>
        </p:nvCxnSpPr>
        <p:spPr>
          <a:xfrm>
            <a:off x="2227368" y="2967805"/>
            <a:ext cx="0" cy="216000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2730641" y="2967805"/>
            <a:ext cx="0" cy="216000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3229454" y="2962902"/>
            <a:ext cx="0" cy="216000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3737194" y="2962902"/>
            <a:ext cx="0" cy="216000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4240467" y="2962902"/>
            <a:ext cx="0" cy="216000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圓角矩形圖說文字 25"/>
          <p:cNvSpPr/>
          <p:nvPr/>
        </p:nvSpPr>
        <p:spPr>
          <a:xfrm>
            <a:off x="2353532" y="1392852"/>
            <a:ext cx="2732568" cy="531628"/>
          </a:xfrm>
          <a:prstGeom prst="wedgeRoundRectCallout">
            <a:avLst>
              <a:gd name="adj1" fmla="val -52524"/>
              <a:gd name="adj2" fmla="val 1145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計數器 </a:t>
            </a:r>
            <a:r>
              <a:rPr lang="en-US" altLang="zh-TW" sz="20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從這裡開始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直線單箭頭接點 26"/>
          <p:cNvCxnSpPr/>
          <p:nvPr/>
        </p:nvCxnSpPr>
        <p:spPr>
          <a:xfrm>
            <a:off x="4766626" y="2962902"/>
            <a:ext cx="0" cy="216000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563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擷取子字串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278636"/>
          </a:xfrm>
          <a:prstGeom prst="rect">
            <a:avLst/>
          </a:prstGeom>
        </p:spPr>
        <p:txBody>
          <a:bodyPr/>
          <a:lstStyle/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err="1" smtClean="0"/>
              <a:t>substr</a:t>
            </a:r>
            <a:r>
              <a:rPr lang="en-US" altLang="zh-TW" dirty="0" smtClean="0"/>
              <a:t>(name, start, </a:t>
            </a:r>
            <a:r>
              <a:rPr lang="en-US" altLang="zh-TW" dirty="0" err="1" smtClean="0"/>
              <a:t>num</a:t>
            </a:r>
            <a:r>
              <a:rPr lang="en-US" altLang="zh-TW" dirty="0" smtClean="0"/>
              <a:t>, S)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TW" dirty="0" err="1" smtClean="0"/>
              <a:t>len</a:t>
            </a:r>
            <a:r>
              <a:rPr lang="en-US" altLang="zh-TW" dirty="0" smtClean="0"/>
              <a:t> = </a:t>
            </a:r>
            <a:r>
              <a:rPr lang="en-US" altLang="zh-TW" dirty="0" err="1" smtClean="0"/>
              <a:t>strlen</a:t>
            </a:r>
            <a:r>
              <a:rPr lang="en-US" altLang="zh-TW" dirty="0" smtClean="0"/>
              <a:t>(S);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TW" dirty="0" smtClean="0"/>
              <a:t>end = start + </a:t>
            </a:r>
            <a:r>
              <a:rPr lang="en-US" altLang="zh-TW" dirty="0" err="1" smtClean="0"/>
              <a:t>num</a:t>
            </a:r>
            <a:r>
              <a:rPr lang="en-US" altLang="zh-TW" dirty="0" smtClean="0"/>
              <a:t>;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TW" dirty="0" smtClean="0"/>
              <a:t>if ((end &gt; </a:t>
            </a:r>
            <a:r>
              <a:rPr lang="en-US" altLang="zh-TW" dirty="0" err="1" smtClean="0"/>
              <a:t>len</a:t>
            </a:r>
            <a:r>
              <a:rPr lang="en-US" altLang="zh-TW" dirty="0" smtClean="0"/>
              <a:t>) || (</a:t>
            </a:r>
            <a:r>
              <a:rPr lang="en-US" altLang="zh-TW" dirty="0" err="1" smtClean="0"/>
              <a:t>num</a:t>
            </a:r>
            <a:r>
              <a:rPr lang="en-US" altLang="zh-TW" dirty="0" smtClean="0"/>
              <a:t> = 0)) 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TW" dirty="0" smtClean="0"/>
              <a:t>     end = </a:t>
            </a:r>
            <a:r>
              <a:rPr lang="en-US" altLang="zh-TW" dirty="0" err="1" smtClean="0"/>
              <a:t>len</a:t>
            </a:r>
            <a:r>
              <a:rPr lang="en-US" altLang="zh-TW" dirty="0" smtClean="0"/>
              <a:t>;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TW" dirty="0" smtClean="0"/>
              <a:t>for (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 = start, </a:t>
            </a:r>
            <a:r>
              <a:rPr lang="en-US" altLang="zh-TW" i="1" dirty="0" smtClean="0"/>
              <a:t>j</a:t>
            </a:r>
            <a:r>
              <a:rPr lang="en-US" altLang="zh-TW" dirty="0" smtClean="0"/>
              <a:t> = 0;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 &lt; end;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++, </a:t>
            </a:r>
            <a:r>
              <a:rPr lang="en-US" altLang="zh-TW" i="1" dirty="0" err="1" smtClean="0"/>
              <a:t>j</a:t>
            </a:r>
            <a:r>
              <a:rPr lang="en-US" altLang="zh-TW" dirty="0" err="1" smtClean="0"/>
              <a:t>++</a:t>
            </a:r>
            <a:r>
              <a:rPr lang="en-US" altLang="zh-TW" dirty="0" smtClean="0"/>
              <a:t>)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TW" dirty="0" smtClean="0"/>
              <a:t>     S[</a:t>
            </a:r>
            <a:r>
              <a:rPr lang="en-US" altLang="zh-TW" i="1" dirty="0" smtClean="0"/>
              <a:t>j</a:t>
            </a:r>
            <a:r>
              <a:rPr lang="en-US" altLang="zh-TW" dirty="0" smtClean="0"/>
              <a:t>] = name[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];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TW" dirty="0" smtClean="0"/>
              <a:t>S[</a:t>
            </a:r>
            <a:r>
              <a:rPr lang="en-US" altLang="zh-TW" i="1" dirty="0" smtClean="0"/>
              <a:t>j</a:t>
            </a:r>
            <a:r>
              <a:rPr lang="en-US" altLang="zh-TW" dirty="0" smtClean="0"/>
              <a:t>] = ‘\0’;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40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981208" y="1939244"/>
          <a:ext cx="502566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\0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190857" y="1935114"/>
            <a:ext cx="7825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070915" y="153539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574188" y="153539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073001" y="154324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576274" y="154324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084014" y="154324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587287" y="154324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086100" y="155110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5589373" y="155110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089103" y="154278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592376" y="154278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/>
          </p:nvPr>
        </p:nvGraphicFramePr>
        <p:xfrm>
          <a:off x="1984077" y="2778978"/>
          <a:ext cx="502566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25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597780" y="277484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圓角矩形圖說文字 25"/>
          <p:cNvSpPr/>
          <p:nvPr/>
        </p:nvSpPr>
        <p:spPr>
          <a:xfrm>
            <a:off x="4379542" y="722984"/>
            <a:ext cx="2732568" cy="531628"/>
          </a:xfrm>
          <a:prstGeom prst="wedgeRoundRectCallout">
            <a:avLst>
              <a:gd name="adj1" fmla="val -52524"/>
              <a:gd name="adj2" fmla="val 1145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計數器 </a:t>
            </a:r>
            <a:r>
              <a:rPr lang="en-US" altLang="zh-TW" sz="20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從這裡開始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" name="群組 33"/>
          <p:cNvGrpSpPr/>
          <p:nvPr/>
        </p:nvGrpSpPr>
        <p:grpSpPr>
          <a:xfrm>
            <a:off x="2085341" y="2355263"/>
            <a:ext cx="2150662" cy="822813"/>
            <a:chOff x="2085341" y="2355263"/>
            <a:chExt cx="2150662" cy="822813"/>
          </a:xfrm>
        </p:grpSpPr>
        <p:cxnSp>
          <p:nvCxnSpPr>
            <p:cNvPr id="27" name="直線單箭頭接點 26"/>
            <p:cNvCxnSpPr/>
            <p:nvPr/>
          </p:nvCxnSpPr>
          <p:spPr>
            <a:xfrm flipH="1">
              <a:off x="2222904" y="2355263"/>
              <a:ext cx="2013099" cy="39225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32"/>
            <p:cNvSpPr/>
            <p:nvPr/>
          </p:nvSpPr>
          <p:spPr>
            <a:xfrm>
              <a:off x="2085341" y="2777966"/>
              <a:ext cx="29848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/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2606835" y="2361331"/>
            <a:ext cx="2140639" cy="813627"/>
            <a:chOff x="2606835" y="2361331"/>
            <a:chExt cx="2140639" cy="813627"/>
          </a:xfrm>
        </p:grpSpPr>
        <p:cxnSp>
          <p:nvCxnSpPr>
            <p:cNvPr id="30" name="直線單箭頭接點 29"/>
            <p:cNvCxnSpPr/>
            <p:nvPr/>
          </p:nvCxnSpPr>
          <p:spPr>
            <a:xfrm flipH="1">
              <a:off x="2734375" y="2361331"/>
              <a:ext cx="2013099" cy="39225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矩形 34"/>
            <p:cNvSpPr/>
            <p:nvPr/>
          </p:nvSpPr>
          <p:spPr>
            <a:xfrm>
              <a:off x="2606835" y="2774848"/>
              <a:ext cx="26962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zh-TW" altLang="en-US" b="1" dirty="0"/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3077530" y="2358381"/>
            <a:ext cx="2198032" cy="819695"/>
            <a:chOff x="3077530" y="2358381"/>
            <a:chExt cx="2198032" cy="819695"/>
          </a:xfrm>
        </p:grpSpPr>
        <p:cxnSp>
          <p:nvCxnSpPr>
            <p:cNvPr id="31" name="直線單箭頭接點 30"/>
            <p:cNvCxnSpPr/>
            <p:nvPr/>
          </p:nvCxnSpPr>
          <p:spPr>
            <a:xfrm flipH="1">
              <a:off x="3262463" y="2358381"/>
              <a:ext cx="2013099" cy="39225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 36"/>
            <p:cNvSpPr/>
            <p:nvPr/>
          </p:nvSpPr>
          <p:spPr>
            <a:xfrm>
              <a:off x="3077530" y="2777966"/>
              <a:ext cx="32733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endParaRPr lang="zh-TW" altLang="en-US" b="1" dirty="0"/>
            </a:p>
          </p:txBody>
        </p:sp>
      </p:grpSp>
      <p:grpSp>
        <p:nvGrpSpPr>
          <p:cNvPr id="40" name="群組 39"/>
          <p:cNvGrpSpPr/>
          <p:nvPr/>
        </p:nvGrpSpPr>
        <p:grpSpPr>
          <a:xfrm>
            <a:off x="3586907" y="2364449"/>
            <a:ext cx="2200126" cy="813627"/>
            <a:chOff x="3586907" y="2364449"/>
            <a:chExt cx="2200126" cy="813627"/>
          </a:xfrm>
        </p:grpSpPr>
        <p:cxnSp>
          <p:nvCxnSpPr>
            <p:cNvPr id="32" name="直線單箭頭接點 31"/>
            <p:cNvCxnSpPr/>
            <p:nvPr/>
          </p:nvCxnSpPr>
          <p:spPr>
            <a:xfrm flipH="1">
              <a:off x="3773934" y="2364449"/>
              <a:ext cx="2013099" cy="39225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矩形 38"/>
            <p:cNvSpPr/>
            <p:nvPr/>
          </p:nvSpPr>
          <p:spPr>
            <a:xfrm>
              <a:off x="3586907" y="2777966"/>
              <a:ext cx="29848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b="1" dirty="0"/>
            </a:p>
          </p:txBody>
        </p:sp>
      </p:grpSp>
      <p:sp>
        <p:nvSpPr>
          <p:cNvPr id="41" name="矩形 40"/>
          <p:cNvSpPr/>
          <p:nvPr/>
        </p:nvSpPr>
        <p:spPr>
          <a:xfrm>
            <a:off x="4048748" y="2777966"/>
            <a:ext cx="3834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16179" y="1254612"/>
            <a:ext cx="24192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substr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(name, 5, 4, S)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94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41" grpId="0"/>
      <p:bldP spid="42" grpId="0"/>
    </p:bldLst>
  </p:timing>
</p:sld>
</file>

<file path=ppt/theme/theme1.xml><?xml version="1.0" encoding="utf-8"?>
<a:theme xmlns:a="http://schemas.openxmlformats.org/drawingml/2006/main" name="NCKU3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CKU3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CKU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簡報1" id="{1D2088C2-DF28-403B-A142-ABEFFB73DCD1}" vid="{F9685623-F412-4155-8B4F-1E431000369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NTTU</Template>
  <TotalTime>14346</TotalTime>
  <Words>4558</Words>
  <Application>Microsoft Office PowerPoint</Application>
  <PresentationFormat>如螢幕大小 (4:3)</PresentationFormat>
  <Paragraphs>1110</Paragraphs>
  <Slides>40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40</vt:i4>
      </vt:variant>
    </vt:vector>
  </HeadingPairs>
  <TitlesOfParts>
    <vt:vector size="51" baseType="lpstr">
      <vt:lpstr>新細明體</vt:lpstr>
      <vt:lpstr>標楷體</vt:lpstr>
      <vt:lpstr>Angsana New</vt:lpstr>
      <vt:lpstr>Arial</vt:lpstr>
      <vt:lpstr>Calibri</vt:lpstr>
      <vt:lpstr>Cambria Math</vt:lpstr>
      <vt:lpstr>Monotype Corsiva</vt:lpstr>
      <vt:lpstr>Nirmala UI</vt:lpstr>
      <vt:lpstr>Symbol</vt:lpstr>
      <vt:lpstr>Times New Roman</vt:lpstr>
      <vt:lpstr>NCKU3</vt:lpstr>
      <vt:lpstr>DATA STRUCTURES 資料結構</vt:lpstr>
      <vt:lpstr>陣列 Array</vt:lpstr>
      <vt:lpstr>陣列的表示法 (1/2)</vt:lpstr>
      <vt:lpstr>陣列的表示法 (2/2)</vt:lpstr>
      <vt:lpstr>一維陣列位址計算 (1/2)</vt:lpstr>
      <vt:lpstr>一維陣列位址計算 (2/2)</vt:lpstr>
      <vt:lpstr>二維陣列位址計算 (1/7)</vt:lpstr>
      <vt:lpstr>二維陣列位址計算 (2/7)</vt:lpstr>
      <vt:lpstr>二維陣列位址計算 (3/7)</vt:lpstr>
      <vt:lpstr>二維陣列位址計算 (4/7)</vt:lpstr>
      <vt:lpstr>二維陣列位址計算 (5/7)</vt:lpstr>
      <vt:lpstr>二維陣列位址計算 (6/7)</vt:lpstr>
      <vt:lpstr>二維陣列位址計算 (7/7)</vt:lpstr>
      <vt:lpstr>三維陣列位址計算 (1/3)</vt:lpstr>
      <vt:lpstr>三維陣列位址計算 (2/3)</vt:lpstr>
      <vt:lpstr>三維陣列位址計算 (3/3)</vt:lpstr>
      <vt:lpstr>一維陣列基本運算</vt:lpstr>
      <vt:lpstr>陣列的複製</vt:lpstr>
      <vt:lpstr>陣列的輸出</vt:lpstr>
      <vt:lpstr>陣列元素的插入 (1/2)</vt:lpstr>
      <vt:lpstr>陣列元素的插入 (2/2)</vt:lpstr>
      <vt:lpstr>陣列元素的刪除 (1/2)</vt:lpstr>
      <vt:lpstr>陣列元素的刪除 (2/2)</vt:lpstr>
      <vt:lpstr>二維陣列及矩陣</vt:lpstr>
      <vt:lpstr>矩陣的輸出</vt:lpstr>
      <vt:lpstr>矩陣的轉置(transpose)</vt:lpstr>
      <vt:lpstr>矩陣的相加(addition)</vt:lpstr>
      <vt:lpstr>矩陣的相乘(multiplication) (1/2)</vt:lpstr>
      <vt:lpstr>矩陣的相乘(multiplication) (2/2)</vt:lpstr>
      <vt:lpstr>上三角形和下三角形 (1/3)</vt:lpstr>
      <vt:lpstr>上三角形和下三角形 (2/3)</vt:lpstr>
      <vt:lpstr>上三角形和下三角形 (3/3)</vt:lpstr>
      <vt:lpstr>多項式表示法 (1/2)</vt:lpstr>
      <vt:lpstr>多項式表示法 (2/2)</vt:lpstr>
      <vt:lpstr>魔術方塊</vt:lpstr>
      <vt:lpstr>字串</vt:lpstr>
      <vt:lpstr>字串的長度</vt:lpstr>
      <vt:lpstr>字串的複製</vt:lpstr>
      <vt:lpstr>字串的比較</vt:lpstr>
      <vt:lpstr>擷取子字串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資料結構 Data Structure</dc:title>
  <dc:creator>C.-W. Lee</dc:creator>
  <cp:lastModifiedBy>admin</cp:lastModifiedBy>
  <cp:revision>83</cp:revision>
  <cp:lastPrinted>2022-09-24T09:12:24Z</cp:lastPrinted>
  <dcterms:created xsi:type="dcterms:W3CDTF">2018-01-10T03:26:15Z</dcterms:created>
  <dcterms:modified xsi:type="dcterms:W3CDTF">2026-03-04T03:34:45Z</dcterms:modified>
</cp:coreProperties>
</file>