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7"/>
  </p:notesMasterIdLst>
  <p:sldIdLst>
    <p:sldId id="365" r:id="rId2"/>
    <p:sldId id="396" r:id="rId3"/>
    <p:sldId id="397" r:id="rId4"/>
    <p:sldId id="398" r:id="rId5"/>
    <p:sldId id="399" r:id="rId6"/>
    <p:sldId id="400" r:id="rId7"/>
    <p:sldId id="401" r:id="rId8"/>
    <p:sldId id="402" r:id="rId9"/>
    <p:sldId id="403" r:id="rId10"/>
    <p:sldId id="405" r:id="rId11"/>
    <p:sldId id="406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415" r:id="rId21"/>
    <p:sldId id="416" r:id="rId22"/>
    <p:sldId id="417" r:id="rId23"/>
    <p:sldId id="418" r:id="rId24"/>
    <p:sldId id="419" r:id="rId25"/>
    <p:sldId id="420" r:id="rId26"/>
    <p:sldId id="421" r:id="rId27"/>
    <p:sldId id="422" r:id="rId28"/>
    <p:sldId id="423" r:id="rId29"/>
    <p:sldId id="424" r:id="rId30"/>
    <p:sldId id="425" r:id="rId31"/>
    <p:sldId id="426" r:id="rId32"/>
    <p:sldId id="427" r:id="rId33"/>
    <p:sldId id="428" r:id="rId34"/>
    <p:sldId id="429" r:id="rId35"/>
    <p:sldId id="430" r:id="rId36"/>
    <p:sldId id="431" r:id="rId37"/>
    <p:sldId id="432" r:id="rId38"/>
    <p:sldId id="433" r:id="rId39"/>
    <p:sldId id="434" r:id="rId40"/>
    <p:sldId id="435" r:id="rId41"/>
    <p:sldId id="436" r:id="rId42"/>
    <p:sldId id="437" r:id="rId43"/>
    <p:sldId id="438" r:id="rId44"/>
    <p:sldId id="439" r:id="rId45"/>
    <p:sldId id="440" r:id="rId46"/>
    <p:sldId id="441" r:id="rId47"/>
    <p:sldId id="442" r:id="rId48"/>
    <p:sldId id="443" r:id="rId49"/>
    <p:sldId id="444" r:id="rId50"/>
    <p:sldId id="445" r:id="rId51"/>
    <p:sldId id="446" r:id="rId52"/>
    <p:sldId id="447" r:id="rId53"/>
    <p:sldId id="448" r:id="rId54"/>
    <p:sldId id="449" r:id="rId55"/>
    <p:sldId id="450" r:id="rId56"/>
    <p:sldId id="451" r:id="rId57"/>
    <p:sldId id="452" r:id="rId58"/>
    <p:sldId id="453" r:id="rId59"/>
    <p:sldId id="454" r:id="rId60"/>
    <p:sldId id="455" r:id="rId61"/>
    <p:sldId id="456" r:id="rId62"/>
    <p:sldId id="457" r:id="rId63"/>
    <p:sldId id="458" r:id="rId64"/>
    <p:sldId id="459" r:id="rId65"/>
    <p:sldId id="460" r:id="rId66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0932" autoAdjust="0"/>
  </p:normalViewPr>
  <p:slideViewPr>
    <p:cSldViewPr>
      <p:cViewPr varScale="1">
        <p:scale>
          <a:sx n="82" d="100"/>
          <a:sy n="82" d="100"/>
        </p:scale>
        <p:origin x="14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2026/5/8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0573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/>
              <a:t>2026/05/27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DATA</a:t>
            </a:r>
            <a:r>
              <a:rPr lang="zh-TW" altLang="en-US" dirty="0"/>
              <a:t> </a:t>
            </a:r>
            <a:r>
              <a:rPr lang="en-US" altLang="zh-TW" dirty="0"/>
              <a:t>STRUCTURES</a:t>
            </a:r>
            <a:br>
              <a:rPr lang="en-US" altLang="zh-TW" dirty="0"/>
            </a:br>
            <a:r>
              <a:rPr lang="zh-TW" altLang="en-US" dirty="0"/>
              <a:t>資料結構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圖形理論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圖形理論</a:t>
            </a:r>
            <a:r>
              <a:rPr lang="en-US" altLang="zh-TW" dirty="0"/>
              <a:t>(graph theory)</a:t>
            </a:r>
            <a:r>
              <a:rPr lang="zh-TW" altLang="en-US" dirty="0"/>
              <a:t>源自於</a:t>
            </a:r>
            <a:r>
              <a:rPr lang="en-US" altLang="zh-TW" dirty="0"/>
              <a:t>1736</a:t>
            </a:r>
            <a:r>
              <a:rPr lang="zh-TW" altLang="en-US" dirty="0"/>
              <a:t>年</a:t>
            </a:r>
            <a:endParaRPr lang="en-US" altLang="zh-TW" dirty="0"/>
          </a:p>
          <a:p>
            <a:pPr lvl="1"/>
            <a:r>
              <a:rPr lang="zh-TW" altLang="en-US" dirty="0"/>
              <a:t>柯尼斯堡</a:t>
            </a:r>
            <a:r>
              <a:rPr lang="en-US" altLang="zh-TW" dirty="0"/>
              <a:t>(</a:t>
            </a:r>
            <a:r>
              <a:rPr lang="en-US" altLang="zh-TW" dirty="0" err="1"/>
              <a:t>Koenigsberg</a:t>
            </a:r>
            <a:r>
              <a:rPr lang="en-US" altLang="zh-TW" dirty="0"/>
              <a:t>)</a:t>
            </a:r>
            <a:r>
              <a:rPr lang="zh-TW" altLang="en-US" dirty="0"/>
              <a:t>七橋問題</a:t>
            </a:r>
            <a:endParaRPr lang="en-US" altLang="zh-TW" dirty="0"/>
          </a:p>
          <a:p>
            <a:pPr lvl="1"/>
            <a:r>
              <a:rPr lang="zh-TW" altLang="en-US" dirty="0"/>
              <a:t>在所有橋都只能走一遍的前提下，如何才能把這個地方所有的橋都走遍？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</a:t>
            </a:fld>
            <a:endParaRPr lang="en-US" altLang="zh-TW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3"/>
          <a:srcRect r="754"/>
          <a:stretch/>
        </p:blipFill>
        <p:spPr>
          <a:xfrm>
            <a:off x="204224" y="2708920"/>
            <a:ext cx="4308349" cy="3408672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526" y="2712527"/>
            <a:ext cx="4257997" cy="340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33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圖形理論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瑞士數學家</a:t>
            </a:r>
            <a:r>
              <a:rPr lang="en-US" altLang="zh-TW" dirty="0"/>
              <a:t>Leonhard Euler(</a:t>
            </a:r>
            <a:r>
              <a:rPr lang="zh-TW" altLang="en-US" dirty="0"/>
              <a:t>尤拉</a:t>
            </a:r>
            <a:r>
              <a:rPr lang="en-US" altLang="zh-TW" dirty="0"/>
              <a:t>)</a:t>
            </a:r>
            <a:r>
              <a:rPr lang="zh-TW" altLang="en-US" dirty="0"/>
              <a:t>證明不可能</a:t>
            </a:r>
            <a:endParaRPr lang="en-US" altLang="zh-TW" dirty="0"/>
          </a:p>
          <a:p>
            <a:pPr lvl="1"/>
            <a:r>
              <a:rPr lang="zh-TW" altLang="en-US" dirty="0"/>
              <a:t>分支度</a:t>
            </a:r>
            <a:r>
              <a:rPr lang="en-US" altLang="zh-TW" dirty="0"/>
              <a:t>(degree)</a:t>
            </a:r>
            <a:r>
              <a:rPr lang="zh-TW" altLang="en-US" dirty="0"/>
              <a:t>：頂點所接的邊數</a:t>
            </a:r>
            <a:endParaRPr lang="en-US" altLang="zh-TW" dirty="0"/>
          </a:p>
          <a:p>
            <a:pPr lvl="1"/>
            <a:r>
              <a:rPr lang="zh-TW" altLang="en-US" dirty="0"/>
              <a:t>尤拉循環</a:t>
            </a:r>
            <a:r>
              <a:rPr lang="en-US" altLang="zh-TW" dirty="0"/>
              <a:t>(Eulerian cycle)</a:t>
            </a:r>
          </a:p>
          <a:p>
            <a:pPr lvl="2"/>
            <a:r>
              <a:rPr lang="zh-TW" altLang="en-US" dirty="0"/>
              <a:t>每個頂點具有偶數的分支度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</a:t>
            </a:fld>
            <a:endParaRPr lang="en-US" altLang="zh-TW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43" y="2900648"/>
            <a:ext cx="4257997" cy="3408672"/>
          </a:xfrm>
          <a:prstGeom prst="rect">
            <a:avLst/>
          </a:prstGeom>
        </p:spPr>
      </p:pic>
      <p:sp>
        <p:nvSpPr>
          <p:cNvPr id="8" name="橢圓 7"/>
          <p:cNvSpPr/>
          <p:nvPr/>
        </p:nvSpPr>
        <p:spPr>
          <a:xfrm>
            <a:off x="5999425" y="3567587"/>
            <a:ext cx="180000" cy="180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5995539" y="4575054"/>
            <a:ext cx="180000" cy="180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995539" y="5582521"/>
            <a:ext cx="180000" cy="180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7367203" y="4575054"/>
            <a:ext cx="180000" cy="180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1907704" y="3470215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+mj-lt"/>
              </a:rPr>
              <a:t>A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907704" y="4231510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+mj-lt"/>
              </a:rPr>
              <a:t>B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907704" y="5119878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+mj-lt"/>
              </a:rPr>
              <a:t>C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419872" y="4231510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+mj-lt"/>
              </a:rPr>
              <a:t>D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900232" y="3166684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+mj-lt"/>
              </a:rPr>
              <a:t>A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580112" y="4457101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+mj-lt"/>
              </a:rPr>
              <a:t>B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900232" y="5727827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+mj-lt"/>
              </a:rPr>
              <a:t>C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532873" y="4460317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+mj-lt"/>
              </a:rPr>
              <a:t>D</a:t>
            </a:r>
            <a:endParaRPr lang="zh-TW" altLang="en-US" b="1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21" name="直線接點 20"/>
          <p:cNvCxnSpPr>
            <a:stCxn id="9" idx="6"/>
            <a:endCxn id="11" idx="2"/>
          </p:cNvCxnSpPr>
          <p:nvPr/>
        </p:nvCxnSpPr>
        <p:spPr>
          <a:xfrm>
            <a:off x="6175539" y="4665054"/>
            <a:ext cx="11916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8" idx="6"/>
            <a:endCxn id="11" idx="0"/>
          </p:cNvCxnSpPr>
          <p:nvPr/>
        </p:nvCxnSpPr>
        <p:spPr>
          <a:xfrm>
            <a:off x="6179425" y="3657587"/>
            <a:ext cx="1277778" cy="9174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0" idx="6"/>
            <a:endCxn id="11" idx="4"/>
          </p:cNvCxnSpPr>
          <p:nvPr/>
        </p:nvCxnSpPr>
        <p:spPr>
          <a:xfrm flipV="1">
            <a:off x="6175539" y="4755054"/>
            <a:ext cx="1281664" cy="9174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弧形接點 28"/>
          <p:cNvCxnSpPr>
            <a:stCxn id="8" idx="2"/>
            <a:endCxn id="9" idx="2"/>
          </p:cNvCxnSpPr>
          <p:nvPr/>
        </p:nvCxnSpPr>
        <p:spPr>
          <a:xfrm rot="10800000" flipV="1">
            <a:off x="5995539" y="3657586"/>
            <a:ext cx="3886" cy="1007467"/>
          </a:xfrm>
          <a:prstGeom prst="curvedConnector3">
            <a:avLst>
              <a:gd name="adj1" fmla="val 598265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弧形接點 33"/>
          <p:cNvCxnSpPr>
            <a:stCxn id="8" idx="6"/>
            <a:endCxn id="9" idx="6"/>
          </p:cNvCxnSpPr>
          <p:nvPr/>
        </p:nvCxnSpPr>
        <p:spPr>
          <a:xfrm flipH="1">
            <a:off x="6175539" y="3657587"/>
            <a:ext cx="3886" cy="1007467"/>
          </a:xfrm>
          <a:prstGeom prst="curvedConnector3">
            <a:avLst>
              <a:gd name="adj1" fmla="val -588265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弧形接點 36"/>
          <p:cNvCxnSpPr>
            <a:stCxn id="9" idx="2"/>
            <a:endCxn id="10" idx="2"/>
          </p:cNvCxnSpPr>
          <p:nvPr/>
        </p:nvCxnSpPr>
        <p:spPr>
          <a:xfrm rot="10800000" flipV="1">
            <a:off x="5995539" y="4665053"/>
            <a:ext cx="12700" cy="1007467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弧形接點 39"/>
          <p:cNvCxnSpPr>
            <a:stCxn id="9" idx="6"/>
            <a:endCxn id="10" idx="6"/>
          </p:cNvCxnSpPr>
          <p:nvPr/>
        </p:nvCxnSpPr>
        <p:spPr>
          <a:xfrm>
            <a:off x="6175539" y="4665054"/>
            <a:ext cx="12700" cy="1007467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圓角矩形圖說文字 42"/>
          <p:cNvSpPr/>
          <p:nvPr/>
        </p:nvSpPr>
        <p:spPr>
          <a:xfrm>
            <a:off x="6535335" y="2368643"/>
            <a:ext cx="1800200" cy="734958"/>
          </a:xfrm>
          <a:prstGeom prst="wedgeRoundRectCallout">
            <a:avLst>
              <a:gd name="adj1" fmla="val -68195"/>
              <a:gd name="adj2" fmla="val 11319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頂點</a:t>
            </a:r>
            <a:r>
              <a:rPr lang="en-US" altLang="zh-TW" sz="2000" b="1" dirty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/</a:t>
            </a:r>
            <a:r>
              <a:rPr lang="zh-TW" altLang="en-US" sz="2000" b="1" dirty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節點</a:t>
            </a:r>
            <a:endParaRPr lang="en-US" altLang="zh-TW" sz="2000" b="1" dirty="0">
              <a:solidFill>
                <a:schemeClr val="tx1"/>
              </a:solidFill>
              <a:latin typeface="+mj-lt"/>
              <a:ea typeface="標楷體" panose="03000509000000000000" pitchFamily="65" charset="-120"/>
            </a:endParaRPr>
          </a:p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(vertex/node)</a:t>
            </a:r>
            <a:endParaRPr lang="zh-TW" altLang="en-US" sz="2000" b="1" dirty="0">
              <a:solidFill>
                <a:schemeClr val="tx1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4" name="圓角矩形圖說文字 43"/>
          <p:cNvSpPr/>
          <p:nvPr/>
        </p:nvSpPr>
        <p:spPr>
          <a:xfrm>
            <a:off x="6965895" y="5852397"/>
            <a:ext cx="1800200" cy="384915"/>
          </a:xfrm>
          <a:prstGeom prst="wedgeRoundRectCallout">
            <a:avLst>
              <a:gd name="adj1" fmla="val -66136"/>
              <a:gd name="adj2" fmla="val -171027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邊</a:t>
            </a:r>
            <a:r>
              <a:rPr lang="en-US" altLang="zh-TW" sz="2000" b="1" dirty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(edge)</a:t>
            </a:r>
            <a:endParaRPr lang="zh-TW" altLang="en-US" sz="2000" b="1" dirty="0">
              <a:solidFill>
                <a:schemeClr val="tx1"/>
              </a:solidFill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040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圖形的專有名詞 </a:t>
            </a:r>
            <a:r>
              <a:rPr lang="en-US" altLang="zh-TW" dirty="0"/>
              <a:t>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4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1297363" y="19684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8" name="橢圓 7"/>
          <p:cNvSpPr/>
          <p:nvPr/>
        </p:nvSpPr>
        <p:spPr>
          <a:xfrm>
            <a:off x="1297363" y="31613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9" name="橢圓 8"/>
          <p:cNvSpPr/>
          <p:nvPr/>
        </p:nvSpPr>
        <p:spPr>
          <a:xfrm>
            <a:off x="757526" y="256493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10" name="橢圓 9"/>
          <p:cNvSpPr/>
          <p:nvPr/>
        </p:nvSpPr>
        <p:spPr>
          <a:xfrm>
            <a:off x="1837200" y="256493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12" name="直線接點 11"/>
          <p:cNvCxnSpPr>
            <a:stCxn id="7" idx="4"/>
            <a:endCxn id="8" idx="0"/>
          </p:cNvCxnSpPr>
          <p:nvPr/>
        </p:nvCxnSpPr>
        <p:spPr>
          <a:xfrm>
            <a:off x="1441363" y="2256486"/>
            <a:ext cx="0" cy="9049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7" idx="5"/>
            <a:endCxn id="10" idx="0"/>
          </p:cNvCxnSpPr>
          <p:nvPr/>
        </p:nvCxnSpPr>
        <p:spPr>
          <a:xfrm>
            <a:off x="1543186" y="2214309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7" idx="3"/>
          </p:cNvCxnSpPr>
          <p:nvPr/>
        </p:nvCxnSpPr>
        <p:spPr>
          <a:xfrm flipH="1">
            <a:off x="901542" y="2214309"/>
            <a:ext cx="437998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9" idx="4"/>
            <a:endCxn id="8" idx="1"/>
          </p:cNvCxnSpPr>
          <p:nvPr/>
        </p:nvCxnSpPr>
        <p:spPr>
          <a:xfrm>
            <a:off x="901526" y="2852936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0" idx="4"/>
            <a:endCxn id="8" idx="7"/>
          </p:cNvCxnSpPr>
          <p:nvPr/>
        </p:nvCxnSpPr>
        <p:spPr>
          <a:xfrm flipH="1">
            <a:off x="1543186" y="2852936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0" idx="2"/>
            <a:endCxn id="9" idx="6"/>
          </p:cNvCxnSpPr>
          <p:nvPr/>
        </p:nvCxnSpPr>
        <p:spPr>
          <a:xfrm flipH="1">
            <a:off x="1045526" y="2708936"/>
            <a:ext cx="7916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橢圓 30"/>
          <p:cNvSpPr/>
          <p:nvPr/>
        </p:nvSpPr>
        <p:spPr>
          <a:xfrm>
            <a:off x="2843808" y="31613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32" name="橢圓 31"/>
          <p:cNvSpPr/>
          <p:nvPr/>
        </p:nvSpPr>
        <p:spPr>
          <a:xfrm>
            <a:off x="3132666" y="256493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33" name="橢圓 32"/>
          <p:cNvSpPr/>
          <p:nvPr/>
        </p:nvSpPr>
        <p:spPr>
          <a:xfrm>
            <a:off x="3420666" y="31613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5</a:t>
            </a:r>
            <a:endParaRPr lang="zh-TW" altLang="en-US" b="1" dirty="0"/>
          </a:p>
        </p:txBody>
      </p:sp>
      <p:cxnSp>
        <p:nvCxnSpPr>
          <p:cNvPr id="34" name="直線接點 33"/>
          <p:cNvCxnSpPr>
            <a:stCxn id="32" idx="4"/>
            <a:endCxn id="31" idx="0"/>
          </p:cNvCxnSpPr>
          <p:nvPr/>
        </p:nvCxnSpPr>
        <p:spPr>
          <a:xfrm flipH="1">
            <a:off x="2987808" y="2852936"/>
            <a:ext cx="288858" cy="308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32" idx="4"/>
            <a:endCxn id="33" idx="0"/>
          </p:cNvCxnSpPr>
          <p:nvPr/>
        </p:nvCxnSpPr>
        <p:spPr>
          <a:xfrm>
            <a:off x="3276666" y="2852936"/>
            <a:ext cx="288000" cy="308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橢圓 39"/>
          <p:cNvSpPr/>
          <p:nvPr/>
        </p:nvSpPr>
        <p:spPr>
          <a:xfrm>
            <a:off x="4034672" y="31613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6</a:t>
            </a:r>
            <a:endParaRPr lang="zh-TW" altLang="en-US" b="1" dirty="0"/>
          </a:p>
        </p:txBody>
      </p:sp>
      <p:sp>
        <p:nvSpPr>
          <p:cNvPr id="41" name="橢圓 40"/>
          <p:cNvSpPr/>
          <p:nvPr/>
        </p:nvSpPr>
        <p:spPr>
          <a:xfrm>
            <a:off x="4323530" y="256493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sp>
        <p:nvSpPr>
          <p:cNvPr id="42" name="橢圓 41"/>
          <p:cNvSpPr/>
          <p:nvPr/>
        </p:nvSpPr>
        <p:spPr>
          <a:xfrm>
            <a:off x="4611530" y="31613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7</a:t>
            </a:r>
            <a:endParaRPr lang="zh-TW" altLang="en-US" b="1" dirty="0"/>
          </a:p>
        </p:txBody>
      </p:sp>
      <p:cxnSp>
        <p:nvCxnSpPr>
          <p:cNvPr id="43" name="直線接點 42"/>
          <p:cNvCxnSpPr>
            <a:stCxn id="41" idx="4"/>
            <a:endCxn id="40" idx="0"/>
          </p:cNvCxnSpPr>
          <p:nvPr/>
        </p:nvCxnSpPr>
        <p:spPr>
          <a:xfrm flipH="1">
            <a:off x="4178672" y="2852936"/>
            <a:ext cx="288858" cy="308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41" idx="4"/>
            <a:endCxn id="42" idx="0"/>
          </p:cNvCxnSpPr>
          <p:nvPr/>
        </p:nvCxnSpPr>
        <p:spPr>
          <a:xfrm>
            <a:off x="4467530" y="2852936"/>
            <a:ext cx="288000" cy="308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橢圓 44"/>
          <p:cNvSpPr/>
          <p:nvPr/>
        </p:nvSpPr>
        <p:spPr>
          <a:xfrm>
            <a:off x="3708666" y="19684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cxnSp>
        <p:nvCxnSpPr>
          <p:cNvPr id="48" name="直線接點 47"/>
          <p:cNvCxnSpPr>
            <a:stCxn id="45" idx="4"/>
            <a:endCxn id="32" idx="0"/>
          </p:cNvCxnSpPr>
          <p:nvPr/>
        </p:nvCxnSpPr>
        <p:spPr>
          <a:xfrm flipH="1">
            <a:off x="3276666" y="2256486"/>
            <a:ext cx="576000" cy="308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5" idx="4"/>
            <a:endCxn id="41" idx="0"/>
          </p:cNvCxnSpPr>
          <p:nvPr/>
        </p:nvCxnSpPr>
        <p:spPr>
          <a:xfrm>
            <a:off x="3852666" y="2256486"/>
            <a:ext cx="614864" cy="308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橢圓 53"/>
          <p:cNvSpPr/>
          <p:nvPr/>
        </p:nvSpPr>
        <p:spPr>
          <a:xfrm>
            <a:off x="6114148" y="19684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55" name="橢圓 54"/>
          <p:cNvSpPr/>
          <p:nvPr/>
        </p:nvSpPr>
        <p:spPr>
          <a:xfrm>
            <a:off x="6114148" y="256493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56" name="橢圓 55"/>
          <p:cNvSpPr/>
          <p:nvPr/>
        </p:nvSpPr>
        <p:spPr>
          <a:xfrm>
            <a:off x="6114148" y="31613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58" name="直線單箭頭接點 57"/>
          <p:cNvCxnSpPr>
            <a:stCxn id="54" idx="4"/>
            <a:endCxn id="55" idx="0"/>
          </p:cNvCxnSpPr>
          <p:nvPr/>
        </p:nvCxnSpPr>
        <p:spPr>
          <a:xfrm>
            <a:off x="6258148" y="2256486"/>
            <a:ext cx="0" cy="308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弧形接點 59"/>
          <p:cNvCxnSpPr>
            <a:stCxn id="55" idx="2"/>
            <a:endCxn id="56" idx="2"/>
          </p:cNvCxnSpPr>
          <p:nvPr/>
        </p:nvCxnSpPr>
        <p:spPr>
          <a:xfrm rot="10800000" flipV="1">
            <a:off x="6114148" y="2708936"/>
            <a:ext cx="12700" cy="59645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弧形接點 60"/>
          <p:cNvCxnSpPr>
            <a:stCxn id="56" idx="6"/>
            <a:endCxn id="55" idx="6"/>
          </p:cNvCxnSpPr>
          <p:nvPr/>
        </p:nvCxnSpPr>
        <p:spPr>
          <a:xfrm flipV="1">
            <a:off x="6402148" y="2708936"/>
            <a:ext cx="12700" cy="59645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橢圓 63"/>
          <p:cNvSpPr/>
          <p:nvPr/>
        </p:nvSpPr>
        <p:spPr>
          <a:xfrm>
            <a:off x="8340246" y="19684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65" name="橢圓 64"/>
          <p:cNvSpPr/>
          <p:nvPr/>
        </p:nvSpPr>
        <p:spPr>
          <a:xfrm>
            <a:off x="8340246" y="256493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66" name="橢圓 65"/>
          <p:cNvSpPr/>
          <p:nvPr/>
        </p:nvSpPr>
        <p:spPr>
          <a:xfrm>
            <a:off x="8340246" y="31613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sp>
        <p:nvSpPr>
          <p:cNvPr id="67" name="橢圓 66"/>
          <p:cNvSpPr/>
          <p:nvPr/>
        </p:nvSpPr>
        <p:spPr>
          <a:xfrm>
            <a:off x="7662750" y="256493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68" name="直線接點 67"/>
          <p:cNvCxnSpPr>
            <a:stCxn id="64" idx="4"/>
            <a:endCxn id="65" idx="0"/>
          </p:cNvCxnSpPr>
          <p:nvPr/>
        </p:nvCxnSpPr>
        <p:spPr>
          <a:xfrm>
            <a:off x="8484246" y="2256486"/>
            <a:ext cx="0" cy="308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>
            <a:stCxn id="65" idx="4"/>
            <a:endCxn id="66" idx="0"/>
          </p:cNvCxnSpPr>
          <p:nvPr/>
        </p:nvCxnSpPr>
        <p:spPr>
          <a:xfrm>
            <a:off x="8484246" y="2852936"/>
            <a:ext cx="0" cy="308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67" idx="6"/>
            <a:endCxn id="65" idx="2"/>
          </p:cNvCxnSpPr>
          <p:nvPr/>
        </p:nvCxnSpPr>
        <p:spPr>
          <a:xfrm>
            <a:off x="7950750" y="2708936"/>
            <a:ext cx="38949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>
            <a:stCxn id="64" idx="3"/>
            <a:endCxn id="67" idx="7"/>
          </p:cNvCxnSpPr>
          <p:nvPr/>
        </p:nvCxnSpPr>
        <p:spPr>
          <a:xfrm flipH="1">
            <a:off x="7908573" y="2214309"/>
            <a:ext cx="473850" cy="392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 flipH="1">
            <a:off x="7867398" y="2173974"/>
            <a:ext cx="473850" cy="392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圓角矩形圖說文字 80"/>
          <p:cNvSpPr/>
          <p:nvPr/>
        </p:nvSpPr>
        <p:spPr>
          <a:xfrm>
            <a:off x="1889634" y="1507195"/>
            <a:ext cx="1648594" cy="642500"/>
          </a:xfrm>
          <a:prstGeom prst="wedgeRoundRectCallout">
            <a:avLst>
              <a:gd name="adj1" fmla="val -41042"/>
              <a:gd name="adj2" fmla="val 11000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頂點</a:t>
            </a:r>
            <a:r>
              <a:rPr lang="en-US" altLang="zh-TW" sz="2000" b="1" dirty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/</a:t>
            </a:r>
            <a:r>
              <a:rPr lang="zh-TW" altLang="en-US" sz="2000" b="1" dirty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節點</a:t>
            </a:r>
            <a:endParaRPr lang="en-US" altLang="zh-TW" sz="2000" b="1" dirty="0">
              <a:solidFill>
                <a:schemeClr val="tx1"/>
              </a:solidFill>
              <a:latin typeface="+mj-lt"/>
              <a:ea typeface="標楷體" panose="03000509000000000000" pitchFamily="65" charset="-120"/>
            </a:endParaRPr>
          </a:p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(vertex/node)</a:t>
            </a:r>
            <a:endParaRPr lang="zh-TW" altLang="en-US" sz="2000" b="1" dirty="0">
              <a:solidFill>
                <a:schemeClr val="tx1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82" name="圓角矩形圖說文字 81"/>
          <p:cNvSpPr/>
          <p:nvPr/>
        </p:nvSpPr>
        <p:spPr>
          <a:xfrm>
            <a:off x="76200" y="3476013"/>
            <a:ext cx="1086948" cy="384915"/>
          </a:xfrm>
          <a:prstGeom prst="wedgeRoundRectCallout">
            <a:avLst>
              <a:gd name="adj1" fmla="val 53800"/>
              <a:gd name="adj2" fmla="val -12929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邊</a:t>
            </a:r>
            <a:r>
              <a:rPr lang="en-US" altLang="zh-TW" sz="2000" b="1" dirty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(edge)</a:t>
            </a:r>
            <a:endParaRPr lang="zh-TW" altLang="en-US" sz="2000" b="1" dirty="0">
              <a:solidFill>
                <a:schemeClr val="tx1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1163148" y="4016613"/>
            <a:ext cx="30205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無向圖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(undirected graph)</a:t>
            </a:r>
          </a:p>
          <a:p>
            <a:pPr algn="ctr"/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邊上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沒有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方向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箭頭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)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4933108" y="4016613"/>
            <a:ext cx="2735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有向圖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(directed graph)</a:t>
            </a:r>
          </a:p>
          <a:p>
            <a:pPr algn="ctr"/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邊上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有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方向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箭頭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)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1683733" y="4828249"/>
            <a:ext cx="1304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zh-TW" altLang="en-US" sz="2000" b="1" dirty="0">
                <a:latin typeface="+mj-lt"/>
              </a:rPr>
              <a:t> </a:t>
            </a:r>
            <a:r>
              <a:rPr lang="en-US" altLang="zh-TW" sz="2000" b="1" dirty="0">
                <a:latin typeface="+mj-lt"/>
              </a:rPr>
              <a:t>=</a:t>
            </a:r>
            <a:r>
              <a:rPr lang="zh-TW" altLang="en-US" sz="2000" b="1" dirty="0">
                <a:latin typeface="+mj-lt"/>
              </a:rPr>
              <a:t> 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dirty="0">
                <a:latin typeface="+mj-lt"/>
              </a:rPr>
              <a:t>, </a:t>
            </a:r>
            <a:r>
              <a:rPr lang="en-US" altLang="zh-TW" sz="2000" b="1" i="1" dirty="0">
                <a:latin typeface="+mj-lt"/>
              </a:rPr>
              <a:t>E</a:t>
            </a:r>
            <a:r>
              <a:rPr lang="en-US" altLang="zh-TW" sz="2000" b="1" dirty="0">
                <a:latin typeface="+mj-lt"/>
              </a:rPr>
              <a:t>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6076237" y="4828249"/>
            <a:ext cx="1304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D</a:t>
            </a:r>
            <a:r>
              <a:rPr lang="zh-TW" altLang="en-US" sz="2000" b="1" dirty="0">
                <a:latin typeface="+mj-lt"/>
              </a:rPr>
              <a:t> </a:t>
            </a:r>
            <a:r>
              <a:rPr lang="en-US" altLang="zh-TW" sz="2000" b="1" dirty="0">
                <a:latin typeface="+mj-lt"/>
              </a:rPr>
              <a:t>=</a:t>
            </a:r>
            <a:r>
              <a:rPr lang="zh-TW" altLang="en-US" sz="2000" b="1" dirty="0">
                <a:latin typeface="+mj-lt"/>
              </a:rPr>
              <a:t> 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A</a:t>
            </a:r>
            <a:r>
              <a:rPr lang="en-US" altLang="zh-TW" sz="2000" b="1" dirty="0">
                <a:latin typeface="+mj-lt"/>
              </a:rPr>
              <a:t>, </a:t>
            </a:r>
            <a:r>
              <a:rPr lang="en-US" altLang="zh-TW" sz="2000" b="1" i="1" dirty="0">
                <a:latin typeface="+mj-lt"/>
              </a:rPr>
              <a:t>E</a:t>
            </a:r>
            <a:r>
              <a:rPr lang="en-US" altLang="zh-TW" sz="2000" b="1" dirty="0">
                <a:latin typeface="+mj-lt"/>
              </a:rPr>
              <a:t>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1228159" y="3431903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1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3659492" y="3456378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2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6065728" y="3468391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3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8256459" y="3468391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4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598339" y="5275813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1</a:t>
            </a:r>
            <a:r>
              <a:rPr lang="en-US" altLang="zh-TW" sz="2000" b="1" dirty="0">
                <a:latin typeface="+mj-lt"/>
              </a:rPr>
              <a:t>) = {1, 2, 3, 4}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4772162" y="4828249"/>
            <a:ext cx="1304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zh-TW" altLang="en-US" sz="2000" b="1" dirty="0">
                <a:latin typeface="+mj-lt"/>
              </a:rPr>
              <a:t> </a:t>
            </a:r>
            <a:r>
              <a:rPr lang="en-US" altLang="zh-TW" sz="2000" b="1" dirty="0">
                <a:latin typeface="+mj-lt"/>
              </a:rPr>
              <a:t>=</a:t>
            </a:r>
            <a:r>
              <a:rPr lang="zh-TW" altLang="en-US" sz="2000" b="1" dirty="0">
                <a:latin typeface="+mj-lt"/>
              </a:rPr>
              <a:t> 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dirty="0">
                <a:latin typeface="+mj-lt"/>
              </a:rPr>
              <a:t>, </a:t>
            </a:r>
            <a:r>
              <a:rPr lang="en-US" altLang="zh-TW" sz="2000" b="1" i="1" dirty="0">
                <a:latin typeface="+mj-lt"/>
              </a:rPr>
              <a:t>E</a:t>
            </a:r>
            <a:r>
              <a:rPr lang="en-US" altLang="zh-TW" sz="2000" b="1" dirty="0">
                <a:latin typeface="+mj-lt"/>
              </a:rPr>
              <a:t>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584574" y="5675923"/>
            <a:ext cx="2940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2</a:t>
            </a:r>
            <a:r>
              <a:rPr lang="en-US" altLang="zh-TW" sz="2000" b="1" dirty="0">
                <a:latin typeface="+mj-lt"/>
              </a:rPr>
              <a:t>) = {1, 2, 3, 4, 5, 6, 7}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600695" y="6076033"/>
            <a:ext cx="1914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3</a:t>
            </a:r>
            <a:r>
              <a:rPr lang="en-US" altLang="zh-TW" sz="2000" b="1" dirty="0">
                <a:latin typeface="+mj-lt"/>
              </a:rPr>
              <a:t>) = {1, 2, 3}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3731800" y="5275813"/>
            <a:ext cx="4857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E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1</a:t>
            </a:r>
            <a:r>
              <a:rPr lang="en-US" altLang="zh-TW" sz="2000" b="1" dirty="0">
                <a:latin typeface="+mj-lt"/>
              </a:rPr>
              <a:t>) = {(1,2), (1,3), (1,4), (2,3), (2,4), (3,4)}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3731800" y="5668022"/>
            <a:ext cx="4857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E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2</a:t>
            </a:r>
            <a:r>
              <a:rPr lang="en-US" altLang="zh-TW" sz="2000" b="1" dirty="0">
                <a:latin typeface="+mj-lt"/>
              </a:rPr>
              <a:t>) = {(1,2), (1,3), (2,4), (2,5), (3,6), (3,7)}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3731800" y="6063484"/>
            <a:ext cx="3366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E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3</a:t>
            </a:r>
            <a:r>
              <a:rPr lang="en-US" altLang="zh-TW" sz="2000" b="1" dirty="0">
                <a:latin typeface="+mj-lt"/>
              </a:rPr>
              <a:t>) = {&lt;1,2&gt;, &lt;2,3&gt;, &lt;3,2&gt;}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7586934" y="4016613"/>
            <a:ext cx="15215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多重圖</a:t>
            </a:r>
            <a:endParaRPr lang="en-US" altLang="zh-TW" sz="2000" b="1" dirty="0">
              <a:latin typeface="+mj-lt"/>
              <a:ea typeface="標楷體" panose="03000509000000000000" pitchFamily="65" charset="-120"/>
            </a:endParaRPr>
          </a:p>
          <a:p>
            <a:pPr algn="ctr"/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</a:t>
            </a:r>
            <a:r>
              <a:rPr lang="en-US" altLang="zh-TW" sz="2000" b="1" dirty="0" err="1">
                <a:latin typeface="+mj-lt"/>
                <a:ea typeface="標楷體" panose="03000509000000000000" pitchFamily="65" charset="-120"/>
              </a:rPr>
              <a:t>mutigraph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2882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圖形的專有名詞 </a:t>
            </a:r>
            <a:r>
              <a:rPr lang="en-US" altLang="zh-TW" dirty="0"/>
              <a:t>(2/6)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5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087501" y="19684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8" name="橢圓 7"/>
          <p:cNvSpPr/>
          <p:nvPr/>
        </p:nvSpPr>
        <p:spPr>
          <a:xfrm>
            <a:off x="2087501" y="31613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9" name="橢圓 8"/>
          <p:cNvSpPr/>
          <p:nvPr/>
        </p:nvSpPr>
        <p:spPr>
          <a:xfrm>
            <a:off x="1547664" y="256493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10" name="橢圓 9"/>
          <p:cNvSpPr/>
          <p:nvPr/>
        </p:nvSpPr>
        <p:spPr>
          <a:xfrm>
            <a:off x="2627338" y="256493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12" name="直線接點 11"/>
          <p:cNvCxnSpPr>
            <a:stCxn id="7" idx="4"/>
            <a:endCxn id="8" idx="0"/>
          </p:cNvCxnSpPr>
          <p:nvPr/>
        </p:nvCxnSpPr>
        <p:spPr>
          <a:xfrm>
            <a:off x="2231501" y="2256486"/>
            <a:ext cx="0" cy="9049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7" idx="5"/>
            <a:endCxn id="10" idx="0"/>
          </p:cNvCxnSpPr>
          <p:nvPr/>
        </p:nvCxnSpPr>
        <p:spPr>
          <a:xfrm>
            <a:off x="2333324" y="2214309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7" idx="3"/>
          </p:cNvCxnSpPr>
          <p:nvPr/>
        </p:nvCxnSpPr>
        <p:spPr>
          <a:xfrm flipH="1">
            <a:off x="1691680" y="2214309"/>
            <a:ext cx="437998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9" idx="4"/>
            <a:endCxn id="8" idx="1"/>
          </p:cNvCxnSpPr>
          <p:nvPr/>
        </p:nvCxnSpPr>
        <p:spPr>
          <a:xfrm>
            <a:off x="1691664" y="2852936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0" idx="4"/>
            <a:endCxn id="8" idx="7"/>
          </p:cNvCxnSpPr>
          <p:nvPr/>
        </p:nvCxnSpPr>
        <p:spPr>
          <a:xfrm flipH="1">
            <a:off x="2333324" y="2852936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0" idx="2"/>
            <a:endCxn id="9" idx="6"/>
          </p:cNvCxnSpPr>
          <p:nvPr/>
        </p:nvCxnSpPr>
        <p:spPr>
          <a:xfrm flipH="1">
            <a:off x="1835664" y="2708936"/>
            <a:ext cx="7916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橢圓 53"/>
          <p:cNvSpPr/>
          <p:nvPr/>
        </p:nvSpPr>
        <p:spPr>
          <a:xfrm>
            <a:off x="2107321" y="4492161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55" name="橢圓 54"/>
          <p:cNvSpPr/>
          <p:nvPr/>
        </p:nvSpPr>
        <p:spPr>
          <a:xfrm>
            <a:off x="2107321" y="5088611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56" name="橢圓 55"/>
          <p:cNvSpPr/>
          <p:nvPr/>
        </p:nvSpPr>
        <p:spPr>
          <a:xfrm>
            <a:off x="2107321" y="5685061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58" name="直線單箭頭接點 57"/>
          <p:cNvCxnSpPr>
            <a:stCxn id="54" idx="4"/>
            <a:endCxn id="55" idx="0"/>
          </p:cNvCxnSpPr>
          <p:nvPr/>
        </p:nvCxnSpPr>
        <p:spPr>
          <a:xfrm>
            <a:off x="2251321" y="4780161"/>
            <a:ext cx="0" cy="308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弧形接點 59"/>
          <p:cNvCxnSpPr>
            <a:stCxn id="55" idx="2"/>
            <a:endCxn id="56" idx="2"/>
          </p:cNvCxnSpPr>
          <p:nvPr/>
        </p:nvCxnSpPr>
        <p:spPr>
          <a:xfrm rot="10800000" flipV="1">
            <a:off x="2107321" y="5232611"/>
            <a:ext cx="12700" cy="59645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弧形接點 60"/>
          <p:cNvCxnSpPr>
            <a:stCxn id="56" idx="6"/>
            <a:endCxn id="55" idx="6"/>
          </p:cNvCxnSpPr>
          <p:nvPr/>
        </p:nvCxnSpPr>
        <p:spPr>
          <a:xfrm flipV="1">
            <a:off x="2395321" y="5232611"/>
            <a:ext cx="12700" cy="59645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字方塊 82"/>
          <p:cNvSpPr txBox="1"/>
          <p:nvPr/>
        </p:nvSpPr>
        <p:spPr>
          <a:xfrm>
            <a:off x="3621492" y="1924310"/>
            <a:ext cx="3728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完整圖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/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完全圖 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(complete graph)</a:t>
            </a:r>
          </a:p>
        </p:txBody>
      </p:sp>
      <p:sp>
        <p:nvSpPr>
          <p:cNvPr id="87" name="文字方塊 86"/>
          <p:cNvSpPr txBox="1"/>
          <p:nvPr/>
        </p:nvSpPr>
        <p:spPr>
          <a:xfrm>
            <a:off x="2018297" y="3431903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1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2058901" y="5992066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3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3607625" y="2454493"/>
            <a:ext cx="3122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相鄰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(adjacent): 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1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與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2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相鄰</a:t>
            </a:r>
            <a:endParaRPr lang="en-US" altLang="zh-TW" sz="2000" b="1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3575764" y="2961331"/>
            <a:ext cx="4068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附著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(incident): (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1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,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2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)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附著於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1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、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2</a:t>
            </a:r>
          </a:p>
        </p:txBody>
      </p:sp>
      <p:sp>
        <p:nvSpPr>
          <p:cNvPr id="70" name="文字方塊 69"/>
          <p:cNvSpPr txBox="1"/>
          <p:nvPr/>
        </p:nvSpPr>
        <p:spPr>
          <a:xfrm>
            <a:off x="3742269" y="4492161"/>
            <a:ext cx="24835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相鄰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(adjacent): </a:t>
            </a:r>
          </a:p>
          <a:p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1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is adjacent to 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2</a:t>
            </a:r>
          </a:p>
          <a:p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2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 is adjacent from 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1</a:t>
            </a:r>
          </a:p>
        </p:txBody>
      </p:sp>
      <p:sp>
        <p:nvSpPr>
          <p:cNvPr id="72" name="文字方塊 71"/>
          <p:cNvSpPr txBox="1"/>
          <p:nvPr/>
        </p:nvSpPr>
        <p:spPr>
          <a:xfrm>
            <a:off x="3742269" y="5698000"/>
            <a:ext cx="39260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附著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(incident): </a:t>
            </a:r>
          </a:p>
          <a:p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&lt;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1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,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2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&gt;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、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&lt;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2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,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3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&gt;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、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&lt;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3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,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2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&gt;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附著於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26836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圖形的專有名詞 </a:t>
            </a:r>
            <a:r>
              <a:rPr lang="en-US" altLang="zh-TW" dirty="0"/>
              <a:t>(3/6)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6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1079389" y="19684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8" name="橢圓 7"/>
          <p:cNvSpPr/>
          <p:nvPr/>
        </p:nvSpPr>
        <p:spPr>
          <a:xfrm>
            <a:off x="1079389" y="31613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9" name="橢圓 8"/>
          <p:cNvSpPr/>
          <p:nvPr/>
        </p:nvSpPr>
        <p:spPr>
          <a:xfrm>
            <a:off x="539552" y="256493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10" name="橢圓 9"/>
          <p:cNvSpPr/>
          <p:nvPr/>
        </p:nvSpPr>
        <p:spPr>
          <a:xfrm>
            <a:off x="1619226" y="256493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12" name="直線接點 11"/>
          <p:cNvCxnSpPr>
            <a:stCxn id="7" idx="4"/>
            <a:endCxn id="8" idx="0"/>
          </p:cNvCxnSpPr>
          <p:nvPr/>
        </p:nvCxnSpPr>
        <p:spPr>
          <a:xfrm>
            <a:off x="1223389" y="2256486"/>
            <a:ext cx="0" cy="9049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7" idx="5"/>
            <a:endCxn id="10" idx="0"/>
          </p:cNvCxnSpPr>
          <p:nvPr/>
        </p:nvCxnSpPr>
        <p:spPr>
          <a:xfrm>
            <a:off x="1325212" y="2214309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7" idx="3"/>
          </p:cNvCxnSpPr>
          <p:nvPr/>
        </p:nvCxnSpPr>
        <p:spPr>
          <a:xfrm flipH="1">
            <a:off x="683568" y="2214309"/>
            <a:ext cx="437998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9" idx="4"/>
            <a:endCxn id="8" idx="1"/>
          </p:cNvCxnSpPr>
          <p:nvPr/>
        </p:nvCxnSpPr>
        <p:spPr>
          <a:xfrm>
            <a:off x="683552" y="2852936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0" idx="4"/>
            <a:endCxn id="8" idx="7"/>
          </p:cNvCxnSpPr>
          <p:nvPr/>
        </p:nvCxnSpPr>
        <p:spPr>
          <a:xfrm flipH="1">
            <a:off x="1325212" y="2852936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0" idx="2"/>
            <a:endCxn id="9" idx="6"/>
          </p:cNvCxnSpPr>
          <p:nvPr/>
        </p:nvCxnSpPr>
        <p:spPr>
          <a:xfrm flipH="1">
            <a:off x="827552" y="2708936"/>
            <a:ext cx="7916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橢圓 53"/>
          <p:cNvSpPr/>
          <p:nvPr/>
        </p:nvSpPr>
        <p:spPr>
          <a:xfrm>
            <a:off x="1099209" y="4492161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55" name="橢圓 54"/>
          <p:cNvSpPr/>
          <p:nvPr/>
        </p:nvSpPr>
        <p:spPr>
          <a:xfrm>
            <a:off x="1099209" y="5088611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56" name="橢圓 55"/>
          <p:cNvSpPr/>
          <p:nvPr/>
        </p:nvSpPr>
        <p:spPr>
          <a:xfrm>
            <a:off x="1099209" y="5685061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58" name="直線單箭頭接點 57"/>
          <p:cNvCxnSpPr>
            <a:stCxn id="54" idx="4"/>
            <a:endCxn id="55" idx="0"/>
          </p:cNvCxnSpPr>
          <p:nvPr/>
        </p:nvCxnSpPr>
        <p:spPr>
          <a:xfrm>
            <a:off x="1243209" y="4780161"/>
            <a:ext cx="0" cy="308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弧形接點 59"/>
          <p:cNvCxnSpPr>
            <a:stCxn id="55" idx="2"/>
            <a:endCxn id="56" idx="2"/>
          </p:cNvCxnSpPr>
          <p:nvPr/>
        </p:nvCxnSpPr>
        <p:spPr>
          <a:xfrm rot="10800000" flipV="1">
            <a:off x="1099209" y="5232611"/>
            <a:ext cx="12700" cy="59645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弧形接點 60"/>
          <p:cNvCxnSpPr>
            <a:stCxn id="56" idx="6"/>
            <a:endCxn id="55" idx="6"/>
          </p:cNvCxnSpPr>
          <p:nvPr/>
        </p:nvCxnSpPr>
        <p:spPr>
          <a:xfrm flipV="1">
            <a:off x="1387209" y="5232611"/>
            <a:ext cx="12700" cy="59645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字方塊 86"/>
          <p:cNvSpPr txBox="1"/>
          <p:nvPr/>
        </p:nvSpPr>
        <p:spPr>
          <a:xfrm>
            <a:off x="1010185" y="3431903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1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1050789" y="5992066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3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2879589" y="19684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40" name="橢圓 39"/>
          <p:cNvSpPr/>
          <p:nvPr/>
        </p:nvSpPr>
        <p:spPr>
          <a:xfrm>
            <a:off x="2899409" y="4492161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2810385" y="3431903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(a)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4507189" y="19684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50" name="橢圓 49"/>
          <p:cNvSpPr/>
          <p:nvPr/>
        </p:nvSpPr>
        <p:spPr>
          <a:xfrm>
            <a:off x="3967352" y="256493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51" name="橢圓 50"/>
          <p:cNvSpPr/>
          <p:nvPr/>
        </p:nvSpPr>
        <p:spPr>
          <a:xfrm>
            <a:off x="5047026" y="256493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53" name="直線接點 52"/>
          <p:cNvCxnSpPr>
            <a:stCxn id="48" idx="5"/>
            <a:endCxn id="51" idx="0"/>
          </p:cNvCxnSpPr>
          <p:nvPr/>
        </p:nvCxnSpPr>
        <p:spPr>
          <a:xfrm>
            <a:off x="4753012" y="2214309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48" idx="3"/>
          </p:cNvCxnSpPr>
          <p:nvPr/>
        </p:nvCxnSpPr>
        <p:spPr>
          <a:xfrm flipH="1">
            <a:off x="4111368" y="2214309"/>
            <a:ext cx="437998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橢圓 64"/>
          <p:cNvSpPr/>
          <p:nvPr/>
        </p:nvSpPr>
        <p:spPr>
          <a:xfrm>
            <a:off x="4527009" y="4492161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66" name="橢圓 65"/>
          <p:cNvSpPr/>
          <p:nvPr/>
        </p:nvSpPr>
        <p:spPr>
          <a:xfrm>
            <a:off x="4527009" y="5088611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cxnSp>
        <p:nvCxnSpPr>
          <p:cNvPr id="68" name="直線單箭頭接點 67"/>
          <p:cNvCxnSpPr>
            <a:stCxn id="65" idx="4"/>
            <a:endCxn id="66" idx="0"/>
          </p:cNvCxnSpPr>
          <p:nvPr/>
        </p:nvCxnSpPr>
        <p:spPr>
          <a:xfrm>
            <a:off x="4671009" y="4780161"/>
            <a:ext cx="0" cy="308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4437985" y="3431903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(b)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77" name="橢圓 76"/>
          <p:cNvSpPr/>
          <p:nvPr/>
        </p:nvSpPr>
        <p:spPr>
          <a:xfrm>
            <a:off x="6129940" y="3164549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78" name="橢圓 77"/>
          <p:cNvSpPr/>
          <p:nvPr/>
        </p:nvSpPr>
        <p:spPr>
          <a:xfrm>
            <a:off x="5590103" y="2568099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79" name="橢圓 78"/>
          <p:cNvSpPr/>
          <p:nvPr/>
        </p:nvSpPr>
        <p:spPr>
          <a:xfrm>
            <a:off x="6669777" y="2568099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84" name="直線接點 83"/>
          <p:cNvCxnSpPr>
            <a:stCxn id="78" idx="4"/>
            <a:endCxn id="77" idx="1"/>
          </p:cNvCxnSpPr>
          <p:nvPr/>
        </p:nvCxnSpPr>
        <p:spPr>
          <a:xfrm>
            <a:off x="5734103" y="2856099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>
            <a:stCxn id="79" idx="4"/>
            <a:endCxn id="77" idx="7"/>
          </p:cNvCxnSpPr>
          <p:nvPr/>
        </p:nvCxnSpPr>
        <p:spPr>
          <a:xfrm flipH="1">
            <a:off x="6375763" y="2856099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橢圓 87"/>
          <p:cNvSpPr/>
          <p:nvPr/>
        </p:nvSpPr>
        <p:spPr>
          <a:xfrm>
            <a:off x="6149760" y="449532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90" name="橢圓 89"/>
          <p:cNvSpPr/>
          <p:nvPr/>
        </p:nvSpPr>
        <p:spPr>
          <a:xfrm>
            <a:off x="6149760" y="509177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91" name="橢圓 90"/>
          <p:cNvSpPr/>
          <p:nvPr/>
        </p:nvSpPr>
        <p:spPr>
          <a:xfrm>
            <a:off x="6149760" y="568822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93" name="弧形接點 92"/>
          <p:cNvCxnSpPr>
            <a:stCxn id="90" idx="2"/>
            <a:endCxn id="91" idx="2"/>
          </p:cNvCxnSpPr>
          <p:nvPr/>
        </p:nvCxnSpPr>
        <p:spPr>
          <a:xfrm rot="10800000" flipV="1">
            <a:off x="6149760" y="5235774"/>
            <a:ext cx="12700" cy="59645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字方塊 94"/>
          <p:cNvSpPr txBox="1"/>
          <p:nvPr/>
        </p:nvSpPr>
        <p:spPr>
          <a:xfrm>
            <a:off x="6060736" y="3435066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(c)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97" name="橢圓 96"/>
          <p:cNvSpPr/>
          <p:nvPr/>
        </p:nvSpPr>
        <p:spPr>
          <a:xfrm>
            <a:off x="7757540" y="1971649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98" name="橢圓 97"/>
          <p:cNvSpPr/>
          <p:nvPr/>
        </p:nvSpPr>
        <p:spPr>
          <a:xfrm>
            <a:off x="7757540" y="3164549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99" name="橢圓 98"/>
          <p:cNvSpPr/>
          <p:nvPr/>
        </p:nvSpPr>
        <p:spPr>
          <a:xfrm>
            <a:off x="7217703" y="2568099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100" name="橢圓 99"/>
          <p:cNvSpPr/>
          <p:nvPr/>
        </p:nvSpPr>
        <p:spPr>
          <a:xfrm>
            <a:off x="8297377" y="2568099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101" name="直線接點 100"/>
          <p:cNvCxnSpPr>
            <a:stCxn id="97" idx="4"/>
            <a:endCxn id="98" idx="0"/>
          </p:cNvCxnSpPr>
          <p:nvPr/>
        </p:nvCxnSpPr>
        <p:spPr>
          <a:xfrm>
            <a:off x="7901540" y="2259649"/>
            <a:ext cx="0" cy="9049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>
            <a:stCxn id="100" idx="4"/>
            <a:endCxn id="98" idx="7"/>
          </p:cNvCxnSpPr>
          <p:nvPr/>
        </p:nvCxnSpPr>
        <p:spPr>
          <a:xfrm flipH="1">
            <a:off x="8003363" y="2856099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>
            <a:stCxn id="100" idx="2"/>
            <a:endCxn id="99" idx="6"/>
          </p:cNvCxnSpPr>
          <p:nvPr/>
        </p:nvCxnSpPr>
        <p:spPr>
          <a:xfrm flipH="1">
            <a:off x="7505703" y="2712099"/>
            <a:ext cx="7916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橢圓 106"/>
          <p:cNvSpPr/>
          <p:nvPr/>
        </p:nvSpPr>
        <p:spPr>
          <a:xfrm>
            <a:off x="7777360" y="449532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108" name="橢圓 107"/>
          <p:cNvSpPr/>
          <p:nvPr/>
        </p:nvSpPr>
        <p:spPr>
          <a:xfrm>
            <a:off x="7777360" y="509177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109" name="橢圓 108"/>
          <p:cNvSpPr/>
          <p:nvPr/>
        </p:nvSpPr>
        <p:spPr>
          <a:xfrm>
            <a:off x="7777360" y="568822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112" name="弧形接點 111"/>
          <p:cNvCxnSpPr>
            <a:stCxn id="109" idx="6"/>
            <a:endCxn id="108" idx="6"/>
          </p:cNvCxnSpPr>
          <p:nvPr/>
        </p:nvCxnSpPr>
        <p:spPr>
          <a:xfrm flipV="1">
            <a:off x="8065360" y="5235774"/>
            <a:ext cx="12700" cy="59645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/>
          <p:cNvSpPr txBox="1"/>
          <p:nvPr/>
        </p:nvSpPr>
        <p:spPr>
          <a:xfrm>
            <a:off x="7688336" y="3435066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(d)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2810385" y="5973061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(a)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4437985" y="5973061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(b)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117" name="文字方塊 116"/>
          <p:cNvSpPr txBox="1"/>
          <p:nvPr/>
        </p:nvSpPr>
        <p:spPr>
          <a:xfrm>
            <a:off x="6060736" y="5976224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(c)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118" name="文字方塊 117"/>
          <p:cNvSpPr txBox="1"/>
          <p:nvPr/>
        </p:nvSpPr>
        <p:spPr>
          <a:xfrm>
            <a:off x="7688336" y="5976224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(d)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580183" y="1410894"/>
            <a:ext cx="52216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子圖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(subgraph): 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G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’) 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 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V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(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G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), 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E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(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G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’)  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E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(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G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  <a:sym typeface="Symbol" panose="05050102010706020507" pitchFamily="18" charset="2"/>
              </a:rPr>
              <a:t>)</a:t>
            </a:r>
            <a:endParaRPr lang="zh-TW" altLang="en-US" sz="2000" b="1" baseline="-25000" dirty="0"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4743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圖形的專有名詞 </a:t>
            </a:r>
            <a:r>
              <a:rPr lang="en-US" altLang="zh-TW" dirty="0"/>
              <a:t>(4/6)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7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1079389" y="19684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8" name="橢圓 7"/>
          <p:cNvSpPr/>
          <p:nvPr/>
        </p:nvSpPr>
        <p:spPr>
          <a:xfrm>
            <a:off x="1079389" y="316138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9" name="橢圓 8"/>
          <p:cNvSpPr/>
          <p:nvPr/>
        </p:nvSpPr>
        <p:spPr>
          <a:xfrm>
            <a:off x="539552" y="256493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10" name="橢圓 9"/>
          <p:cNvSpPr/>
          <p:nvPr/>
        </p:nvSpPr>
        <p:spPr>
          <a:xfrm>
            <a:off x="1619226" y="256493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12" name="直線接點 11"/>
          <p:cNvCxnSpPr>
            <a:stCxn id="7" idx="4"/>
            <a:endCxn id="8" idx="0"/>
          </p:cNvCxnSpPr>
          <p:nvPr/>
        </p:nvCxnSpPr>
        <p:spPr>
          <a:xfrm>
            <a:off x="1223389" y="2256486"/>
            <a:ext cx="0" cy="9049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7" idx="5"/>
            <a:endCxn id="10" idx="0"/>
          </p:cNvCxnSpPr>
          <p:nvPr/>
        </p:nvCxnSpPr>
        <p:spPr>
          <a:xfrm>
            <a:off x="1325212" y="2214309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7" idx="3"/>
          </p:cNvCxnSpPr>
          <p:nvPr/>
        </p:nvCxnSpPr>
        <p:spPr>
          <a:xfrm flipH="1">
            <a:off x="683568" y="2214309"/>
            <a:ext cx="437998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9" idx="4"/>
            <a:endCxn id="8" idx="1"/>
          </p:cNvCxnSpPr>
          <p:nvPr/>
        </p:nvCxnSpPr>
        <p:spPr>
          <a:xfrm>
            <a:off x="683552" y="2852936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0" idx="4"/>
            <a:endCxn id="8" idx="7"/>
          </p:cNvCxnSpPr>
          <p:nvPr/>
        </p:nvCxnSpPr>
        <p:spPr>
          <a:xfrm flipH="1">
            <a:off x="1325212" y="2852936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0" idx="2"/>
            <a:endCxn id="9" idx="6"/>
          </p:cNvCxnSpPr>
          <p:nvPr/>
        </p:nvCxnSpPr>
        <p:spPr>
          <a:xfrm flipH="1">
            <a:off x="827552" y="2708936"/>
            <a:ext cx="7916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橢圓 53"/>
          <p:cNvSpPr/>
          <p:nvPr/>
        </p:nvSpPr>
        <p:spPr>
          <a:xfrm>
            <a:off x="1099209" y="4492161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55" name="橢圓 54"/>
          <p:cNvSpPr/>
          <p:nvPr/>
        </p:nvSpPr>
        <p:spPr>
          <a:xfrm>
            <a:off x="1099209" y="5088611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56" name="橢圓 55"/>
          <p:cNvSpPr/>
          <p:nvPr/>
        </p:nvSpPr>
        <p:spPr>
          <a:xfrm>
            <a:off x="1099209" y="5685061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58" name="直線單箭頭接點 57"/>
          <p:cNvCxnSpPr>
            <a:stCxn id="54" idx="4"/>
            <a:endCxn id="55" idx="0"/>
          </p:cNvCxnSpPr>
          <p:nvPr/>
        </p:nvCxnSpPr>
        <p:spPr>
          <a:xfrm>
            <a:off x="1243209" y="4780161"/>
            <a:ext cx="0" cy="308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弧形接點 59"/>
          <p:cNvCxnSpPr>
            <a:stCxn id="55" idx="2"/>
            <a:endCxn id="56" idx="2"/>
          </p:cNvCxnSpPr>
          <p:nvPr/>
        </p:nvCxnSpPr>
        <p:spPr>
          <a:xfrm rot="10800000" flipV="1">
            <a:off x="1099209" y="5232611"/>
            <a:ext cx="12700" cy="59645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弧形接點 60"/>
          <p:cNvCxnSpPr>
            <a:stCxn id="56" idx="6"/>
            <a:endCxn id="55" idx="6"/>
          </p:cNvCxnSpPr>
          <p:nvPr/>
        </p:nvCxnSpPr>
        <p:spPr>
          <a:xfrm flipV="1">
            <a:off x="1387209" y="5232611"/>
            <a:ext cx="12700" cy="59645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字方塊 86"/>
          <p:cNvSpPr txBox="1"/>
          <p:nvPr/>
        </p:nvSpPr>
        <p:spPr>
          <a:xfrm>
            <a:off x="1010185" y="3431903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1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1050789" y="5992066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3</a:t>
            </a:r>
            <a:endParaRPr lang="zh-TW" altLang="en-US" sz="2000" b="1" baseline="-250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2372002" y="2173719"/>
                <a:ext cx="188647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002" y="2173719"/>
                <a:ext cx="1886478" cy="400110"/>
              </a:xfrm>
              <a:prstGeom prst="rect">
                <a:avLst/>
              </a:prstGeom>
              <a:blipFill rotWithShape="0">
                <a:blip r:embed="rId2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/>
              <p:cNvSpPr txBox="1"/>
              <p:nvPr/>
            </p:nvSpPr>
            <p:spPr>
              <a:xfrm>
                <a:off x="2354344" y="4797152"/>
                <a:ext cx="14547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64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344" y="4797152"/>
                <a:ext cx="1454757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文字方塊 66"/>
          <p:cNvSpPr txBox="1"/>
          <p:nvPr/>
        </p:nvSpPr>
        <p:spPr>
          <a:xfrm>
            <a:off x="2396443" y="2650910"/>
            <a:ext cx="2528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1</a:t>
            </a:r>
            <a:r>
              <a:rPr lang="en-US" altLang="zh-TW" sz="2000" b="1" dirty="0">
                <a:latin typeface="+mj-lt"/>
              </a:rPr>
              <a:t>, 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2</a:t>
            </a:r>
            <a:r>
              <a:rPr lang="en-US" altLang="zh-TW" sz="2000" b="1" dirty="0">
                <a:latin typeface="+mj-lt"/>
              </a:rPr>
              <a:t>), (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2</a:t>
            </a:r>
            <a:r>
              <a:rPr lang="en-US" altLang="zh-TW" sz="2000" b="1" dirty="0">
                <a:latin typeface="+mj-lt"/>
              </a:rPr>
              <a:t>, 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4</a:t>
            </a:r>
            <a:r>
              <a:rPr lang="en-US" altLang="zh-TW" sz="2000" b="1" dirty="0">
                <a:latin typeface="+mj-lt"/>
              </a:rPr>
              <a:t>), (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4</a:t>
            </a:r>
            <a:r>
              <a:rPr lang="en-US" altLang="zh-TW" sz="2000" b="1" dirty="0">
                <a:latin typeface="+mj-lt"/>
              </a:rPr>
              <a:t>, 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3</a:t>
            </a:r>
            <a:r>
              <a:rPr lang="en-US" altLang="zh-TW" sz="2000" b="1" dirty="0">
                <a:latin typeface="+mj-lt"/>
              </a:rPr>
              <a:t>)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2371848" y="5323965"/>
            <a:ext cx="1947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&lt;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1</a:t>
            </a:r>
            <a:r>
              <a:rPr lang="en-US" altLang="zh-TW" sz="2000" b="1" dirty="0">
                <a:latin typeface="+mj-lt"/>
              </a:rPr>
              <a:t>, 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2</a:t>
            </a:r>
            <a:r>
              <a:rPr lang="en-US" altLang="zh-TW" sz="2000" b="1" dirty="0">
                <a:latin typeface="+mj-lt"/>
              </a:rPr>
              <a:t>&gt;, &lt;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2</a:t>
            </a:r>
            <a:r>
              <a:rPr lang="en-US" altLang="zh-TW" sz="2000" b="1" dirty="0">
                <a:latin typeface="+mj-lt"/>
              </a:rPr>
              <a:t>, 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3</a:t>
            </a:r>
            <a:r>
              <a:rPr lang="en-US" altLang="zh-TW" sz="2000" b="1" dirty="0">
                <a:latin typeface="+mj-lt"/>
              </a:rPr>
              <a:t>&gt;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2371848" y="1772816"/>
            <a:ext cx="1366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路徑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(path)</a:t>
            </a:r>
            <a:endParaRPr lang="zh-TW" altLang="en-US" sz="2000" b="1" baseline="-25000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5045166" y="1772816"/>
            <a:ext cx="3238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長度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(length): 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路徑上的邊數</a:t>
            </a:r>
            <a:endParaRPr lang="zh-TW" altLang="en-US" sz="2000" b="1" baseline="-25000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5120652" y="2173719"/>
            <a:ext cx="1269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length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=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3</a:t>
            </a:r>
            <a:endParaRPr lang="zh-TW" altLang="en-US" sz="2000" b="1" baseline="-25000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5120652" y="4819736"/>
            <a:ext cx="1269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length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=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2</a:t>
            </a:r>
            <a:endParaRPr lang="zh-TW" altLang="en-US" sz="2000" b="1" baseline="-25000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2374556" y="3780908"/>
            <a:ext cx="6136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簡單路徑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(simple path): 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除頭尾之外，其餘點皆不重複</a:t>
            </a:r>
            <a:endParaRPr lang="zh-TW" altLang="en-US" sz="2000" b="1" baseline="-25000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2374556" y="4181018"/>
            <a:ext cx="4378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循環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(cycle): 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一簡單路徑上，頭尾相同</a:t>
            </a:r>
            <a:endParaRPr lang="zh-TW" altLang="en-US" sz="2000" b="1" baseline="-25000" dirty="0">
              <a:latin typeface="+mj-lt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/>
              <p:cNvSpPr txBox="1"/>
              <p:nvPr/>
            </p:nvSpPr>
            <p:spPr>
              <a:xfrm>
                <a:off x="2364990" y="3128101"/>
                <a:ext cx="22588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80" name="文字方塊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990" y="3128101"/>
                <a:ext cx="2258887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80"/>
              <p:cNvSpPr txBox="1"/>
              <p:nvPr/>
            </p:nvSpPr>
            <p:spPr>
              <a:xfrm>
                <a:off x="2364990" y="5847411"/>
                <a:ext cx="18864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81" name="文字方塊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990" y="5847411"/>
                <a:ext cx="1886477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4490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圖形的專有名詞 </a:t>
            </a:r>
            <a:r>
              <a:rPr lang="en-US" altLang="zh-TW" dirty="0"/>
              <a:t>(5/6)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8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1511437" y="148478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8" name="橢圓 7"/>
          <p:cNvSpPr/>
          <p:nvPr/>
        </p:nvSpPr>
        <p:spPr>
          <a:xfrm>
            <a:off x="1511437" y="267768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9" name="橢圓 8"/>
          <p:cNvSpPr/>
          <p:nvPr/>
        </p:nvSpPr>
        <p:spPr>
          <a:xfrm>
            <a:off x="971600" y="208123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10" name="橢圓 9"/>
          <p:cNvSpPr/>
          <p:nvPr/>
        </p:nvSpPr>
        <p:spPr>
          <a:xfrm>
            <a:off x="2051274" y="208123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12" name="直線接點 11"/>
          <p:cNvCxnSpPr>
            <a:stCxn id="7" idx="4"/>
            <a:endCxn id="8" idx="0"/>
          </p:cNvCxnSpPr>
          <p:nvPr/>
        </p:nvCxnSpPr>
        <p:spPr>
          <a:xfrm>
            <a:off x="1655437" y="1772784"/>
            <a:ext cx="0" cy="9049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7" idx="5"/>
            <a:endCxn id="10" idx="0"/>
          </p:cNvCxnSpPr>
          <p:nvPr/>
        </p:nvCxnSpPr>
        <p:spPr>
          <a:xfrm>
            <a:off x="1757260" y="1730607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7" idx="3"/>
          </p:cNvCxnSpPr>
          <p:nvPr/>
        </p:nvCxnSpPr>
        <p:spPr>
          <a:xfrm flipH="1">
            <a:off x="1115616" y="1730607"/>
            <a:ext cx="437998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9" idx="4"/>
            <a:endCxn id="8" idx="1"/>
          </p:cNvCxnSpPr>
          <p:nvPr/>
        </p:nvCxnSpPr>
        <p:spPr>
          <a:xfrm>
            <a:off x="1115600" y="2369234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0" idx="4"/>
            <a:endCxn id="8" idx="7"/>
          </p:cNvCxnSpPr>
          <p:nvPr/>
        </p:nvCxnSpPr>
        <p:spPr>
          <a:xfrm flipH="1">
            <a:off x="1757260" y="2369234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0" idx="2"/>
            <a:endCxn id="9" idx="6"/>
          </p:cNvCxnSpPr>
          <p:nvPr/>
        </p:nvCxnSpPr>
        <p:spPr>
          <a:xfrm flipH="1">
            <a:off x="1259600" y="2225234"/>
            <a:ext cx="7916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字方塊 86"/>
          <p:cNvSpPr txBox="1"/>
          <p:nvPr/>
        </p:nvSpPr>
        <p:spPr>
          <a:xfrm>
            <a:off x="1442233" y="2948201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1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323528" y="3284984"/>
            <a:ext cx="54954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連通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(connected): </a:t>
            </a:r>
          </a:p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有一條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path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從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1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至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2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，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1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與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baseline="-25000" dirty="0">
                <a:latin typeface="+mj-lt"/>
                <a:ea typeface="標楷體" panose="03000509000000000000" pitchFamily="65" charset="-120"/>
              </a:rPr>
              <a:t>2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是連通的</a:t>
            </a:r>
            <a:endParaRPr lang="en-US" altLang="zh-TW" sz="2000" b="1" dirty="0">
              <a:latin typeface="+mj-lt"/>
              <a:ea typeface="標楷體" panose="03000509000000000000" pitchFamily="65" charset="-120"/>
            </a:endParaRPr>
          </a:p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圖形中任兩點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i="1" baseline="-25000" dirty="0">
                <a:latin typeface="+mj-lt"/>
                <a:ea typeface="標楷體" panose="03000509000000000000" pitchFamily="65" charset="-120"/>
              </a:rPr>
              <a:t>i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, </a:t>
            </a:r>
            <a:r>
              <a:rPr lang="en-US" altLang="zh-TW" sz="2000" b="1" i="1" dirty="0" err="1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i="1" baseline="-25000" dirty="0" err="1">
                <a:latin typeface="+mj-lt"/>
                <a:ea typeface="標楷體" panose="03000509000000000000" pitchFamily="65" charset="-120"/>
              </a:rPr>
              <a:t>j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都有一條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path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，稱圖為連通圖</a:t>
            </a:r>
            <a:endParaRPr lang="zh-TW" altLang="en-US" sz="2000" b="1" baseline="-25000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3851952" y="148478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38" name="橢圓 37"/>
          <p:cNvSpPr/>
          <p:nvPr/>
        </p:nvSpPr>
        <p:spPr>
          <a:xfrm>
            <a:off x="3851952" y="208123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39" name="橢圓 38"/>
          <p:cNvSpPr/>
          <p:nvPr/>
        </p:nvSpPr>
        <p:spPr>
          <a:xfrm>
            <a:off x="3851952" y="267768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40" name="直線單箭頭接點 39"/>
          <p:cNvCxnSpPr>
            <a:stCxn id="37" idx="4"/>
            <a:endCxn id="38" idx="0"/>
          </p:cNvCxnSpPr>
          <p:nvPr/>
        </p:nvCxnSpPr>
        <p:spPr>
          <a:xfrm>
            <a:off x="3995952" y="1772784"/>
            <a:ext cx="0" cy="308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弧形接點 40"/>
          <p:cNvCxnSpPr>
            <a:stCxn id="38" idx="2"/>
            <a:endCxn id="39" idx="2"/>
          </p:cNvCxnSpPr>
          <p:nvPr/>
        </p:nvCxnSpPr>
        <p:spPr>
          <a:xfrm rot="10800000" flipV="1">
            <a:off x="3851952" y="2225234"/>
            <a:ext cx="12700" cy="59645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弧形接點 41"/>
          <p:cNvCxnSpPr>
            <a:stCxn id="39" idx="6"/>
            <a:endCxn id="38" idx="6"/>
          </p:cNvCxnSpPr>
          <p:nvPr/>
        </p:nvCxnSpPr>
        <p:spPr>
          <a:xfrm flipV="1">
            <a:off x="4139952" y="2225234"/>
            <a:ext cx="12700" cy="59645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3803532" y="2984689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3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44" name="橢圓 43"/>
          <p:cNvSpPr/>
          <p:nvPr/>
        </p:nvSpPr>
        <p:spPr>
          <a:xfrm>
            <a:off x="5880715" y="148478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45" name="橢圓 44"/>
          <p:cNvSpPr/>
          <p:nvPr/>
        </p:nvSpPr>
        <p:spPr>
          <a:xfrm>
            <a:off x="5880715" y="267768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46" name="橢圓 45"/>
          <p:cNvSpPr/>
          <p:nvPr/>
        </p:nvSpPr>
        <p:spPr>
          <a:xfrm>
            <a:off x="5340878" y="208123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47" name="橢圓 46"/>
          <p:cNvSpPr/>
          <p:nvPr/>
        </p:nvSpPr>
        <p:spPr>
          <a:xfrm>
            <a:off x="6420552" y="208123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49" name="直線接點 48"/>
          <p:cNvCxnSpPr>
            <a:stCxn id="44" idx="5"/>
            <a:endCxn id="47" idx="0"/>
          </p:cNvCxnSpPr>
          <p:nvPr/>
        </p:nvCxnSpPr>
        <p:spPr>
          <a:xfrm>
            <a:off x="6126538" y="1730607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44" idx="3"/>
          </p:cNvCxnSpPr>
          <p:nvPr/>
        </p:nvCxnSpPr>
        <p:spPr>
          <a:xfrm flipH="1">
            <a:off x="5484894" y="1730607"/>
            <a:ext cx="437998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6" idx="4"/>
            <a:endCxn id="45" idx="1"/>
          </p:cNvCxnSpPr>
          <p:nvPr/>
        </p:nvCxnSpPr>
        <p:spPr>
          <a:xfrm>
            <a:off x="5484878" y="2369234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stCxn id="47" idx="4"/>
            <a:endCxn id="45" idx="7"/>
          </p:cNvCxnSpPr>
          <p:nvPr/>
        </p:nvCxnSpPr>
        <p:spPr>
          <a:xfrm flipH="1">
            <a:off x="6126538" y="2369234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6564698" y="2948201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5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59" name="橢圓 58"/>
          <p:cNvSpPr/>
          <p:nvPr/>
        </p:nvSpPr>
        <p:spPr>
          <a:xfrm>
            <a:off x="7417832" y="148478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5</a:t>
            </a:r>
            <a:endParaRPr lang="zh-TW" altLang="en-US" b="1" dirty="0"/>
          </a:p>
        </p:txBody>
      </p:sp>
      <p:sp>
        <p:nvSpPr>
          <p:cNvPr id="62" name="橢圓 61"/>
          <p:cNvSpPr/>
          <p:nvPr/>
        </p:nvSpPr>
        <p:spPr>
          <a:xfrm>
            <a:off x="7417832" y="267768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8</a:t>
            </a:r>
            <a:endParaRPr lang="zh-TW" altLang="en-US" b="1" dirty="0"/>
          </a:p>
        </p:txBody>
      </p:sp>
      <p:sp>
        <p:nvSpPr>
          <p:cNvPr id="63" name="橢圓 62"/>
          <p:cNvSpPr/>
          <p:nvPr/>
        </p:nvSpPr>
        <p:spPr>
          <a:xfrm>
            <a:off x="6877995" y="208123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6</a:t>
            </a:r>
            <a:endParaRPr lang="zh-TW" altLang="en-US" b="1" dirty="0"/>
          </a:p>
        </p:txBody>
      </p:sp>
      <p:sp>
        <p:nvSpPr>
          <p:cNvPr id="65" name="橢圓 64"/>
          <p:cNvSpPr/>
          <p:nvPr/>
        </p:nvSpPr>
        <p:spPr>
          <a:xfrm>
            <a:off x="7957669" y="2081234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7</a:t>
            </a:r>
            <a:endParaRPr lang="zh-TW" altLang="en-US" b="1" dirty="0"/>
          </a:p>
        </p:txBody>
      </p:sp>
      <p:cxnSp>
        <p:nvCxnSpPr>
          <p:cNvPr id="74" name="直線接點 73"/>
          <p:cNvCxnSpPr>
            <a:stCxn id="59" idx="3"/>
          </p:cNvCxnSpPr>
          <p:nvPr/>
        </p:nvCxnSpPr>
        <p:spPr>
          <a:xfrm flipH="1">
            <a:off x="7022011" y="1730607"/>
            <a:ext cx="437998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>
            <a:stCxn id="65" idx="4"/>
            <a:endCxn id="62" idx="7"/>
          </p:cNvCxnSpPr>
          <p:nvPr/>
        </p:nvCxnSpPr>
        <p:spPr>
          <a:xfrm flipH="1">
            <a:off x="7663655" y="2369234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>
            <a:stCxn id="65" idx="2"/>
            <a:endCxn id="63" idx="6"/>
          </p:cNvCxnSpPr>
          <p:nvPr/>
        </p:nvCxnSpPr>
        <p:spPr>
          <a:xfrm flipH="1">
            <a:off x="7165995" y="2225234"/>
            <a:ext cx="7916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字方塊 81"/>
          <p:cNvSpPr txBox="1"/>
          <p:nvPr/>
        </p:nvSpPr>
        <p:spPr>
          <a:xfrm>
            <a:off x="323527" y="4369226"/>
            <a:ext cx="62937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連通單元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(connected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component): </a:t>
            </a:r>
          </a:p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圖形中最大的連通子圖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(maximum connected subgraph)</a:t>
            </a:r>
            <a:endParaRPr lang="zh-TW" altLang="en-US" sz="2000" b="1" baseline="-25000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323527" y="5142462"/>
            <a:ext cx="66704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緊密連通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/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強連通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(strongly connected): </a:t>
            </a:r>
          </a:p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在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有向圖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中任兩點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i="1" baseline="-25000" dirty="0">
                <a:latin typeface="+mj-lt"/>
                <a:ea typeface="標楷體" panose="03000509000000000000" pitchFamily="65" charset="-120"/>
              </a:rPr>
              <a:t>i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, </a:t>
            </a:r>
            <a:r>
              <a:rPr lang="en-US" altLang="zh-TW" sz="2000" b="1" i="1" dirty="0" err="1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i="1" baseline="-25000" dirty="0" err="1">
                <a:latin typeface="+mj-lt"/>
                <a:ea typeface="標楷體" panose="03000509000000000000" pitchFamily="65" charset="-120"/>
              </a:rPr>
              <a:t>j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都有一條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i="1" baseline="-25000" dirty="0">
                <a:latin typeface="+mj-lt"/>
                <a:ea typeface="標楷體" panose="03000509000000000000" pitchFamily="65" charset="-120"/>
              </a:rPr>
              <a:t>i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至</a:t>
            </a:r>
            <a:r>
              <a:rPr lang="en-US" altLang="zh-TW" sz="2000" b="1" i="1" dirty="0" err="1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i="1" baseline="-25000" dirty="0" err="1">
                <a:latin typeface="+mj-lt"/>
                <a:ea typeface="標楷體" panose="03000509000000000000" pitchFamily="65" charset="-120"/>
              </a:rPr>
              <a:t>j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路徑，也有</a:t>
            </a:r>
            <a:r>
              <a:rPr lang="en-US" altLang="zh-TW" sz="2000" b="1" i="1" dirty="0" err="1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i="1" baseline="-25000" dirty="0" err="1">
                <a:latin typeface="+mj-lt"/>
                <a:ea typeface="標楷體" panose="03000509000000000000" pitchFamily="65" charset="-120"/>
              </a:rPr>
              <a:t>j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至</a:t>
            </a:r>
            <a:r>
              <a:rPr lang="en-US" altLang="zh-TW" sz="2000" b="1" i="1" dirty="0">
                <a:latin typeface="+mj-lt"/>
                <a:ea typeface="標楷體" panose="03000509000000000000" pitchFamily="65" charset="-120"/>
              </a:rPr>
              <a:t>v</a:t>
            </a:r>
            <a:r>
              <a:rPr lang="en-US" altLang="zh-TW" sz="2000" b="1" i="1" baseline="-25000" dirty="0">
                <a:latin typeface="+mj-lt"/>
                <a:ea typeface="標楷體" panose="03000509000000000000" pitchFamily="65" charset="-120"/>
              </a:rPr>
              <a:t>i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路徑</a:t>
            </a:r>
            <a:endParaRPr lang="zh-TW" altLang="en-US" sz="2000" b="1" baseline="-25000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323527" y="5914558"/>
            <a:ext cx="66704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緊密連通單元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/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強連通單元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(strongly connected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component): </a:t>
            </a:r>
          </a:p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在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有向圖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中最大強連通子圖</a:t>
            </a:r>
            <a:endParaRPr lang="zh-TW" altLang="en-US" sz="2000" b="1" baseline="-25000" dirty="0"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8789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圖形的專有名詞 </a:t>
            </a:r>
            <a:r>
              <a:rPr lang="en-US" altLang="zh-TW" dirty="0"/>
              <a:t>(6/6)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9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159509" y="160844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8" name="橢圓 7"/>
          <p:cNvSpPr/>
          <p:nvPr/>
        </p:nvSpPr>
        <p:spPr>
          <a:xfrm>
            <a:off x="2159509" y="280134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9" name="橢圓 8"/>
          <p:cNvSpPr/>
          <p:nvPr/>
        </p:nvSpPr>
        <p:spPr>
          <a:xfrm>
            <a:off x="1619672" y="220489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10" name="橢圓 9"/>
          <p:cNvSpPr/>
          <p:nvPr/>
        </p:nvSpPr>
        <p:spPr>
          <a:xfrm>
            <a:off x="2699346" y="220489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11" name="直線接點 10"/>
          <p:cNvCxnSpPr>
            <a:stCxn id="7" idx="4"/>
            <a:endCxn id="8" idx="0"/>
          </p:cNvCxnSpPr>
          <p:nvPr/>
        </p:nvCxnSpPr>
        <p:spPr>
          <a:xfrm>
            <a:off x="2303509" y="1896446"/>
            <a:ext cx="0" cy="9049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>
            <a:stCxn id="7" idx="5"/>
            <a:endCxn id="10" idx="0"/>
          </p:cNvCxnSpPr>
          <p:nvPr/>
        </p:nvCxnSpPr>
        <p:spPr>
          <a:xfrm>
            <a:off x="2405332" y="1854269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7" idx="3"/>
          </p:cNvCxnSpPr>
          <p:nvPr/>
        </p:nvCxnSpPr>
        <p:spPr>
          <a:xfrm flipH="1">
            <a:off x="1763688" y="1854269"/>
            <a:ext cx="437998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9" idx="4"/>
            <a:endCxn id="8" idx="1"/>
          </p:cNvCxnSpPr>
          <p:nvPr/>
        </p:nvCxnSpPr>
        <p:spPr>
          <a:xfrm>
            <a:off x="1763672" y="2492896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10" idx="4"/>
            <a:endCxn id="8" idx="7"/>
          </p:cNvCxnSpPr>
          <p:nvPr/>
        </p:nvCxnSpPr>
        <p:spPr>
          <a:xfrm flipH="1">
            <a:off x="2405332" y="2492896"/>
            <a:ext cx="438014" cy="350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10" idx="2"/>
            <a:endCxn id="9" idx="6"/>
          </p:cNvCxnSpPr>
          <p:nvPr/>
        </p:nvCxnSpPr>
        <p:spPr>
          <a:xfrm flipH="1">
            <a:off x="1907672" y="2348896"/>
            <a:ext cx="7916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2090305" y="3071863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1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6564636" y="160844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</a:t>
            </a:r>
            <a:endParaRPr lang="zh-TW" altLang="en-US" b="1" dirty="0"/>
          </a:p>
        </p:txBody>
      </p:sp>
      <p:sp>
        <p:nvSpPr>
          <p:cNvPr id="19" name="橢圓 18"/>
          <p:cNvSpPr/>
          <p:nvPr/>
        </p:nvSpPr>
        <p:spPr>
          <a:xfrm>
            <a:off x="6564636" y="220489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2</a:t>
            </a:r>
            <a:endParaRPr lang="zh-TW" altLang="en-US" b="1" dirty="0"/>
          </a:p>
        </p:txBody>
      </p:sp>
      <p:sp>
        <p:nvSpPr>
          <p:cNvPr id="20" name="橢圓 19"/>
          <p:cNvSpPr/>
          <p:nvPr/>
        </p:nvSpPr>
        <p:spPr>
          <a:xfrm>
            <a:off x="6564636" y="2801346"/>
            <a:ext cx="288000" cy="288000"/>
          </a:xfrm>
          <a:prstGeom prst="ellipse">
            <a:avLst/>
          </a:prstGeom>
          <a:solidFill>
            <a:srgbClr val="2FA3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3</a:t>
            </a:r>
            <a:endParaRPr lang="zh-TW" altLang="en-US" b="1" dirty="0"/>
          </a:p>
        </p:txBody>
      </p:sp>
      <p:cxnSp>
        <p:nvCxnSpPr>
          <p:cNvPr id="21" name="直線單箭頭接點 20"/>
          <p:cNvCxnSpPr>
            <a:stCxn id="18" idx="4"/>
            <a:endCxn id="19" idx="0"/>
          </p:cNvCxnSpPr>
          <p:nvPr/>
        </p:nvCxnSpPr>
        <p:spPr>
          <a:xfrm>
            <a:off x="6708636" y="1896446"/>
            <a:ext cx="0" cy="308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弧形接點 21"/>
          <p:cNvCxnSpPr>
            <a:stCxn id="19" idx="2"/>
            <a:endCxn id="20" idx="2"/>
          </p:cNvCxnSpPr>
          <p:nvPr/>
        </p:nvCxnSpPr>
        <p:spPr>
          <a:xfrm rot="10800000" flipV="1">
            <a:off x="6564636" y="2348896"/>
            <a:ext cx="12700" cy="59645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弧形接點 22"/>
          <p:cNvCxnSpPr>
            <a:stCxn id="20" idx="6"/>
            <a:endCxn id="19" idx="6"/>
          </p:cNvCxnSpPr>
          <p:nvPr/>
        </p:nvCxnSpPr>
        <p:spPr>
          <a:xfrm flipV="1">
            <a:off x="6852636" y="2348896"/>
            <a:ext cx="12700" cy="596450"/>
          </a:xfrm>
          <a:prstGeom prst="curved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6516216" y="3108351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G</a:t>
            </a:r>
            <a:r>
              <a:rPr lang="en-US" altLang="zh-TW" sz="2000" b="1" baseline="-25000" dirty="0">
                <a:latin typeface="+mj-lt"/>
              </a:rPr>
              <a:t>3</a:t>
            </a:r>
            <a:endParaRPr lang="zh-TW" altLang="en-US" sz="2000" b="1" baseline="-25000" dirty="0">
              <a:latin typeface="+mj-lt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58081" y="3597733"/>
            <a:ext cx="3790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分支度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(degree):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附著在點的邊數</a:t>
            </a:r>
            <a:endParaRPr lang="zh-TW" altLang="en-US" sz="2000" b="1" baseline="-25000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686148" y="3597105"/>
            <a:ext cx="44582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內分支度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/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入分支度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(in-degree):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</a:t>
            </a:r>
            <a:endParaRPr lang="en-US" altLang="zh-TW" sz="2000" b="1" dirty="0">
              <a:latin typeface="+mj-lt"/>
              <a:ea typeface="標楷體" panose="03000509000000000000" pitchFamily="65" charset="-120"/>
            </a:endParaRPr>
          </a:p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以點為終點的邊數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箭頭指向點的邊數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)</a:t>
            </a:r>
            <a:endParaRPr lang="zh-TW" altLang="en-US" sz="2000" b="1" baseline="-25000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148" y="4425426"/>
            <a:ext cx="37884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外分支度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/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出分支度</a:t>
            </a:r>
            <a:r>
              <a:rPr lang="en-US" altLang="zh-TW" sz="2000" b="1" dirty="0">
                <a:latin typeface="+mj-lt"/>
                <a:ea typeface="標楷體" panose="03000509000000000000" pitchFamily="65" charset="-120"/>
              </a:rPr>
              <a:t>(out-degree):</a:t>
            </a:r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 </a:t>
            </a:r>
            <a:endParaRPr lang="en-US" altLang="zh-TW" sz="2000" b="1" dirty="0">
              <a:latin typeface="+mj-lt"/>
              <a:ea typeface="標楷體" panose="03000509000000000000" pitchFamily="65" charset="-120"/>
            </a:endParaRPr>
          </a:p>
          <a:p>
            <a:r>
              <a:rPr lang="zh-TW" altLang="en-US" sz="2000" b="1" dirty="0">
                <a:latin typeface="+mj-lt"/>
                <a:ea typeface="標楷體" panose="03000509000000000000" pitchFamily="65" charset="-120"/>
              </a:rPr>
              <a:t>以點為起點的邊數</a:t>
            </a:r>
            <a:endParaRPr lang="zh-TW" altLang="en-US" sz="2000" b="1" baseline="-25000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028700" y="399383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+mj-lt"/>
              </a:rPr>
              <a:t>d</a:t>
            </a:r>
            <a:endParaRPr lang="zh-TW" altLang="en-US" b="1" i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8269212" y="4454438"/>
            <a:ext cx="4106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+mj-lt"/>
              </a:rPr>
              <a:t>d</a:t>
            </a:r>
            <a:r>
              <a:rPr lang="en-US" altLang="zh-TW" sz="2000" b="1" i="1" baseline="30000" dirty="0">
                <a:solidFill>
                  <a:srgbClr val="0000FF"/>
                </a:solidFill>
                <a:latin typeface="+mj-lt"/>
              </a:rPr>
              <a:t>+</a:t>
            </a:r>
            <a:endParaRPr lang="zh-TW" altLang="en-US" b="1" i="1" baseline="30000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8133211" y="3593722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+mj-lt"/>
              </a:rPr>
              <a:t>d</a:t>
            </a:r>
            <a:r>
              <a:rPr lang="en-US" altLang="zh-TW" sz="2000" b="1" i="1" baseline="30000" dirty="0">
                <a:solidFill>
                  <a:srgbClr val="0000FF"/>
                </a:solidFill>
                <a:latin typeface="+mj-lt"/>
              </a:rPr>
              <a:t>–</a:t>
            </a:r>
            <a:endParaRPr lang="zh-TW" altLang="en-US" b="1" i="1" baseline="30000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028700" y="4401000"/>
            <a:ext cx="1083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d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1</a:t>
            </a:r>
            <a:r>
              <a:rPr lang="en-US" altLang="zh-TW" sz="2000" b="1" dirty="0">
                <a:latin typeface="+mj-lt"/>
              </a:rPr>
              <a:t>) = 3</a:t>
            </a:r>
            <a:endParaRPr lang="zh-TW" altLang="en-US" b="1" dirty="0">
              <a:latin typeface="+mj-lt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029621" y="4836311"/>
            <a:ext cx="1083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d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2</a:t>
            </a:r>
            <a:r>
              <a:rPr lang="en-US" altLang="zh-TW" sz="2000" b="1" dirty="0">
                <a:latin typeface="+mj-lt"/>
              </a:rPr>
              <a:t>) = 3</a:t>
            </a:r>
            <a:endParaRPr lang="zh-TW" altLang="en-US" b="1" dirty="0">
              <a:latin typeface="+mj-lt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1028699" y="5232410"/>
            <a:ext cx="1083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d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3</a:t>
            </a:r>
            <a:r>
              <a:rPr lang="en-US" altLang="zh-TW" sz="2000" b="1" dirty="0">
                <a:latin typeface="+mj-lt"/>
              </a:rPr>
              <a:t>) = 3</a:t>
            </a:r>
            <a:endParaRPr lang="zh-TW" altLang="en-US" b="1" dirty="0">
              <a:latin typeface="+mj-lt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1028699" y="5628509"/>
            <a:ext cx="1083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d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4</a:t>
            </a:r>
            <a:r>
              <a:rPr lang="en-US" altLang="zh-TW" sz="2000" b="1" dirty="0">
                <a:latin typeface="+mj-lt"/>
              </a:rPr>
              <a:t>) = 3</a:t>
            </a:r>
            <a:endParaRPr lang="zh-TW" altLang="en-US" b="1" dirty="0">
              <a:latin typeface="+mj-lt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436097" y="5226645"/>
            <a:ext cx="1181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d</a:t>
            </a:r>
            <a:r>
              <a:rPr lang="en-US" altLang="zh-TW" sz="2000" b="1" i="1" baseline="30000" dirty="0">
                <a:latin typeface="+mj-lt"/>
              </a:rPr>
              <a:t>+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1</a:t>
            </a:r>
            <a:r>
              <a:rPr lang="en-US" altLang="zh-TW" sz="2000" b="1" dirty="0">
                <a:latin typeface="+mj-lt"/>
              </a:rPr>
              <a:t>) = 1</a:t>
            </a:r>
            <a:endParaRPr lang="zh-TW" altLang="en-US" b="1" dirty="0">
              <a:latin typeface="+mj-lt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437018" y="5661956"/>
            <a:ext cx="1181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d</a:t>
            </a:r>
            <a:r>
              <a:rPr lang="en-US" altLang="zh-TW" sz="2000" b="1" i="1" baseline="30000" dirty="0">
                <a:latin typeface="+mj-lt"/>
              </a:rPr>
              <a:t>+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2</a:t>
            </a:r>
            <a:r>
              <a:rPr lang="en-US" altLang="zh-TW" sz="2000" b="1" dirty="0">
                <a:latin typeface="+mj-lt"/>
              </a:rPr>
              <a:t>) = 1</a:t>
            </a:r>
            <a:endParaRPr lang="zh-TW" altLang="en-US" b="1" dirty="0">
              <a:latin typeface="+mj-lt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5436096" y="6058055"/>
            <a:ext cx="1181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d</a:t>
            </a:r>
            <a:r>
              <a:rPr lang="en-US" altLang="zh-TW" sz="2000" b="1" i="1" baseline="30000" dirty="0">
                <a:latin typeface="+mj-lt"/>
              </a:rPr>
              <a:t>+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3</a:t>
            </a:r>
            <a:r>
              <a:rPr lang="en-US" altLang="zh-TW" sz="2000" b="1" dirty="0">
                <a:latin typeface="+mj-lt"/>
              </a:rPr>
              <a:t>) = 1</a:t>
            </a:r>
            <a:endParaRPr lang="zh-TW" altLang="en-US" b="1" dirty="0">
              <a:latin typeface="+mj-lt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7018311" y="5226645"/>
            <a:ext cx="12121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d</a:t>
            </a:r>
            <a:r>
              <a:rPr lang="en-US" altLang="zh-TW" sz="2000" b="1" i="1" baseline="30000" dirty="0">
                <a:latin typeface="+mj-lt"/>
              </a:rPr>
              <a:t>–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1</a:t>
            </a:r>
            <a:r>
              <a:rPr lang="en-US" altLang="zh-TW" sz="2000" b="1" dirty="0">
                <a:latin typeface="+mj-lt"/>
              </a:rPr>
              <a:t>) = 0</a:t>
            </a:r>
            <a:endParaRPr lang="zh-TW" altLang="en-US" b="1" dirty="0">
              <a:latin typeface="+mj-lt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19232" y="5661956"/>
            <a:ext cx="12121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d</a:t>
            </a:r>
            <a:r>
              <a:rPr lang="en-US" altLang="zh-TW" sz="2000" b="1" i="1" baseline="30000" dirty="0">
                <a:latin typeface="+mj-lt"/>
              </a:rPr>
              <a:t>–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2</a:t>
            </a:r>
            <a:r>
              <a:rPr lang="en-US" altLang="zh-TW" sz="2000" b="1" dirty="0">
                <a:latin typeface="+mj-lt"/>
              </a:rPr>
              <a:t>) = 2</a:t>
            </a:r>
            <a:endParaRPr lang="zh-TW" altLang="en-US" b="1" dirty="0">
              <a:latin typeface="+mj-lt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7018310" y="6058055"/>
            <a:ext cx="12121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d</a:t>
            </a:r>
            <a:r>
              <a:rPr lang="en-US" altLang="zh-TW" sz="2000" b="1" i="1" baseline="30000" dirty="0">
                <a:latin typeface="+mj-lt"/>
              </a:rPr>
              <a:t>–</a:t>
            </a:r>
            <a:r>
              <a:rPr lang="en-US" altLang="zh-TW" sz="2000" b="1" dirty="0">
                <a:latin typeface="+mj-lt"/>
              </a:rPr>
              <a:t>(</a:t>
            </a:r>
            <a:r>
              <a:rPr lang="en-US" altLang="zh-TW" sz="2000" b="1" i="1" dirty="0">
                <a:latin typeface="+mj-lt"/>
              </a:rPr>
              <a:t>v</a:t>
            </a:r>
            <a:r>
              <a:rPr lang="en-US" altLang="zh-TW" sz="2000" b="1" baseline="-25000" dirty="0">
                <a:latin typeface="+mj-lt"/>
              </a:rPr>
              <a:t>3</a:t>
            </a:r>
            <a:r>
              <a:rPr lang="en-US" altLang="zh-TW" sz="2000" b="1" dirty="0">
                <a:latin typeface="+mj-lt"/>
              </a:rPr>
              <a:t>) = 1</a:t>
            </a:r>
            <a:endParaRPr lang="zh-TW" altLang="en-U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40550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800" dirty="0"/>
              <a:t>相鄰矩陣</a:t>
            </a:r>
            <a:r>
              <a:rPr lang="en-US" altLang="zh-TW" sz="3800" dirty="0"/>
              <a:t> adjacency matrix</a:t>
            </a:r>
            <a:r>
              <a:rPr lang="zh-TW" altLang="en-US" sz="3800" dirty="0"/>
              <a:t> </a:t>
            </a:r>
            <a:r>
              <a:rPr lang="en-US" altLang="zh-TW" sz="3800" dirty="0"/>
              <a:t>(1/4)</a:t>
            </a:r>
            <a:endParaRPr lang="zh-TW" altLang="en-US" sz="38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i="1" dirty="0"/>
              <a:t>n</a:t>
            </a:r>
            <a:r>
              <a:rPr lang="zh-TW" altLang="en-US" dirty="0"/>
              <a:t>個點的圖形，矩陣大小為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en-US" altLang="zh-TW" dirty="0">
                <a:sym typeface="Symbol"/>
              </a:rPr>
              <a:t> </a:t>
            </a:r>
            <a:r>
              <a:rPr lang="en-US" altLang="zh-TW" i="1" dirty="0">
                <a:sym typeface="Symbol"/>
              </a:rPr>
              <a:t>n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1949848" y="21980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6"/>
            <a:endCxn id="9" idx="2"/>
          </p:cNvCxnSpPr>
          <p:nvPr/>
        </p:nvCxnSpPr>
        <p:spPr>
          <a:xfrm>
            <a:off x="2129848" y="2288000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/>
          <p:cNvSpPr/>
          <p:nvPr/>
        </p:nvSpPr>
        <p:spPr>
          <a:xfrm>
            <a:off x="3258188" y="21980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1949848" y="329930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258188" y="329930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9" idx="4"/>
            <a:endCxn id="11" idx="0"/>
          </p:cNvCxnSpPr>
          <p:nvPr/>
        </p:nvCxnSpPr>
        <p:spPr>
          <a:xfrm>
            <a:off x="3348188" y="2378000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7" idx="4"/>
            <a:endCxn id="10" idx="0"/>
          </p:cNvCxnSpPr>
          <p:nvPr/>
        </p:nvCxnSpPr>
        <p:spPr>
          <a:xfrm>
            <a:off x="2039848" y="2378000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11" idx="2"/>
            <a:endCxn id="10" idx="6"/>
          </p:cNvCxnSpPr>
          <p:nvPr/>
        </p:nvCxnSpPr>
        <p:spPr>
          <a:xfrm flipH="1">
            <a:off x="2129848" y="3389306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11" idx="1"/>
            <a:endCxn id="7" idx="5"/>
          </p:cNvCxnSpPr>
          <p:nvPr/>
        </p:nvCxnSpPr>
        <p:spPr>
          <a:xfrm flipH="1" flipV="1">
            <a:off x="2103488" y="2351640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1678986" y="20484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680072" y="315474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387004" y="3163373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378950" y="206206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5634421" y="21980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20" idx="6"/>
            <a:endCxn id="22" idx="2"/>
          </p:cNvCxnSpPr>
          <p:nvPr/>
        </p:nvCxnSpPr>
        <p:spPr>
          <a:xfrm>
            <a:off x="5814421" y="2288000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/>
          <p:cNvSpPr/>
          <p:nvPr/>
        </p:nvSpPr>
        <p:spPr>
          <a:xfrm>
            <a:off x="6942761" y="21980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5634421" y="329930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6942761" y="329930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>
            <a:stCxn id="22" idx="4"/>
            <a:endCxn id="24" idx="0"/>
          </p:cNvCxnSpPr>
          <p:nvPr/>
        </p:nvCxnSpPr>
        <p:spPr>
          <a:xfrm>
            <a:off x="7032761" y="2378000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20" idx="4"/>
            <a:endCxn id="23" idx="0"/>
          </p:cNvCxnSpPr>
          <p:nvPr/>
        </p:nvCxnSpPr>
        <p:spPr>
          <a:xfrm>
            <a:off x="5724421" y="2378000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4" idx="2"/>
            <a:endCxn id="23" idx="6"/>
          </p:cNvCxnSpPr>
          <p:nvPr/>
        </p:nvCxnSpPr>
        <p:spPr>
          <a:xfrm flipH="1">
            <a:off x="5814421" y="3389306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24" idx="1"/>
            <a:endCxn id="20" idx="5"/>
          </p:cNvCxnSpPr>
          <p:nvPr/>
        </p:nvCxnSpPr>
        <p:spPr>
          <a:xfrm flipH="1" flipV="1">
            <a:off x="5788061" y="2351640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5363559" y="20484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364645" y="315474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071577" y="3163373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063523" y="206206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1707508" y="4243717"/>
          <a:ext cx="1984348" cy="1584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6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1797852" y="383126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295127" y="383282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2786587" y="3832823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283862" y="383438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1383090" y="423449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1383090" y="463615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1383090" y="5036267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1383090" y="543104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1799208" y="424467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295127" y="424467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2779521" y="424467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3275440" y="424467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1799208" y="46447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2295127" y="46447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2779521" y="46447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3275440" y="46447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1799208" y="504489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295127" y="504489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2779521" y="504489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3275440" y="504489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1799208" y="54450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2295127" y="54450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2779521" y="54450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275440" y="54450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5456950" y="4240849"/>
          <a:ext cx="1984348" cy="1584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6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" name="文字方塊 59"/>
          <p:cNvSpPr txBox="1"/>
          <p:nvPr/>
        </p:nvSpPr>
        <p:spPr>
          <a:xfrm>
            <a:off x="5547294" y="382839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6044569" y="382995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6536029" y="3829955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7033304" y="38315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5132532" y="42316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132532" y="46332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5132532" y="5033399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5132532" y="542817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5548650" y="424180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6044569" y="424180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6528963" y="424180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7024882" y="424180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5548650" y="464191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6044569" y="464191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6528963" y="464191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7024882" y="464191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5548650" y="50420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6044569" y="50420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6528963" y="50420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7024882" y="50420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5548650" y="54421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6044569" y="54421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6528963" y="54421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7024882" y="54421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81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800" dirty="0"/>
              <a:t>相鄰矩陣</a:t>
            </a:r>
            <a:r>
              <a:rPr lang="en-US" altLang="zh-TW" sz="3800" dirty="0"/>
              <a:t> adjacency matrix (2/4)</a:t>
            </a:r>
            <a:endParaRPr lang="zh-TW" altLang="en-US" sz="38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值只有</a:t>
            </a:r>
            <a:r>
              <a:rPr lang="en-US" altLang="zh-TW" dirty="0">
                <a:solidFill>
                  <a:srgbClr val="C00000"/>
                </a:solidFill>
              </a:rPr>
              <a:t>0</a:t>
            </a:r>
            <a:r>
              <a:rPr lang="zh-TW" altLang="en-US" dirty="0"/>
              <a:t>和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</a:p>
          <a:p>
            <a:r>
              <a:rPr lang="zh-TW" altLang="en-US" dirty="0"/>
              <a:t>主對角線都是</a:t>
            </a:r>
            <a:r>
              <a:rPr lang="en-US" altLang="zh-TW" dirty="0">
                <a:solidFill>
                  <a:srgbClr val="C00000"/>
                </a:solidFill>
              </a:rPr>
              <a:t>0</a:t>
            </a:r>
          </a:p>
          <a:p>
            <a:r>
              <a:rPr lang="en-US" altLang="zh-TW" dirty="0"/>
              <a:t>M[</a:t>
            </a:r>
            <a:r>
              <a:rPr lang="en-US" altLang="zh-TW" i="1" dirty="0"/>
              <a:t>a</a:t>
            </a:r>
            <a:r>
              <a:rPr lang="en-US" altLang="zh-TW" dirty="0"/>
              <a:t>][</a:t>
            </a:r>
            <a:r>
              <a:rPr lang="en-US" altLang="zh-TW" i="1" dirty="0"/>
              <a:t>b</a:t>
            </a:r>
            <a:r>
              <a:rPr lang="en-US" altLang="zh-TW" dirty="0"/>
              <a:t>]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r>
              <a:rPr lang="zh-TW" altLang="en-US" dirty="0"/>
              <a:t>：</a:t>
            </a:r>
            <a:r>
              <a:rPr lang="en-US" altLang="zh-TW" i="1" dirty="0"/>
              <a:t>a</a:t>
            </a:r>
            <a:r>
              <a:rPr lang="zh-TW" altLang="en-US" dirty="0"/>
              <a:t>和</a:t>
            </a:r>
            <a:r>
              <a:rPr lang="en-US" altLang="zh-TW" i="1" dirty="0"/>
              <a:t>b</a:t>
            </a:r>
            <a:r>
              <a:rPr lang="zh-TW" altLang="en-US" dirty="0">
                <a:solidFill>
                  <a:srgbClr val="C00000"/>
                </a:solidFill>
              </a:rPr>
              <a:t>相鄰</a:t>
            </a:r>
            <a:endParaRPr lang="en-US" altLang="zh-TW" dirty="0">
              <a:solidFill>
                <a:srgbClr val="C00000"/>
              </a:solidFill>
            </a:endParaRPr>
          </a:p>
          <a:p>
            <a:r>
              <a:rPr lang="en-US" altLang="zh-TW" dirty="0"/>
              <a:t>M[</a:t>
            </a:r>
            <a:r>
              <a:rPr lang="en-US" altLang="zh-TW" i="1" dirty="0"/>
              <a:t>b</a:t>
            </a:r>
            <a:r>
              <a:rPr lang="en-US" altLang="zh-TW" dirty="0"/>
              <a:t>][</a:t>
            </a:r>
            <a:r>
              <a:rPr lang="en-US" altLang="zh-TW" i="1" dirty="0"/>
              <a:t>d</a:t>
            </a:r>
            <a:r>
              <a:rPr lang="en-US" altLang="zh-TW" dirty="0"/>
              <a:t>] = </a:t>
            </a:r>
            <a:r>
              <a:rPr lang="en-US" altLang="zh-TW" dirty="0">
                <a:solidFill>
                  <a:srgbClr val="C00000"/>
                </a:solidFill>
              </a:rPr>
              <a:t>0</a:t>
            </a:r>
            <a:r>
              <a:rPr lang="zh-TW" altLang="en-US" dirty="0"/>
              <a:t>：</a:t>
            </a:r>
            <a:r>
              <a:rPr lang="en-US" altLang="zh-TW" i="1" dirty="0"/>
              <a:t>b</a:t>
            </a:r>
            <a:r>
              <a:rPr lang="zh-TW" altLang="en-US" dirty="0"/>
              <a:t>和</a:t>
            </a:r>
            <a:r>
              <a:rPr lang="en-US" altLang="zh-TW" i="1" dirty="0"/>
              <a:t>d</a:t>
            </a:r>
            <a:r>
              <a:rPr lang="zh-TW" altLang="en-US" dirty="0">
                <a:solidFill>
                  <a:srgbClr val="C00000"/>
                </a:solidFill>
              </a:rPr>
              <a:t>不相鄰</a:t>
            </a:r>
            <a:endParaRPr lang="en-US" altLang="zh-TW" dirty="0">
              <a:solidFill>
                <a:srgbClr val="C00000"/>
              </a:solidFill>
            </a:endParaRPr>
          </a:p>
          <a:p>
            <a:r>
              <a:rPr lang="zh-TW" altLang="en-US" dirty="0"/>
              <a:t>對稱矩陣</a:t>
            </a:r>
            <a:r>
              <a:rPr lang="en-US" altLang="zh-TW" dirty="0"/>
              <a:t>(symmetric matrix)</a:t>
            </a:r>
          </a:p>
          <a:p>
            <a:r>
              <a:rPr lang="zh-TW" altLang="en-US" dirty="0"/>
              <a:t>非零項共</a:t>
            </a:r>
            <a:r>
              <a:rPr lang="en-US" altLang="zh-TW" dirty="0">
                <a:solidFill>
                  <a:srgbClr val="C00000"/>
                </a:solidFill>
              </a:rPr>
              <a:t>10</a:t>
            </a:r>
            <a:r>
              <a:rPr lang="zh-TW" altLang="en-US" dirty="0"/>
              <a:t>個，為邊數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  <a:r>
              <a:rPr lang="zh-TW" altLang="en-US" dirty="0"/>
              <a:t>倍</a:t>
            </a:r>
            <a:endParaRPr lang="en-US" altLang="zh-TW" dirty="0"/>
          </a:p>
          <a:p>
            <a:r>
              <a:rPr lang="en-US" altLang="zh-TW" i="1" dirty="0"/>
              <a:t>a</a:t>
            </a:r>
            <a:r>
              <a:rPr lang="zh-TW" altLang="en-US" dirty="0"/>
              <a:t>列共有</a:t>
            </a:r>
            <a:r>
              <a:rPr lang="en-US" altLang="zh-TW" dirty="0">
                <a:solidFill>
                  <a:srgbClr val="C00000"/>
                </a:solidFill>
              </a:rPr>
              <a:t>3</a:t>
            </a:r>
            <a:r>
              <a:rPr lang="zh-TW" altLang="en-US" dirty="0"/>
              <a:t>個非零項，</a:t>
            </a:r>
            <a:r>
              <a:rPr lang="en-US" altLang="zh-TW" i="1" dirty="0"/>
              <a:t>a</a:t>
            </a:r>
            <a:r>
              <a:rPr lang="zh-TW" altLang="en-US" dirty="0"/>
              <a:t>有</a:t>
            </a:r>
            <a:r>
              <a:rPr lang="en-US" altLang="zh-TW" dirty="0">
                <a:solidFill>
                  <a:srgbClr val="C00000"/>
                </a:solidFill>
              </a:rPr>
              <a:t>3</a:t>
            </a:r>
            <a:r>
              <a:rPr lang="zh-TW" altLang="en-US" dirty="0"/>
              <a:t>個邊相連</a:t>
            </a:r>
            <a:endParaRPr lang="en-US" altLang="zh-TW" dirty="0"/>
          </a:p>
          <a:p>
            <a:pPr lvl="1"/>
            <a:r>
              <a:rPr lang="en-US" altLang="zh-TW" i="1" dirty="0"/>
              <a:t>a</a:t>
            </a:r>
            <a:r>
              <a:rPr lang="zh-TW" altLang="en-US" dirty="0"/>
              <a:t>的分支度為</a:t>
            </a:r>
            <a:r>
              <a:rPr lang="en-US" altLang="zh-TW" dirty="0">
                <a:solidFill>
                  <a:srgbClr val="C00000"/>
                </a:solidFill>
              </a:rPr>
              <a:t>3</a:t>
            </a:r>
          </a:p>
          <a:p>
            <a:r>
              <a:rPr lang="en-US" altLang="zh-TW" i="1" dirty="0"/>
              <a:t>a</a:t>
            </a:r>
            <a:r>
              <a:rPr lang="zh-TW" altLang="en-US" dirty="0"/>
              <a:t>行共有</a:t>
            </a:r>
            <a:r>
              <a:rPr lang="en-US" altLang="zh-TW" dirty="0">
                <a:solidFill>
                  <a:srgbClr val="C00000"/>
                </a:solidFill>
              </a:rPr>
              <a:t>3</a:t>
            </a:r>
            <a:r>
              <a:rPr lang="zh-TW" altLang="en-US" dirty="0"/>
              <a:t>個非零項，</a:t>
            </a:r>
            <a:r>
              <a:rPr lang="en-US" altLang="zh-TW" i="1" dirty="0"/>
              <a:t>a</a:t>
            </a:r>
            <a:r>
              <a:rPr lang="zh-TW" altLang="en-US" dirty="0"/>
              <a:t>有</a:t>
            </a:r>
            <a:r>
              <a:rPr lang="en-US" altLang="zh-TW" dirty="0">
                <a:solidFill>
                  <a:srgbClr val="C00000"/>
                </a:solidFill>
              </a:rPr>
              <a:t>3</a:t>
            </a:r>
            <a:r>
              <a:rPr lang="zh-TW" altLang="en-US" dirty="0"/>
              <a:t>個邊相連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6590882" y="1975921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6"/>
            <a:endCxn id="9" idx="2"/>
          </p:cNvCxnSpPr>
          <p:nvPr/>
        </p:nvCxnSpPr>
        <p:spPr>
          <a:xfrm>
            <a:off x="6770882" y="2065921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/>
          <p:cNvSpPr/>
          <p:nvPr/>
        </p:nvSpPr>
        <p:spPr>
          <a:xfrm>
            <a:off x="7899222" y="1975921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590882" y="3077227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7899222" y="3077227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9" idx="4"/>
            <a:endCxn id="11" idx="0"/>
          </p:cNvCxnSpPr>
          <p:nvPr/>
        </p:nvCxnSpPr>
        <p:spPr>
          <a:xfrm>
            <a:off x="7989222" y="2155921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7" idx="4"/>
            <a:endCxn id="10" idx="0"/>
          </p:cNvCxnSpPr>
          <p:nvPr/>
        </p:nvCxnSpPr>
        <p:spPr>
          <a:xfrm>
            <a:off x="6680882" y="2155921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11" idx="2"/>
            <a:endCxn id="10" idx="6"/>
          </p:cNvCxnSpPr>
          <p:nvPr/>
        </p:nvCxnSpPr>
        <p:spPr>
          <a:xfrm flipH="1">
            <a:off x="6770882" y="3167227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11" idx="1"/>
            <a:endCxn id="7" idx="5"/>
          </p:cNvCxnSpPr>
          <p:nvPr/>
        </p:nvCxnSpPr>
        <p:spPr>
          <a:xfrm flipH="1" flipV="1">
            <a:off x="6744522" y="2129561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6320020" y="182639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321106" y="293266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8028038" y="2941294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8019984" y="183998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6348542" y="4021638"/>
          <a:ext cx="1984348" cy="1584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6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6438886" y="360918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936161" y="361074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427621" y="3610744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924896" y="361230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024124" y="40124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024124" y="441407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024124" y="481418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024124" y="520896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440242" y="40225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6936161" y="40225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20555" y="40225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16474" y="40225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6440242" y="442270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6936161" y="442270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420555" y="442270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7916474" y="442270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440242" y="48228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936161" y="48228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420555" y="48228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7916474" y="48228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6440242" y="522292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6936161" y="522292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7420555" y="522292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7916474" y="522292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圓角矩形 44"/>
          <p:cNvSpPr/>
          <p:nvPr/>
        </p:nvSpPr>
        <p:spPr>
          <a:xfrm rot="2334013">
            <a:off x="6063993" y="4642242"/>
            <a:ext cx="2539518" cy="357842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橢圓 45"/>
          <p:cNvSpPr/>
          <p:nvPr/>
        </p:nvSpPr>
        <p:spPr>
          <a:xfrm>
            <a:off x="6849374" y="4022594"/>
            <a:ext cx="484377" cy="389927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橢圓 46"/>
          <p:cNvSpPr/>
          <p:nvPr/>
        </p:nvSpPr>
        <p:spPr>
          <a:xfrm>
            <a:off x="6849373" y="5204670"/>
            <a:ext cx="484377" cy="389927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圓角矩形 47"/>
          <p:cNvSpPr/>
          <p:nvPr/>
        </p:nvSpPr>
        <p:spPr>
          <a:xfrm>
            <a:off x="6337030" y="3612301"/>
            <a:ext cx="512344" cy="2145472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圓角矩形 48"/>
          <p:cNvSpPr/>
          <p:nvPr/>
        </p:nvSpPr>
        <p:spPr>
          <a:xfrm>
            <a:off x="6024124" y="4010854"/>
            <a:ext cx="2410163" cy="411850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973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9" grpId="0" animBg="1"/>
      <p:bldP spid="4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800" dirty="0"/>
              <a:t>相鄰矩陣</a:t>
            </a:r>
            <a:r>
              <a:rPr lang="en-US" altLang="zh-TW" sz="3800" dirty="0"/>
              <a:t> adjacency matrix (3/4)</a:t>
            </a:r>
            <a:endParaRPr lang="zh-TW" altLang="en-US" sz="38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值只有</a:t>
            </a:r>
            <a:r>
              <a:rPr lang="en-US" altLang="zh-TW" dirty="0">
                <a:solidFill>
                  <a:srgbClr val="C00000"/>
                </a:solidFill>
              </a:rPr>
              <a:t>0</a:t>
            </a:r>
            <a:r>
              <a:rPr lang="zh-TW" altLang="en-US" dirty="0"/>
              <a:t>和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</a:p>
          <a:p>
            <a:r>
              <a:rPr lang="zh-TW" altLang="en-US" dirty="0"/>
              <a:t>主對角線都是</a:t>
            </a:r>
            <a:r>
              <a:rPr lang="en-US" altLang="zh-TW" dirty="0">
                <a:solidFill>
                  <a:srgbClr val="C00000"/>
                </a:solidFill>
              </a:rPr>
              <a:t>0</a:t>
            </a:r>
          </a:p>
          <a:p>
            <a:r>
              <a:rPr lang="zh-TW" altLang="en-US" dirty="0"/>
              <a:t>不一定是對稱矩陣 </a:t>
            </a:r>
            <a:r>
              <a:rPr lang="en-US" altLang="zh-TW" dirty="0"/>
              <a:t>(</a:t>
            </a:r>
            <a:r>
              <a:rPr lang="zh-TW" altLang="en-US" dirty="0"/>
              <a:t>可能是嗎？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M[</a:t>
            </a:r>
            <a:r>
              <a:rPr lang="en-US" altLang="zh-TW" i="1" dirty="0"/>
              <a:t>a</a:t>
            </a:r>
            <a:r>
              <a:rPr lang="en-US" altLang="zh-TW" dirty="0"/>
              <a:t>][</a:t>
            </a:r>
            <a:r>
              <a:rPr lang="en-US" altLang="zh-TW" i="1" dirty="0"/>
              <a:t>b</a:t>
            </a:r>
            <a:r>
              <a:rPr lang="en-US" altLang="zh-TW" dirty="0"/>
              <a:t>]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r>
              <a:rPr lang="zh-TW" altLang="en-US" dirty="0"/>
              <a:t>：</a:t>
            </a:r>
            <a:r>
              <a:rPr lang="en-US" altLang="zh-TW" i="1" dirty="0"/>
              <a:t>a</a:t>
            </a:r>
            <a:r>
              <a:rPr lang="zh-TW" altLang="en-US" dirty="0"/>
              <a:t>有邊到</a:t>
            </a:r>
            <a:r>
              <a:rPr lang="en-US" altLang="zh-TW" i="1" dirty="0"/>
              <a:t>b</a:t>
            </a:r>
            <a:r>
              <a:rPr lang="zh-TW" altLang="en-US" dirty="0"/>
              <a:t>，但</a:t>
            </a:r>
            <a:r>
              <a:rPr lang="en-US" altLang="zh-TW" dirty="0">
                <a:solidFill>
                  <a:srgbClr val="0000FF"/>
                </a:solidFill>
              </a:rPr>
              <a:t>M[</a:t>
            </a:r>
            <a:r>
              <a:rPr lang="en-US" altLang="zh-TW" i="1" dirty="0">
                <a:solidFill>
                  <a:srgbClr val="0000FF"/>
                </a:solidFill>
              </a:rPr>
              <a:t>b</a:t>
            </a:r>
            <a:r>
              <a:rPr lang="en-US" altLang="zh-TW" dirty="0">
                <a:solidFill>
                  <a:srgbClr val="0000FF"/>
                </a:solidFill>
              </a:rPr>
              <a:t>][</a:t>
            </a:r>
            <a:r>
              <a:rPr lang="en-US" altLang="zh-TW" i="1" dirty="0">
                <a:solidFill>
                  <a:srgbClr val="0000FF"/>
                </a:solidFill>
              </a:rPr>
              <a:t>a</a:t>
            </a:r>
            <a:r>
              <a:rPr lang="en-US" altLang="zh-TW" dirty="0">
                <a:solidFill>
                  <a:srgbClr val="0000FF"/>
                </a:solidFill>
              </a:rPr>
              <a:t>]</a:t>
            </a:r>
            <a:r>
              <a:rPr lang="zh-TW" altLang="en-US" dirty="0">
                <a:solidFill>
                  <a:srgbClr val="0000FF"/>
                </a:solidFill>
              </a:rPr>
              <a:t>不一定為</a:t>
            </a:r>
            <a:r>
              <a:rPr lang="en-US" altLang="zh-TW" dirty="0">
                <a:solidFill>
                  <a:srgbClr val="0000FF"/>
                </a:solidFill>
              </a:rPr>
              <a:t>1</a:t>
            </a:r>
          </a:p>
          <a:p>
            <a:r>
              <a:rPr lang="zh-TW" altLang="en-US" dirty="0"/>
              <a:t>非零項共</a:t>
            </a:r>
            <a:r>
              <a:rPr lang="en-US" altLang="zh-TW" dirty="0">
                <a:solidFill>
                  <a:srgbClr val="C00000"/>
                </a:solidFill>
              </a:rPr>
              <a:t>5</a:t>
            </a:r>
            <a:r>
              <a:rPr lang="zh-TW" altLang="en-US" dirty="0"/>
              <a:t>個，恰好為邊數</a:t>
            </a:r>
            <a:endParaRPr lang="en-US" altLang="zh-TW" dirty="0"/>
          </a:p>
          <a:p>
            <a:r>
              <a:rPr lang="en-US" altLang="zh-TW" i="1" dirty="0"/>
              <a:t>a</a:t>
            </a:r>
            <a:r>
              <a:rPr lang="zh-TW" altLang="en-US" dirty="0"/>
              <a:t>列共有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  <a:r>
              <a:rPr lang="zh-TW" altLang="en-US" dirty="0"/>
              <a:t>個非零項，</a:t>
            </a:r>
            <a:r>
              <a:rPr lang="en-US" altLang="zh-TW" i="1" dirty="0"/>
              <a:t>a</a:t>
            </a:r>
            <a:r>
              <a:rPr lang="zh-TW" altLang="en-US" dirty="0"/>
              <a:t>有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  <a:r>
              <a:rPr lang="zh-TW" altLang="en-US" dirty="0"/>
              <a:t>個邊出去</a:t>
            </a:r>
            <a:endParaRPr lang="en-US" altLang="zh-TW" dirty="0"/>
          </a:p>
          <a:p>
            <a:pPr lvl="1"/>
            <a:r>
              <a:rPr lang="en-US" altLang="zh-TW" i="1" dirty="0"/>
              <a:t>a</a:t>
            </a:r>
            <a:r>
              <a:rPr lang="zh-TW" altLang="en-US" dirty="0"/>
              <a:t>的</a:t>
            </a:r>
            <a:r>
              <a:rPr lang="zh-TW" altLang="en-US" dirty="0">
                <a:solidFill>
                  <a:srgbClr val="C00000"/>
                </a:solidFill>
              </a:rPr>
              <a:t>出</a:t>
            </a:r>
            <a:r>
              <a:rPr lang="zh-TW" altLang="en-US" dirty="0"/>
              <a:t>分支度為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</a:p>
          <a:p>
            <a:r>
              <a:rPr lang="en-US" altLang="zh-TW" i="1" dirty="0"/>
              <a:t>a</a:t>
            </a:r>
            <a:r>
              <a:rPr lang="zh-TW" altLang="en-US" dirty="0"/>
              <a:t>行共有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r>
              <a:rPr lang="zh-TW" altLang="en-US" dirty="0"/>
              <a:t>個非零項，</a:t>
            </a:r>
            <a:r>
              <a:rPr lang="en-US" altLang="zh-TW" i="1" dirty="0"/>
              <a:t>a</a:t>
            </a:r>
            <a:r>
              <a:rPr lang="zh-TW" altLang="en-US" dirty="0"/>
              <a:t>有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r>
              <a:rPr lang="zh-TW" altLang="en-US" dirty="0"/>
              <a:t>個邊進來</a:t>
            </a:r>
            <a:endParaRPr lang="en-US" altLang="zh-TW" dirty="0"/>
          </a:p>
          <a:p>
            <a:pPr lvl="1"/>
            <a:r>
              <a:rPr lang="en-US" altLang="zh-TW" i="1" dirty="0"/>
              <a:t>a</a:t>
            </a:r>
            <a:r>
              <a:rPr lang="zh-TW" altLang="en-US" dirty="0"/>
              <a:t>的</a:t>
            </a:r>
            <a:r>
              <a:rPr lang="zh-TW" altLang="en-US" dirty="0">
                <a:solidFill>
                  <a:srgbClr val="C00000"/>
                </a:solidFill>
              </a:rPr>
              <a:t>入</a:t>
            </a:r>
            <a:r>
              <a:rPr lang="zh-TW" altLang="en-US" dirty="0"/>
              <a:t>分支度為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6514273" y="199097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6"/>
            <a:endCxn id="9" idx="2"/>
          </p:cNvCxnSpPr>
          <p:nvPr/>
        </p:nvCxnSpPr>
        <p:spPr>
          <a:xfrm>
            <a:off x="6694273" y="2080976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/>
          <p:cNvSpPr/>
          <p:nvPr/>
        </p:nvSpPr>
        <p:spPr>
          <a:xfrm>
            <a:off x="7822613" y="199097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514273" y="309228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7822613" y="309228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9" idx="4"/>
            <a:endCxn id="11" idx="0"/>
          </p:cNvCxnSpPr>
          <p:nvPr/>
        </p:nvCxnSpPr>
        <p:spPr>
          <a:xfrm>
            <a:off x="7912613" y="2170976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7" idx="4"/>
            <a:endCxn id="10" idx="0"/>
          </p:cNvCxnSpPr>
          <p:nvPr/>
        </p:nvCxnSpPr>
        <p:spPr>
          <a:xfrm>
            <a:off x="6604273" y="2170976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11" idx="2"/>
            <a:endCxn id="10" idx="6"/>
          </p:cNvCxnSpPr>
          <p:nvPr/>
        </p:nvCxnSpPr>
        <p:spPr>
          <a:xfrm flipH="1">
            <a:off x="6694273" y="3182282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11" idx="1"/>
            <a:endCxn id="7" idx="5"/>
          </p:cNvCxnSpPr>
          <p:nvPr/>
        </p:nvCxnSpPr>
        <p:spPr>
          <a:xfrm flipH="1" flipV="1">
            <a:off x="6667913" y="2144616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6243411" y="18414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244497" y="294772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951429" y="2956349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943375" y="185504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6336802" y="4033825"/>
          <a:ext cx="1984348" cy="1584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6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6427146" y="36213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924421" y="362293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415881" y="3622931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913156" y="362448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012384" y="402459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012384" y="442626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012384" y="4826375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012384" y="522115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428502" y="403478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6924421" y="403478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408815" y="403478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04734" y="403478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6428502" y="443489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6924421" y="443489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408815" y="443489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7904734" y="443489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428502" y="483500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924421" y="483500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408815" y="483500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7904734" y="483500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6428502" y="52351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6924421" y="52351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7408815" y="52351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7904734" y="52351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圓角矩形 44"/>
          <p:cNvSpPr/>
          <p:nvPr/>
        </p:nvSpPr>
        <p:spPr>
          <a:xfrm rot="2334013">
            <a:off x="6063993" y="4642242"/>
            <a:ext cx="2539518" cy="357842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橢圓 45"/>
          <p:cNvSpPr/>
          <p:nvPr/>
        </p:nvSpPr>
        <p:spPr>
          <a:xfrm>
            <a:off x="6840748" y="4022594"/>
            <a:ext cx="484377" cy="389927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圓角矩形 46"/>
          <p:cNvSpPr/>
          <p:nvPr/>
        </p:nvSpPr>
        <p:spPr>
          <a:xfrm>
            <a:off x="6015498" y="4010854"/>
            <a:ext cx="2410163" cy="411850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圓角矩形 47"/>
          <p:cNvSpPr/>
          <p:nvPr/>
        </p:nvSpPr>
        <p:spPr>
          <a:xfrm>
            <a:off x="6328404" y="3612301"/>
            <a:ext cx="512344" cy="2145472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橢圓 48"/>
          <p:cNvSpPr/>
          <p:nvPr/>
        </p:nvSpPr>
        <p:spPr>
          <a:xfrm>
            <a:off x="6328404" y="4434891"/>
            <a:ext cx="484377" cy="389927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703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9" grpId="0" animBg="1"/>
      <p:bldP spid="4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800" dirty="0"/>
              <a:t>相鄰矩陣</a:t>
            </a:r>
            <a:r>
              <a:rPr lang="en-US" altLang="zh-TW" sz="3800" dirty="0"/>
              <a:t> adjacency matrix (4/4)</a:t>
            </a:r>
            <a:endParaRPr lang="zh-TW" altLang="en-US" sz="38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>
                <a:solidFill>
                  <a:srgbClr val="C00000"/>
                </a:solidFill>
              </a:rPr>
              <a:t>優點</a:t>
            </a:r>
            <a:r>
              <a:rPr lang="zh-TW" altLang="en-US" dirty="0"/>
              <a:t>：藉由矩陣運算求圖形的性質</a:t>
            </a:r>
            <a:endParaRPr lang="en-US" altLang="zh-TW" dirty="0"/>
          </a:p>
          <a:p>
            <a:r>
              <a:rPr lang="zh-TW" altLang="en-US" dirty="0">
                <a:solidFill>
                  <a:srgbClr val="C00000"/>
                </a:solidFill>
              </a:rPr>
              <a:t>缺點</a:t>
            </a:r>
            <a:r>
              <a:rPr lang="zh-TW" altLang="en-US" dirty="0"/>
              <a:t>：點數多，邊數少，形成稀疏矩陣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87" name="群組 86"/>
          <p:cNvGrpSpPr/>
          <p:nvPr/>
        </p:nvGrpSpPr>
        <p:grpSpPr>
          <a:xfrm>
            <a:off x="1802057" y="2637830"/>
            <a:ext cx="451112" cy="3185657"/>
            <a:chOff x="1802057" y="2637830"/>
            <a:chExt cx="451112" cy="3185657"/>
          </a:xfrm>
        </p:grpSpPr>
        <p:sp>
          <p:nvSpPr>
            <p:cNvPr id="7" name="橢圓 6"/>
            <p:cNvSpPr/>
            <p:nvPr/>
          </p:nvSpPr>
          <p:spPr>
            <a:xfrm>
              <a:off x="2073169" y="2787356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2073169" y="4460881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2073169" y="3336598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2073169" y="3905942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" name="直線接點 11"/>
            <p:cNvCxnSpPr>
              <a:stCxn id="9" idx="0"/>
              <a:endCxn id="11" idx="4"/>
            </p:cNvCxnSpPr>
            <p:nvPr/>
          </p:nvCxnSpPr>
          <p:spPr>
            <a:xfrm flipV="1">
              <a:off x="2163169" y="4085942"/>
              <a:ext cx="0" cy="3749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>
              <a:stCxn id="7" idx="4"/>
              <a:endCxn id="10" idx="0"/>
            </p:cNvCxnSpPr>
            <p:nvPr/>
          </p:nvCxnSpPr>
          <p:spPr>
            <a:xfrm>
              <a:off x="2163169" y="2967356"/>
              <a:ext cx="0" cy="3692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>
              <a:stCxn id="11" idx="0"/>
              <a:endCxn id="10" idx="4"/>
            </p:cNvCxnSpPr>
            <p:nvPr/>
          </p:nvCxnSpPr>
          <p:spPr>
            <a:xfrm flipV="1">
              <a:off x="2163169" y="3516598"/>
              <a:ext cx="0" cy="38934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802307" y="263783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1803393" y="319203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1816733" y="3752757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1802057" y="434220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橢圓 26"/>
            <p:cNvSpPr/>
            <p:nvPr/>
          </p:nvSpPr>
          <p:spPr>
            <a:xfrm>
              <a:off x="2073169" y="5001469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8" name="直線接點 27"/>
            <p:cNvCxnSpPr>
              <a:stCxn id="27" idx="0"/>
              <a:endCxn id="9" idx="4"/>
            </p:cNvCxnSpPr>
            <p:nvPr/>
          </p:nvCxnSpPr>
          <p:spPr>
            <a:xfrm flipV="1">
              <a:off x="2163169" y="4640881"/>
              <a:ext cx="0" cy="360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橢圓 30"/>
            <p:cNvSpPr/>
            <p:nvPr/>
          </p:nvSpPr>
          <p:spPr>
            <a:xfrm>
              <a:off x="2073169" y="555068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2" name="直線接點 31"/>
            <p:cNvCxnSpPr>
              <a:stCxn id="31" idx="0"/>
              <a:endCxn id="27" idx="4"/>
            </p:cNvCxnSpPr>
            <p:nvPr/>
          </p:nvCxnSpPr>
          <p:spPr>
            <a:xfrm flipV="1">
              <a:off x="2163169" y="5181469"/>
              <a:ext cx="0" cy="3692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1808107" y="4865536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1803393" y="5423377"/>
              <a:ext cx="2696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3725245" y="3222961"/>
          <a:ext cx="2924892" cy="23774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4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6" name="群組 85"/>
          <p:cNvGrpSpPr/>
          <p:nvPr/>
        </p:nvGrpSpPr>
        <p:grpSpPr>
          <a:xfrm>
            <a:off x="3400825" y="2810510"/>
            <a:ext cx="3169070" cy="2791939"/>
            <a:chOff x="3400825" y="2810510"/>
            <a:chExt cx="3169070" cy="2791939"/>
          </a:xfrm>
        </p:grpSpPr>
        <p:sp>
          <p:nvSpPr>
            <p:cNvPr id="38" name="文字方塊 37"/>
            <p:cNvSpPr txBox="1"/>
            <p:nvPr/>
          </p:nvSpPr>
          <p:spPr>
            <a:xfrm>
              <a:off x="3815587" y="281051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4312862" y="281206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4804322" y="2812067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5301597" y="281362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3400825" y="321373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3400825" y="361540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3400825" y="4015511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3400825" y="441028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3816943" y="322391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4312862" y="322391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4797256" y="322391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5293175" y="322391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3816943" y="362402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4312862" y="362402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4797256" y="362402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293175" y="362402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3816943" y="402413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4312862" y="402413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4797256" y="402413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5293175" y="402413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816943" y="442424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4312862" y="442424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字方塊 59"/>
            <p:cNvSpPr txBox="1"/>
            <p:nvPr/>
          </p:nvSpPr>
          <p:spPr>
            <a:xfrm>
              <a:off x="4797256" y="442424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5293175" y="442424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5772597" y="480677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6256989" y="519874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5284549" y="481554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5772598" y="519874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5772599" y="442424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6246531" y="480810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5759238" y="322116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6255157" y="322116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5761070" y="361812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6256989" y="361812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5775943" y="401551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6254610" y="401551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3804661" y="520233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4300580" y="520233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4783895" y="519958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5262562" y="519958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文字方塊 77"/>
            <p:cNvSpPr txBox="1"/>
            <p:nvPr/>
          </p:nvSpPr>
          <p:spPr>
            <a:xfrm>
              <a:off x="3814601" y="482861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4299748" y="482271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4778415" y="482271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文字方塊 80"/>
            <p:cNvSpPr txBox="1"/>
            <p:nvPr/>
          </p:nvSpPr>
          <p:spPr>
            <a:xfrm>
              <a:off x="6256989" y="44174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5772599" y="2817051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文字方塊 82"/>
            <p:cNvSpPr txBox="1"/>
            <p:nvPr/>
          </p:nvSpPr>
          <p:spPr>
            <a:xfrm>
              <a:off x="6270277" y="2822851"/>
              <a:ext cx="2696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3444105" y="5190122"/>
              <a:ext cx="2696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3419914" y="4807264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329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相鄰串列 </a:t>
            </a:r>
            <a:r>
              <a:rPr lang="en-US" altLang="zh-TW" dirty="0"/>
              <a:t>adjacency list 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List[]</a:t>
            </a:r>
            <a:r>
              <a:rPr lang="zh-TW" altLang="en-US" dirty="0"/>
              <a:t>為指標陣列，元素數目為點數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1949848" y="21980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6"/>
            <a:endCxn id="9" idx="2"/>
          </p:cNvCxnSpPr>
          <p:nvPr/>
        </p:nvCxnSpPr>
        <p:spPr>
          <a:xfrm>
            <a:off x="2129848" y="2288000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/>
          <p:cNvSpPr/>
          <p:nvPr/>
        </p:nvSpPr>
        <p:spPr>
          <a:xfrm>
            <a:off x="3258188" y="21980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1949848" y="329930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258188" y="329930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9" idx="4"/>
            <a:endCxn id="11" idx="0"/>
          </p:cNvCxnSpPr>
          <p:nvPr/>
        </p:nvCxnSpPr>
        <p:spPr>
          <a:xfrm>
            <a:off x="3348188" y="2378000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7" idx="4"/>
            <a:endCxn id="10" idx="0"/>
          </p:cNvCxnSpPr>
          <p:nvPr/>
        </p:nvCxnSpPr>
        <p:spPr>
          <a:xfrm>
            <a:off x="2039848" y="2378000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11" idx="2"/>
            <a:endCxn id="10" idx="6"/>
          </p:cNvCxnSpPr>
          <p:nvPr/>
        </p:nvCxnSpPr>
        <p:spPr>
          <a:xfrm flipH="1">
            <a:off x="2129848" y="3389306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11" idx="1"/>
            <a:endCxn id="7" idx="5"/>
          </p:cNvCxnSpPr>
          <p:nvPr/>
        </p:nvCxnSpPr>
        <p:spPr>
          <a:xfrm flipH="1" flipV="1">
            <a:off x="2103488" y="2351640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1678986" y="20484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680072" y="315474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387004" y="3163373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378950" y="206206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5634421" y="21980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20" idx="6"/>
            <a:endCxn id="22" idx="2"/>
          </p:cNvCxnSpPr>
          <p:nvPr/>
        </p:nvCxnSpPr>
        <p:spPr>
          <a:xfrm>
            <a:off x="5814421" y="2288000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/>
          <p:cNvSpPr/>
          <p:nvPr/>
        </p:nvSpPr>
        <p:spPr>
          <a:xfrm>
            <a:off x="6942761" y="21980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5634421" y="329930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6942761" y="329930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>
            <a:stCxn id="22" idx="4"/>
            <a:endCxn id="24" idx="0"/>
          </p:cNvCxnSpPr>
          <p:nvPr/>
        </p:nvCxnSpPr>
        <p:spPr>
          <a:xfrm>
            <a:off x="7032761" y="2378000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20" idx="4"/>
            <a:endCxn id="23" idx="0"/>
          </p:cNvCxnSpPr>
          <p:nvPr/>
        </p:nvCxnSpPr>
        <p:spPr>
          <a:xfrm>
            <a:off x="5724421" y="2378000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4" idx="2"/>
            <a:endCxn id="23" idx="6"/>
          </p:cNvCxnSpPr>
          <p:nvPr/>
        </p:nvCxnSpPr>
        <p:spPr>
          <a:xfrm flipH="1">
            <a:off x="5814421" y="3389306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24" idx="1"/>
            <a:endCxn id="20" idx="5"/>
          </p:cNvCxnSpPr>
          <p:nvPr/>
        </p:nvCxnSpPr>
        <p:spPr>
          <a:xfrm flipH="1" flipV="1">
            <a:off x="5788061" y="2351640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5363559" y="20484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364645" y="315474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071577" y="3163373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063523" y="206206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09700" y="3985403"/>
          <a:ext cx="425848" cy="181931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25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482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5" name="群組 184"/>
          <p:cNvGrpSpPr/>
          <p:nvPr/>
        </p:nvGrpSpPr>
        <p:grpSpPr>
          <a:xfrm>
            <a:off x="4341152" y="4218909"/>
            <a:ext cx="452853" cy="184485"/>
            <a:chOff x="4341152" y="4218909"/>
            <a:chExt cx="452853" cy="184485"/>
          </a:xfrm>
        </p:grpSpPr>
        <p:cxnSp>
          <p:nvCxnSpPr>
            <p:cNvPr id="40" name="肘形接點 39"/>
            <p:cNvCxnSpPr>
              <a:stCxn id="38" idx="3"/>
            </p:cNvCxnSpPr>
            <p:nvPr/>
          </p:nvCxnSpPr>
          <p:spPr>
            <a:xfrm>
              <a:off x="4341152" y="4218909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群組 52"/>
            <p:cNvGrpSpPr/>
            <p:nvPr/>
          </p:nvGrpSpPr>
          <p:grpSpPr>
            <a:xfrm>
              <a:off x="4509333" y="4328666"/>
              <a:ext cx="284672" cy="74728"/>
              <a:chOff x="4500707" y="5027372"/>
              <a:chExt cx="284672" cy="74728"/>
            </a:xfrm>
          </p:grpSpPr>
          <p:cxnSp>
            <p:nvCxnSpPr>
              <p:cNvPr id="41" name="直線接點 40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接點 41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3" name="群組 182"/>
          <p:cNvGrpSpPr/>
          <p:nvPr/>
        </p:nvGrpSpPr>
        <p:grpSpPr>
          <a:xfrm>
            <a:off x="2210471" y="4010483"/>
            <a:ext cx="1070406" cy="400110"/>
            <a:chOff x="2210471" y="4010483"/>
            <a:chExt cx="1070406" cy="400110"/>
          </a:xfrm>
        </p:grpSpPr>
        <p:cxnSp>
          <p:nvCxnSpPr>
            <p:cNvPr id="39" name="直線單箭頭接點 38"/>
            <p:cNvCxnSpPr>
              <a:stCxn id="37" idx="3"/>
              <a:endCxn id="47" idx="1"/>
            </p:cNvCxnSpPr>
            <p:nvPr/>
          </p:nvCxnSpPr>
          <p:spPr>
            <a:xfrm flipV="1">
              <a:off x="2210471" y="4218838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圓角矩形 46"/>
            <p:cNvSpPr/>
            <p:nvPr/>
          </p:nvSpPr>
          <p:spPr>
            <a:xfrm>
              <a:off x="2504499" y="4056838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48" name="直線接點 47"/>
            <p:cNvCxnSpPr>
              <a:stCxn id="47" idx="0"/>
              <a:endCxn id="47" idx="2"/>
            </p:cNvCxnSpPr>
            <p:nvPr/>
          </p:nvCxnSpPr>
          <p:spPr>
            <a:xfrm>
              <a:off x="2892688" y="4056838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字方塊 48"/>
            <p:cNvSpPr txBox="1"/>
            <p:nvPr/>
          </p:nvSpPr>
          <p:spPr>
            <a:xfrm>
              <a:off x="2539003" y="4010483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" name="群組 183"/>
          <p:cNvGrpSpPr/>
          <p:nvPr/>
        </p:nvGrpSpPr>
        <p:grpSpPr>
          <a:xfrm>
            <a:off x="3280877" y="4005323"/>
            <a:ext cx="1060275" cy="400110"/>
            <a:chOff x="3280877" y="4005323"/>
            <a:chExt cx="1060275" cy="400110"/>
          </a:xfrm>
        </p:grpSpPr>
        <p:sp>
          <p:nvSpPr>
            <p:cNvPr id="38" name="圓角矩形 37"/>
            <p:cNvSpPr/>
            <p:nvPr/>
          </p:nvSpPr>
          <p:spPr>
            <a:xfrm>
              <a:off x="3564774" y="4056909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44" name="直線接點 43"/>
            <p:cNvCxnSpPr>
              <a:stCxn id="38" idx="0"/>
              <a:endCxn id="38" idx="2"/>
            </p:cNvCxnSpPr>
            <p:nvPr/>
          </p:nvCxnSpPr>
          <p:spPr>
            <a:xfrm>
              <a:off x="3952963" y="4056909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字方塊 44"/>
            <p:cNvSpPr txBox="1"/>
            <p:nvPr/>
          </p:nvSpPr>
          <p:spPr>
            <a:xfrm>
              <a:off x="3590652" y="400532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d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50" name="直線單箭頭接點 49"/>
            <p:cNvCxnSpPr>
              <a:stCxn id="47" idx="3"/>
              <a:endCxn id="38" idx="1"/>
            </p:cNvCxnSpPr>
            <p:nvPr/>
          </p:nvCxnSpPr>
          <p:spPr>
            <a:xfrm>
              <a:off x="3280877" y="4218838"/>
              <a:ext cx="283897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群組 181"/>
          <p:cNvGrpSpPr/>
          <p:nvPr/>
        </p:nvGrpSpPr>
        <p:grpSpPr>
          <a:xfrm>
            <a:off x="1140065" y="4012130"/>
            <a:ext cx="1070406" cy="400110"/>
            <a:chOff x="1140065" y="4012130"/>
            <a:chExt cx="1070406" cy="400110"/>
          </a:xfrm>
        </p:grpSpPr>
        <p:sp>
          <p:nvSpPr>
            <p:cNvPr id="37" name="圓角矩形 36"/>
            <p:cNvSpPr/>
            <p:nvPr/>
          </p:nvSpPr>
          <p:spPr>
            <a:xfrm>
              <a:off x="1434093" y="4056909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43" name="直線接點 42"/>
            <p:cNvCxnSpPr>
              <a:stCxn id="37" idx="0"/>
              <a:endCxn id="37" idx="2"/>
            </p:cNvCxnSpPr>
            <p:nvPr/>
          </p:nvCxnSpPr>
          <p:spPr>
            <a:xfrm>
              <a:off x="1822282" y="4056909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字方塊 45"/>
            <p:cNvSpPr txBox="1"/>
            <p:nvPr/>
          </p:nvSpPr>
          <p:spPr>
            <a:xfrm>
              <a:off x="1459971" y="401213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51" name="直線單箭頭接點 50"/>
            <p:cNvCxnSpPr/>
            <p:nvPr/>
          </p:nvCxnSpPr>
          <p:spPr>
            <a:xfrm flipV="1">
              <a:off x="1140065" y="4210467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5" name="群組 194"/>
          <p:cNvGrpSpPr/>
          <p:nvPr/>
        </p:nvGrpSpPr>
        <p:grpSpPr>
          <a:xfrm>
            <a:off x="3280154" y="4681788"/>
            <a:ext cx="452853" cy="184485"/>
            <a:chOff x="3280154" y="4681788"/>
            <a:chExt cx="452853" cy="184485"/>
          </a:xfrm>
        </p:grpSpPr>
        <p:cxnSp>
          <p:nvCxnSpPr>
            <p:cNvPr id="68" name="肘形接點 67"/>
            <p:cNvCxnSpPr/>
            <p:nvPr/>
          </p:nvCxnSpPr>
          <p:spPr>
            <a:xfrm>
              <a:off x="3280154" y="4681788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群組 68"/>
            <p:cNvGrpSpPr/>
            <p:nvPr/>
          </p:nvGrpSpPr>
          <p:grpSpPr>
            <a:xfrm>
              <a:off x="3448335" y="4791545"/>
              <a:ext cx="284672" cy="74728"/>
              <a:chOff x="4500707" y="5027372"/>
              <a:chExt cx="284672" cy="74728"/>
            </a:xfrm>
          </p:grpSpPr>
          <p:cxnSp>
            <p:nvCxnSpPr>
              <p:cNvPr id="70" name="直線接點 69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線接點 70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6" name="群組 195"/>
          <p:cNvGrpSpPr/>
          <p:nvPr/>
        </p:nvGrpSpPr>
        <p:grpSpPr>
          <a:xfrm>
            <a:off x="2210471" y="4473362"/>
            <a:ext cx="1070406" cy="400110"/>
            <a:chOff x="2210471" y="4473362"/>
            <a:chExt cx="1070406" cy="400110"/>
          </a:xfrm>
        </p:grpSpPr>
        <p:cxnSp>
          <p:nvCxnSpPr>
            <p:cNvPr id="67" name="直線單箭頭接點 66"/>
            <p:cNvCxnSpPr>
              <a:stCxn id="65" idx="3"/>
              <a:endCxn id="76" idx="1"/>
            </p:cNvCxnSpPr>
            <p:nvPr/>
          </p:nvCxnSpPr>
          <p:spPr>
            <a:xfrm flipV="1">
              <a:off x="2210471" y="4681717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圓角矩形 75"/>
            <p:cNvSpPr/>
            <p:nvPr/>
          </p:nvSpPr>
          <p:spPr>
            <a:xfrm>
              <a:off x="2504499" y="4519717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77" name="直線接點 76"/>
            <p:cNvCxnSpPr>
              <a:stCxn id="76" idx="0"/>
              <a:endCxn id="76" idx="2"/>
            </p:cNvCxnSpPr>
            <p:nvPr/>
          </p:nvCxnSpPr>
          <p:spPr>
            <a:xfrm>
              <a:off x="2892688" y="4519717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文字方塊 77"/>
            <p:cNvSpPr txBox="1"/>
            <p:nvPr/>
          </p:nvSpPr>
          <p:spPr>
            <a:xfrm>
              <a:off x="2547629" y="4473362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7" name="群組 196"/>
          <p:cNvGrpSpPr/>
          <p:nvPr/>
        </p:nvGrpSpPr>
        <p:grpSpPr>
          <a:xfrm>
            <a:off x="1140065" y="4475009"/>
            <a:ext cx="1070406" cy="400110"/>
            <a:chOff x="1140065" y="4475009"/>
            <a:chExt cx="1070406" cy="400110"/>
          </a:xfrm>
        </p:grpSpPr>
        <p:sp>
          <p:nvSpPr>
            <p:cNvPr id="65" name="圓角矩形 64"/>
            <p:cNvSpPr/>
            <p:nvPr/>
          </p:nvSpPr>
          <p:spPr>
            <a:xfrm>
              <a:off x="1434093" y="4519788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72" name="直線接點 71"/>
            <p:cNvCxnSpPr>
              <a:stCxn id="65" idx="0"/>
              <a:endCxn id="65" idx="2"/>
            </p:cNvCxnSpPr>
            <p:nvPr/>
          </p:nvCxnSpPr>
          <p:spPr>
            <a:xfrm>
              <a:off x="1822282" y="4519788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字方塊 74"/>
            <p:cNvSpPr txBox="1"/>
            <p:nvPr/>
          </p:nvSpPr>
          <p:spPr>
            <a:xfrm>
              <a:off x="1459971" y="447500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80" name="直線單箭頭接點 79"/>
            <p:cNvCxnSpPr/>
            <p:nvPr/>
          </p:nvCxnSpPr>
          <p:spPr>
            <a:xfrm flipV="1">
              <a:off x="1140065" y="4673346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群組 197"/>
          <p:cNvGrpSpPr/>
          <p:nvPr/>
        </p:nvGrpSpPr>
        <p:grpSpPr>
          <a:xfrm>
            <a:off x="4338284" y="5121771"/>
            <a:ext cx="452853" cy="184485"/>
            <a:chOff x="4338284" y="5121771"/>
            <a:chExt cx="452853" cy="184485"/>
          </a:xfrm>
        </p:grpSpPr>
        <p:cxnSp>
          <p:nvCxnSpPr>
            <p:cNvPr id="84" name="肘形接點 83"/>
            <p:cNvCxnSpPr>
              <a:stCxn id="82" idx="3"/>
            </p:cNvCxnSpPr>
            <p:nvPr/>
          </p:nvCxnSpPr>
          <p:spPr>
            <a:xfrm>
              <a:off x="4338284" y="5121771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5" name="群組 84"/>
            <p:cNvGrpSpPr/>
            <p:nvPr/>
          </p:nvGrpSpPr>
          <p:grpSpPr>
            <a:xfrm>
              <a:off x="4506465" y="5231528"/>
              <a:ext cx="284672" cy="74728"/>
              <a:chOff x="4500707" y="5027372"/>
              <a:chExt cx="284672" cy="74728"/>
            </a:xfrm>
          </p:grpSpPr>
          <p:cxnSp>
            <p:nvCxnSpPr>
              <p:cNvPr id="86" name="直線接點 85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線接點 86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0" name="群組 199"/>
          <p:cNvGrpSpPr/>
          <p:nvPr/>
        </p:nvGrpSpPr>
        <p:grpSpPr>
          <a:xfrm>
            <a:off x="2207603" y="4913345"/>
            <a:ext cx="1070406" cy="400110"/>
            <a:chOff x="2207603" y="4913345"/>
            <a:chExt cx="1070406" cy="400110"/>
          </a:xfrm>
        </p:grpSpPr>
        <p:cxnSp>
          <p:nvCxnSpPr>
            <p:cNvPr id="83" name="直線單箭頭接點 82"/>
            <p:cNvCxnSpPr>
              <a:stCxn id="81" idx="3"/>
              <a:endCxn id="92" idx="1"/>
            </p:cNvCxnSpPr>
            <p:nvPr/>
          </p:nvCxnSpPr>
          <p:spPr>
            <a:xfrm flipV="1">
              <a:off x="2207603" y="5121700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圓角矩形 91"/>
            <p:cNvSpPr/>
            <p:nvPr/>
          </p:nvSpPr>
          <p:spPr>
            <a:xfrm>
              <a:off x="2501631" y="4959700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93" name="直線接點 92"/>
            <p:cNvCxnSpPr>
              <a:stCxn id="92" idx="0"/>
              <a:endCxn id="92" idx="2"/>
            </p:cNvCxnSpPr>
            <p:nvPr/>
          </p:nvCxnSpPr>
          <p:spPr>
            <a:xfrm>
              <a:off x="2889820" y="4959700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文字方塊 93"/>
            <p:cNvSpPr txBox="1"/>
            <p:nvPr/>
          </p:nvSpPr>
          <p:spPr>
            <a:xfrm>
              <a:off x="2536135" y="491334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9" name="群組 198"/>
          <p:cNvGrpSpPr/>
          <p:nvPr/>
        </p:nvGrpSpPr>
        <p:grpSpPr>
          <a:xfrm>
            <a:off x="3278009" y="4908185"/>
            <a:ext cx="1060275" cy="400110"/>
            <a:chOff x="3278009" y="4908185"/>
            <a:chExt cx="1060275" cy="400110"/>
          </a:xfrm>
        </p:grpSpPr>
        <p:sp>
          <p:nvSpPr>
            <p:cNvPr id="82" name="圓角矩形 81"/>
            <p:cNvSpPr/>
            <p:nvPr/>
          </p:nvSpPr>
          <p:spPr>
            <a:xfrm>
              <a:off x="3561906" y="4959771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89" name="直線接點 88"/>
            <p:cNvCxnSpPr>
              <a:stCxn id="82" idx="0"/>
              <a:endCxn id="82" idx="2"/>
            </p:cNvCxnSpPr>
            <p:nvPr/>
          </p:nvCxnSpPr>
          <p:spPr>
            <a:xfrm>
              <a:off x="3950095" y="4959771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文字方塊 89"/>
            <p:cNvSpPr txBox="1"/>
            <p:nvPr/>
          </p:nvSpPr>
          <p:spPr>
            <a:xfrm>
              <a:off x="3596410" y="490818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d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95" name="直線單箭頭接點 94"/>
            <p:cNvCxnSpPr>
              <a:stCxn id="92" idx="3"/>
              <a:endCxn id="82" idx="1"/>
            </p:cNvCxnSpPr>
            <p:nvPr/>
          </p:nvCxnSpPr>
          <p:spPr>
            <a:xfrm>
              <a:off x="3278009" y="5121700"/>
              <a:ext cx="283897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1" name="群組 200"/>
          <p:cNvGrpSpPr/>
          <p:nvPr/>
        </p:nvGrpSpPr>
        <p:grpSpPr>
          <a:xfrm>
            <a:off x="1137197" y="4914992"/>
            <a:ext cx="1070406" cy="400110"/>
            <a:chOff x="1137197" y="4914992"/>
            <a:chExt cx="1070406" cy="400110"/>
          </a:xfrm>
        </p:grpSpPr>
        <p:sp>
          <p:nvSpPr>
            <p:cNvPr id="81" name="圓角矩形 80"/>
            <p:cNvSpPr/>
            <p:nvPr/>
          </p:nvSpPr>
          <p:spPr>
            <a:xfrm>
              <a:off x="1431225" y="4959771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88" name="直線接點 87"/>
            <p:cNvCxnSpPr>
              <a:stCxn id="81" idx="0"/>
              <a:endCxn id="81" idx="2"/>
            </p:cNvCxnSpPr>
            <p:nvPr/>
          </p:nvCxnSpPr>
          <p:spPr>
            <a:xfrm>
              <a:off x="1819414" y="4959771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文字方塊 90"/>
            <p:cNvSpPr txBox="1"/>
            <p:nvPr/>
          </p:nvSpPr>
          <p:spPr>
            <a:xfrm>
              <a:off x="1465729" y="491499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96" name="直線單箭頭接點 95"/>
            <p:cNvCxnSpPr/>
            <p:nvPr/>
          </p:nvCxnSpPr>
          <p:spPr>
            <a:xfrm flipV="1">
              <a:off x="1137197" y="5113329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2" name="群組 201"/>
          <p:cNvGrpSpPr/>
          <p:nvPr/>
        </p:nvGrpSpPr>
        <p:grpSpPr>
          <a:xfrm>
            <a:off x="3285912" y="5584650"/>
            <a:ext cx="452853" cy="184485"/>
            <a:chOff x="3285912" y="5584650"/>
            <a:chExt cx="452853" cy="184485"/>
          </a:xfrm>
        </p:grpSpPr>
        <p:cxnSp>
          <p:nvCxnSpPr>
            <p:cNvPr id="100" name="肘形接點 99"/>
            <p:cNvCxnSpPr/>
            <p:nvPr/>
          </p:nvCxnSpPr>
          <p:spPr>
            <a:xfrm>
              <a:off x="3285912" y="5584650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1" name="群組 100"/>
            <p:cNvGrpSpPr/>
            <p:nvPr/>
          </p:nvGrpSpPr>
          <p:grpSpPr>
            <a:xfrm>
              <a:off x="3454093" y="5694407"/>
              <a:ext cx="284672" cy="74728"/>
              <a:chOff x="4500707" y="5027372"/>
              <a:chExt cx="284672" cy="74728"/>
            </a:xfrm>
          </p:grpSpPr>
          <p:cxnSp>
            <p:nvCxnSpPr>
              <p:cNvPr id="102" name="直線接點 101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線接點 102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3" name="群組 202"/>
          <p:cNvGrpSpPr/>
          <p:nvPr/>
        </p:nvGrpSpPr>
        <p:grpSpPr>
          <a:xfrm>
            <a:off x="2207603" y="5376224"/>
            <a:ext cx="1070406" cy="400110"/>
            <a:chOff x="2207603" y="5376224"/>
            <a:chExt cx="1070406" cy="400110"/>
          </a:xfrm>
        </p:grpSpPr>
        <p:cxnSp>
          <p:nvCxnSpPr>
            <p:cNvPr id="99" name="直線單箭頭接點 98"/>
            <p:cNvCxnSpPr>
              <a:stCxn id="97" idx="3"/>
              <a:endCxn id="108" idx="1"/>
            </p:cNvCxnSpPr>
            <p:nvPr/>
          </p:nvCxnSpPr>
          <p:spPr>
            <a:xfrm flipV="1">
              <a:off x="2207603" y="5584579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圓角矩形 107"/>
            <p:cNvSpPr/>
            <p:nvPr/>
          </p:nvSpPr>
          <p:spPr>
            <a:xfrm>
              <a:off x="2501631" y="5422579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09" name="直線接點 108"/>
            <p:cNvCxnSpPr>
              <a:stCxn id="108" idx="0"/>
              <a:endCxn id="108" idx="2"/>
            </p:cNvCxnSpPr>
            <p:nvPr/>
          </p:nvCxnSpPr>
          <p:spPr>
            <a:xfrm>
              <a:off x="2889820" y="5422579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字方塊 109"/>
            <p:cNvSpPr txBox="1"/>
            <p:nvPr/>
          </p:nvSpPr>
          <p:spPr>
            <a:xfrm>
              <a:off x="2536135" y="5376224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4" name="群組 203"/>
          <p:cNvGrpSpPr/>
          <p:nvPr/>
        </p:nvGrpSpPr>
        <p:grpSpPr>
          <a:xfrm>
            <a:off x="1137197" y="5377871"/>
            <a:ext cx="1070406" cy="400110"/>
            <a:chOff x="1137197" y="5377871"/>
            <a:chExt cx="1070406" cy="400110"/>
          </a:xfrm>
        </p:grpSpPr>
        <p:sp>
          <p:nvSpPr>
            <p:cNvPr id="97" name="圓角矩形 96"/>
            <p:cNvSpPr/>
            <p:nvPr/>
          </p:nvSpPr>
          <p:spPr>
            <a:xfrm>
              <a:off x="1431225" y="5422650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04" name="直線接點 103"/>
            <p:cNvCxnSpPr>
              <a:stCxn id="97" idx="0"/>
              <a:endCxn id="97" idx="2"/>
            </p:cNvCxnSpPr>
            <p:nvPr/>
          </p:nvCxnSpPr>
          <p:spPr>
            <a:xfrm>
              <a:off x="1819414" y="5422650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文字方塊 106"/>
            <p:cNvSpPr txBox="1"/>
            <p:nvPr/>
          </p:nvSpPr>
          <p:spPr>
            <a:xfrm>
              <a:off x="1465729" y="537787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12" name="直線單箭頭接點 111"/>
            <p:cNvCxnSpPr/>
            <p:nvPr/>
          </p:nvCxnSpPr>
          <p:spPr>
            <a:xfrm flipV="1">
              <a:off x="1137197" y="5576208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群組 179"/>
          <p:cNvGrpSpPr/>
          <p:nvPr/>
        </p:nvGrpSpPr>
        <p:grpSpPr>
          <a:xfrm>
            <a:off x="372355" y="3576542"/>
            <a:ext cx="937436" cy="2208163"/>
            <a:chOff x="372355" y="3576542"/>
            <a:chExt cx="937436" cy="2208163"/>
          </a:xfrm>
        </p:grpSpPr>
        <p:sp>
          <p:nvSpPr>
            <p:cNvPr id="113" name="文字方塊 112"/>
            <p:cNvSpPr txBox="1"/>
            <p:nvPr/>
          </p:nvSpPr>
          <p:spPr>
            <a:xfrm>
              <a:off x="528808" y="3576542"/>
              <a:ext cx="7809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文字方塊 113"/>
            <p:cNvSpPr txBox="1"/>
            <p:nvPr/>
          </p:nvSpPr>
          <p:spPr>
            <a:xfrm>
              <a:off x="372355" y="400519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文字方塊 114"/>
            <p:cNvSpPr txBox="1"/>
            <p:nvPr/>
          </p:nvSpPr>
          <p:spPr>
            <a:xfrm>
              <a:off x="372355" y="448173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文字方塊 115"/>
            <p:cNvSpPr txBox="1"/>
            <p:nvPr/>
          </p:nvSpPr>
          <p:spPr>
            <a:xfrm>
              <a:off x="379568" y="4913274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文字方塊 116"/>
            <p:cNvSpPr txBox="1"/>
            <p:nvPr/>
          </p:nvSpPr>
          <p:spPr>
            <a:xfrm>
              <a:off x="372355" y="538459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18" name="表格 117"/>
          <p:cNvGraphicFramePr>
            <a:graphicFrameLocks noGrp="1"/>
          </p:cNvGraphicFramePr>
          <p:nvPr/>
        </p:nvGraphicFramePr>
        <p:xfrm>
          <a:off x="5373498" y="3982535"/>
          <a:ext cx="425848" cy="181931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25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482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8" name="群組 187"/>
          <p:cNvGrpSpPr/>
          <p:nvPr/>
        </p:nvGrpSpPr>
        <p:grpSpPr>
          <a:xfrm>
            <a:off x="7943952" y="4216041"/>
            <a:ext cx="452853" cy="184485"/>
            <a:chOff x="7943952" y="4216041"/>
            <a:chExt cx="452853" cy="184485"/>
          </a:xfrm>
        </p:grpSpPr>
        <p:cxnSp>
          <p:nvCxnSpPr>
            <p:cNvPr id="122" name="肘形接點 121"/>
            <p:cNvCxnSpPr/>
            <p:nvPr/>
          </p:nvCxnSpPr>
          <p:spPr>
            <a:xfrm>
              <a:off x="7943952" y="4216041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" name="群組 122"/>
            <p:cNvGrpSpPr/>
            <p:nvPr/>
          </p:nvGrpSpPr>
          <p:grpSpPr>
            <a:xfrm>
              <a:off x="8112133" y="4325798"/>
              <a:ext cx="284672" cy="74728"/>
              <a:chOff x="4500707" y="5027372"/>
              <a:chExt cx="284672" cy="74728"/>
            </a:xfrm>
          </p:grpSpPr>
          <p:cxnSp>
            <p:nvCxnSpPr>
              <p:cNvPr id="124" name="直線接點 123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接點 124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7" name="群組 186"/>
          <p:cNvGrpSpPr/>
          <p:nvPr/>
        </p:nvGrpSpPr>
        <p:grpSpPr>
          <a:xfrm>
            <a:off x="6874269" y="4007615"/>
            <a:ext cx="1070406" cy="400110"/>
            <a:chOff x="6874269" y="4007615"/>
            <a:chExt cx="1070406" cy="400110"/>
          </a:xfrm>
        </p:grpSpPr>
        <p:cxnSp>
          <p:nvCxnSpPr>
            <p:cNvPr id="121" name="直線單箭頭接點 120"/>
            <p:cNvCxnSpPr>
              <a:stCxn id="119" idx="3"/>
              <a:endCxn id="130" idx="1"/>
            </p:cNvCxnSpPr>
            <p:nvPr/>
          </p:nvCxnSpPr>
          <p:spPr>
            <a:xfrm flipV="1">
              <a:off x="6874269" y="4215970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圓角矩形 129"/>
            <p:cNvSpPr/>
            <p:nvPr/>
          </p:nvSpPr>
          <p:spPr>
            <a:xfrm>
              <a:off x="7168297" y="4053970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31" name="直線接點 130"/>
            <p:cNvCxnSpPr>
              <a:stCxn id="130" idx="0"/>
              <a:endCxn id="130" idx="2"/>
            </p:cNvCxnSpPr>
            <p:nvPr/>
          </p:nvCxnSpPr>
          <p:spPr>
            <a:xfrm>
              <a:off x="7556486" y="4053970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文字方塊 131"/>
            <p:cNvSpPr txBox="1"/>
            <p:nvPr/>
          </p:nvSpPr>
          <p:spPr>
            <a:xfrm>
              <a:off x="7202801" y="400761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d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6" name="群組 185"/>
          <p:cNvGrpSpPr/>
          <p:nvPr/>
        </p:nvGrpSpPr>
        <p:grpSpPr>
          <a:xfrm>
            <a:off x="5803863" y="4009262"/>
            <a:ext cx="1070406" cy="400110"/>
            <a:chOff x="5803863" y="4009262"/>
            <a:chExt cx="1070406" cy="400110"/>
          </a:xfrm>
        </p:grpSpPr>
        <p:sp>
          <p:nvSpPr>
            <p:cNvPr id="119" name="圓角矩形 118"/>
            <p:cNvSpPr/>
            <p:nvPr/>
          </p:nvSpPr>
          <p:spPr>
            <a:xfrm>
              <a:off x="6097891" y="4054041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26" name="直線接點 125"/>
            <p:cNvCxnSpPr>
              <a:stCxn id="119" idx="0"/>
              <a:endCxn id="119" idx="2"/>
            </p:cNvCxnSpPr>
            <p:nvPr/>
          </p:nvCxnSpPr>
          <p:spPr>
            <a:xfrm>
              <a:off x="6486080" y="4054041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文字方塊 128"/>
            <p:cNvSpPr txBox="1"/>
            <p:nvPr/>
          </p:nvSpPr>
          <p:spPr>
            <a:xfrm>
              <a:off x="6123769" y="400926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34" name="直線單箭頭接點 133"/>
            <p:cNvCxnSpPr/>
            <p:nvPr/>
          </p:nvCxnSpPr>
          <p:spPr>
            <a:xfrm flipV="1">
              <a:off x="5803863" y="4207599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群組 188"/>
          <p:cNvGrpSpPr/>
          <p:nvPr/>
        </p:nvGrpSpPr>
        <p:grpSpPr>
          <a:xfrm>
            <a:off x="5804704" y="4678920"/>
            <a:ext cx="452853" cy="184485"/>
            <a:chOff x="5804704" y="4678920"/>
            <a:chExt cx="452853" cy="184485"/>
          </a:xfrm>
        </p:grpSpPr>
        <p:cxnSp>
          <p:nvCxnSpPr>
            <p:cNvPr id="137" name="肘形接點 136"/>
            <p:cNvCxnSpPr/>
            <p:nvPr/>
          </p:nvCxnSpPr>
          <p:spPr>
            <a:xfrm>
              <a:off x="5804704" y="4678920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8" name="群組 137"/>
            <p:cNvGrpSpPr/>
            <p:nvPr/>
          </p:nvGrpSpPr>
          <p:grpSpPr>
            <a:xfrm>
              <a:off x="5972885" y="4788677"/>
              <a:ext cx="284672" cy="74728"/>
              <a:chOff x="4500707" y="5027372"/>
              <a:chExt cx="284672" cy="74728"/>
            </a:xfrm>
          </p:grpSpPr>
          <p:cxnSp>
            <p:nvCxnSpPr>
              <p:cNvPr id="139" name="直線接點 138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線接點 139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2" name="群組 191"/>
          <p:cNvGrpSpPr/>
          <p:nvPr/>
        </p:nvGrpSpPr>
        <p:grpSpPr>
          <a:xfrm>
            <a:off x="7941084" y="5118903"/>
            <a:ext cx="452853" cy="184485"/>
            <a:chOff x="7941084" y="5118903"/>
            <a:chExt cx="452853" cy="184485"/>
          </a:xfrm>
        </p:grpSpPr>
        <p:cxnSp>
          <p:nvCxnSpPr>
            <p:cNvPr id="150" name="肘形接點 149"/>
            <p:cNvCxnSpPr/>
            <p:nvPr/>
          </p:nvCxnSpPr>
          <p:spPr>
            <a:xfrm>
              <a:off x="7941084" y="5118903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1" name="群組 150"/>
            <p:cNvGrpSpPr/>
            <p:nvPr/>
          </p:nvGrpSpPr>
          <p:grpSpPr>
            <a:xfrm>
              <a:off x="8109265" y="5228660"/>
              <a:ext cx="284672" cy="74728"/>
              <a:chOff x="4500707" y="5027372"/>
              <a:chExt cx="284672" cy="74728"/>
            </a:xfrm>
          </p:grpSpPr>
          <p:cxnSp>
            <p:nvCxnSpPr>
              <p:cNvPr id="152" name="直線接點 151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線接點 152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1" name="群組 190"/>
          <p:cNvGrpSpPr/>
          <p:nvPr/>
        </p:nvGrpSpPr>
        <p:grpSpPr>
          <a:xfrm>
            <a:off x="6871401" y="4910477"/>
            <a:ext cx="1070406" cy="400110"/>
            <a:chOff x="6871401" y="4910477"/>
            <a:chExt cx="1070406" cy="400110"/>
          </a:xfrm>
        </p:grpSpPr>
        <p:cxnSp>
          <p:nvCxnSpPr>
            <p:cNvPr id="149" name="直線單箭頭接點 148"/>
            <p:cNvCxnSpPr>
              <a:stCxn id="147" idx="3"/>
              <a:endCxn id="158" idx="1"/>
            </p:cNvCxnSpPr>
            <p:nvPr/>
          </p:nvCxnSpPr>
          <p:spPr>
            <a:xfrm flipV="1">
              <a:off x="6871401" y="5118832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圓角矩形 157"/>
            <p:cNvSpPr/>
            <p:nvPr/>
          </p:nvSpPr>
          <p:spPr>
            <a:xfrm>
              <a:off x="7165429" y="4956832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59" name="直線接點 158"/>
            <p:cNvCxnSpPr>
              <a:stCxn id="158" idx="0"/>
              <a:endCxn id="158" idx="2"/>
            </p:cNvCxnSpPr>
            <p:nvPr/>
          </p:nvCxnSpPr>
          <p:spPr>
            <a:xfrm>
              <a:off x="7553618" y="4956832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文字方塊 159"/>
            <p:cNvSpPr txBox="1"/>
            <p:nvPr/>
          </p:nvSpPr>
          <p:spPr>
            <a:xfrm>
              <a:off x="7199933" y="491047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0" name="群組 189"/>
          <p:cNvGrpSpPr/>
          <p:nvPr/>
        </p:nvGrpSpPr>
        <p:grpSpPr>
          <a:xfrm>
            <a:off x="5800995" y="4912124"/>
            <a:ext cx="1070406" cy="400110"/>
            <a:chOff x="5800995" y="4912124"/>
            <a:chExt cx="1070406" cy="400110"/>
          </a:xfrm>
        </p:grpSpPr>
        <p:sp>
          <p:nvSpPr>
            <p:cNvPr id="147" name="圓角矩形 146"/>
            <p:cNvSpPr/>
            <p:nvPr/>
          </p:nvSpPr>
          <p:spPr>
            <a:xfrm>
              <a:off x="6095023" y="4956903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54" name="直線接點 153"/>
            <p:cNvCxnSpPr>
              <a:stCxn id="147" idx="0"/>
              <a:endCxn id="147" idx="2"/>
            </p:cNvCxnSpPr>
            <p:nvPr/>
          </p:nvCxnSpPr>
          <p:spPr>
            <a:xfrm>
              <a:off x="6483212" y="4956903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文字方塊 156"/>
            <p:cNvSpPr txBox="1"/>
            <p:nvPr/>
          </p:nvSpPr>
          <p:spPr>
            <a:xfrm>
              <a:off x="6129527" y="491212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62" name="直線單箭頭接點 161"/>
            <p:cNvCxnSpPr/>
            <p:nvPr/>
          </p:nvCxnSpPr>
          <p:spPr>
            <a:xfrm flipV="1">
              <a:off x="5800995" y="5110461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" name="群組 193"/>
          <p:cNvGrpSpPr/>
          <p:nvPr/>
        </p:nvGrpSpPr>
        <p:grpSpPr>
          <a:xfrm>
            <a:off x="6871460" y="5581782"/>
            <a:ext cx="452853" cy="184485"/>
            <a:chOff x="6871460" y="5581782"/>
            <a:chExt cx="452853" cy="184485"/>
          </a:xfrm>
        </p:grpSpPr>
        <p:cxnSp>
          <p:nvCxnSpPr>
            <p:cNvPr id="165" name="肘形接點 164"/>
            <p:cNvCxnSpPr/>
            <p:nvPr/>
          </p:nvCxnSpPr>
          <p:spPr>
            <a:xfrm>
              <a:off x="6871460" y="5581782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6" name="群組 165"/>
            <p:cNvGrpSpPr/>
            <p:nvPr/>
          </p:nvGrpSpPr>
          <p:grpSpPr>
            <a:xfrm>
              <a:off x="7039641" y="5691539"/>
              <a:ext cx="284672" cy="74728"/>
              <a:chOff x="4500707" y="5027372"/>
              <a:chExt cx="284672" cy="74728"/>
            </a:xfrm>
          </p:grpSpPr>
          <p:cxnSp>
            <p:nvCxnSpPr>
              <p:cNvPr id="167" name="直線接點 166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線接點 167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3" name="群組 192"/>
          <p:cNvGrpSpPr/>
          <p:nvPr/>
        </p:nvGrpSpPr>
        <p:grpSpPr>
          <a:xfrm>
            <a:off x="5800995" y="5375003"/>
            <a:ext cx="1070406" cy="400110"/>
            <a:chOff x="5800995" y="5375003"/>
            <a:chExt cx="1070406" cy="400110"/>
          </a:xfrm>
        </p:grpSpPr>
        <p:sp>
          <p:nvSpPr>
            <p:cNvPr id="163" name="圓角矩形 162"/>
            <p:cNvSpPr/>
            <p:nvPr/>
          </p:nvSpPr>
          <p:spPr>
            <a:xfrm>
              <a:off x="6095023" y="5419782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69" name="直線接點 168"/>
            <p:cNvCxnSpPr>
              <a:stCxn id="163" idx="0"/>
              <a:endCxn id="163" idx="2"/>
            </p:cNvCxnSpPr>
            <p:nvPr/>
          </p:nvCxnSpPr>
          <p:spPr>
            <a:xfrm>
              <a:off x="6483212" y="5419782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文字方塊 169"/>
            <p:cNvSpPr txBox="1"/>
            <p:nvPr/>
          </p:nvSpPr>
          <p:spPr>
            <a:xfrm>
              <a:off x="6138153" y="5375003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74" name="直線單箭頭接點 173"/>
            <p:cNvCxnSpPr/>
            <p:nvPr/>
          </p:nvCxnSpPr>
          <p:spPr>
            <a:xfrm flipV="1">
              <a:off x="5800995" y="5573340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群組 180"/>
          <p:cNvGrpSpPr/>
          <p:nvPr/>
        </p:nvGrpSpPr>
        <p:grpSpPr>
          <a:xfrm>
            <a:off x="5036153" y="3573674"/>
            <a:ext cx="937436" cy="2208163"/>
            <a:chOff x="5036153" y="3573674"/>
            <a:chExt cx="937436" cy="2208163"/>
          </a:xfrm>
        </p:grpSpPr>
        <p:sp>
          <p:nvSpPr>
            <p:cNvPr id="175" name="文字方塊 174"/>
            <p:cNvSpPr txBox="1"/>
            <p:nvPr/>
          </p:nvSpPr>
          <p:spPr>
            <a:xfrm>
              <a:off x="5192606" y="3573674"/>
              <a:ext cx="7809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文字方塊 175"/>
            <p:cNvSpPr txBox="1"/>
            <p:nvPr/>
          </p:nvSpPr>
          <p:spPr>
            <a:xfrm>
              <a:off x="5036153" y="400232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文字方塊 176"/>
            <p:cNvSpPr txBox="1"/>
            <p:nvPr/>
          </p:nvSpPr>
          <p:spPr>
            <a:xfrm>
              <a:off x="5036153" y="447886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文字方塊 177"/>
            <p:cNvSpPr txBox="1"/>
            <p:nvPr/>
          </p:nvSpPr>
          <p:spPr>
            <a:xfrm>
              <a:off x="5043366" y="4910406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文字方塊 178"/>
            <p:cNvSpPr txBox="1"/>
            <p:nvPr/>
          </p:nvSpPr>
          <p:spPr>
            <a:xfrm>
              <a:off x="5036153" y="538172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575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相鄰串列 </a:t>
            </a:r>
            <a:r>
              <a:rPr lang="en-US" altLang="zh-TW" dirty="0"/>
              <a:t>adjacency list 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節點數共</a:t>
            </a:r>
            <a:r>
              <a:rPr lang="en-US" altLang="zh-TW" dirty="0">
                <a:solidFill>
                  <a:srgbClr val="C00000"/>
                </a:solidFill>
              </a:rPr>
              <a:t>10</a:t>
            </a:r>
            <a:r>
              <a:rPr lang="zh-TW" altLang="en-US" dirty="0"/>
              <a:t>個，為邊數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  <a:r>
              <a:rPr lang="zh-TW" altLang="en-US" dirty="0"/>
              <a:t>倍</a:t>
            </a:r>
            <a:endParaRPr lang="en-US" altLang="zh-TW" dirty="0"/>
          </a:p>
          <a:p>
            <a:r>
              <a:rPr lang="en-US" altLang="zh-TW" i="1" dirty="0"/>
              <a:t>a</a:t>
            </a:r>
            <a:r>
              <a:rPr lang="zh-TW" altLang="en-US" dirty="0"/>
              <a:t>串列有</a:t>
            </a:r>
            <a:r>
              <a:rPr lang="en-US" altLang="zh-TW" dirty="0">
                <a:solidFill>
                  <a:srgbClr val="C00000"/>
                </a:solidFill>
              </a:rPr>
              <a:t>3</a:t>
            </a:r>
            <a:r>
              <a:rPr lang="zh-TW" altLang="en-US" dirty="0"/>
              <a:t>個節點，</a:t>
            </a:r>
            <a:r>
              <a:rPr lang="en-US" altLang="zh-TW" i="1" dirty="0"/>
              <a:t>a</a:t>
            </a:r>
            <a:r>
              <a:rPr lang="zh-TW" altLang="en-US" dirty="0"/>
              <a:t>有</a:t>
            </a:r>
            <a:r>
              <a:rPr lang="en-US" altLang="zh-TW" dirty="0">
                <a:solidFill>
                  <a:srgbClr val="C00000"/>
                </a:solidFill>
              </a:rPr>
              <a:t>3</a:t>
            </a:r>
            <a:r>
              <a:rPr lang="zh-TW" altLang="en-US" dirty="0"/>
              <a:t>個邊</a:t>
            </a:r>
            <a:endParaRPr lang="en-US" altLang="zh-TW" dirty="0"/>
          </a:p>
          <a:p>
            <a:pPr lvl="1"/>
            <a:r>
              <a:rPr lang="en-US" altLang="zh-TW" i="1" dirty="0"/>
              <a:t>a</a:t>
            </a:r>
            <a:r>
              <a:rPr lang="zh-TW" altLang="en-US" dirty="0"/>
              <a:t>的分支度為</a:t>
            </a:r>
            <a:r>
              <a:rPr lang="en-US" altLang="zh-TW" dirty="0">
                <a:solidFill>
                  <a:srgbClr val="C00000"/>
                </a:solidFill>
              </a:rPr>
              <a:t>3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6219554" y="2053441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6"/>
            <a:endCxn id="9" idx="2"/>
          </p:cNvCxnSpPr>
          <p:nvPr/>
        </p:nvCxnSpPr>
        <p:spPr>
          <a:xfrm>
            <a:off x="6399554" y="2143441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/>
          <p:cNvSpPr/>
          <p:nvPr/>
        </p:nvSpPr>
        <p:spPr>
          <a:xfrm>
            <a:off x="7527894" y="2053441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219554" y="3154747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7527894" y="3154747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9" idx="4"/>
            <a:endCxn id="11" idx="0"/>
          </p:cNvCxnSpPr>
          <p:nvPr/>
        </p:nvCxnSpPr>
        <p:spPr>
          <a:xfrm>
            <a:off x="7617894" y="2233441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7" idx="4"/>
            <a:endCxn id="10" idx="0"/>
          </p:cNvCxnSpPr>
          <p:nvPr/>
        </p:nvCxnSpPr>
        <p:spPr>
          <a:xfrm>
            <a:off x="6309554" y="2233441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11" idx="2"/>
            <a:endCxn id="10" idx="6"/>
          </p:cNvCxnSpPr>
          <p:nvPr/>
        </p:nvCxnSpPr>
        <p:spPr>
          <a:xfrm flipH="1">
            <a:off x="6399554" y="3244747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11" idx="1"/>
            <a:endCxn id="7" idx="5"/>
          </p:cNvCxnSpPr>
          <p:nvPr/>
        </p:nvCxnSpPr>
        <p:spPr>
          <a:xfrm flipH="1" flipV="1">
            <a:off x="6373194" y="2207081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5948692" y="190391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949778" y="301018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656710" y="3018814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648656" y="191750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4979406" y="3840844"/>
          <a:ext cx="425848" cy="181931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25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482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圓角矩形 20"/>
          <p:cNvSpPr/>
          <p:nvPr/>
        </p:nvSpPr>
        <p:spPr>
          <a:xfrm>
            <a:off x="5703799" y="3912350"/>
            <a:ext cx="776378" cy="3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7834480" y="3912350"/>
            <a:ext cx="776378" cy="3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3" name="直線單箭頭接點 22"/>
          <p:cNvCxnSpPr>
            <a:stCxn id="21" idx="3"/>
            <a:endCxn id="32" idx="1"/>
          </p:cNvCxnSpPr>
          <p:nvPr/>
        </p:nvCxnSpPr>
        <p:spPr>
          <a:xfrm flipV="1">
            <a:off x="6480177" y="4074279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肘形接點 23"/>
          <p:cNvCxnSpPr>
            <a:stCxn id="22" idx="3"/>
          </p:cNvCxnSpPr>
          <p:nvPr/>
        </p:nvCxnSpPr>
        <p:spPr>
          <a:xfrm>
            <a:off x="8610858" y="4074350"/>
            <a:ext cx="302638" cy="99864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群組 24"/>
          <p:cNvGrpSpPr/>
          <p:nvPr/>
        </p:nvGrpSpPr>
        <p:grpSpPr>
          <a:xfrm>
            <a:off x="8779039" y="4184107"/>
            <a:ext cx="284672" cy="74728"/>
            <a:chOff x="4500707" y="5027372"/>
            <a:chExt cx="284672" cy="74728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4500707" y="5027372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4553790" y="5102100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直線接點 27"/>
          <p:cNvCxnSpPr>
            <a:stCxn id="21" idx="0"/>
            <a:endCxn id="21" idx="2"/>
          </p:cNvCxnSpPr>
          <p:nvPr/>
        </p:nvCxnSpPr>
        <p:spPr>
          <a:xfrm>
            <a:off x="6091988" y="3912350"/>
            <a:ext cx="0" cy="3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22" idx="0"/>
            <a:endCxn id="22" idx="2"/>
          </p:cNvCxnSpPr>
          <p:nvPr/>
        </p:nvCxnSpPr>
        <p:spPr>
          <a:xfrm>
            <a:off x="8222669" y="3912350"/>
            <a:ext cx="0" cy="3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7860358" y="386076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5729677" y="386757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圓角矩形 31"/>
          <p:cNvSpPr/>
          <p:nvPr/>
        </p:nvSpPr>
        <p:spPr>
          <a:xfrm>
            <a:off x="6774205" y="3912279"/>
            <a:ext cx="776378" cy="3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3" name="直線接點 32"/>
          <p:cNvCxnSpPr>
            <a:stCxn id="32" idx="0"/>
            <a:endCxn id="32" idx="2"/>
          </p:cNvCxnSpPr>
          <p:nvPr/>
        </p:nvCxnSpPr>
        <p:spPr>
          <a:xfrm>
            <a:off x="7162394" y="3912279"/>
            <a:ext cx="0" cy="3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6808709" y="3865924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5" name="直線單箭頭接點 34"/>
          <p:cNvCxnSpPr>
            <a:stCxn id="32" idx="3"/>
            <a:endCxn id="22" idx="1"/>
          </p:cNvCxnSpPr>
          <p:nvPr/>
        </p:nvCxnSpPr>
        <p:spPr>
          <a:xfrm>
            <a:off x="7550583" y="4074279"/>
            <a:ext cx="283897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V="1">
            <a:off x="5409771" y="4065908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圓角矩形 36"/>
          <p:cNvSpPr/>
          <p:nvPr/>
        </p:nvSpPr>
        <p:spPr>
          <a:xfrm>
            <a:off x="5703799" y="4375229"/>
            <a:ext cx="776378" cy="3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8" name="直線單箭頭接點 37"/>
          <p:cNvCxnSpPr>
            <a:stCxn id="37" idx="3"/>
            <a:endCxn id="45" idx="1"/>
          </p:cNvCxnSpPr>
          <p:nvPr/>
        </p:nvCxnSpPr>
        <p:spPr>
          <a:xfrm flipV="1">
            <a:off x="6480177" y="4537158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接點 38"/>
          <p:cNvCxnSpPr/>
          <p:nvPr/>
        </p:nvCxnSpPr>
        <p:spPr>
          <a:xfrm>
            <a:off x="7549860" y="4537229"/>
            <a:ext cx="302638" cy="99864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群組 39"/>
          <p:cNvGrpSpPr/>
          <p:nvPr/>
        </p:nvGrpSpPr>
        <p:grpSpPr>
          <a:xfrm>
            <a:off x="7718041" y="4646986"/>
            <a:ext cx="284672" cy="74728"/>
            <a:chOff x="4500707" y="5027372"/>
            <a:chExt cx="284672" cy="74728"/>
          </a:xfrm>
        </p:grpSpPr>
        <p:cxnSp>
          <p:nvCxnSpPr>
            <p:cNvPr id="41" name="直線接點 40"/>
            <p:cNvCxnSpPr/>
            <p:nvPr/>
          </p:nvCxnSpPr>
          <p:spPr>
            <a:xfrm>
              <a:off x="4500707" y="5027372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>
              <a:off x="4553790" y="5102100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>
            <a:stCxn id="37" idx="0"/>
            <a:endCxn id="37" idx="2"/>
          </p:cNvCxnSpPr>
          <p:nvPr/>
        </p:nvCxnSpPr>
        <p:spPr>
          <a:xfrm>
            <a:off x="6091988" y="4375229"/>
            <a:ext cx="0" cy="3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5729677" y="43304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5" name="圓角矩形 44"/>
          <p:cNvSpPr/>
          <p:nvPr/>
        </p:nvSpPr>
        <p:spPr>
          <a:xfrm>
            <a:off x="6774205" y="4375158"/>
            <a:ext cx="776378" cy="3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46" name="直線接點 45"/>
          <p:cNvCxnSpPr>
            <a:stCxn id="45" idx="0"/>
            <a:endCxn id="45" idx="2"/>
          </p:cNvCxnSpPr>
          <p:nvPr/>
        </p:nvCxnSpPr>
        <p:spPr>
          <a:xfrm>
            <a:off x="7162394" y="4375158"/>
            <a:ext cx="0" cy="3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6817335" y="4328803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8" name="直線單箭頭接點 47"/>
          <p:cNvCxnSpPr/>
          <p:nvPr/>
        </p:nvCxnSpPr>
        <p:spPr>
          <a:xfrm flipV="1">
            <a:off x="5409771" y="4528787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圓角矩形 48"/>
          <p:cNvSpPr/>
          <p:nvPr/>
        </p:nvSpPr>
        <p:spPr>
          <a:xfrm>
            <a:off x="5700931" y="4815212"/>
            <a:ext cx="776378" cy="3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0" name="圓角矩形 49"/>
          <p:cNvSpPr/>
          <p:nvPr/>
        </p:nvSpPr>
        <p:spPr>
          <a:xfrm>
            <a:off x="7831612" y="4815212"/>
            <a:ext cx="776378" cy="3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51" name="直線單箭頭接點 50"/>
          <p:cNvCxnSpPr>
            <a:stCxn id="49" idx="3"/>
            <a:endCxn id="60" idx="1"/>
          </p:cNvCxnSpPr>
          <p:nvPr/>
        </p:nvCxnSpPr>
        <p:spPr>
          <a:xfrm flipV="1">
            <a:off x="6477309" y="4977141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肘形接點 51"/>
          <p:cNvCxnSpPr>
            <a:stCxn id="50" idx="3"/>
          </p:cNvCxnSpPr>
          <p:nvPr/>
        </p:nvCxnSpPr>
        <p:spPr>
          <a:xfrm>
            <a:off x="8607990" y="4977212"/>
            <a:ext cx="302638" cy="99864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群組 52"/>
          <p:cNvGrpSpPr/>
          <p:nvPr/>
        </p:nvGrpSpPr>
        <p:grpSpPr>
          <a:xfrm>
            <a:off x="8776171" y="5086969"/>
            <a:ext cx="284672" cy="74728"/>
            <a:chOff x="4500707" y="5027372"/>
            <a:chExt cx="284672" cy="74728"/>
          </a:xfrm>
        </p:grpSpPr>
        <p:cxnSp>
          <p:nvCxnSpPr>
            <p:cNvPr id="54" name="直線接點 53"/>
            <p:cNvCxnSpPr/>
            <p:nvPr/>
          </p:nvCxnSpPr>
          <p:spPr>
            <a:xfrm>
              <a:off x="4500707" y="5027372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接點 54"/>
            <p:cNvCxnSpPr/>
            <p:nvPr/>
          </p:nvCxnSpPr>
          <p:spPr>
            <a:xfrm>
              <a:off x="4553790" y="5102100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直線接點 55"/>
          <p:cNvCxnSpPr>
            <a:stCxn id="49" idx="0"/>
            <a:endCxn id="49" idx="2"/>
          </p:cNvCxnSpPr>
          <p:nvPr/>
        </p:nvCxnSpPr>
        <p:spPr>
          <a:xfrm>
            <a:off x="6089120" y="4815212"/>
            <a:ext cx="0" cy="3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50" idx="0"/>
            <a:endCxn id="50" idx="2"/>
          </p:cNvCxnSpPr>
          <p:nvPr/>
        </p:nvCxnSpPr>
        <p:spPr>
          <a:xfrm>
            <a:off x="8219801" y="4815212"/>
            <a:ext cx="0" cy="3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/>
          <p:cNvSpPr txBox="1"/>
          <p:nvPr/>
        </p:nvSpPr>
        <p:spPr>
          <a:xfrm>
            <a:off x="7866116" y="47636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5735435" y="477043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0" name="圓角矩形 59"/>
          <p:cNvSpPr/>
          <p:nvPr/>
        </p:nvSpPr>
        <p:spPr>
          <a:xfrm>
            <a:off x="6771337" y="4815141"/>
            <a:ext cx="776378" cy="3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61" name="直線接點 60"/>
          <p:cNvCxnSpPr>
            <a:stCxn id="60" idx="0"/>
            <a:endCxn id="60" idx="2"/>
          </p:cNvCxnSpPr>
          <p:nvPr/>
        </p:nvCxnSpPr>
        <p:spPr>
          <a:xfrm>
            <a:off x="7159526" y="4815141"/>
            <a:ext cx="0" cy="3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6805841" y="476878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63" name="直線單箭頭接點 62"/>
          <p:cNvCxnSpPr>
            <a:stCxn id="60" idx="3"/>
            <a:endCxn id="50" idx="1"/>
          </p:cNvCxnSpPr>
          <p:nvPr/>
        </p:nvCxnSpPr>
        <p:spPr>
          <a:xfrm>
            <a:off x="7547715" y="4977141"/>
            <a:ext cx="283897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 flipV="1">
            <a:off x="5406903" y="4968770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圓角矩形 64"/>
          <p:cNvSpPr/>
          <p:nvPr/>
        </p:nvSpPr>
        <p:spPr>
          <a:xfrm>
            <a:off x="5700931" y="5278091"/>
            <a:ext cx="776378" cy="3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66" name="直線單箭頭接點 65"/>
          <p:cNvCxnSpPr>
            <a:stCxn id="65" idx="3"/>
            <a:endCxn id="73" idx="1"/>
          </p:cNvCxnSpPr>
          <p:nvPr/>
        </p:nvCxnSpPr>
        <p:spPr>
          <a:xfrm flipV="1">
            <a:off x="6477309" y="5440020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接點 66"/>
          <p:cNvCxnSpPr/>
          <p:nvPr/>
        </p:nvCxnSpPr>
        <p:spPr>
          <a:xfrm>
            <a:off x="7555618" y="5440091"/>
            <a:ext cx="302638" cy="99864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群組 67"/>
          <p:cNvGrpSpPr/>
          <p:nvPr/>
        </p:nvGrpSpPr>
        <p:grpSpPr>
          <a:xfrm>
            <a:off x="7723799" y="5549848"/>
            <a:ext cx="284672" cy="74728"/>
            <a:chOff x="4500707" y="5027372"/>
            <a:chExt cx="284672" cy="74728"/>
          </a:xfrm>
        </p:grpSpPr>
        <p:cxnSp>
          <p:nvCxnSpPr>
            <p:cNvPr id="69" name="直線接點 68"/>
            <p:cNvCxnSpPr/>
            <p:nvPr/>
          </p:nvCxnSpPr>
          <p:spPr>
            <a:xfrm>
              <a:off x="4500707" y="5027372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接點 69"/>
            <p:cNvCxnSpPr/>
            <p:nvPr/>
          </p:nvCxnSpPr>
          <p:spPr>
            <a:xfrm>
              <a:off x="4553790" y="5102100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直線接點 70"/>
          <p:cNvCxnSpPr>
            <a:stCxn id="65" idx="0"/>
            <a:endCxn id="65" idx="2"/>
          </p:cNvCxnSpPr>
          <p:nvPr/>
        </p:nvCxnSpPr>
        <p:spPr>
          <a:xfrm>
            <a:off x="6089120" y="5278091"/>
            <a:ext cx="0" cy="3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/>
          <p:cNvSpPr txBox="1"/>
          <p:nvPr/>
        </p:nvSpPr>
        <p:spPr>
          <a:xfrm>
            <a:off x="5735435" y="52333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3" name="圓角矩形 72"/>
          <p:cNvSpPr/>
          <p:nvPr/>
        </p:nvSpPr>
        <p:spPr>
          <a:xfrm>
            <a:off x="6771337" y="5278020"/>
            <a:ext cx="776378" cy="3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74" name="直線接點 73"/>
          <p:cNvCxnSpPr>
            <a:stCxn id="73" idx="0"/>
            <a:endCxn id="73" idx="2"/>
          </p:cNvCxnSpPr>
          <p:nvPr/>
        </p:nvCxnSpPr>
        <p:spPr>
          <a:xfrm>
            <a:off x="7159526" y="5278020"/>
            <a:ext cx="0" cy="3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字方塊 74"/>
          <p:cNvSpPr txBox="1"/>
          <p:nvPr/>
        </p:nvSpPr>
        <p:spPr>
          <a:xfrm>
            <a:off x="6805841" y="5231665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76" name="直線單箭頭接點 75"/>
          <p:cNvCxnSpPr/>
          <p:nvPr/>
        </p:nvCxnSpPr>
        <p:spPr>
          <a:xfrm flipV="1">
            <a:off x="5406903" y="5431649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字方塊 76"/>
          <p:cNvSpPr txBox="1"/>
          <p:nvPr/>
        </p:nvSpPr>
        <p:spPr>
          <a:xfrm>
            <a:off x="4798514" y="3431983"/>
            <a:ext cx="780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4642061" y="386063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4642061" y="43371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4649274" y="4768715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4642061" y="52400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圓角矩形 81"/>
          <p:cNvSpPr/>
          <p:nvPr/>
        </p:nvSpPr>
        <p:spPr>
          <a:xfrm>
            <a:off x="4615115" y="3840719"/>
            <a:ext cx="4474474" cy="43558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887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相鄰串列 </a:t>
            </a:r>
            <a:r>
              <a:rPr lang="en-US" altLang="zh-TW" dirty="0"/>
              <a:t>adjacency list 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節點數共</a:t>
            </a:r>
            <a:r>
              <a:rPr lang="en-US" altLang="zh-TW" dirty="0">
                <a:solidFill>
                  <a:srgbClr val="C00000"/>
                </a:solidFill>
              </a:rPr>
              <a:t>5</a:t>
            </a:r>
            <a:r>
              <a:rPr lang="zh-TW" altLang="en-US" dirty="0"/>
              <a:t>個，為邊數</a:t>
            </a:r>
            <a:endParaRPr lang="en-US" altLang="zh-TW" dirty="0"/>
          </a:p>
          <a:p>
            <a:r>
              <a:rPr lang="en-US" altLang="zh-TW" i="1" dirty="0">
                <a:solidFill>
                  <a:srgbClr val="0000FF"/>
                </a:solidFill>
              </a:rPr>
              <a:t>a</a:t>
            </a:r>
            <a:r>
              <a:rPr lang="zh-TW" altLang="en-US" dirty="0"/>
              <a:t>串列有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  <a:r>
              <a:rPr lang="zh-TW" altLang="en-US" dirty="0"/>
              <a:t>個節點，</a:t>
            </a:r>
            <a:r>
              <a:rPr lang="en-US" altLang="zh-TW" i="1" dirty="0"/>
              <a:t>a</a:t>
            </a:r>
            <a:r>
              <a:rPr lang="zh-TW" altLang="en-US" dirty="0"/>
              <a:t>有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  <a:r>
              <a:rPr lang="zh-TW" altLang="en-US" dirty="0"/>
              <a:t>個邊出去</a:t>
            </a:r>
            <a:endParaRPr lang="en-US" altLang="zh-TW" dirty="0"/>
          </a:p>
          <a:p>
            <a:pPr lvl="1"/>
            <a:r>
              <a:rPr lang="en-US" altLang="zh-TW" i="1" dirty="0">
                <a:solidFill>
                  <a:srgbClr val="0000FF"/>
                </a:solidFill>
              </a:rPr>
              <a:t>a</a:t>
            </a:r>
            <a:r>
              <a:rPr lang="zh-TW" altLang="en-US" dirty="0"/>
              <a:t>的出分支度為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</a:p>
          <a:p>
            <a:r>
              <a:rPr lang="en-US" altLang="zh-TW" dirty="0"/>
              <a:t>4</a:t>
            </a:r>
            <a:r>
              <a:rPr lang="zh-TW" altLang="en-US" dirty="0"/>
              <a:t>個串列共有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r>
              <a:rPr lang="zh-TW" altLang="en-US" dirty="0"/>
              <a:t>個節點為</a:t>
            </a:r>
            <a:r>
              <a:rPr lang="en-US" altLang="zh-TW" i="1" dirty="0">
                <a:solidFill>
                  <a:srgbClr val="0000FF"/>
                </a:solidFill>
              </a:rPr>
              <a:t>a</a:t>
            </a:r>
            <a:r>
              <a:rPr lang="zh-TW" altLang="en-US" dirty="0"/>
              <a:t>，</a:t>
            </a:r>
            <a:r>
              <a:rPr lang="en-US" altLang="zh-TW" i="1" dirty="0">
                <a:solidFill>
                  <a:srgbClr val="0000FF"/>
                </a:solidFill>
              </a:rPr>
              <a:t>a</a:t>
            </a:r>
            <a:r>
              <a:rPr lang="zh-TW" altLang="en-US" dirty="0"/>
              <a:t>有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r>
              <a:rPr lang="zh-TW" altLang="en-US" dirty="0"/>
              <a:t>個邊進來</a:t>
            </a:r>
            <a:endParaRPr lang="en-US" altLang="zh-TW" dirty="0"/>
          </a:p>
          <a:p>
            <a:pPr lvl="1"/>
            <a:r>
              <a:rPr lang="en-US" altLang="zh-TW" i="1" dirty="0">
                <a:solidFill>
                  <a:srgbClr val="0000FF"/>
                </a:solidFill>
              </a:rPr>
              <a:t>a</a:t>
            </a:r>
            <a:r>
              <a:rPr lang="zh-TW" altLang="en-US" dirty="0"/>
              <a:t>的入分支度為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endParaRPr lang="zh-TW" altLang="en-US" dirty="0">
              <a:solidFill>
                <a:srgbClr val="C00000"/>
              </a:solidFill>
            </a:endParaRP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6198591" y="2009069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6"/>
            <a:endCxn id="9" idx="2"/>
          </p:cNvCxnSpPr>
          <p:nvPr/>
        </p:nvCxnSpPr>
        <p:spPr>
          <a:xfrm>
            <a:off x="6378591" y="2099069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/>
          <p:cNvSpPr/>
          <p:nvPr/>
        </p:nvSpPr>
        <p:spPr>
          <a:xfrm>
            <a:off x="7506931" y="2009069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198591" y="311037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7506931" y="311037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9" idx="4"/>
            <a:endCxn id="11" idx="0"/>
          </p:cNvCxnSpPr>
          <p:nvPr/>
        </p:nvCxnSpPr>
        <p:spPr>
          <a:xfrm>
            <a:off x="7596931" y="2189069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7" idx="4"/>
            <a:endCxn id="10" idx="0"/>
          </p:cNvCxnSpPr>
          <p:nvPr/>
        </p:nvCxnSpPr>
        <p:spPr>
          <a:xfrm>
            <a:off x="6288591" y="2189069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11" idx="2"/>
            <a:endCxn id="10" idx="6"/>
          </p:cNvCxnSpPr>
          <p:nvPr/>
        </p:nvCxnSpPr>
        <p:spPr>
          <a:xfrm flipH="1">
            <a:off x="6378591" y="3200375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11" idx="1"/>
            <a:endCxn id="7" idx="5"/>
          </p:cNvCxnSpPr>
          <p:nvPr/>
        </p:nvCxnSpPr>
        <p:spPr>
          <a:xfrm flipH="1" flipV="1">
            <a:off x="6352231" y="2162709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5927729" y="185954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928815" y="296581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635747" y="2974442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627693" y="18731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5937668" y="3793604"/>
          <a:ext cx="425848" cy="181931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25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482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圓角矩形 20"/>
          <p:cNvSpPr/>
          <p:nvPr/>
        </p:nvSpPr>
        <p:spPr>
          <a:xfrm>
            <a:off x="6662061" y="3865110"/>
            <a:ext cx="776378" cy="3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2" name="直線單箭頭接點 21"/>
          <p:cNvCxnSpPr>
            <a:stCxn id="21" idx="3"/>
            <a:endCxn id="29" idx="1"/>
          </p:cNvCxnSpPr>
          <p:nvPr/>
        </p:nvCxnSpPr>
        <p:spPr>
          <a:xfrm flipV="1">
            <a:off x="7438439" y="4027039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接點 22"/>
          <p:cNvCxnSpPr/>
          <p:nvPr/>
        </p:nvCxnSpPr>
        <p:spPr>
          <a:xfrm>
            <a:off x="8508122" y="4027110"/>
            <a:ext cx="302638" cy="99864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群組 23"/>
          <p:cNvGrpSpPr/>
          <p:nvPr/>
        </p:nvGrpSpPr>
        <p:grpSpPr>
          <a:xfrm>
            <a:off x="8676303" y="4136867"/>
            <a:ext cx="284672" cy="74728"/>
            <a:chOff x="4500707" y="5027372"/>
            <a:chExt cx="284672" cy="74728"/>
          </a:xfrm>
        </p:grpSpPr>
        <p:cxnSp>
          <p:nvCxnSpPr>
            <p:cNvPr id="25" name="直線接點 24"/>
            <p:cNvCxnSpPr/>
            <p:nvPr/>
          </p:nvCxnSpPr>
          <p:spPr>
            <a:xfrm>
              <a:off x="4500707" y="5027372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>
              <a:off x="4553790" y="5102100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直線接點 26"/>
          <p:cNvCxnSpPr>
            <a:stCxn id="21" idx="0"/>
            <a:endCxn id="21" idx="2"/>
          </p:cNvCxnSpPr>
          <p:nvPr/>
        </p:nvCxnSpPr>
        <p:spPr>
          <a:xfrm>
            <a:off x="7050250" y="3865110"/>
            <a:ext cx="0" cy="3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6687939" y="382033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圓角矩形 28"/>
          <p:cNvSpPr/>
          <p:nvPr/>
        </p:nvSpPr>
        <p:spPr>
          <a:xfrm>
            <a:off x="7732467" y="3865039"/>
            <a:ext cx="776378" cy="3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0" name="直線接點 29"/>
          <p:cNvCxnSpPr>
            <a:stCxn id="29" idx="0"/>
            <a:endCxn id="29" idx="2"/>
          </p:cNvCxnSpPr>
          <p:nvPr/>
        </p:nvCxnSpPr>
        <p:spPr>
          <a:xfrm>
            <a:off x="8120656" y="3865039"/>
            <a:ext cx="0" cy="3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7766971" y="381868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2" name="直線單箭頭接點 31"/>
          <p:cNvCxnSpPr/>
          <p:nvPr/>
        </p:nvCxnSpPr>
        <p:spPr>
          <a:xfrm flipV="1">
            <a:off x="6368033" y="4018668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接點 32"/>
          <p:cNvCxnSpPr/>
          <p:nvPr/>
        </p:nvCxnSpPr>
        <p:spPr>
          <a:xfrm>
            <a:off x="6368874" y="4489989"/>
            <a:ext cx="302638" cy="99864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群組 33"/>
          <p:cNvGrpSpPr/>
          <p:nvPr/>
        </p:nvGrpSpPr>
        <p:grpSpPr>
          <a:xfrm>
            <a:off x="6537055" y="4599746"/>
            <a:ext cx="284672" cy="74728"/>
            <a:chOff x="4500707" y="5027372"/>
            <a:chExt cx="284672" cy="74728"/>
          </a:xfrm>
        </p:grpSpPr>
        <p:cxnSp>
          <p:nvCxnSpPr>
            <p:cNvPr id="35" name="直線接點 34"/>
            <p:cNvCxnSpPr/>
            <p:nvPr/>
          </p:nvCxnSpPr>
          <p:spPr>
            <a:xfrm>
              <a:off x="4500707" y="5027372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>
              <a:off x="4553790" y="5102100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圓角矩形 36"/>
          <p:cNvSpPr/>
          <p:nvPr/>
        </p:nvSpPr>
        <p:spPr>
          <a:xfrm>
            <a:off x="6659193" y="4767972"/>
            <a:ext cx="776378" cy="3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8" name="直線單箭頭接點 37"/>
          <p:cNvCxnSpPr>
            <a:stCxn id="37" idx="3"/>
            <a:endCxn id="45" idx="1"/>
          </p:cNvCxnSpPr>
          <p:nvPr/>
        </p:nvCxnSpPr>
        <p:spPr>
          <a:xfrm flipV="1">
            <a:off x="7435571" y="4929901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接點 38"/>
          <p:cNvCxnSpPr/>
          <p:nvPr/>
        </p:nvCxnSpPr>
        <p:spPr>
          <a:xfrm>
            <a:off x="8505254" y="4929972"/>
            <a:ext cx="302638" cy="99864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群組 39"/>
          <p:cNvGrpSpPr/>
          <p:nvPr/>
        </p:nvGrpSpPr>
        <p:grpSpPr>
          <a:xfrm>
            <a:off x="8673435" y="5039729"/>
            <a:ext cx="284672" cy="74728"/>
            <a:chOff x="4500707" y="5027372"/>
            <a:chExt cx="284672" cy="74728"/>
          </a:xfrm>
        </p:grpSpPr>
        <p:cxnSp>
          <p:nvCxnSpPr>
            <p:cNvPr id="41" name="直線接點 40"/>
            <p:cNvCxnSpPr/>
            <p:nvPr/>
          </p:nvCxnSpPr>
          <p:spPr>
            <a:xfrm>
              <a:off x="4500707" y="5027372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>
              <a:off x="4553790" y="5102100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>
            <a:stCxn id="37" idx="0"/>
            <a:endCxn id="37" idx="2"/>
          </p:cNvCxnSpPr>
          <p:nvPr/>
        </p:nvCxnSpPr>
        <p:spPr>
          <a:xfrm>
            <a:off x="7047382" y="4767972"/>
            <a:ext cx="0" cy="3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6693697" y="472319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5" name="圓角矩形 44"/>
          <p:cNvSpPr/>
          <p:nvPr/>
        </p:nvSpPr>
        <p:spPr>
          <a:xfrm>
            <a:off x="7729599" y="4767901"/>
            <a:ext cx="776378" cy="3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46" name="直線接點 45"/>
          <p:cNvCxnSpPr>
            <a:stCxn id="45" idx="0"/>
            <a:endCxn id="45" idx="2"/>
          </p:cNvCxnSpPr>
          <p:nvPr/>
        </p:nvCxnSpPr>
        <p:spPr>
          <a:xfrm>
            <a:off x="8117788" y="4767901"/>
            <a:ext cx="0" cy="3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7764103" y="472154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8" name="直線單箭頭接點 47"/>
          <p:cNvCxnSpPr/>
          <p:nvPr/>
        </p:nvCxnSpPr>
        <p:spPr>
          <a:xfrm flipV="1">
            <a:off x="6365165" y="4921530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圓角矩形 48"/>
          <p:cNvSpPr/>
          <p:nvPr/>
        </p:nvSpPr>
        <p:spPr>
          <a:xfrm>
            <a:off x="6659193" y="5230851"/>
            <a:ext cx="776378" cy="3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50" name="肘形接點 49"/>
          <p:cNvCxnSpPr/>
          <p:nvPr/>
        </p:nvCxnSpPr>
        <p:spPr>
          <a:xfrm>
            <a:off x="7435630" y="5392851"/>
            <a:ext cx="302638" cy="99864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群組 50"/>
          <p:cNvGrpSpPr/>
          <p:nvPr/>
        </p:nvGrpSpPr>
        <p:grpSpPr>
          <a:xfrm>
            <a:off x="7603811" y="5502608"/>
            <a:ext cx="284672" cy="74728"/>
            <a:chOff x="4500707" y="5027372"/>
            <a:chExt cx="284672" cy="74728"/>
          </a:xfrm>
        </p:grpSpPr>
        <p:cxnSp>
          <p:nvCxnSpPr>
            <p:cNvPr id="52" name="直線接點 51"/>
            <p:cNvCxnSpPr/>
            <p:nvPr/>
          </p:nvCxnSpPr>
          <p:spPr>
            <a:xfrm>
              <a:off x="4500707" y="5027372"/>
              <a:ext cx="2846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接點 52"/>
            <p:cNvCxnSpPr/>
            <p:nvPr/>
          </p:nvCxnSpPr>
          <p:spPr>
            <a:xfrm>
              <a:off x="4553790" y="5102100"/>
              <a:ext cx="180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直線接點 53"/>
          <p:cNvCxnSpPr>
            <a:stCxn id="49" idx="0"/>
            <a:endCxn id="49" idx="2"/>
          </p:cNvCxnSpPr>
          <p:nvPr/>
        </p:nvCxnSpPr>
        <p:spPr>
          <a:xfrm>
            <a:off x="7047382" y="5230851"/>
            <a:ext cx="0" cy="3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/>
          <p:cNvSpPr txBox="1"/>
          <p:nvPr/>
        </p:nvSpPr>
        <p:spPr>
          <a:xfrm>
            <a:off x="6702323" y="5186072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56" name="直線單箭頭接點 55"/>
          <p:cNvCxnSpPr/>
          <p:nvPr/>
        </p:nvCxnSpPr>
        <p:spPr>
          <a:xfrm flipV="1">
            <a:off x="6365165" y="5384409"/>
            <a:ext cx="294028" cy="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5756776" y="3384743"/>
            <a:ext cx="780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List[]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5600323" y="381339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5600323" y="42899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607536" y="4721475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5600323" y="519279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圓角矩形 61"/>
          <p:cNvSpPr/>
          <p:nvPr/>
        </p:nvSpPr>
        <p:spPr>
          <a:xfrm>
            <a:off x="5600323" y="3797589"/>
            <a:ext cx="3489266" cy="43558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圓角矩形 62"/>
          <p:cNvSpPr/>
          <p:nvPr/>
        </p:nvSpPr>
        <p:spPr>
          <a:xfrm>
            <a:off x="6537759" y="4698670"/>
            <a:ext cx="995532" cy="43558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32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2" grpId="1" animBg="1"/>
      <p:bldP spid="6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加權圖表示法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加權圖</a:t>
            </a:r>
            <a:r>
              <a:rPr lang="en-US" altLang="zh-TW" dirty="0"/>
              <a:t>(weighted graph)</a:t>
            </a:r>
          </a:p>
          <a:p>
            <a:pPr lvl="1"/>
            <a:r>
              <a:rPr lang="zh-TW" altLang="en-US" dirty="0"/>
              <a:t>每一個邊都對應到一個唯一的數值，稱為此邊的加權</a:t>
            </a:r>
            <a:r>
              <a:rPr lang="en-US" altLang="zh-TW" dirty="0"/>
              <a:t>(weight)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1949848" y="250853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6"/>
            <a:endCxn id="9" idx="2"/>
          </p:cNvCxnSpPr>
          <p:nvPr/>
        </p:nvCxnSpPr>
        <p:spPr>
          <a:xfrm>
            <a:off x="2129848" y="2598536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/>
          <p:cNvSpPr/>
          <p:nvPr/>
        </p:nvSpPr>
        <p:spPr>
          <a:xfrm>
            <a:off x="3258188" y="250853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1949848" y="360984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258188" y="360984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9" idx="4"/>
            <a:endCxn id="11" idx="0"/>
          </p:cNvCxnSpPr>
          <p:nvPr/>
        </p:nvCxnSpPr>
        <p:spPr>
          <a:xfrm>
            <a:off x="3348188" y="2688536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7" idx="4"/>
            <a:endCxn id="10" idx="0"/>
          </p:cNvCxnSpPr>
          <p:nvPr/>
        </p:nvCxnSpPr>
        <p:spPr>
          <a:xfrm>
            <a:off x="2039848" y="2688536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11" idx="2"/>
            <a:endCxn id="10" idx="6"/>
          </p:cNvCxnSpPr>
          <p:nvPr/>
        </p:nvCxnSpPr>
        <p:spPr>
          <a:xfrm flipH="1">
            <a:off x="2129848" y="3699842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11" idx="1"/>
            <a:endCxn id="7" idx="5"/>
          </p:cNvCxnSpPr>
          <p:nvPr/>
        </p:nvCxnSpPr>
        <p:spPr>
          <a:xfrm flipH="1" flipV="1">
            <a:off x="2103488" y="2662176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1678986" y="23590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680072" y="34652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387004" y="3473909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378950" y="23726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5634421" y="250853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20" idx="6"/>
            <a:endCxn id="22" idx="2"/>
          </p:cNvCxnSpPr>
          <p:nvPr/>
        </p:nvCxnSpPr>
        <p:spPr>
          <a:xfrm>
            <a:off x="5814421" y="2598536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/>
          <p:cNvSpPr/>
          <p:nvPr/>
        </p:nvSpPr>
        <p:spPr>
          <a:xfrm>
            <a:off x="6942761" y="250853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5634421" y="360984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6942761" y="360984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>
            <a:stCxn id="22" idx="4"/>
            <a:endCxn id="24" idx="0"/>
          </p:cNvCxnSpPr>
          <p:nvPr/>
        </p:nvCxnSpPr>
        <p:spPr>
          <a:xfrm>
            <a:off x="7032761" y="2688536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20" idx="4"/>
            <a:endCxn id="23" idx="0"/>
          </p:cNvCxnSpPr>
          <p:nvPr/>
        </p:nvCxnSpPr>
        <p:spPr>
          <a:xfrm>
            <a:off x="5724421" y="2688536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4" idx="2"/>
            <a:endCxn id="23" idx="6"/>
          </p:cNvCxnSpPr>
          <p:nvPr/>
        </p:nvCxnSpPr>
        <p:spPr>
          <a:xfrm flipH="1">
            <a:off x="5814421" y="3699842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24" idx="1"/>
            <a:endCxn id="20" idx="5"/>
          </p:cNvCxnSpPr>
          <p:nvPr/>
        </p:nvCxnSpPr>
        <p:spPr>
          <a:xfrm flipH="1" flipV="1">
            <a:off x="5788061" y="2662176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5363559" y="23590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364645" y="34652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071577" y="3473909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063523" y="23726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1707508" y="4554253"/>
          <a:ext cx="1984348" cy="1584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6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1797852" y="41418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2295127" y="414335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786587" y="4143359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283862" y="414491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1383090" y="45450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1383090" y="494669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1383090" y="5346803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1383090" y="574157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1799208" y="455520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295127" y="455520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9521" y="455520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3275440" y="455520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1799208" y="495531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2295127" y="495531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2779521" y="495531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3266814" y="4955319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1799208" y="53554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2295127" y="53554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779521" y="53554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3275440" y="53554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1799208" y="575553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2779521" y="575553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3275440" y="575553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5456950" y="4551385"/>
          <a:ext cx="1984348" cy="1584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6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9" name="文字方塊 58"/>
          <p:cNvSpPr txBox="1"/>
          <p:nvPr/>
        </p:nvSpPr>
        <p:spPr>
          <a:xfrm>
            <a:off x="5547294" y="41389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6044569" y="414049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6536029" y="4140491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7033304" y="414204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5132532" y="454215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5132532" y="49438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132532" y="5343935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5132532" y="57387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5548650" y="45523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6044569" y="45523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7024882" y="45523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6044569" y="495245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5548650" y="535256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6044569" y="535256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6528963" y="535256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6528963" y="575267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7024882" y="575267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1726922" y="29491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2537565" y="36362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2537565" y="226206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3322310" y="29491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2638760" y="287149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2267876" y="5738711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5417022" y="29491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6227665" y="36362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6227665" y="226206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7012410" y="29491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6328860" y="287149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5528638" y="4946693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5532726" y="5738711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6017318" y="5738711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6525043" y="4555209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7002411" y="5355429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6522291" y="4942268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006883" y="4942268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9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6" grpId="0"/>
      <p:bldP spid="57" grpId="0"/>
      <p:bldP spid="67" grpId="0"/>
      <p:bldP spid="68" grpId="0"/>
      <p:bldP spid="70" grpId="0"/>
      <p:bldP spid="72" grpId="0"/>
      <p:bldP spid="75" grpId="0"/>
      <p:bldP spid="76" grpId="0"/>
      <p:bldP spid="77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加權圖表示法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加權圖</a:t>
            </a:r>
            <a:r>
              <a:rPr lang="en-US" altLang="zh-TW" dirty="0"/>
              <a:t>(weighted graph)</a:t>
            </a:r>
          </a:p>
          <a:p>
            <a:pPr lvl="1"/>
            <a:r>
              <a:rPr lang="zh-TW" altLang="en-US" dirty="0"/>
              <a:t>每一個邊都對應到一個唯一的數值，稱為此邊的加權</a:t>
            </a:r>
            <a:r>
              <a:rPr lang="en-US" altLang="zh-TW" dirty="0"/>
              <a:t>(weight)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09700" y="4270061"/>
          <a:ext cx="425848" cy="181931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25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482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13" name="群組 212"/>
          <p:cNvGrpSpPr/>
          <p:nvPr/>
        </p:nvGrpSpPr>
        <p:grpSpPr>
          <a:xfrm>
            <a:off x="372355" y="3861200"/>
            <a:ext cx="937436" cy="2208163"/>
            <a:chOff x="372355" y="3861200"/>
            <a:chExt cx="937436" cy="2208163"/>
          </a:xfrm>
        </p:grpSpPr>
        <p:sp>
          <p:nvSpPr>
            <p:cNvPr id="64" name="文字方塊 63"/>
            <p:cNvSpPr txBox="1"/>
            <p:nvPr/>
          </p:nvSpPr>
          <p:spPr>
            <a:xfrm>
              <a:off x="528808" y="3861200"/>
              <a:ext cx="7809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72355" y="428984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72355" y="476639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79568" y="5197932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72355" y="566925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69" name="表格 68"/>
          <p:cNvGraphicFramePr>
            <a:graphicFrameLocks noGrp="1"/>
          </p:cNvGraphicFramePr>
          <p:nvPr/>
        </p:nvGraphicFramePr>
        <p:xfrm>
          <a:off x="5373498" y="4267193"/>
          <a:ext cx="425848" cy="181931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25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482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82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21" name="群組 220"/>
          <p:cNvGrpSpPr/>
          <p:nvPr/>
        </p:nvGrpSpPr>
        <p:grpSpPr>
          <a:xfrm>
            <a:off x="5804704" y="4963578"/>
            <a:ext cx="452853" cy="184485"/>
            <a:chOff x="5804704" y="4963578"/>
            <a:chExt cx="452853" cy="184485"/>
          </a:xfrm>
        </p:grpSpPr>
        <p:cxnSp>
          <p:nvCxnSpPr>
            <p:cNvPr id="82" name="肘形接點 81"/>
            <p:cNvCxnSpPr/>
            <p:nvPr/>
          </p:nvCxnSpPr>
          <p:spPr>
            <a:xfrm>
              <a:off x="5804704" y="4963578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群組 82"/>
            <p:cNvGrpSpPr/>
            <p:nvPr/>
          </p:nvGrpSpPr>
          <p:grpSpPr>
            <a:xfrm>
              <a:off x="5972885" y="5073335"/>
              <a:ext cx="284672" cy="74728"/>
              <a:chOff x="4500707" y="5027372"/>
              <a:chExt cx="284672" cy="74728"/>
            </a:xfrm>
          </p:grpSpPr>
          <p:cxnSp>
            <p:nvCxnSpPr>
              <p:cNvPr id="84" name="直線接點 83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線接點 84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4" name="群組 213"/>
          <p:cNvGrpSpPr/>
          <p:nvPr/>
        </p:nvGrpSpPr>
        <p:grpSpPr>
          <a:xfrm>
            <a:off x="5036153" y="3858332"/>
            <a:ext cx="937436" cy="2208163"/>
            <a:chOff x="5036153" y="3858332"/>
            <a:chExt cx="937436" cy="2208163"/>
          </a:xfrm>
        </p:grpSpPr>
        <p:sp>
          <p:nvSpPr>
            <p:cNvPr id="106" name="文字方塊 105"/>
            <p:cNvSpPr txBox="1"/>
            <p:nvPr/>
          </p:nvSpPr>
          <p:spPr>
            <a:xfrm>
              <a:off x="5192606" y="3858332"/>
              <a:ext cx="7809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List[]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文字方塊 106"/>
            <p:cNvSpPr txBox="1"/>
            <p:nvPr/>
          </p:nvSpPr>
          <p:spPr>
            <a:xfrm>
              <a:off x="5036153" y="428698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文字方塊 107"/>
            <p:cNvSpPr txBox="1"/>
            <p:nvPr/>
          </p:nvSpPr>
          <p:spPr>
            <a:xfrm>
              <a:off x="5036153" y="476352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文字方塊 108"/>
            <p:cNvSpPr txBox="1"/>
            <p:nvPr/>
          </p:nvSpPr>
          <p:spPr>
            <a:xfrm>
              <a:off x="5043366" y="5195064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文字方塊 109"/>
            <p:cNvSpPr txBox="1"/>
            <p:nvPr/>
          </p:nvSpPr>
          <p:spPr>
            <a:xfrm>
              <a:off x="5036153" y="566638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7" name="橢圓 146"/>
          <p:cNvSpPr/>
          <p:nvPr/>
        </p:nvSpPr>
        <p:spPr>
          <a:xfrm>
            <a:off x="1949848" y="250853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8" name="直線接點 147"/>
          <p:cNvCxnSpPr>
            <a:stCxn id="147" idx="6"/>
            <a:endCxn id="149" idx="2"/>
          </p:cNvCxnSpPr>
          <p:nvPr/>
        </p:nvCxnSpPr>
        <p:spPr>
          <a:xfrm>
            <a:off x="2129848" y="2598536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橢圓 148"/>
          <p:cNvSpPr/>
          <p:nvPr/>
        </p:nvSpPr>
        <p:spPr>
          <a:xfrm>
            <a:off x="3258188" y="250853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0" name="橢圓 149"/>
          <p:cNvSpPr/>
          <p:nvPr/>
        </p:nvSpPr>
        <p:spPr>
          <a:xfrm>
            <a:off x="1949848" y="360984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1" name="橢圓 150"/>
          <p:cNvSpPr/>
          <p:nvPr/>
        </p:nvSpPr>
        <p:spPr>
          <a:xfrm>
            <a:off x="3258188" y="360984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2" name="直線接點 151"/>
          <p:cNvCxnSpPr>
            <a:stCxn id="149" idx="4"/>
            <a:endCxn id="151" idx="0"/>
          </p:cNvCxnSpPr>
          <p:nvPr/>
        </p:nvCxnSpPr>
        <p:spPr>
          <a:xfrm>
            <a:off x="3348188" y="2688536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接點 152"/>
          <p:cNvCxnSpPr>
            <a:stCxn id="147" idx="4"/>
            <a:endCxn id="150" idx="0"/>
          </p:cNvCxnSpPr>
          <p:nvPr/>
        </p:nvCxnSpPr>
        <p:spPr>
          <a:xfrm>
            <a:off x="2039848" y="2688536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接點 153"/>
          <p:cNvCxnSpPr>
            <a:stCxn id="151" idx="2"/>
            <a:endCxn id="150" idx="6"/>
          </p:cNvCxnSpPr>
          <p:nvPr/>
        </p:nvCxnSpPr>
        <p:spPr>
          <a:xfrm flipH="1">
            <a:off x="2129848" y="3699842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接點 154"/>
          <p:cNvCxnSpPr>
            <a:stCxn id="151" idx="1"/>
            <a:endCxn id="147" idx="5"/>
          </p:cNvCxnSpPr>
          <p:nvPr/>
        </p:nvCxnSpPr>
        <p:spPr>
          <a:xfrm flipH="1" flipV="1">
            <a:off x="2103488" y="2662176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文字方塊 155"/>
          <p:cNvSpPr txBox="1"/>
          <p:nvPr/>
        </p:nvSpPr>
        <p:spPr>
          <a:xfrm>
            <a:off x="1678986" y="23590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文字方塊 156"/>
          <p:cNvSpPr txBox="1"/>
          <p:nvPr/>
        </p:nvSpPr>
        <p:spPr>
          <a:xfrm>
            <a:off x="1680072" y="34652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文字方塊 157"/>
          <p:cNvSpPr txBox="1"/>
          <p:nvPr/>
        </p:nvSpPr>
        <p:spPr>
          <a:xfrm>
            <a:off x="3387004" y="3473909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字方塊 158"/>
          <p:cNvSpPr txBox="1"/>
          <p:nvPr/>
        </p:nvSpPr>
        <p:spPr>
          <a:xfrm>
            <a:off x="3378950" y="23726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橢圓 159"/>
          <p:cNvSpPr/>
          <p:nvPr/>
        </p:nvSpPr>
        <p:spPr>
          <a:xfrm>
            <a:off x="5634421" y="250853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1" name="直線接點 160"/>
          <p:cNvCxnSpPr>
            <a:stCxn id="160" idx="6"/>
            <a:endCxn id="162" idx="2"/>
          </p:cNvCxnSpPr>
          <p:nvPr/>
        </p:nvCxnSpPr>
        <p:spPr>
          <a:xfrm>
            <a:off x="5814421" y="2598536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橢圓 161"/>
          <p:cNvSpPr/>
          <p:nvPr/>
        </p:nvSpPr>
        <p:spPr>
          <a:xfrm>
            <a:off x="6942761" y="250853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3" name="橢圓 162"/>
          <p:cNvSpPr/>
          <p:nvPr/>
        </p:nvSpPr>
        <p:spPr>
          <a:xfrm>
            <a:off x="5634421" y="360984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4" name="橢圓 163"/>
          <p:cNvSpPr/>
          <p:nvPr/>
        </p:nvSpPr>
        <p:spPr>
          <a:xfrm>
            <a:off x="6942761" y="360984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5" name="直線接點 164"/>
          <p:cNvCxnSpPr>
            <a:stCxn id="162" idx="4"/>
            <a:endCxn id="164" idx="0"/>
          </p:cNvCxnSpPr>
          <p:nvPr/>
        </p:nvCxnSpPr>
        <p:spPr>
          <a:xfrm>
            <a:off x="7032761" y="2688536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接點 165"/>
          <p:cNvCxnSpPr>
            <a:stCxn id="160" idx="4"/>
            <a:endCxn id="163" idx="0"/>
          </p:cNvCxnSpPr>
          <p:nvPr/>
        </p:nvCxnSpPr>
        <p:spPr>
          <a:xfrm>
            <a:off x="5724421" y="2688536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接點 166"/>
          <p:cNvCxnSpPr>
            <a:stCxn id="164" idx="2"/>
            <a:endCxn id="163" idx="6"/>
          </p:cNvCxnSpPr>
          <p:nvPr/>
        </p:nvCxnSpPr>
        <p:spPr>
          <a:xfrm flipH="1">
            <a:off x="5814421" y="3699842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接點 167"/>
          <p:cNvCxnSpPr>
            <a:stCxn id="164" idx="1"/>
            <a:endCxn id="160" idx="5"/>
          </p:cNvCxnSpPr>
          <p:nvPr/>
        </p:nvCxnSpPr>
        <p:spPr>
          <a:xfrm flipH="1" flipV="1">
            <a:off x="5788061" y="2662176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字方塊 168"/>
          <p:cNvSpPr txBox="1"/>
          <p:nvPr/>
        </p:nvSpPr>
        <p:spPr>
          <a:xfrm>
            <a:off x="5363559" y="23590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文字方塊 169"/>
          <p:cNvSpPr txBox="1"/>
          <p:nvPr/>
        </p:nvSpPr>
        <p:spPr>
          <a:xfrm>
            <a:off x="5364645" y="34652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文字方塊 170"/>
          <p:cNvSpPr txBox="1"/>
          <p:nvPr/>
        </p:nvSpPr>
        <p:spPr>
          <a:xfrm>
            <a:off x="7071577" y="3473909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文字方塊 171"/>
          <p:cNvSpPr txBox="1"/>
          <p:nvPr/>
        </p:nvSpPr>
        <p:spPr>
          <a:xfrm>
            <a:off x="7063523" y="23726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文字方塊 172"/>
          <p:cNvSpPr txBox="1"/>
          <p:nvPr/>
        </p:nvSpPr>
        <p:spPr>
          <a:xfrm>
            <a:off x="1726922" y="29491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文字方塊 173"/>
          <p:cNvSpPr txBox="1"/>
          <p:nvPr/>
        </p:nvSpPr>
        <p:spPr>
          <a:xfrm>
            <a:off x="2537565" y="36362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文字方塊 174"/>
          <p:cNvSpPr txBox="1"/>
          <p:nvPr/>
        </p:nvSpPr>
        <p:spPr>
          <a:xfrm>
            <a:off x="2537565" y="226206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文字方塊 175"/>
          <p:cNvSpPr txBox="1"/>
          <p:nvPr/>
        </p:nvSpPr>
        <p:spPr>
          <a:xfrm>
            <a:off x="3322310" y="29491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文字方塊 176"/>
          <p:cNvSpPr txBox="1"/>
          <p:nvPr/>
        </p:nvSpPr>
        <p:spPr>
          <a:xfrm>
            <a:off x="2638760" y="287149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文字方塊 177"/>
          <p:cNvSpPr txBox="1"/>
          <p:nvPr/>
        </p:nvSpPr>
        <p:spPr>
          <a:xfrm>
            <a:off x="5417022" y="29491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文字方塊 178"/>
          <p:cNvSpPr txBox="1"/>
          <p:nvPr/>
        </p:nvSpPr>
        <p:spPr>
          <a:xfrm>
            <a:off x="6227665" y="36362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文字方塊 179"/>
          <p:cNvSpPr txBox="1"/>
          <p:nvPr/>
        </p:nvSpPr>
        <p:spPr>
          <a:xfrm>
            <a:off x="6227665" y="226206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文字方塊 180"/>
          <p:cNvSpPr txBox="1"/>
          <p:nvPr/>
        </p:nvSpPr>
        <p:spPr>
          <a:xfrm>
            <a:off x="7012410" y="29491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文字方塊 181"/>
          <p:cNvSpPr txBox="1"/>
          <p:nvPr/>
        </p:nvSpPr>
        <p:spPr>
          <a:xfrm>
            <a:off x="6328860" y="287149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6" name="群組 215"/>
          <p:cNvGrpSpPr/>
          <p:nvPr/>
        </p:nvGrpSpPr>
        <p:grpSpPr>
          <a:xfrm>
            <a:off x="1140065" y="4289981"/>
            <a:ext cx="3653940" cy="412675"/>
            <a:chOff x="1140065" y="4289981"/>
            <a:chExt cx="3653940" cy="412675"/>
          </a:xfrm>
        </p:grpSpPr>
        <p:sp>
          <p:nvSpPr>
            <p:cNvPr id="8" name="圓角矩形 7"/>
            <p:cNvSpPr/>
            <p:nvPr/>
          </p:nvSpPr>
          <p:spPr>
            <a:xfrm>
              <a:off x="1434093" y="4341567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3564774" y="4341567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0" name="直線單箭頭接點 9"/>
            <p:cNvCxnSpPr>
              <a:stCxn id="8" idx="3"/>
              <a:endCxn id="19" idx="1"/>
            </p:cNvCxnSpPr>
            <p:nvPr/>
          </p:nvCxnSpPr>
          <p:spPr>
            <a:xfrm flipV="1">
              <a:off x="2210471" y="4503496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肘形接點 10"/>
            <p:cNvCxnSpPr>
              <a:stCxn id="9" idx="3"/>
            </p:cNvCxnSpPr>
            <p:nvPr/>
          </p:nvCxnSpPr>
          <p:spPr>
            <a:xfrm>
              <a:off x="4341152" y="4503567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群組 11"/>
            <p:cNvGrpSpPr/>
            <p:nvPr/>
          </p:nvGrpSpPr>
          <p:grpSpPr>
            <a:xfrm>
              <a:off x="4509333" y="4613324"/>
              <a:ext cx="284672" cy="74728"/>
              <a:chOff x="4500707" y="5027372"/>
              <a:chExt cx="284672" cy="74728"/>
            </a:xfrm>
          </p:grpSpPr>
          <p:cxnSp>
            <p:nvCxnSpPr>
              <p:cNvPr id="13" name="直線接點 12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接點 13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線接點 14"/>
            <p:cNvCxnSpPr/>
            <p:nvPr/>
          </p:nvCxnSpPr>
          <p:spPr>
            <a:xfrm>
              <a:off x="1718770" y="4341567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>
            <a:xfrm>
              <a:off x="3849451" y="4341567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字方塊 16"/>
            <p:cNvSpPr txBox="1"/>
            <p:nvPr/>
          </p:nvSpPr>
          <p:spPr>
            <a:xfrm>
              <a:off x="3538896" y="428998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d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1408215" y="429678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圓角矩形 18"/>
            <p:cNvSpPr/>
            <p:nvPr/>
          </p:nvSpPr>
          <p:spPr>
            <a:xfrm>
              <a:off x="2504499" y="4341496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0" name="直線接點 19"/>
            <p:cNvCxnSpPr/>
            <p:nvPr/>
          </p:nvCxnSpPr>
          <p:spPr>
            <a:xfrm>
              <a:off x="2789176" y="4341496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/>
            <p:cNvSpPr txBox="1"/>
            <p:nvPr/>
          </p:nvSpPr>
          <p:spPr>
            <a:xfrm>
              <a:off x="2487247" y="4295141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線單箭頭接點 21"/>
            <p:cNvCxnSpPr>
              <a:stCxn id="19" idx="3"/>
              <a:endCxn id="9" idx="1"/>
            </p:cNvCxnSpPr>
            <p:nvPr/>
          </p:nvCxnSpPr>
          <p:spPr>
            <a:xfrm>
              <a:off x="3280877" y="4503496"/>
              <a:ext cx="283897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/>
            <p:nvPr/>
          </p:nvCxnSpPr>
          <p:spPr>
            <a:xfrm flipV="1">
              <a:off x="1140065" y="4495125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線接點 182"/>
            <p:cNvCxnSpPr/>
            <p:nvPr/>
          </p:nvCxnSpPr>
          <p:spPr>
            <a:xfrm>
              <a:off x="2026438" y="4338699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線接點 183"/>
            <p:cNvCxnSpPr/>
            <p:nvPr/>
          </p:nvCxnSpPr>
          <p:spPr>
            <a:xfrm>
              <a:off x="4157119" y="4338699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線接點 184"/>
            <p:cNvCxnSpPr/>
            <p:nvPr/>
          </p:nvCxnSpPr>
          <p:spPr>
            <a:xfrm>
              <a:off x="3096844" y="4338628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文字方塊 197"/>
            <p:cNvSpPr txBox="1"/>
            <p:nvPr/>
          </p:nvSpPr>
          <p:spPr>
            <a:xfrm>
              <a:off x="3846564" y="429573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99" name="文字方塊 198"/>
            <p:cNvSpPr txBox="1"/>
            <p:nvPr/>
          </p:nvSpPr>
          <p:spPr>
            <a:xfrm>
              <a:off x="1715883" y="430254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0" name="文字方塊 199"/>
            <p:cNvSpPr txBox="1"/>
            <p:nvPr/>
          </p:nvSpPr>
          <p:spPr>
            <a:xfrm>
              <a:off x="2794915" y="430089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7" name="群組 216"/>
          <p:cNvGrpSpPr/>
          <p:nvPr/>
        </p:nvGrpSpPr>
        <p:grpSpPr>
          <a:xfrm>
            <a:off x="1140065" y="4758020"/>
            <a:ext cx="2592942" cy="407515"/>
            <a:chOff x="1140065" y="4758020"/>
            <a:chExt cx="2592942" cy="407515"/>
          </a:xfrm>
        </p:grpSpPr>
        <p:sp>
          <p:nvSpPr>
            <p:cNvPr id="24" name="圓角矩形 23"/>
            <p:cNvSpPr/>
            <p:nvPr/>
          </p:nvSpPr>
          <p:spPr>
            <a:xfrm>
              <a:off x="1434093" y="4804446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5" name="直線單箭頭接點 24"/>
            <p:cNvCxnSpPr>
              <a:stCxn id="24" idx="3"/>
              <a:endCxn id="32" idx="1"/>
            </p:cNvCxnSpPr>
            <p:nvPr/>
          </p:nvCxnSpPr>
          <p:spPr>
            <a:xfrm flipV="1">
              <a:off x="2210471" y="4966375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肘形接點 25"/>
            <p:cNvCxnSpPr/>
            <p:nvPr/>
          </p:nvCxnSpPr>
          <p:spPr>
            <a:xfrm>
              <a:off x="3280154" y="4966446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群組 26"/>
            <p:cNvGrpSpPr/>
            <p:nvPr/>
          </p:nvGrpSpPr>
          <p:grpSpPr>
            <a:xfrm>
              <a:off x="3448335" y="5076203"/>
              <a:ext cx="284672" cy="74728"/>
              <a:chOff x="4500707" y="5027372"/>
              <a:chExt cx="284672" cy="74728"/>
            </a:xfrm>
          </p:grpSpPr>
          <p:cxnSp>
            <p:nvCxnSpPr>
              <p:cNvPr id="28" name="直線接點 27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直線接點 29"/>
            <p:cNvCxnSpPr/>
            <p:nvPr/>
          </p:nvCxnSpPr>
          <p:spPr>
            <a:xfrm>
              <a:off x="1718770" y="4804446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1408215" y="475966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2" name="圓角矩形 31"/>
            <p:cNvSpPr/>
            <p:nvPr/>
          </p:nvSpPr>
          <p:spPr>
            <a:xfrm>
              <a:off x="2504499" y="4804375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33" name="直線接點 32"/>
            <p:cNvCxnSpPr/>
            <p:nvPr/>
          </p:nvCxnSpPr>
          <p:spPr>
            <a:xfrm>
              <a:off x="2789176" y="4804375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2495873" y="4758020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35" name="直線單箭頭接點 34"/>
            <p:cNvCxnSpPr/>
            <p:nvPr/>
          </p:nvCxnSpPr>
          <p:spPr>
            <a:xfrm flipV="1">
              <a:off x="1140065" y="4958004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線接點 185"/>
            <p:cNvCxnSpPr/>
            <p:nvPr/>
          </p:nvCxnSpPr>
          <p:spPr>
            <a:xfrm>
              <a:off x="2026438" y="4801578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線接點 186"/>
            <p:cNvCxnSpPr/>
            <p:nvPr/>
          </p:nvCxnSpPr>
          <p:spPr>
            <a:xfrm>
              <a:off x="3096844" y="4801507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文字方塊 200"/>
            <p:cNvSpPr txBox="1"/>
            <p:nvPr/>
          </p:nvSpPr>
          <p:spPr>
            <a:xfrm>
              <a:off x="1715883" y="476542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2" name="文字方塊 201"/>
            <p:cNvSpPr txBox="1"/>
            <p:nvPr/>
          </p:nvSpPr>
          <p:spPr>
            <a:xfrm>
              <a:off x="2786289" y="476377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4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8" name="群組 217"/>
          <p:cNvGrpSpPr/>
          <p:nvPr/>
        </p:nvGrpSpPr>
        <p:grpSpPr>
          <a:xfrm>
            <a:off x="1137197" y="5192843"/>
            <a:ext cx="3653940" cy="412675"/>
            <a:chOff x="1137197" y="5192843"/>
            <a:chExt cx="3653940" cy="412675"/>
          </a:xfrm>
        </p:grpSpPr>
        <p:sp>
          <p:nvSpPr>
            <p:cNvPr id="36" name="圓角矩形 35"/>
            <p:cNvSpPr/>
            <p:nvPr/>
          </p:nvSpPr>
          <p:spPr>
            <a:xfrm>
              <a:off x="1431225" y="5244429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37" name="圓角矩形 36"/>
            <p:cNvSpPr/>
            <p:nvPr/>
          </p:nvSpPr>
          <p:spPr>
            <a:xfrm>
              <a:off x="3561906" y="5244429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38" name="直線單箭頭接點 37"/>
            <p:cNvCxnSpPr>
              <a:stCxn id="36" idx="3"/>
              <a:endCxn id="47" idx="1"/>
            </p:cNvCxnSpPr>
            <p:nvPr/>
          </p:nvCxnSpPr>
          <p:spPr>
            <a:xfrm flipV="1">
              <a:off x="2207603" y="5406358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肘形接點 38"/>
            <p:cNvCxnSpPr>
              <a:stCxn id="37" idx="3"/>
            </p:cNvCxnSpPr>
            <p:nvPr/>
          </p:nvCxnSpPr>
          <p:spPr>
            <a:xfrm>
              <a:off x="4338284" y="5406429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群組 39"/>
            <p:cNvGrpSpPr/>
            <p:nvPr/>
          </p:nvGrpSpPr>
          <p:grpSpPr>
            <a:xfrm>
              <a:off x="4506465" y="5516186"/>
              <a:ext cx="284672" cy="74728"/>
              <a:chOff x="4500707" y="5027372"/>
              <a:chExt cx="284672" cy="74728"/>
            </a:xfrm>
          </p:grpSpPr>
          <p:cxnSp>
            <p:nvCxnSpPr>
              <p:cNvPr id="41" name="直線接點 40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接點 41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線接點 42"/>
            <p:cNvCxnSpPr/>
            <p:nvPr/>
          </p:nvCxnSpPr>
          <p:spPr>
            <a:xfrm>
              <a:off x="1715902" y="5244429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/>
            <p:cNvCxnSpPr/>
            <p:nvPr/>
          </p:nvCxnSpPr>
          <p:spPr>
            <a:xfrm>
              <a:off x="3846583" y="5244429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字方塊 44"/>
            <p:cNvSpPr txBox="1"/>
            <p:nvPr/>
          </p:nvSpPr>
          <p:spPr>
            <a:xfrm>
              <a:off x="3544654" y="519284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d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413973" y="519965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7" name="圓角矩形 46"/>
            <p:cNvSpPr/>
            <p:nvPr/>
          </p:nvSpPr>
          <p:spPr>
            <a:xfrm>
              <a:off x="2501631" y="5244358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48" name="直線接點 47"/>
            <p:cNvCxnSpPr/>
            <p:nvPr/>
          </p:nvCxnSpPr>
          <p:spPr>
            <a:xfrm>
              <a:off x="2786308" y="5244358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字方塊 48"/>
            <p:cNvSpPr txBox="1"/>
            <p:nvPr/>
          </p:nvSpPr>
          <p:spPr>
            <a:xfrm>
              <a:off x="2484379" y="519800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50" name="直線單箭頭接點 49"/>
            <p:cNvCxnSpPr>
              <a:stCxn id="47" idx="3"/>
              <a:endCxn id="37" idx="1"/>
            </p:cNvCxnSpPr>
            <p:nvPr/>
          </p:nvCxnSpPr>
          <p:spPr>
            <a:xfrm>
              <a:off x="3278009" y="5406358"/>
              <a:ext cx="283897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>
            <a:xfrm flipV="1">
              <a:off x="1137197" y="5397987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線接點 187"/>
            <p:cNvCxnSpPr/>
            <p:nvPr/>
          </p:nvCxnSpPr>
          <p:spPr>
            <a:xfrm>
              <a:off x="2023570" y="5241561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線接點 188"/>
            <p:cNvCxnSpPr/>
            <p:nvPr/>
          </p:nvCxnSpPr>
          <p:spPr>
            <a:xfrm>
              <a:off x="4154251" y="5241561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線接點 189"/>
            <p:cNvCxnSpPr/>
            <p:nvPr/>
          </p:nvCxnSpPr>
          <p:spPr>
            <a:xfrm>
              <a:off x="3093976" y="5241490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文字方塊 202"/>
            <p:cNvSpPr txBox="1"/>
            <p:nvPr/>
          </p:nvSpPr>
          <p:spPr>
            <a:xfrm>
              <a:off x="3852322" y="519860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6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4" name="文字方塊 203"/>
            <p:cNvSpPr txBox="1"/>
            <p:nvPr/>
          </p:nvSpPr>
          <p:spPr>
            <a:xfrm>
              <a:off x="1721641" y="520540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5" name="文字方塊 204"/>
            <p:cNvSpPr txBox="1"/>
            <p:nvPr/>
          </p:nvSpPr>
          <p:spPr>
            <a:xfrm>
              <a:off x="2792047" y="520376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4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9" name="群組 218"/>
          <p:cNvGrpSpPr/>
          <p:nvPr/>
        </p:nvGrpSpPr>
        <p:grpSpPr>
          <a:xfrm>
            <a:off x="1137197" y="5660882"/>
            <a:ext cx="2601568" cy="407515"/>
            <a:chOff x="1137197" y="5660882"/>
            <a:chExt cx="2601568" cy="407515"/>
          </a:xfrm>
        </p:grpSpPr>
        <p:sp>
          <p:nvSpPr>
            <p:cNvPr id="52" name="圓角矩形 51"/>
            <p:cNvSpPr/>
            <p:nvPr/>
          </p:nvSpPr>
          <p:spPr>
            <a:xfrm>
              <a:off x="1431225" y="5707308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53" name="直線單箭頭接點 52"/>
            <p:cNvCxnSpPr>
              <a:stCxn id="52" idx="3"/>
              <a:endCxn id="60" idx="1"/>
            </p:cNvCxnSpPr>
            <p:nvPr/>
          </p:nvCxnSpPr>
          <p:spPr>
            <a:xfrm flipV="1">
              <a:off x="2207603" y="5869237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肘形接點 53"/>
            <p:cNvCxnSpPr/>
            <p:nvPr/>
          </p:nvCxnSpPr>
          <p:spPr>
            <a:xfrm>
              <a:off x="3285912" y="5869308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群組 54"/>
            <p:cNvGrpSpPr/>
            <p:nvPr/>
          </p:nvGrpSpPr>
          <p:grpSpPr>
            <a:xfrm>
              <a:off x="3454093" y="5979065"/>
              <a:ext cx="284672" cy="74728"/>
              <a:chOff x="4500707" y="5027372"/>
              <a:chExt cx="284672" cy="74728"/>
            </a:xfrm>
          </p:grpSpPr>
          <p:cxnSp>
            <p:nvCxnSpPr>
              <p:cNvPr id="56" name="直線接點 55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線接點 56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直線接點 57"/>
            <p:cNvCxnSpPr/>
            <p:nvPr/>
          </p:nvCxnSpPr>
          <p:spPr>
            <a:xfrm>
              <a:off x="1715902" y="5707308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字方塊 58"/>
            <p:cNvSpPr txBox="1"/>
            <p:nvPr/>
          </p:nvSpPr>
          <p:spPr>
            <a:xfrm>
              <a:off x="1413973" y="566252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0" name="圓角矩形 59"/>
            <p:cNvSpPr/>
            <p:nvPr/>
          </p:nvSpPr>
          <p:spPr>
            <a:xfrm>
              <a:off x="2501631" y="5707237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61" name="直線接點 60"/>
            <p:cNvCxnSpPr/>
            <p:nvPr/>
          </p:nvCxnSpPr>
          <p:spPr>
            <a:xfrm>
              <a:off x="2786308" y="5707237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字方塊 61"/>
            <p:cNvSpPr txBox="1"/>
            <p:nvPr/>
          </p:nvSpPr>
          <p:spPr>
            <a:xfrm>
              <a:off x="2484379" y="5660882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63" name="直線單箭頭接點 62"/>
            <p:cNvCxnSpPr/>
            <p:nvPr/>
          </p:nvCxnSpPr>
          <p:spPr>
            <a:xfrm flipV="1">
              <a:off x="1137197" y="5860866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線接點 190"/>
            <p:cNvCxnSpPr/>
            <p:nvPr/>
          </p:nvCxnSpPr>
          <p:spPr>
            <a:xfrm>
              <a:off x="2023570" y="5704440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線接點 191"/>
            <p:cNvCxnSpPr/>
            <p:nvPr/>
          </p:nvCxnSpPr>
          <p:spPr>
            <a:xfrm>
              <a:off x="3093976" y="5704369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文字方塊 205"/>
            <p:cNvSpPr txBox="1"/>
            <p:nvPr/>
          </p:nvSpPr>
          <p:spPr>
            <a:xfrm>
              <a:off x="1721641" y="566828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7" name="文字方塊 206"/>
            <p:cNvSpPr txBox="1"/>
            <p:nvPr/>
          </p:nvSpPr>
          <p:spPr>
            <a:xfrm>
              <a:off x="2792047" y="566664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6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0" name="群組 219"/>
          <p:cNvGrpSpPr/>
          <p:nvPr/>
        </p:nvGrpSpPr>
        <p:grpSpPr>
          <a:xfrm>
            <a:off x="5803863" y="4292273"/>
            <a:ext cx="2592942" cy="407515"/>
            <a:chOff x="5803863" y="4292273"/>
            <a:chExt cx="2592942" cy="407515"/>
          </a:xfrm>
        </p:grpSpPr>
        <p:sp>
          <p:nvSpPr>
            <p:cNvPr id="70" name="圓角矩形 69"/>
            <p:cNvSpPr/>
            <p:nvPr/>
          </p:nvSpPr>
          <p:spPr>
            <a:xfrm>
              <a:off x="6097891" y="4338699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71" name="直線單箭頭接點 70"/>
            <p:cNvCxnSpPr>
              <a:stCxn id="70" idx="3"/>
              <a:endCxn id="78" idx="1"/>
            </p:cNvCxnSpPr>
            <p:nvPr/>
          </p:nvCxnSpPr>
          <p:spPr>
            <a:xfrm flipV="1">
              <a:off x="6874269" y="4500628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肘形接點 71"/>
            <p:cNvCxnSpPr/>
            <p:nvPr/>
          </p:nvCxnSpPr>
          <p:spPr>
            <a:xfrm>
              <a:off x="7943952" y="4500699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群組 72"/>
            <p:cNvGrpSpPr/>
            <p:nvPr/>
          </p:nvGrpSpPr>
          <p:grpSpPr>
            <a:xfrm>
              <a:off x="8112133" y="4610456"/>
              <a:ext cx="284672" cy="74728"/>
              <a:chOff x="4500707" y="5027372"/>
              <a:chExt cx="284672" cy="74728"/>
            </a:xfrm>
          </p:grpSpPr>
          <p:cxnSp>
            <p:nvCxnSpPr>
              <p:cNvPr id="74" name="直線接點 73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線接點 74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6" name="直線接點 75"/>
            <p:cNvCxnSpPr/>
            <p:nvPr/>
          </p:nvCxnSpPr>
          <p:spPr>
            <a:xfrm>
              <a:off x="6382568" y="4338699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文字方塊 76"/>
            <p:cNvSpPr txBox="1"/>
            <p:nvPr/>
          </p:nvSpPr>
          <p:spPr>
            <a:xfrm>
              <a:off x="6072013" y="429392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78" name="圓角矩形 77"/>
            <p:cNvSpPr/>
            <p:nvPr/>
          </p:nvSpPr>
          <p:spPr>
            <a:xfrm>
              <a:off x="7168297" y="4338628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79" name="直線接點 78"/>
            <p:cNvCxnSpPr/>
            <p:nvPr/>
          </p:nvCxnSpPr>
          <p:spPr>
            <a:xfrm>
              <a:off x="7452974" y="4338628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字方塊 79"/>
            <p:cNvSpPr txBox="1"/>
            <p:nvPr/>
          </p:nvSpPr>
          <p:spPr>
            <a:xfrm>
              <a:off x="7151045" y="429227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d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81" name="直線單箭頭接點 80"/>
            <p:cNvCxnSpPr/>
            <p:nvPr/>
          </p:nvCxnSpPr>
          <p:spPr>
            <a:xfrm flipV="1">
              <a:off x="5803863" y="4492257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線接點 192"/>
            <p:cNvCxnSpPr/>
            <p:nvPr/>
          </p:nvCxnSpPr>
          <p:spPr>
            <a:xfrm>
              <a:off x="6690236" y="4335831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線接點 193"/>
            <p:cNvCxnSpPr/>
            <p:nvPr/>
          </p:nvCxnSpPr>
          <p:spPr>
            <a:xfrm>
              <a:off x="7760642" y="4335760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文字方塊 207"/>
            <p:cNvSpPr txBox="1"/>
            <p:nvPr/>
          </p:nvSpPr>
          <p:spPr>
            <a:xfrm>
              <a:off x="6379681" y="429967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9" name="文字方塊 208"/>
            <p:cNvSpPr txBox="1"/>
            <p:nvPr/>
          </p:nvSpPr>
          <p:spPr>
            <a:xfrm>
              <a:off x="7458713" y="429803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2" name="群組 221"/>
          <p:cNvGrpSpPr/>
          <p:nvPr/>
        </p:nvGrpSpPr>
        <p:grpSpPr>
          <a:xfrm>
            <a:off x="5800995" y="5195135"/>
            <a:ext cx="2592942" cy="407515"/>
            <a:chOff x="5800995" y="5195135"/>
            <a:chExt cx="2592942" cy="407515"/>
          </a:xfrm>
        </p:grpSpPr>
        <p:sp>
          <p:nvSpPr>
            <p:cNvPr id="86" name="圓角矩形 85"/>
            <p:cNvSpPr/>
            <p:nvPr/>
          </p:nvSpPr>
          <p:spPr>
            <a:xfrm>
              <a:off x="6095023" y="5241561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87" name="直線單箭頭接點 86"/>
            <p:cNvCxnSpPr>
              <a:stCxn id="86" idx="3"/>
              <a:endCxn id="94" idx="1"/>
            </p:cNvCxnSpPr>
            <p:nvPr/>
          </p:nvCxnSpPr>
          <p:spPr>
            <a:xfrm flipV="1">
              <a:off x="6871401" y="5403490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肘形接點 87"/>
            <p:cNvCxnSpPr/>
            <p:nvPr/>
          </p:nvCxnSpPr>
          <p:spPr>
            <a:xfrm>
              <a:off x="7941084" y="5403561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群組 88"/>
            <p:cNvGrpSpPr/>
            <p:nvPr/>
          </p:nvGrpSpPr>
          <p:grpSpPr>
            <a:xfrm>
              <a:off x="8109265" y="5513318"/>
              <a:ext cx="284672" cy="74728"/>
              <a:chOff x="4500707" y="5027372"/>
              <a:chExt cx="284672" cy="74728"/>
            </a:xfrm>
          </p:grpSpPr>
          <p:cxnSp>
            <p:nvCxnSpPr>
              <p:cNvPr id="90" name="直線接點 89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線接點 90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2" name="直線接點 91"/>
            <p:cNvCxnSpPr/>
            <p:nvPr/>
          </p:nvCxnSpPr>
          <p:spPr>
            <a:xfrm>
              <a:off x="6379700" y="5241561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文字方塊 92"/>
            <p:cNvSpPr txBox="1"/>
            <p:nvPr/>
          </p:nvSpPr>
          <p:spPr>
            <a:xfrm>
              <a:off x="6077771" y="519678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94" name="圓角矩形 93"/>
            <p:cNvSpPr/>
            <p:nvPr/>
          </p:nvSpPr>
          <p:spPr>
            <a:xfrm>
              <a:off x="7165429" y="5241490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95" name="直線接點 94"/>
            <p:cNvCxnSpPr/>
            <p:nvPr/>
          </p:nvCxnSpPr>
          <p:spPr>
            <a:xfrm>
              <a:off x="7450106" y="5241490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字方塊 95"/>
            <p:cNvSpPr txBox="1"/>
            <p:nvPr/>
          </p:nvSpPr>
          <p:spPr>
            <a:xfrm>
              <a:off x="7148177" y="519513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97" name="直線單箭頭接點 96"/>
            <p:cNvCxnSpPr/>
            <p:nvPr/>
          </p:nvCxnSpPr>
          <p:spPr>
            <a:xfrm flipV="1">
              <a:off x="5800995" y="5395119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接點 194"/>
            <p:cNvCxnSpPr/>
            <p:nvPr/>
          </p:nvCxnSpPr>
          <p:spPr>
            <a:xfrm>
              <a:off x="6687368" y="5238693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線接點 195"/>
            <p:cNvCxnSpPr/>
            <p:nvPr/>
          </p:nvCxnSpPr>
          <p:spPr>
            <a:xfrm>
              <a:off x="7757774" y="5238622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文字方塊 209"/>
            <p:cNvSpPr txBox="1"/>
            <p:nvPr/>
          </p:nvSpPr>
          <p:spPr>
            <a:xfrm>
              <a:off x="6385439" y="520254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1" name="文字方塊 210"/>
            <p:cNvSpPr txBox="1"/>
            <p:nvPr/>
          </p:nvSpPr>
          <p:spPr>
            <a:xfrm>
              <a:off x="7455845" y="520089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4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3" name="群組 222"/>
          <p:cNvGrpSpPr/>
          <p:nvPr/>
        </p:nvGrpSpPr>
        <p:grpSpPr>
          <a:xfrm>
            <a:off x="5800995" y="5659661"/>
            <a:ext cx="1523318" cy="405868"/>
            <a:chOff x="5800995" y="5659661"/>
            <a:chExt cx="1523318" cy="405868"/>
          </a:xfrm>
        </p:grpSpPr>
        <p:sp>
          <p:nvSpPr>
            <p:cNvPr id="98" name="圓角矩形 97"/>
            <p:cNvSpPr/>
            <p:nvPr/>
          </p:nvSpPr>
          <p:spPr>
            <a:xfrm>
              <a:off x="6095023" y="5704440"/>
              <a:ext cx="776378" cy="324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99" name="肘形接點 98"/>
            <p:cNvCxnSpPr/>
            <p:nvPr/>
          </p:nvCxnSpPr>
          <p:spPr>
            <a:xfrm>
              <a:off x="6871460" y="5866440"/>
              <a:ext cx="302638" cy="99864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群組 99"/>
            <p:cNvGrpSpPr/>
            <p:nvPr/>
          </p:nvGrpSpPr>
          <p:grpSpPr>
            <a:xfrm>
              <a:off x="7039641" y="5976197"/>
              <a:ext cx="284672" cy="74728"/>
              <a:chOff x="4500707" y="5027372"/>
              <a:chExt cx="284672" cy="74728"/>
            </a:xfrm>
          </p:grpSpPr>
          <p:cxnSp>
            <p:nvCxnSpPr>
              <p:cNvPr id="101" name="直線接點 100"/>
              <p:cNvCxnSpPr/>
              <p:nvPr/>
            </p:nvCxnSpPr>
            <p:spPr>
              <a:xfrm>
                <a:off x="4500707" y="5027372"/>
                <a:ext cx="28467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接點 101"/>
              <p:cNvCxnSpPr/>
              <p:nvPr/>
            </p:nvCxnSpPr>
            <p:spPr>
              <a:xfrm>
                <a:off x="4553790" y="5102100"/>
                <a:ext cx="180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3" name="直線接點 102"/>
            <p:cNvCxnSpPr/>
            <p:nvPr/>
          </p:nvCxnSpPr>
          <p:spPr>
            <a:xfrm>
              <a:off x="6379700" y="5704440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文字方塊 103"/>
            <p:cNvSpPr txBox="1"/>
            <p:nvPr/>
          </p:nvSpPr>
          <p:spPr>
            <a:xfrm>
              <a:off x="6086397" y="5659661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05" name="直線單箭頭接點 104"/>
            <p:cNvCxnSpPr/>
            <p:nvPr/>
          </p:nvCxnSpPr>
          <p:spPr>
            <a:xfrm flipV="1">
              <a:off x="5800995" y="5857998"/>
              <a:ext cx="294028" cy="7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線接點 196"/>
            <p:cNvCxnSpPr/>
            <p:nvPr/>
          </p:nvCxnSpPr>
          <p:spPr>
            <a:xfrm>
              <a:off x="6687368" y="5701572"/>
              <a:ext cx="0" cy="324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文字方塊 211"/>
            <p:cNvSpPr txBox="1"/>
            <p:nvPr/>
          </p:nvSpPr>
          <p:spPr>
            <a:xfrm>
              <a:off x="6394065" y="566541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6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31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圖形追蹤 </a:t>
            </a:r>
            <a:r>
              <a:rPr lang="en-US" altLang="zh-TW" dirty="0"/>
              <a:t>Traversal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從某個點出發，照著某種順序，拜訪</a:t>
            </a:r>
            <a:r>
              <a:rPr lang="en-US" altLang="zh-TW" dirty="0"/>
              <a:t>(visit)</a:t>
            </a:r>
            <a:r>
              <a:rPr lang="zh-TW" altLang="en-US" dirty="0"/>
              <a:t>所能到達的每個點</a:t>
            </a:r>
            <a:endParaRPr lang="en-US" altLang="zh-TW" dirty="0"/>
          </a:p>
          <a:p>
            <a:pPr lvl="1"/>
            <a:r>
              <a:rPr lang="zh-TW" altLang="en-US" dirty="0"/>
              <a:t>連通圖：可以拜訪所有點</a:t>
            </a:r>
            <a:endParaRPr lang="en-US" altLang="zh-TW" dirty="0"/>
          </a:p>
          <a:p>
            <a:pPr lvl="1"/>
            <a:r>
              <a:rPr lang="zh-TW" altLang="en-US" dirty="0"/>
              <a:t>非連通圖：只能拜訪同一組的點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>
                <a:solidFill>
                  <a:srgbClr val="C00000"/>
                </a:solidFill>
              </a:rPr>
              <a:t>深度優先</a:t>
            </a:r>
            <a:r>
              <a:rPr lang="en-US" altLang="zh-TW" dirty="0"/>
              <a:t>/</a:t>
            </a:r>
            <a:r>
              <a:rPr lang="zh-TW" altLang="en-US" dirty="0"/>
              <a:t>縱向優先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走到沒路回頭走另一條路</a:t>
            </a:r>
            <a:endParaRPr lang="en-US" altLang="zh-TW" dirty="0"/>
          </a:p>
          <a:p>
            <a:endParaRPr lang="en-US" altLang="zh-TW" dirty="0">
              <a:solidFill>
                <a:srgbClr val="C00000"/>
              </a:solidFill>
            </a:endParaRPr>
          </a:p>
          <a:p>
            <a:r>
              <a:rPr lang="zh-TW" altLang="en-US" dirty="0">
                <a:solidFill>
                  <a:srgbClr val="C00000"/>
                </a:solidFill>
              </a:rPr>
              <a:t>廣度優先</a:t>
            </a:r>
            <a:r>
              <a:rPr lang="en-US" altLang="zh-TW" dirty="0"/>
              <a:t>/</a:t>
            </a:r>
            <a:r>
              <a:rPr lang="zh-TW" altLang="en-US" dirty="0"/>
              <a:t>橫向優先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先拜訪所有鄰居，再拜訪鄰居的鄰居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57" name="群組 56"/>
          <p:cNvGrpSpPr/>
          <p:nvPr/>
        </p:nvGrpSpPr>
        <p:grpSpPr>
          <a:xfrm>
            <a:off x="5375825" y="1839444"/>
            <a:ext cx="3368146" cy="1840933"/>
            <a:chOff x="5375825" y="2218988"/>
            <a:chExt cx="3368146" cy="1840933"/>
          </a:xfrm>
        </p:grpSpPr>
        <p:sp>
          <p:nvSpPr>
            <p:cNvPr id="7" name="文字方塊 6"/>
            <p:cNvSpPr txBox="1"/>
            <p:nvPr/>
          </p:nvSpPr>
          <p:spPr>
            <a:xfrm>
              <a:off x="5387907" y="232866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橢圓 7"/>
            <p:cNvSpPr/>
            <p:nvPr/>
          </p:nvSpPr>
          <p:spPr>
            <a:xfrm>
              <a:off x="5399989" y="240383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5375825" y="316254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橢圓 9"/>
            <p:cNvSpPr/>
            <p:nvPr/>
          </p:nvSpPr>
          <p:spPr>
            <a:xfrm>
              <a:off x="5387907" y="3237718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6351190" y="2735933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橢圓 11"/>
            <p:cNvSpPr/>
            <p:nvPr/>
          </p:nvSpPr>
          <p:spPr>
            <a:xfrm>
              <a:off x="6354646" y="2811103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6346925" y="369058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橢圓 13"/>
            <p:cNvSpPr/>
            <p:nvPr/>
          </p:nvSpPr>
          <p:spPr>
            <a:xfrm>
              <a:off x="6359007" y="374850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7331726" y="22189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橢圓 15"/>
            <p:cNvSpPr/>
            <p:nvPr/>
          </p:nvSpPr>
          <p:spPr>
            <a:xfrm>
              <a:off x="7335182" y="2294158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351210" y="3035800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橢圓 17"/>
            <p:cNvSpPr/>
            <p:nvPr/>
          </p:nvSpPr>
          <p:spPr>
            <a:xfrm>
              <a:off x="7354666" y="3093718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1" name="直線接點 20"/>
            <p:cNvCxnSpPr>
              <a:stCxn id="10" idx="0"/>
              <a:endCxn id="8" idx="4"/>
            </p:cNvCxnSpPr>
            <p:nvPr/>
          </p:nvCxnSpPr>
          <p:spPr>
            <a:xfrm flipV="1">
              <a:off x="5531907" y="2691832"/>
              <a:ext cx="12082" cy="5458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>
              <a:stCxn id="10" idx="7"/>
              <a:endCxn id="12" idx="3"/>
            </p:cNvCxnSpPr>
            <p:nvPr/>
          </p:nvCxnSpPr>
          <p:spPr>
            <a:xfrm flipV="1">
              <a:off x="5633730" y="3056926"/>
              <a:ext cx="763093" cy="22296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>
              <a:stCxn id="14" idx="1"/>
              <a:endCxn id="10" idx="5"/>
            </p:cNvCxnSpPr>
            <p:nvPr/>
          </p:nvCxnSpPr>
          <p:spPr>
            <a:xfrm flipH="1" flipV="1">
              <a:off x="5633730" y="3483541"/>
              <a:ext cx="767454" cy="30714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>
              <a:stCxn id="12" idx="7"/>
              <a:endCxn id="16" idx="3"/>
            </p:cNvCxnSpPr>
            <p:nvPr/>
          </p:nvCxnSpPr>
          <p:spPr>
            <a:xfrm flipV="1">
              <a:off x="6600469" y="2539981"/>
              <a:ext cx="776890" cy="31329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>
              <a:stCxn id="12" idx="5"/>
              <a:endCxn id="18" idx="2"/>
            </p:cNvCxnSpPr>
            <p:nvPr/>
          </p:nvCxnSpPr>
          <p:spPr>
            <a:xfrm>
              <a:off x="6600469" y="3056926"/>
              <a:ext cx="754197" cy="18079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字方塊 26"/>
            <p:cNvSpPr txBox="1"/>
            <p:nvPr/>
          </p:nvSpPr>
          <p:spPr>
            <a:xfrm>
              <a:off x="8452515" y="3054461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橢圓 27"/>
            <p:cNvSpPr/>
            <p:nvPr/>
          </p:nvSpPr>
          <p:spPr>
            <a:xfrm>
              <a:off x="8455971" y="312963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9" name="直線接點 28"/>
            <p:cNvCxnSpPr>
              <a:stCxn id="16" idx="5"/>
              <a:endCxn id="28" idx="1"/>
            </p:cNvCxnSpPr>
            <p:nvPr/>
          </p:nvCxnSpPr>
          <p:spPr>
            <a:xfrm>
              <a:off x="7581005" y="2539981"/>
              <a:ext cx="917143" cy="63182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>
              <a:stCxn id="14" idx="7"/>
              <a:endCxn id="28" idx="3"/>
            </p:cNvCxnSpPr>
            <p:nvPr/>
          </p:nvCxnSpPr>
          <p:spPr>
            <a:xfrm flipV="1">
              <a:off x="6604830" y="3375454"/>
              <a:ext cx="1893318" cy="41523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>
              <a:stCxn id="18" idx="0"/>
              <a:endCxn id="16" idx="4"/>
            </p:cNvCxnSpPr>
            <p:nvPr/>
          </p:nvCxnSpPr>
          <p:spPr>
            <a:xfrm flipH="1" flipV="1">
              <a:off x="7479182" y="2582158"/>
              <a:ext cx="19484" cy="51156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群組 57"/>
          <p:cNvGrpSpPr/>
          <p:nvPr/>
        </p:nvGrpSpPr>
        <p:grpSpPr>
          <a:xfrm>
            <a:off x="5374228" y="4010608"/>
            <a:ext cx="3368146" cy="1840933"/>
            <a:chOff x="5374228" y="4217632"/>
            <a:chExt cx="3368146" cy="1840933"/>
          </a:xfrm>
        </p:grpSpPr>
        <p:sp>
          <p:nvSpPr>
            <p:cNvPr id="35" name="文字方塊 34"/>
            <p:cNvSpPr txBox="1"/>
            <p:nvPr/>
          </p:nvSpPr>
          <p:spPr>
            <a:xfrm>
              <a:off x="5386310" y="432730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橢圓 35"/>
            <p:cNvSpPr/>
            <p:nvPr/>
          </p:nvSpPr>
          <p:spPr>
            <a:xfrm>
              <a:off x="5398392" y="440247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5374228" y="51611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橢圓 37"/>
            <p:cNvSpPr/>
            <p:nvPr/>
          </p:nvSpPr>
          <p:spPr>
            <a:xfrm>
              <a:off x="5386310" y="523636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6349593" y="4734577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橢圓 39"/>
            <p:cNvSpPr/>
            <p:nvPr/>
          </p:nvSpPr>
          <p:spPr>
            <a:xfrm>
              <a:off x="6353049" y="480974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6345328" y="56892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橢圓 41"/>
            <p:cNvSpPr/>
            <p:nvPr/>
          </p:nvSpPr>
          <p:spPr>
            <a:xfrm>
              <a:off x="6357410" y="574715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7330129" y="421763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橢圓 43"/>
            <p:cNvSpPr/>
            <p:nvPr/>
          </p:nvSpPr>
          <p:spPr>
            <a:xfrm>
              <a:off x="7333585" y="429280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7349613" y="503444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橢圓 45"/>
            <p:cNvSpPr/>
            <p:nvPr/>
          </p:nvSpPr>
          <p:spPr>
            <a:xfrm>
              <a:off x="7353069" y="509236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7" name="直線接點 46"/>
            <p:cNvCxnSpPr>
              <a:stCxn id="38" idx="0"/>
              <a:endCxn id="36" idx="4"/>
            </p:cNvCxnSpPr>
            <p:nvPr/>
          </p:nvCxnSpPr>
          <p:spPr>
            <a:xfrm flipV="1">
              <a:off x="5530310" y="4690476"/>
              <a:ext cx="12082" cy="5458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/>
            <p:cNvCxnSpPr>
              <a:stCxn id="42" idx="1"/>
              <a:endCxn id="38" idx="5"/>
            </p:cNvCxnSpPr>
            <p:nvPr/>
          </p:nvCxnSpPr>
          <p:spPr>
            <a:xfrm flipH="1" flipV="1">
              <a:off x="5632133" y="5482185"/>
              <a:ext cx="767454" cy="30714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/>
            <p:cNvCxnSpPr>
              <a:stCxn id="40" idx="7"/>
              <a:endCxn id="44" idx="3"/>
            </p:cNvCxnSpPr>
            <p:nvPr/>
          </p:nvCxnSpPr>
          <p:spPr>
            <a:xfrm flipV="1">
              <a:off x="6598872" y="4538625"/>
              <a:ext cx="776890" cy="31329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/>
            <p:cNvCxnSpPr>
              <a:stCxn id="40" idx="5"/>
              <a:endCxn id="46" idx="2"/>
            </p:cNvCxnSpPr>
            <p:nvPr/>
          </p:nvCxnSpPr>
          <p:spPr>
            <a:xfrm>
              <a:off x="6598872" y="5055570"/>
              <a:ext cx="754197" cy="18079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字方塊 51"/>
            <p:cNvSpPr txBox="1"/>
            <p:nvPr/>
          </p:nvSpPr>
          <p:spPr>
            <a:xfrm>
              <a:off x="8450918" y="505310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橢圓 52"/>
            <p:cNvSpPr/>
            <p:nvPr/>
          </p:nvSpPr>
          <p:spPr>
            <a:xfrm>
              <a:off x="8454374" y="5128275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4" name="直線接點 53"/>
            <p:cNvCxnSpPr>
              <a:stCxn id="44" idx="5"/>
              <a:endCxn id="53" idx="1"/>
            </p:cNvCxnSpPr>
            <p:nvPr/>
          </p:nvCxnSpPr>
          <p:spPr>
            <a:xfrm>
              <a:off x="7579408" y="4538625"/>
              <a:ext cx="917143" cy="63182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/>
            <p:cNvCxnSpPr>
              <a:stCxn id="46" idx="0"/>
              <a:endCxn id="44" idx="4"/>
            </p:cNvCxnSpPr>
            <p:nvPr/>
          </p:nvCxnSpPr>
          <p:spPr>
            <a:xfrm flipH="1" flipV="1">
              <a:off x="7477585" y="4580802"/>
              <a:ext cx="19484" cy="51156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5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深度優先走訪 </a:t>
            </a:r>
            <a:r>
              <a:rPr lang="en-US" altLang="zh-TW" dirty="0"/>
              <a:t>DFS 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Depth First Search, DFS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適用遞迴定義實作</a:t>
            </a:r>
            <a:endParaRPr lang="en-US" altLang="zh-TW" dirty="0"/>
          </a:p>
          <a:p>
            <a:r>
              <a:rPr lang="zh-TW" altLang="en-US" dirty="0"/>
              <a:t>藉助</a:t>
            </a:r>
            <a:r>
              <a:rPr lang="zh-TW" altLang="en-US" dirty="0">
                <a:solidFill>
                  <a:srgbClr val="C00000"/>
                </a:solidFill>
              </a:rPr>
              <a:t>堆疊結構</a:t>
            </a:r>
            <a:r>
              <a:rPr lang="zh-TW" altLang="en-US" dirty="0"/>
              <a:t>實作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225486" y="21332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2237568" y="220839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2213404" y="296710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2225486" y="3042277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3188769" y="254049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192225" y="2615662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3184504" y="349514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196586" y="355306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4169305" y="202354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4172761" y="2098717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4188789" y="2840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4192245" y="2898277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4021478" y="3884016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4024934" y="395918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10" idx="0"/>
            <a:endCxn id="8" idx="4"/>
          </p:cNvCxnSpPr>
          <p:nvPr/>
        </p:nvCxnSpPr>
        <p:spPr>
          <a:xfrm flipV="1">
            <a:off x="2369486" y="2496391"/>
            <a:ext cx="12082" cy="5458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0" idx="7"/>
            <a:endCxn id="12" idx="3"/>
          </p:cNvCxnSpPr>
          <p:nvPr/>
        </p:nvCxnSpPr>
        <p:spPr>
          <a:xfrm flipV="1">
            <a:off x="2471309" y="2861485"/>
            <a:ext cx="763093" cy="222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4" idx="1"/>
            <a:endCxn id="10" idx="5"/>
          </p:cNvCxnSpPr>
          <p:nvPr/>
        </p:nvCxnSpPr>
        <p:spPr>
          <a:xfrm flipH="1" flipV="1">
            <a:off x="2471309" y="3288100"/>
            <a:ext cx="767454" cy="3071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20" idx="1"/>
            <a:endCxn id="14" idx="5"/>
          </p:cNvCxnSpPr>
          <p:nvPr/>
        </p:nvCxnSpPr>
        <p:spPr>
          <a:xfrm flipH="1" flipV="1">
            <a:off x="3442409" y="3798889"/>
            <a:ext cx="624702" cy="202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2" idx="7"/>
            <a:endCxn id="16" idx="3"/>
          </p:cNvCxnSpPr>
          <p:nvPr/>
        </p:nvCxnSpPr>
        <p:spPr>
          <a:xfrm flipV="1">
            <a:off x="3438048" y="2344540"/>
            <a:ext cx="776890" cy="3132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2" idx="5"/>
            <a:endCxn id="18" idx="2"/>
          </p:cNvCxnSpPr>
          <p:nvPr/>
        </p:nvCxnSpPr>
        <p:spPr>
          <a:xfrm>
            <a:off x="3438048" y="2861485"/>
            <a:ext cx="754197" cy="1807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5290094" y="285902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5293550" y="293419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16" idx="5"/>
            <a:endCxn id="28" idx="1"/>
          </p:cNvCxnSpPr>
          <p:nvPr/>
        </p:nvCxnSpPr>
        <p:spPr>
          <a:xfrm>
            <a:off x="4418584" y="2344540"/>
            <a:ext cx="917143" cy="6318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14" idx="7"/>
            <a:endCxn id="28" idx="3"/>
          </p:cNvCxnSpPr>
          <p:nvPr/>
        </p:nvCxnSpPr>
        <p:spPr>
          <a:xfrm flipV="1">
            <a:off x="3442409" y="3180013"/>
            <a:ext cx="1893318" cy="4152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18" idx="0"/>
            <a:endCxn id="16" idx="4"/>
          </p:cNvCxnSpPr>
          <p:nvPr/>
        </p:nvCxnSpPr>
        <p:spPr>
          <a:xfrm flipH="1" flipV="1">
            <a:off x="4316761" y="2386717"/>
            <a:ext cx="19484" cy="5115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6227501" y="2907481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6222331" y="2956773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4" name="直線接點 33"/>
          <p:cNvCxnSpPr>
            <a:stCxn id="28" idx="6"/>
            <a:endCxn id="33" idx="2"/>
          </p:cNvCxnSpPr>
          <p:nvPr/>
        </p:nvCxnSpPr>
        <p:spPr>
          <a:xfrm>
            <a:off x="5581550" y="3078190"/>
            <a:ext cx="640781" cy="225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2885778" y="468088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3198684" y="468088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523059" y="4680882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828135" y="468088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4162264" y="4680882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4469387" y="468088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800341" y="4680882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101981" y="4680882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5371607" y="4680882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09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1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0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9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深度優先走訪 </a:t>
            </a:r>
            <a:r>
              <a:rPr lang="en-US" altLang="zh-TW" dirty="0"/>
              <a:t>DFS 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DFS</a:t>
            </a:r>
            <a:r>
              <a:rPr lang="zh-TW" altLang="en-US" dirty="0"/>
              <a:t> 流程圖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3312542" y="1837427"/>
            <a:ext cx="2432650" cy="388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將起點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推入堆疊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312542" y="3464955"/>
            <a:ext cx="2432650" cy="382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從堆疊取出一點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endParaRPr lang="zh-TW" altLang="en-US" sz="2000" b="1" i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12542" y="5118319"/>
            <a:ext cx="2432650" cy="9201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拜訪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，且將與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相鄰且未拜訪的點一一推入堆疊</a:t>
            </a:r>
          </a:p>
        </p:txBody>
      </p:sp>
      <p:sp>
        <p:nvSpPr>
          <p:cNvPr id="10" name="流程圖: 決策 9"/>
          <p:cNvSpPr/>
          <p:nvPr/>
        </p:nvSpPr>
        <p:spPr>
          <a:xfrm>
            <a:off x="3312542" y="2501672"/>
            <a:ext cx="2432650" cy="678611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堆疊為空</a:t>
            </a:r>
          </a:p>
        </p:txBody>
      </p:sp>
      <p:sp>
        <p:nvSpPr>
          <p:cNvPr id="11" name="圓角矩形 10"/>
          <p:cNvSpPr/>
          <p:nvPr/>
        </p:nvSpPr>
        <p:spPr>
          <a:xfrm>
            <a:off x="4106172" y="1224951"/>
            <a:ext cx="845390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開始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4093231" y="6346151"/>
            <a:ext cx="871269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</a:p>
        </p:txBody>
      </p:sp>
      <p:cxnSp>
        <p:nvCxnSpPr>
          <p:cNvPr id="13" name="直線單箭頭接點 12"/>
          <p:cNvCxnSpPr>
            <a:stCxn id="11" idx="2"/>
            <a:endCxn id="7" idx="0"/>
          </p:cNvCxnSpPr>
          <p:nvPr/>
        </p:nvCxnSpPr>
        <p:spPr>
          <a:xfrm>
            <a:off x="4528867" y="1544128"/>
            <a:ext cx="0" cy="29329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7" idx="2"/>
            <a:endCxn id="10" idx="0"/>
          </p:cNvCxnSpPr>
          <p:nvPr/>
        </p:nvCxnSpPr>
        <p:spPr>
          <a:xfrm>
            <a:off x="4528867" y="2225625"/>
            <a:ext cx="0" cy="276047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8" idx="2"/>
            <a:endCxn id="29" idx="0"/>
          </p:cNvCxnSpPr>
          <p:nvPr/>
        </p:nvCxnSpPr>
        <p:spPr>
          <a:xfrm>
            <a:off x="4528867" y="3847390"/>
            <a:ext cx="0" cy="29689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接點 15"/>
          <p:cNvCxnSpPr>
            <a:stCxn id="9" idx="2"/>
            <a:endCxn id="10" idx="3"/>
          </p:cNvCxnSpPr>
          <p:nvPr/>
        </p:nvCxnSpPr>
        <p:spPr>
          <a:xfrm rot="5400000" flipH="1" flipV="1">
            <a:off x="3538274" y="3831570"/>
            <a:ext cx="3197510" cy="1216325"/>
          </a:xfrm>
          <a:prstGeom prst="bentConnector4">
            <a:avLst>
              <a:gd name="adj1" fmla="val -7149"/>
              <a:gd name="adj2" fmla="val 157801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群組 16"/>
          <p:cNvGrpSpPr/>
          <p:nvPr/>
        </p:nvGrpSpPr>
        <p:grpSpPr>
          <a:xfrm>
            <a:off x="2665562" y="2840978"/>
            <a:ext cx="1427668" cy="3664762"/>
            <a:chOff x="2665562" y="3030750"/>
            <a:chExt cx="1427668" cy="3664762"/>
          </a:xfrm>
        </p:grpSpPr>
        <p:cxnSp>
          <p:nvCxnSpPr>
            <p:cNvPr id="18" name="肘形接點 17"/>
            <p:cNvCxnSpPr>
              <a:stCxn id="10" idx="1"/>
              <a:endCxn id="12" idx="1"/>
            </p:cNvCxnSpPr>
            <p:nvPr/>
          </p:nvCxnSpPr>
          <p:spPr>
            <a:xfrm rot="10800000" flipH="1" flipV="1">
              <a:off x="3312541" y="3030750"/>
              <a:ext cx="780689" cy="3664762"/>
            </a:xfrm>
            <a:prstGeom prst="bentConnector3">
              <a:avLst>
                <a:gd name="adj1" fmla="val -29282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665562" y="341152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是</a:t>
              </a:r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4156727" y="3107975"/>
            <a:ext cx="415498" cy="369332"/>
            <a:chOff x="4156727" y="3297747"/>
            <a:chExt cx="415498" cy="369332"/>
          </a:xfrm>
        </p:grpSpPr>
        <p:cxnSp>
          <p:nvCxnSpPr>
            <p:cNvPr id="21" name="直線單箭頭接點 20"/>
            <p:cNvCxnSpPr>
              <a:stCxn id="10" idx="2"/>
              <a:endCxn id="8" idx="0"/>
            </p:cNvCxnSpPr>
            <p:nvPr/>
          </p:nvCxnSpPr>
          <p:spPr>
            <a:xfrm>
              <a:off x="4528867" y="3361429"/>
              <a:ext cx="0" cy="284672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4156727" y="329774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否</a:t>
              </a:r>
            </a:p>
          </p:txBody>
        </p:sp>
      </p:grpSp>
      <p:sp>
        <p:nvSpPr>
          <p:cNvPr id="29" name="流程圖: 決策 28"/>
          <p:cNvSpPr/>
          <p:nvPr/>
        </p:nvSpPr>
        <p:spPr>
          <a:xfrm>
            <a:off x="3164454" y="4144281"/>
            <a:ext cx="2728825" cy="678611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未被拜訪</a:t>
            </a:r>
          </a:p>
        </p:txBody>
      </p:sp>
      <p:grpSp>
        <p:nvGrpSpPr>
          <p:cNvPr id="44" name="群組 43"/>
          <p:cNvGrpSpPr/>
          <p:nvPr/>
        </p:nvGrpSpPr>
        <p:grpSpPr>
          <a:xfrm>
            <a:off x="4156727" y="4736046"/>
            <a:ext cx="441146" cy="400110"/>
            <a:chOff x="4156727" y="4736046"/>
            <a:chExt cx="441146" cy="400110"/>
          </a:xfrm>
        </p:grpSpPr>
        <p:cxnSp>
          <p:nvCxnSpPr>
            <p:cNvPr id="33" name="直線單箭頭接點 32"/>
            <p:cNvCxnSpPr>
              <a:stCxn id="29" idx="2"/>
              <a:endCxn id="9" idx="0"/>
            </p:cNvCxnSpPr>
            <p:nvPr/>
          </p:nvCxnSpPr>
          <p:spPr>
            <a:xfrm>
              <a:off x="4528867" y="4822892"/>
              <a:ext cx="0" cy="295427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字方塊 35"/>
            <p:cNvSpPr txBox="1"/>
            <p:nvPr/>
          </p:nvSpPr>
          <p:spPr>
            <a:xfrm>
              <a:off x="4156727" y="4736046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是</a:t>
              </a:r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5893279" y="4163137"/>
            <a:ext cx="550653" cy="369332"/>
            <a:chOff x="5893279" y="4163137"/>
            <a:chExt cx="550653" cy="369332"/>
          </a:xfrm>
        </p:grpSpPr>
        <p:cxnSp>
          <p:nvCxnSpPr>
            <p:cNvPr id="39" name="直線單箭頭接點 38"/>
            <p:cNvCxnSpPr>
              <a:stCxn id="29" idx="3"/>
            </p:cNvCxnSpPr>
            <p:nvPr/>
          </p:nvCxnSpPr>
          <p:spPr>
            <a:xfrm>
              <a:off x="5893279" y="4483587"/>
              <a:ext cx="550653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字方塊 41"/>
            <p:cNvSpPr txBox="1"/>
            <p:nvPr/>
          </p:nvSpPr>
          <p:spPr>
            <a:xfrm>
              <a:off x="5893279" y="416313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349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深度優先走訪 </a:t>
            </a:r>
            <a:r>
              <a:rPr lang="en-US" altLang="zh-TW" dirty="0"/>
              <a:t>DFS (3/3)</a:t>
            </a:r>
            <a:endParaRPr lang="zh-TW" altLang="en-US" dirty="0"/>
          </a:p>
        </p:txBody>
      </p:sp>
      <p:graphicFrame>
        <p:nvGraphicFramePr>
          <p:cNvPr id="30" name="內容版面配置區 29"/>
          <p:cNvGraphicFramePr>
            <a:graphicFrameLocks noGrp="1"/>
          </p:cNvGraphicFramePr>
          <p:nvPr>
            <p:ph sz="quarter" idx="4294967295"/>
          </p:nvPr>
        </p:nvGraphicFramePr>
        <p:xfrm>
          <a:off x="7701364" y="4035764"/>
          <a:ext cx="484158" cy="2225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4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229" y="731515"/>
            <a:ext cx="2128428" cy="305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文字方塊 30"/>
          <p:cNvSpPr txBox="1"/>
          <p:nvPr/>
        </p:nvSpPr>
        <p:spPr>
          <a:xfrm>
            <a:off x="2225486" y="21332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237568" y="220839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/>
          <p:cNvSpPr txBox="1"/>
          <p:nvPr/>
        </p:nvSpPr>
        <p:spPr>
          <a:xfrm>
            <a:off x="2213404" y="296710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2225486" y="3042277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3188769" y="254049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3192225" y="2615662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3184504" y="349514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3196586" y="355306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/>
          <p:cNvSpPr txBox="1"/>
          <p:nvPr/>
        </p:nvSpPr>
        <p:spPr>
          <a:xfrm>
            <a:off x="4169305" y="202354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4172761" y="2098717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188789" y="2840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4192245" y="2898277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/>
          <p:cNvSpPr txBox="1"/>
          <p:nvPr/>
        </p:nvSpPr>
        <p:spPr>
          <a:xfrm>
            <a:off x="4021478" y="3884016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橢圓 43"/>
          <p:cNvSpPr/>
          <p:nvPr/>
        </p:nvSpPr>
        <p:spPr>
          <a:xfrm>
            <a:off x="4024934" y="395918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5" name="直線接點 44"/>
          <p:cNvCxnSpPr>
            <a:stCxn id="34" idx="0"/>
            <a:endCxn id="32" idx="4"/>
          </p:cNvCxnSpPr>
          <p:nvPr/>
        </p:nvCxnSpPr>
        <p:spPr>
          <a:xfrm flipV="1">
            <a:off x="2369486" y="2496391"/>
            <a:ext cx="12082" cy="5458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34" idx="7"/>
            <a:endCxn id="36" idx="3"/>
          </p:cNvCxnSpPr>
          <p:nvPr/>
        </p:nvCxnSpPr>
        <p:spPr>
          <a:xfrm flipV="1">
            <a:off x="2471309" y="2861485"/>
            <a:ext cx="763093" cy="222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38" idx="1"/>
            <a:endCxn id="34" idx="5"/>
          </p:cNvCxnSpPr>
          <p:nvPr/>
        </p:nvCxnSpPr>
        <p:spPr>
          <a:xfrm flipH="1" flipV="1">
            <a:off x="2471309" y="3288100"/>
            <a:ext cx="767454" cy="3071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44" idx="1"/>
            <a:endCxn id="38" idx="5"/>
          </p:cNvCxnSpPr>
          <p:nvPr/>
        </p:nvCxnSpPr>
        <p:spPr>
          <a:xfrm flipH="1" flipV="1">
            <a:off x="3442409" y="3798889"/>
            <a:ext cx="624702" cy="202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36" idx="7"/>
            <a:endCxn id="40" idx="3"/>
          </p:cNvCxnSpPr>
          <p:nvPr/>
        </p:nvCxnSpPr>
        <p:spPr>
          <a:xfrm flipV="1">
            <a:off x="3438048" y="2344540"/>
            <a:ext cx="776890" cy="3132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36" idx="5"/>
            <a:endCxn id="42" idx="2"/>
          </p:cNvCxnSpPr>
          <p:nvPr/>
        </p:nvCxnSpPr>
        <p:spPr>
          <a:xfrm>
            <a:off x="3438048" y="2861485"/>
            <a:ext cx="754197" cy="1807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/>
          <p:cNvSpPr txBox="1"/>
          <p:nvPr/>
        </p:nvSpPr>
        <p:spPr>
          <a:xfrm>
            <a:off x="5290094" y="285902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5293550" y="293419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3" name="直線接點 52"/>
          <p:cNvCxnSpPr>
            <a:stCxn id="40" idx="5"/>
            <a:endCxn id="52" idx="1"/>
          </p:cNvCxnSpPr>
          <p:nvPr/>
        </p:nvCxnSpPr>
        <p:spPr>
          <a:xfrm>
            <a:off x="4418584" y="2344540"/>
            <a:ext cx="917143" cy="6318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38" idx="7"/>
            <a:endCxn id="52" idx="3"/>
          </p:cNvCxnSpPr>
          <p:nvPr/>
        </p:nvCxnSpPr>
        <p:spPr>
          <a:xfrm flipV="1">
            <a:off x="3442409" y="3180013"/>
            <a:ext cx="1893318" cy="4152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42" idx="0"/>
            <a:endCxn id="40" idx="4"/>
          </p:cNvCxnSpPr>
          <p:nvPr/>
        </p:nvCxnSpPr>
        <p:spPr>
          <a:xfrm flipH="1" flipV="1">
            <a:off x="4316761" y="2386717"/>
            <a:ext cx="19484" cy="5115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6227501" y="2907481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橢圓 56"/>
          <p:cNvSpPr/>
          <p:nvPr/>
        </p:nvSpPr>
        <p:spPr>
          <a:xfrm>
            <a:off x="6222331" y="2956773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8" name="直線接點 57"/>
          <p:cNvCxnSpPr>
            <a:stCxn id="52" idx="6"/>
            <a:endCxn id="57" idx="2"/>
          </p:cNvCxnSpPr>
          <p:nvPr/>
        </p:nvCxnSpPr>
        <p:spPr>
          <a:xfrm>
            <a:off x="5581550" y="3078190"/>
            <a:ext cx="640781" cy="225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內容版面配置區 48"/>
          <p:cNvGraphicFramePr>
            <a:graphicFrameLocks/>
          </p:cNvGraphicFramePr>
          <p:nvPr/>
        </p:nvGraphicFramePr>
        <p:xfrm>
          <a:off x="1438649" y="4986122"/>
          <a:ext cx="516565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" name="文字方塊 59"/>
          <p:cNvSpPr txBox="1"/>
          <p:nvPr/>
        </p:nvSpPr>
        <p:spPr>
          <a:xfrm>
            <a:off x="1572647" y="498349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147743" y="498349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2744823" y="4983495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3300200" y="4983495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3875296" y="498349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472376" y="498349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5027410" y="4983495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5602506" y="4983495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6199586" y="498349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201115" y="4995051"/>
            <a:ext cx="1233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7544936" y="6269250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7786990" y="586914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7786990" y="586914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7786990" y="5477656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7786990" y="51206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7799623" y="5120676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7808629" y="4740171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7799623" y="474017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7815844" y="4374565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7799623" y="4740171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7792409" y="436624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7808629" y="4366246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72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4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7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0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4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"/>
                            </p:stCondLst>
                            <p:childTnLst>
                              <p:par>
                                <p:cTn id="1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7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5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6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50"/>
                            </p:stCondLst>
                            <p:childTnLst>
                              <p:par>
                                <p:cTn id="1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5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50"/>
                            </p:stCondLst>
                            <p:childTnLst>
                              <p:par>
                                <p:cTn id="1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7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4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72" grpId="0"/>
      <p:bldP spid="72" grpId="1"/>
      <p:bldP spid="73" grpId="0"/>
      <p:bldP spid="73" grpId="1"/>
      <p:bldP spid="74" grpId="0"/>
      <p:bldP spid="74" grpId="1"/>
      <p:bldP spid="75" grpId="0"/>
      <p:bldP spid="75" grpId="1"/>
      <p:bldP spid="76" grpId="0"/>
      <p:bldP spid="76" grpId="1"/>
      <p:bldP spid="77" grpId="0"/>
      <p:bldP spid="77" grpId="1"/>
      <p:bldP spid="78" grpId="0"/>
      <p:bldP spid="78" grpId="1"/>
      <p:bldP spid="79" grpId="0"/>
      <p:bldP spid="79" grpId="1"/>
      <p:bldP spid="80" grpId="0"/>
      <p:bldP spid="80" grpId="1"/>
      <p:bldP spid="81" grpId="0"/>
      <p:bldP spid="81" grpId="1"/>
      <p:bldP spid="82" grpId="0"/>
      <p:bldP spid="82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/>
          <p:cNvSpPr txBox="1"/>
          <p:nvPr/>
        </p:nvSpPr>
        <p:spPr>
          <a:xfrm>
            <a:off x="2225486" y="21332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廣度優先走訪 </a:t>
            </a:r>
            <a:r>
              <a:rPr lang="en-US" altLang="zh-TW" dirty="0"/>
              <a:t>BFS 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Breadth First Search, BFS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由內而外，一層一層走訪，採用</a:t>
            </a:r>
            <a:r>
              <a:rPr lang="zh-TW" altLang="en-US" dirty="0">
                <a:solidFill>
                  <a:srgbClr val="C00000"/>
                </a:solidFill>
              </a:rPr>
              <a:t>佇列結構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237568" y="220839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2213404" y="296710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2225486" y="3042277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3188769" y="254049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3192225" y="2615662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3184504" y="349514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3196586" y="355306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4169305" y="202354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4172761" y="2098717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4188789" y="28403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4192245" y="2898277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4021478" y="3884016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4024934" y="395918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11" idx="0"/>
            <a:endCxn id="7" idx="4"/>
          </p:cNvCxnSpPr>
          <p:nvPr/>
        </p:nvCxnSpPr>
        <p:spPr>
          <a:xfrm flipV="1">
            <a:off x="2369486" y="2496391"/>
            <a:ext cx="12082" cy="5458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1" idx="7"/>
            <a:endCxn id="13" idx="3"/>
          </p:cNvCxnSpPr>
          <p:nvPr/>
        </p:nvCxnSpPr>
        <p:spPr>
          <a:xfrm flipV="1">
            <a:off x="2471309" y="2861485"/>
            <a:ext cx="763093" cy="222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15" idx="1"/>
            <a:endCxn id="11" idx="5"/>
          </p:cNvCxnSpPr>
          <p:nvPr/>
        </p:nvCxnSpPr>
        <p:spPr>
          <a:xfrm flipH="1" flipV="1">
            <a:off x="2471309" y="3288100"/>
            <a:ext cx="767454" cy="3071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1" idx="1"/>
            <a:endCxn id="15" idx="5"/>
          </p:cNvCxnSpPr>
          <p:nvPr/>
        </p:nvCxnSpPr>
        <p:spPr>
          <a:xfrm flipH="1" flipV="1">
            <a:off x="3442409" y="3798889"/>
            <a:ext cx="624702" cy="202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13" idx="7"/>
            <a:endCxn id="17" idx="3"/>
          </p:cNvCxnSpPr>
          <p:nvPr/>
        </p:nvCxnSpPr>
        <p:spPr>
          <a:xfrm flipV="1">
            <a:off x="3438048" y="2344540"/>
            <a:ext cx="776890" cy="3132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13" idx="5"/>
            <a:endCxn id="19" idx="2"/>
          </p:cNvCxnSpPr>
          <p:nvPr/>
        </p:nvCxnSpPr>
        <p:spPr>
          <a:xfrm>
            <a:off x="3438048" y="2861485"/>
            <a:ext cx="754197" cy="1807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5290094" y="285902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5293550" y="293419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>
            <a:stCxn id="17" idx="5"/>
            <a:endCxn id="40" idx="1"/>
          </p:cNvCxnSpPr>
          <p:nvPr/>
        </p:nvCxnSpPr>
        <p:spPr>
          <a:xfrm>
            <a:off x="4418584" y="2344540"/>
            <a:ext cx="917143" cy="6318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15" idx="7"/>
            <a:endCxn id="40" idx="3"/>
          </p:cNvCxnSpPr>
          <p:nvPr/>
        </p:nvCxnSpPr>
        <p:spPr>
          <a:xfrm flipV="1">
            <a:off x="3442409" y="3180013"/>
            <a:ext cx="1893318" cy="4152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19" idx="0"/>
            <a:endCxn id="17" idx="4"/>
          </p:cNvCxnSpPr>
          <p:nvPr/>
        </p:nvCxnSpPr>
        <p:spPr>
          <a:xfrm flipH="1" flipV="1">
            <a:off x="4316761" y="2386717"/>
            <a:ext cx="19484" cy="5115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6227501" y="2907481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橢圓 50"/>
          <p:cNvSpPr/>
          <p:nvPr/>
        </p:nvSpPr>
        <p:spPr>
          <a:xfrm>
            <a:off x="6222331" y="2956773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2" name="直線接點 51"/>
          <p:cNvCxnSpPr>
            <a:stCxn id="40" idx="6"/>
            <a:endCxn id="51" idx="2"/>
          </p:cNvCxnSpPr>
          <p:nvPr/>
        </p:nvCxnSpPr>
        <p:spPr>
          <a:xfrm>
            <a:off x="5581550" y="3078190"/>
            <a:ext cx="640781" cy="225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/>
          <p:cNvSpPr txBox="1"/>
          <p:nvPr/>
        </p:nvSpPr>
        <p:spPr>
          <a:xfrm>
            <a:off x="2235193" y="461187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2871350" y="461187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3195725" y="4611871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500801" y="461187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4267064" y="461187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4591439" y="461187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4922393" y="4611871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5224033" y="4611871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5898759" y="4611871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2042832" y="501198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起點</a:t>
            </a:r>
          </a:p>
        </p:txBody>
      </p:sp>
      <p:sp>
        <p:nvSpPr>
          <p:cNvPr id="65" name="文字方塊 64"/>
          <p:cNvSpPr txBox="1"/>
          <p:nvPr/>
        </p:nvSpPr>
        <p:spPr>
          <a:xfrm>
            <a:off x="2837654" y="501775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第一層</a:t>
            </a:r>
          </a:p>
        </p:txBody>
      </p:sp>
      <p:sp>
        <p:nvSpPr>
          <p:cNvPr id="66" name="文字方塊 65"/>
          <p:cNvSpPr txBox="1"/>
          <p:nvPr/>
        </p:nvSpPr>
        <p:spPr>
          <a:xfrm>
            <a:off x="4394975" y="500342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第二層</a:t>
            </a:r>
          </a:p>
        </p:txBody>
      </p:sp>
      <p:sp>
        <p:nvSpPr>
          <p:cNvPr id="67" name="文字方塊 66"/>
          <p:cNvSpPr txBox="1"/>
          <p:nvPr/>
        </p:nvSpPr>
        <p:spPr>
          <a:xfrm>
            <a:off x="5549304" y="4989099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第三層</a:t>
            </a:r>
          </a:p>
        </p:txBody>
      </p:sp>
    </p:spTree>
    <p:extLst>
      <p:ext uri="{BB962C8B-B14F-4D97-AF65-F5344CB8AC3E}">
        <p14:creationId xmlns:p14="http://schemas.microsoft.com/office/powerpoint/2010/main" val="4023086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8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5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5" grpId="0"/>
      <p:bldP spid="66" grpId="0"/>
      <p:bldP spid="6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廣度優先走訪 </a:t>
            </a:r>
            <a:r>
              <a:rPr lang="en-US" altLang="zh-TW" dirty="0"/>
              <a:t>BFS 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BFS</a:t>
            </a:r>
            <a:r>
              <a:rPr lang="zh-TW" altLang="en-US" dirty="0"/>
              <a:t> 流程圖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3312542" y="2027198"/>
            <a:ext cx="2432650" cy="638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將起點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作一拜訪過的記號，放入佇列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12542" y="3896255"/>
            <a:ext cx="2432650" cy="638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從佇列取出一點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endParaRPr lang="zh-TW" altLang="en-US" sz="2000" b="1" i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12542" y="4894043"/>
            <a:ext cx="2432650" cy="989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把所有與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相鄰且未拜訪的點一一作拜訪記號，放入佇列</a:t>
            </a:r>
          </a:p>
        </p:txBody>
      </p:sp>
      <p:sp>
        <p:nvSpPr>
          <p:cNvPr id="11" name="流程圖: 決策 10"/>
          <p:cNvSpPr/>
          <p:nvPr/>
        </p:nvSpPr>
        <p:spPr>
          <a:xfrm>
            <a:off x="3312542" y="2932972"/>
            <a:ext cx="2432650" cy="678611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佇列為空</a:t>
            </a:r>
          </a:p>
        </p:txBody>
      </p:sp>
      <p:sp>
        <p:nvSpPr>
          <p:cNvPr id="12" name="圓角矩形 11"/>
          <p:cNvSpPr/>
          <p:nvPr/>
        </p:nvSpPr>
        <p:spPr>
          <a:xfrm>
            <a:off x="4106172" y="1414723"/>
            <a:ext cx="845390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開始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圓角矩形 12"/>
          <p:cNvSpPr/>
          <p:nvPr/>
        </p:nvSpPr>
        <p:spPr>
          <a:xfrm>
            <a:off x="4093231" y="6208135"/>
            <a:ext cx="871269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</a:p>
        </p:txBody>
      </p:sp>
      <p:cxnSp>
        <p:nvCxnSpPr>
          <p:cNvPr id="15" name="直線單箭頭接點 14"/>
          <p:cNvCxnSpPr>
            <a:stCxn id="12" idx="2"/>
            <a:endCxn id="8" idx="0"/>
          </p:cNvCxnSpPr>
          <p:nvPr/>
        </p:nvCxnSpPr>
        <p:spPr>
          <a:xfrm>
            <a:off x="4528867" y="1733900"/>
            <a:ext cx="0" cy="293298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8" idx="2"/>
            <a:endCxn id="11" idx="0"/>
          </p:cNvCxnSpPr>
          <p:nvPr/>
        </p:nvCxnSpPr>
        <p:spPr>
          <a:xfrm>
            <a:off x="4528867" y="2665553"/>
            <a:ext cx="0" cy="26741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9" idx="2"/>
            <a:endCxn id="10" idx="0"/>
          </p:cNvCxnSpPr>
          <p:nvPr/>
        </p:nvCxnSpPr>
        <p:spPr>
          <a:xfrm>
            <a:off x="4528867" y="4534610"/>
            <a:ext cx="0" cy="359433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接點 26"/>
          <p:cNvCxnSpPr>
            <a:stCxn id="10" idx="2"/>
            <a:endCxn id="11" idx="3"/>
          </p:cNvCxnSpPr>
          <p:nvPr/>
        </p:nvCxnSpPr>
        <p:spPr>
          <a:xfrm rot="5400000" flipH="1" flipV="1">
            <a:off x="3831565" y="3969579"/>
            <a:ext cx="2610928" cy="1216325"/>
          </a:xfrm>
          <a:prstGeom prst="bentConnector4">
            <a:avLst>
              <a:gd name="adj1" fmla="val -8756"/>
              <a:gd name="adj2" fmla="val 118794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群組 39"/>
          <p:cNvGrpSpPr/>
          <p:nvPr/>
        </p:nvGrpSpPr>
        <p:grpSpPr>
          <a:xfrm>
            <a:off x="2665562" y="3272278"/>
            <a:ext cx="1427668" cy="3095446"/>
            <a:chOff x="2665562" y="3272278"/>
            <a:chExt cx="1427668" cy="3095446"/>
          </a:xfrm>
        </p:grpSpPr>
        <p:cxnSp>
          <p:nvCxnSpPr>
            <p:cNvPr id="26" name="肘形接點 25"/>
            <p:cNvCxnSpPr>
              <a:stCxn id="11" idx="1"/>
              <a:endCxn id="13" idx="1"/>
            </p:cNvCxnSpPr>
            <p:nvPr/>
          </p:nvCxnSpPr>
          <p:spPr>
            <a:xfrm rot="10800000" flipH="1" flipV="1">
              <a:off x="3312541" y="3272278"/>
              <a:ext cx="780689" cy="3095446"/>
            </a:xfrm>
            <a:prstGeom prst="bentConnector3">
              <a:avLst>
                <a:gd name="adj1" fmla="val -29282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2665562" y="341152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是</a:t>
              </a:r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4156727" y="3539275"/>
            <a:ext cx="415498" cy="369332"/>
            <a:chOff x="4156727" y="3539275"/>
            <a:chExt cx="415498" cy="369332"/>
          </a:xfrm>
        </p:grpSpPr>
        <p:cxnSp>
          <p:nvCxnSpPr>
            <p:cNvPr id="19" name="直線單箭頭接點 18"/>
            <p:cNvCxnSpPr>
              <a:stCxn id="11" idx="2"/>
              <a:endCxn id="9" idx="0"/>
            </p:cNvCxnSpPr>
            <p:nvPr/>
          </p:nvCxnSpPr>
          <p:spPr>
            <a:xfrm>
              <a:off x="4528867" y="3611583"/>
              <a:ext cx="0" cy="284672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/>
            <p:cNvSpPr txBox="1"/>
            <p:nvPr/>
          </p:nvSpPr>
          <p:spPr>
            <a:xfrm>
              <a:off x="4156727" y="353927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238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廣度優先走訪 </a:t>
            </a:r>
            <a:r>
              <a:rPr lang="en-US" altLang="zh-TW" dirty="0"/>
              <a:t>BFS (3/3)</a:t>
            </a:r>
            <a:endParaRPr lang="zh-TW" altLang="en-US" dirty="0"/>
          </a:p>
        </p:txBody>
      </p:sp>
      <p:graphicFrame>
        <p:nvGraphicFramePr>
          <p:cNvPr id="49" name="內容版面配置區 48"/>
          <p:cNvGraphicFramePr>
            <a:graphicFrameLocks noGrp="1"/>
          </p:cNvGraphicFramePr>
          <p:nvPr>
            <p:ph sz="quarter" idx="4294967295"/>
          </p:nvPr>
        </p:nvGraphicFramePr>
        <p:xfrm>
          <a:off x="1877932" y="4588639"/>
          <a:ext cx="516565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225486" y="18485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2237568" y="1923733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2213404" y="26824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2225486" y="2757619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3188769" y="225583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192225" y="2331004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3184504" y="32104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196586" y="3268408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4169305" y="173888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4172761" y="1814059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4188789" y="255570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4192245" y="2613619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4021478" y="3599358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4024934" y="3674528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10" idx="0"/>
            <a:endCxn id="8" idx="4"/>
          </p:cNvCxnSpPr>
          <p:nvPr/>
        </p:nvCxnSpPr>
        <p:spPr>
          <a:xfrm flipV="1">
            <a:off x="2369486" y="2211733"/>
            <a:ext cx="12082" cy="5458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0" idx="7"/>
            <a:endCxn id="12" idx="3"/>
          </p:cNvCxnSpPr>
          <p:nvPr/>
        </p:nvCxnSpPr>
        <p:spPr>
          <a:xfrm flipV="1">
            <a:off x="2471309" y="2576827"/>
            <a:ext cx="763093" cy="222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4" idx="1"/>
            <a:endCxn id="10" idx="5"/>
          </p:cNvCxnSpPr>
          <p:nvPr/>
        </p:nvCxnSpPr>
        <p:spPr>
          <a:xfrm flipH="1" flipV="1">
            <a:off x="2471309" y="3003442"/>
            <a:ext cx="767454" cy="3071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20" idx="1"/>
            <a:endCxn id="14" idx="5"/>
          </p:cNvCxnSpPr>
          <p:nvPr/>
        </p:nvCxnSpPr>
        <p:spPr>
          <a:xfrm flipH="1" flipV="1">
            <a:off x="3442409" y="3514231"/>
            <a:ext cx="624702" cy="202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2" idx="7"/>
            <a:endCxn id="16" idx="3"/>
          </p:cNvCxnSpPr>
          <p:nvPr/>
        </p:nvCxnSpPr>
        <p:spPr>
          <a:xfrm flipV="1">
            <a:off x="3438048" y="2059882"/>
            <a:ext cx="776890" cy="3132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2" idx="5"/>
            <a:endCxn id="18" idx="2"/>
          </p:cNvCxnSpPr>
          <p:nvPr/>
        </p:nvCxnSpPr>
        <p:spPr>
          <a:xfrm>
            <a:off x="3438048" y="2576827"/>
            <a:ext cx="754197" cy="1807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5290094" y="2574362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5293550" y="2649532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16" idx="5"/>
            <a:endCxn id="28" idx="1"/>
          </p:cNvCxnSpPr>
          <p:nvPr/>
        </p:nvCxnSpPr>
        <p:spPr>
          <a:xfrm>
            <a:off x="4418584" y="2059882"/>
            <a:ext cx="917143" cy="6318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14" idx="7"/>
            <a:endCxn id="28" idx="3"/>
          </p:cNvCxnSpPr>
          <p:nvPr/>
        </p:nvCxnSpPr>
        <p:spPr>
          <a:xfrm flipV="1">
            <a:off x="3442409" y="2895355"/>
            <a:ext cx="1893318" cy="4152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18" idx="0"/>
            <a:endCxn id="16" idx="4"/>
          </p:cNvCxnSpPr>
          <p:nvPr/>
        </p:nvCxnSpPr>
        <p:spPr>
          <a:xfrm flipH="1" flipV="1">
            <a:off x="4316761" y="2102059"/>
            <a:ext cx="19484" cy="5115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6227501" y="2622823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6222331" y="2672115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4" name="直線接點 33"/>
          <p:cNvCxnSpPr>
            <a:stCxn id="28" idx="6"/>
            <a:endCxn id="33" idx="2"/>
          </p:cNvCxnSpPr>
          <p:nvPr/>
        </p:nvCxnSpPr>
        <p:spPr>
          <a:xfrm>
            <a:off x="5581550" y="2793532"/>
            <a:ext cx="640781" cy="225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內容版面配置區 48"/>
          <p:cNvGraphicFramePr>
            <a:graphicFrameLocks/>
          </p:cNvGraphicFramePr>
          <p:nvPr/>
        </p:nvGraphicFramePr>
        <p:xfrm>
          <a:off x="1877932" y="5206865"/>
          <a:ext cx="516565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39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文字方塊 51"/>
          <p:cNvSpPr txBox="1"/>
          <p:nvPr/>
        </p:nvSpPr>
        <p:spPr>
          <a:xfrm>
            <a:off x="2011930" y="45860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2587026" y="45860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3184106" y="4586012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739483" y="45860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4314579" y="45860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911659" y="4586012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5466693" y="4586012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6041789" y="4586012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6638869" y="4586012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007877" y="520423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2601748" y="520423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3198828" y="520423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3754205" y="520423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4309740" y="520423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4906820" y="520423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5466693" y="520423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6041789" y="5204238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6638869" y="5204238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976813" y="5204238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640398" y="4597568"/>
            <a:ext cx="1233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038" y="655075"/>
            <a:ext cx="1997483" cy="3133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465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5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1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"/>
                            </p:stCondLst>
                            <p:childTnLst>
                              <p:par>
                                <p:cTn id="1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5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750"/>
                            </p:stCondLst>
                            <p:childTnLst>
                              <p:par>
                                <p:cTn id="1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8" grpId="0"/>
      <p:bldP spid="68" grpId="1"/>
      <p:bldP spid="69" grpId="0"/>
      <p:bldP spid="69" grpId="1"/>
      <p:bldP spid="72" grpId="0"/>
      <p:bldP spid="72" grpId="1"/>
      <p:bldP spid="73" grpId="0"/>
      <p:bldP spid="73" grpId="1"/>
      <p:bldP spid="74" grpId="0"/>
      <p:bldP spid="74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樹 </a:t>
            </a:r>
            <a:r>
              <a:rPr lang="en-US" altLang="zh-TW" dirty="0"/>
              <a:t>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樹的定義</a:t>
            </a:r>
            <a:endParaRPr lang="en-US" altLang="zh-TW" dirty="0"/>
          </a:p>
          <a:p>
            <a:pPr lvl="1"/>
            <a:r>
              <a:rPr lang="zh-TW" altLang="en-US" dirty="0"/>
              <a:t>沒有</a:t>
            </a:r>
            <a:r>
              <a:rPr lang="zh-TW" altLang="en-US" dirty="0">
                <a:solidFill>
                  <a:srgbClr val="C00000"/>
                </a:solidFill>
              </a:rPr>
              <a:t>環路</a:t>
            </a:r>
            <a:r>
              <a:rPr lang="zh-TW" altLang="en-US" dirty="0"/>
              <a:t>的</a:t>
            </a:r>
            <a:r>
              <a:rPr lang="zh-TW" altLang="en-US" dirty="0">
                <a:solidFill>
                  <a:srgbClr val="C00000"/>
                </a:solidFill>
              </a:rPr>
              <a:t>連通圖</a:t>
            </a:r>
            <a:endParaRPr lang="en-US" altLang="zh-TW" dirty="0">
              <a:solidFill>
                <a:srgbClr val="C00000"/>
              </a:solidFill>
            </a:endParaRP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079683" y="30248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1091765" y="3100004"/>
            <a:ext cx="288000" cy="288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1067601" y="38587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1079683" y="3933890"/>
            <a:ext cx="288000" cy="288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2042966" y="3432105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2046422" y="3507275"/>
            <a:ext cx="288000" cy="288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2038701" y="43867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2050783" y="4444679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>
            <a:stCxn id="11" idx="0"/>
            <a:endCxn id="9" idx="4"/>
          </p:cNvCxnSpPr>
          <p:nvPr/>
        </p:nvCxnSpPr>
        <p:spPr>
          <a:xfrm flipV="1">
            <a:off x="1223683" y="3388004"/>
            <a:ext cx="12082" cy="54588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1"/>
            <a:endCxn id="11" idx="5"/>
          </p:cNvCxnSpPr>
          <p:nvPr/>
        </p:nvCxnSpPr>
        <p:spPr>
          <a:xfrm flipH="1" flipV="1">
            <a:off x="1325506" y="4179713"/>
            <a:ext cx="767454" cy="3071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3" idx="3"/>
            <a:endCxn id="11" idx="6"/>
          </p:cNvCxnSpPr>
          <p:nvPr/>
        </p:nvCxnSpPr>
        <p:spPr>
          <a:xfrm flipH="1">
            <a:off x="1367683" y="3753098"/>
            <a:ext cx="720916" cy="32479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9" idx="6"/>
            <a:endCxn id="13" idx="1"/>
          </p:cNvCxnSpPr>
          <p:nvPr/>
        </p:nvCxnSpPr>
        <p:spPr>
          <a:xfrm>
            <a:off x="1379765" y="3244004"/>
            <a:ext cx="708834" cy="30544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3802755" y="30248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3814837" y="3100004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3790673" y="38587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3802755" y="393389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/>
          <p:cNvSpPr txBox="1"/>
          <p:nvPr/>
        </p:nvSpPr>
        <p:spPr>
          <a:xfrm>
            <a:off x="4766038" y="3432105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4769494" y="3507275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761773" y="43867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4773855" y="4444679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4" name="直線接點 43"/>
          <p:cNvCxnSpPr>
            <a:stCxn id="42" idx="1"/>
            <a:endCxn id="38" idx="5"/>
          </p:cNvCxnSpPr>
          <p:nvPr/>
        </p:nvCxnSpPr>
        <p:spPr>
          <a:xfrm flipH="1" flipV="1">
            <a:off x="4048578" y="4179713"/>
            <a:ext cx="767454" cy="3071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36" idx="6"/>
            <a:endCxn id="40" idx="1"/>
          </p:cNvCxnSpPr>
          <p:nvPr/>
        </p:nvCxnSpPr>
        <p:spPr>
          <a:xfrm>
            <a:off x="4102837" y="3244004"/>
            <a:ext cx="708834" cy="3054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6549184" y="31002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6561266" y="3175419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/>
          <p:cNvSpPr txBox="1"/>
          <p:nvPr/>
        </p:nvSpPr>
        <p:spPr>
          <a:xfrm>
            <a:off x="6537102" y="39341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6549184" y="4009305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/>
          <p:cNvSpPr txBox="1"/>
          <p:nvPr/>
        </p:nvSpPr>
        <p:spPr>
          <a:xfrm>
            <a:off x="7512467" y="350752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7515923" y="358269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7508202" y="44621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橢圓 53"/>
          <p:cNvSpPr/>
          <p:nvPr/>
        </p:nvSpPr>
        <p:spPr>
          <a:xfrm>
            <a:off x="7520284" y="4520094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6" name="直線接點 55"/>
          <p:cNvCxnSpPr>
            <a:stCxn id="54" idx="1"/>
            <a:endCxn id="50" idx="5"/>
          </p:cNvCxnSpPr>
          <p:nvPr/>
        </p:nvCxnSpPr>
        <p:spPr>
          <a:xfrm flipH="1" flipV="1">
            <a:off x="6795007" y="4255128"/>
            <a:ext cx="767454" cy="3071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52" idx="3"/>
            <a:endCxn id="50" idx="6"/>
          </p:cNvCxnSpPr>
          <p:nvPr/>
        </p:nvCxnSpPr>
        <p:spPr>
          <a:xfrm flipH="1">
            <a:off x="6837184" y="3828513"/>
            <a:ext cx="720916" cy="3247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>
            <a:stCxn id="48" idx="6"/>
            <a:endCxn id="52" idx="1"/>
          </p:cNvCxnSpPr>
          <p:nvPr/>
        </p:nvCxnSpPr>
        <p:spPr>
          <a:xfrm>
            <a:off x="6849266" y="3319419"/>
            <a:ext cx="708834" cy="3054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/>
          <p:cNvSpPr txBox="1"/>
          <p:nvPr/>
        </p:nvSpPr>
        <p:spPr>
          <a:xfrm>
            <a:off x="1257128" y="504645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有環路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3935761" y="504645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不連通</a:t>
            </a:r>
          </a:p>
        </p:txBody>
      </p:sp>
      <p:sp>
        <p:nvSpPr>
          <p:cNvPr id="43" name="文字方塊 42"/>
          <p:cNvSpPr txBox="1"/>
          <p:nvPr/>
        </p:nvSpPr>
        <p:spPr>
          <a:xfrm>
            <a:off x="1456599" y="247644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4160180" y="2476445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6926100" y="247644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215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展開樹 </a:t>
            </a:r>
            <a:r>
              <a:rPr lang="en-US" altLang="zh-TW" dirty="0"/>
              <a:t>Spanning Tree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一個連通圖形</a:t>
            </a:r>
            <a:r>
              <a:rPr lang="en-US" altLang="zh-TW" i="1" dirty="0"/>
              <a:t>G</a:t>
            </a:r>
            <a:r>
              <a:rPr lang="zh-TW" altLang="en-US" dirty="0"/>
              <a:t>的</a:t>
            </a:r>
            <a:r>
              <a:rPr lang="zh-TW" altLang="en-US" dirty="0">
                <a:solidFill>
                  <a:srgbClr val="C00000"/>
                </a:solidFill>
              </a:rPr>
              <a:t>展開樹</a:t>
            </a:r>
            <a:r>
              <a:rPr lang="en-US" altLang="zh-TW" dirty="0"/>
              <a:t>/</a:t>
            </a:r>
            <a:r>
              <a:rPr lang="zh-TW" altLang="en-US" dirty="0"/>
              <a:t>擴展樹</a:t>
            </a:r>
            <a:r>
              <a:rPr lang="en-US" altLang="zh-TW" dirty="0"/>
              <a:t>(spanning tree)</a:t>
            </a:r>
            <a:r>
              <a:rPr lang="en-US" altLang="zh-TW" i="1" dirty="0"/>
              <a:t>T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i="1" dirty="0"/>
              <a:t>T</a:t>
            </a:r>
            <a:r>
              <a:rPr lang="zh-TW" altLang="en-US" dirty="0"/>
              <a:t>是</a:t>
            </a:r>
            <a:r>
              <a:rPr lang="en-US" altLang="zh-TW" i="1" dirty="0"/>
              <a:t>G</a:t>
            </a:r>
            <a:r>
              <a:rPr lang="zh-TW" altLang="en-US" dirty="0"/>
              <a:t>的子圖</a:t>
            </a:r>
            <a:endParaRPr lang="en-US" altLang="zh-TW" i="1" dirty="0"/>
          </a:p>
          <a:p>
            <a:pPr lvl="1"/>
            <a:r>
              <a:rPr lang="en-US" altLang="zh-TW" i="1" dirty="0"/>
              <a:t>T</a:t>
            </a:r>
            <a:r>
              <a:rPr lang="zh-TW" altLang="en-US" dirty="0"/>
              <a:t>包含</a:t>
            </a:r>
            <a:r>
              <a:rPr lang="en-US" altLang="zh-TW" i="1" dirty="0"/>
              <a:t>G</a:t>
            </a:r>
            <a:r>
              <a:rPr lang="zh-TW" altLang="en-US" dirty="0"/>
              <a:t>的所有點 </a:t>
            </a:r>
            <a:r>
              <a:rPr lang="en-US" altLang="zh-TW" i="1" dirty="0"/>
              <a:t>V</a:t>
            </a:r>
            <a:r>
              <a:rPr lang="en-US" altLang="zh-TW" dirty="0"/>
              <a:t>(</a:t>
            </a:r>
            <a:r>
              <a:rPr lang="en-US" altLang="zh-TW" i="1" dirty="0"/>
              <a:t>T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i="1" dirty="0"/>
              <a:t>V</a:t>
            </a:r>
            <a:r>
              <a:rPr lang="en-US" altLang="zh-TW" dirty="0"/>
              <a:t>(</a:t>
            </a:r>
            <a:r>
              <a:rPr lang="en-US" altLang="zh-TW" i="1" dirty="0"/>
              <a:t>G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i="1" dirty="0"/>
              <a:t>T</a:t>
            </a:r>
            <a:r>
              <a:rPr lang="zh-TW" altLang="en-US" dirty="0"/>
              <a:t>是一棵樹</a:t>
            </a:r>
            <a:r>
              <a:rPr lang="en-US" altLang="zh-TW" dirty="0"/>
              <a:t>(</a:t>
            </a:r>
            <a:r>
              <a:rPr lang="zh-TW" altLang="en-US" dirty="0"/>
              <a:t>沒有環路的連通圖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樹的性質：</a:t>
            </a:r>
            <a:r>
              <a:rPr lang="zh-TW" altLang="en-US" dirty="0">
                <a:solidFill>
                  <a:srgbClr val="C00000"/>
                </a:solidFill>
              </a:rPr>
              <a:t>邊數為點數減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grpSp>
        <p:nvGrpSpPr>
          <p:cNvPr id="13" name="群組 12"/>
          <p:cNvGrpSpPr/>
          <p:nvPr/>
        </p:nvGrpSpPr>
        <p:grpSpPr>
          <a:xfrm>
            <a:off x="6443930" y="1556442"/>
            <a:ext cx="1645797" cy="1783281"/>
            <a:chOff x="6443930" y="1556442"/>
            <a:chExt cx="1645797" cy="1783281"/>
          </a:xfrm>
        </p:grpSpPr>
        <p:grpSp>
          <p:nvGrpSpPr>
            <p:cNvPr id="11" name="群組 10"/>
            <p:cNvGrpSpPr/>
            <p:nvPr/>
          </p:nvGrpSpPr>
          <p:grpSpPr>
            <a:xfrm>
              <a:off x="7119660" y="1556442"/>
              <a:ext cx="300082" cy="369332"/>
              <a:chOff x="7119660" y="1677206"/>
              <a:chExt cx="300082" cy="369332"/>
            </a:xfrm>
          </p:grpSpPr>
          <p:sp>
            <p:nvSpPr>
              <p:cNvPr id="7" name="文字方塊 6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橢圓 7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2" name="群組 11"/>
            <p:cNvGrpSpPr/>
            <p:nvPr/>
          </p:nvGrpSpPr>
          <p:grpSpPr>
            <a:xfrm>
              <a:off x="7117075" y="2555897"/>
              <a:ext cx="300082" cy="369332"/>
              <a:chOff x="7210115" y="2674994"/>
              <a:chExt cx="300082" cy="369332"/>
            </a:xfrm>
          </p:grpSpPr>
          <p:sp>
            <p:nvSpPr>
              <p:cNvPr id="9" name="文字方塊 8"/>
              <p:cNvSpPr txBox="1"/>
              <p:nvPr/>
            </p:nvSpPr>
            <p:spPr>
              <a:xfrm>
                <a:off x="7210115" y="2674994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橢圓 9"/>
              <p:cNvSpPr/>
              <p:nvPr/>
            </p:nvSpPr>
            <p:spPr>
              <a:xfrm>
                <a:off x="7222197" y="273291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5" name="群組 14"/>
            <p:cNvGrpSpPr/>
            <p:nvPr/>
          </p:nvGrpSpPr>
          <p:grpSpPr>
            <a:xfrm>
              <a:off x="6443930" y="2078174"/>
              <a:ext cx="300082" cy="369332"/>
              <a:chOff x="7119660" y="1677206"/>
              <a:chExt cx="300082" cy="369332"/>
            </a:xfrm>
          </p:grpSpPr>
          <p:sp>
            <p:nvSpPr>
              <p:cNvPr id="16" name="文字方塊 15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橢圓 16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8" name="群組 17"/>
            <p:cNvGrpSpPr/>
            <p:nvPr/>
          </p:nvGrpSpPr>
          <p:grpSpPr>
            <a:xfrm>
              <a:off x="7789645" y="2078174"/>
              <a:ext cx="300082" cy="369332"/>
              <a:chOff x="7119660" y="1677206"/>
              <a:chExt cx="300082" cy="369332"/>
            </a:xfrm>
          </p:grpSpPr>
          <p:sp>
            <p:nvSpPr>
              <p:cNvPr id="19" name="文字方塊 18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橢圓 19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22" name="直線接點 21"/>
            <p:cNvCxnSpPr>
              <a:stCxn id="8" idx="3"/>
              <a:endCxn id="17" idx="7"/>
            </p:cNvCxnSpPr>
            <p:nvPr/>
          </p:nvCxnSpPr>
          <p:spPr>
            <a:xfrm flipH="1">
              <a:off x="6701835" y="1860183"/>
              <a:ext cx="472084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>
              <a:stCxn id="10" idx="1"/>
              <a:endCxn id="17" idx="5"/>
            </p:cNvCxnSpPr>
            <p:nvPr/>
          </p:nvCxnSpPr>
          <p:spPr>
            <a:xfrm flipH="1" flipV="1">
              <a:off x="6701835" y="2381915"/>
              <a:ext cx="469499" cy="2740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>
              <a:stCxn id="8" idx="5"/>
              <a:endCxn id="20" idx="1"/>
            </p:cNvCxnSpPr>
            <p:nvPr/>
          </p:nvCxnSpPr>
          <p:spPr>
            <a:xfrm>
              <a:off x="7377565" y="1860183"/>
              <a:ext cx="466339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>
              <a:stCxn id="20" idx="3"/>
              <a:endCxn id="10" idx="7"/>
            </p:cNvCxnSpPr>
            <p:nvPr/>
          </p:nvCxnSpPr>
          <p:spPr>
            <a:xfrm flipH="1">
              <a:off x="7374980" y="2381915"/>
              <a:ext cx="468924" cy="2740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>
              <a:stCxn id="8" idx="4"/>
              <a:endCxn id="10" idx="0"/>
            </p:cNvCxnSpPr>
            <p:nvPr/>
          </p:nvCxnSpPr>
          <p:spPr>
            <a:xfrm flipH="1">
              <a:off x="7273157" y="1902360"/>
              <a:ext cx="2585" cy="71145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>
              <a:stCxn id="20" idx="2"/>
              <a:endCxn id="17" idx="6"/>
            </p:cNvCxnSpPr>
            <p:nvPr/>
          </p:nvCxnSpPr>
          <p:spPr>
            <a:xfrm flipH="1">
              <a:off x="6744012" y="2280092"/>
              <a:ext cx="105771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7088554" y="2939613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334217" y="3572161"/>
            <a:ext cx="1645797" cy="1783281"/>
            <a:chOff x="1334217" y="3572161"/>
            <a:chExt cx="1645797" cy="1783281"/>
          </a:xfrm>
        </p:grpSpPr>
        <p:grpSp>
          <p:nvGrpSpPr>
            <p:cNvPr id="39" name="群組 38"/>
            <p:cNvGrpSpPr/>
            <p:nvPr/>
          </p:nvGrpSpPr>
          <p:grpSpPr>
            <a:xfrm>
              <a:off x="2009947" y="3572161"/>
              <a:ext cx="300082" cy="369332"/>
              <a:chOff x="7119660" y="1677206"/>
              <a:chExt cx="300082" cy="369332"/>
            </a:xfrm>
          </p:grpSpPr>
          <p:sp>
            <p:nvSpPr>
              <p:cNvPr id="40" name="文字方塊 39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橢圓 40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2" name="群組 41"/>
            <p:cNvGrpSpPr/>
            <p:nvPr/>
          </p:nvGrpSpPr>
          <p:grpSpPr>
            <a:xfrm>
              <a:off x="2007362" y="4571616"/>
              <a:ext cx="300082" cy="369332"/>
              <a:chOff x="7210115" y="2674994"/>
              <a:chExt cx="300082" cy="369332"/>
            </a:xfrm>
          </p:grpSpPr>
          <p:sp>
            <p:nvSpPr>
              <p:cNvPr id="43" name="文字方塊 42"/>
              <p:cNvSpPr txBox="1"/>
              <p:nvPr/>
            </p:nvSpPr>
            <p:spPr>
              <a:xfrm>
                <a:off x="7210115" y="2674994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橢圓 43"/>
              <p:cNvSpPr/>
              <p:nvPr/>
            </p:nvSpPr>
            <p:spPr>
              <a:xfrm>
                <a:off x="7222197" y="273291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5" name="群組 44"/>
            <p:cNvGrpSpPr/>
            <p:nvPr/>
          </p:nvGrpSpPr>
          <p:grpSpPr>
            <a:xfrm>
              <a:off x="1334217" y="4093893"/>
              <a:ext cx="300082" cy="369332"/>
              <a:chOff x="7119660" y="1677206"/>
              <a:chExt cx="300082" cy="369332"/>
            </a:xfrm>
          </p:grpSpPr>
          <p:sp>
            <p:nvSpPr>
              <p:cNvPr id="46" name="文字方塊 45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橢圓 46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8" name="群組 47"/>
            <p:cNvGrpSpPr/>
            <p:nvPr/>
          </p:nvGrpSpPr>
          <p:grpSpPr>
            <a:xfrm>
              <a:off x="2679932" y="4093893"/>
              <a:ext cx="300082" cy="369332"/>
              <a:chOff x="7119660" y="1677206"/>
              <a:chExt cx="300082" cy="369332"/>
            </a:xfrm>
          </p:grpSpPr>
          <p:sp>
            <p:nvSpPr>
              <p:cNvPr id="49" name="文字方塊 48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橢圓 49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52" name="直線接點 51"/>
            <p:cNvCxnSpPr>
              <a:stCxn id="44" idx="1"/>
              <a:endCxn id="47" idx="5"/>
            </p:cNvCxnSpPr>
            <p:nvPr/>
          </p:nvCxnSpPr>
          <p:spPr>
            <a:xfrm flipH="1" flipV="1">
              <a:off x="1592122" y="4397634"/>
              <a:ext cx="469499" cy="2740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接點 52"/>
            <p:cNvCxnSpPr>
              <a:stCxn id="41" idx="5"/>
              <a:endCxn id="50" idx="1"/>
            </p:cNvCxnSpPr>
            <p:nvPr/>
          </p:nvCxnSpPr>
          <p:spPr>
            <a:xfrm>
              <a:off x="2267852" y="3875902"/>
              <a:ext cx="466339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接點 53"/>
            <p:cNvCxnSpPr>
              <a:stCxn id="50" idx="3"/>
              <a:endCxn id="44" idx="7"/>
            </p:cNvCxnSpPr>
            <p:nvPr/>
          </p:nvCxnSpPr>
          <p:spPr>
            <a:xfrm flipH="1">
              <a:off x="2265267" y="4397634"/>
              <a:ext cx="468924" cy="2740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字方塊 56"/>
            <p:cNvSpPr txBox="1"/>
            <p:nvPr/>
          </p:nvSpPr>
          <p:spPr>
            <a:xfrm>
              <a:off x="1952963" y="4955332"/>
              <a:ext cx="4267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3790042" y="3573114"/>
            <a:ext cx="1645797" cy="1783281"/>
            <a:chOff x="3790042" y="3573114"/>
            <a:chExt cx="1645797" cy="1783281"/>
          </a:xfrm>
        </p:grpSpPr>
        <p:grpSp>
          <p:nvGrpSpPr>
            <p:cNvPr id="58" name="群組 57"/>
            <p:cNvGrpSpPr/>
            <p:nvPr/>
          </p:nvGrpSpPr>
          <p:grpSpPr>
            <a:xfrm>
              <a:off x="4465772" y="3573114"/>
              <a:ext cx="300082" cy="369332"/>
              <a:chOff x="7119660" y="1677206"/>
              <a:chExt cx="300082" cy="369332"/>
            </a:xfrm>
          </p:grpSpPr>
          <p:sp>
            <p:nvSpPr>
              <p:cNvPr id="59" name="文字方塊 58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橢圓 59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61" name="群組 60"/>
            <p:cNvGrpSpPr/>
            <p:nvPr/>
          </p:nvGrpSpPr>
          <p:grpSpPr>
            <a:xfrm>
              <a:off x="4463187" y="4572569"/>
              <a:ext cx="300082" cy="369332"/>
              <a:chOff x="7210115" y="2674994"/>
              <a:chExt cx="300082" cy="369332"/>
            </a:xfrm>
          </p:grpSpPr>
          <p:sp>
            <p:nvSpPr>
              <p:cNvPr id="62" name="文字方塊 61"/>
              <p:cNvSpPr txBox="1"/>
              <p:nvPr/>
            </p:nvSpPr>
            <p:spPr>
              <a:xfrm>
                <a:off x="7210115" y="2674994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7222197" y="273291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64" name="群組 63"/>
            <p:cNvGrpSpPr/>
            <p:nvPr/>
          </p:nvGrpSpPr>
          <p:grpSpPr>
            <a:xfrm>
              <a:off x="3790042" y="4094846"/>
              <a:ext cx="300082" cy="369332"/>
              <a:chOff x="7119660" y="1677206"/>
              <a:chExt cx="300082" cy="369332"/>
            </a:xfrm>
          </p:grpSpPr>
          <p:sp>
            <p:nvSpPr>
              <p:cNvPr id="65" name="文字方塊 64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67" name="群組 66"/>
            <p:cNvGrpSpPr/>
            <p:nvPr/>
          </p:nvGrpSpPr>
          <p:grpSpPr>
            <a:xfrm>
              <a:off x="5135757" y="4094846"/>
              <a:ext cx="300082" cy="369332"/>
              <a:chOff x="7119660" y="1677206"/>
              <a:chExt cx="300082" cy="369332"/>
            </a:xfrm>
          </p:grpSpPr>
          <p:sp>
            <p:nvSpPr>
              <p:cNvPr id="68" name="文字方塊 67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橢圓 68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70" name="直線接點 69"/>
            <p:cNvCxnSpPr>
              <a:stCxn id="60" idx="3"/>
              <a:endCxn id="66" idx="7"/>
            </p:cNvCxnSpPr>
            <p:nvPr/>
          </p:nvCxnSpPr>
          <p:spPr>
            <a:xfrm flipH="1">
              <a:off x="4047947" y="3876855"/>
              <a:ext cx="472084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72"/>
            <p:cNvCxnSpPr>
              <a:stCxn id="69" idx="3"/>
              <a:endCxn id="63" idx="7"/>
            </p:cNvCxnSpPr>
            <p:nvPr/>
          </p:nvCxnSpPr>
          <p:spPr>
            <a:xfrm flipH="1">
              <a:off x="4721092" y="4398587"/>
              <a:ext cx="468924" cy="2740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/>
            <p:cNvCxnSpPr>
              <a:stCxn id="69" idx="2"/>
              <a:endCxn id="66" idx="6"/>
            </p:cNvCxnSpPr>
            <p:nvPr/>
          </p:nvCxnSpPr>
          <p:spPr>
            <a:xfrm flipH="1">
              <a:off x="4090124" y="4296764"/>
              <a:ext cx="105771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4408788" y="4956285"/>
              <a:ext cx="4267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6280088" y="3570246"/>
            <a:ext cx="1645797" cy="1783281"/>
            <a:chOff x="6280088" y="3570246"/>
            <a:chExt cx="1645797" cy="1783281"/>
          </a:xfrm>
        </p:grpSpPr>
        <p:grpSp>
          <p:nvGrpSpPr>
            <p:cNvPr id="77" name="群組 76"/>
            <p:cNvGrpSpPr/>
            <p:nvPr/>
          </p:nvGrpSpPr>
          <p:grpSpPr>
            <a:xfrm>
              <a:off x="6955818" y="3570246"/>
              <a:ext cx="300082" cy="369332"/>
              <a:chOff x="7119660" y="1677206"/>
              <a:chExt cx="300082" cy="369332"/>
            </a:xfrm>
          </p:grpSpPr>
          <p:sp>
            <p:nvSpPr>
              <p:cNvPr id="78" name="文字方塊 77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橢圓 78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80" name="群組 79"/>
            <p:cNvGrpSpPr/>
            <p:nvPr/>
          </p:nvGrpSpPr>
          <p:grpSpPr>
            <a:xfrm>
              <a:off x="6953233" y="4569701"/>
              <a:ext cx="300082" cy="369332"/>
              <a:chOff x="7210115" y="2674994"/>
              <a:chExt cx="300082" cy="369332"/>
            </a:xfrm>
          </p:grpSpPr>
          <p:sp>
            <p:nvSpPr>
              <p:cNvPr id="81" name="文字方塊 80"/>
              <p:cNvSpPr txBox="1"/>
              <p:nvPr/>
            </p:nvSpPr>
            <p:spPr>
              <a:xfrm>
                <a:off x="7210115" y="2674994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橢圓 81"/>
              <p:cNvSpPr/>
              <p:nvPr/>
            </p:nvSpPr>
            <p:spPr>
              <a:xfrm>
                <a:off x="7222197" y="273291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83" name="群組 82"/>
            <p:cNvGrpSpPr/>
            <p:nvPr/>
          </p:nvGrpSpPr>
          <p:grpSpPr>
            <a:xfrm>
              <a:off x="6280088" y="4091978"/>
              <a:ext cx="300082" cy="369332"/>
              <a:chOff x="7119660" y="1677206"/>
              <a:chExt cx="300082" cy="369332"/>
            </a:xfrm>
          </p:grpSpPr>
          <p:sp>
            <p:nvSpPr>
              <p:cNvPr id="84" name="文字方塊 83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橢圓 84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86" name="群組 85"/>
            <p:cNvGrpSpPr/>
            <p:nvPr/>
          </p:nvGrpSpPr>
          <p:grpSpPr>
            <a:xfrm>
              <a:off x="7625803" y="4091978"/>
              <a:ext cx="300082" cy="369332"/>
              <a:chOff x="7119660" y="1677206"/>
              <a:chExt cx="300082" cy="369332"/>
            </a:xfrm>
          </p:grpSpPr>
          <p:sp>
            <p:nvSpPr>
              <p:cNvPr id="87" name="文字方塊 86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橢圓 87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89" name="直線接點 88"/>
            <p:cNvCxnSpPr>
              <a:stCxn id="79" idx="3"/>
              <a:endCxn id="85" idx="7"/>
            </p:cNvCxnSpPr>
            <p:nvPr/>
          </p:nvCxnSpPr>
          <p:spPr>
            <a:xfrm flipH="1">
              <a:off x="6537993" y="3873987"/>
              <a:ext cx="472084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接點 90"/>
            <p:cNvCxnSpPr>
              <a:stCxn id="79" idx="5"/>
              <a:endCxn id="88" idx="1"/>
            </p:cNvCxnSpPr>
            <p:nvPr/>
          </p:nvCxnSpPr>
          <p:spPr>
            <a:xfrm>
              <a:off x="7213723" y="3873987"/>
              <a:ext cx="466339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接點 92"/>
            <p:cNvCxnSpPr>
              <a:stCxn id="79" idx="4"/>
              <a:endCxn id="82" idx="0"/>
            </p:cNvCxnSpPr>
            <p:nvPr/>
          </p:nvCxnSpPr>
          <p:spPr>
            <a:xfrm flipH="1">
              <a:off x="7109315" y="3916164"/>
              <a:ext cx="2585" cy="71145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字方塊 94"/>
            <p:cNvSpPr txBox="1"/>
            <p:nvPr/>
          </p:nvSpPr>
          <p:spPr>
            <a:xfrm>
              <a:off x="6898834" y="4953417"/>
              <a:ext cx="4267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103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展開樹 </a:t>
            </a:r>
            <a:r>
              <a:rPr lang="en-US" altLang="zh-TW" dirty="0"/>
              <a:t>Spanning Tree (2/2)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  <p:grpSp>
        <p:nvGrpSpPr>
          <p:cNvPr id="104" name="群組 103"/>
          <p:cNvGrpSpPr/>
          <p:nvPr/>
        </p:nvGrpSpPr>
        <p:grpSpPr>
          <a:xfrm>
            <a:off x="2393425" y="1389554"/>
            <a:ext cx="4296927" cy="2229801"/>
            <a:chOff x="2393425" y="1493066"/>
            <a:chExt cx="4296927" cy="2229801"/>
          </a:xfrm>
        </p:grpSpPr>
        <p:sp>
          <p:nvSpPr>
            <p:cNvPr id="76" name="文字方塊 75"/>
            <p:cNvSpPr txBox="1"/>
            <p:nvPr/>
          </p:nvSpPr>
          <p:spPr>
            <a:xfrm>
              <a:off x="2405507" y="16027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橢圓 76"/>
            <p:cNvSpPr/>
            <p:nvPr/>
          </p:nvSpPr>
          <p:spPr>
            <a:xfrm>
              <a:off x="2417589" y="167791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/>
            <p:cNvSpPr txBox="1"/>
            <p:nvPr/>
          </p:nvSpPr>
          <p:spPr>
            <a:xfrm>
              <a:off x="2393425" y="243662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橢圓 78"/>
            <p:cNvSpPr/>
            <p:nvPr/>
          </p:nvSpPr>
          <p:spPr>
            <a:xfrm>
              <a:off x="2405507" y="251179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3368790" y="2010011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橢圓 80"/>
            <p:cNvSpPr/>
            <p:nvPr/>
          </p:nvSpPr>
          <p:spPr>
            <a:xfrm>
              <a:off x="3372246" y="208518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3364525" y="296466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橢圓 82"/>
            <p:cNvSpPr/>
            <p:nvPr/>
          </p:nvSpPr>
          <p:spPr>
            <a:xfrm>
              <a:off x="3376607" y="3022585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4349326" y="149306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橢圓 84"/>
            <p:cNvSpPr/>
            <p:nvPr/>
          </p:nvSpPr>
          <p:spPr>
            <a:xfrm>
              <a:off x="4352782" y="156823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4368810" y="230987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橢圓 86"/>
            <p:cNvSpPr/>
            <p:nvPr/>
          </p:nvSpPr>
          <p:spPr>
            <a:xfrm>
              <a:off x="4372266" y="236779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4201499" y="3353535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橢圓 88"/>
            <p:cNvSpPr/>
            <p:nvPr/>
          </p:nvSpPr>
          <p:spPr>
            <a:xfrm>
              <a:off x="4204955" y="3428705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0" name="直線接點 89"/>
            <p:cNvCxnSpPr>
              <a:stCxn id="79" idx="0"/>
              <a:endCxn id="77" idx="4"/>
            </p:cNvCxnSpPr>
            <p:nvPr/>
          </p:nvCxnSpPr>
          <p:spPr>
            <a:xfrm flipV="1">
              <a:off x="2549507" y="1965910"/>
              <a:ext cx="12082" cy="5458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接點 90"/>
            <p:cNvCxnSpPr>
              <a:stCxn id="79" idx="7"/>
              <a:endCxn id="81" idx="3"/>
            </p:cNvCxnSpPr>
            <p:nvPr/>
          </p:nvCxnSpPr>
          <p:spPr>
            <a:xfrm flipV="1">
              <a:off x="2651330" y="2331004"/>
              <a:ext cx="763093" cy="22296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接點 91"/>
            <p:cNvCxnSpPr>
              <a:stCxn id="83" idx="1"/>
              <a:endCxn id="79" idx="5"/>
            </p:cNvCxnSpPr>
            <p:nvPr/>
          </p:nvCxnSpPr>
          <p:spPr>
            <a:xfrm flipH="1" flipV="1">
              <a:off x="2651330" y="2757619"/>
              <a:ext cx="767454" cy="30714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接點 92"/>
            <p:cNvCxnSpPr>
              <a:stCxn id="89" idx="1"/>
              <a:endCxn id="83" idx="5"/>
            </p:cNvCxnSpPr>
            <p:nvPr/>
          </p:nvCxnSpPr>
          <p:spPr>
            <a:xfrm flipH="1" flipV="1">
              <a:off x="3622430" y="3268408"/>
              <a:ext cx="624702" cy="2024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接點 93"/>
            <p:cNvCxnSpPr>
              <a:stCxn id="81" idx="7"/>
              <a:endCxn id="85" idx="3"/>
            </p:cNvCxnSpPr>
            <p:nvPr/>
          </p:nvCxnSpPr>
          <p:spPr>
            <a:xfrm flipV="1">
              <a:off x="3618069" y="1814059"/>
              <a:ext cx="776890" cy="31329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接點 94"/>
            <p:cNvCxnSpPr>
              <a:stCxn id="81" idx="5"/>
              <a:endCxn id="87" idx="2"/>
            </p:cNvCxnSpPr>
            <p:nvPr/>
          </p:nvCxnSpPr>
          <p:spPr>
            <a:xfrm>
              <a:off x="3618069" y="2331004"/>
              <a:ext cx="754197" cy="18079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字方塊 95"/>
            <p:cNvSpPr txBox="1"/>
            <p:nvPr/>
          </p:nvSpPr>
          <p:spPr>
            <a:xfrm>
              <a:off x="5470115" y="2328539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橢圓 96"/>
            <p:cNvSpPr/>
            <p:nvPr/>
          </p:nvSpPr>
          <p:spPr>
            <a:xfrm>
              <a:off x="5473571" y="2403709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8" name="直線接點 97"/>
            <p:cNvCxnSpPr>
              <a:stCxn id="85" idx="5"/>
              <a:endCxn id="97" idx="1"/>
            </p:cNvCxnSpPr>
            <p:nvPr/>
          </p:nvCxnSpPr>
          <p:spPr>
            <a:xfrm>
              <a:off x="4598605" y="1814059"/>
              <a:ext cx="917143" cy="63182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98"/>
            <p:cNvCxnSpPr>
              <a:stCxn id="83" idx="7"/>
              <a:endCxn id="97" idx="3"/>
            </p:cNvCxnSpPr>
            <p:nvPr/>
          </p:nvCxnSpPr>
          <p:spPr>
            <a:xfrm flipV="1">
              <a:off x="3622430" y="2649532"/>
              <a:ext cx="1893318" cy="41523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接點 99"/>
            <p:cNvCxnSpPr>
              <a:stCxn id="87" idx="0"/>
              <a:endCxn id="85" idx="4"/>
            </p:cNvCxnSpPr>
            <p:nvPr/>
          </p:nvCxnSpPr>
          <p:spPr>
            <a:xfrm flipH="1" flipV="1">
              <a:off x="4496782" y="1856236"/>
              <a:ext cx="19484" cy="51156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字方塊 100"/>
            <p:cNvSpPr txBox="1"/>
            <p:nvPr/>
          </p:nvSpPr>
          <p:spPr>
            <a:xfrm>
              <a:off x="6407522" y="2377000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橢圓 101"/>
            <p:cNvSpPr/>
            <p:nvPr/>
          </p:nvSpPr>
          <p:spPr>
            <a:xfrm>
              <a:off x="6402352" y="242629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3" name="直線接點 102"/>
            <p:cNvCxnSpPr>
              <a:stCxn id="97" idx="6"/>
              <a:endCxn id="102" idx="2"/>
            </p:cNvCxnSpPr>
            <p:nvPr/>
          </p:nvCxnSpPr>
          <p:spPr>
            <a:xfrm>
              <a:off x="5761571" y="2547709"/>
              <a:ext cx="640781" cy="2258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群組 7"/>
          <p:cNvGrpSpPr/>
          <p:nvPr/>
        </p:nvGrpSpPr>
        <p:grpSpPr>
          <a:xfrm>
            <a:off x="110114" y="4075650"/>
            <a:ext cx="300082" cy="369332"/>
            <a:chOff x="110114" y="4075650"/>
            <a:chExt cx="300082" cy="369332"/>
          </a:xfrm>
        </p:grpSpPr>
        <p:sp>
          <p:nvSpPr>
            <p:cNvPr id="106" name="文字方塊 105"/>
            <p:cNvSpPr txBox="1"/>
            <p:nvPr/>
          </p:nvSpPr>
          <p:spPr>
            <a:xfrm>
              <a:off x="110114" y="407565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橢圓 106"/>
            <p:cNvSpPr/>
            <p:nvPr/>
          </p:nvSpPr>
          <p:spPr>
            <a:xfrm>
              <a:off x="122196" y="415082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98032" y="4909536"/>
            <a:ext cx="300082" cy="369332"/>
            <a:chOff x="98032" y="4909536"/>
            <a:chExt cx="300082" cy="369332"/>
          </a:xfrm>
        </p:grpSpPr>
        <p:sp>
          <p:nvSpPr>
            <p:cNvPr id="108" name="文字方塊 107"/>
            <p:cNvSpPr txBox="1"/>
            <p:nvPr/>
          </p:nvSpPr>
          <p:spPr>
            <a:xfrm>
              <a:off x="98032" y="490953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橢圓 108"/>
            <p:cNvSpPr/>
            <p:nvPr/>
          </p:nvSpPr>
          <p:spPr>
            <a:xfrm>
              <a:off x="110114" y="498470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73397" y="4482921"/>
            <a:ext cx="291456" cy="369332"/>
            <a:chOff x="1073397" y="4482921"/>
            <a:chExt cx="291456" cy="369332"/>
          </a:xfrm>
        </p:grpSpPr>
        <p:sp>
          <p:nvSpPr>
            <p:cNvPr id="110" name="文字方塊 109"/>
            <p:cNvSpPr txBox="1"/>
            <p:nvPr/>
          </p:nvSpPr>
          <p:spPr>
            <a:xfrm>
              <a:off x="1073397" y="4482921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橢圓 110"/>
            <p:cNvSpPr/>
            <p:nvPr/>
          </p:nvSpPr>
          <p:spPr>
            <a:xfrm>
              <a:off x="1076853" y="455809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1069132" y="5437577"/>
            <a:ext cx="300082" cy="369332"/>
            <a:chOff x="1069132" y="5437577"/>
            <a:chExt cx="300082" cy="369332"/>
          </a:xfrm>
        </p:grpSpPr>
        <p:sp>
          <p:nvSpPr>
            <p:cNvPr id="112" name="文字方塊 111"/>
            <p:cNvSpPr txBox="1"/>
            <p:nvPr/>
          </p:nvSpPr>
          <p:spPr>
            <a:xfrm>
              <a:off x="1069132" y="543757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橢圓 112"/>
            <p:cNvSpPr/>
            <p:nvPr/>
          </p:nvSpPr>
          <p:spPr>
            <a:xfrm>
              <a:off x="1081214" y="5495495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2053933" y="3965976"/>
            <a:ext cx="300082" cy="369332"/>
            <a:chOff x="2053933" y="3965976"/>
            <a:chExt cx="300082" cy="369332"/>
          </a:xfrm>
        </p:grpSpPr>
        <p:sp>
          <p:nvSpPr>
            <p:cNvPr id="114" name="文字方塊 113"/>
            <p:cNvSpPr txBox="1"/>
            <p:nvPr/>
          </p:nvSpPr>
          <p:spPr>
            <a:xfrm>
              <a:off x="2053933" y="396597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橢圓 114"/>
            <p:cNvSpPr/>
            <p:nvPr/>
          </p:nvSpPr>
          <p:spPr>
            <a:xfrm>
              <a:off x="2057389" y="40411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2073417" y="4782788"/>
            <a:ext cx="312906" cy="369332"/>
            <a:chOff x="2073417" y="4782788"/>
            <a:chExt cx="312906" cy="369332"/>
          </a:xfrm>
        </p:grpSpPr>
        <p:sp>
          <p:nvSpPr>
            <p:cNvPr id="116" name="文字方塊 115"/>
            <p:cNvSpPr txBox="1"/>
            <p:nvPr/>
          </p:nvSpPr>
          <p:spPr>
            <a:xfrm>
              <a:off x="2073417" y="47827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橢圓 116"/>
            <p:cNvSpPr/>
            <p:nvPr/>
          </p:nvSpPr>
          <p:spPr>
            <a:xfrm>
              <a:off x="2076873" y="484070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1906106" y="5826445"/>
            <a:ext cx="291456" cy="369332"/>
            <a:chOff x="1906106" y="5826445"/>
            <a:chExt cx="291456" cy="369332"/>
          </a:xfrm>
        </p:grpSpPr>
        <p:sp>
          <p:nvSpPr>
            <p:cNvPr id="118" name="文字方塊 117"/>
            <p:cNvSpPr txBox="1"/>
            <p:nvPr/>
          </p:nvSpPr>
          <p:spPr>
            <a:xfrm>
              <a:off x="1906106" y="5826445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橢圓 118"/>
            <p:cNvSpPr/>
            <p:nvPr/>
          </p:nvSpPr>
          <p:spPr>
            <a:xfrm>
              <a:off x="1909562" y="5901615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20" name="直線接點 119"/>
          <p:cNvCxnSpPr>
            <a:stCxn id="109" idx="0"/>
            <a:endCxn id="107" idx="4"/>
          </p:cNvCxnSpPr>
          <p:nvPr/>
        </p:nvCxnSpPr>
        <p:spPr>
          <a:xfrm flipV="1">
            <a:off x="254114" y="4438820"/>
            <a:ext cx="12082" cy="5458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>
            <a:stCxn id="109" idx="7"/>
            <a:endCxn id="111" idx="3"/>
          </p:cNvCxnSpPr>
          <p:nvPr/>
        </p:nvCxnSpPr>
        <p:spPr>
          <a:xfrm flipV="1">
            <a:off x="355937" y="4803914"/>
            <a:ext cx="763093" cy="222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接點 121"/>
          <p:cNvCxnSpPr>
            <a:stCxn id="113" idx="1"/>
            <a:endCxn id="109" idx="5"/>
          </p:cNvCxnSpPr>
          <p:nvPr/>
        </p:nvCxnSpPr>
        <p:spPr>
          <a:xfrm flipH="1" flipV="1">
            <a:off x="355937" y="5230529"/>
            <a:ext cx="767454" cy="3071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接點 122"/>
          <p:cNvCxnSpPr>
            <a:stCxn id="119" idx="1"/>
            <a:endCxn id="113" idx="5"/>
          </p:cNvCxnSpPr>
          <p:nvPr/>
        </p:nvCxnSpPr>
        <p:spPr>
          <a:xfrm flipH="1" flipV="1">
            <a:off x="1327037" y="5741318"/>
            <a:ext cx="624702" cy="202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接點 123"/>
          <p:cNvCxnSpPr>
            <a:stCxn id="111" idx="7"/>
            <a:endCxn id="115" idx="3"/>
          </p:cNvCxnSpPr>
          <p:nvPr/>
        </p:nvCxnSpPr>
        <p:spPr>
          <a:xfrm flipV="1">
            <a:off x="1322676" y="4286969"/>
            <a:ext cx="776890" cy="3132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接點 124"/>
          <p:cNvCxnSpPr>
            <a:stCxn id="111" idx="5"/>
            <a:endCxn id="117" idx="2"/>
          </p:cNvCxnSpPr>
          <p:nvPr/>
        </p:nvCxnSpPr>
        <p:spPr>
          <a:xfrm>
            <a:off x="1322676" y="4803914"/>
            <a:ext cx="754197" cy="1807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群組 13"/>
          <p:cNvGrpSpPr/>
          <p:nvPr/>
        </p:nvGrpSpPr>
        <p:grpSpPr>
          <a:xfrm>
            <a:off x="3174722" y="4801449"/>
            <a:ext cx="291456" cy="369332"/>
            <a:chOff x="3174722" y="4801449"/>
            <a:chExt cx="291456" cy="369332"/>
          </a:xfrm>
        </p:grpSpPr>
        <p:sp>
          <p:nvSpPr>
            <p:cNvPr id="126" name="文字方塊 125"/>
            <p:cNvSpPr txBox="1"/>
            <p:nvPr/>
          </p:nvSpPr>
          <p:spPr>
            <a:xfrm>
              <a:off x="3174722" y="4801449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橢圓 126"/>
            <p:cNvSpPr/>
            <p:nvPr/>
          </p:nvSpPr>
          <p:spPr>
            <a:xfrm>
              <a:off x="3178178" y="4876619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29" name="直線接點 128"/>
          <p:cNvCxnSpPr>
            <a:stCxn id="113" idx="7"/>
            <a:endCxn id="127" idx="3"/>
          </p:cNvCxnSpPr>
          <p:nvPr/>
        </p:nvCxnSpPr>
        <p:spPr>
          <a:xfrm flipV="1">
            <a:off x="1327037" y="5122442"/>
            <a:ext cx="1893318" cy="4152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群組 14"/>
          <p:cNvGrpSpPr/>
          <p:nvPr/>
        </p:nvGrpSpPr>
        <p:grpSpPr>
          <a:xfrm>
            <a:off x="4106959" y="4849910"/>
            <a:ext cx="288000" cy="369332"/>
            <a:chOff x="4106959" y="4849910"/>
            <a:chExt cx="288000" cy="369332"/>
          </a:xfrm>
        </p:grpSpPr>
        <p:sp>
          <p:nvSpPr>
            <p:cNvPr id="131" name="文字方塊 130"/>
            <p:cNvSpPr txBox="1"/>
            <p:nvPr/>
          </p:nvSpPr>
          <p:spPr>
            <a:xfrm>
              <a:off x="4112129" y="4849910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橢圓 131"/>
            <p:cNvSpPr/>
            <p:nvPr/>
          </p:nvSpPr>
          <p:spPr>
            <a:xfrm>
              <a:off x="4106959" y="489920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33" name="直線接點 132"/>
          <p:cNvCxnSpPr>
            <a:stCxn id="127" idx="6"/>
            <a:endCxn id="132" idx="2"/>
          </p:cNvCxnSpPr>
          <p:nvPr/>
        </p:nvCxnSpPr>
        <p:spPr>
          <a:xfrm>
            <a:off x="3466178" y="5020619"/>
            <a:ext cx="640781" cy="225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群組 15"/>
          <p:cNvGrpSpPr/>
          <p:nvPr/>
        </p:nvGrpSpPr>
        <p:grpSpPr>
          <a:xfrm>
            <a:off x="4693798" y="4074162"/>
            <a:ext cx="300082" cy="369332"/>
            <a:chOff x="4693798" y="4074162"/>
            <a:chExt cx="300082" cy="369332"/>
          </a:xfrm>
        </p:grpSpPr>
        <p:sp>
          <p:nvSpPr>
            <p:cNvPr id="135" name="文字方塊 134"/>
            <p:cNvSpPr txBox="1"/>
            <p:nvPr/>
          </p:nvSpPr>
          <p:spPr>
            <a:xfrm>
              <a:off x="4693798" y="407416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橢圓 135"/>
            <p:cNvSpPr/>
            <p:nvPr/>
          </p:nvSpPr>
          <p:spPr>
            <a:xfrm>
              <a:off x="4705880" y="414933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4681716" y="4908048"/>
            <a:ext cx="300082" cy="369332"/>
            <a:chOff x="4681716" y="4908048"/>
            <a:chExt cx="300082" cy="369332"/>
          </a:xfrm>
        </p:grpSpPr>
        <p:sp>
          <p:nvSpPr>
            <p:cNvPr id="137" name="文字方塊 136"/>
            <p:cNvSpPr txBox="1"/>
            <p:nvPr/>
          </p:nvSpPr>
          <p:spPr>
            <a:xfrm>
              <a:off x="4681716" y="490804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橢圓 137"/>
            <p:cNvSpPr/>
            <p:nvPr/>
          </p:nvSpPr>
          <p:spPr>
            <a:xfrm>
              <a:off x="4693798" y="4983218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5657081" y="4481433"/>
            <a:ext cx="291456" cy="369332"/>
            <a:chOff x="5657081" y="4481433"/>
            <a:chExt cx="291456" cy="369332"/>
          </a:xfrm>
        </p:grpSpPr>
        <p:sp>
          <p:nvSpPr>
            <p:cNvPr id="139" name="文字方塊 138"/>
            <p:cNvSpPr txBox="1"/>
            <p:nvPr/>
          </p:nvSpPr>
          <p:spPr>
            <a:xfrm>
              <a:off x="5657081" y="4481433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橢圓 139"/>
            <p:cNvSpPr/>
            <p:nvPr/>
          </p:nvSpPr>
          <p:spPr>
            <a:xfrm>
              <a:off x="5660537" y="4556603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5652816" y="5436089"/>
            <a:ext cx="300082" cy="369332"/>
            <a:chOff x="5652816" y="5436089"/>
            <a:chExt cx="300082" cy="369332"/>
          </a:xfrm>
        </p:grpSpPr>
        <p:sp>
          <p:nvSpPr>
            <p:cNvPr id="141" name="文字方塊 140"/>
            <p:cNvSpPr txBox="1"/>
            <p:nvPr/>
          </p:nvSpPr>
          <p:spPr>
            <a:xfrm>
              <a:off x="5652816" y="543608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橢圓 141"/>
            <p:cNvSpPr/>
            <p:nvPr/>
          </p:nvSpPr>
          <p:spPr>
            <a:xfrm>
              <a:off x="5664898" y="549400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6637617" y="3964488"/>
            <a:ext cx="300082" cy="369332"/>
            <a:chOff x="6637617" y="3964488"/>
            <a:chExt cx="300082" cy="369332"/>
          </a:xfrm>
        </p:grpSpPr>
        <p:sp>
          <p:nvSpPr>
            <p:cNvPr id="143" name="文字方塊 142"/>
            <p:cNvSpPr txBox="1"/>
            <p:nvPr/>
          </p:nvSpPr>
          <p:spPr>
            <a:xfrm>
              <a:off x="6637617" y="39644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橢圓 143"/>
            <p:cNvSpPr/>
            <p:nvPr/>
          </p:nvSpPr>
          <p:spPr>
            <a:xfrm>
              <a:off x="6641073" y="4039658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6657101" y="4781300"/>
            <a:ext cx="312906" cy="369332"/>
            <a:chOff x="6657101" y="4781300"/>
            <a:chExt cx="312906" cy="369332"/>
          </a:xfrm>
        </p:grpSpPr>
        <p:sp>
          <p:nvSpPr>
            <p:cNvPr id="145" name="文字方塊 144"/>
            <p:cNvSpPr txBox="1"/>
            <p:nvPr/>
          </p:nvSpPr>
          <p:spPr>
            <a:xfrm>
              <a:off x="6657101" y="478130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橢圓 145"/>
            <p:cNvSpPr/>
            <p:nvPr/>
          </p:nvSpPr>
          <p:spPr>
            <a:xfrm>
              <a:off x="6660557" y="4839218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6489790" y="5824957"/>
            <a:ext cx="291456" cy="369332"/>
            <a:chOff x="6489790" y="5824957"/>
            <a:chExt cx="291456" cy="369332"/>
          </a:xfrm>
        </p:grpSpPr>
        <p:sp>
          <p:nvSpPr>
            <p:cNvPr id="147" name="文字方塊 146"/>
            <p:cNvSpPr txBox="1"/>
            <p:nvPr/>
          </p:nvSpPr>
          <p:spPr>
            <a:xfrm>
              <a:off x="6489790" y="5824957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橢圓 147"/>
            <p:cNvSpPr/>
            <p:nvPr/>
          </p:nvSpPr>
          <p:spPr>
            <a:xfrm>
              <a:off x="6493246" y="590012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49" name="直線接點 148"/>
          <p:cNvCxnSpPr>
            <a:stCxn id="138" idx="0"/>
            <a:endCxn id="136" idx="4"/>
          </p:cNvCxnSpPr>
          <p:nvPr/>
        </p:nvCxnSpPr>
        <p:spPr>
          <a:xfrm flipV="1">
            <a:off x="4837798" y="4437332"/>
            <a:ext cx="12082" cy="5458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/>
          <p:cNvCxnSpPr>
            <a:stCxn id="142" idx="1"/>
            <a:endCxn id="138" idx="5"/>
          </p:cNvCxnSpPr>
          <p:nvPr/>
        </p:nvCxnSpPr>
        <p:spPr>
          <a:xfrm flipH="1" flipV="1">
            <a:off x="4939621" y="5229041"/>
            <a:ext cx="767454" cy="3071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接點 151"/>
          <p:cNvCxnSpPr>
            <a:stCxn id="148" idx="1"/>
            <a:endCxn id="142" idx="5"/>
          </p:cNvCxnSpPr>
          <p:nvPr/>
        </p:nvCxnSpPr>
        <p:spPr>
          <a:xfrm flipH="1" flipV="1">
            <a:off x="5910721" y="5739830"/>
            <a:ext cx="624702" cy="202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接點 153"/>
          <p:cNvCxnSpPr>
            <a:stCxn id="140" idx="5"/>
            <a:endCxn id="146" idx="2"/>
          </p:cNvCxnSpPr>
          <p:nvPr/>
        </p:nvCxnSpPr>
        <p:spPr>
          <a:xfrm>
            <a:off x="5906360" y="4802426"/>
            <a:ext cx="754197" cy="1807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群組 22"/>
          <p:cNvGrpSpPr/>
          <p:nvPr/>
        </p:nvGrpSpPr>
        <p:grpSpPr>
          <a:xfrm>
            <a:off x="7758406" y="4799961"/>
            <a:ext cx="291456" cy="369332"/>
            <a:chOff x="7758406" y="4799961"/>
            <a:chExt cx="291456" cy="369332"/>
          </a:xfrm>
        </p:grpSpPr>
        <p:sp>
          <p:nvSpPr>
            <p:cNvPr id="155" name="文字方塊 154"/>
            <p:cNvSpPr txBox="1"/>
            <p:nvPr/>
          </p:nvSpPr>
          <p:spPr>
            <a:xfrm>
              <a:off x="7758406" y="4799961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橢圓 155"/>
            <p:cNvSpPr/>
            <p:nvPr/>
          </p:nvSpPr>
          <p:spPr>
            <a:xfrm>
              <a:off x="7761862" y="487513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57" name="直線接點 156"/>
          <p:cNvCxnSpPr>
            <a:stCxn id="144" idx="5"/>
            <a:endCxn id="156" idx="1"/>
          </p:cNvCxnSpPr>
          <p:nvPr/>
        </p:nvCxnSpPr>
        <p:spPr>
          <a:xfrm>
            <a:off x="6886896" y="4285481"/>
            <a:ext cx="917143" cy="6318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接點 157"/>
          <p:cNvCxnSpPr>
            <a:stCxn id="142" idx="7"/>
            <a:endCxn id="156" idx="3"/>
          </p:cNvCxnSpPr>
          <p:nvPr/>
        </p:nvCxnSpPr>
        <p:spPr>
          <a:xfrm flipV="1">
            <a:off x="5910721" y="5120954"/>
            <a:ext cx="1893318" cy="4152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接點 158"/>
          <p:cNvCxnSpPr>
            <a:stCxn id="146" idx="0"/>
            <a:endCxn id="144" idx="4"/>
          </p:cNvCxnSpPr>
          <p:nvPr/>
        </p:nvCxnSpPr>
        <p:spPr>
          <a:xfrm flipH="1" flipV="1">
            <a:off x="6785073" y="4327658"/>
            <a:ext cx="19484" cy="5115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群組 23"/>
          <p:cNvGrpSpPr/>
          <p:nvPr/>
        </p:nvGrpSpPr>
        <p:grpSpPr>
          <a:xfrm>
            <a:off x="8690643" y="4848422"/>
            <a:ext cx="288000" cy="369332"/>
            <a:chOff x="8690643" y="4848422"/>
            <a:chExt cx="288000" cy="369332"/>
          </a:xfrm>
        </p:grpSpPr>
        <p:sp>
          <p:nvSpPr>
            <p:cNvPr id="160" name="文字方塊 159"/>
            <p:cNvSpPr txBox="1"/>
            <p:nvPr/>
          </p:nvSpPr>
          <p:spPr>
            <a:xfrm>
              <a:off x="8695813" y="4848422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橢圓 160"/>
            <p:cNvSpPr/>
            <p:nvPr/>
          </p:nvSpPr>
          <p:spPr>
            <a:xfrm>
              <a:off x="8690643" y="4897714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62" name="直線接點 161"/>
          <p:cNvCxnSpPr>
            <a:stCxn id="156" idx="6"/>
            <a:endCxn id="161" idx="2"/>
          </p:cNvCxnSpPr>
          <p:nvPr/>
        </p:nvCxnSpPr>
        <p:spPr>
          <a:xfrm>
            <a:off x="8049862" y="5019131"/>
            <a:ext cx="640781" cy="225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字方塊 162"/>
          <p:cNvSpPr txBox="1"/>
          <p:nvPr/>
        </p:nvSpPr>
        <p:spPr>
          <a:xfrm>
            <a:off x="6361045" y="1512181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文字方塊 163"/>
          <p:cNvSpPr txBox="1"/>
          <p:nvPr/>
        </p:nvSpPr>
        <p:spPr>
          <a:xfrm>
            <a:off x="5318573" y="617950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文字方塊 164"/>
          <p:cNvSpPr txBox="1"/>
          <p:nvPr/>
        </p:nvSpPr>
        <p:spPr>
          <a:xfrm>
            <a:off x="5609011" y="617950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文字方塊 165"/>
          <p:cNvSpPr txBox="1"/>
          <p:nvPr/>
        </p:nvSpPr>
        <p:spPr>
          <a:xfrm>
            <a:off x="5904181" y="6179501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文字方塊 166"/>
          <p:cNvSpPr txBox="1"/>
          <p:nvPr/>
        </p:nvSpPr>
        <p:spPr>
          <a:xfrm>
            <a:off x="6183526" y="6179501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文字方塊 167"/>
          <p:cNvSpPr txBox="1"/>
          <p:nvPr/>
        </p:nvSpPr>
        <p:spPr>
          <a:xfrm>
            <a:off x="6465338" y="617950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文字方塊 168"/>
          <p:cNvSpPr txBox="1"/>
          <p:nvPr/>
        </p:nvSpPr>
        <p:spPr>
          <a:xfrm>
            <a:off x="6760508" y="617950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文字方塊 169"/>
          <p:cNvSpPr txBox="1"/>
          <p:nvPr/>
        </p:nvSpPr>
        <p:spPr>
          <a:xfrm>
            <a:off x="7056762" y="6179501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文字方塊 170"/>
          <p:cNvSpPr txBox="1"/>
          <p:nvPr/>
        </p:nvSpPr>
        <p:spPr>
          <a:xfrm>
            <a:off x="7347200" y="6179501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文字方塊 171"/>
          <p:cNvSpPr txBox="1"/>
          <p:nvPr/>
        </p:nvSpPr>
        <p:spPr>
          <a:xfrm>
            <a:off x="7633744" y="617950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文字方塊 173"/>
          <p:cNvSpPr txBox="1"/>
          <p:nvPr/>
        </p:nvSpPr>
        <p:spPr>
          <a:xfrm>
            <a:off x="719978" y="617950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文字方塊 174"/>
          <p:cNvSpPr txBox="1"/>
          <p:nvPr/>
        </p:nvSpPr>
        <p:spPr>
          <a:xfrm>
            <a:off x="1010416" y="617950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文字方塊 175"/>
          <p:cNvSpPr txBox="1"/>
          <p:nvPr/>
        </p:nvSpPr>
        <p:spPr>
          <a:xfrm>
            <a:off x="1322838" y="6179501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文字方塊 176"/>
          <p:cNvSpPr txBox="1"/>
          <p:nvPr/>
        </p:nvSpPr>
        <p:spPr>
          <a:xfrm>
            <a:off x="1619435" y="617950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文字方塊 177"/>
          <p:cNvSpPr txBox="1"/>
          <p:nvPr/>
        </p:nvSpPr>
        <p:spPr>
          <a:xfrm>
            <a:off x="1927125" y="617950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文字方塊 178"/>
          <p:cNvSpPr txBox="1"/>
          <p:nvPr/>
        </p:nvSpPr>
        <p:spPr>
          <a:xfrm>
            <a:off x="2230921" y="617950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文字方塊 179"/>
          <p:cNvSpPr txBox="1"/>
          <p:nvPr/>
        </p:nvSpPr>
        <p:spPr>
          <a:xfrm>
            <a:off x="2527175" y="6179501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文字方塊 180"/>
          <p:cNvSpPr txBox="1"/>
          <p:nvPr/>
        </p:nvSpPr>
        <p:spPr>
          <a:xfrm>
            <a:off x="2826239" y="6179501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文字方塊 181"/>
          <p:cNvSpPr txBox="1"/>
          <p:nvPr/>
        </p:nvSpPr>
        <p:spPr>
          <a:xfrm>
            <a:off x="3104157" y="6179501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文字方塊 183"/>
          <p:cNvSpPr txBox="1"/>
          <p:nvPr/>
        </p:nvSpPr>
        <p:spPr>
          <a:xfrm>
            <a:off x="174311" y="3641036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文字方塊 184"/>
          <p:cNvSpPr txBox="1"/>
          <p:nvPr/>
        </p:nvSpPr>
        <p:spPr>
          <a:xfrm>
            <a:off x="8324820" y="3641036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71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BFS </a:t>
            </a:r>
            <a:r>
              <a:rPr lang="zh-TW" altLang="en-US" dirty="0"/>
              <a:t>展開樹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  <p:grpSp>
        <p:nvGrpSpPr>
          <p:cNvPr id="36" name="群組 35"/>
          <p:cNvGrpSpPr/>
          <p:nvPr/>
        </p:nvGrpSpPr>
        <p:grpSpPr>
          <a:xfrm>
            <a:off x="2393425" y="1389554"/>
            <a:ext cx="4296927" cy="2229801"/>
            <a:chOff x="2393425" y="1493066"/>
            <a:chExt cx="4296927" cy="2229801"/>
          </a:xfrm>
        </p:grpSpPr>
        <p:sp>
          <p:nvSpPr>
            <p:cNvPr id="37" name="文字方塊 36"/>
            <p:cNvSpPr txBox="1"/>
            <p:nvPr/>
          </p:nvSpPr>
          <p:spPr>
            <a:xfrm>
              <a:off x="2405507" y="16027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橢圓 37"/>
            <p:cNvSpPr/>
            <p:nvPr/>
          </p:nvSpPr>
          <p:spPr>
            <a:xfrm>
              <a:off x="2417589" y="167791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2393425" y="243662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橢圓 39"/>
            <p:cNvSpPr/>
            <p:nvPr/>
          </p:nvSpPr>
          <p:spPr>
            <a:xfrm>
              <a:off x="2405507" y="251179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3368790" y="2010011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橢圓 41"/>
            <p:cNvSpPr/>
            <p:nvPr/>
          </p:nvSpPr>
          <p:spPr>
            <a:xfrm>
              <a:off x="3372246" y="208518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3364525" y="296466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橢圓 43"/>
            <p:cNvSpPr/>
            <p:nvPr/>
          </p:nvSpPr>
          <p:spPr>
            <a:xfrm>
              <a:off x="3376607" y="3022585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4349326" y="149306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橢圓 45"/>
            <p:cNvSpPr/>
            <p:nvPr/>
          </p:nvSpPr>
          <p:spPr>
            <a:xfrm>
              <a:off x="4352782" y="156823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4368810" y="230987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橢圓 47"/>
            <p:cNvSpPr/>
            <p:nvPr/>
          </p:nvSpPr>
          <p:spPr>
            <a:xfrm>
              <a:off x="4372266" y="236779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4201499" y="3353535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橢圓 49"/>
            <p:cNvSpPr/>
            <p:nvPr/>
          </p:nvSpPr>
          <p:spPr>
            <a:xfrm>
              <a:off x="4204955" y="3428705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1" name="直線接點 50"/>
            <p:cNvCxnSpPr>
              <a:stCxn id="40" idx="0"/>
              <a:endCxn id="38" idx="4"/>
            </p:cNvCxnSpPr>
            <p:nvPr/>
          </p:nvCxnSpPr>
          <p:spPr>
            <a:xfrm flipV="1">
              <a:off x="2549507" y="1965910"/>
              <a:ext cx="12082" cy="5458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/>
            <p:cNvCxnSpPr>
              <a:stCxn id="40" idx="7"/>
              <a:endCxn id="42" idx="3"/>
            </p:cNvCxnSpPr>
            <p:nvPr/>
          </p:nvCxnSpPr>
          <p:spPr>
            <a:xfrm flipV="1">
              <a:off x="2651330" y="2331004"/>
              <a:ext cx="763093" cy="22296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接點 52"/>
            <p:cNvCxnSpPr>
              <a:stCxn id="44" idx="1"/>
              <a:endCxn id="40" idx="5"/>
            </p:cNvCxnSpPr>
            <p:nvPr/>
          </p:nvCxnSpPr>
          <p:spPr>
            <a:xfrm flipH="1" flipV="1">
              <a:off x="2651330" y="2757619"/>
              <a:ext cx="767454" cy="30714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接點 53"/>
            <p:cNvCxnSpPr>
              <a:stCxn id="50" idx="1"/>
              <a:endCxn id="44" idx="5"/>
            </p:cNvCxnSpPr>
            <p:nvPr/>
          </p:nvCxnSpPr>
          <p:spPr>
            <a:xfrm flipH="1" flipV="1">
              <a:off x="3622430" y="3268408"/>
              <a:ext cx="624702" cy="2024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接點 54"/>
            <p:cNvCxnSpPr>
              <a:stCxn id="42" idx="7"/>
              <a:endCxn id="46" idx="3"/>
            </p:cNvCxnSpPr>
            <p:nvPr/>
          </p:nvCxnSpPr>
          <p:spPr>
            <a:xfrm flipV="1">
              <a:off x="3618069" y="1814059"/>
              <a:ext cx="776890" cy="31329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/>
            <p:cNvCxnSpPr>
              <a:stCxn id="42" idx="5"/>
              <a:endCxn id="48" idx="2"/>
            </p:cNvCxnSpPr>
            <p:nvPr/>
          </p:nvCxnSpPr>
          <p:spPr>
            <a:xfrm>
              <a:off x="3618069" y="2331004"/>
              <a:ext cx="754197" cy="18079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字方塊 56"/>
            <p:cNvSpPr txBox="1"/>
            <p:nvPr/>
          </p:nvSpPr>
          <p:spPr>
            <a:xfrm>
              <a:off x="5470115" y="2328539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橢圓 57"/>
            <p:cNvSpPr/>
            <p:nvPr/>
          </p:nvSpPr>
          <p:spPr>
            <a:xfrm>
              <a:off x="5473571" y="2403709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9" name="直線接點 58"/>
            <p:cNvCxnSpPr>
              <a:stCxn id="46" idx="5"/>
              <a:endCxn id="58" idx="1"/>
            </p:cNvCxnSpPr>
            <p:nvPr/>
          </p:nvCxnSpPr>
          <p:spPr>
            <a:xfrm>
              <a:off x="4598605" y="1814059"/>
              <a:ext cx="917143" cy="63182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接點 59"/>
            <p:cNvCxnSpPr>
              <a:stCxn id="44" idx="7"/>
              <a:endCxn id="58" idx="3"/>
            </p:cNvCxnSpPr>
            <p:nvPr/>
          </p:nvCxnSpPr>
          <p:spPr>
            <a:xfrm flipV="1">
              <a:off x="3622430" y="2649532"/>
              <a:ext cx="1893318" cy="41523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接點 60"/>
            <p:cNvCxnSpPr>
              <a:stCxn id="48" idx="0"/>
              <a:endCxn id="46" idx="4"/>
            </p:cNvCxnSpPr>
            <p:nvPr/>
          </p:nvCxnSpPr>
          <p:spPr>
            <a:xfrm flipH="1" flipV="1">
              <a:off x="4496782" y="1856236"/>
              <a:ext cx="19484" cy="51156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字方塊 61"/>
            <p:cNvSpPr txBox="1"/>
            <p:nvPr/>
          </p:nvSpPr>
          <p:spPr>
            <a:xfrm>
              <a:off x="6407522" y="2377000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橢圓 62"/>
            <p:cNvSpPr/>
            <p:nvPr/>
          </p:nvSpPr>
          <p:spPr>
            <a:xfrm>
              <a:off x="6402352" y="242629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4" name="直線接點 63"/>
            <p:cNvCxnSpPr>
              <a:stCxn id="58" idx="6"/>
              <a:endCxn id="63" idx="2"/>
            </p:cNvCxnSpPr>
            <p:nvPr/>
          </p:nvCxnSpPr>
          <p:spPr>
            <a:xfrm>
              <a:off x="5761571" y="2547709"/>
              <a:ext cx="640781" cy="2258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文字方塊 64"/>
          <p:cNvSpPr txBox="1"/>
          <p:nvPr/>
        </p:nvSpPr>
        <p:spPr>
          <a:xfrm>
            <a:off x="6361045" y="1512181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5" name="群組 104"/>
          <p:cNvGrpSpPr/>
          <p:nvPr/>
        </p:nvGrpSpPr>
        <p:grpSpPr>
          <a:xfrm>
            <a:off x="2405507" y="4095872"/>
            <a:ext cx="300082" cy="369332"/>
            <a:chOff x="110114" y="4075650"/>
            <a:chExt cx="300082" cy="369332"/>
          </a:xfrm>
        </p:grpSpPr>
        <p:sp>
          <p:nvSpPr>
            <p:cNvPr id="106" name="文字方塊 105"/>
            <p:cNvSpPr txBox="1"/>
            <p:nvPr/>
          </p:nvSpPr>
          <p:spPr>
            <a:xfrm>
              <a:off x="110114" y="407565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橢圓 106"/>
            <p:cNvSpPr/>
            <p:nvPr/>
          </p:nvSpPr>
          <p:spPr>
            <a:xfrm>
              <a:off x="122196" y="415082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8" name="群組 107"/>
          <p:cNvGrpSpPr/>
          <p:nvPr/>
        </p:nvGrpSpPr>
        <p:grpSpPr>
          <a:xfrm>
            <a:off x="2393425" y="4929758"/>
            <a:ext cx="300082" cy="369332"/>
            <a:chOff x="98032" y="4909536"/>
            <a:chExt cx="300082" cy="369332"/>
          </a:xfrm>
        </p:grpSpPr>
        <p:sp>
          <p:nvSpPr>
            <p:cNvPr id="109" name="文字方塊 108"/>
            <p:cNvSpPr txBox="1"/>
            <p:nvPr/>
          </p:nvSpPr>
          <p:spPr>
            <a:xfrm>
              <a:off x="98032" y="490953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橢圓 109"/>
            <p:cNvSpPr/>
            <p:nvPr/>
          </p:nvSpPr>
          <p:spPr>
            <a:xfrm>
              <a:off x="110114" y="498470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1" name="群組 110"/>
          <p:cNvGrpSpPr/>
          <p:nvPr/>
        </p:nvGrpSpPr>
        <p:grpSpPr>
          <a:xfrm>
            <a:off x="3368790" y="4503143"/>
            <a:ext cx="291456" cy="369332"/>
            <a:chOff x="1073397" y="4482921"/>
            <a:chExt cx="291456" cy="369332"/>
          </a:xfrm>
        </p:grpSpPr>
        <p:sp>
          <p:nvSpPr>
            <p:cNvPr id="112" name="文字方塊 111"/>
            <p:cNvSpPr txBox="1"/>
            <p:nvPr/>
          </p:nvSpPr>
          <p:spPr>
            <a:xfrm>
              <a:off x="1073397" y="4482921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橢圓 112"/>
            <p:cNvSpPr/>
            <p:nvPr/>
          </p:nvSpPr>
          <p:spPr>
            <a:xfrm>
              <a:off x="1076853" y="455809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4" name="群組 113"/>
          <p:cNvGrpSpPr/>
          <p:nvPr/>
        </p:nvGrpSpPr>
        <p:grpSpPr>
          <a:xfrm>
            <a:off x="3364525" y="5457799"/>
            <a:ext cx="300082" cy="369332"/>
            <a:chOff x="1069132" y="5437577"/>
            <a:chExt cx="300082" cy="369332"/>
          </a:xfrm>
        </p:grpSpPr>
        <p:sp>
          <p:nvSpPr>
            <p:cNvPr id="115" name="文字方塊 114"/>
            <p:cNvSpPr txBox="1"/>
            <p:nvPr/>
          </p:nvSpPr>
          <p:spPr>
            <a:xfrm>
              <a:off x="1069132" y="543757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橢圓 115"/>
            <p:cNvSpPr/>
            <p:nvPr/>
          </p:nvSpPr>
          <p:spPr>
            <a:xfrm>
              <a:off x="1081214" y="5495495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7" name="群組 116"/>
          <p:cNvGrpSpPr/>
          <p:nvPr/>
        </p:nvGrpSpPr>
        <p:grpSpPr>
          <a:xfrm>
            <a:off x="4349326" y="3986198"/>
            <a:ext cx="300082" cy="369332"/>
            <a:chOff x="2053933" y="3965976"/>
            <a:chExt cx="300082" cy="369332"/>
          </a:xfrm>
        </p:grpSpPr>
        <p:sp>
          <p:nvSpPr>
            <p:cNvPr id="118" name="文字方塊 117"/>
            <p:cNvSpPr txBox="1"/>
            <p:nvPr/>
          </p:nvSpPr>
          <p:spPr>
            <a:xfrm>
              <a:off x="2053933" y="396597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橢圓 118"/>
            <p:cNvSpPr/>
            <p:nvPr/>
          </p:nvSpPr>
          <p:spPr>
            <a:xfrm>
              <a:off x="2057389" y="40411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0" name="群組 119"/>
          <p:cNvGrpSpPr/>
          <p:nvPr/>
        </p:nvGrpSpPr>
        <p:grpSpPr>
          <a:xfrm>
            <a:off x="4368810" y="4803010"/>
            <a:ext cx="312906" cy="369332"/>
            <a:chOff x="2073417" y="4782788"/>
            <a:chExt cx="312906" cy="369332"/>
          </a:xfrm>
        </p:grpSpPr>
        <p:sp>
          <p:nvSpPr>
            <p:cNvPr id="121" name="文字方塊 120"/>
            <p:cNvSpPr txBox="1"/>
            <p:nvPr/>
          </p:nvSpPr>
          <p:spPr>
            <a:xfrm>
              <a:off x="2073417" y="478278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橢圓 121"/>
            <p:cNvSpPr/>
            <p:nvPr/>
          </p:nvSpPr>
          <p:spPr>
            <a:xfrm>
              <a:off x="2076873" y="484070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3" name="群組 122"/>
          <p:cNvGrpSpPr/>
          <p:nvPr/>
        </p:nvGrpSpPr>
        <p:grpSpPr>
          <a:xfrm>
            <a:off x="4201499" y="5846667"/>
            <a:ext cx="291456" cy="369332"/>
            <a:chOff x="1906106" y="5826445"/>
            <a:chExt cx="291456" cy="369332"/>
          </a:xfrm>
        </p:grpSpPr>
        <p:sp>
          <p:nvSpPr>
            <p:cNvPr id="124" name="文字方塊 123"/>
            <p:cNvSpPr txBox="1"/>
            <p:nvPr/>
          </p:nvSpPr>
          <p:spPr>
            <a:xfrm>
              <a:off x="1906106" y="5826445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橢圓 124"/>
            <p:cNvSpPr/>
            <p:nvPr/>
          </p:nvSpPr>
          <p:spPr>
            <a:xfrm>
              <a:off x="1909562" y="5901615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26" name="直線接點 125"/>
          <p:cNvCxnSpPr>
            <a:stCxn id="110" idx="0"/>
            <a:endCxn id="107" idx="4"/>
          </p:cNvCxnSpPr>
          <p:nvPr/>
        </p:nvCxnSpPr>
        <p:spPr>
          <a:xfrm flipV="1">
            <a:off x="2549507" y="4459042"/>
            <a:ext cx="12082" cy="5458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接點 126"/>
          <p:cNvCxnSpPr>
            <a:stCxn id="110" idx="7"/>
            <a:endCxn id="113" idx="3"/>
          </p:cNvCxnSpPr>
          <p:nvPr/>
        </p:nvCxnSpPr>
        <p:spPr>
          <a:xfrm flipV="1">
            <a:off x="2651330" y="4824136"/>
            <a:ext cx="763093" cy="222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>
            <a:stCxn id="116" idx="1"/>
            <a:endCxn id="110" idx="5"/>
          </p:cNvCxnSpPr>
          <p:nvPr/>
        </p:nvCxnSpPr>
        <p:spPr>
          <a:xfrm flipH="1" flipV="1">
            <a:off x="2651330" y="5250751"/>
            <a:ext cx="767454" cy="3071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>
            <a:stCxn id="125" idx="1"/>
            <a:endCxn id="116" idx="5"/>
          </p:cNvCxnSpPr>
          <p:nvPr/>
        </p:nvCxnSpPr>
        <p:spPr>
          <a:xfrm flipH="1" flipV="1">
            <a:off x="3622430" y="5761540"/>
            <a:ext cx="624702" cy="202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/>
          <p:cNvCxnSpPr>
            <a:stCxn id="113" idx="7"/>
            <a:endCxn id="119" idx="3"/>
          </p:cNvCxnSpPr>
          <p:nvPr/>
        </p:nvCxnSpPr>
        <p:spPr>
          <a:xfrm flipV="1">
            <a:off x="3618069" y="4307191"/>
            <a:ext cx="776890" cy="3132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>
            <a:stCxn id="113" idx="5"/>
            <a:endCxn id="122" idx="2"/>
          </p:cNvCxnSpPr>
          <p:nvPr/>
        </p:nvCxnSpPr>
        <p:spPr>
          <a:xfrm>
            <a:off x="3618069" y="4824136"/>
            <a:ext cx="754197" cy="1807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群組 131"/>
          <p:cNvGrpSpPr/>
          <p:nvPr/>
        </p:nvGrpSpPr>
        <p:grpSpPr>
          <a:xfrm>
            <a:off x="5470115" y="4821671"/>
            <a:ext cx="291456" cy="369332"/>
            <a:chOff x="3174722" y="4801449"/>
            <a:chExt cx="291456" cy="369332"/>
          </a:xfrm>
        </p:grpSpPr>
        <p:sp>
          <p:nvSpPr>
            <p:cNvPr id="133" name="文字方塊 132"/>
            <p:cNvSpPr txBox="1"/>
            <p:nvPr/>
          </p:nvSpPr>
          <p:spPr>
            <a:xfrm>
              <a:off x="3174722" y="4801449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橢圓 133"/>
            <p:cNvSpPr/>
            <p:nvPr/>
          </p:nvSpPr>
          <p:spPr>
            <a:xfrm>
              <a:off x="3178178" y="4876619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35" name="直線接點 134"/>
          <p:cNvCxnSpPr>
            <a:stCxn id="116" idx="7"/>
            <a:endCxn id="134" idx="3"/>
          </p:cNvCxnSpPr>
          <p:nvPr/>
        </p:nvCxnSpPr>
        <p:spPr>
          <a:xfrm flipV="1">
            <a:off x="3622430" y="5142664"/>
            <a:ext cx="1893318" cy="4152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群組 135"/>
          <p:cNvGrpSpPr/>
          <p:nvPr/>
        </p:nvGrpSpPr>
        <p:grpSpPr>
          <a:xfrm>
            <a:off x="6402352" y="4870132"/>
            <a:ext cx="288000" cy="369332"/>
            <a:chOff x="4106959" y="4849910"/>
            <a:chExt cx="288000" cy="369332"/>
          </a:xfrm>
        </p:grpSpPr>
        <p:sp>
          <p:nvSpPr>
            <p:cNvPr id="137" name="文字方塊 136"/>
            <p:cNvSpPr txBox="1"/>
            <p:nvPr/>
          </p:nvSpPr>
          <p:spPr>
            <a:xfrm>
              <a:off x="4112129" y="4849910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橢圓 137"/>
            <p:cNvSpPr/>
            <p:nvPr/>
          </p:nvSpPr>
          <p:spPr>
            <a:xfrm>
              <a:off x="4106959" y="489920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39" name="直線接點 138"/>
          <p:cNvCxnSpPr>
            <a:stCxn id="134" idx="6"/>
            <a:endCxn id="138" idx="2"/>
          </p:cNvCxnSpPr>
          <p:nvPr/>
        </p:nvCxnSpPr>
        <p:spPr>
          <a:xfrm>
            <a:off x="5761571" y="5040841"/>
            <a:ext cx="640781" cy="225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字方塊 139"/>
          <p:cNvSpPr txBox="1"/>
          <p:nvPr/>
        </p:nvSpPr>
        <p:spPr>
          <a:xfrm>
            <a:off x="3015371" y="619972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文字方塊 140"/>
          <p:cNvSpPr txBox="1"/>
          <p:nvPr/>
        </p:nvSpPr>
        <p:spPr>
          <a:xfrm>
            <a:off x="3305809" y="619972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文字方塊 141"/>
          <p:cNvSpPr txBox="1"/>
          <p:nvPr/>
        </p:nvSpPr>
        <p:spPr>
          <a:xfrm>
            <a:off x="3618231" y="6199723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文字方塊 142"/>
          <p:cNvSpPr txBox="1"/>
          <p:nvPr/>
        </p:nvSpPr>
        <p:spPr>
          <a:xfrm>
            <a:off x="3914828" y="619972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文字方塊 143"/>
          <p:cNvSpPr txBox="1"/>
          <p:nvPr/>
        </p:nvSpPr>
        <p:spPr>
          <a:xfrm>
            <a:off x="4222518" y="619972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4526314" y="619972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文字方塊 145"/>
          <p:cNvSpPr txBox="1"/>
          <p:nvPr/>
        </p:nvSpPr>
        <p:spPr>
          <a:xfrm>
            <a:off x="4822568" y="6199723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文字方塊 146"/>
          <p:cNvSpPr txBox="1"/>
          <p:nvPr/>
        </p:nvSpPr>
        <p:spPr>
          <a:xfrm>
            <a:off x="5121632" y="6199723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文字方塊 147"/>
          <p:cNvSpPr txBox="1"/>
          <p:nvPr/>
        </p:nvSpPr>
        <p:spPr>
          <a:xfrm>
            <a:off x="5399550" y="6199723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48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DFS</a:t>
            </a:r>
            <a:r>
              <a:rPr lang="zh-TW" altLang="en-US" dirty="0"/>
              <a:t> 展開樹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2393425" y="1389554"/>
            <a:ext cx="4296927" cy="2229801"/>
            <a:chOff x="2393425" y="1493066"/>
            <a:chExt cx="4296927" cy="2229801"/>
          </a:xfrm>
        </p:grpSpPr>
        <p:sp>
          <p:nvSpPr>
            <p:cNvPr id="8" name="文字方塊 7"/>
            <p:cNvSpPr txBox="1"/>
            <p:nvPr/>
          </p:nvSpPr>
          <p:spPr>
            <a:xfrm>
              <a:off x="2405507" y="16027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橢圓 8"/>
            <p:cNvSpPr/>
            <p:nvPr/>
          </p:nvSpPr>
          <p:spPr>
            <a:xfrm>
              <a:off x="2417589" y="167791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2393425" y="243662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橢圓 10"/>
            <p:cNvSpPr/>
            <p:nvPr/>
          </p:nvSpPr>
          <p:spPr>
            <a:xfrm>
              <a:off x="2405507" y="251179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3368790" y="2010011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橢圓 12"/>
            <p:cNvSpPr/>
            <p:nvPr/>
          </p:nvSpPr>
          <p:spPr>
            <a:xfrm>
              <a:off x="3372246" y="208518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3364525" y="296466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橢圓 14"/>
            <p:cNvSpPr/>
            <p:nvPr/>
          </p:nvSpPr>
          <p:spPr>
            <a:xfrm>
              <a:off x="3376607" y="3022585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4349326" y="149306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橢圓 16"/>
            <p:cNvSpPr/>
            <p:nvPr/>
          </p:nvSpPr>
          <p:spPr>
            <a:xfrm>
              <a:off x="4352782" y="156823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4368810" y="230987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橢圓 18"/>
            <p:cNvSpPr/>
            <p:nvPr/>
          </p:nvSpPr>
          <p:spPr>
            <a:xfrm>
              <a:off x="4372266" y="236779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4201499" y="3353535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橢圓 20"/>
            <p:cNvSpPr/>
            <p:nvPr/>
          </p:nvSpPr>
          <p:spPr>
            <a:xfrm>
              <a:off x="4204955" y="3428705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2" name="直線接點 21"/>
            <p:cNvCxnSpPr>
              <a:stCxn id="11" idx="0"/>
              <a:endCxn id="9" idx="4"/>
            </p:cNvCxnSpPr>
            <p:nvPr/>
          </p:nvCxnSpPr>
          <p:spPr>
            <a:xfrm flipV="1">
              <a:off x="2549507" y="1965910"/>
              <a:ext cx="12082" cy="5458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>
              <a:stCxn id="11" idx="7"/>
              <a:endCxn id="13" idx="3"/>
            </p:cNvCxnSpPr>
            <p:nvPr/>
          </p:nvCxnSpPr>
          <p:spPr>
            <a:xfrm flipV="1">
              <a:off x="2651330" y="2331004"/>
              <a:ext cx="763093" cy="22296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>
              <a:stCxn id="15" idx="1"/>
              <a:endCxn id="11" idx="5"/>
            </p:cNvCxnSpPr>
            <p:nvPr/>
          </p:nvCxnSpPr>
          <p:spPr>
            <a:xfrm flipH="1" flipV="1">
              <a:off x="2651330" y="2757619"/>
              <a:ext cx="767454" cy="30714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>
              <a:stCxn id="21" idx="1"/>
              <a:endCxn id="15" idx="5"/>
            </p:cNvCxnSpPr>
            <p:nvPr/>
          </p:nvCxnSpPr>
          <p:spPr>
            <a:xfrm flipH="1" flipV="1">
              <a:off x="3622430" y="3268408"/>
              <a:ext cx="624702" cy="2024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>
              <a:stCxn id="13" idx="7"/>
              <a:endCxn id="17" idx="3"/>
            </p:cNvCxnSpPr>
            <p:nvPr/>
          </p:nvCxnSpPr>
          <p:spPr>
            <a:xfrm flipV="1">
              <a:off x="3618069" y="1814059"/>
              <a:ext cx="776890" cy="31329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>
              <a:stCxn id="13" idx="5"/>
              <a:endCxn id="19" idx="2"/>
            </p:cNvCxnSpPr>
            <p:nvPr/>
          </p:nvCxnSpPr>
          <p:spPr>
            <a:xfrm>
              <a:off x="3618069" y="2331004"/>
              <a:ext cx="754197" cy="18079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5470115" y="2328539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橢圓 28"/>
            <p:cNvSpPr/>
            <p:nvPr/>
          </p:nvSpPr>
          <p:spPr>
            <a:xfrm>
              <a:off x="5473571" y="2403709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0" name="直線接點 29"/>
            <p:cNvCxnSpPr>
              <a:stCxn id="17" idx="5"/>
              <a:endCxn id="29" idx="1"/>
            </p:cNvCxnSpPr>
            <p:nvPr/>
          </p:nvCxnSpPr>
          <p:spPr>
            <a:xfrm>
              <a:off x="4598605" y="1814059"/>
              <a:ext cx="917143" cy="63182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>
              <a:stCxn id="15" idx="7"/>
              <a:endCxn id="29" idx="3"/>
            </p:cNvCxnSpPr>
            <p:nvPr/>
          </p:nvCxnSpPr>
          <p:spPr>
            <a:xfrm flipV="1">
              <a:off x="3622430" y="2649532"/>
              <a:ext cx="1893318" cy="41523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>
              <a:stCxn id="19" idx="0"/>
              <a:endCxn id="17" idx="4"/>
            </p:cNvCxnSpPr>
            <p:nvPr/>
          </p:nvCxnSpPr>
          <p:spPr>
            <a:xfrm flipH="1" flipV="1">
              <a:off x="4496782" y="1856236"/>
              <a:ext cx="19484" cy="51156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/>
            <p:cNvSpPr txBox="1"/>
            <p:nvPr/>
          </p:nvSpPr>
          <p:spPr>
            <a:xfrm>
              <a:off x="6407522" y="2377000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橢圓 33"/>
            <p:cNvSpPr/>
            <p:nvPr/>
          </p:nvSpPr>
          <p:spPr>
            <a:xfrm>
              <a:off x="6402352" y="242629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5" name="直線接點 34"/>
            <p:cNvCxnSpPr>
              <a:stCxn id="29" idx="6"/>
              <a:endCxn id="34" idx="2"/>
            </p:cNvCxnSpPr>
            <p:nvPr/>
          </p:nvCxnSpPr>
          <p:spPr>
            <a:xfrm>
              <a:off x="5761571" y="2547709"/>
              <a:ext cx="640781" cy="2258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字方塊 35"/>
          <p:cNvSpPr txBox="1"/>
          <p:nvPr/>
        </p:nvSpPr>
        <p:spPr>
          <a:xfrm>
            <a:off x="6361045" y="1512181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6" name="群組 75"/>
          <p:cNvGrpSpPr/>
          <p:nvPr/>
        </p:nvGrpSpPr>
        <p:grpSpPr>
          <a:xfrm>
            <a:off x="2416853" y="4037071"/>
            <a:ext cx="300082" cy="369332"/>
            <a:chOff x="4693798" y="4074162"/>
            <a:chExt cx="300082" cy="369332"/>
          </a:xfrm>
        </p:grpSpPr>
        <p:sp>
          <p:nvSpPr>
            <p:cNvPr id="77" name="文字方塊 76"/>
            <p:cNvSpPr txBox="1"/>
            <p:nvPr/>
          </p:nvSpPr>
          <p:spPr>
            <a:xfrm>
              <a:off x="4693798" y="407416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橢圓 77"/>
            <p:cNvSpPr/>
            <p:nvPr/>
          </p:nvSpPr>
          <p:spPr>
            <a:xfrm>
              <a:off x="4705880" y="414933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79" name="群組 78"/>
          <p:cNvGrpSpPr/>
          <p:nvPr/>
        </p:nvGrpSpPr>
        <p:grpSpPr>
          <a:xfrm>
            <a:off x="2404771" y="4870957"/>
            <a:ext cx="300082" cy="369332"/>
            <a:chOff x="4681716" y="4908048"/>
            <a:chExt cx="300082" cy="369332"/>
          </a:xfrm>
        </p:grpSpPr>
        <p:sp>
          <p:nvSpPr>
            <p:cNvPr id="80" name="文字方塊 79"/>
            <p:cNvSpPr txBox="1"/>
            <p:nvPr/>
          </p:nvSpPr>
          <p:spPr>
            <a:xfrm>
              <a:off x="4681716" y="490804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橢圓 80"/>
            <p:cNvSpPr/>
            <p:nvPr/>
          </p:nvSpPr>
          <p:spPr>
            <a:xfrm>
              <a:off x="4693798" y="4983218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82" name="群組 81"/>
          <p:cNvGrpSpPr/>
          <p:nvPr/>
        </p:nvGrpSpPr>
        <p:grpSpPr>
          <a:xfrm>
            <a:off x="3380136" y="4444342"/>
            <a:ext cx="291456" cy="369332"/>
            <a:chOff x="5657081" y="4481433"/>
            <a:chExt cx="291456" cy="369332"/>
          </a:xfrm>
        </p:grpSpPr>
        <p:sp>
          <p:nvSpPr>
            <p:cNvPr id="83" name="文字方塊 82"/>
            <p:cNvSpPr txBox="1"/>
            <p:nvPr/>
          </p:nvSpPr>
          <p:spPr>
            <a:xfrm>
              <a:off x="5657081" y="4481433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橢圓 83"/>
            <p:cNvSpPr/>
            <p:nvPr/>
          </p:nvSpPr>
          <p:spPr>
            <a:xfrm>
              <a:off x="5660537" y="4556603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85" name="群組 84"/>
          <p:cNvGrpSpPr/>
          <p:nvPr/>
        </p:nvGrpSpPr>
        <p:grpSpPr>
          <a:xfrm>
            <a:off x="3375871" y="5398998"/>
            <a:ext cx="300082" cy="369332"/>
            <a:chOff x="5652816" y="5436089"/>
            <a:chExt cx="300082" cy="369332"/>
          </a:xfrm>
        </p:grpSpPr>
        <p:sp>
          <p:nvSpPr>
            <p:cNvPr id="86" name="文字方塊 85"/>
            <p:cNvSpPr txBox="1"/>
            <p:nvPr/>
          </p:nvSpPr>
          <p:spPr>
            <a:xfrm>
              <a:off x="5652816" y="543608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橢圓 86"/>
            <p:cNvSpPr/>
            <p:nvPr/>
          </p:nvSpPr>
          <p:spPr>
            <a:xfrm>
              <a:off x="5664898" y="549400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88" name="群組 87"/>
          <p:cNvGrpSpPr/>
          <p:nvPr/>
        </p:nvGrpSpPr>
        <p:grpSpPr>
          <a:xfrm>
            <a:off x="4360672" y="3927397"/>
            <a:ext cx="300082" cy="369332"/>
            <a:chOff x="6637617" y="3964488"/>
            <a:chExt cx="300082" cy="369332"/>
          </a:xfrm>
        </p:grpSpPr>
        <p:sp>
          <p:nvSpPr>
            <p:cNvPr id="89" name="文字方塊 88"/>
            <p:cNvSpPr txBox="1"/>
            <p:nvPr/>
          </p:nvSpPr>
          <p:spPr>
            <a:xfrm>
              <a:off x="6637617" y="39644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橢圓 89"/>
            <p:cNvSpPr/>
            <p:nvPr/>
          </p:nvSpPr>
          <p:spPr>
            <a:xfrm>
              <a:off x="6641073" y="4039658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91" name="群組 90"/>
          <p:cNvGrpSpPr/>
          <p:nvPr/>
        </p:nvGrpSpPr>
        <p:grpSpPr>
          <a:xfrm>
            <a:off x="4380156" y="4744209"/>
            <a:ext cx="312906" cy="369332"/>
            <a:chOff x="6657101" y="4781300"/>
            <a:chExt cx="312906" cy="369332"/>
          </a:xfrm>
        </p:grpSpPr>
        <p:sp>
          <p:nvSpPr>
            <p:cNvPr id="92" name="文字方塊 91"/>
            <p:cNvSpPr txBox="1"/>
            <p:nvPr/>
          </p:nvSpPr>
          <p:spPr>
            <a:xfrm>
              <a:off x="6657101" y="478130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橢圓 92"/>
            <p:cNvSpPr/>
            <p:nvPr/>
          </p:nvSpPr>
          <p:spPr>
            <a:xfrm>
              <a:off x="6660557" y="4839218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94" name="群組 93"/>
          <p:cNvGrpSpPr/>
          <p:nvPr/>
        </p:nvGrpSpPr>
        <p:grpSpPr>
          <a:xfrm>
            <a:off x="4212845" y="5787866"/>
            <a:ext cx="291456" cy="369332"/>
            <a:chOff x="6489790" y="5824957"/>
            <a:chExt cx="291456" cy="369332"/>
          </a:xfrm>
        </p:grpSpPr>
        <p:sp>
          <p:nvSpPr>
            <p:cNvPr id="95" name="文字方塊 94"/>
            <p:cNvSpPr txBox="1"/>
            <p:nvPr/>
          </p:nvSpPr>
          <p:spPr>
            <a:xfrm>
              <a:off x="6489790" y="5824957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橢圓 95"/>
            <p:cNvSpPr/>
            <p:nvPr/>
          </p:nvSpPr>
          <p:spPr>
            <a:xfrm>
              <a:off x="6493246" y="590012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97" name="直線接點 96"/>
          <p:cNvCxnSpPr>
            <a:stCxn id="81" idx="0"/>
            <a:endCxn id="78" idx="4"/>
          </p:cNvCxnSpPr>
          <p:nvPr/>
        </p:nvCxnSpPr>
        <p:spPr>
          <a:xfrm flipV="1">
            <a:off x="2560853" y="4400241"/>
            <a:ext cx="12082" cy="5458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>
            <a:stCxn id="87" idx="1"/>
            <a:endCxn id="81" idx="5"/>
          </p:cNvCxnSpPr>
          <p:nvPr/>
        </p:nvCxnSpPr>
        <p:spPr>
          <a:xfrm flipH="1" flipV="1">
            <a:off x="2662676" y="5191950"/>
            <a:ext cx="767454" cy="3071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>
            <a:stCxn id="96" idx="1"/>
            <a:endCxn id="87" idx="5"/>
          </p:cNvCxnSpPr>
          <p:nvPr/>
        </p:nvCxnSpPr>
        <p:spPr>
          <a:xfrm flipH="1" flipV="1">
            <a:off x="3633776" y="5702739"/>
            <a:ext cx="624702" cy="202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>
            <a:stCxn id="84" idx="5"/>
            <a:endCxn id="93" idx="2"/>
          </p:cNvCxnSpPr>
          <p:nvPr/>
        </p:nvCxnSpPr>
        <p:spPr>
          <a:xfrm>
            <a:off x="3629415" y="4765335"/>
            <a:ext cx="754197" cy="1807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群組 100"/>
          <p:cNvGrpSpPr/>
          <p:nvPr/>
        </p:nvGrpSpPr>
        <p:grpSpPr>
          <a:xfrm>
            <a:off x="5481461" y="4762870"/>
            <a:ext cx="291456" cy="369332"/>
            <a:chOff x="7758406" y="4799961"/>
            <a:chExt cx="291456" cy="369332"/>
          </a:xfrm>
        </p:grpSpPr>
        <p:sp>
          <p:nvSpPr>
            <p:cNvPr id="102" name="文字方塊 101"/>
            <p:cNvSpPr txBox="1"/>
            <p:nvPr/>
          </p:nvSpPr>
          <p:spPr>
            <a:xfrm>
              <a:off x="7758406" y="4799961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橢圓 102"/>
            <p:cNvSpPr/>
            <p:nvPr/>
          </p:nvSpPr>
          <p:spPr>
            <a:xfrm>
              <a:off x="7761862" y="487513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04" name="直線接點 103"/>
          <p:cNvCxnSpPr>
            <a:stCxn id="90" idx="5"/>
            <a:endCxn id="103" idx="1"/>
          </p:cNvCxnSpPr>
          <p:nvPr/>
        </p:nvCxnSpPr>
        <p:spPr>
          <a:xfrm>
            <a:off x="4609951" y="4248390"/>
            <a:ext cx="917143" cy="6318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>
            <a:stCxn id="87" idx="7"/>
            <a:endCxn id="103" idx="3"/>
          </p:cNvCxnSpPr>
          <p:nvPr/>
        </p:nvCxnSpPr>
        <p:spPr>
          <a:xfrm flipV="1">
            <a:off x="3633776" y="5083863"/>
            <a:ext cx="1893318" cy="4152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>
            <a:stCxn id="93" idx="0"/>
            <a:endCxn id="90" idx="4"/>
          </p:cNvCxnSpPr>
          <p:nvPr/>
        </p:nvCxnSpPr>
        <p:spPr>
          <a:xfrm flipH="1" flipV="1">
            <a:off x="4508128" y="4290567"/>
            <a:ext cx="19484" cy="5115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群組 106"/>
          <p:cNvGrpSpPr/>
          <p:nvPr/>
        </p:nvGrpSpPr>
        <p:grpSpPr>
          <a:xfrm>
            <a:off x="6413698" y="4811331"/>
            <a:ext cx="288000" cy="369332"/>
            <a:chOff x="8690643" y="4848422"/>
            <a:chExt cx="288000" cy="369332"/>
          </a:xfrm>
        </p:grpSpPr>
        <p:sp>
          <p:nvSpPr>
            <p:cNvPr id="108" name="文字方塊 107"/>
            <p:cNvSpPr txBox="1"/>
            <p:nvPr/>
          </p:nvSpPr>
          <p:spPr>
            <a:xfrm>
              <a:off x="8695813" y="4848422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橢圓 108"/>
            <p:cNvSpPr/>
            <p:nvPr/>
          </p:nvSpPr>
          <p:spPr>
            <a:xfrm>
              <a:off x="8690643" y="4897714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10" name="直線接點 109"/>
          <p:cNvCxnSpPr>
            <a:stCxn id="103" idx="6"/>
            <a:endCxn id="109" idx="2"/>
          </p:cNvCxnSpPr>
          <p:nvPr/>
        </p:nvCxnSpPr>
        <p:spPr>
          <a:xfrm>
            <a:off x="5772917" y="4982040"/>
            <a:ext cx="640781" cy="225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字方塊 110"/>
          <p:cNvSpPr txBox="1"/>
          <p:nvPr/>
        </p:nvSpPr>
        <p:spPr>
          <a:xfrm>
            <a:off x="3041628" y="61424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3332066" y="61424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3627236" y="6142410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3906581" y="6142410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4188393" y="61424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4483563" y="614241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文字方塊 116"/>
          <p:cNvSpPr txBox="1"/>
          <p:nvPr/>
        </p:nvSpPr>
        <p:spPr>
          <a:xfrm>
            <a:off x="4779817" y="6142410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字方塊 117"/>
          <p:cNvSpPr txBox="1"/>
          <p:nvPr/>
        </p:nvSpPr>
        <p:spPr>
          <a:xfrm>
            <a:off x="5070255" y="6142410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5356799" y="61424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12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最少花費展開樹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加權圖形 </a:t>
            </a:r>
            <a:r>
              <a:rPr lang="en-US" altLang="zh-TW" i="1" dirty="0"/>
              <a:t>G</a:t>
            </a:r>
            <a:r>
              <a:rPr lang="en-US" altLang="zh-TW" dirty="0"/>
              <a:t> </a:t>
            </a:r>
            <a:r>
              <a:rPr lang="zh-TW" altLang="en-US" dirty="0"/>
              <a:t>可能的眾多展開樹之中，會有一棵展開樹的加權和(花費，</a:t>
            </a:r>
            <a:r>
              <a:rPr lang="en-US" altLang="zh-TW" dirty="0"/>
              <a:t>cost ) </a:t>
            </a:r>
            <a:r>
              <a:rPr lang="zh-TW" altLang="en-US" dirty="0"/>
              <a:t>是最小的，稱為最少花費展開樹(</a:t>
            </a:r>
            <a:r>
              <a:rPr lang="en-US" altLang="zh-TW" dirty="0"/>
              <a:t>minimum cost spanning tree, MST) </a:t>
            </a:r>
          </a:p>
          <a:p>
            <a:pPr lvl="1"/>
            <a:r>
              <a:rPr lang="zh-TW" altLang="en-US" dirty="0"/>
              <a:t>最少花費展開樹可能多於一棵 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p:grpSp>
        <p:nvGrpSpPr>
          <p:cNvPr id="80" name="群組 79"/>
          <p:cNvGrpSpPr/>
          <p:nvPr/>
        </p:nvGrpSpPr>
        <p:grpSpPr>
          <a:xfrm>
            <a:off x="3777589" y="2685114"/>
            <a:ext cx="1740864" cy="1422979"/>
            <a:chOff x="3777589" y="2685114"/>
            <a:chExt cx="1740864" cy="1422979"/>
          </a:xfrm>
        </p:grpSpPr>
        <p:grpSp>
          <p:nvGrpSpPr>
            <p:cNvPr id="7" name="群組 6"/>
            <p:cNvGrpSpPr/>
            <p:nvPr/>
          </p:nvGrpSpPr>
          <p:grpSpPr>
            <a:xfrm>
              <a:off x="4453319" y="2739306"/>
              <a:ext cx="300082" cy="369332"/>
              <a:chOff x="7119660" y="1677206"/>
              <a:chExt cx="300082" cy="369332"/>
            </a:xfrm>
          </p:grpSpPr>
          <p:sp>
            <p:nvSpPr>
              <p:cNvPr id="8" name="文字方塊 7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橢圓 8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0" name="群組 9"/>
            <p:cNvGrpSpPr/>
            <p:nvPr/>
          </p:nvGrpSpPr>
          <p:grpSpPr>
            <a:xfrm>
              <a:off x="4450734" y="3738761"/>
              <a:ext cx="300082" cy="369332"/>
              <a:chOff x="7210115" y="2674994"/>
              <a:chExt cx="300082" cy="369332"/>
            </a:xfrm>
          </p:grpSpPr>
          <p:sp>
            <p:nvSpPr>
              <p:cNvPr id="11" name="文字方塊 10"/>
              <p:cNvSpPr txBox="1"/>
              <p:nvPr/>
            </p:nvSpPr>
            <p:spPr>
              <a:xfrm>
                <a:off x="7210115" y="2674994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橢圓 11"/>
              <p:cNvSpPr/>
              <p:nvPr/>
            </p:nvSpPr>
            <p:spPr>
              <a:xfrm>
                <a:off x="7222197" y="273291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3" name="群組 12"/>
            <p:cNvGrpSpPr/>
            <p:nvPr/>
          </p:nvGrpSpPr>
          <p:grpSpPr>
            <a:xfrm>
              <a:off x="3777589" y="3261038"/>
              <a:ext cx="300082" cy="369332"/>
              <a:chOff x="7119660" y="1677206"/>
              <a:chExt cx="300082" cy="369332"/>
            </a:xfrm>
          </p:grpSpPr>
          <p:sp>
            <p:nvSpPr>
              <p:cNvPr id="14" name="文字方塊 13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橢圓 14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6" name="群組 15"/>
            <p:cNvGrpSpPr/>
            <p:nvPr/>
          </p:nvGrpSpPr>
          <p:grpSpPr>
            <a:xfrm>
              <a:off x="5123304" y="3261038"/>
              <a:ext cx="300082" cy="369332"/>
              <a:chOff x="7119660" y="1677206"/>
              <a:chExt cx="300082" cy="369332"/>
            </a:xfrm>
          </p:grpSpPr>
          <p:sp>
            <p:nvSpPr>
              <p:cNvPr id="17" name="文字方塊 16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橢圓 17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19" name="直線接點 18"/>
            <p:cNvCxnSpPr>
              <a:stCxn id="9" idx="3"/>
              <a:endCxn id="15" idx="7"/>
            </p:cNvCxnSpPr>
            <p:nvPr/>
          </p:nvCxnSpPr>
          <p:spPr>
            <a:xfrm flipH="1">
              <a:off x="4035494" y="3043047"/>
              <a:ext cx="472084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>
              <a:stCxn id="12" idx="1"/>
              <a:endCxn id="15" idx="5"/>
            </p:cNvCxnSpPr>
            <p:nvPr/>
          </p:nvCxnSpPr>
          <p:spPr>
            <a:xfrm flipH="1" flipV="1">
              <a:off x="4035494" y="3564779"/>
              <a:ext cx="469499" cy="2740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>
              <a:stCxn id="9" idx="5"/>
              <a:endCxn id="18" idx="1"/>
            </p:cNvCxnSpPr>
            <p:nvPr/>
          </p:nvCxnSpPr>
          <p:spPr>
            <a:xfrm>
              <a:off x="4711224" y="3043047"/>
              <a:ext cx="466339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>
              <a:stCxn id="18" idx="3"/>
              <a:endCxn id="12" idx="7"/>
            </p:cNvCxnSpPr>
            <p:nvPr/>
          </p:nvCxnSpPr>
          <p:spPr>
            <a:xfrm flipH="1">
              <a:off x="4708639" y="3564779"/>
              <a:ext cx="468924" cy="2740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>
              <a:stCxn id="9" idx="4"/>
              <a:endCxn id="12" idx="0"/>
            </p:cNvCxnSpPr>
            <p:nvPr/>
          </p:nvCxnSpPr>
          <p:spPr>
            <a:xfrm flipH="1">
              <a:off x="4606816" y="3085224"/>
              <a:ext cx="2585" cy="71145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>
              <a:stCxn id="18" idx="2"/>
              <a:endCxn id="15" idx="6"/>
            </p:cNvCxnSpPr>
            <p:nvPr/>
          </p:nvCxnSpPr>
          <p:spPr>
            <a:xfrm flipH="1">
              <a:off x="4077671" y="3462956"/>
              <a:ext cx="105771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5147839" y="2685114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4086784" y="29215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4834351" y="29215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4083525" y="361558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4831092" y="361558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文字方塊 77"/>
            <p:cNvSpPr txBox="1"/>
            <p:nvPr/>
          </p:nvSpPr>
          <p:spPr>
            <a:xfrm>
              <a:off x="4232493" y="31675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4552876" y="344883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4" name="群組 83"/>
          <p:cNvGrpSpPr/>
          <p:nvPr/>
        </p:nvGrpSpPr>
        <p:grpSpPr>
          <a:xfrm>
            <a:off x="1334217" y="4322623"/>
            <a:ext cx="1645797" cy="2184344"/>
            <a:chOff x="1334217" y="4322623"/>
            <a:chExt cx="1645797" cy="2184344"/>
          </a:xfrm>
        </p:grpSpPr>
        <p:grpSp>
          <p:nvGrpSpPr>
            <p:cNvPr id="26" name="群組 25"/>
            <p:cNvGrpSpPr/>
            <p:nvPr/>
          </p:nvGrpSpPr>
          <p:grpSpPr>
            <a:xfrm>
              <a:off x="2009947" y="4322623"/>
              <a:ext cx="300082" cy="369332"/>
              <a:chOff x="7119660" y="1677206"/>
              <a:chExt cx="300082" cy="369332"/>
            </a:xfrm>
          </p:grpSpPr>
          <p:sp>
            <p:nvSpPr>
              <p:cNvPr id="27" name="文字方塊 26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橢圓 27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9" name="群組 28"/>
            <p:cNvGrpSpPr/>
            <p:nvPr/>
          </p:nvGrpSpPr>
          <p:grpSpPr>
            <a:xfrm>
              <a:off x="2007362" y="5322078"/>
              <a:ext cx="300082" cy="369332"/>
              <a:chOff x="7210115" y="2674994"/>
              <a:chExt cx="300082" cy="369332"/>
            </a:xfrm>
          </p:grpSpPr>
          <p:sp>
            <p:nvSpPr>
              <p:cNvPr id="30" name="文字方塊 29"/>
              <p:cNvSpPr txBox="1"/>
              <p:nvPr/>
            </p:nvSpPr>
            <p:spPr>
              <a:xfrm>
                <a:off x="7210115" y="2674994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橢圓 30"/>
              <p:cNvSpPr/>
              <p:nvPr/>
            </p:nvSpPr>
            <p:spPr>
              <a:xfrm>
                <a:off x="7222197" y="273291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2" name="群組 31"/>
            <p:cNvGrpSpPr/>
            <p:nvPr/>
          </p:nvGrpSpPr>
          <p:grpSpPr>
            <a:xfrm>
              <a:off x="1334217" y="4844355"/>
              <a:ext cx="300082" cy="369332"/>
              <a:chOff x="7119660" y="1677206"/>
              <a:chExt cx="300082" cy="369332"/>
            </a:xfrm>
          </p:grpSpPr>
          <p:sp>
            <p:nvSpPr>
              <p:cNvPr id="33" name="文字方塊 32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橢圓 33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5" name="群組 34"/>
            <p:cNvGrpSpPr/>
            <p:nvPr/>
          </p:nvGrpSpPr>
          <p:grpSpPr>
            <a:xfrm>
              <a:off x="2679932" y="4844355"/>
              <a:ext cx="300082" cy="369332"/>
              <a:chOff x="7119660" y="1677206"/>
              <a:chExt cx="300082" cy="369332"/>
            </a:xfrm>
          </p:grpSpPr>
          <p:sp>
            <p:nvSpPr>
              <p:cNvPr id="36" name="文字方塊 35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橢圓 36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38" name="直線接點 37"/>
            <p:cNvCxnSpPr>
              <a:stCxn id="31" idx="1"/>
              <a:endCxn id="34" idx="5"/>
            </p:cNvCxnSpPr>
            <p:nvPr/>
          </p:nvCxnSpPr>
          <p:spPr>
            <a:xfrm flipH="1" flipV="1">
              <a:off x="1592122" y="5148096"/>
              <a:ext cx="469499" cy="2740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/>
            <p:cNvCxnSpPr>
              <a:stCxn id="28" idx="5"/>
              <a:endCxn id="37" idx="1"/>
            </p:cNvCxnSpPr>
            <p:nvPr/>
          </p:nvCxnSpPr>
          <p:spPr>
            <a:xfrm>
              <a:off x="2267852" y="4626364"/>
              <a:ext cx="466339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>
              <a:stCxn id="37" idx="3"/>
              <a:endCxn id="31" idx="7"/>
            </p:cNvCxnSpPr>
            <p:nvPr/>
          </p:nvCxnSpPr>
          <p:spPr>
            <a:xfrm flipH="1">
              <a:off x="2265267" y="5148096"/>
              <a:ext cx="468924" cy="2740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1952963" y="5705794"/>
              <a:ext cx="4267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文字方塊 80"/>
            <p:cNvSpPr txBox="1"/>
            <p:nvPr/>
          </p:nvSpPr>
          <p:spPr>
            <a:xfrm>
              <a:off x="2399548" y="45029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1648722" y="519698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文字方塊 82"/>
            <p:cNvSpPr txBox="1"/>
            <p:nvPr/>
          </p:nvSpPr>
          <p:spPr>
            <a:xfrm>
              <a:off x="2396289" y="519698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文字方塊 91"/>
            <p:cNvSpPr txBox="1"/>
            <p:nvPr/>
          </p:nvSpPr>
          <p:spPr>
            <a:xfrm>
              <a:off x="1595199" y="6106857"/>
              <a:ext cx="11416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 = 14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5" name="群組 84"/>
          <p:cNvGrpSpPr/>
          <p:nvPr/>
        </p:nvGrpSpPr>
        <p:grpSpPr>
          <a:xfrm>
            <a:off x="3790042" y="4323576"/>
            <a:ext cx="1645797" cy="2180523"/>
            <a:chOff x="3790042" y="4323576"/>
            <a:chExt cx="1645797" cy="2180523"/>
          </a:xfrm>
        </p:grpSpPr>
        <p:grpSp>
          <p:nvGrpSpPr>
            <p:cNvPr id="42" name="群組 41"/>
            <p:cNvGrpSpPr/>
            <p:nvPr/>
          </p:nvGrpSpPr>
          <p:grpSpPr>
            <a:xfrm>
              <a:off x="4465772" y="4323576"/>
              <a:ext cx="300082" cy="369332"/>
              <a:chOff x="7119660" y="1677206"/>
              <a:chExt cx="300082" cy="369332"/>
            </a:xfrm>
          </p:grpSpPr>
          <p:sp>
            <p:nvSpPr>
              <p:cNvPr id="43" name="文字方塊 42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橢圓 43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5" name="群組 44"/>
            <p:cNvGrpSpPr/>
            <p:nvPr/>
          </p:nvGrpSpPr>
          <p:grpSpPr>
            <a:xfrm>
              <a:off x="4463187" y="5323031"/>
              <a:ext cx="300082" cy="369332"/>
              <a:chOff x="7210115" y="2674994"/>
              <a:chExt cx="300082" cy="369332"/>
            </a:xfrm>
          </p:grpSpPr>
          <p:sp>
            <p:nvSpPr>
              <p:cNvPr id="46" name="文字方塊 45"/>
              <p:cNvSpPr txBox="1"/>
              <p:nvPr/>
            </p:nvSpPr>
            <p:spPr>
              <a:xfrm>
                <a:off x="7210115" y="2674994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橢圓 46"/>
              <p:cNvSpPr/>
              <p:nvPr/>
            </p:nvSpPr>
            <p:spPr>
              <a:xfrm>
                <a:off x="7222197" y="273291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8" name="群組 47"/>
            <p:cNvGrpSpPr/>
            <p:nvPr/>
          </p:nvGrpSpPr>
          <p:grpSpPr>
            <a:xfrm>
              <a:off x="3790042" y="4845308"/>
              <a:ext cx="300082" cy="369332"/>
              <a:chOff x="7119660" y="1677206"/>
              <a:chExt cx="300082" cy="369332"/>
            </a:xfrm>
          </p:grpSpPr>
          <p:sp>
            <p:nvSpPr>
              <p:cNvPr id="49" name="文字方塊 48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橢圓 49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51" name="群組 50"/>
            <p:cNvGrpSpPr/>
            <p:nvPr/>
          </p:nvGrpSpPr>
          <p:grpSpPr>
            <a:xfrm>
              <a:off x="5135757" y="4845308"/>
              <a:ext cx="300082" cy="369332"/>
              <a:chOff x="7119660" y="1677206"/>
              <a:chExt cx="300082" cy="369332"/>
            </a:xfrm>
          </p:grpSpPr>
          <p:sp>
            <p:nvSpPr>
              <p:cNvPr id="52" name="文字方塊 51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橢圓 52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54" name="直線接點 53"/>
            <p:cNvCxnSpPr>
              <a:stCxn id="44" idx="3"/>
              <a:endCxn id="50" idx="7"/>
            </p:cNvCxnSpPr>
            <p:nvPr/>
          </p:nvCxnSpPr>
          <p:spPr>
            <a:xfrm flipH="1">
              <a:off x="4047947" y="4627317"/>
              <a:ext cx="472084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接點 54"/>
            <p:cNvCxnSpPr>
              <a:stCxn id="53" idx="3"/>
              <a:endCxn id="47" idx="7"/>
            </p:cNvCxnSpPr>
            <p:nvPr/>
          </p:nvCxnSpPr>
          <p:spPr>
            <a:xfrm flipH="1">
              <a:off x="4721092" y="5149049"/>
              <a:ext cx="468924" cy="2740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/>
            <p:cNvCxnSpPr>
              <a:stCxn id="53" idx="2"/>
              <a:endCxn id="50" idx="6"/>
            </p:cNvCxnSpPr>
            <p:nvPr/>
          </p:nvCxnSpPr>
          <p:spPr>
            <a:xfrm flipH="1">
              <a:off x="4090124" y="5047226"/>
              <a:ext cx="105771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字方塊 56"/>
            <p:cNvSpPr txBox="1"/>
            <p:nvPr/>
          </p:nvSpPr>
          <p:spPr>
            <a:xfrm>
              <a:off x="4408788" y="5706747"/>
              <a:ext cx="4267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4072978" y="451333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4817286" y="52073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4218687" y="475937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4023533" y="6103989"/>
              <a:ext cx="11416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 = 10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5" name="群組 94"/>
          <p:cNvGrpSpPr/>
          <p:nvPr/>
        </p:nvGrpSpPr>
        <p:grpSpPr>
          <a:xfrm>
            <a:off x="6280088" y="4320708"/>
            <a:ext cx="1645797" cy="2186259"/>
            <a:chOff x="6280088" y="4320708"/>
            <a:chExt cx="1645797" cy="2186259"/>
          </a:xfrm>
        </p:grpSpPr>
        <p:grpSp>
          <p:nvGrpSpPr>
            <p:cNvPr id="58" name="群組 57"/>
            <p:cNvGrpSpPr/>
            <p:nvPr/>
          </p:nvGrpSpPr>
          <p:grpSpPr>
            <a:xfrm>
              <a:off x="6955818" y="4320708"/>
              <a:ext cx="300082" cy="369332"/>
              <a:chOff x="7119660" y="1677206"/>
              <a:chExt cx="300082" cy="369332"/>
            </a:xfrm>
          </p:grpSpPr>
          <p:sp>
            <p:nvSpPr>
              <p:cNvPr id="59" name="文字方塊 58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橢圓 59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61" name="群組 60"/>
            <p:cNvGrpSpPr/>
            <p:nvPr/>
          </p:nvGrpSpPr>
          <p:grpSpPr>
            <a:xfrm>
              <a:off x="6953233" y="5320163"/>
              <a:ext cx="300082" cy="369332"/>
              <a:chOff x="7210115" y="2674994"/>
              <a:chExt cx="300082" cy="369332"/>
            </a:xfrm>
          </p:grpSpPr>
          <p:sp>
            <p:nvSpPr>
              <p:cNvPr id="62" name="文字方塊 61"/>
              <p:cNvSpPr txBox="1"/>
              <p:nvPr/>
            </p:nvSpPr>
            <p:spPr>
              <a:xfrm>
                <a:off x="7210115" y="2674994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7222197" y="273291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64" name="群組 63"/>
            <p:cNvGrpSpPr/>
            <p:nvPr/>
          </p:nvGrpSpPr>
          <p:grpSpPr>
            <a:xfrm>
              <a:off x="6280088" y="4842440"/>
              <a:ext cx="300082" cy="369332"/>
              <a:chOff x="7119660" y="1677206"/>
              <a:chExt cx="300082" cy="369332"/>
            </a:xfrm>
          </p:grpSpPr>
          <p:sp>
            <p:nvSpPr>
              <p:cNvPr id="65" name="文字方塊 64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67" name="群組 66"/>
            <p:cNvGrpSpPr/>
            <p:nvPr/>
          </p:nvGrpSpPr>
          <p:grpSpPr>
            <a:xfrm>
              <a:off x="7625803" y="4842440"/>
              <a:ext cx="300082" cy="369332"/>
              <a:chOff x="7119660" y="1677206"/>
              <a:chExt cx="300082" cy="369332"/>
            </a:xfrm>
          </p:grpSpPr>
          <p:sp>
            <p:nvSpPr>
              <p:cNvPr id="68" name="文字方塊 67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橢圓 68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70" name="直線接點 69"/>
            <p:cNvCxnSpPr>
              <a:stCxn id="60" idx="3"/>
              <a:endCxn id="66" idx="7"/>
            </p:cNvCxnSpPr>
            <p:nvPr/>
          </p:nvCxnSpPr>
          <p:spPr>
            <a:xfrm flipH="1">
              <a:off x="6537993" y="4624449"/>
              <a:ext cx="472084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>
              <a:stCxn id="60" idx="5"/>
              <a:endCxn id="69" idx="1"/>
            </p:cNvCxnSpPr>
            <p:nvPr/>
          </p:nvCxnSpPr>
          <p:spPr>
            <a:xfrm>
              <a:off x="7213723" y="4624449"/>
              <a:ext cx="466339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接點 71"/>
            <p:cNvCxnSpPr>
              <a:stCxn id="60" idx="4"/>
              <a:endCxn id="63" idx="0"/>
            </p:cNvCxnSpPr>
            <p:nvPr/>
          </p:nvCxnSpPr>
          <p:spPr>
            <a:xfrm flipH="1">
              <a:off x="7109315" y="4666626"/>
              <a:ext cx="2585" cy="71145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文字方塊 72"/>
            <p:cNvSpPr txBox="1"/>
            <p:nvPr/>
          </p:nvSpPr>
          <p:spPr>
            <a:xfrm>
              <a:off x="6898834" y="5703879"/>
              <a:ext cx="4267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6595239" y="450537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7342806" y="450537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7061331" y="503266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文字方塊 93"/>
            <p:cNvSpPr txBox="1"/>
            <p:nvPr/>
          </p:nvSpPr>
          <p:spPr>
            <a:xfrm>
              <a:off x="6541364" y="6106857"/>
              <a:ext cx="11416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 = 10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314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Prim</a:t>
            </a:r>
            <a:r>
              <a:rPr lang="zh-TW" altLang="en-US" dirty="0"/>
              <a:t> 演算法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逐一選擇適當的邊加入展開樹</a:t>
            </a:r>
            <a:r>
              <a:rPr lang="en-US" altLang="zh-TW" i="1" dirty="0"/>
              <a:t>T</a:t>
            </a:r>
            <a:r>
              <a:rPr lang="zh-TW" altLang="en-US" dirty="0"/>
              <a:t>中</a:t>
            </a:r>
            <a:endParaRPr lang="en-US" altLang="zh-TW" dirty="0"/>
          </a:p>
          <a:p>
            <a:pPr lvl="1"/>
            <a:r>
              <a:rPr lang="zh-TW" altLang="en-US" dirty="0"/>
              <a:t>選一個不在</a:t>
            </a:r>
            <a:r>
              <a:rPr lang="en-US" altLang="zh-TW" i="1" dirty="0"/>
              <a:t>T</a:t>
            </a:r>
            <a:r>
              <a:rPr lang="zh-TW" altLang="en-US" dirty="0"/>
              <a:t>中且最小的邊</a:t>
            </a:r>
            <a:r>
              <a:rPr lang="en-US" altLang="zh-TW" dirty="0"/>
              <a:t>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i="1" dirty="0">
                <a:solidFill>
                  <a:srgbClr val="C00000"/>
                </a:solidFill>
              </a:rPr>
              <a:t>u</a:t>
            </a:r>
            <a:r>
              <a:rPr lang="en-US" altLang="zh-TW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 </a:t>
            </a:r>
            <a:r>
              <a:rPr lang="en-US" altLang="zh-TW" i="1" dirty="0">
                <a:solidFill>
                  <a:srgbClr val="C00000"/>
                </a:solidFill>
                <a:sym typeface="Symbol"/>
              </a:rPr>
              <a:t>V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(</a:t>
            </a:r>
            <a:r>
              <a:rPr lang="en-US" altLang="zh-TW" i="1" dirty="0">
                <a:solidFill>
                  <a:srgbClr val="C00000"/>
                </a:solidFill>
                <a:sym typeface="Symbol"/>
              </a:rPr>
              <a:t>T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), </a:t>
            </a:r>
            <a:r>
              <a:rPr lang="en-US" altLang="zh-TW" i="1" dirty="0">
                <a:solidFill>
                  <a:srgbClr val="C00000"/>
                </a:solidFill>
                <a:sym typeface="Symbol"/>
              </a:rPr>
              <a:t>v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  </a:t>
            </a:r>
            <a:r>
              <a:rPr lang="en-US" altLang="zh-TW" i="1" dirty="0">
                <a:solidFill>
                  <a:srgbClr val="C00000"/>
                </a:solidFill>
                <a:sym typeface="Symbol"/>
              </a:rPr>
              <a:t>V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(</a:t>
            </a:r>
            <a:r>
              <a:rPr lang="en-US" altLang="zh-TW" i="1" dirty="0">
                <a:solidFill>
                  <a:srgbClr val="C00000"/>
                </a:solidFill>
                <a:sym typeface="Symbol"/>
              </a:rPr>
              <a:t>T</a:t>
            </a:r>
            <a:r>
              <a:rPr lang="en-US" altLang="zh-TW" dirty="0">
                <a:solidFill>
                  <a:srgbClr val="C00000"/>
                </a:solidFill>
                <a:sym typeface="Symbol"/>
              </a:rPr>
              <a:t>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  <p:cxnSp>
        <p:nvCxnSpPr>
          <p:cNvPr id="8" name="直線接點 7"/>
          <p:cNvCxnSpPr/>
          <p:nvPr/>
        </p:nvCxnSpPr>
        <p:spPr>
          <a:xfrm flipH="1">
            <a:off x="2309542" y="2204864"/>
            <a:ext cx="69010" cy="14664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圓角矩形 11"/>
          <p:cNvSpPr/>
          <p:nvPr/>
        </p:nvSpPr>
        <p:spPr>
          <a:xfrm>
            <a:off x="6299150" y="1242201"/>
            <a:ext cx="845390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開始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99282" y="1742550"/>
            <a:ext cx="3045126" cy="388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</a:t>
            </a:r>
            <a:endParaRPr lang="zh-TW" altLang="en-US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流程圖: 決策 13"/>
          <p:cNvSpPr/>
          <p:nvPr/>
        </p:nvSpPr>
        <p:spPr>
          <a:xfrm>
            <a:off x="5199282" y="2927203"/>
            <a:ext cx="3045126" cy="83102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|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)| 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– 1 </a:t>
            </a:r>
            <a:endParaRPr lang="zh-TW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199282" y="4008378"/>
            <a:ext cx="3045126" cy="986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選擇尚未選過的邊，且權重最小的邊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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),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 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圓角矩形 17"/>
          <p:cNvSpPr/>
          <p:nvPr/>
        </p:nvSpPr>
        <p:spPr>
          <a:xfrm>
            <a:off x="6286210" y="6393586"/>
            <a:ext cx="871269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</a:p>
        </p:txBody>
      </p:sp>
      <p:cxnSp>
        <p:nvCxnSpPr>
          <p:cNvPr id="19" name="直線單箭頭接點 18"/>
          <p:cNvCxnSpPr>
            <a:stCxn id="12" idx="2"/>
            <a:endCxn id="13" idx="0"/>
          </p:cNvCxnSpPr>
          <p:nvPr/>
        </p:nvCxnSpPr>
        <p:spPr>
          <a:xfrm>
            <a:off x="6721845" y="1561378"/>
            <a:ext cx="0" cy="18117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46" idx="2"/>
            <a:endCxn id="14" idx="0"/>
          </p:cNvCxnSpPr>
          <p:nvPr/>
        </p:nvCxnSpPr>
        <p:spPr>
          <a:xfrm>
            <a:off x="6721845" y="2730245"/>
            <a:ext cx="0" cy="196958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5" idx="2"/>
            <a:endCxn id="35" idx="0"/>
          </p:cNvCxnSpPr>
          <p:nvPr/>
        </p:nvCxnSpPr>
        <p:spPr>
          <a:xfrm>
            <a:off x="6721845" y="4994673"/>
            <a:ext cx="0" cy="22428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接點 21"/>
          <p:cNvCxnSpPr>
            <a:stCxn id="50" idx="2"/>
            <a:endCxn id="14" idx="3"/>
          </p:cNvCxnSpPr>
          <p:nvPr/>
        </p:nvCxnSpPr>
        <p:spPr>
          <a:xfrm rot="5400000" flipH="1" flipV="1">
            <a:off x="6051856" y="4012702"/>
            <a:ext cx="2862540" cy="1522563"/>
          </a:xfrm>
          <a:prstGeom prst="bentConnector4">
            <a:avLst>
              <a:gd name="adj1" fmla="val -4370"/>
              <a:gd name="adj2" fmla="val 115014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群組 22"/>
          <p:cNvGrpSpPr/>
          <p:nvPr/>
        </p:nvGrpSpPr>
        <p:grpSpPr>
          <a:xfrm>
            <a:off x="6672588" y="3634983"/>
            <a:ext cx="441146" cy="400110"/>
            <a:chOff x="6019439" y="3634983"/>
            <a:chExt cx="441146" cy="400110"/>
          </a:xfrm>
        </p:grpSpPr>
        <p:cxnSp>
          <p:nvCxnSpPr>
            <p:cNvPr id="24" name="直線單箭頭接點 23"/>
            <p:cNvCxnSpPr/>
            <p:nvPr/>
          </p:nvCxnSpPr>
          <p:spPr>
            <a:xfrm>
              <a:off x="6085102" y="3758225"/>
              <a:ext cx="0" cy="250153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6019439" y="363498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是</a:t>
              </a:r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4642024" y="3241458"/>
            <a:ext cx="1644186" cy="3311716"/>
            <a:chOff x="4642024" y="3241458"/>
            <a:chExt cx="1644186" cy="3311716"/>
          </a:xfrm>
        </p:grpSpPr>
        <p:cxnSp>
          <p:nvCxnSpPr>
            <p:cNvPr id="30" name="肘形接點 29"/>
            <p:cNvCxnSpPr>
              <a:stCxn id="14" idx="1"/>
              <a:endCxn id="18" idx="1"/>
            </p:cNvCxnSpPr>
            <p:nvPr/>
          </p:nvCxnSpPr>
          <p:spPr>
            <a:xfrm rot="10800000" flipH="1" flipV="1">
              <a:off x="5199282" y="3342713"/>
              <a:ext cx="1086928" cy="3210461"/>
            </a:xfrm>
            <a:prstGeom prst="bentConnector3">
              <a:avLst>
                <a:gd name="adj1" fmla="val -21032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4642024" y="324145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否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5199282" y="5218954"/>
            <a:ext cx="3045126" cy="388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加入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i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3" name="直線單箭頭接點 42"/>
          <p:cNvCxnSpPr>
            <a:stCxn id="35" idx="2"/>
            <a:endCxn id="50" idx="0"/>
          </p:cNvCxnSpPr>
          <p:nvPr/>
        </p:nvCxnSpPr>
        <p:spPr>
          <a:xfrm>
            <a:off x="6721845" y="5607152"/>
            <a:ext cx="0" cy="209904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5199282" y="2342047"/>
            <a:ext cx="3045126" cy="388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{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u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} 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任選</a:t>
            </a:r>
            <a:endParaRPr lang="zh-TW" altLang="en-US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199282" y="5817056"/>
            <a:ext cx="3045126" cy="388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加入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E(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i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55" name="直線單箭頭接點 54"/>
          <p:cNvCxnSpPr>
            <a:stCxn id="13" idx="2"/>
            <a:endCxn id="46" idx="0"/>
          </p:cNvCxnSpPr>
          <p:nvPr/>
        </p:nvCxnSpPr>
        <p:spPr>
          <a:xfrm>
            <a:off x="6721845" y="2130748"/>
            <a:ext cx="0" cy="21129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 flipH="1">
            <a:off x="7046773" y="4773983"/>
            <a:ext cx="69010" cy="14664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27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8" grpId="0" animBg="1"/>
      <p:bldP spid="35" grpId="0" animBg="1"/>
      <p:bldP spid="46" grpId="0" animBg="1"/>
      <p:bldP spid="5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Prim</a:t>
            </a:r>
            <a:r>
              <a:rPr lang="zh-TW" altLang="en-US" dirty="0"/>
              <a:t> 演算法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逐一選擇適當的邊加入展開樹</a:t>
            </a:r>
            <a:r>
              <a:rPr lang="en-US" altLang="zh-TW" i="1" dirty="0"/>
              <a:t>T</a:t>
            </a:r>
            <a:r>
              <a:rPr lang="zh-TW" altLang="en-US" dirty="0"/>
              <a:t>中</a:t>
            </a:r>
            <a:endParaRPr lang="en-US" altLang="zh-TW" dirty="0"/>
          </a:p>
          <a:p>
            <a:pPr lvl="1"/>
            <a:r>
              <a:rPr lang="zh-TW" altLang="en-US" dirty="0"/>
              <a:t>選一個不在</a:t>
            </a:r>
            <a:r>
              <a:rPr lang="en-US" altLang="zh-TW" i="1" dirty="0"/>
              <a:t>T</a:t>
            </a:r>
            <a:r>
              <a:rPr lang="zh-TW" altLang="en-US" dirty="0"/>
              <a:t>中且最小的邊</a:t>
            </a:r>
            <a:r>
              <a:rPr lang="en-US" altLang="zh-TW" dirty="0"/>
              <a:t>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i="1" dirty="0"/>
              <a:t>u</a:t>
            </a:r>
            <a:r>
              <a:rPr lang="en-US" altLang="zh-TW" dirty="0"/>
              <a:t> </a:t>
            </a:r>
            <a:r>
              <a:rPr lang="en-US" altLang="zh-TW" dirty="0">
                <a:sym typeface="Symbol"/>
              </a:rPr>
              <a:t> </a:t>
            </a:r>
            <a:r>
              <a:rPr lang="en-US" altLang="zh-TW" i="1" dirty="0">
                <a:sym typeface="Symbol"/>
              </a:rPr>
              <a:t>V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T</a:t>
            </a:r>
            <a:r>
              <a:rPr lang="en-US" altLang="zh-TW" dirty="0">
                <a:sym typeface="Symbol"/>
              </a:rPr>
              <a:t>), </a:t>
            </a:r>
            <a:r>
              <a:rPr lang="en-US" altLang="zh-TW" i="1" dirty="0">
                <a:sym typeface="Symbol"/>
              </a:rPr>
              <a:t>v</a:t>
            </a:r>
            <a:r>
              <a:rPr lang="en-US" altLang="zh-TW" dirty="0">
                <a:sym typeface="Symbol"/>
              </a:rPr>
              <a:t>  </a:t>
            </a:r>
            <a:r>
              <a:rPr lang="en-US" altLang="zh-TW" i="1" dirty="0">
                <a:sym typeface="Symbol"/>
              </a:rPr>
              <a:t>V</a:t>
            </a:r>
            <a:r>
              <a:rPr lang="en-US" altLang="zh-TW" dirty="0">
                <a:sym typeface="Symbol"/>
              </a:rPr>
              <a:t>(</a:t>
            </a:r>
            <a:r>
              <a:rPr lang="en-US" altLang="zh-TW" i="1" dirty="0">
                <a:sym typeface="Symbol"/>
              </a:rPr>
              <a:t>T</a:t>
            </a:r>
            <a:r>
              <a:rPr lang="en-US" altLang="zh-TW" dirty="0">
                <a:sym typeface="Symbol"/>
              </a:rPr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0" name="橢圓 29"/>
          <p:cNvSpPr/>
          <p:nvPr/>
        </p:nvSpPr>
        <p:spPr>
          <a:xfrm>
            <a:off x="671122" y="3576738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1271515" y="302587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1271515" y="4128355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1897559" y="3582338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2528674" y="302587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2528674" y="4128355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>
            <a:stCxn id="32" idx="3"/>
            <a:endCxn id="30" idx="7"/>
          </p:cNvCxnSpPr>
          <p:nvPr/>
        </p:nvCxnSpPr>
        <p:spPr>
          <a:xfrm flipH="1">
            <a:off x="916945" y="3271699"/>
            <a:ext cx="396747" cy="3472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6" idx="3"/>
            <a:endCxn id="34" idx="7"/>
          </p:cNvCxnSpPr>
          <p:nvPr/>
        </p:nvCxnSpPr>
        <p:spPr>
          <a:xfrm flipH="1">
            <a:off x="1517338" y="3828161"/>
            <a:ext cx="422398" cy="3423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6" idx="1"/>
            <a:endCxn id="32" idx="5"/>
          </p:cNvCxnSpPr>
          <p:nvPr/>
        </p:nvCxnSpPr>
        <p:spPr>
          <a:xfrm flipH="1" flipV="1">
            <a:off x="1517338" y="3271699"/>
            <a:ext cx="422398" cy="3528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36" idx="7"/>
            <a:endCxn id="38" idx="3"/>
          </p:cNvCxnSpPr>
          <p:nvPr/>
        </p:nvCxnSpPr>
        <p:spPr>
          <a:xfrm flipV="1">
            <a:off x="2143382" y="3271699"/>
            <a:ext cx="427469" cy="3528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36" idx="5"/>
            <a:endCxn id="40" idx="1"/>
          </p:cNvCxnSpPr>
          <p:nvPr/>
        </p:nvCxnSpPr>
        <p:spPr>
          <a:xfrm>
            <a:off x="2143382" y="3828161"/>
            <a:ext cx="427469" cy="3423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32" idx="6"/>
            <a:endCxn id="38" idx="2"/>
          </p:cNvCxnSpPr>
          <p:nvPr/>
        </p:nvCxnSpPr>
        <p:spPr>
          <a:xfrm>
            <a:off x="1559515" y="3169876"/>
            <a:ext cx="9691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38" idx="4"/>
            <a:endCxn id="40" idx="0"/>
          </p:cNvCxnSpPr>
          <p:nvPr/>
        </p:nvCxnSpPr>
        <p:spPr>
          <a:xfrm>
            <a:off x="2672674" y="3313876"/>
            <a:ext cx="0" cy="8144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34" idx="1"/>
            <a:endCxn id="30" idx="5"/>
          </p:cNvCxnSpPr>
          <p:nvPr/>
        </p:nvCxnSpPr>
        <p:spPr>
          <a:xfrm flipH="1" flipV="1">
            <a:off x="916945" y="3822561"/>
            <a:ext cx="396747" cy="3479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40" idx="2"/>
            <a:endCxn id="34" idx="6"/>
          </p:cNvCxnSpPr>
          <p:nvPr/>
        </p:nvCxnSpPr>
        <p:spPr>
          <a:xfrm flipH="1">
            <a:off x="1559515" y="4272355"/>
            <a:ext cx="9691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1894053" y="28724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916945" y="31698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908319" y="389768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1885427" y="42144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2629724" y="35416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1642277" y="316680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1633651" y="38946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2143382" y="31661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2134756" y="38939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3700530" y="35215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橢圓 59"/>
          <p:cNvSpPr/>
          <p:nvPr/>
        </p:nvSpPr>
        <p:spPr>
          <a:xfrm>
            <a:off x="3704606" y="357387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4304999" y="3023008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4299970" y="405031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橢圓 63"/>
          <p:cNvSpPr/>
          <p:nvPr/>
        </p:nvSpPr>
        <p:spPr>
          <a:xfrm>
            <a:off x="4304999" y="4125487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4918911" y="35215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橢圓 65"/>
          <p:cNvSpPr/>
          <p:nvPr/>
        </p:nvSpPr>
        <p:spPr>
          <a:xfrm>
            <a:off x="4931043" y="357947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文字方塊 66"/>
          <p:cNvSpPr txBox="1"/>
          <p:nvPr/>
        </p:nvSpPr>
        <p:spPr>
          <a:xfrm>
            <a:off x="5562158" y="295646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橢圓 67"/>
          <p:cNvSpPr/>
          <p:nvPr/>
        </p:nvSpPr>
        <p:spPr>
          <a:xfrm>
            <a:off x="5562158" y="3023008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文字方塊 68"/>
          <p:cNvSpPr txBox="1"/>
          <p:nvPr/>
        </p:nvSpPr>
        <p:spPr>
          <a:xfrm>
            <a:off x="5573453" y="4058943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橢圓 69"/>
          <p:cNvSpPr/>
          <p:nvPr/>
        </p:nvSpPr>
        <p:spPr>
          <a:xfrm>
            <a:off x="5562158" y="4125487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3950429" y="3167008"/>
            <a:ext cx="396747" cy="449039"/>
            <a:chOff x="3950429" y="3167008"/>
            <a:chExt cx="396747" cy="449039"/>
          </a:xfrm>
        </p:grpSpPr>
        <p:cxnSp>
          <p:nvCxnSpPr>
            <p:cNvPr id="71" name="直線接點 70"/>
            <p:cNvCxnSpPr>
              <a:stCxn id="62" idx="3"/>
              <a:endCxn id="60" idx="7"/>
            </p:cNvCxnSpPr>
            <p:nvPr/>
          </p:nvCxnSpPr>
          <p:spPr>
            <a:xfrm flipH="1">
              <a:off x="3950429" y="3268831"/>
              <a:ext cx="396747" cy="34721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字方塊 80"/>
            <p:cNvSpPr txBox="1"/>
            <p:nvPr/>
          </p:nvSpPr>
          <p:spPr>
            <a:xfrm>
              <a:off x="3950429" y="316700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3941803" y="3819693"/>
            <a:ext cx="405373" cy="444457"/>
            <a:chOff x="3941803" y="3819693"/>
            <a:chExt cx="405373" cy="444457"/>
          </a:xfrm>
        </p:grpSpPr>
        <p:cxnSp>
          <p:nvCxnSpPr>
            <p:cNvPr id="78" name="直線接點 77"/>
            <p:cNvCxnSpPr>
              <a:stCxn id="64" idx="1"/>
              <a:endCxn id="60" idx="5"/>
            </p:cNvCxnSpPr>
            <p:nvPr/>
          </p:nvCxnSpPr>
          <p:spPr>
            <a:xfrm flipH="1" flipV="1">
              <a:off x="3950429" y="3819693"/>
              <a:ext cx="396747" cy="3479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文字方塊 81"/>
            <p:cNvSpPr txBox="1"/>
            <p:nvPr/>
          </p:nvSpPr>
          <p:spPr>
            <a:xfrm>
              <a:off x="3941803" y="389481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4592999" y="4211569"/>
            <a:ext cx="969159" cy="369332"/>
            <a:chOff x="4592999" y="4211569"/>
            <a:chExt cx="969159" cy="369332"/>
          </a:xfrm>
        </p:grpSpPr>
        <p:cxnSp>
          <p:nvCxnSpPr>
            <p:cNvPr id="79" name="直線接點 78"/>
            <p:cNvCxnSpPr>
              <a:stCxn id="70" idx="2"/>
              <a:endCxn id="64" idx="6"/>
            </p:cNvCxnSpPr>
            <p:nvPr/>
          </p:nvCxnSpPr>
          <p:spPr>
            <a:xfrm flipH="1">
              <a:off x="4592999" y="4269487"/>
              <a:ext cx="96915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字方塊 82"/>
            <p:cNvSpPr txBox="1"/>
            <p:nvPr/>
          </p:nvSpPr>
          <p:spPr>
            <a:xfrm>
              <a:off x="4918911" y="42115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5663208" y="3311008"/>
            <a:ext cx="300082" cy="814479"/>
            <a:chOff x="5663208" y="3311008"/>
            <a:chExt cx="300082" cy="814479"/>
          </a:xfrm>
        </p:grpSpPr>
        <p:cxnSp>
          <p:nvCxnSpPr>
            <p:cNvPr id="77" name="直線接點 76"/>
            <p:cNvCxnSpPr>
              <a:stCxn id="68" idx="4"/>
              <a:endCxn id="70" idx="0"/>
            </p:cNvCxnSpPr>
            <p:nvPr/>
          </p:nvCxnSpPr>
          <p:spPr>
            <a:xfrm>
              <a:off x="5706158" y="3311008"/>
              <a:ext cx="0" cy="8144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字方塊 83"/>
            <p:cNvSpPr txBox="1"/>
            <p:nvPr/>
          </p:nvSpPr>
          <p:spPr>
            <a:xfrm>
              <a:off x="5663208" y="35388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4550822" y="3825293"/>
            <a:ext cx="422398" cy="435783"/>
            <a:chOff x="4550822" y="3825293"/>
            <a:chExt cx="422398" cy="435783"/>
          </a:xfrm>
        </p:grpSpPr>
        <p:cxnSp>
          <p:nvCxnSpPr>
            <p:cNvPr id="72" name="直線接點 71"/>
            <p:cNvCxnSpPr>
              <a:stCxn id="66" idx="3"/>
              <a:endCxn id="64" idx="7"/>
            </p:cNvCxnSpPr>
            <p:nvPr/>
          </p:nvCxnSpPr>
          <p:spPr>
            <a:xfrm flipH="1">
              <a:off x="4550822" y="3825293"/>
              <a:ext cx="422398" cy="3423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文字方塊 85"/>
            <p:cNvSpPr txBox="1"/>
            <p:nvPr/>
          </p:nvSpPr>
          <p:spPr>
            <a:xfrm>
              <a:off x="4667135" y="38917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2998331" y="4772793"/>
            <a:ext cx="4365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{                                                 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2997378" y="5172903"/>
            <a:ext cx="4365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{                                                 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" name="文字方塊 2047"/>
          <p:cNvSpPr txBox="1"/>
          <p:nvPr/>
        </p:nvSpPr>
        <p:spPr>
          <a:xfrm>
            <a:off x="3890047" y="4795726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4541982" y="4795726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5167237" y="4790045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3948856" y="517276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4254361" y="51729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4592999" y="5161332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4891479" y="516995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5806659" y="4787100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5218774" y="5178584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6416078" y="4795726"/>
            <a:ext cx="6815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5463976" y="5178584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4299970" y="29589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67046" y="35244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266486" y="29617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1266486" y="4053185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1885427" y="35244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2528674" y="29593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539969" y="406181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直線接點 79"/>
          <p:cNvCxnSpPr/>
          <p:nvPr/>
        </p:nvCxnSpPr>
        <p:spPr>
          <a:xfrm flipH="1">
            <a:off x="2309542" y="2204864"/>
            <a:ext cx="69010" cy="1466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278" y="747882"/>
            <a:ext cx="2413674" cy="351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7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54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6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8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101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118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135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 animBg="1"/>
      <p:bldP spid="62" grpId="0" animBg="1"/>
      <p:bldP spid="63" grpId="0"/>
      <p:bldP spid="64" grpId="0" animBg="1"/>
      <p:bldP spid="65" grpId="0"/>
      <p:bldP spid="66" grpId="0" animBg="1"/>
      <p:bldP spid="67" grpId="0"/>
      <p:bldP spid="68" grpId="0" animBg="1"/>
      <p:bldP spid="69" grpId="0"/>
      <p:bldP spid="70" grpId="0" animBg="1"/>
      <p:bldP spid="28" grpId="0"/>
      <p:bldP spid="90" grpId="0"/>
      <p:bldP spid="2048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1" grpId="0"/>
      <p:bldP spid="102" grpId="0"/>
      <p:bldP spid="6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</a:t>
            </a:r>
            <a:r>
              <a:rPr lang="en-US" altLang="zh-TW" dirty="0"/>
              <a:t> </a:t>
            </a:r>
            <a:r>
              <a:rPr lang="zh-TW" altLang="en-US" dirty="0"/>
              <a:t>演算法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將所有邊</a:t>
            </a:r>
            <a:r>
              <a:rPr lang="zh-TW" altLang="en-US" dirty="0">
                <a:solidFill>
                  <a:srgbClr val="C00000"/>
                </a:solidFill>
              </a:rPr>
              <a:t>由小到大</a:t>
            </a:r>
            <a:r>
              <a:rPr lang="zh-TW" altLang="en-US" dirty="0"/>
              <a:t>排序</a:t>
            </a:r>
            <a:endParaRPr lang="en-US" altLang="zh-TW" dirty="0"/>
          </a:p>
          <a:p>
            <a:r>
              <a:rPr lang="zh-TW" altLang="en-US" dirty="0"/>
              <a:t>逐一將邊加入展開樹</a:t>
            </a:r>
            <a:r>
              <a:rPr lang="en-US" altLang="zh-TW" i="1" dirty="0"/>
              <a:t>T</a:t>
            </a:r>
            <a:r>
              <a:rPr lang="zh-TW" altLang="en-US" dirty="0"/>
              <a:t>中</a:t>
            </a:r>
            <a:endParaRPr lang="en-US" altLang="zh-TW" dirty="0"/>
          </a:p>
          <a:p>
            <a:r>
              <a:rPr lang="zh-TW" altLang="en-US" dirty="0"/>
              <a:t>會造成環路的邊就捨棄</a:t>
            </a:r>
            <a:endParaRPr lang="en-US" altLang="zh-TW" dirty="0"/>
          </a:p>
          <a:p>
            <a:r>
              <a:rPr lang="zh-TW" altLang="en-US" dirty="0"/>
              <a:t>直到</a:t>
            </a:r>
            <a:r>
              <a:rPr lang="en-US" altLang="zh-TW" i="1" dirty="0"/>
              <a:t>T</a:t>
            </a:r>
            <a:r>
              <a:rPr lang="zh-TW" altLang="en-US" dirty="0"/>
              <a:t>的</a:t>
            </a:r>
            <a:r>
              <a:rPr lang="zh-TW" altLang="en-US" dirty="0">
                <a:solidFill>
                  <a:srgbClr val="C00000"/>
                </a:solidFill>
              </a:rPr>
              <a:t>邊數為點數減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5646001" y="1242201"/>
            <a:ext cx="845390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開始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46133" y="1820184"/>
            <a:ext cx="3045126" cy="388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</a:t>
            </a:r>
            <a:endParaRPr lang="zh-TW" altLang="en-US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流程圖: 決策 8"/>
          <p:cNvSpPr/>
          <p:nvPr/>
        </p:nvSpPr>
        <p:spPr>
          <a:xfrm>
            <a:off x="4546133" y="2461399"/>
            <a:ext cx="3045126" cy="83102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|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)| 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– 1 </a:t>
            </a:r>
            <a:endParaRPr lang="zh-TW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46133" y="3559827"/>
            <a:ext cx="3045126" cy="672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選擇尚未選過的邊，且權重最小的邊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流程圖: 決策 10"/>
          <p:cNvSpPr/>
          <p:nvPr/>
        </p:nvSpPr>
        <p:spPr>
          <a:xfrm>
            <a:off x="4546133" y="4563347"/>
            <a:ext cx="3045126" cy="83102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加入會造成環路？</a:t>
            </a:r>
          </a:p>
        </p:txBody>
      </p:sp>
      <p:sp>
        <p:nvSpPr>
          <p:cNvPr id="12" name="矩形 11"/>
          <p:cNvSpPr/>
          <p:nvPr/>
        </p:nvSpPr>
        <p:spPr>
          <a:xfrm>
            <a:off x="4546133" y="5696292"/>
            <a:ext cx="3045126" cy="388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加入</a:t>
            </a:r>
            <a:r>
              <a:rPr lang="en-US" altLang="zh-TW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endParaRPr lang="zh-TW" altLang="en-US" sz="2000" b="1" i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圓角矩形 12"/>
          <p:cNvSpPr/>
          <p:nvPr/>
        </p:nvSpPr>
        <p:spPr>
          <a:xfrm>
            <a:off x="5633061" y="6393586"/>
            <a:ext cx="871269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</a:p>
        </p:txBody>
      </p:sp>
      <p:cxnSp>
        <p:nvCxnSpPr>
          <p:cNvPr id="14" name="直線單箭頭接點 13"/>
          <p:cNvCxnSpPr>
            <a:stCxn id="7" idx="2"/>
            <a:endCxn id="8" idx="0"/>
          </p:cNvCxnSpPr>
          <p:nvPr/>
        </p:nvCxnSpPr>
        <p:spPr>
          <a:xfrm>
            <a:off x="6068696" y="1561378"/>
            <a:ext cx="0" cy="258806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8" idx="2"/>
            <a:endCxn id="9" idx="0"/>
          </p:cNvCxnSpPr>
          <p:nvPr/>
        </p:nvCxnSpPr>
        <p:spPr>
          <a:xfrm>
            <a:off x="6068696" y="2208382"/>
            <a:ext cx="0" cy="253017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0" idx="2"/>
            <a:endCxn id="11" idx="0"/>
          </p:cNvCxnSpPr>
          <p:nvPr/>
        </p:nvCxnSpPr>
        <p:spPr>
          <a:xfrm>
            <a:off x="6068696" y="4232695"/>
            <a:ext cx="0" cy="33065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肘形接點 28"/>
          <p:cNvCxnSpPr>
            <a:stCxn id="12" idx="2"/>
            <a:endCxn id="9" idx="3"/>
          </p:cNvCxnSpPr>
          <p:nvPr/>
        </p:nvCxnSpPr>
        <p:spPr>
          <a:xfrm rot="5400000" flipH="1" flipV="1">
            <a:off x="5226187" y="3719418"/>
            <a:ext cx="3207580" cy="1522563"/>
          </a:xfrm>
          <a:prstGeom prst="bentConnector4">
            <a:avLst>
              <a:gd name="adj1" fmla="val -7127"/>
              <a:gd name="adj2" fmla="val 148442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群組 39"/>
          <p:cNvGrpSpPr/>
          <p:nvPr/>
        </p:nvGrpSpPr>
        <p:grpSpPr>
          <a:xfrm>
            <a:off x="6024367" y="3194221"/>
            <a:ext cx="441146" cy="400110"/>
            <a:chOff x="6024367" y="3194221"/>
            <a:chExt cx="441146" cy="400110"/>
          </a:xfrm>
        </p:grpSpPr>
        <p:cxnSp>
          <p:nvCxnSpPr>
            <p:cNvPr id="20" name="直線單箭頭接點 19"/>
            <p:cNvCxnSpPr>
              <a:stCxn id="9" idx="2"/>
              <a:endCxn id="10" idx="0"/>
            </p:cNvCxnSpPr>
            <p:nvPr/>
          </p:nvCxnSpPr>
          <p:spPr>
            <a:xfrm>
              <a:off x="6068696" y="3292421"/>
              <a:ext cx="0" cy="267406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/>
            <p:cNvSpPr txBox="1"/>
            <p:nvPr/>
          </p:nvSpPr>
          <p:spPr>
            <a:xfrm>
              <a:off x="6024367" y="3194221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是</a:t>
              </a:r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7591259" y="4621878"/>
            <a:ext cx="759111" cy="400110"/>
            <a:chOff x="7591259" y="4621878"/>
            <a:chExt cx="759111" cy="400110"/>
          </a:xfrm>
        </p:grpSpPr>
        <p:cxnSp>
          <p:nvCxnSpPr>
            <p:cNvPr id="36" name="直線單箭頭接點 35"/>
            <p:cNvCxnSpPr>
              <a:stCxn id="11" idx="3"/>
            </p:cNvCxnSpPr>
            <p:nvPr/>
          </p:nvCxnSpPr>
          <p:spPr>
            <a:xfrm>
              <a:off x="7591259" y="4978858"/>
              <a:ext cx="759111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7750241" y="462187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是</a:t>
              </a:r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3950895" y="2876909"/>
            <a:ext cx="1682166" cy="3676265"/>
            <a:chOff x="3950895" y="2876909"/>
            <a:chExt cx="1682166" cy="3676265"/>
          </a:xfrm>
        </p:grpSpPr>
        <p:cxnSp>
          <p:nvCxnSpPr>
            <p:cNvPr id="32" name="肘形接點 31"/>
            <p:cNvCxnSpPr>
              <a:stCxn id="9" idx="1"/>
              <a:endCxn id="13" idx="1"/>
            </p:cNvCxnSpPr>
            <p:nvPr/>
          </p:nvCxnSpPr>
          <p:spPr>
            <a:xfrm rot="10800000" flipH="1" flipV="1">
              <a:off x="4546133" y="2876909"/>
              <a:ext cx="1086928" cy="3676265"/>
            </a:xfrm>
            <a:prstGeom prst="bentConnector3">
              <a:avLst>
                <a:gd name="adj1" fmla="val -21032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字方塊 42"/>
            <p:cNvSpPr txBox="1"/>
            <p:nvPr/>
          </p:nvSpPr>
          <p:spPr>
            <a:xfrm>
              <a:off x="3950895" y="324145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否</a:t>
              </a: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6012628" y="5343412"/>
            <a:ext cx="415498" cy="369332"/>
            <a:chOff x="6012628" y="5343412"/>
            <a:chExt cx="415498" cy="369332"/>
          </a:xfrm>
        </p:grpSpPr>
        <p:cxnSp>
          <p:nvCxnSpPr>
            <p:cNvPr id="26" name="直線單箭頭接點 25"/>
            <p:cNvCxnSpPr>
              <a:stCxn id="11" idx="2"/>
              <a:endCxn id="12" idx="0"/>
            </p:cNvCxnSpPr>
            <p:nvPr/>
          </p:nvCxnSpPr>
          <p:spPr>
            <a:xfrm>
              <a:off x="6068696" y="5394369"/>
              <a:ext cx="0" cy="301923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字方塊 44"/>
            <p:cNvSpPr txBox="1"/>
            <p:nvPr/>
          </p:nvSpPr>
          <p:spPr>
            <a:xfrm>
              <a:off x="6012628" y="534341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966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</a:t>
            </a:r>
            <a:r>
              <a:rPr lang="en-US" altLang="zh-TW" dirty="0"/>
              <a:t> </a:t>
            </a:r>
            <a:r>
              <a:rPr lang="zh-TW" altLang="en-US" dirty="0"/>
              <a:t>演算法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將所有邊由小到大排序</a:t>
            </a:r>
            <a:endParaRPr lang="en-US" altLang="zh-TW" dirty="0"/>
          </a:p>
          <a:p>
            <a:r>
              <a:rPr lang="zh-TW" altLang="en-US" dirty="0"/>
              <a:t>逐一將邊加入展開樹</a:t>
            </a:r>
            <a:r>
              <a:rPr lang="en-US" altLang="zh-TW" i="1" dirty="0"/>
              <a:t>T</a:t>
            </a:r>
            <a:r>
              <a:rPr lang="zh-TW" altLang="en-US" dirty="0"/>
              <a:t>中</a:t>
            </a:r>
            <a:endParaRPr lang="en-US" altLang="zh-TW" dirty="0"/>
          </a:p>
          <a:p>
            <a:r>
              <a:rPr lang="zh-TW" altLang="en-US" dirty="0"/>
              <a:t>會造成環路的邊就捨棄</a:t>
            </a:r>
            <a:endParaRPr lang="en-US" altLang="zh-TW" dirty="0"/>
          </a:p>
          <a:p>
            <a:r>
              <a:rPr lang="zh-TW" altLang="en-US" dirty="0"/>
              <a:t>直到</a:t>
            </a:r>
            <a:r>
              <a:rPr lang="en-US" altLang="zh-TW" i="1" dirty="0"/>
              <a:t>T</a:t>
            </a:r>
            <a:r>
              <a:rPr lang="zh-TW" altLang="en-US" dirty="0"/>
              <a:t>的邊數為點數減</a:t>
            </a:r>
            <a:r>
              <a:rPr lang="en-US" altLang="zh-TW" dirty="0"/>
              <a:t>1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44412" y="49643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248488" y="5016654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843852" y="44017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848881" y="4465792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843852" y="549310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848881" y="556827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1462793" y="49643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1474925" y="5022254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2106040" y="4399248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2106040" y="4465792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117335" y="5501727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2106040" y="556827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>
            <a:stCxn id="11" idx="3"/>
            <a:endCxn id="9" idx="7"/>
          </p:cNvCxnSpPr>
          <p:nvPr/>
        </p:nvCxnSpPr>
        <p:spPr>
          <a:xfrm flipH="1">
            <a:off x="494311" y="4711615"/>
            <a:ext cx="396747" cy="3472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5" idx="3"/>
            <a:endCxn id="13" idx="7"/>
          </p:cNvCxnSpPr>
          <p:nvPr/>
        </p:nvCxnSpPr>
        <p:spPr>
          <a:xfrm flipH="1">
            <a:off x="1094704" y="5268077"/>
            <a:ext cx="422398" cy="3423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5" idx="1"/>
            <a:endCxn id="11" idx="5"/>
          </p:cNvCxnSpPr>
          <p:nvPr/>
        </p:nvCxnSpPr>
        <p:spPr>
          <a:xfrm flipH="1" flipV="1">
            <a:off x="1094704" y="4711615"/>
            <a:ext cx="422398" cy="3528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5" idx="7"/>
            <a:endCxn id="17" idx="3"/>
          </p:cNvCxnSpPr>
          <p:nvPr/>
        </p:nvCxnSpPr>
        <p:spPr>
          <a:xfrm flipV="1">
            <a:off x="1720748" y="4711615"/>
            <a:ext cx="427469" cy="3528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15" idx="5"/>
            <a:endCxn id="19" idx="1"/>
          </p:cNvCxnSpPr>
          <p:nvPr/>
        </p:nvCxnSpPr>
        <p:spPr>
          <a:xfrm>
            <a:off x="1720748" y="5268077"/>
            <a:ext cx="427469" cy="3423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11" idx="6"/>
            <a:endCxn id="17" idx="2"/>
          </p:cNvCxnSpPr>
          <p:nvPr/>
        </p:nvCxnSpPr>
        <p:spPr>
          <a:xfrm>
            <a:off x="1136881" y="4609792"/>
            <a:ext cx="9691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17" idx="4"/>
            <a:endCxn id="19" idx="0"/>
          </p:cNvCxnSpPr>
          <p:nvPr/>
        </p:nvCxnSpPr>
        <p:spPr>
          <a:xfrm>
            <a:off x="2250040" y="4753792"/>
            <a:ext cx="0" cy="8144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13" idx="1"/>
            <a:endCxn id="9" idx="5"/>
          </p:cNvCxnSpPr>
          <p:nvPr/>
        </p:nvCxnSpPr>
        <p:spPr>
          <a:xfrm flipH="1" flipV="1">
            <a:off x="494311" y="5262477"/>
            <a:ext cx="396747" cy="3479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>
            <a:stCxn id="19" idx="2"/>
            <a:endCxn id="13" idx="6"/>
          </p:cNvCxnSpPr>
          <p:nvPr/>
        </p:nvCxnSpPr>
        <p:spPr>
          <a:xfrm flipH="1">
            <a:off x="1136881" y="5712271"/>
            <a:ext cx="9691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字方塊 86"/>
          <p:cNvSpPr txBox="1"/>
          <p:nvPr/>
        </p:nvSpPr>
        <p:spPr>
          <a:xfrm>
            <a:off x="1471419" y="431234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494311" y="460979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485685" y="533760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1462793" y="565435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2207090" y="49815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1219643" y="460671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1211017" y="53345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1720748" y="46060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1712122" y="53338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1" name="群組 100"/>
          <p:cNvGrpSpPr/>
          <p:nvPr/>
        </p:nvGrpSpPr>
        <p:grpSpPr>
          <a:xfrm>
            <a:off x="3333367" y="4127462"/>
            <a:ext cx="1064374" cy="464674"/>
            <a:chOff x="3761703" y="3899002"/>
            <a:chExt cx="1064374" cy="464674"/>
          </a:xfrm>
        </p:grpSpPr>
        <p:sp>
          <p:nvSpPr>
            <p:cNvPr id="97" name="橢圓 96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8" name="橢圓 97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9" name="直線接點 98"/>
            <p:cNvCxnSpPr>
              <a:stCxn id="97" idx="6"/>
              <a:endCxn id="98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字方塊 101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文字方塊 102"/>
            <p:cNvSpPr txBox="1"/>
            <p:nvPr/>
          </p:nvSpPr>
          <p:spPr>
            <a:xfrm>
              <a:off x="3761703" y="399434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文字方塊 103"/>
            <p:cNvSpPr txBox="1"/>
            <p:nvPr/>
          </p:nvSpPr>
          <p:spPr>
            <a:xfrm>
              <a:off x="4525995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6" name="群組 105"/>
          <p:cNvGrpSpPr/>
          <p:nvPr/>
        </p:nvGrpSpPr>
        <p:grpSpPr>
          <a:xfrm>
            <a:off x="3341993" y="4574250"/>
            <a:ext cx="1060918" cy="464674"/>
            <a:chOff x="3761703" y="3899002"/>
            <a:chExt cx="1060918" cy="464674"/>
          </a:xfrm>
        </p:grpSpPr>
        <p:sp>
          <p:nvSpPr>
            <p:cNvPr id="107" name="橢圓 106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8" name="橢圓 107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9" name="直線接點 108"/>
            <p:cNvCxnSpPr>
              <a:stCxn id="107" idx="6"/>
              <a:endCxn id="108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字方塊 109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文字方塊 110"/>
            <p:cNvSpPr txBox="1"/>
            <p:nvPr/>
          </p:nvSpPr>
          <p:spPr>
            <a:xfrm>
              <a:off x="3761703" y="399434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文字方塊 111"/>
            <p:cNvSpPr txBox="1"/>
            <p:nvPr/>
          </p:nvSpPr>
          <p:spPr>
            <a:xfrm>
              <a:off x="4525995" y="3994344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0" name="群組 119"/>
          <p:cNvGrpSpPr/>
          <p:nvPr/>
        </p:nvGrpSpPr>
        <p:grpSpPr>
          <a:xfrm>
            <a:off x="3350619" y="5003704"/>
            <a:ext cx="1060918" cy="464674"/>
            <a:chOff x="3761703" y="3899002"/>
            <a:chExt cx="1060918" cy="464674"/>
          </a:xfrm>
        </p:grpSpPr>
        <p:sp>
          <p:nvSpPr>
            <p:cNvPr id="121" name="橢圓 120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2" name="橢圓 121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3" name="直線接點 122"/>
            <p:cNvCxnSpPr>
              <a:stCxn id="121" idx="6"/>
              <a:endCxn id="122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字方塊 123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文字方塊 124"/>
            <p:cNvSpPr txBox="1"/>
            <p:nvPr/>
          </p:nvSpPr>
          <p:spPr>
            <a:xfrm>
              <a:off x="3761703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文字方塊 125"/>
            <p:cNvSpPr txBox="1"/>
            <p:nvPr/>
          </p:nvSpPr>
          <p:spPr>
            <a:xfrm>
              <a:off x="4525995" y="3994344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7" name="群組 126"/>
          <p:cNvGrpSpPr/>
          <p:nvPr/>
        </p:nvGrpSpPr>
        <p:grpSpPr>
          <a:xfrm>
            <a:off x="3359245" y="5450492"/>
            <a:ext cx="1060918" cy="464674"/>
            <a:chOff x="3761703" y="3899002"/>
            <a:chExt cx="1060918" cy="464674"/>
          </a:xfrm>
        </p:grpSpPr>
        <p:sp>
          <p:nvSpPr>
            <p:cNvPr id="128" name="橢圓 127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9" name="橢圓 128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30" name="直線接點 129"/>
            <p:cNvCxnSpPr>
              <a:stCxn id="128" idx="6"/>
              <a:endCxn id="129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文字方塊 130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文字方塊 131"/>
            <p:cNvSpPr txBox="1"/>
            <p:nvPr/>
          </p:nvSpPr>
          <p:spPr>
            <a:xfrm>
              <a:off x="3761703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文字方塊 132"/>
            <p:cNvSpPr txBox="1"/>
            <p:nvPr/>
          </p:nvSpPr>
          <p:spPr>
            <a:xfrm>
              <a:off x="4525995" y="399434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群組 30"/>
          <p:cNvGrpSpPr/>
          <p:nvPr/>
        </p:nvGrpSpPr>
        <p:grpSpPr>
          <a:xfrm>
            <a:off x="6719670" y="4970094"/>
            <a:ext cx="300082" cy="369332"/>
            <a:chOff x="6719670" y="4970094"/>
            <a:chExt cx="300082" cy="369332"/>
          </a:xfrm>
        </p:grpSpPr>
        <p:sp>
          <p:nvSpPr>
            <p:cNvPr id="134" name="文字方塊 133"/>
            <p:cNvSpPr txBox="1"/>
            <p:nvPr/>
          </p:nvSpPr>
          <p:spPr>
            <a:xfrm>
              <a:off x="6719670" y="497009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橢圓 134"/>
            <p:cNvSpPr/>
            <p:nvPr/>
          </p:nvSpPr>
          <p:spPr>
            <a:xfrm>
              <a:off x="6723746" y="502241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7319110" y="4407470"/>
            <a:ext cx="300082" cy="369332"/>
            <a:chOff x="7319110" y="4407470"/>
            <a:chExt cx="300082" cy="369332"/>
          </a:xfrm>
        </p:grpSpPr>
        <p:sp>
          <p:nvSpPr>
            <p:cNvPr id="136" name="文字方塊 135"/>
            <p:cNvSpPr txBox="1"/>
            <p:nvPr/>
          </p:nvSpPr>
          <p:spPr>
            <a:xfrm>
              <a:off x="7319110" y="440747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橢圓 136"/>
            <p:cNvSpPr/>
            <p:nvPr/>
          </p:nvSpPr>
          <p:spPr>
            <a:xfrm>
              <a:off x="7324139" y="447155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7319110" y="5498859"/>
            <a:ext cx="293029" cy="369332"/>
            <a:chOff x="7319110" y="5498859"/>
            <a:chExt cx="293029" cy="369332"/>
          </a:xfrm>
        </p:grpSpPr>
        <p:sp>
          <p:nvSpPr>
            <p:cNvPr id="138" name="文字方塊 137"/>
            <p:cNvSpPr txBox="1"/>
            <p:nvPr/>
          </p:nvSpPr>
          <p:spPr>
            <a:xfrm>
              <a:off x="7319110" y="5498859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橢圓 138"/>
            <p:cNvSpPr/>
            <p:nvPr/>
          </p:nvSpPr>
          <p:spPr>
            <a:xfrm>
              <a:off x="7324139" y="5574029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7938051" y="4970094"/>
            <a:ext cx="300132" cy="369332"/>
            <a:chOff x="7938051" y="4970094"/>
            <a:chExt cx="300132" cy="369332"/>
          </a:xfrm>
        </p:grpSpPr>
        <p:sp>
          <p:nvSpPr>
            <p:cNvPr id="140" name="文字方塊 139"/>
            <p:cNvSpPr txBox="1"/>
            <p:nvPr/>
          </p:nvSpPr>
          <p:spPr>
            <a:xfrm>
              <a:off x="7938051" y="497009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橢圓 140"/>
            <p:cNvSpPr/>
            <p:nvPr/>
          </p:nvSpPr>
          <p:spPr>
            <a:xfrm>
              <a:off x="7950183" y="502801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8581298" y="4405006"/>
            <a:ext cx="288000" cy="369332"/>
            <a:chOff x="8581298" y="4405006"/>
            <a:chExt cx="288000" cy="369332"/>
          </a:xfrm>
        </p:grpSpPr>
        <p:sp>
          <p:nvSpPr>
            <p:cNvPr id="142" name="文字方塊 141"/>
            <p:cNvSpPr txBox="1"/>
            <p:nvPr/>
          </p:nvSpPr>
          <p:spPr>
            <a:xfrm>
              <a:off x="8581298" y="4405006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橢圓 142"/>
            <p:cNvSpPr/>
            <p:nvPr/>
          </p:nvSpPr>
          <p:spPr>
            <a:xfrm>
              <a:off x="8581298" y="447155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8581298" y="5507485"/>
            <a:ext cx="288000" cy="369332"/>
            <a:chOff x="8581298" y="5507485"/>
            <a:chExt cx="288000" cy="369332"/>
          </a:xfrm>
        </p:grpSpPr>
        <p:sp>
          <p:nvSpPr>
            <p:cNvPr id="144" name="文字方塊 143"/>
            <p:cNvSpPr txBox="1"/>
            <p:nvPr/>
          </p:nvSpPr>
          <p:spPr>
            <a:xfrm>
              <a:off x="8592593" y="550748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橢圓 144"/>
            <p:cNvSpPr/>
            <p:nvPr/>
          </p:nvSpPr>
          <p:spPr>
            <a:xfrm>
              <a:off x="8581298" y="5574029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6969569" y="4615550"/>
            <a:ext cx="396747" cy="449039"/>
            <a:chOff x="6969569" y="4615550"/>
            <a:chExt cx="396747" cy="449039"/>
          </a:xfrm>
        </p:grpSpPr>
        <p:cxnSp>
          <p:nvCxnSpPr>
            <p:cNvPr id="146" name="直線接點 145"/>
            <p:cNvCxnSpPr>
              <a:stCxn id="137" idx="3"/>
              <a:endCxn id="135" idx="7"/>
            </p:cNvCxnSpPr>
            <p:nvPr/>
          </p:nvCxnSpPr>
          <p:spPr>
            <a:xfrm flipH="1">
              <a:off x="6969569" y="4717373"/>
              <a:ext cx="396747" cy="34721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文字方塊 155"/>
            <p:cNvSpPr txBox="1"/>
            <p:nvPr/>
          </p:nvSpPr>
          <p:spPr>
            <a:xfrm>
              <a:off x="6969569" y="461555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6960943" y="5268235"/>
            <a:ext cx="405373" cy="444457"/>
            <a:chOff x="6960943" y="5268235"/>
            <a:chExt cx="405373" cy="444457"/>
          </a:xfrm>
        </p:grpSpPr>
        <p:cxnSp>
          <p:nvCxnSpPr>
            <p:cNvPr id="153" name="直線接點 152"/>
            <p:cNvCxnSpPr>
              <a:stCxn id="139" idx="1"/>
              <a:endCxn id="135" idx="5"/>
            </p:cNvCxnSpPr>
            <p:nvPr/>
          </p:nvCxnSpPr>
          <p:spPr>
            <a:xfrm flipH="1" flipV="1">
              <a:off x="6969569" y="5268235"/>
              <a:ext cx="396747" cy="3479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文字方塊 156"/>
            <p:cNvSpPr txBox="1"/>
            <p:nvPr/>
          </p:nvSpPr>
          <p:spPr>
            <a:xfrm>
              <a:off x="6960943" y="534336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7612139" y="5660111"/>
            <a:ext cx="969159" cy="369332"/>
            <a:chOff x="7612139" y="5660111"/>
            <a:chExt cx="969159" cy="369332"/>
          </a:xfrm>
        </p:grpSpPr>
        <p:cxnSp>
          <p:nvCxnSpPr>
            <p:cNvPr id="154" name="直線接點 153"/>
            <p:cNvCxnSpPr>
              <a:stCxn id="145" idx="2"/>
              <a:endCxn id="139" idx="6"/>
            </p:cNvCxnSpPr>
            <p:nvPr/>
          </p:nvCxnSpPr>
          <p:spPr>
            <a:xfrm flipH="1">
              <a:off x="7612139" y="5718029"/>
              <a:ext cx="96915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文字方塊 157"/>
            <p:cNvSpPr txBox="1"/>
            <p:nvPr/>
          </p:nvSpPr>
          <p:spPr>
            <a:xfrm>
              <a:off x="7938051" y="566011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8682348" y="4759550"/>
            <a:ext cx="300082" cy="814479"/>
            <a:chOff x="8682348" y="4759550"/>
            <a:chExt cx="300082" cy="814479"/>
          </a:xfrm>
        </p:grpSpPr>
        <p:cxnSp>
          <p:nvCxnSpPr>
            <p:cNvPr id="152" name="直線接點 151"/>
            <p:cNvCxnSpPr>
              <a:stCxn id="143" idx="4"/>
              <a:endCxn id="145" idx="0"/>
            </p:cNvCxnSpPr>
            <p:nvPr/>
          </p:nvCxnSpPr>
          <p:spPr>
            <a:xfrm>
              <a:off x="8725298" y="4759550"/>
              <a:ext cx="0" cy="8144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文字方塊 158"/>
            <p:cNvSpPr txBox="1"/>
            <p:nvPr/>
          </p:nvSpPr>
          <p:spPr>
            <a:xfrm>
              <a:off x="8682348" y="498734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7569962" y="5273835"/>
            <a:ext cx="422398" cy="435783"/>
            <a:chOff x="7569962" y="5273835"/>
            <a:chExt cx="422398" cy="435783"/>
          </a:xfrm>
        </p:grpSpPr>
        <p:cxnSp>
          <p:nvCxnSpPr>
            <p:cNvPr id="147" name="直線接點 146"/>
            <p:cNvCxnSpPr>
              <a:stCxn id="141" idx="3"/>
              <a:endCxn id="139" idx="7"/>
            </p:cNvCxnSpPr>
            <p:nvPr/>
          </p:nvCxnSpPr>
          <p:spPr>
            <a:xfrm flipH="1">
              <a:off x="7569962" y="5273835"/>
              <a:ext cx="422398" cy="3423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文字方塊 160"/>
            <p:cNvSpPr txBox="1"/>
            <p:nvPr/>
          </p:nvSpPr>
          <p:spPr>
            <a:xfrm>
              <a:off x="7686275" y="53402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8187380" y="5273835"/>
            <a:ext cx="436095" cy="435142"/>
            <a:chOff x="8187380" y="5273835"/>
            <a:chExt cx="436095" cy="435142"/>
          </a:xfrm>
        </p:grpSpPr>
        <p:cxnSp>
          <p:nvCxnSpPr>
            <p:cNvPr id="150" name="直線接點 149"/>
            <p:cNvCxnSpPr>
              <a:stCxn id="141" idx="5"/>
              <a:endCxn id="145" idx="1"/>
            </p:cNvCxnSpPr>
            <p:nvPr/>
          </p:nvCxnSpPr>
          <p:spPr>
            <a:xfrm>
              <a:off x="8196006" y="5273835"/>
              <a:ext cx="427469" cy="3423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字方塊 162"/>
            <p:cNvSpPr txBox="1"/>
            <p:nvPr/>
          </p:nvSpPr>
          <p:spPr>
            <a:xfrm>
              <a:off x="8187380" y="533964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4" name="群組 163"/>
          <p:cNvGrpSpPr/>
          <p:nvPr/>
        </p:nvGrpSpPr>
        <p:grpSpPr>
          <a:xfrm>
            <a:off x="4719346" y="3876026"/>
            <a:ext cx="1060918" cy="464674"/>
            <a:chOff x="3761703" y="3899002"/>
            <a:chExt cx="1060918" cy="464674"/>
          </a:xfrm>
        </p:grpSpPr>
        <p:sp>
          <p:nvSpPr>
            <p:cNvPr id="165" name="橢圓 164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6" name="橢圓 165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67" name="直線接點 166"/>
            <p:cNvCxnSpPr>
              <a:stCxn id="165" idx="6"/>
              <a:endCxn id="166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文字方塊 167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文字方塊 168"/>
            <p:cNvSpPr txBox="1"/>
            <p:nvPr/>
          </p:nvSpPr>
          <p:spPr>
            <a:xfrm>
              <a:off x="3761703" y="399434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文字方塊 169"/>
            <p:cNvSpPr txBox="1"/>
            <p:nvPr/>
          </p:nvSpPr>
          <p:spPr>
            <a:xfrm>
              <a:off x="4525995" y="3994344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1" name="群組 170"/>
          <p:cNvGrpSpPr/>
          <p:nvPr/>
        </p:nvGrpSpPr>
        <p:grpSpPr>
          <a:xfrm>
            <a:off x="4727972" y="4322814"/>
            <a:ext cx="1064374" cy="464674"/>
            <a:chOff x="3761703" y="3899002"/>
            <a:chExt cx="1064374" cy="464674"/>
          </a:xfrm>
        </p:grpSpPr>
        <p:sp>
          <p:nvSpPr>
            <p:cNvPr id="172" name="橢圓 171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3" name="橢圓 172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4" name="直線接點 173"/>
            <p:cNvCxnSpPr>
              <a:stCxn id="172" idx="6"/>
              <a:endCxn id="173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字方塊 174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文字方塊 175"/>
            <p:cNvSpPr txBox="1"/>
            <p:nvPr/>
          </p:nvSpPr>
          <p:spPr>
            <a:xfrm>
              <a:off x="3761703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文字方塊 176"/>
            <p:cNvSpPr txBox="1"/>
            <p:nvPr/>
          </p:nvSpPr>
          <p:spPr>
            <a:xfrm>
              <a:off x="4525995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8" name="群組 177"/>
          <p:cNvGrpSpPr/>
          <p:nvPr/>
        </p:nvGrpSpPr>
        <p:grpSpPr>
          <a:xfrm>
            <a:off x="4736598" y="4752268"/>
            <a:ext cx="1060918" cy="464674"/>
            <a:chOff x="3761703" y="3899002"/>
            <a:chExt cx="1060918" cy="464674"/>
          </a:xfrm>
        </p:grpSpPr>
        <p:sp>
          <p:nvSpPr>
            <p:cNvPr id="179" name="橢圓 178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0" name="橢圓 179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1" name="直線接點 180"/>
            <p:cNvCxnSpPr>
              <a:stCxn id="179" idx="6"/>
              <a:endCxn id="180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文字方塊 181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文字方塊 182"/>
            <p:cNvSpPr txBox="1"/>
            <p:nvPr/>
          </p:nvSpPr>
          <p:spPr>
            <a:xfrm>
              <a:off x="3761703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文字方塊 183"/>
            <p:cNvSpPr txBox="1"/>
            <p:nvPr/>
          </p:nvSpPr>
          <p:spPr>
            <a:xfrm>
              <a:off x="4525995" y="399434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5" name="群組 184"/>
          <p:cNvGrpSpPr/>
          <p:nvPr/>
        </p:nvGrpSpPr>
        <p:grpSpPr>
          <a:xfrm>
            <a:off x="4745224" y="5199056"/>
            <a:ext cx="1064374" cy="464674"/>
            <a:chOff x="3761703" y="3899002"/>
            <a:chExt cx="1064374" cy="464674"/>
          </a:xfrm>
        </p:grpSpPr>
        <p:sp>
          <p:nvSpPr>
            <p:cNvPr id="186" name="橢圓 185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7" name="橢圓 186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8" name="直線接點 187"/>
            <p:cNvCxnSpPr>
              <a:stCxn id="186" idx="6"/>
              <a:endCxn id="187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字方塊 188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文字方塊 189"/>
            <p:cNvSpPr txBox="1"/>
            <p:nvPr/>
          </p:nvSpPr>
          <p:spPr>
            <a:xfrm>
              <a:off x="3761703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文字方塊 190"/>
            <p:cNvSpPr txBox="1"/>
            <p:nvPr/>
          </p:nvSpPr>
          <p:spPr>
            <a:xfrm>
              <a:off x="4525995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2" name="群組 191"/>
          <p:cNvGrpSpPr/>
          <p:nvPr/>
        </p:nvGrpSpPr>
        <p:grpSpPr>
          <a:xfrm>
            <a:off x="4753850" y="5649812"/>
            <a:ext cx="1060918" cy="464674"/>
            <a:chOff x="3761703" y="3899002"/>
            <a:chExt cx="1060918" cy="464674"/>
          </a:xfrm>
        </p:grpSpPr>
        <p:sp>
          <p:nvSpPr>
            <p:cNvPr id="193" name="橢圓 192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4" name="橢圓 193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95" name="直線接點 194"/>
            <p:cNvCxnSpPr>
              <a:stCxn id="193" idx="6"/>
              <a:endCxn id="194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字方塊 195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文字方塊 196"/>
            <p:cNvSpPr txBox="1"/>
            <p:nvPr/>
          </p:nvSpPr>
          <p:spPr>
            <a:xfrm>
              <a:off x="3761703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文字方塊 197"/>
            <p:cNvSpPr txBox="1"/>
            <p:nvPr/>
          </p:nvSpPr>
          <p:spPr>
            <a:xfrm>
              <a:off x="4525995" y="399434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9" name="十字形 198"/>
          <p:cNvSpPr>
            <a:spLocks noChangeAspect="1"/>
          </p:cNvSpPr>
          <p:nvPr/>
        </p:nvSpPr>
        <p:spPr>
          <a:xfrm rot="2700000">
            <a:off x="8271944" y="5309325"/>
            <a:ext cx="252000" cy="252000"/>
          </a:xfrm>
          <a:prstGeom prst="plus">
            <a:avLst>
              <a:gd name="adj" fmla="val 36182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7" name="圖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681" y="676519"/>
            <a:ext cx="2809374" cy="35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61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animBg="1"/>
      <p:bldP spid="199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最短路徑 </a:t>
            </a:r>
            <a:r>
              <a:rPr lang="en-US" altLang="zh-TW" dirty="0"/>
              <a:t>Shortest path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36</a:t>
            </a:fld>
            <a:endParaRPr lang="en-US" dirty="0"/>
          </a:p>
        </p:txBody>
      </p:sp>
      <p:grpSp>
        <p:nvGrpSpPr>
          <p:cNvPr id="14" name="群組 13"/>
          <p:cNvGrpSpPr/>
          <p:nvPr/>
        </p:nvGrpSpPr>
        <p:grpSpPr>
          <a:xfrm>
            <a:off x="1369380" y="1970119"/>
            <a:ext cx="916823" cy="369332"/>
            <a:chOff x="1369380" y="1970119"/>
            <a:chExt cx="916823" cy="369332"/>
          </a:xfrm>
        </p:grpSpPr>
        <p:cxnSp>
          <p:nvCxnSpPr>
            <p:cNvPr id="24" name="直線接點 23"/>
            <p:cNvCxnSpPr>
              <a:stCxn id="8" idx="2"/>
              <a:endCxn id="7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1310533" y="1669486"/>
            <a:ext cx="419749" cy="486988"/>
            <a:chOff x="1310533" y="1669486"/>
            <a:chExt cx="419749" cy="486988"/>
          </a:xfrm>
        </p:grpSpPr>
        <p:cxnSp>
          <p:nvCxnSpPr>
            <p:cNvPr id="18" name="直線接點 17"/>
            <p:cNvCxnSpPr>
              <a:stCxn id="7" idx="7"/>
              <a:endCxn id="11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字方塊 44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1310533" y="2360120"/>
            <a:ext cx="419749" cy="445481"/>
            <a:chOff x="1310533" y="2360120"/>
            <a:chExt cx="419749" cy="445481"/>
          </a:xfrm>
        </p:grpSpPr>
        <p:cxnSp>
          <p:nvCxnSpPr>
            <p:cNvPr id="12" name="直線接點 11"/>
            <p:cNvCxnSpPr>
              <a:stCxn id="10" idx="1"/>
              <a:endCxn id="7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字方塊 4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1933928" y="1649459"/>
            <a:ext cx="411886" cy="507015"/>
            <a:chOff x="1933928" y="1649459"/>
            <a:chExt cx="411886" cy="507015"/>
          </a:xfrm>
        </p:grpSpPr>
        <p:cxnSp>
          <p:nvCxnSpPr>
            <p:cNvPr id="15" name="直線接點 14"/>
            <p:cNvCxnSpPr>
              <a:stCxn id="8" idx="1"/>
              <a:endCxn id="11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933928" y="2360120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8" idx="3"/>
              <a:endCxn id="10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字方塊 47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2532026" y="1637220"/>
            <a:ext cx="627365" cy="519254"/>
            <a:chOff x="2532026" y="1637220"/>
            <a:chExt cx="627365" cy="519254"/>
          </a:xfrm>
        </p:grpSpPr>
        <p:cxnSp>
          <p:nvCxnSpPr>
            <p:cNvPr id="29" name="直線接點 28"/>
            <p:cNvCxnSpPr>
              <a:stCxn id="28" idx="3"/>
              <a:endCxn id="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字方塊 48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2532026" y="2360120"/>
            <a:ext cx="627365" cy="413215"/>
            <a:chOff x="2532026" y="2360120"/>
            <a:chExt cx="627365" cy="413215"/>
          </a:xfrm>
        </p:grpSpPr>
        <p:cxnSp>
          <p:nvCxnSpPr>
            <p:cNvPr id="32" name="直線接點 31"/>
            <p:cNvCxnSpPr>
              <a:stCxn id="27" idx="1"/>
              <a:endCxn id="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字方塊 49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3363037" y="1649459"/>
            <a:ext cx="653245" cy="507015"/>
            <a:chOff x="3363037" y="1649459"/>
            <a:chExt cx="653245" cy="507015"/>
          </a:xfrm>
        </p:grpSpPr>
        <p:cxnSp>
          <p:nvCxnSpPr>
            <p:cNvPr id="38" name="直線接點 37"/>
            <p:cNvCxnSpPr>
              <a:stCxn id="9" idx="1"/>
              <a:endCxn id="28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字方塊 5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3363037" y="2360120"/>
            <a:ext cx="653245" cy="425454"/>
            <a:chOff x="3363037" y="2360120"/>
            <a:chExt cx="653245" cy="425454"/>
          </a:xfrm>
        </p:grpSpPr>
        <p:cxnSp>
          <p:nvCxnSpPr>
            <p:cNvPr id="35" name="直線接點 34"/>
            <p:cNvCxnSpPr>
              <a:stCxn id="9" idx="3"/>
              <a:endCxn id="27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字方塊 51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1976105" y="2773335"/>
            <a:ext cx="1141109" cy="369332"/>
            <a:chOff x="1976105" y="2773335"/>
            <a:chExt cx="1141109" cy="369332"/>
          </a:xfrm>
        </p:grpSpPr>
        <p:cxnSp>
          <p:nvCxnSpPr>
            <p:cNvPr id="41" name="直線接點 40"/>
            <p:cNvCxnSpPr>
              <a:stCxn id="27" idx="2"/>
              <a:endCxn id="10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1043279" y="2030501"/>
            <a:ext cx="364202" cy="371796"/>
            <a:chOff x="1043279" y="2030501"/>
            <a:chExt cx="364202" cy="371796"/>
          </a:xfrm>
        </p:grpSpPr>
        <p:sp>
          <p:nvSpPr>
            <p:cNvPr id="7" name="橢圓 6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1650004" y="1407205"/>
            <a:ext cx="364202" cy="371672"/>
            <a:chOff x="1650004" y="1407205"/>
            <a:chExt cx="364202" cy="371672"/>
          </a:xfrm>
        </p:grpSpPr>
        <p:sp>
          <p:nvSpPr>
            <p:cNvPr id="11" name="橢圓 10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1650004" y="2626276"/>
            <a:ext cx="364202" cy="371796"/>
            <a:chOff x="1650004" y="2626276"/>
            <a:chExt cx="364202" cy="371796"/>
          </a:xfrm>
        </p:grpSpPr>
        <p:sp>
          <p:nvSpPr>
            <p:cNvPr id="10" name="橢圓 9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2239476" y="2030501"/>
            <a:ext cx="364202" cy="371796"/>
            <a:chOff x="2239476" y="2030501"/>
            <a:chExt cx="364202" cy="371796"/>
          </a:xfrm>
        </p:grpSpPr>
        <p:sp>
          <p:nvSpPr>
            <p:cNvPr id="8" name="橢圓 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3079113" y="1407081"/>
            <a:ext cx="364202" cy="371796"/>
            <a:chOff x="3079113" y="1407081"/>
            <a:chExt cx="364202" cy="371796"/>
          </a:xfrm>
        </p:grpSpPr>
        <p:sp>
          <p:nvSpPr>
            <p:cNvPr id="28" name="橢圓 27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群組 30"/>
          <p:cNvGrpSpPr/>
          <p:nvPr/>
        </p:nvGrpSpPr>
        <p:grpSpPr>
          <a:xfrm>
            <a:off x="3069153" y="2626276"/>
            <a:ext cx="364202" cy="371796"/>
            <a:chOff x="3069153" y="2626276"/>
            <a:chExt cx="364202" cy="371796"/>
          </a:xfrm>
        </p:grpSpPr>
        <p:sp>
          <p:nvSpPr>
            <p:cNvPr id="27" name="橢圓 26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3936004" y="2032019"/>
            <a:ext cx="364202" cy="370278"/>
            <a:chOff x="3936004" y="2032019"/>
            <a:chExt cx="364202" cy="370278"/>
          </a:xfrm>
        </p:grpSpPr>
        <p:sp>
          <p:nvSpPr>
            <p:cNvPr id="9" name="橢圓 8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文字方塊 59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45018" y="4357798"/>
            <a:ext cx="970927" cy="995092"/>
            <a:chOff x="5342376" y="1526244"/>
            <a:chExt cx="970927" cy="995092"/>
          </a:xfrm>
        </p:grpSpPr>
        <p:grpSp>
          <p:nvGrpSpPr>
            <p:cNvPr id="116" name="群組 115"/>
            <p:cNvGrpSpPr/>
            <p:nvPr/>
          </p:nvGrpSpPr>
          <p:grpSpPr>
            <a:xfrm>
              <a:off x="5609630" y="1788525"/>
              <a:ext cx="419749" cy="486988"/>
              <a:chOff x="1310533" y="1669486"/>
              <a:chExt cx="419749" cy="486988"/>
            </a:xfrm>
          </p:grpSpPr>
          <p:cxnSp>
            <p:nvCxnSpPr>
              <p:cNvPr id="117" name="直線接點 116"/>
              <p:cNvCxnSpPr>
                <a:stCxn id="120" idx="7"/>
                <a:endCxn id="123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文字方塊 117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9" name="群組 118"/>
            <p:cNvGrpSpPr/>
            <p:nvPr/>
          </p:nvGrpSpPr>
          <p:grpSpPr>
            <a:xfrm>
              <a:off x="5342376" y="2149540"/>
              <a:ext cx="364202" cy="371796"/>
              <a:chOff x="1043279" y="2030501"/>
              <a:chExt cx="364202" cy="371796"/>
            </a:xfrm>
          </p:grpSpPr>
          <p:sp>
            <p:nvSpPr>
              <p:cNvPr id="120" name="橢圓 119"/>
              <p:cNvSpPr/>
              <p:nvPr/>
            </p:nvSpPr>
            <p:spPr>
              <a:xfrm>
                <a:off x="1081380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1" name="文字方塊 120"/>
              <p:cNvSpPr txBox="1"/>
              <p:nvPr/>
            </p:nvSpPr>
            <p:spPr>
              <a:xfrm>
                <a:off x="1043279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2" name="群組 121"/>
            <p:cNvGrpSpPr/>
            <p:nvPr/>
          </p:nvGrpSpPr>
          <p:grpSpPr>
            <a:xfrm>
              <a:off x="5949101" y="1526244"/>
              <a:ext cx="364202" cy="371672"/>
              <a:chOff x="1650004" y="1407205"/>
              <a:chExt cx="364202" cy="371672"/>
            </a:xfrm>
          </p:grpSpPr>
          <p:sp>
            <p:nvSpPr>
              <p:cNvPr id="123" name="橢圓 122"/>
              <p:cNvSpPr/>
              <p:nvPr/>
            </p:nvSpPr>
            <p:spPr>
              <a:xfrm>
                <a:off x="1688105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4" name="文字方塊 123"/>
              <p:cNvSpPr txBox="1"/>
              <p:nvPr/>
            </p:nvSpPr>
            <p:spPr>
              <a:xfrm>
                <a:off x="1650004" y="1407205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3" name="群組 42"/>
          <p:cNvGrpSpPr/>
          <p:nvPr/>
        </p:nvGrpSpPr>
        <p:grpSpPr>
          <a:xfrm>
            <a:off x="1450650" y="4385319"/>
            <a:ext cx="970927" cy="967571"/>
            <a:chOff x="5342376" y="2626715"/>
            <a:chExt cx="970927" cy="967571"/>
          </a:xfrm>
        </p:grpSpPr>
        <p:grpSp>
          <p:nvGrpSpPr>
            <p:cNvPr id="125" name="群組 124"/>
            <p:cNvGrpSpPr/>
            <p:nvPr/>
          </p:nvGrpSpPr>
          <p:grpSpPr>
            <a:xfrm>
              <a:off x="5609630" y="2956334"/>
              <a:ext cx="419749" cy="445481"/>
              <a:chOff x="1310533" y="2360120"/>
              <a:chExt cx="419749" cy="445481"/>
            </a:xfrm>
          </p:grpSpPr>
          <p:cxnSp>
            <p:nvCxnSpPr>
              <p:cNvPr id="126" name="直線接點 125"/>
              <p:cNvCxnSpPr>
                <a:stCxn id="132" idx="1"/>
                <a:endCxn id="129" idx="5"/>
              </p:cNvCxnSpPr>
              <p:nvPr/>
            </p:nvCxnSpPr>
            <p:spPr>
              <a:xfrm flipH="1" flipV="1">
                <a:off x="1327203" y="2360120"/>
                <a:ext cx="403079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文字方塊 126"/>
              <p:cNvSpPr txBox="1"/>
              <p:nvPr/>
            </p:nvSpPr>
            <p:spPr>
              <a:xfrm>
                <a:off x="1310533" y="243626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8" name="群組 127"/>
            <p:cNvGrpSpPr/>
            <p:nvPr/>
          </p:nvGrpSpPr>
          <p:grpSpPr>
            <a:xfrm>
              <a:off x="5342376" y="2626715"/>
              <a:ext cx="364202" cy="371796"/>
              <a:chOff x="1043279" y="2030501"/>
              <a:chExt cx="364202" cy="371796"/>
            </a:xfrm>
          </p:grpSpPr>
          <p:sp>
            <p:nvSpPr>
              <p:cNvPr id="129" name="橢圓 128"/>
              <p:cNvSpPr/>
              <p:nvPr/>
            </p:nvSpPr>
            <p:spPr>
              <a:xfrm>
                <a:off x="1081380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0" name="文字方塊 129"/>
              <p:cNvSpPr txBox="1"/>
              <p:nvPr/>
            </p:nvSpPr>
            <p:spPr>
              <a:xfrm>
                <a:off x="1043279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1" name="群組 130"/>
            <p:cNvGrpSpPr/>
            <p:nvPr/>
          </p:nvGrpSpPr>
          <p:grpSpPr>
            <a:xfrm>
              <a:off x="5949101" y="3222490"/>
              <a:ext cx="364202" cy="371796"/>
              <a:chOff x="1650004" y="2626276"/>
              <a:chExt cx="364202" cy="371796"/>
            </a:xfrm>
          </p:grpSpPr>
          <p:sp>
            <p:nvSpPr>
              <p:cNvPr id="132" name="橢圓 131"/>
              <p:cNvSpPr/>
              <p:nvPr/>
            </p:nvSpPr>
            <p:spPr>
              <a:xfrm>
                <a:off x="1688105" y="271007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3" name="文字方塊 132"/>
              <p:cNvSpPr txBox="1"/>
              <p:nvPr/>
            </p:nvSpPr>
            <p:spPr>
              <a:xfrm>
                <a:off x="1650004" y="262627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18" name="群組 217"/>
          <p:cNvGrpSpPr/>
          <p:nvPr/>
        </p:nvGrpSpPr>
        <p:grpSpPr>
          <a:xfrm>
            <a:off x="2802548" y="4307199"/>
            <a:ext cx="1560399" cy="995092"/>
            <a:chOff x="6643538" y="1523780"/>
            <a:chExt cx="1560399" cy="995092"/>
          </a:xfrm>
        </p:grpSpPr>
        <p:grpSp>
          <p:nvGrpSpPr>
            <p:cNvPr id="134" name="群組 133"/>
            <p:cNvGrpSpPr/>
            <p:nvPr/>
          </p:nvGrpSpPr>
          <p:grpSpPr>
            <a:xfrm>
              <a:off x="6910792" y="1786061"/>
              <a:ext cx="419749" cy="486988"/>
              <a:chOff x="1310533" y="1669486"/>
              <a:chExt cx="419749" cy="486988"/>
            </a:xfrm>
          </p:grpSpPr>
          <p:cxnSp>
            <p:nvCxnSpPr>
              <p:cNvPr id="135" name="直線接點 134"/>
              <p:cNvCxnSpPr>
                <a:stCxn id="141" idx="7"/>
                <a:endCxn id="144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文字方塊 135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7" name="群組 136"/>
            <p:cNvGrpSpPr/>
            <p:nvPr/>
          </p:nvGrpSpPr>
          <p:grpSpPr>
            <a:xfrm>
              <a:off x="7534187" y="1766034"/>
              <a:ext cx="411886" cy="507015"/>
              <a:chOff x="1933928" y="1649459"/>
              <a:chExt cx="411886" cy="507015"/>
            </a:xfrm>
          </p:grpSpPr>
          <p:cxnSp>
            <p:nvCxnSpPr>
              <p:cNvPr id="138" name="直線接點 137"/>
              <p:cNvCxnSpPr>
                <a:stCxn id="147" idx="1"/>
                <a:endCxn id="144" idx="5"/>
              </p:cNvCxnSpPr>
              <p:nvPr/>
            </p:nvCxnSpPr>
            <p:spPr>
              <a:xfrm flipH="1" flipV="1">
                <a:off x="1933928" y="1736700"/>
                <a:ext cx="394452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文字方塊 138"/>
              <p:cNvSpPr txBox="1"/>
              <p:nvPr/>
            </p:nvSpPr>
            <p:spPr>
              <a:xfrm>
                <a:off x="2045732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0" name="群組 139"/>
            <p:cNvGrpSpPr/>
            <p:nvPr/>
          </p:nvGrpSpPr>
          <p:grpSpPr>
            <a:xfrm>
              <a:off x="6643538" y="2147076"/>
              <a:ext cx="364202" cy="371796"/>
              <a:chOff x="1043279" y="2030501"/>
              <a:chExt cx="364202" cy="371796"/>
            </a:xfrm>
          </p:grpSpPr>
          <p:sp>
            <p:nvSpPr>
              <p:cNvPr id="141" name="橢圓 140"/>
              <p:cNvSpPr/>
              <p:nvPr/>
            </p:nvSpPr>
            <p:spPr>
              <a:xfrm>
                <a:off x="1081380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2" name="文字方塊 141"/>
              <p:cNvSpPr txBox="1"/>
              <p:nvPr/>
            </p:nvSpPr>
            <p:spPr>
              <a:xfrm>
                <a:off x="1043279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3" name="群組 142"/>
            <p:cNvGrpSpPr/>
            <p:nvPr/>
          </p:nvGrpSpPr>
          <p:grpSpPr>
            <a:xfrm>
              <a:off x="7250263" y="1523780"/>
              <a:ext cx="364202" cy="371672"/>
              <a:chOff x="1650004" y="1407205"/>
              <a:chExt cx="364202" cy="371672"/>
            </a:xfrm>
          </p:grpSpPr>
          <p:sp>
            <p:nvSpPr>
              <p:cNvPr id="144" name="橢圓 143"/>
              <p:cNvSpPr/>
              <p:nvPr/>
            </p:nvSpPr>
            <p:spPr>
              <a:xfrm>
                <a:off x="1688105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5" name="文字方塊 144"/>
              <p:cNvSpPr txBox="1"/>
              <p:nvPr/>
            </p:nvSpPr>
            <p:spPr>
              <a:xfrm>
                <a:off x="1650004" y="1407205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6" name="群組 145"/>
            <p:cNvGrpSpPr/>
            <p:nvPr/>
          </p:nvGrpSpPr>
          <p:grpSpPr>
            <a:xfrm>
              <a:off x="7839735" y="2147076"/>
              <a:ext cx="364202" cy="371796"/>
              <a:chOff x="2239476" y="2030501"/>
              <a:chExt cx="364202" cy="371796"/>
            </a:xfrm>
          </p:grpSpPr>
          <p:sp>
            <p:nvSpPr>
              <p:cNvPr id="147" name="橢圓 146"/>
              <p:cNvSpPr/>
              <p:nvPr/>
            </p:nvSpPr>
            <p:spPr>
              <a:xfrm>
                <a:off x="2286203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8" name="文字方塊 147"/>
              <p:cNvSpPr txBox="1"/>
              <p:nvPr/>
            </p:nvSpPr>
            <p:spPr>
              <a:xfrm>
                <a:off x="2239476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0" name="群組 39"/>
          <p:cNvGrpSpPr/>
          <p:nvPr/>
        </p:nvGrpSpPr>
        <p:grpSpPr>
          <a:xfrm>
            <a:off x="5572860" y="3314408"/>
            <a:ext cx="2390076" cy="1590867"/>
            <a:chOff x="5901079" y="3765672"/>
            <a:chExt cx="2390076" cy="1590867"/>
          </a:xfrm>
        </p:grpSpPr>
        <p:grpSp>
          <p:nvGrpSpPr>
            <p:cNvPr id="149" name="群組 148"/>
            <p:cNvGrpSpPr/>
            <p:nvPr/>
          </p:nvGrpSpPr>
          <p:grpSpPr>
            <a:xfrm>
              <a:off x="6168333" y="4027953"/>
              <a:ext cx="419749" cy="486988"/>
              <a:chOff x="1310533" y="1669486"/>
              <a:chExt cx="419749" cy="486988"/>
            </a:xfrm>
          </p:grpSpPr>
          <p:cxnSp>
            <p:nvCxnSpPr>
              <p:cNvPr id="150" name="直線接點 149"/>
              <p:cNvCxnSpPr>
                <a:stCxn id="159" idx="7"/>
                <a:endCxn id="162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文字方塊 150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52" name="群組 151"/>
            <p:cNvGrpSpPr/>
            <p:nvPr/>
          </p:nvGrpSpPr>
          <p:grpSpPr>
            <a:xfrm>
              <a:off x="6791728" y="4007926"/>
              <a:ext cx="411886" cy="507015"/>
              <a:chOff x="1933927" y="1649459"/>
              <a:chExt cx="411887" cy="507014"/>
            </a:xfrm>
          </p:grpSpPr>
          <p:cxnSp>
            <p:nvCxnSpPr>
              <p:cNvPr id="153" name="直線接點 152"/>
              <p:cNvCxnSpPr>
                <a:stCxn id="165" idx="1"/>
                <a:endCxn id="162" idx="5"/>
              </p:cNvCxnSpPr>
              <p:nvPr/>
            </p:nvCxnSpPr>
            <p:spPr>
              <a:xfrm flipH="1" flipV="1">
                <a:off x="1933927" y="1736700"/>
                <a:ext cx="394453" cy="419773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4" name="文字方塊 153"/>
              <p:cNvSpPr txBox="1"/>
              <p:nvPr/>
            </p:nvSpPr>
            <p:spPr>
              <a:xfrm>
                <a:off x="2045732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55" name="群組 154"/>
            <p:cNvGrpSpPr/>
            <p:nvPr/>
          </p:nvGrpSpPr>
          <p:grpSpPr>
            <a:xfrm>
              <a:off x="7389826" y="4718588"/>
              <a:ext cx="627365" cy="413214"/>
              <a:chOff x="2532026" y="2360120"/>
              <a:chExt cx="627365" cy="413215"/>
            </a:xfrm>
          </p:grpSpPr>
          <p:cxnSp>
            <p:nvCxnSpPr>
              <p:cNvPr id="156" name="直線接點 155"/>
              <p:cNvCxnSpPr>
                <a:stCxn id="168" idx="1"/>
                <a:endCxn id="165" idx="5"/>
              </p:cNvCxnSpPr>
              <p:nvPr/>
            </p:nvCxnSpPr>
            <p:spPr>
              <a:xfrm flipH="1" flipV="1">
                <a:off x="2532026" y="2360120"/>
                <a:ext cx="627365" cy="39213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文字方塊 156"/>
              <p:cNvSpPr txBox="1"/>
              <p:nvPr/>
            </p:nvSpPr>
            <p:spPr>
              <a:xfrm>
                <a:off x="2581239" y="240400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58" name="群組 157"/>
            <p:cNvGrpSpPr/>
            <p:nvPr/>
          </p:nvGrpSpPr>
          <p:grpSpPr>
            <a:xfrm>
              <a:off x="5901079" y="4388968"/>
              <a:ext cx="364202" cy="371796"/>
              <a:chOff x="1043279" y="2030501"/>
              <a:chExt cx="364202" cy="371796"/>
            </a:xfrm>
          </p:grpSpPr>
          <p:sp>
            <p:nvSpPr>
              <p:cNvPr id="159" name="橢圓 158"/>
              <p:cNvSpPr/>
              <p:nvPr/>
            </p:nvSpPr>
            <p:spPr>
              <a:xfrm>
                <a:off x="1081380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0" name="文字方塊 159"/>
              <p:cNvSpPr txBox="1"/>
              <p:nvPr/>
            </p:nvSpPr>
            <p:spPr>
              <a:xfrm>
                <a:off x="1043279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1" name="群組 160"/>
            <p:cNvGrpSpPr/>
            <p:nvPr/>
          </p:nvGrpSpPr>
          <p:grpSpPr>
            <a:xfrm>
              <a:off x="6507804" y="3765672"/>
              <a:ext cx="364202" cy="371672"/>
              <a:chOff x="1650004" y="1407205"/>
              <a:chExt cx="364202" cy="371672"/>
            </a:xfrm>
          </p:grpSpPr>
          <p:sp>
            <p:nvSpPr>
              <p:cNvPr id="162" name="橢圓 161"/>
              <p:cNvSpPr/>
              <p:nvPr/>
            </p:nvSpPr>
            <p:spPr>
              <a:xfrm>
                <a:off x="1688105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3" name="文字方塊 162"/>
              <p:cNvSpPr txBox="1"/>
              <p:nvPr/>
            </p:nvSpPr>
            <p:spPr>
              <a:xfrm>
                <a:off x="1650004" y="1407205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4" name="群組 163"/>
            <p:cNvGrpSpPr/>
            <p:nvPr/>
          </p:nvGrpSpPr>
          <p:grpSpPr>
            <a:xfrm>
              <a:off x="7097276" y="4388968"/>
              <a:ext cx="364202" cy="371796"/>
              <a:chOff x="2239476" y="2030501"/>
              <a:chExt cx="364202" cy="371796"/>
            </a:xfrm>
          </p:grpSpPr>
          <p:sp>
            <p:nvSpPr>
              <p:cNvPr id="165" name="橢圓 164"/>
              <p:cNvSpPr/>
              <p:nvPr/>
            </p:nvSpPr>
            <p:spPr>
              <a:xfrm>
                <a:off x="2286203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6" name="文字方塊 165"/>
              <p:cNvSpPr txBox="1"/>
              <p:nvPr/>
            </p:nvSpPr>
            <p:spPr>
              <a:xfrm>
                <a:off x="2239476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7" name="群組 166"/>
            <p:cNvGrpSpPr/>
            <p:nvPr/>
          </p:nvGrpSpPr>
          <p:grpSpPr>
            <a:xfrm>
              <a:off x="7926953" y="4984743"/>
              <a:ext cx="364202" cy="371796"/>
              <a:chOff x="3069153" y="2626276"/>
              <a:chExt cx="364202" cy="371796"/>
            </a:xfrm>
          </p:grpSpPr>
          <p:sp>
            <p:nvSpPr>
              <p:cNvPr id="168" name="橢圓 167"/>
              <p:cNvSpPr/>
              <p:nvPr/>
            </p:nvSpPr>
            <p:spPr>
              <a:xfrm>
                <a:off x="3117214" y="271007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9" name="文字方塊 168"/>
              <p:cNvSpPr txBox="1"/>
              <p:nvPr/>
            </p:nvSpPr>
            <p:spPr>
              <a:xfrm>
                <a:off x="3069153" y="262627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19" name="群組 218"/>
          <p:cNvGrpSpPr/>
          <p:nvPr/>
        </p:nvGrpSpPr>
        <p:grpSpPr>
          <a:xfrm>
            <a:off x="5572860" y="1736700"/>
            <a:ext cx="2400036" cy="995216"/>
            <a:chOff x="6620307" y="2591185"/>
            <a:chExt cx="2400036" cy="995216"/>
          </a:xfrm>
        </p:grpSpPr>
        <p:grpSp>
          <p:nvGrpSpPr>
            <p:cNvPr id="170" name="群組 169"/>
            <p:cNvGrpSpPr/>
            <p:nvPr/>
          </p:nvGrpSpPr>
          <p:grpSpPr>
            <a:xfrm>
              <a:off x="6887561" y="2853590"/>
              <a:ext cx="419749" cy="486988"/>
              <a:chOff x="1310533" y="1669486"/>
              <a:chExt cx="419749" cy="486988"/>
            </a:xfrm>
          </p:grpSpPr>
          <p:cxnSp>
            <p:nvCxnSpPr>
              <p:cNvPr id="171" name="直線接點 170"/>
              <p:cNvCxnSpPr>
                <a:stCxn id="180" idx="7"/>
                <a:endCxn id="183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文字方塊 171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3" name="群組 172"/>
            <p:cNvGrpSpPr/>
            <p:nvPr/>
          </p:nvGrpSpPr>
          <p:grpSpPr>
            <a:xfrm>
              <a:off x="7510956" y="2833563"/>
              <a:ext cx="411886" cy="507015"/>
              <a:chOff x="1933928" y="1649459"/>
              <a:chExt cx="411886" cy="507015"/>
            </a:xfrm>
          </p:grpSpPr>
          <p:cxnSp>
            <p:nvCxnSpPr>
              <p:cNvPr id="174" name="直線接點 173"/>
              <p:cNvCxnSpPr>
                <a:stCxn id="186" idx="1"/>
                <a:endCxn id="183" idx="5"/>
              </p:cNvCxnSpPr>
              <p:nvPr/>
            </p:nvCxnSpPr>
            <p:spPr>
              <a:xfrm flipH="1" flipV="1">
                <a:off x="1933928" y="1736700"/>
                <a:ext cx="394452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文字方塊 174"/>
              <p:cNvSpPr txBox="1"/>
              <p:nvPr/>
            </p:nvSpPr>
            <p:spPr>
              <a:xfrm>
                <a:off x="2045732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6" name="群組 175"/>
            <p:cNvGrpSpPr/>
            <p:nvPr/>
          </p:nvGrpSpPr>
          <p:grpSpPr>
            <a:xfrm>
              <a:off x="8109054" y="2821324"/>
              <a:ext cx="627365" cy="519254"/>
              <a:chOff x="2532026" y="1637220"/>
              <a:chExt cx="627365" cy="519254"/>
            </a:xfrm>
          </p:grpSpPr>
          <p:cxnSp>
            <p:nvCxnSpPr>
              <p:cNvPr id="177" name="直線接點 176"/>
              <p:cNvCxnSpPr>
                <a:stCxn id="189" idx="3"/>
                <a:endCxn id="186" idx="7"/>
              </p:cNvCxnSpPr>
              <p:nvPr/>
            </p:nvCxnSpPr>
            <p:spPr>
              <a:xfrm flipH="1">
                <a:off x="2532026" y="1736700"/>
                <a:ext cx="627365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文字方塊 177"/>
              <p:cNvSpPr txBox="1"/>
              <p:nvPr/>
            </p:nvSpPr>
            <p:spPr>
              <a:xfrm>
                <a:off x="2667499" y="1637220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9" name="群組 178"/>
            <p:cNvGrpSpPr/>
            <p:nvPr/>
          </p:nvGrpSpPr>
          <p:grpSpPr>
            <a:xfrm>
              <a:off x="6620307" y="3214605"/>
              <a:ext cx="364202" cy="371796"/>
              <a:chOff x="1043279" y="2030501"/>
              <a:chExt cx="364202" cy="371796"/>
            </a:xfrm>
          </p:grpSpPr>
          <p:sp>
            <p:nvSpPr>
              <p:cNvPr id="180" name="橢圓 179"/>
              <p:cNvSpPr/>
              <p:nvPr/>
            </p:nvSpPr>
            <p:spPr>
              <a:xfrm>
                <a:off x="1081380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1" name="文字方塊 180"/>
              <p:cNvSpPr txBox="1"/>
              <p:nvPr/>
            </p:nvSpPr>
            <p:spPr>
              <a:xfrm>
                <a:off x="1043279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2" name="群組 181"/>
            <p:cNvGrpSpPr/>
            <p:nvPr/>
          </p:nvGrpSpPr>
          <p:grpSpPr>
            <a:xfrm>
              <a:off x="7227032" y="2591309"/>
              <a:ext cx="364202" cy="371672"/>
              <a:chOff x="1650004" y="1407205"/>
              <a:chExt cx="364202" cy="371672"/>
            </a:xfrm>
          </p:grpSpPr>
          <p:sp>
            <p:nvSpPr>
              <p:cNvPr id="183" name="橢圓 182"/>
              <p:cNvSpPr/>
              <p:nvPr/>
            </p:nvSpPr>
            <p:spPr>
              <a:xfrm>
                <a:off x="1688105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4" name="文字方塊 183"/>
              <p:cNvSpPr txBox="1"/>
              <p:nvPr/>
            </p:nvSpPr>
            <p:spPr>
              <a:xfrm>
                <a:off x="1650004" y="1407205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5" name="群組 184"/>
            <p:cNvGrpSpPr/>
            <p:nvPr/>
          </p:nvGrpSpPr>
          <p:grpSpPr>
            <a:xfrm>
              <a:off x="7816504" y="3214605"/>
              <a:ext cx="364202" cy="371796"/>
              <a:chOff x="2239476" y="2030501"/>
              <a:chExt cx="364202" cy="371796"/>
            </a:xfrm>
          </p:grpSpPr>
          <p:sp>
            <p:nvSpPr>
              <p:cNvPr id="186" name="橢圓 185"/>
              <p:cNvSpPr/>
              <p:nvPr/>
            </p:nvSpPr>
            <p:spPr>
              <a:xfrm>
                <a:off x="2286203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7" name="文字方塊 186"/>
              <p:cNvSpPr txBox="1"/>
              <p:nvPr/>
            </p:nvSpPr>
            <p:spPr>
              <a:xfrm>
                <a:off x="2239476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8" name="群組 187"/>
            <p:cNvGrpSpPr/>
            <p:nvPr/>
          </p:nvGrpSpPr>
          <p:grpSpPr>
            <a:xfrm>
              <a:off x="8656141" y="2591185"/>
              <a:ext cx="364202" cy="371796"/>
              <a:chOff x="3079113" y="1407081"/>
              <a:chExt cx="364202" cy="371796"/>
            </a:xfrm>
          </p:grpSpPr>
          <p:sp>
            <p:nvSpPr>
              <p:cNvPr id="189" name="橢圓 188"/>
              <p:cNvSpPr/>
              <p:nvPr/>
            </p:nvSpPr>
            <p:spPr>
              <a:xfrm>
                <a:off x="3117214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0" name="文字方塊 189"/>
              <p:cNvSpPr txBox="1"/>
              <p:nvPr/>
            </p:nvSpPr>
            <p:spPr>
              <a:xfrm>
                <a:off x="3079113" y="140708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9" name="群組 38"/>
          <p:cNvGrpSpPr/>
          <p:nvPr/>
        </p:nvGrpSpPr>
        <p:grpSpPr>
          <a:xfrm>
            <a:off x="5482797" y="4892951"/>
            <a:ext cx="3256927" cy="1590867"/>
            <a:chOff x="1195679" y="1559605"/>
            <a:chExt cx="3256927" cy="1590867"/>
          </a:xfrm>
        </p:grpSpPr>
        <p:grpSp>
          <p:nvGrpSpPr>
            <p:cNvPr id="191" name="群組 190"/>
            <p:cNvGrpSpPr/>
            <p:nvPr/>
          </p:nvGrpSpPr>
          <p:grpSpPr>
            <a:xfrm>
              <a:off x="1462933" y="1821886"/>
              <a:ext cx="419749" cy="486988"/>
              <a:chOff x="1310533" y="1669486"/>
              <a:chExt cx="419749" cy="486988"/>
            </a:xfrm>
          </p:grpSpPr>
          <p:cxnSp>
            <p:nvCxnSpPr>
              <p:cNvPr id="192" name="直線接點 191"/>
              <p:cNvCxnSpPr>
                <a:stCxn id="204" idx="7"/>
                <a:endCxn id="207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文字方塊 192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4" name="群組 193"/>
            <p:cNvGrpSpPr/>
            <p:nvPr/>
          </p:nvGrpSpPr>
          <p:grpSpPr>
            <a:xfrm>
              <a:off x="2086328" y="1801859"/>
              <a:ext cx="411886" cy="507015"/>
              <a:chOff x="1933928" y="1649459"/>
              <a:chExt cx="411886" cy="507015"/>
            </a:xfrm>
          </p:grpSpPr>
          <p:cxnSp>
            <p:nvCxnSpPr>
              <p:cNvPr id="195" name="直線接點 194"/>
              <p:cNvCxnSpPr>
                <a:stCxn id="210" idx="1"/>
                <a:endCxn id="207" idx="5"/>
              </p:cNvCxnSpPr>
              <p:nvPr/>
            </p:nvCxnSpPr>
            <p:spPr>
              <a:xfrm flipH="1" flipV="1">
                <a:off x="1933928" y="1736700"/>
                <a:ext cx="394452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文字方塊 195"/>
              <p:cNvSpPr txBox="1"/>
              <p:nvPr/>
            </p:nvSpPr>
            <p:spPr>
              <a:xfrm>
                <a:off x="2045732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7" name="群組 196"/>
            <p:cNvGrpSpPr/>
            <p:nvPr/>
          </p:nvGrpSpPr>
          <p:grpSpPr>
            <a:xfrm>
              <a:off x="2684426" y="2512520"/>
              <a:ext cx="627365" cy="413215"/>
              <a:chOff x="2532026" y="2360120"/>
              <a:chExt cx="627365" cy="413215"/>
            </a:xfrm>
          </p:grpSpPr>
          <p:cxnSp>
            <p:nvCxnSpPr>
              <p:cNvPr id="198" name="直線接點 197"/>
              <p:cNvCxnSpPr>
                <a:stCxn id="213" idx="1"/>
                <a:endCxn id="210" idx="5"/>
              </p:cNvCxnSpPr>
              <p:nvPr/>
            </p:nvCxnSpPr>
            <p:spPr>
              <a:xfrm flipH="1" flipV="1">
                <a:off x="2532026" y="2360120"/>
                <a:ext cx="62736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9" name="文字方塊 198"/>
              <p:cNvSpPr txBox="1"/>
              <p:nvPr/>
            </p:nvSpPr>
            <p:spPr>
              <a:xfrm>
                <a:off x="2581239" y="240400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0" name="群組 199"/>
            <p:cNvGrpSpPr/>
            <p:nvPr/>
          </p:nvGrpSpPr>
          <p:grpSpPr>
            <a:xfrm>
              <a:off x="3515437" y="2512520"/>
              <a:ext cx="653245" cy="425454"/>
              <a:chOff x="3363037" y="2360120"/>
              <a:chExt cx="653245" cy="425454"/>
            </a:xfrm>
          </p:grpSpPr>
          <p:cxnSp>
            <p:nvCxnSpPr>
              <p:cNvPr id="201" name="直線接點 200"/>
              <p:cNvCxnSpPr>
                <a:stCxn id="216" idx="3"/>
                <a:endCxn id="213" idx="7"/>
              </p:cNvCxnSpPr>
              <p:nvPr/>
            </p:nvCxnSpPr>
            <p:spPr>
              <a:xfrm flipH="1">
                <a:off x="3363037" y="2360120"/>
                <a:ext cx="65324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2" name="文字方塊 201"/>
              <p:cNvSpPr txBox="1"/>
              <p:nvPr/>
            </p:nvSpPr>
            <p:spPr>
              <a:xfrm>
                <a:off x="3608626" y="2416242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3" name="群組 202"/>
            <p:cNvGrpSpPr/>
            <p:nvPr/>
          </p:nvGrpSpPr>
          <p:grpSpPr>
            <a:xfrm>
              <a:off x="1195679" y="2182901"/>
              <a:ext cx="364202" cy="371796"/>
              <a:chOff x="1043279" y="2030501"/>
              <a:chExt cx="364202" cy="371796"/>
            </a:xfrm>
          </p:grpSpPr>
          <p:sp>
            <p:nvSpPr>
              <p:cNvPr id="204" name="橢圓 203"/>
              <p:cNvSpPr/>
              <p:nvPr/>
            </p:nvSpPr>
            <p:spPr>
              <a:xfrm>
                <a:off x="1081380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5" name="文字方塊 204"/>
              <p:cNvSpPr txBox="1"/>
              <p:nvPr/>
            </p:nvSpPr>
            <p:spPr>
              <a:xfrm>
                <a:off x="1043279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6" name="群組 205"/>
            <p:cNvGrpSpPr/>
            <p:nvPr/>
          </p:nvGrpSpPr>
          <p:grpSpPr>
            <a:xfrm>
              <a:off x="1802404" y="1559605"/>
              <a:ext cx="364202" cy="371672"/>
              <a:chOff x="1650004" y="1407205"/>
              <a:chExt cx="364202" cy="371672"/>
            </a:xfrm>
          </p:grpSpPr>
          <p:sp>
            <p:nvSpPr>
              <p:cNvPr id="207" name="橢圓 206"/>
              <p:cNvSpPr/>
              <p:nvPr/>
            </p:nvSpPr>
            <p:spPr>
              <a:xfrm>
                <a:off x="1688105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8" name="文字方塊 207"/>
              <p:cNvSpPr txBox="1"/>
              <p:nvPr/>
            </p:nvSpPr>
            <p:spPr>
              <a:xfrm>
                <a:off x="1650004" y="1407205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9" name="群組 208"/>
            <p:cNvGrpSpPr/>
            <p:nvPr/>
          </p:nvGrpSpPr>
          <p:grpSpPr>
            <a:xfrm>
              <a:off x="2391876" y="2182901"/>
              <a:ext cx="364202" cy="371796"/>
              <a:chOff x="2239476" y="2030501"/>
              <a:chExt cx="364202" cy="371796"/>
            </a:xfrm>
          </p:grpSpPr>
          <p:sp>
            <p:nvSpPr>
              <p:cNvPr id="210" name="橢圓 209"/>
              <p:cNvSpPr/>
              <p:nvPr/>
            </p:nvSpPr>
            <p:spPr>
              <a:xfrm>
                <a:off x="2286203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1" name="文字方塊 210"/>
              <p:cNvSpPr txBox="1"/>
              <p:nvPr/>
            </p:nvSpPr>
            <p:spPr>
              <a:xfrm>
                <a:off x="2239476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2" name="群組 211"/>
            <p:cNvGrpSpPr/>
            <p:nvPr/>
          </p:nvGrpSpPr>
          <p:grpSpPr>
            <a:xfrm>
              <a:off x="3221553" y="2778676"/>
              <a:ext cx="364202" cy="371796"/>
              <a:chOff x="3069153" y="2626276"/>
              <a:chExt cx="364202" cy="371796"/>
            </a:xfrm>
          </p:grpSpPr>
          <p:sp>
            <p:nvSpPr>
              <p:cNvPr id="213" name="橢圓 212"/>
              <p:cNvSpPr/>
              <p:nvPr/>
            </p:nvSpPr>
            <p:spPr>
              <a:xfrm>
                <a:off x="3117214" y="271007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4" name="文字方塊 213"/>
              <p:cNvSpPr txBox="1"/>
              <p:nvPr/>
            </p:nvSpPr>
            <p:spPr>
              <a:xfrm>
                <a:off x="3069153" y="262627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5" name="群組 214"/>
            <p:cNvGrpSpPr/>
            <p:nvPr/>
          </p:nvGrpSpPr>
          <p:grpSpPr>
            <a:xfrm>
              <a:off x="4088404" y="2184419"/>
              <a:ext cx="364202" cy="370278"/>
              <a:chOff x="3936004" y="2032019"/>
              <a:chExt cx="364202" cy="370278"/>
            </a:xfrm>
          </p:grpSpPr>
          <p:sp>
            <p:nvSpPr>
              <p:cNvPr id="216" name="橢圓 215"/>
              <p:cNvSpPr/>
              <p:nvPr/>
            </p:nvSpPr>
            <p:spPr>
              <a:xfrm>
                <a:off x="3974105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7" name="文字方塊 216"/>
              <p:cNvSpPr txBox="1"/>
              <p:nvPr/>
            </p:nvSpPr>
            <p:spPr>
              <a:xfrm>
                <a:off x="3936004" y="2032019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44989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(1/9)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 noGrp="1"/>
          </p:cNvGraphicFramePr>
          <p:nvPr>
            <p:ph sz="quarter" idx="4294967295"/>
          </p:nvPr>
        </p:nvGraphicFramePr>
        <p:xfrm>
          <a:off x="746492" y="3666681"/>
          <a:ext cx="3690750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369380" y="1970119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310533" y="1669486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310533" y="2360120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933928" y="1649459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933928" y="2360120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532026" y="1637220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532026" y="2360120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363037" y="1649459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363037" y="2360120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976105" y="2773335"/>
            <a:ext cx="1141109" cy="369332"/>
            <a:chOff x="1976105" y="2773335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1043279" y="2030501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650004" y="1407205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650004" y="2626276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2239476" y="2030501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3079113" y="1407081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3069153" y="2626276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936004" y="2032019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1" name="群組 100"/>
          <p:cNvGrpSpPr/>
          <p:nvPr/>
        </p:nvGrpSpPr>
        <p:grpSpPr>
          <a:xfrm>
            <a:off x="381848" y="3292760"/>
            <a:ext cx="3961108" cy="3132934"/>
            <a:chOff x="381848" y="3292760"/>
            <a:chExt cx="3961108" cy="3132934"/>
          </a:xfrm>
        </p:grpSpPr>
        <p:sp>
          <p:nvSpPr>
            <p:cNvPr id="59" name="文字方塊 58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字方塊 59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3" name="文字方塊 72"/>
          <p:cNvSpPr txBox="1"/>
          <p:nvPr/>
        </p:nvSpPr>
        <p:spPr>
          <a:xfrm>
            <a:off x="124610" y="2998072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4" name="表格 73"/>
          <p:cNvGraphicFramePr>
            <a:graphicFrameLocks noGrp="1"/>
          </p:cNvGraphicFramePr>
          <p:nvPr/>
        </p:nvGraphicFramePr>
        <p:xfrm>
          <a:off x="4924197" y="2192429"/>
          <a:ext cx="369075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文字方塊 74"/>
          <p:cNvSpPr txBox="1"/>
          <p:nvPr/>
        </p:nvSpPr>
        <p:spPr>
          <a:xfrm>
            <a:off x="4902166" y="1376303"/>
            <a:ext cx="3231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至該點的最短距離</a:t>
            </a:r>
          </a:p>
        </p:txBody>
      </p:sp>
      <p:grpSp>
        <p:nvGrpSpPr>
          <p:cNvPr id="102" name="群組 101"/>
          <p:cNvGrpSpPr/>
          <p:nvPr/>
        </p:nvGrpSpPr>
        <p:grpSpPr>
          <a:xfrm>
            <a:off x="5015430" y="1817941"/>
            <a:ext cx="3509658" cy="369332"/>
            <a:chOff x="5015430" y="1817941"/>
            <a:chExt cx="3509658" cy="369332"/>
          </a:xfrm>
        </p:grpSpPr>
        <p:sp>
          <p:nvSpPr>
            <p:cNvPr id="76" name="文字方塊 75"/>
            <p:cNvSpPr txBox="1"/>
            <p:nvPr/>
          </p:nvSpPr>
          <p:spPr>
            <a:xfrm>
              <a:off x="5015430" y="181794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5541899" y="181794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文字方塊 77"/>
            <p:cNvSpPr txBox="1"/>
            <p:nvPr/>
          </p:nvSpPr>
          <p:spPr>
            <a:xfrm>
              <a:off x="6064876" y="181794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6591345" y="181794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7111440" y="181794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文字方塊 80"/>
            <p:cNvSpPr txBox="1"/>
            <p:nvPr/>
          </p:nvSpPr>
          <p:spPr>
            <a:xfrm>
              <a:off x="7634417" y="181794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8160886" y="181794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83" name="表格 82"/>
          <p:cNvGraphicFramePr>
            <a:graphicFrameLocks noGrp="1"/>
          </p:cNvGraphicFramePr>
          <p:nvPr/>
        </p:nvGraphicFramePr>
        <p:xfrm>
          <a:off x="4928142" y="3822987"/>
          <a:ext cx="369075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" name="文字方塊 83"/>
          <p:cNvSpPr txBox="1"/>
          <p:nvPr/>
        </p:nvSpPr>
        <p:spPr>
          <a:xfrm>
            <a:off x="4906111" y="3006861"/>
            <a:ext cx="4100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Prioi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至該點最短路徑的前一點</a:t>
            </a:r>
          </a:p>
        </p:txBody>
      </p:sp>
      <p:grpSp>
        <p:nvGrpSpPr>
          <p:cNvPr id="103" name="群組 102"/>
          <p:cNvGrpSpPr/>
          <p:nvPr/>
        </p:nvGrpSpPr>
        <p:grpSpPr>
          <a:xfrm>
            <a:off x="5019375" y="3448499"/>
            <a:ext cx="3509658" cy="369332"/>
            <a:chOff x="5019375" y="3448499"/>
            <a:chExt cx="3509658" cy="369332"/>
          </a:xfrm>
        </p:grpSpPr>
        <p:sp>
          <p:nvSpPr>
            <p:cNvPr id="85" name="文字方塊 84"/>
            <p:cNvSpPr txBox="1"/>
            <p:nvPr/>
          </p:nvSpPr>
          <p:spPr>
            <a:xfrm>
              <a:off x="5019375" y="34484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5545844" y="34484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6068821" y="34484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6595290" y="34484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7115385" y="34484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7638362" y="34484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8164831" y="34484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92" name="表格 91"/>
          <p:cNvGraphicFramePr>
            <a:graphicFrameLocks noGrp="1"/>
          </p:cNvGraphicFramePr>
          <p:nvPr/>
        </p:nvGraphicFramePr>
        <p:xfrm>
          <a:off x="4984080" y="5542454"/>
          <a:ext cx="369075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" name="文字方塊 92"/>
          <p:cNvSpPr txBox="1"/>
          <p:nvPr/>
        </p:nvSpPr>
        <p:spPr>
          <a:xfrm>
            <a:off x="4962049" y="4726328"/>
            <a:ext cx="41873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Decided[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至該點最短路徑已決定</a:t>
            </a:r>
          </a:p>
        </p:txBody>
      </p:sp>
      <p:grpSp>
        <p:nvGrpSpPr>
          <p:cNvPr id="104" name="群組 103"/>
          <p:cNvGrpSpPr/>
          <p:nvPr/>
        </p:nvGrpSpPr>
        <p:grpSpPr>
          <a:xfrm>
            <a:off x="5075313" y="5167966"/>
            <a:ext cx="3509658" cy="369332"/>
            <a:chOff x="5075313" y="5167966"/>
            <a:chExt cx="3509658" cy="369332"/>
          </a:xfrm>
        </p:grpSpPr>
        <p:sp>
          <p:nvSpPr>
            <p:cNvPr id="94" name="文字方塊 93"/>
            <p:cNvSpPr txBox="1"/>
            <p:nvPr/>
          </p:nvSpPr>
          <p:spPr>
            <a:xfrm>
              <a:off x="5075313" y="51679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5601782" y="51679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文字方塊 95"/>
            <p:cNvSpPr txBox="1"/>
            <p:nvPr/>
          </p:nvSpPr>
          <p:spPr>
            <a:xfrm>
              <a:off x="6124759" y="51679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文字方塊 96"/>
            <p:cNvSpPr txBox="1"/>
            <p:nvPr/>
          </p:nvSpPr>
          <p:spPr>
            <a:xfrm>
              <a:off x="6651228" y="51679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文字方塊 97"/>
            <p:cNvSpPr txBox="1"/>
            <p:nvPr/>
          </p:nvSpPr>
          <p:spPr>
            <a:xfrm>
              <a:off x="7171323" y="51679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文字方塊 98"/>
            <p:cNvSpPr txBox="1"/>
            <p:nvPr/>
          </p:nvSpPr>
          <p:spPr>
            <a:xfrm>
              <a:off x="7694300" y="51679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文字方塊 99"/>
            <p:cNvSpPr txBox="1"/>
            <p:nvPr/>
          </p:nvSpPr>
          <p:spPr>
            <a:xfrm>
              <a:off x="8220769" y="51679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274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5" grpId="0"/>
      <p:bldP spid="84" grpId="0"/>
      <p:bldP spid="9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字方塊 23"/>
          <p:cNvSpPr txBox="1"/>
          <p:nvPr/>
        </p:nvSpPr>
        <p:spPr>
          <a:xfrm>
            <a:off x="4180325" y="406687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952229" y="404560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558954" y="464138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(2/9)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找到一個頂點 </a:t>
            </a:r>
            <a:r>
              <a:rPr lang="en-US" altLang="zh-TW" i="1" dirty="0" err="1"/>
              <a:t>i</a:t>
            </a:r>
            <a:r>
              <a:rPr lang="zh-TW" altLang="en-US" dirty="0"/>
              <a:t>，其 </a:t>
            </a:r>
            <a:r>
              <a:rPr lang="en-US" altLang="zh-TW" dirty="0"/>
              <a:t>Decided[</a:t>
            </a:r>
            <a:r>
              <a:rPr lang="en-US" altLang="zh-TW" i="1" dirty="0" err="1"/>
              <a:t>i</a:t>
            </a:r>
            <a:r>
              <a:rPr lang="en-US" altLang="zh-TW" dirty="0"/>
              <a:t>] = 0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最短距離尚未決定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en-US" dirty="0"/>
              <a:t>且 </a:t>
            </a:r>
            <a:r>
              <a:rPr lang="en-US" altLang="zh-TW" dirty="0" err="1"/>
              <a:t>Dist</a:t>
            </a:r>
            <a:r>
              <a:rPr lang="en-US" altLang="zh-TW" dirty="0"/>
              <a:t>[</a:t>
            </a:r>
            <a:r>
              <a:rPr lang="en-US" altLang="zh-TW" i="1" dirty="0" err="1"/>
              <a:t>i</a:t>
            </a:r>
            <a:r>
              <a:rPr lang="en-US" altLang="zh-TW" dirty="0"/>
              <a:t>]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已知距離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en-US" dirty="0"/>
              <a:t>最小，若</a:t>
            </a:r>
            <a:r>
              <a:rPr lang="en-US" altLang="zh-TW" dirty="0"/>
              <a:t>Decided[</a:t>
            </a:r>
            <a:r>
              <a:rPr lang="en-US" altLang="zh-TW" i="1" dirty="0" err="1"/>
              <a:t>i</a:t>
            </a:r>
            <a:r>
              <a:rPr lang="en-US" altLang="zh-TW" dirty="0"/>
              <a:t>]</a:t>
            </a:r>
            <a:r>
              <a:rPr lang="zh-TW" altLang="en-US" dirty="0"/>
              <a:t>均為 1 則跳至步驟 4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對每一個 </a:t>
            </a:r>
            <a:r>
              <a:rPr lang="en-US" altLang="zh-TW" dirty="0"/>
              <a:t>Decided[</a:t>
            </a:r>
            <a:r>
              <a:rPr lang="en-US" altLang="zh-TW" i="1" dirty="0"/>
              <a:t>w</a:t>
            </a:r>
            <a:r>
              <a:rPr lang="en-US" altLang="zh-TW" dirty="0"/>
              <a:t>] = 0</a:t>
            </a:r>
            <a:r>
              <a:rPr lang="zh-TW" altLang="en-US" dirty="0"/>
              <a:t>的頂點 </a:t>
            </a:r>
            <a:r>
              <a:rPr lang="en-US" altLang="zh-TW" i="1" dirty="0"/>
              <a:t>w</a:t>
            </a:r>
            <a:r>
              <a:rPr lang="zh-TW" altLang="en-US" dirty="0"/>
              <a:t>，依下述方式更新 </a:t>
            </a:r>
            <a:r>
              <a:rPr lang="en-US" altLang="zh-TW" dirty="0" err="1"/>
              <a:t>Dist</a:t>
            </a:r>
            <a:r>
              <a:rPr lang="en-US" altLang="zh-TW" dirty="0"/>
              <a:t>[</a:t>
            </a:r>
            <a:r>
              <a:rPr lang="en-US" altLang="zh-TW" i="1" dirty="0"/>
              <a:t>w</a:t>
            </a:r>
            <a:r>
              <a:rPr lang="en-US" altLang="zh-TW" dirty="0"/>
              <a:t>]</a:t>
            </a:r>
          </a:p>
          <a:p>
            <a:pPr lvl="1"/>
            <a:r>
              <a:rPr lang="zh-TW" altLang="en-US" dirty="0"/>
              <a:t>從</a:t>
            </a:r>
            <a:r>
              <a:rPr lang="en-US" altLang="zh-TW" i="1" dirty="0"/>
              <a:t>v</a:t>
            </a:r>
            <a:r>
              <a:rPr lang="en-US" altLang="zh-TW" baseline="-25000" dirty="0"/>
              <a:t>0</a:t>
            </a:r>
            <a:r>
              <a:rPr lang="zh-TW" altLang="en-US" dirty="0"/>
              <a:t>出發，如果經由</a:t>
            </a:r>
            <a:r>
              <a:rPr lang="en-US" altLang="zh-TW" i="1" dirty="0"/>
              <a:t>v</a:t>
            </a:r>
            <a:r>
              <a:rPr lang="en-US" altLang="zh-TW" i="1" baseline="-25000" dirty="0"/>
              <a:t>i</a:t>
            </a:r>
            <a:r>
              <a:rPr lang="zh-TW" altLang="en-US" dirty="0"/>
              <a:t>再到</a:t>
            </a:r>
            <a:r>
              <a:rPr lang="en-US" altLang="zh-TW" i="1" dirty="0"/>
              <a:t>w</a:t>
            </a:r>
            <a:r>
              <a:rPr lang="zh-TW" altLang="en-US" dirty="0"/>
              <a:t>比原來由</a:t>
            </a:r>
            <a:r>
              <a:rPr lang="en-US" altLang="zh-TW" i="1" dirty="0"/>
              <a:t>v</a:t>
            </a:r>
            <a:r>
              <a:rPr lang="en-US" altLang="zh-TW" baseline="-25000" dirty="0"/>
              <a:t>0</a:t>
            </a:r>
            <a:r>
              <a:rPr lang="zh-TW" altLang="en-US" dirty="0"/>
              <a:t>到</a:t>
            </a:r>
            <a:r>
              <a:rPr lang="en-US" altLang="zh-TW" i="1" dirty="0"/>
              <a:t>w</a:t>
            </a:r>
            <a:r>
              <a:rPr lang="zh-TW" altLang="en-US" dirty="0"/>
              <a:t>更近，則採用新的走法</a:t>
            </a:r>
            <a:endParaRPr lang="en-US" altLang="zh-TW" dirty="0"/>
          </a:p>
          <a:p>
            <a:pPr lvl="1"/>
            <a:r>
              <a:rPr lang="en-US" altLang="zh-TW" dirty="0" err="1"/>
              <a:t>Dist</a:t>
            </a:r>
            <a:r>
              <a:rPr lang="en-US" altLang="zh-TW" dirty="0"/>
              <a:t>[</a:t>
            </a:r>
            <a:r>
              <a:rPr lang="en-US" altLang="zh-TW" i="1" dirty="0"/>
              <a:t>w</a:t>
            </a:r>
            <a:r>
              <a:rPr lang="en-US" altLang="zh-TW" dirty="0"/>
              <a:t>] = min {</a:t>
            </a:r>
            <a:r>
              <a:rPr lang="en-US" altLang="zh-TW" dirty="0" err="1"/>
              <a:t>Dist</a:t>
            </a:r>
            <a:r>
              <a:rPr lang="en-US" altLang="zh-TW" dirty="0"/>
              <a:t>[</a:t>
            </a:r>
            <a:r>
              <a:rPr lang="en-US" altLang="zh-TW" i="1" dirty="0"/>
              <a:t>w</a:t>
            </a:r>
            <a:r>
              <a:rPr lang="en-US" altLang="zh-TW" dirty="0"/>
              <a:t>], </a:t>
            </a:r>
            <a:r>
              <a:rPr lang="en-US" altLang="zh-TW" dirty="0" err="1"/>
              <a:t>Dist</a:t>
            </a:r>
            <a:r>
              <a:rPr lang="en-US" altLang="zh-TW" dirty="0"/>
              <a:t>[</a:t>
            </a:r>
            <a:r>
              <a:rPr lang="en-US" altLang="zh-TW" i="1" dirty="0" err="1"/>
              <a:t>i</a:t>
            </a:r>
            <a:r>
              <a:rPr lang="en-US" altLang="zh-TW" dirty="0"/>
              <a:t>] + Cost[</a:t>
            </a:r>
            <a:r>
              <a:rPr lang="en-US" altLang="zh-TW" i="1" dirty="0" err="1"/>
              <a:t>i</a:t>
            </a:r>
            <a:r>
              <a:rPr lang="en-US" altLang="zh-TW" dirty="0"/>
              <a:t>][</a:t>
            </a:r>
            <a:r>
              <a:rPr lang="en-US" altLang="zh-TW" i="1" dirty="0"/>
              <a:t>w</a:t>
            </a:r>
            <a:r>
              <a:rPr lang="en-US" altLang="zh-TW" dirty="0"/>
              <a:t>]}</a:t>
            </a:r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跳至步驟 1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演算法結束，每個 </a:t>
            </a:r>
            <a:r>
              <a:rPr lang="en-US" altLang="zh-TW" dirty="0" err="1"/>
              <a:t>Dist</a:t>
            </a:r>
            <a:r>
              <a:rPr lang="en-US" altLang="zh-TW" dirty="0"/>
              <a:t>[</a:t>
            </a:r>
            <a:r>
              <a:rPr lang="en-US" altLang="zh-TW" i="1" dirty="0"/>
              <a:t>k</a:t>
            </a:r>
            <a:r>
              <a:rPr lang="en-US" altLang="zh-TW" dirty="0"/>
              <a:t>]</a:t>
            </a:r>
            <a:r>
              <a:rPr lang="zh-TW" altLang="en-US" dirty="0"/>
              <a:t>為起點至頂點</a:t>
            </a:r>
            <a:r>
              <a:rPr lang="en-US" altLang="zh-TW" i="1" dirty="0"/>
              <a:t>k</a:t>
            </a:r>
            <a:r>
              <a:rPr lang="zh-TW" altLang="en-US" dirty="0"/>
              <a:t>的最短距離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3334519" y="3697539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637473" y="449984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接點 13"/>
          <p:cNvCxnSpPr>
            <a:stCxn id="23" idx="3"/>
            <a:endCxn id="20" idx="7"/>
          </p:cNvCxnSpPr>
          <p:nvPr/>
        </p:nvCxnSpPr>
        <p:spPr>
          <a:xfrm flipH="1">
            <a:off x="3842878" y="4375224"/>
            <a:ext cx="394452" cy="39212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3975948" y="4431346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2990330" y="412940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3597055" y="472517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4195153" y="412940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弧形接點 25"/>
          <p:cNvCxnSpPr>
            <a:stCxn id="18" idx="2"/>
            <a:endCxn id="20" idx="0"/>
          </p:cNvCxnSpPr>
          <p:nvPr/>
        </p:nvCxnSpPr>
        <p:spPr>
          <a:xfrm rot="16200000" flipH="1">
            <a:off x="3282573" y="4266693"/>
            <a:ext cx="310239" cy="606725"/>
          </a:xfrm>
          <a:prstGeom prst="curvedConnector3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弧形接點 28"/>
          <p:cNvCxnSpPr>
            <a:stCxn id="17" idx="7"/>
            <a:endCxn id="23" idx="2"/>
          </p:cNvCxnSpPr>
          <p:nvPr/>
        </p:nvCxnSpPr>
        <p:spPr>
          <a:xfrm rot="16200000" flipH="1">
            <a:off x="3664741" y="3742989"/>
            <a:ext cx="101823" cy="959000"/>
          </a:xfrm>
          <a:prstGeom prst="curvedConnector4">
            <a:avLst>
              <a:gd name="adj1" fmla="val -120085"/>
              <a:gd name="adj2" fmla="val 56634"/>
            </a:avLst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utoShape 193"/>
          <p:cNvSpPr>
            <a:spLocks noChangeArrowheads="1"/>
          </p:cNvSpPr>
          <p:nvPr/>
        </p:nvSpPr>
        <p:spPr bwMode="auto">
          <a:xfrm>
            <a:off x="512190" y="3495737"/>
            <a:ext cx="1295400" cy="749523"/>
          </a:xfrm>
          <a:prstGeom prst="wedgeRoundRectCallout">
            <a:avLst>
              <a:gd name="adj1" fmla="val 140878"/>
              <a:gd name="adj2" fmla="val -8900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>
                <a:latin typeface="標楷體" panose="03000509000000000000" pitchFamily="65" charset="-120"/>
                <a:ea typeface="標楷體" panose="03000509000000000000" pitchFamily="65" charset="-120"/>
              </a:rPr>
              <a:t>原來走法的距離</a:t>
            </a:r>
          </a:p>
        </p:txBody>
      </p:sp>
      <p:sp>
        <p:nvSpPr>
          <p:cNvPr id="44" name="AutoShape 194"/>
          <p:cNvSpPr>
            <a:spLocks noChangeArrowheads="1"/>
          </p:cNvSpPr>
          <p:nvPr/>
        </p:nvSpPr>
        <p:spPr bwMode="auto">
          <a:xfrm>
            <a:off x="6582790" y="3470143"/>
            <a:ext cx="1295400" cy="751361"/>
          </a:xfrm>
          <a:prstGeom prst="wedgeRoundRectCallout">
            <a:avLst>
              <a:gd name="adj1" fmla="val -200989"/>
              <a:gd name="adj2" fmla="val -86103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>
                <a:latin typeface="標楷體" panose="03000509000000000000" pitchFamily="65" charset="-120"/>
                <a:ea typeface="標楷體" panose="03000509000000000000" pitchFamily="65" charset="-120"/>
              </a:rPr>
              <a:t>新走法的距離</a:t>
            </a:r>
          </a:p>
        </p:txBody>
      </p:sp>
      <p:cxnSp>
        <p:nvCxnSpPr>
          <p:cNvPr id="45" name="直線接點 44"/>
          <p:cNvCxnSpPr/>
          <p:nvPr/>
        </p:nvCxnSpPr>
        <p:spPr>
          <a:xfrm>
            <a:off x="2673531" y="3097722"/>
            <a:ext cx="720725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3578257" y="3097722"/>
            <a:ext cx="1979612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6759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(3/9)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sz="quarter" idx="4294967295"/>
          </p:nvPr>
        </p:nvGraphicFramePr>
        <p:xfrm>
          <a:off x="5220491" y="1791448"/>
          <a:ext cx="3690750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1334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39811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36278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889257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40935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932329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845879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476907" y="18057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352849" y="2202757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79929" y="259971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Decided[]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902042" y="2082668"/>
            <a:ext cx="916823" cy="369332"/>
            <a:chOff x="1369380" y="1970119"/>
            <a:chExt cx="916823" cy="369332"/>
          </a:xfrm>
        </p:grpSpPr>
        <p:cxnSp>
          <p:nvCxnSpPr>
            <p:cNvPr id="19" name="直線接點 18"/>
            <p:cNvCxnSpPr>
              <a:stCxn id="58" idx="2"/>
              <a:endCxn id="4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843195" y="1782035"/>
            <a:ext cx="419749" cy="486988"/>
            <a:chOff x="1310533" y="1669486"/>
            <a:chExt cx="419749" cy="486988"/>
          </a:xfrm>
        </p:grpSpPr>
        <p:cxnSp>
          <p:nvCxnSpPr>
            <p:cNvPr id="22" name="直線接點 21"/>
            <p:cNvCxnSpPr>
              <a:stCxn id="49" idx="7"/>
              <a:endCxn id="5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843195" y="2472669"/>
            <a:ext cx="419749" cy="445481"/>
            <a:chOff x="1310533" y="2360120"/>
            <a:chExt cx="419749" cy="445481"/>
          </a:xfrm>
        </p:grpSpPr>
        <p:cxnSp>
          <p:nvCxnSpPr>
            <p:cNvPr id="25" name="直線接點 24"/>
            <p:cNvCxnSpPr>
              <a:stCxn id="55" idx="1"/>
              <a:endCxn id="4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1466590" y="1762008"/>
            <a:ext cx="411886" cy="507015"/>
            <a:chOff x="1933928" y="1649459"/>
            <a:chExt cx="411886" cy="507015"/>
          </a:xfrm>
        </p:grpSpPr>
        <p:cxnSp>
          <p:nvCxnSpPr>
            <p:cNvPr id="28" name="直線接點 27"/>
            <p:cNvCxnSpPr>
              <a:stCxn id="58" idx="1"/>
              <a:endCxn id="5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1466590" y="2472669"/>
            <a:ext cx="411886" cy="425454"/>
            <a:chOff x="1933928" y="2360120"/>
            <a:chExt cx="411886" cy="425454"/>
          </a:xfrm>
        </p:grpSpPr>
        <p:cxnSp>
          <p:nvCxnSpPr>
            <p:cNvPr id="31" name="直線接點 30"/>
            <p:cNvCxnSpPr>
              <a:stCxn id="58" idx="3"/>
              <a:endCxn id="5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2064688" y="1749769"/>
            <a:ext cx="627365" cy="519254"/>
            <a:chOff x="2532026" y="1637220"/>
            <a:chExt cx="627365" cy="519254"/>
          </a:xfrm>
        </p:grpSpPr>
        <p:cxnSp>
          <p:nvCxnSpPr>
            <p:cNvPr id="34" name="直線接點 33"/>
            <p:cNvCxnSpPr>
              <a:stCxn id="61" idx="3"/>
              <a:endCxn id="5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064688" y="2472669"/>
            <a:ext cx="627365" cy="413215"/>
            <a:chOff x="2532026" y="2360120"/>
            <a:chExt cx="627365" cy="413215"/>
          </a:xfrm>
        </p:grpSpPr>
        <p:cxnSp>
          <p:nvCxnSpPr>
            <p:cNvPr id="37" name="直線接點 36"/>
            <p:cNvCxnSpPr>
              <a:stCxn id="64" idx="1"/>
              <a:endCxn id="5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2895699" y="1762008"/>
            <a:ext cx="653245" cy="507015"/>
            <a:chOff x="3363037" y="1649459"/>
            <a:chExt cx="653245" cy="507015"/>
          </a:xfrm>
        </p:grpSpPr>
        <p:cxnSp>
          <p:nvCxnSpPr>
            <p:cNvPr id="40" name="直線接點 39"/>
            <p:cNvCxnSpPr>
              <a:stCxn id="67" idx="1"/>
              <a:endCxn id="6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895699" y="2472669"/>
            <a:ext cx="653245" cy="425454"/>
            <a:chOff x="3363037" y="2360120"/>
            <a:chExt cx="653245" cy="425454"/>
          </a:xfrm>
        </p:grpSpPr>
        <p:cxnSp>
          <p:nvCxnSpPr>
            <p:cNvPr id="43" name="直線接點 42"/>
            <p:cNvCxnSpPr>
              <a:stCxn id="67" idx="3"/>
              <a:endCxn id="6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1508767" y="2885884"/>
            <a:ext cx="1141109" cy="369332"/>
            <a:chOff x="1976105" y="2773335"/>
            <a:chExt cx="1141109" cy="369332"/>
          </a:xfrm>
        </p:grpSpPr>
        <p:cxnSp>
          <p:nvCxnSpPr>
            <p:cNvPr id="46" name="直線接點 45"/>
            <p:cNvCxnSpPr>
              <a:stCxn id="64" idx="2"/>
              <a:endCxn id="5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橢圓 48"/>
          <p:cNvSpPr/>
          <p:nvPr/>
        </p:nvSpPr>
        <p:spPr>
          <a:xfrm>
            <a:off x="614042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75941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1220767" y="160342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1182666" y="151975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群組 53"/>
          <p:cNvGrpSpPr/>
          <p:nvPr/>
        </p:nvGrpSpPr>
        <p:grpSpPr>
          <a:xfrm>
            <a:off x="1182666" y="2738825"/>
            <a:ext cx="364202" cy="371796"/>
            <a:chOff x="1650004" y="2626276"/>
            <a:chExt cx="364202" cy="371796"/>
          </a:xfrm>
        </p:grpSpPr>
        <p:sp>
          <p:nvSpPr>
            <p:cNvPr id="55" name="橢圓 5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7" name="群組 56"/>
          <p:cNvGrpSpPr/>
          <p:nvPr/>
        </p:nvGrpSpPr>
        <p:grpSpPr>
          <a:xfrm>
            <a:off x="1772138" y="2143050"/>
            <a:ext cx="364202" cy="371796"/>
            <a:chOff x="2239476" y="2030501"/>
            <a:chExt cx="364202" cy="371796"/>
          </a:xfrm>
        </p:grpSpPr>
        <p:sp>
          <p:nvSpPr>
            <p:cNvPr id="58" name="橢圓 5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群組 59"/>
          <p:cNvGrpSpPr/>
          <p:nvPr/>
        </p:nvGrpSpPr>
        <p:grpSpPr>
          <a:xfrm>
            <a:off x="2611775" y="1519630"/>
            <a:ext cx="364202" cy="371796"/>
            <a:chOff x="3079113" y="1407081"/>
            <a:chExt cx="364202" cy="371796"/>
          </a:xfrm>
        </p:grpSpPr>
        <p:sp>
          <p:nvSpPr>
            <p:cNvPr id="61" name="橢圓 6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" name="群組 62"/>
          <p:cNvGrpSpPr/>
          <p:nvPr/>
        </p:nvGrpSpPr>
        <p:grpSpPr>
          <a:xfrm>
            <a:off x="2601815" y="2738825"/>
            <a:ext cx="364202" cy="371796"/>
            <a:chOff x="3069153" y="2626276"/>
            <a:chExt cx="364202" cy="371796"/>
          </a:xfrm>
        </p:grpSpPr>
        <p:sp>
          <p:nvSpPr>
            <p:cNvPr id="64" name="橢圓 6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3468666" y="2144568"/>
            <a:ext cx="364202" cy="370278"/>
            <a:chOff x="3936004" y="2032019"/>
            <a:chExt cx="364202" cy="370278"/>
          </a:xfrm>
        </p:grpSpPr>
        <p:sp>
          <p:nvSpPr>
            <p:cNvPr id="67" name="橢圓 6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8" name="群組 87"/>
          <p:cNvGrpSpPr/>
          <p:nvPr/>
        </p:nvGrpSpPr>
        <p:grpSpPr>
          <a:xfrm>
            <a:off x="1163138" y="3913684"/>
            <a:ext cx="2549063" cy="1315637"/>
            <a:chOff x="1163138" y="3913684"/>
            <a:chExt cx="2549063" cy="1315637"/>
          </a:xfrm>
        </p:grpSpPr>
        <p:sp>
          <p:nvSpPr>
            <p:cNvPr id="70" name="文字方塊 69"/>
            <p:cNvSpPr txBox="1"/>
            <p:nvPr/>
          </p:nvSpPr>
          <p:spPr>
            <a:xfrm>
              <a:off x="2684724" y="428301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477894" y="42617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2084619" y="48575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1860184" y="391368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1163138" y="4715989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直線接點 74"/>
            <p:cNvCxnSpPr>
              <a:stCxn id="79" idx="3"/>
              <a:endCxn id="78" idx="7"/>
            </p:cNvCxnSpPr>
            <p:nvPr/>
          </p:nvCxnSpPr>
          <p:spPr>
            <a:xfrm flipH="1">
              <a:off x="2368543" y="4591369"/>
              <a:ext cx="394452" cy="39212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2501613" y="4647491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Cost[1][3]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橢圓 76"/>
            <p:cNvSpPr/>
            <p:nvPr/>
          </p:nvSpPr>
          <p:spPr>
            <a:xfrm>
              <a:off x="1515995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2122720" y="494132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2720818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0" name="弧形接點 79"/>
            <p:cNvCxnSpPr>
              <a:stCxn id="71" idx="2"/>
              <a:endCxn id="78" idx="0"/>
            </p:cNvCxnSpPr>
            <p:nvPr/>
          </p:nvCxnSpPr>
          <p:spPr>
            <a:xfrm rot="16200000" flipH="1">
              <a:off x="1808238" y="4482838"/>
              <a:ext cx="310239" cy="606725"/>
            </a:xfrm>
            <a:prstGeom prst="curvedConnector3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弧形接點 80"/>
            <p:cNvCxnSpPr>
              <a:stCxn id="77" idx="7"/>
              <a:endCxn id="79" idx="2"/>
            </p:cNvCxnSpPr>
            <p:nvPr/>
          </p:nvCxnSpPr>
          <p:spPr>
            <a:xfrm rot="16200000" flipH="1">
              <a:off x="2190406" y="3959134"/>
              <a:ext cx="101823" cy="959000"/>
            </a:xfrm>
            <a:prstGeom prst="curvedConnector4">
              <a:avLst>
                <a:gd name="adj1" fmla="val -120085"/>
                <a:gd name="adj2" fmla="val 56634"/>
              </a:avLst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圓角矩形 82"/>
          <p:cNvSpPr/>
          <p:nvPr/>
        </p:nvSpPr>
        <p:spPr>
          <a:xfrm>
            <a:off x="5656278" y="1495451"/>
            <a:ext cx="685244" cy="154899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4198481" y="4346657"/>
            <a:ext cx="43492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= min{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[3],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+ Cost[1][3]}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min{5, 1 + 2}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6964706" y="1831184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6964705" y="2241054"/>
            <a:ext cx="200943" cy="307777"/>
          </a:xfrm>
          <a:prstGeom prst="rect">
            <a:avLst/>
          </a:prstGeom>
          <a:solidFill>
            <a:srgbClr val="E7F3F4"/>
          </a:solidFill>
          <a:ln>
            <a:solidFill>
              <a:srgbClr val="E7F3F4"/>
            </a:solidFill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5910807" y="2629372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3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83" grpId="0" animBg="1"/>
      <p:bldP spid="85" grpId="0" animBg="1"/>
      <p:bldP spid="86" grpId="0" animBg="1"/>
      <p:bldP spid="8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(4/9)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sz="quarter" idx="4294967295"/>
          </p:nvPr>
        </p:nvGraphicFramePr>
        <p:xfrm>
          <a:off x="5220491" y="1791448"/>
          <a:ext cx="3690750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1334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39811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36278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889257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40935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932329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845879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476907" y="18057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352849" y="2202757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79929" y="259971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Decided[]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902042" y="2082668"/>
            <a:ext cx="916823" cy="369332"/>
            <a:chOff x="1369380" y="1970119"/>
            <a:chExt cx="916823" cy="369332"/>
          </a:xfrm>
        </p:grpSpPr>
        <p:cxnSp>
          <p:nvCxnSpPr>
            <p:cNvPr id="19" name="直線接點 18"/>
            <p:cNvCxnSpPr>
              <a:stCxn id="58" idx="2"/>
              <a:endCxn id="4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843195" y="1782035"/>
            <a:ext cx="419749" cy="486988"/>
            <a:chOff x="1310533" y="1669486"/>
            <a:chExt cx="419749" cy="486988"/>
          </a:xfrm>
        </p:grpSpPr>
        <p:cxnSp>
          <p:nvCxnSpPr>
            <p:cNvPr id="22" name="直線接點 21"/>
            <p:cNvCxnSpPr>
              <a:stCxn id="49" idx="7"/>
              <a:endCxn id="5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843195" y="2472669"/>
            <a:ext cx="419749" cy="445481"/>
            <a:chOff x="1310533" y="2360120"/>
            <a:chExt cx="419749" cy="445481"/>
          </a:xfrm>
        </p:grpSpPr>
        <p:cxnSp>
          <p:nvCxnSpPr>
            <p:cNvPr id="25" name="直線接點 24"/>
            <p:cNvCxnSpPr>
              <a:stCxn id="55" idx="1"/>
              <a:endCxn id="4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1466590" y="1762008"/>
            <a:ext cx="411886" cy="507015"/>
            <a:chOff x="1933928" y="1649459"/>
            <a:chExt cx="411886" cy="507015"/>
          </a:xfrm>
        </p:grpSpPr>
        <p:cxnSp>
          <p:nvCxnSpPr>
            <p:cNvPr id="28" name="直線接點 27"/>
            <p:cNvCxnSpPr>
              <a:stCxn id="58" idx="1"/>
              <a:endCxn id="5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1466590" y="2472669"/>
            <a:ext cx="411886" cy="425454"/>
            <a:chOff x="1933928" y="2360120"/>
            <a:chExt cx="411886" cy="425454"/>
          </a:xfrm>
        </p:grpSpPr>
        <p:cxnSp>
          <p:nvCxnSpPr>
            <p:cNvPr id="31" name="直線接點 30"/>
            <p:cNvCxnSpPr>
              <a:stCxn id="58" idx="3"/>
              <a:endCxn id="5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2064688" y="1749769"/>
            <a:ext cx="627365" cy="519254"/>
            <a:chOff x="2532026" y="1637220"/>
            <a:chExt cx="627365" cy="519254"/>
          </a:xfrm>
        </p:grpSpPr>
        <p:cxnSp>
          <p:nvCxnSpPr>
            <p:cNvPr id="34" name="直線接點 33"/>
            <p:cNvCxnSpPr>
              <a:stCxn id="61" idx="3"/>
              <a:endCxn id="5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064688" y="2472669"/>
            <a:ext cx="627365" cy="413215"/>
            <a:chOff x="2532026" y="2360120"/>
            <a:chExt cx="627365" cy="413215"/>
          </a:xfrm>
        </p:grpSpPr>
        <p:cxnSp>
          <p:nvCxnSpPr>
            <p:cNvPr id="37" name="直線接點 36"/>
            <p:cNvCxnSpPr>
              <a:stCxn id="64" idx="1"/>
              <a:endCxn id="5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2895699" y="1762008"/>
            <a:ext cx="653245" cy="507015"/>
            <a:chOff x="3363037" y="1649459"/>
            <a:chExt cx="653245" cy="507015"/>
          </a:xfrm>
        </p:grpSpPr>
        <p:cxnSp>
          <p:nvCxnSpPr>
            <p:cNvPr id="40" name="直線接點 39"/>
            <p:cNvCxnSpPr>
              <a:stCxn id="67" idx="1"/>
              <a:endCxn id="6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895699" y="2472669"/>
            <a:ext cx="653245" cy="425454"/>
            <a:chOff x="3363037" y="2360120"/>
            <a:chExt cx="653245" cy="425454"/>
          </a:xfrm>
        </p:grpSpPr>
        <p:cxnSp>
          <p:nvCxnSpPr>
            <p:cNvPr id="43" name="直線接點 42"/>
            <p:cNvCxnSpPr>
              <a:stCxn id="67" idx="3"/>
              <a:endCxn id="6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1508767" y="2885884"/>
            <a:ext cx="1141109" cy="369332"/>
            <a:chOff x="1976105" y="2773335"/>
            <a:chExt cx="1141109" cy="369332"/>
          </a:xfrm>
        </p:grpSpPr>
        <p:cxnSp>
          <p:nvCxnSpPr>
            <p:cNvPr id="46" name="直線接點 45"/>
            <p:cNvCxnSpPr>
              <a:stCxn id="64" idx="2"/>
              <a:endCxn id="5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橢圓 48"/>
          <p:cNvSpPr/>
          <p:nvPr/>
        </p:nvSpPr>
        <p:spPr>
          <a:xfrm>
            <a:off x="614042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575941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1220767" y="160342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1182666" y="151975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群組 53"/>
          <p:cNvGrpSpPr/>
          <p:nvPr/>
        </p:nvGrpSpPr>
        <p:grpSpPr>
          <a:xfrm>
            <a:off x="1182666" y="2738825"/>
            <a:ext cx="364202" cy="371796"/>
            <a:chOff x="1650004" y="2626276"/>
            <a:chExt cx="364202" cy="371796"/>
          </a:xfrm>
        </p:grpSpPr>
        <p:sp>
          <p:nvSpPr>
            <p:cNvPr id="55" name="橢圓 5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8" name="橢圓 57"/>
          <p:cNvSpPr/>
          <p:nvPr/>
        </p:nvSpPr>
        <p:spPr>
          <a:xfrm>
            <a:off x="1818865" y="222684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1772138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0" name="群組 59"/>
          <p:cNvGrpSpPr/>
          <p:nvPr/>
        </p:nvGrpSpPr>
        <p:grpSpPr>
          <a:xfrm>
            <a:off x="2611775" y="1519630"/>
            <a:ext cx="364202" cy="371796"/>
            <a:chOff x="3079113" y="1407081"/>
            <a:chExt cx="364202" cy="371796"/>
          </a:xfrm>
        </p:grpSpPr>
        <p:sp>
          <p:nvSpPr>
            <p:cNvPr id="61" name="橢圓 6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" name="群組 62"/>
          <p:cNvGrpSpPr/>
          <p:nvPr/>
        </p:nvGrpSpPr>
        <p:grpSpPr>
          <a:xfrm>
            <a:off x="2601815" y="2738825"/>
            <a:ext cx="364202" cy="371796"/>
            <a:chOff x="3069153" y="2626276"/>
            <a:chExt cx="364202" cy="371796"/>
          </a:xfrm>
        </p:grpSpPr>
        <p:sp>
          <p:nvSpPr>
            <p:cNvPr id="64" name="橢圓 6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3468666" y="2144568"/>
            <a:ext cx="364202" cy="370278"/>
            <a:chOff x="3936004" y="2032019"/>
            <a:chExt cx="364202" cy="370278"/>
          </a:xfrm>
        </p:grpSpPr>
        <p:sp>
          <p:nvSpPr>
            <p:cNvPr id="67" name="橢圓 6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1163138" y="3913684"/>
            <a:ext cx="2549063" cy="1315637"/>
            <a:chOff x="1163138" y="3913684"/>
            <a:chExt cx="2549063" cy="1315637"/>
          </a:xfrm>
        </p:grpSpPr>
        <p:sp>
          <p:nvSpPr>
            <p:cNvPr id="70" name="文字方塊 69"/>
            <p:cNvSpPr txBox="1"/>
            <p:nvPr/>
          </p:nvSpPr>
          <p:spPr>
            <a:xfrm>
              <a:off x="2705990" y="4304282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477894" y="42617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2084619" y="48575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1860184" y="3913684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1163138" y="4715989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直線接點 74"/>
            <p:cNvCxnSpPr>
              <a:stCxn id="79" idx="3"/>
              <a:endCxn id="78" idx="7"/>
            </p:cNvCxnSpPr>
            <p:nvPr/>
          </p:nvCxnSpPr>
          <p:spPr>
            <a:xfrm flipH="1">
              <a:off x="2368543" y="4591369"/>
              <a:ext cx="394452" cy="39212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2501613" y="4647491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Cost[3][</a:t>
              </a:r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橢圓 76"/>
            <p:cNvSpPr/>
            <p:nvPr/>
          </p:nvSpPr>
          <p:spPr>
            <a:xfrm>
              <a:off x="1515995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2122720" y="494132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2720818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0" name="弧形接點 79"/>
            <p:cNvCxnSpPr>
              <a:stCxn id="71" idx="2"/>
              <a:endCxn id="78" idx="0"/>
            </p:cNvCxnSpPr>
            <p:nvPr/>
          </p:nvCxnSpPr>
          <p:spPr>
            <a:xfrm rot="16200000" flipH="1">
              <a:off x="1808238" y="4482838"/>
              <a:ext cx="310239" cy="606725"/>
            </a:xfrm>
            <a:prstGeom prst="curvedConnector3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弧形接點 80"/>
            <p:cNvCxnSpPr>
              <a:stCxn id="77" idx="7"/>
              <a:endCxn id="79" idx="2"/>
            </p:cNvCxnSpPr>
            <p:nvPr/>
          </p:nvCxnSpPr>
          <p:spPr>
            <a:xfrm rot="16200000" flipH="1">
              <a:off x="2190406" y="3959134"/>
              <a:ext cx="101823" cy="959000"/>
            </a:xfrm>
            <a:prstGeom prst="curvedConnector4">
              <a:avLst>
                <a:gd name="adj1" fmla="val -120085"/>
                <a:gd name="adj2" fmla="val 56634"/>
              </a:avLst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圓角矩形 82"/>
          <p:cNvSpPr/>
          <p:nvPr/>
        </p:nvSpPr>
        <p:spPr>
          <a:xfrm>
            <a:off x="6719578" y="1495451"/>
            <a:ext cx="685244" cy="154899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4212000" y="3359686"/>
            <a:ext cx="43492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= min{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[2],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+ Cost[3][2]}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min{4, 3 + 4}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7490981" y="1838616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7490980" y="2227220"/>
            <a:ext cx="200943" cy="307777"/>
          </a:xfrm>
          <a:prstGeom prst="rect">
            <a:avLst/>
          </a:prstGeom>
          <a:solidFill>
            <a:srgbClr val="E7F3F4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6957277" y="2610349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4212000" y="4415115"/>
            <a:ext cx="43492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= min{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[4],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+ Cost[3][4]}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min{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 + 5}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4212000" y="5464919"/>
            <a:ext cx="43492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= min{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[5],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+ Cost[3][5]}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min{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 + 2}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8013958" y="1842520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8013957" y="2231124"/>
            <a:ext cx="200943" cy="307777"/>
          </a:xfrm>
          <a:prstGeom prst="rect">
            <a:avLst/>
          </a:prstGeom>
          <a:solidFill>
            <a:srgbClr val="E7F3F4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98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83" grpId="0" animBg="1"/>
      <p:bldP spid="85" grpId="0" animBg="1"/>
      <p:bldP spid="86" grpId="0" animBg="1"/>
      <p:bldP spid="87" grpId="0" animBg="1"/>
      <p:bldP spid="90" grpId="0" animBg="1"/>
      <p:bldP spid="9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(5/9)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sz="quarter" idx="4294967295"/>
          </p:nvPr>
        </p:nvGraphicFramePr>
        <p:xfrm>
          <a:off x="5220491" y="1791448"/>
          <a:ext cx="3690750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1334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39811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36278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889257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40935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932329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845879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476907" y="18057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352849" y="2202757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79929" y="259971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Decided[]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902042" y="2082668"/>
            <a:ext cx="916823" cy="369332"/>
            <a:chOff x="1369380" y="1970119"/>
            <a:chExt cx="916823" cy="369332"/>
          </a:xfrm>
        </p:grpSpPr>
        <p:cxnSp>
          <p:nvCxnSpPr>
            <p:cNvPr id="19" name="直線接點 18"/>
            <p:cNvCxnSpPr>
              <a:stCxn id="58" idx="2"/>
              <a:endCxn id="4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843195" y="1782035"/>
            <a:ext cx="419749" cy="486988"/>
            <a:chOff x="1310533" y="1669486"/>
            <a:chExt cx="419749" cy="486988"/>
          </a:xfrm>
        </p:grpSpPr>
        <p:cxnSp>
          <p:nvCxnSpPr>
            <p:cNvPr id="22" name="直線接點 21"/>
            <p:cNvCxnSpPr>
              <a:stCxn id="49" idx="7"/>
              <a:endCxn id="5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843195" y="2472669"/>
            <a:ext cx="419749" cy="445481"/>
            <a:chOff x="1310533" y="2360120"/>
            <a:chExt cx="419749" cy="445481"/>
          </a:xfrm>
        </p:grpSpPr>
        <p:cxnSp>
          <p:nvCxnSpPr>
            <p:cNvPr id="25" name="直線接點 24"/>
            <p:cNvCxnSpPr>
              <a:stCxn id="55" idx="1"/>
              <a:endCxn id="4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1466590" y="1762008"/>
            <a:ext cx="411886" cy="507015"/>
            <a:chOff x="1933928" y="1649459"/>
            <a:chExt cx="411886" cy="507015"/>
          </a:xfrm>
        </p:grpSpPr>
        <p:cxnSp>
          <p:nvCxnSpPr>
            <p:cNvPr id="28" name="直線接點 27"/>
            <p:cNvCxnSpPr>
              <a:stCxn id="58" idx="1"/>
              <a:endCxn id="5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1466590" y="2472669"/>
            <a:ext cx="411886" cy="425454"/>
            <a:chOff x="1933928" y="2360120"/>
            <a:chExt cx="411886" cy="425454"/>
          </a:xfrm>
        </p:grpSpPr>
        <p:cxnSp>
          <p:nvCxnSpPr>
            <p:cNvPr id="31" name="直線接點 30"/>
            <p:cNvCxnSpPr>
              <a:stCxn id="58" idx="3"/>
              <a:endCxn id="5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2064688" y="1749769"/>
            <a:ext cx="627365" cy="519254"/>
            <a:chOff x="2532026" y="1637220"/>
            <a:chExt cx="627365" cy="519254"/>
          </a:xfrm>
        </p:grpSpPr>
        <p:cxnSp>
          <p:nvCxnSpPr>
            <p:cNvPr id="34" name="直線接點 33"/>
            <p:cNvCxnSpPr>
              <a:stCxn id="61" idx="3"/>
              <a:endCxn id="5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064688" y="2472669"/>
            <a:ext cx="627365" cy="413215"/>
            <a:chOff x="2532026" y="2360120"/>
            <a:chExt cx="627365" cy="413215"/>
          </a:xfrm>
        </p:grpSpPr>
        <p:cxnSp>
          <p:nvCxnSpPr>
            <p:cNvPr id="37" name="直線接點 36"/>
            <p:cNvCxnSpPr>
              <a:stCxn id="64" idx="1"/>
              <a:endCxn id="5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2895699" y="1762008"/>
            <a:ext cx="653245" cy="507015"/>
            <a:chOff x="3363037" y="1649459"/>
            <a:chExt cx="653245" cy="507015"/>
          </a:xfrm>
        </p:grpSpPr>
        <p:cxnSp>
          <p:nvCxnSpPr>
            <p:cNvPr id="40" name="直線接點 39"/>
            <p:cNvCxnSpPr>
              <a:stCxn id="67" idx="1"/>
              <a:endCxn id="6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895699" y="2472669"/>
            <a:ext cx="653245" cy="425454"/>
            <a:chOff x="3363037" y="2360120"/>
            <a:chExt cx="653245" cy="425454"/>
          </a:xfrm>
        </p:grpSpPr>
        <p:cxnSp>
          <p:nvCxnSpPr>
            <p:cNvPr id="43" name="直線接點 42"/>
            <p:cNvCxnSpPr>
              <a:stCxn id="67" idx="3"/>
              <a:endCxn id="6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1508767" y="2885884"/>
            <a:ext cx="1141109" cy="369332"/>
            <a:chOff x="1976105" y="2773335"/>
            <a:chExt cx="1141109" cy="369332"/>
          </a:xfrm>
        </p:grpSpPr>
        <p:cxnSp>
          <p:nvCxnSpPr>
            <p:cNvPr id="46" name="直線接點 45"/>
            <p:cNvCxnSpPr>
              <a:stCxn id="64" idx="2"/>
              <a:endCxn id="5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橢圓 48"/>
          <p:cNvSpPr/>
          <p:nvPr/>
        </p:nvSpPr>
        <p:spPr>
          <a:xfrm>
            <a:off x="614042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575941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1220767" y="160342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1182666" y="151975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1220767" y="282262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1182666" y="273882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1818865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1772138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0" name="群組 59"/>
          <p:cNvGrpSpPr/>
          <p:nvPr/>
        </p:nvGrpSpPr>
        <p:grpSpPr>
          <a:xfrm>
            <a:off x="2611775" y="1519630"/>
            <a:ext cx="364202" cy="371796"/>
            <a:chOff x="3079113" y="1407081"/>
            <a:chExt cx="364202" cy="371796"/>
          </a:xfrm>
        </p:grpSpPr>
        <p:sp>
          <p:nvSpPr>
            <p:cNvPr id="61" name="橢圓 6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" name="群組 62"/>
          <p:cNvGrpSpPr/>
          <p:nvPr/>
        </p:nvGrpSpPr>
        <p:grpSpPr>
          <a:xfrm>
            <a:off x="2601815" y="2738825"/>
            <a:ext cx="364202" cy="371796"/>
            <a:chOff x="3069153" y="2626276"/>
            <a:chExt cx="364202" cy="371796"/>
          </a:xfrm>
        </p:grpSpPr>
        <p:sp>
          <p:nvSpPr>
            <p:cNvPr id="64" name="橢圓 6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3468666" y="2144568"/>
            <a:ext cx="364202" cy="370278"/>
            <a:chOff x="3936004" y="2032019"/>
            <a:chExt cx="364202" cy="370278"/>
          </a:xfrm>
        </p:grpSpPr>
        <p:sp>
          <p:nvSpPr>
            <p:cNvPr id="67" name="橢圓 6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1163138" y="3913684"/>
            <a:ext cx="2549063" cy="1315637"/>
            <a:chOff x="1163138" y="3913684"/>
            <a:chExt cx="2549063" cy="1315637"/>
          </a:xfrm>
        </p:grpSpPr>
        <p:sp>
          <p:nvSpPr>
            <p:cNvPr id="70" name="文字方塊 69"/>
            <p:cNvSpPr txBox="1"/>
            <p:nvPr/>
          </p:nvSpPr>
          <p:spPr>
            <a:xfrm>
              <a:off x="2684724" y="428301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477894" y="42617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2084619" y="48575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1860184" y="391368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[5]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1163138" y="4715989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直線接點 74"/>
            <p:cNvCxnSpPr>
              <a:stCxn id="79" idx="3"/>
              <a:endCxn id="78" idx="7"/>
            </p:cNvCxnSpPr>
            <p:nvPr/>
          </p:nvCxnSpPr>
          <p:spPr>
            <a:xfrm flipH="1">
              <a:off x="2368543" y="4591369"/>
              <a:ext cx="394452" cy="39212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2501613" y="4647491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Cost[2][5]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橢圓 76"/>
            <p:cNvSpPr/>
            <p:nvPr/>
          </p:nvSpPr>
          <p:spPr>
            <a:xfrm>
              <a:off x="1515995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2122720" y="494132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2720818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0" name="弧形接點 79"/>
            <p:cNvCxnSpPr>
              <a:stCxn id="71" idx="2"/>
              <a:endCxn id="78" idx="0"/>
            </p:cNvCxnSpPr>
            <p:nvPr/>
          </p:nvCxnSpPr>
          <p:spPr>
            <a:xfrm rot="16200000" flipH="1">
              <a:off x="1808238" y="4482838"/>
              <a:ext cx="310239" cy="606725"/>
            </a:xfrm>
            <a:prstGeom prst="curvedConnector3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弧形接點 80"/>
            <p:cNvCxnSpPr>
              <a:stCxn id="77" idx="7"/>
              <a:endCxn id="79" idx="2"/>
            </p:cNvCxnSpPr>
            <p:nvPr/>
          </p:nvCxnSpPr>
          <p:spPr>
            <a:xfrm rot="16200000" flipH="1">
              <a:off x="2190406" y="3959134"/>
              <a:ext cx="101823" cy="959000"/>
            </a:xfrm>
            <a:prstGeom prst="curvedConnector4">
              <a:avLst>
                <a:gd name="adj1" fmla="val -120085"/>
                <a:gd name="adj2" fmla="val 56634"/>
              </a:avLst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圓角矩形 82"/>
          <p:cNvSpPr/>
          <p:nvPr/>
        </p:nvSpPr>
        <p:spPr>
          <a:xfrm>
            <a:off x="6187928" y="1495451"/>
            <a:ext cx="685244" cy="154899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4198481" y="4346657"/>
            <a:ext cx="43492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= min{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[5],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+ Cost[2][5]}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min{5, 4 + 3}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6430078" y="2630493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10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83" grpId="0" animBg="1"/>
      <p:bldP spid="8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(6/9)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sz="quarter" idx="4294967295"/>
          </p:nvPr>
        </p:nvGraphicFramePr>
        <p:xfrm>
          <a:off x="5220491" y="1791448"/>
          <a:ext cx="3690750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1334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39811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36278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889257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40935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932329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845879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476907" y="18057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352849" y="2202757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79929" y="259971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Decided[]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902042" y="2082668"/>
            <a:ext cx="916823" cy="369332"/>
            <a:chOff x="1369380" y="1970119"/>
            <a:chExt cx="916823" cy="369332"/>
          </a:xfrm>
        </p:grpSpPr>
        <p:cxnSp>
          <p:nvCxnSpPr>
            <p:cNvPr id="19" name="直線接點 18"/>
            <p:cNvCxnSpPr>
              <a:stCxn id="58" idx="2"/>
              <a:endCxn id="4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843195" y="1782035"/>
            <a:ext cx="419749" cy="486988"/>
            <a:chOff x="1310533" y="1669486"/>
            <a:chExt cx="419749" cy="486988"/>
          </a:xfrm>
        </p:grpSpPr>
        <p:cxnSp>
          <p:nvCxnSpPr>
            <p:cNvPr id="22" name="直線接點 21"/>
            <p:cNvCxnSpPr>
              <a:stCxn id="49" idx="7"/>
              <a:endCxn id="5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843195" y="2472669"/>
            <a:ext cx="419749" cy="445481"/>
            <a:chOff x="1310533" y="2360120"/>
            <a:chExt cx="419749" cy="445481"/>
          </a:xfrm>
        </p:grpSpPr>
        <p:cxnSp>
          <p:nvCxnSpPr>
            <p:cNvPr id="25" name="直線接點 24"/>
            <p:cNvCxnSpPr>
              <a:stCxn id="55" idx="1"/>
              <a:endCxn id="4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1466590" y="1762008"/>
            <a:ext cx="411886" cy="507015"/>
            <a:chOff x="1933928" y="1649459"/>
            <a:chExt cx="411886" cy="507015"/>
          </a:xfrm>
        </p:grpSpPr>
        <p:cxnSp>
          <p:nvCxnSpPr>
            <p:cNvPr id="28" name="直線接點 27"/>
            <p:cNvCxnSpPr>
              <a:stCxn id="58" idx="1"/>
              <a:endCxn id="5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1466590" y="2472669"/>
            <a:ext cx="411886" cy="425454"/>
            <a:chOff x="1933928" y="2360120"/>
            <a:chExt cx="411886" cy="425454"/>
          </a:xfrm>
        </p:grpSpPr>
        <p:cxnSp>
          <p:nvCxnSpPr>
            <p:cNvPr id="31" name="直線接點 30"/>
            <p:cNvCxnSpPr>
              <a:stCxn id="58" idx="3"/>
              <a:endCxn id="5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2064688" y="1749769"/>
            <a:ext cx="627365" cy="519254"/>
            <a:chOff x="2532026" y="1637220"/>
            <a:chExt cx="627365" cy="519254"/>
          </a:xfrm>
        </p:grpSpPr>
        <p:cxnSp>
          <p:nvCxnSpPr>
            <p:cNvPr id="34" name="直線接點 33"/>
            <p:cNvCxnSpPr>
              <a:stCxn id="61" idx="3"/>
              <a:endCxn id="5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064688" y="2472669"/>
            <a:ext cx="627365" cy="413215"/>
            <a:chOff x="2532026" y="2360120"/>
            <a:chExt cx="627365" cy="413215"/>
          </a:xfrm>
        </p:grpSpPr>
        <p:cxnSp>
          <p:nvCxnSpPr>
            <p:cNvPr id="37" name="直線接點 36"/>
            <p:cNvCxnSpPr>
              <a:stCxn id="64" idx="1"/>
              <a:endCxn id="5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2895699" y="1762008"/>
            <a:ext cx="653245" cy="507015"/>
            <a:chOff x="3363037" y="1649459"/>
            <a:chExt cx="653245" cy="507015"/>
          </a:xfrm>
        </p:grpSpPr>
        <p:cxnSp>
          <p:nvCxnSpPr>
            <p:cNvPr id="40" name="直線接點 39"/>
            <p:cNvCxnSpPr>
              <a:stCxn id="67" idx="1"/>
              <a:endCxn id="6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895699" y="2472669"/>
            <a:ext cx="653245" cy="425454"/>
            <a:chOff x="3363037" y="2360120"/>
            <a:chExt cx="653245" cy="425454"/>
          </a:xfrm>
        </p:grpSpPr>
        <p:cxnSp>
          <p:nvCxnSpPr>
            <p:cNvPr id="43" name="直線接點 42"/>
            <p:cNvCxnSpPr>
              <a:stCxn id="67" idx="3"/>
              <a:endCxn id="6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1508767" y="2885884"/>
            <a:ext cx="1141109" cy="369332"/>
            <a:chOff x="1976105" y="2773335"/>
            <a:chExt cx="1141109" cy="369332"/>
          </a:xfrm>
        </p:grpSpPr>
        <p:cxnSp>
          <p:nvCxnSpPr>
            <p:cNvPr id="46" name="直線接點 45"/>
            <p:cNvCxnSpPr>
              <a:stCxn id="64" idx="2"/>
              <a:endCxn id="5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橢圓 48"/>
          <p:cNvSpPr/>
          <p:nvPr/>
        </p:nvSpPr>
        <p:spPr>
          <a:xfrm>
            <a:off x="614042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575941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1220767" y="160342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1182666" y="151975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1220767" y="2822621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1182666" y="273882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1818865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1772138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0" name="群組 59"/>
          <p:cNvGrpSpPr/>
          <p:nvPr/>
        </p:nvGrpSpPr>
        <p:grpSpPr>
          <a:xfrm>
            <a:off x="2611775" y="1519630"/>
            <a:ext cx="364202" cy="371796"/>
            <a:chOff x="3079113" y="1407081"/>
            <a:chExt cx="364202" cy="371796"/>
          </a:xfrm>
        </p:grpSpPr>
        <p:sp>
          <p:nvSpPr>
            <p:cNvPr id="61" name="橢圓 6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橢圓 63"/>
          <p:cNvSpPr/>
          <p:nvPr/>
        </p:nvSpPr>
        <p:spPr>
          <a:xfrm>
            <a:off x="2649876" y="282262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2601815" y="273882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" name="群組 65"/>
          <p:cNvGrpSpPr/>
          <p:nvPr/>
        </p:nvGrpSpPr>
        <p:grpSpPr>
          <a:xfrm>
            <a:off x="3468666" y="2144568"/>
            <a:ext cx="364202" cy="370278"/>
            <a:chOff x="3936004" y="2032019"/>
            <a:chExt cx="364202" cy="370278"/>
          </a:xfrm>
        </p:grpSpPr>
        <p:sp>
          <p:nvSpPr>
            <p:cNvPr id="67" name="橢圓 6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1163138" y="3913684"/>
            <a:ext cx="2549063" cy="1315637"/>
            <a:chOff x="1163138" y="3913684"/>
            <a:chExt cx="2549063" cy="1315637"/>
          </a:xfrm>
        </p:grpSpPr>
        <p:sp>
          <p:nvSpPr>
            <p:cNvPr id="70" name="文字方塊 69"/>
            <p:cNvSpPr txBox="1"/>
            <p:nvPr/>
          </p:nvSpPr>
          <p:spPr>
            <a:xfrm>
              <a:off x="2684724" y="428301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477894" y="42617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2084619" y="48575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1860184" y="391368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[6]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1163138" y="4715989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[5]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直線接點 74"/>
            <p:cNvCxnSpPr>
              <a:stCxn id="79" idx="3"/>
              <a:endCxn id="78" idx="7"/>
            </p:cNvCxnSpPr>
            <p:nvPr/>
          </p:nvCxnSpPr>
          <p:spPr>
            <a:xfrm flipH="1">
              <a:off x="2368543" y="4591369"/>
              <a:ext cx="394452" cy="39212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2501613" y="4647491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Cost[5][6]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橢圓 76"/>
            <p:cNvSpPr/>
            <p:nvPr/>
          </p:nvSpPr>
          <p:spPr>
            <a:xfrm>
              <a:off x="1515995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2122720" y="494132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2720818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0" name="弧形接點 79"/>
            <p:cNvCxnSpPr>
              <a:stCxn id="71" idx="2"/>
              <a:endCxn id="78" idx="0"/>
            </p:cNvCxnSpPr>
            <p:nvPr/>
          </p:nvCxnSpPr>
          <p:spPr>
            <a:xfrm rot="16200000" flipH="1">
              <a:off x="1808238" y="4482838"/>
              <a:ext cx="310239" cy="606725"/>
            </a:xfrm>
            <a:prstGeom prst="curvedConnector3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弧形接點 80"/>
            <p:cNvCxnSpPr>
              <a:stCxn id="77" idx="7"/>
              <a:endCxn id="79" idx="2"/>
            </p:cNvCxnSpPr>
            <p:nvPr/>
          </p:nvCxnSpPr>
          <p:spPr>
            <a:xfrm rot="16200000" flipH="1">
              <a:off x="2190406" y="3959134"/>
              <a:ext cx="101823" cy="959000"/>
            </a:xfrm>
            <a:prstGeom prst="curvedConnector4">
              <a:avLst>
                <a:gd name="adj1" fmla="val -120085"/>
                <a:gd name="adj2" fmla="val 56634"/>
              </a:avLst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圓角矩形 82"/>
          <p:cNvSpPr/>
          <p:nvPr/>
        </p:nvSpPr>
        <p:spPr>
          <a:xfrm>
            <a:off x="7772245" y="1495451"/>
            <a:ext cx="685244" cy="154899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4198481" y="4346657"/>
            <a:ext cx="43492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= min{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[6],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+ Cost[5][6]}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min{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 + 4}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8551060" y="1831613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8551059" y="2241483"/>
            <a:ext cx="200943" cy="307777"/>
          </a:xfrm>
          <a:prstGeom prst="rect">
            <a:avLst/>
          </a:prstGeom>
          <a:solidFill>
            <a:srgbClr val="E7F3F4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8013958" y="2630493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02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83" grpId="0" animBg="1"/>
      <p:bldP spid="85" grpId="0" animBg="1"/>
      <p:bldP spid="86" grpId="0" animBg="1"/>
      <p:bldP spid="8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(7/9)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sz="quarter" idx="4294967295"/>
          </p:nvPr>
        </p:nvGraphicFramePr>
        <p:xfrm>
          <a:off x="5220491" y="1791448"/>
          <a:ext cx="3690750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1334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39811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36278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889257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40935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932329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845879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476907" y="18057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352849" y="2202757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79929" y="259971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Decided[]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902042" y="2082668"/>
            <a:ext cx="916823" cy="369332"/>
            <a:chOff x="1369380" y="1970119"/>
            <a:chExt cx="916823" cy="369332"/>
          </a:xfrm>
        </p:grpSpPr>
        <p:cxnSp>
          <p:nvCxnSpPr>
            <p:cNvPr id="19" name="直線接點 18"/>
            <p:cNvCxnSpPr>
              <a:stCxn id="58" idx="2"/>
              <a:endCxn id="4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843195" y="1782035"/>
            <a:ext cx="419749" cy="486988"/>
            <a:chOff x="1310533" y="1669486"/>
            <a:chExt cx="419749" cy="486988"/>
          </a:xfrm>
        </p:grpSpPr>
        <p:cxnSp>
          <p:nvCxnSpPr>
            <p:cNvPr id="22" name="直線接點 21"/>
            <p:cNvCxnSpPr>
              <a:stCxn id="49" idx="7"/>
              <a:endCxn id="5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843195" y="2472669"/>
            <a:ext cx="419749" cy="445481"/>
            <a:chOff x="1310533" y="2360120"/>
            <a:chExt cx="419749" cy="445481"/>
          </a:xfrm>
        </p:grpSpPr>
        <p:cxnSp>
          <p:nvCxnSpPr>
            <p:cNvPr id="25" name="直線接點 24"/>
            <p:cNvCxnSpPr>
              <a:stCxn id="55" idx="1"/>
              <a:endCxn id="4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1466590" y="1762008"/>
            <a:ext cx="411886" cy="507015"/>
            <a:chOff x="1933928" y="1649459"/>
            <a:chExt cx="411886" cy="507015"/>
          </a:xfrm>
        </p:grpSpPr>
        <p:cxnSp>
          <p:nvCxnSpPr>
            <p:cNvPr id="28" name="直線接點 27"/>
            <p:cNvCxnSpPr>
              <a:stCxn id="58" idx="1"/>
              <a:endCxn id="5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1466590" y="2472669"/>
            <a:ext cx="411886" cy="425454"/>
            <a:chOff x="1933928" y="2360120"/>
            <a:chExt cx="411886" cy="425454"/>
          </a:xfrm>
        </p:grpSpPr>
        <p:cxnSp>
          <p:nvCxnSpPr>
            <p:cNvPr id="31" name="直線接點 30"/>
            <p:cNvCxnSpPr>
              <a:stCxn id="58" idx="3"/>
              <a:endCxn id="5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2064688" y="1749769"/>
            <a:ext cx="627365" cy="519254"/>
            <a:chOff x="2532026" y="1637220"/>
            <a:chExt cx="627365" cy="519254"/>
          </a:xfrm>
        </p:grpSpPr>
        <p:cxnSp>
          <p:nvCxnSpPr>
            <p:cNvPr id="34" name="直線接點 33"/>
            <p:cNvCxnSpPr>
              <a:stCxn id="61" idx="3"/>
              <a:endCxn id="5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064688" y="2472669"/>
            <a:ext cx="627365" cy="413215"/>
            <a:chOff x="2532026" y="2360120"/>
            <a:chExt cx="627365" cy="413215"/>
          </a:xfrm>
        </p:grpSpPr>
        <p:cxnSp>
          <p:nvCxnSpPr>
            <p:cNvPr id="37" name="直線接點 36"/>
            <p:cNvCxnSpPr>
              <a:stCxn id="64" idx="1"/>
              <a:endCxn id="5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2895699" y="1762008"/>
            <a:ext cx="653245" cy="507015"/>
            <a:chOff x="3363037" y="1649459"/>
            <a:chExt cx="653245" cy="507015"/>
          </a:xfrm>
        </p:grpSpPr>
        <p:cxnSp>
          <p:nvCxnSpPr>
            <p:cNvPr id="40" name="直線接點 39"/>
            <p:cNvCxnSpPr>
              <a:stCxn id="67" idx="1"/>
              <a:endCxn id="6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895699" y="2472669"/>
            <a:ext cx="653245" cy="425454"/>
            <a:chOff x="3363037" y="2360120"/>
            <a:chExt cx="653245" cy="425454"/>
          </a:xfrm>
        </p:grpSpPr>
        <p:cxnSp>
          <p:nvCxnSpPr>
            <p:cNvPr id="43" name="直線接點 42"/>
            <p:cNvCxnSpPr>
              <a:stCxn id="67" idx="3"/>
              <a:endCxn id="6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1508767" y="2885884"/>
            <a:ext cx="1141109" cy="369332"/>
            <a:chOff x="1976105" y="2773335"/>
            <a:chExt cx="1141109" cy="369332"/>
          </a:xfrm>
        </p:grpSpPr>
        <p:cxnSp>
          <p:nvCxnSpPr>
            <p:cNvPr id="46" name="直線接點 45"/>
            <p:cNvCxnSpPr>
              <a:stCxn id="64" idx="2"/>
              <a:endCxn id="5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橢圓 48"/>
          <p:cNvSpPr/>
          <p:nvPr/>
        </p:nvSpPr>
        <p:spPr>
          <a:xfrm>
            <a:off x="614042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575941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1220767" y="160342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1182666" y="151975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1220767" y="2822621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1182666" y="273882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1818865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1772138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橢圓 60"/>
          <p:cNvSpPr/>
          <p:nvPr/>
        </p:nvSpPr>
        <p:spPr>
          <a:xfrm>
            <a:off x="2649876" y="160342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2611775" y="151963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橢圓 63"/>
          <p:cNvSpPr/>
          <p:nvPr/>
        </p:nvSpPr>
        <p:spPr>
          <a:xfrm>
            <a:off x="2649876" y="2822621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2601815" y="273882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" name="群組 65"/>
          <p:cNvGrpSpPr/>
          <p:nvPr/>
        </p:nvGrpSpPr>
        <p:grpSpPr>
          <a:xfrm>
            <a:off x="3468666" y="2144568"/>
            <a:ext cx="364202" cy="370278"/>
            <a:chOff x="3936004" y="2032019"/>
            <a:chExt cx="364202" cy="370278"/>
          </a:xfrm>
        </p:grpSpPr>
        <p:sp>
          <p:nvSpPr>
            <p:cNvPr id="67" name="橢圓 6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1163138" y="3913684"/>
            <a:ext cx="2549063" cy="1315637"/>
            <a:chOff x="1163138" y="3913684"/>
            <a:chExt cx="2549063" cy="1315637"/>
          </a:xfrm>
        </p:grpSpPr>
        <p:sp>
          <p:nvSpPr>
            <p:cNvPr id="70" name="文字方塊 69"/>
            <p:cNvSpPr txBox="1"/>
            <p:nvPr/>
          </p:nvSpPr>
          <p:spPr>
            <a:xfrm>
              <a:off x="2684724" y="428301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477894" y="42617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2084619" y="48575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1860184" y="391368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[6]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1163138" y="4715989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[4]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直線接點 74"/>
            <p:cNvCxnSpPr>
              <a:stCxn id="79" idx="3"/>
              <a:endCxn id="78" idx="7"/>
            </p:cNvCxnSpPr>
            <p:nvPr/>
          </p:nvCxnSpPr>
          <p:spPr>
            <a:xfrm flipH="1">
              <a:off x="2368543" y="4591369"/>
              <a:ext cx="394452" cy="39212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2501613" y="4647491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Cost[4][6]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橢圓 76"/>
            <p:cNvSpPr/>
            <p:nvPr/>
          </p:nvSpPr>
          <p:spPr>
            <a:xfrm>
              <a:off x="1515995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2122720" y="494132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2720818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0" name="弧形接點 79"/>
            <p:cNvCxnSpPr>
              <a:stCxn id="71" idx="2"/>
              <a:endCxn id="78" idx="0"/>
            </p:cNvCxnSpPr>
            <p:nvPr/>
          </p:nvCxnSpPr>
          <p:spPr>
            <a:xfrm rot="16200000" flipH="1">
              <a:off x="1808238" y="4482838"/>
              <a:ext cx="310239" cy="606725"/>
            </a:xfrm>
            <a:prstGeom prst="curvedConnector3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弧形接點 80"/>
            <p:cNvCxnSpPr>
              <a:stCxn id="77" idx="7"/>
              <a:endCxn id="79" idx="2"/>
            </p:cNvCxnSpPr>
            <p:nvPr/>
          </p:nvCxnSpPr>
          <p:spPr>
            <a:xfrm rot="16200000" flipH="1">
              <a:off x="2190406" y="3959134"/>
              <a:ext cx="101823" cy="959000"/>
            </a:xfrm>
            <a:prstGeom prst="curvedConnector4">
              <a:avLst>
                <a:gd name="adj1" fmla="val -120085"/>
                <a:gd name="adj2" fmla="val 56634"/>
              </a:avLst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圓角矩形 82"/>
          <p:cNvSpPr/>
          <p:nvPr/>
        </p:nvSpPr>
        <p:spPr>
          <a:xfrm>
            <a:off x="7240595" y="1495451"/>
            <a:ext cx="685244" cy="154899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4198481" y="4346657"/>
            <a:ext cx="43492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= min{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[6],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+ Cost[4][6]}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min{9, 8 + 6}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7482308" y="2630493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4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83" grpId="0" animBg="1"/>
      <p:bldP spid="8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(8/9)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sz="quarter" idx="4294967295"/>
          </p:nvPr>
        </p:nvGraphicFramePr>
        <p:xfrm>
          <a:off x="5220491" y="1791448"/>
          <a:ext cx="3690750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1334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39811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36278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889257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40935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932329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845879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476907" y="18057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352849" y="2202757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79929" y="259971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Decided[]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902042" y="2082668"/>
            <a:ext cx="916823" cy="369332"/>
            <a:chOff x="1369380" y="1970119"/>
            <a:chExt cx="916823" cy="369332"/>
          </a:xfrm>
        </p:grpSpPr>
        <p:cxnSp>
          <p:nvCxnSpPr>
            <p:cNvPr id="19" name="直線接點 18"/>
            <p:cNvCxnSpPr>
              <a:stCxn id="58" idx="2"/>
              <a:endCxn id="4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843195" y="1782035"/>
            <a:ext cx="419749" cy="486988"/>
            <a:chOff x="1310533" y="1669486"/>
            <a:chExt cx="419749" cy="486988"/>
          </a:xfrm>
        </p:grpSpPr>
        <p:cxnSp>
          <p:nvCxnSpPr>
            <p:cNvPr id="22" name="直線接點 21"/>
            <p:cNvCxnSpPr>
              <a:stCxn id="49" idx="7"/>
              <a:endCxn id="5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843195" y="2472669"/>
            <a:ext cx="419749" cy="445481"/>
            <a:chOff x="1310533" y="2360120"/>
            <a:chExt cx="419749" cy="445481"/>
          </a:xfrm>
        </p:grpSpPr>
        <p:cxnSp>
          <p:nvCxnSpPr>
            <p:cNvPr id="25" name="直線接點 24"/>
            <p:cNvCxnSpPr>
              <a:stCxn id="55" idx="1"/>
              <a:endCxn id="4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1466590" y="1762008"/>
            <a:ext cx="411886" cy="507015"/>
            <a:chOff x="1933928" y="1649459"/>
            <a:chExt cx="411886" cy="507015"/>
          </a:xfrm>
        </p:grpSpPr>
        <p:cxnSp>
          <p:nvCxnSpPr>
            <p:cNvPr id="28" name="直線接點 27"/>
            <p:cNvCxnSpPr>
              <a:stCxn id="58" idx="1"/>
              <a:endCxn id="5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1466590" y="2472669"/>
            <a:ext cx="411886" cy="425454"/>
            <a:chOff x="1933928" y="2360120"/>
            <a:chExt cx="411886" cy="425454"/>
          </a:xfrm>
        </p:grpSpPr>
        <p:cxnSp>
          <p:nvCxnSpPr>
            <p:cNvPr id="31" name="直線接點 30"/>
            <p:cNvCxnSpPr>
              <a:stCxn id="58" idx="3"/>
              <a:endCxn id="5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2064688" y="1749769"/>
            <a:ext cx="627365" cy="519254"/>
            <a:chOff x="2532026" y="1637220"/>
            <a:chExt cx="627365" cy="519254"/>
          </a:xfrm>
        </p:grpSpPr>
        <p:cxnSp>
          <p:nvCxnSpPr>
            <p:cNvPr id="34" name="直線接點 33"/>
            <p:cNvCxnSpPr>
              <a:stCxn id="61" idx="3"/>
              <a:endCxn id="5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064688" y="2472669"/>
            <a:ext cx="627365" cy="413215"/>
            <a:chOff x="2532026" y="2360120"/>
            <a:chExt cx="627365" cy="413215"/>
          </a:xfrm>
        </p:grpSpPr>
        <p:cxnSp>
          <p:nvCxnSpPr>
            <p:cNvPr id="37" name="直線接點 36"/>
            <p:cNvCxnSpPr>
              <a:stCxn id="64" idx="1"/>
              <a:endCxn id="5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2895699" y="1762008"/>
            <a:ext cx="653245" cy="507015"/>
            <a:chOff x="3363037" y="1649459"/>
            <a:chExt cx="653245" cy="507015"/>
          </a:xfrm>
        </p:grpSpPr>
        <p:cxnSp>
          <p:nvCxnSpPr>
            <p:cNvPr id="40" name="直線接點 39"/>
            <p:cNvCxnSpPr>
              <a:stCxn id="67" idx="1"/>
              <a:endCxn id="6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895699" y="2472669"/>
            <a:ext cx="653245" cy="425454"/>
            <a:chOff x="3363037" y="2360120"/>
            <a:chExt cx="653245" cy="425454"/>
          </a:xfrm>
        </p:grpSpPr>
        <p:cxnSp>
          <p:nvCxnSpPr>
            <p:cNvPr id="43" name="直線接點 42"/>
            <p:cNvCxnSpPr>
              <a:stCxn id="67" idx="3"/>
              <a:endCxn id="6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1508767" y="2885884"/>
            <a:ext cx="1141109" cy="369332"/>
            <a:chOff x="1976105" y="2773335"/>
            <a:chExt cx="1141109" cy="369332"/>
          </a:xfrm>
        </p:grpSpPr>
        <p:cxnSp>
          <p:nvCxnSpPr>
            <p:cNvPr id="46" name="直線接點 45"/>
            <p:cNvCxnSpPr>
              <a:stCxn id="64" idx="2"/>
              <a:endCxn id="5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橢圓 48"/>
          <p:cNvSpPr/>
          <p:nvPr/>
        </p:nvSpPr>
        <p:spPr>
          <a:xfrm>
            <a:off x="614042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575941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1220767" y="160342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1182666" y="151975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1220767" y="2822621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1182666" y="273882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1818865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1772138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橢圓 60"/>
          <p:cNvSpPr/>
          <p:nvPr/>
        </p:nvSpPr>
        <p:spPr>
          <a:xfrm>
            <a:off x="2649876" y="160342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2611775" y="151963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橢圓 63"/>
          <p:cNvSpPr/>
          <p:nvPr/>
        </p:nvSpPr>
        <p:spPr>
          <a:xfrm>
            <a:off x="2649876" y="2822621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2601815" y="273882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橢圓 66"/>
          <p:cNvSpPr/>
          <p:nvPr/>
        </p:nvSpPr>
        <p:spPr>
          <a:xfrm>
            <a:off x="3506767" y="222684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文字方塊 67"/>
          <p:cNvSpPr txBox="1"/>
          <p:nvPr/>
        </p:nvSpPr>
        <p:spPr>
          <a:xfrm>
            <a:off x="3468666" y="214456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圓角矩形 82"/>
          <p:cNvSpPr/>
          <p:nvPr/>
        </p:nvSpPr>
        <p:spPr>
          <a:xfrm>
            <a:off x="8303895" y="1495451"/>
            <a:ext cx="685244" cy="154899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文字方塊 86"/>
          <p:cNvSpPr txBox="1"/>
          <p:nvPr/>
        </p:nvSpPr>
        <p:spPr>
          <a:xfrm>
            <a:off x="8534975" y="2630493"/>
            <a:ext cx="200943" cy="307777"/>
          </a:xfrm>
          <a:prstGeom prst="rect">
            <a:avLst/>
          </a:prstGeom>
          <a:solidFill>
            <a:srgbClr val="E8F0FC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5" name="內容版面配置區 60"/>
          <p:cNvGraphicFramePr>
            <a:graphicFrameLocks/>
          </p:cNvGraphicFramePr>
          <p:nvPr/>
        </p:nvGraphicFramePr>
        <p:xfrm>
          <a:off x="1352824" y="3602886"/>
          <a:ext cx="5716870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62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Decided vertices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6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2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}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2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}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9/5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2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}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9/5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6" name="文字方塊 85"/>
          <p:cNvSpPr txBox="1"/>
          <p:nvPr/>
        </p:nvSpPr>
        <p:spPr>
          <a:xfrm>
            <a:off x="7166135" y="5977305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[]/Prior[]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295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83" grpId="0" animBg="1"/>
      <p:bldP spid="87" grpId="0" animBg="1"/>
      <p:bldP spid="8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(9/9)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演算法時間複雜度：</a:t>
            </a:r>
            <a:r>
              <a:rPr lang="en-US" altLang="zh-TW" i="1" dirty="0">
                <a:solidFill>
                  <a:srgbClr val="C00000"/>
                </a:solidFill>
              </a:rPr>
              <a:t>O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i="1" dirty="0">
                <a:solidFill>
                  <a:srgbClr val="C00000"/>
                </a:solidFill>
              </a:rPr>
              <a:t>V</a:t>
            </a:r>
            <a:r>
              <a:rPr lang="en-US" altLang="zh-TW" baseline="30000" dirty="0">
                <a:solidFill>
                  <a:srgbClr val="C00000"/>
                </a:solidFill>
              </a:rPr>
              <a:t>2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某一點</a:t>
            </a:r>
            <a:r>
              <a:rPr lang="zh-TW" altLang="en-US" dirty="0"/>
              <a:t>至每一點的最短路徑：</a:t>
            </a:r>
            <a:r>
              <a:rPr lang="en-US" altLang="zh-TW" i="1" dirty="0"/>
              <a:t>v</a:t>
            </a:r>
            <a:r>
              <a:rPr lang="en-US" altLang="zh-TW" baseline="-25000" dirty="0"/>
              <a:t>0</a:t>
            </a:r>
            <a:r>
              <a:rPr lang="en-US" altLang="zh-TW" dirty="0"/>
              <a:t> </a:t>
            </a:r>
            <a:r>
              <a:rPr lang="zh-TW" altLang="en-US" dirty="0"/>
              <a:t>至其他所有點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每一點至每一點的最短路徑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任意兩點</a:t>
            </a:r>
            <a:r>
              <a:rPr lang="zh-TW" altLang="en-US" dirty="0"/>
              <a:t>之間的最短路徑</a:t>
            </a:r>
            <a:endParaRPr lang="en-US" altLang="zh-TW" dirty="0"/>
          </a:p>
          <a:p>
            <a:pPr lvl="1"/>
            <a:r>
              <a:rPr lang="zh-TW" altLang="en-US" dirty="0"/>
              <a:t>每一點輪流當起點執行</a:t>
            </a:r>
            <a:r>
              <a:rPr lang="en-US" altLang="zh-TW" dirty="0"/>
              <a:t>Dijkstra</a:t>
            </a:r>
            <a:r>
              <a:rPr lang="zh-TW" altLang="en-US" dirty="0"/>
              <a:t>演算法</a:t>
            </a:r>
            <a:endParaRPr lang="en-US" altLang="zh-TW" dirty="0"/>
          </a:p>
          <a:p>
            <a:pPr lvl="1"/>
            <a:r>
              <a:rPr lang="zh-TW" altLang="en-US" dirty="0"/>
              <a:t>時間複雜度：</a:t>
            </a:r>
            <a:r>
              <a:rPr lang="en-US" altLang="zh-TW" i="1" dirty="0">
                <a:solidFill>
                  <a:srgbClr val="C00000"/>
                </a:solidFill>
              </a:rPr>
              <a:t>O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i="1" dirty="0">
                <a:solidFill>
                  <a:srgbClr val="C00000"/>
                </a:solidFill>
              </a:rPr>
              <a:t>V</a:t>
            </a:r>
            <a:r>
              <a:rPr lang="en-US" altLang="zh-TW" baseline="30000" dirty="0">
                <a:solidFill>
                  <a:srgbClr val="C00000"/>
                </a:solidFill>
              </a:rPr>
              <a:t>3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0445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AOV</a:t>
            </a:r>
            <a:r>
              <a:rPr lang="zh-TW" altLang="en-US" dirty="0"/>
              <a:t> 網路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>
                <a:solidFill>
                  <a:srgbClr val="C00000"/>
                </a:solidFill>
              </a:rPr>
              <a:t>A</a:t>
            </a:r>
            <a:r>
              <a:rPr lang="en-US" altLang="zh-TW" dirty="0"/>
              <a:t>ctivity </a:t>
            </a:r>
            <a:r>
              <a:rPr lang="en-US" altLang="zh-TW" dirty="0">
                <a:solidFill>
                  <a:srgbClr val="C00000"/>
                </a:solidFill>
              </a:rPr>
              <a:t>o</a:t>
            </a:r>
            <a:r>
              <a:rPr lang="en-US" altLang="zh-TW" dirty="0"/>
              <a:t>n </a:t>
            </a:r>
            <a:r>
              <a:rPr lang="en-US" altLang="zh-TW" dirty="0">
                <a:solidFill>
                  <a:srgbClr val="C00000"/>
                </a:solidFill>
              </a:rPr>
              <a:t>V</a:t>
            </a:r>
            <a:r>
              <a:rPr lang="en-US" altLang="zh-TW" dirty="0"/>
              <a:t>ertex Network</a:t>
            </a:r>
          </a:p>
          <a:p>
            <a:r>
              <a:rPr lang="zh-TW" altLang="en-US" dirty="0"/>
              <a:t>有向圖，有向邊表示活動發生的先後順序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46</a:t>
            </a:fld>
            <a:endParaRPr lang="en-US" dirty="0"/>
          </a:p>
        </p:txBody>
      </p:sp>
      <p:grpSp>
        <p:nvGrpSpPr>
          <p:cNvPr id="62" name="群組 61"/>
          <p:cNvGrpSpPr/>
          <p:nvPr/>
        </p:nvGrpSpPr>
        <p:grpSpPr>
          <a:xfrm>
            <a:off x="618728" y="2249463"/>
            <a:ext cx="7833180" cy="3491672"/>
            <a:chOff x="618728" y="2249463"/>
            <a:chExt cx="7833180" cy="3491672"/>
          </a:xfrm>
        </p:grpSpPr>
        <p:sp>
          <p:nvSpPr>
            <p:cNvPr id="7" name="橢圓 6"/>
            <p:cNvSpPr/>
            <p:nvPr/>
          </p:nvSpPr>
          <p:spPr>
            <a:xfrm>
              <a:off x="6079881" y="2600986"/>
              <a:ext cx="720000" cy="72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打開</a:t>
              </a:r>
              <a:endParaRPr lang="en-US" altLang="zh-TW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zh-TW" altLang="en-US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音響</a:t>
              </a:r>
            </a:p>
          </p:txBody>
        </p:sp>
        <p:sp>
          <p:nvSpPr>
            <p:cNvPr id="8" name="橢圓 7"/>
            <p:cNvSpPr/>
            <p:nvPr/>
          </p:nvSpPr>
          <p:spPr>
            <a:xfrm>
              <a:off x="4574041" y="3788735"/>
              <a:ext cx="720000" cy="72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發動</a:t>
              </a:r>
              <a:endParaRPr lang="en-US" altLang="zh-TW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zh-TW" altLang="en-US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汽車</a:t>
              </a:r>
            </a:p>
          </p:txBody>
        </p:sp>
        <p:sp>
          <p:nvSpPr>
            <p:cNvPr id="9" name="橢圓 8"/>
            <p:cNvSpPr/>
            <p:nvPr/>
          </p:nvSpPr>
          <p:spPr>
            <a:xfrm>
              <a:off x="6079881" y="3788735"/>
              <a:ext cx="720000" cy="72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吃</a:t>
              </a:r>
              <a:endParaRPr lang="en-US" altLang="zh-TW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zh-TW" altLang="en-US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早餐</a:t>
              </a:r>
            </a:p>
          </p:txBody>
        </p:sp>
        <p:sp>
          <p:nvSpPr>
            <p:cNvPr id="10" name="橢圓 9"/>
            <p:cNvSpPr/>
            <p:nvPr/>
          </p:nvSpPr>
          <p:spPr>
            <a:xfrm>
              <a:off x="6079881" y="5021135"/>
              <a:ext cx="720000" cy="72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打</a:t>
              </a:r>
              <a:endParaRPr lang="en-US" altLang="zh-TW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zh-TW" altLang="en-US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領帶</a:t>
              </a:r>
            </a:p>
          </p:txBody>
        </p:sp>
        <p:sp>
          <p:nvSpPr>
            <p:cNvPr id="11" name="橢圓 10"/>
            <p:cNvSpPr/>
            <p:nvPr/>
          </p:nvSpPr>
          <p:spPr>
            <a:xfrm>
              <a:off x="7731908" y="3788735"/>
              <a:ext cx="720000" cy="72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開車</a:t>
              </a:r>
              <a:endParaRPr lang="en-US" altLang="zh-TW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zh-TW" altLang="en-US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上班</a:t>
              </a:r>
            </a:p>
          </p:txBody>
        </p:sp>
        <p:sp>
          <p:nvSpPr>
            <p:cNvPr id="12" name="橢圓 11"/>
            <p:cNvSpPr/>
            <p:nvPr/>
          </p:nvSpPr>
          <p:spPr>
            <a:xfrm>
              <a:off x="618728" y="3788735"/>
              <a:ext cx="720000" cy="72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起床</a:t>
              </a:r>
            </a:p>
          </p:txBody>
        </p:sp>
        <p:sp>
          <p:nvSpPr>
            <p:cNvPr id="13" name="橢圓 12"/>
            <p:cNvSpPr/>
            <p:nvPr/>
          </p:nvSpPr>
          <p:spPr>
            <a:xfrm>
              <a:off x="1876910" y="2830828"/>
              <a:ext cx="720000" cy="72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刷牙</a:t>
              </a:r>
            </a:p>
          </p:txBody>
        </p:sp>
        <p:sp>
          <p:nvSpPr>
            <p:cNvPr id="14" name="橢圓 13"/>
            <p:cNvSpPr/>
            <p:nvPr/>
          </p:nvSpPr>
          <p:spPr>
            <a:xfrm>
              <a:off x="1876910" y="4661135"/>
              <a:ext cx="720000" cy="72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洗臉</a:t>
              </a:r>
            </a:p>
          </p:txBody>
        </p:sp>
        <p:sp>
          <p:nvSpPr>
            <p:cNvPr id="15" name="橢圓 14"/>
            <p:cNvSpPr/>
            <p:nvPr/>
          </p:nvSpPr>
          <p:spPr>
            <a:xfrm>
              <a:off x="3120920" y="3788735"/>
              <a:ext cx="720000" cy="72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穿衣</a:t>
              </a:r>
            </a:p>
          </p:txBody>
        </p:sp>
        <p:cxnSp>
          <p:nvCxnSpPr>
            <p:cNvPr id="17" name="直線單箭頭接點 16"/>
            <p:cNvCxnSpPr>
              <a:stCxn id="12" idx="7"/>
              <a:endCxn id="13" idx="3"/>
            </p:cNvCxnSpPr>
            <p:nvPr/>
          </p:nvCxnSpPr>
          <p:spPr>
            <a:xfrm flipV="1">
              <a:off x="1233286" y="3445386"/>
              <a:ext cx="749066" cy="448791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12" idx="5"/>
              <a:endCxn id="14" idx="1"/>
            </p:cNvCxnSpPr>
            <p:nvPr/>
          </p:nvCxnSpPr>
          <p:spPr>
            <a:xfrm>
              <a:off x="1233286" y="4403293"/>
              <a:ext cx="749066" cy="363284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stCxn id="13" idx="5"/>
              <a:endCxn id="15" idx="1"/>
            </p:cNvCxnSpPr>
            <p:nvPr/>
          </p:nvCxnSpPr>
          <p:spPr>
            <a:xfrm>
              <a:off x="2491468" y="3445386"/>
              <a:ext cx="734894" cy="448791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14" idx="7"/>
              <a:endCxn id="15" idx="3"/>
            </p:cNvCxnSpPr>
            <p:nvPr/>
          </p:nvCxnSpPr>
          <p:spPr>
            <a:xfrm flipV="1">
              <a:off x="2491468" y="4403293"/>
              <a:ext cx="734894" cy="363284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26"/>
            <p:cNvCxnSpPr>
              <a:stCxn id="15" idx="6"/>
              <a:endCxn id="8" idx="2"/>
            </p:cNvCxnSpPr>
            <p:nvPr/>
          </p:nvCxnSpPr>
          <p:spPr>
            <a:xfrm>
              <a:off x="3840920" y="4148735"/>
              <a:ext cx="733121" cy="0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/>
            <p:cNvCxnSpPr>
              <a:stCxn id="15" idx="5"/>
              <a:endCxn id="10" idx="2"/>
            </p:cNvCxnSpPr>
            <p:nvPr/>
          </p:nvCxnSpPr>
          <p:spPr>
            <a:xfrm>
              <a:off x="3735478" y="4403293"/>
              <a:ext cx="2344403" cy="977842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/>
            <p:cNvCxnSpPr>
              <a:stCxn id="8" idx="5"/>
              <a:endCxn id="10" idx="1"/>
            </p:cNvCxnSpPr>
            <p:nvPr/>
          </p:nvCxnSpPr>
          <p:spPr>
            <a:xfrm>
              <a:off x="5188599" y="4403293"/>
              <a:ext cx="996724" cy="723284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>
              <a:stCxn id="8" idx="6"/>
              <a:endCxn id="9" idx="2"/>
            </p:cNvCxnSpPr>
            <p:nvPr/>
          </p:nvCxnSpPr>
          <p:spPr>
            <a:xfrm>
              <a:off x="5294041" y="4148735"/>
              <a:ext cx="785840" cy="0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stCxn id="8" idx="7"/>
              <a:endCxn id="7" idx="3"/>
            </p:cNvCxnSpPr>
            <p:nvPr/>
          </p:nvCxnSpPr>
          <p:spPr>
            <a:xfrm flipV="1">
              <a:off x="5188599" y="3215544"/>
              <a:ext cx="996724" cy="678633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7" idx="5"/>
              <a:endCxn id="11" idx="1"/>
            </p:cNvCxnSpPr>
            <p:nvPr/>
          </p:nvCxnSpPr>
          <p:spPr>
            <a:xfrm>
              <a:off x="6694439" y="3215544"/>
              <a:ext cx="1142911" cy="678633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單箭頭接點 45"/>
            <p:cNvCxnSpPr>
              <a:stCxn id="9" idx="6"/>
              <a:endCxn id="11" idx="2"/>
            </p:cNvCxnSpPr>
            <p:nvPr/>
          </p:nvCxnSpPr>
          <p:spPr>
            <a:xfrm>
              <a:off x="6799881" y="4148735"/>
              <a:ext cx="932027" cy="0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>
              <a:stCxn id="10" idx="7"/>
              <a:endCxn id="11" idx="3"/>
            </p:cNvCxnSpPr>
            <p:nvPr/>
          </p:nvCxnSpPr>
          <p:spPr>
            <a:xfrm flipV="1">
              <a:off x="6694439" y="4403293"/>
              <a:ext cx="1142911" cy="723284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/>
            <p:cNvSpPr txBox="1"/>
            <p:nvPr/>
          </p:nvSpPr>
          <p:spPr>
            <a:xfrm>
              <a:off x="816737" y="346972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2080457" y="251578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2080457" y="4346089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324467" y="347019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4758439" y="3486976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6294061" y="2249463"/>
              <a:ext cx="2696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6272421" y="343140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字方塊 59"/>
            <p:cNvSpPr txBox="1"/>
            <p:nvPr/>
          </p:nvSpPr>
          <p:spPr>
            <a:xfrm>
              <a:off x="6276214" y="470279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7964309" y="3472801"/>
              <a:ext cx="2551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46827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AOV</a:t>
            </a:r>
            <a:r>
              <a:rPr lang="zh-TW" altLang="en-US" dirty="0"/>
              <a:t> 網路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i="1" dirty="0"/>
              <a:t>a</a:t>
            </a:r>
            <a:r>
              <a:rPr lang="zh-TW" altLang="en-US" dirty="0"/>
              <a:t>是其他點的前行者</a:t>
            </a:r>
            <a:r>
              <a:rPr lang="en-US" altLang="zh-TW" dirty="0"/>
              <a:t>(predecessor)</a:t>
            </a:r>
          </a:p>
          <a:p>
            <a:r>
              <a:rPr lang="en-US" altLang="zh-TW" i="1" dirty="0"/>
              <a:t>a</a:t>
            </a:r>
            <a:r>
              <a:rPr lang="zh-TW" altLang="en-US" dirty="0"/>
              <a:t>是</a:t>
            </a:r>
            <a:r>
              <a:rPr lang="en-US" altLang="zh-TW" i="1" dirty="0"/>
              <a:t>b</a:t>
            </a:r>
            <a:r>
              <a:rPr lang="zh-TW" altLang="en-US" i="1" dirty="0"/>
              <a:t>、</a:t>
            </a:r>
            <a:r>
              <a:rPr lang="en-US" altLang="zh-TW" i="1" dirty="0"/>
              <a:t>c</a:t>
            </a:r>
            <a:r>
              <a:rPr lang="zh-TW" altLang="en-US" dirty="0"/>
              <a:t>的立即前行者</a:t>
            </a:r>
            <a:r>
              <a:rPr lang="en-US" altLang="zh-TW" dirty="0"/>
              <a:t>(immediate predecessor)</a:t>
            </a:r>
          </a:p>
          <a:p>
            <a:r>
              <a:rPr lang="en-US" altLang="zh-TW" i="1" dirty="0"/>
              <a:t>d</a:t>
            </a:r>
            <a:r>
              <a:rPr lang="zh-TW" altLang="en-US" dirty="0"/>
              <a:t>是</a:t>
            </a:r>
            <a:r>
              <a:rPr lang="en-US" altLang="zh-TW" i="1" dirty="0"/>
              <a:t>a</a:t>
            </a:r>
            <a:r>
              <a:rPr lang="zh-TW" altLang="en-US" dirty="0"/>
              <a:t>、</a:t>
            </a:r>
            <a:r>
              <a:rPr lang="en-US" altLang="zh-TW" i="1" dirty="0"/>
              <a:t>b</a:t>
            </a:r>
            <a:r>
              <a:rPr lang="zh-TW" altLang="en-US" dirty="0"/>
              <a:t>、</a:t>
            </a:r>
            <a:r>
              <a:rPr lang="en-US" altLang="zh-TW" i="1" dirty="0"/>
              <a:t>c</a:t>
            </a:r>
            <a:r>
              <a:rPr lang="zh-TW" altLang="en-US" dirty="0"/>
              <a:t>的後繼者</a:t>
            </a:r>
            <a:r>
              <a:rPr lang="en-US" altLang="zh-TW" dirty="0"/>
              <a:t>(successor)</a:t>
            </a:r>
          </a:p>
          <a:p>
            <a:r>
              <a:rPr lang="en-US" altLang="zh-TW" i="1" dirty="0"/>
              <a:t>d</a:t>
            </a:r>
            <a:r>
              <a:rPr lang="zh-TW" altLang="en-US" dirty="0"/>
              <a:t>是</a:t>
            </a:r>
            <a:r>
              <a:rPr lang="en-US" altLang="zh-TW" i="1" dirty="0"/>
              <a:t>b</a:t>
            </a:r>
            <a:r>
              <a:rPr lang="zh-TW" altLang="en-US" dirty="0"/>
              <a:t>、</a:t>
            </a:r>
            <a:r>
              <a:rPr lang="en-US" altLang="zh-TW" i="1" dirty="0"/>
              <a:t>c</a:t>
            </a:r>
            <a:r>
              <a:rPr lang="zh-TW" altLang="en-US" dirty="0"/>
              <a:t>的立即後繼者</a:t>
            </a:r>
            <a:r>
              <a:rPr lang="en-US" altLang="zh-TW" dirty="0"/>
              <a:t>(immediate successor)</a:t>
            </a:r>
          </a:p>
          <a:p>
            <a:r>
              <a:rPr lang="en-US" altLang="zh-TW" i="1" dirty="0"/>
              <a:t>d</a:t>
            </a:r>
            <a:r>
              <a:rPr lang="zh-TW" altLang="en-US" dirty="0"/>
              <a:t>有</a:t>
            </a:r>
            <a:r>
              <a:rPr lang="en-US" altLang="zh-TW" i="1" dirty="0"/>
              <a:t>b</a:t>
            </a:r>
            <a:r>
              <a:rPr lang="zh-TW" altLang="en-US" dirty="0"/>
              <a:t>、</a:t>
            </a:r>
            <a:r>
              <a:rPr lang="en-US" altLang="zh-TW" i="1" dirty="0"/>
              <a:t>c</a:t>
            </a:r>
            <a:r>
              <a:rPr lang="zh-TW" altLang="en-US" dirty="0"/>
              <a:t>兩個立即前行者，</a:t>
            </a:r>
            <a:r>
              <a:rPr lang="en-US" altLang="zh-TW" i="1" dirty="0"/>
              <a:t>b</a:t>
            </a:r>
            <a:r>
              <a:rPr lang="zh-TW" altLang="en-US" dirty="0"/>
              <a:t>、</a:t>
            </a:r>
            <a:r>
              <a:rPr lang="en-US" altLang="zh-TW" i="1" dirty="0"/>
              <a:t>c</a:t>
            </a:r>
            <a:r>
              <a:rPr lang="zh-TW" altLang="en-US" dirty="0"/>
              <a:t>必須都完成後，才會執行</a:t>
            </a:r>
            <a:r>
              <a:rPr lang="en-US" altLang="zh-TW" i="1" dirty="0"/>
              <a:t>d</a:t>
            </a:r>
          </a:p>
          <a:p>
            <a:r>
              <a:rPr lang="en-US" altLang="zh-TW" dirty="0"/>
              <a:t>AOV</a:t>
            </a:r>
            <a:r>
              <a:rPr lang="zh-TW" altLang="en-US" dirty="0"/>
              <a:t>網路必須</a:t>
            </a:r>
            <a:r>
              <a:rPr lang="zh-TW" altLang="en-US" dirty="0">
                <a:solidFill>
                  <a:srgbClr val="C00000"/>
                </a:solidFill>
              </a:rPr>
              <a:t>沒有環路</a:t>
            </a:r>
            <a:r>
              <a:rPr lang="en-US" altLang="zh-TW" dirty="0"/>
              <a:t>(</a:t>
            </a:r>
            <a:r>
              <a:rPr lang="zh-TW" altLang="en-US" dirty="0"/>
              <a:t>無環圖 </a:t>
            </a:r>
            <a:r>
              <a:rPr lang="en-US" altLang="zh-TW" dirty="0"/>
              <a:t>acyclic graph)</a:t>
            </a:r>
          </a:p>
          <a:p>
            <a:r>
              <a:rPr lang="zh-TW" altLang="en-US" dirty="0">
                <a:solidFill>
                  <a:srgbClr val="C00000"/>
                </a:solidFill>
              </a:rPr>
              <a:t>源點</a:t>
            </a:r>
            <a:r>
              <a:rPr lang="en-US" altLang="zh-TW" dirty="0">
                <a:solidFill>
                  <a:srgbClr val="C00000"/>
                </a:solidFill>
              </a:rPr>
              <a:t>(source vertex)</a:t>
            </a:r>
            <a:r>
              <a:rPr lang="zh-TW" altLang="en-US" dirty="0"/>
              <a:t>：沒有前行者的點</a:t>
            </a:r>
            <a:endParaRPr lang="en-US" altLang="zh-TW" dirty="0"/>
          </a:p>
          <a:p>
            <a:r>
              <a:rPr lang="zh-TW" altLang="en-US" dirty="0">
                <a:solidFill>
                  <a:srgbClr val="C00000"/>
                </a:solidFill>
              </a:rPr>
              <a:t>終點</a:t>
            </a:r>
            <a:r>
              <a:rPr lang="en-US" altLang="zh-TW" dirty="0">
                <a:solidFill>
                  <a:srgbClr val="C00000"/>
                </a:solidFill>
              </a:rPr>
              <a:t>(sink vertex)</a:t>
            </a:r>
            <a:r>
              <a:rPr lang="zh-TW" altLang="en-US" dirty="0"/>
              <a:t>：沒有後繼者的點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639" y="4369981"/>
            <a:ext cx="4778307" cy="2179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987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拓樸排序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拓樸順序 </a:t>
            </a:r>
            <a:r>
              <a:rPr lang="en-US" altLang="zh-TW" dirty="0"/>
              <a:t>topological order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en-US" altLang="zh-TW" i="1" dirty="0"/>
              <a:t>a</a:t>
            </a:r>
            <a:r>
              <a:rPr lang="en-US" altLang="zh-TW" dirty="0"/>
              <a:t> </a:t>
            </a:r>
            <a:r>
              <a:rPr lang="en-US" altLang="zh-TW" dirty="0">
                <a:sym typeface="Symbol"/>
              </a:rPr>
              <a:t> </a:t>
            </a:r>
            <a:r>
              <a:rPr lang="en-US" altLang="zh-TW" i="1" dirty="0">
                <a:sym typeface="Symbol"/>
              </a:rPr>
              <a:t>b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c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d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e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f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g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h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 err="1">
                <a:sym typeface="Symbol"/>
              </a:rPr>
              <a:t>i</a:t>
            </a:r>
            <a:endParaRPr lang="en-US" altLang="zh-TW" i="1" dirty="0">
              <a:sym typeface="Symbol"/>
            </a:endParaRPr>
          </a:p>
          <a:p>
            <a:r>
              <a:rPr lang="zh-TW" altLang="en-US" dirty="0">
                <a:sym typeface="Symbol"/>
              </a:rPr>
              <a:t>過程稱為拓樸排序 </a:t>
            </a:r>
            <a:r>
              <a:rPr lang="en-US" altLang="zh-TW" dirty="0">
                <a:sym typeface="Symbol"/>
              </a:rPr>
              <a:t>topological sorting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099" y="2870791"/>
            <a:ext cx="7132480" cy="325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21646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拓樸排序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4993547" y="1242201"/>
            <a:ext cx="845390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開始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93679" y="1905248"/>
            <a:ext cx="3045126" cy="388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尋找分支度為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的點</a:t>
            </a:r>
          </a:p>
        </p:txBody>
      </p:sp>
      <p:sp>
        <p:nvSpPr>
          <p:cNvPr id="9" name="流程圖: 決策 8"/>
          <p:cNvSpPr/>
          <p:nvPr/>
        </p:nvSpPr>
        <p:spPr>
          <a:xfrm>
            <a:off x="3893679" y="2663426"/>
            <a:ext cx="3045126" cy="83102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可否找到？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zh-TW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93679" y="3857550"/>
            <a:ext cx="3045126" cy="920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輸出此點並刪除此點所連的邊；同時這些邊所連接支點的入分支度均減</a:t>
            </a:r>
            <a:r>
              <a:rPr lang="en-US" altLang="zh-TW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流程圖: 決策 10"/>
          <p:cNvSpPr/>
          <p:nvPr/>
        </p:nvSpPr>
        <p:spPr>
          <a:xfrm>
            <a:off x="3893679" y="5137529"/>
            <a:ext cx="3045126" cy="83102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所有點都已輸出？</a:t>
            </a:r>
          </a:p>
        </p:txBody>
      </p:sp>
      <p:sp>
        <p:nvSpPr>
          <p:cNvPr id="13" name="圓角矩形 12"/>
          <p:cNvSpPr/>
          <p:nvPr/>
        </p:nvSpPr>
        <p:spPr>
          <a:xfrm>
            <a:off x="4980607" y="6393586"/>
            <a:ext cx="871269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</a:p>
        </p:txBody>
      </p:sp>
      <p:cxnSp>
        <p:nvCxnSpPr>
          <p:cNvPr id="14" name="直線單箭頭接點 13"/>
          <p:cNvCxnSpPr>
            <a:stCxn id="7" idx="2"/>
            <a:endCxn id="8" idx="0"/>
          </p:cNvCxnSpPr>
          <p:nvPr/>
        </p:nvCxnSpPr>
        <p:spPr>
          <a:xfrm>
            <a:off x="5416242" y="1561378"/>
            <a:ext cx="0" cy="34387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8" idx="2"/>
            <a:endCxn id="9" idx="0"/>
          </p:cNvCxnSpPr>
          <p:nvPr/>
        </p:nvCxnSpPr>
        <p:spPr>
          <a:xfrm>
            <a:off x="5416242" y="2293446"/>
            <a:ext cx="0" cy="36998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10" idx="2"/>
            <a:endCxn id="11" idx="0"/>
          </p:cNvCxnSpPr>
          <p:nvPr/>
        </p:nvCxnSpPr>
        <p:spPr>
          <a:xfrm>
            <a:off x="5416242" y="4778407"/>
            <a:ext cx="0" cy="35912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群組 51"/>
          <p:cNvGrpSpPr/>
          <p:nvPr/>
        </p:nvGrpSpPr>
        <p:grpSpPr>
          <a:xfrm>
            <a:off x="5343416" y="3446807"/>
            <a:ext cx="441146" cy="410743"/>
            <a:chOff x="5343416" y="3446807"/>
            <a:chExt cx="441146" cy="410743"/>
          </a:xfrm>
        </p:grpSpPr>
        <p:cxnSp>
          <p:nvCxnSpPr>
            <p:cNvPr id="19" name="直線單箭頭接點 18"/>
            <p:cNvCxnSpPr>
              <a:stCxn id="9" idx="2"/>
              <a:endCxn id="10" idx="0"/>
            </p:cNvCxnSpPr>
            <p:nvPr/>
          </p:nvCxnSpPr>
          <p:spPr>
            <a:xfrm>
              <a:off x="5416242" y="3494448"/>
              <a:ext cx="0" cy="363102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5343416" y="3446807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是</a:t>
              </a:r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5343416" y="5940723"/>
            <a:ext cx="441146" cy="452863"/>
            <a:chOff x="5343416" y="5940723"/>
            <a:chExt cx="441146" cy="452863"/>
          </a:xfrm>
        </p:grpSpPr>
        <p:cxnSp>
          <p:nvCxnSpPr>
            <p:cNvPr id="22" name="直線單箭頭接點 21"/>
            <p:cNvCxnSpPr>
              <a:stCxn id="11" idx="2"/>
              <a:endCxn id="13" idx="0"/>
            </p:cNvCxnSpPr>
            <p:nvPr/>
          </p:nvCxnSpPr>
          <p:spPr>
            <a:xfrm>
              <a:off x="5416242" y="5968551"/>
              <a:ext cx="0" cy="425035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5343416" y="594072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是</a:t>
              </a:r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51" name="群組 50"/>
          <p:cNvGrpSpPr/>
          <p:nvPr/>
        </p:nvGrpSpPr>
        <p:grpSpPr>
          <a:xfrm>
            <a:off x="2198479" y="2762770"/>
            <a:ext cx="1695201" cy="1094779"/>
            <a:chOff x="2198479" y="2762770"/>
            <a:chExt cx="1695201" cy="1094779"/>
          </a:xfrm>
        </p:grpSpPr>
        <p:cxnSp>
          <p:nvCxnSpPr>
            <p:cNvPr id="25" name="肘形接點 24"/>
            <p:cNvCxnSpPr>
              <a:stCxn id="9" idx="1"/>
              <a:endCxn id="42" idx="0"/>
            </p:cNvCxnSpPr>
            <p:nvPr/>
          </p:nvCxnSpPr>
          <p:spPr>
            <a:xfrm rot="10800000" flipV="1">
              <a:off x="2198479" y="3078936"/>
              <a:ext cx="1695201" cy="778613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3467548" y="276277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否</a:t>
              </a:r>
            </a:p>
          </p:txBody>
        </p:sp>
      </p:grpSp>
      <p:grpSp>
        <p:nvGrpSpPr>
          <p:cNvPr id="54" name="群組 53"/>
          <p:cNvGrpSpPr/>
          <p:nvPr/>
        </p:nvGrpSpPr>
        <p:grpSpPr>
          <a:xfrm>
            <a:off x="6938805" y="2099347"/>
            <a:ext cx="579247" cy="3491383"/>
            <a:chOff x="6938805" y="2099347"/>
            <a:chExt cx="579247" cy="3491383"/>
          </a:xfrm>
        </p:grpSpPr>
        <p:cxnSp>
          <p:nvCxnSpPr>
            <p:cNvPr id="17" name="肘形接點 16"/>
            <p:cNvCxnSpPr>
              <a:stCxn id="11" idx="3"/>
              <a:endCxn id="8" idx="3"/>
            </p:cNvCxnSpPr>
            <p:nvPr/>
          </p:nvCxnSpPr>
          <p:spPr>
            <a:xfrm flipV="1">
              <a:off x="6938805" y="2099347"/>
              <a:ext cx="12700" cy="3453693"/>
            </a:xfrm>
            <a:prstGeom prst="bentConnector3">
              <a:avLst>
                <a:gd name="adj1" fmla="val 1800000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7102554" y="522139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否</a:t>
              </a:r>
            </a:p>
          </p:txBody>
        </p:sp>
      </p:grpSp>
      <p:sp>
        <p:nvSpPr>
          <p:cNvPr id="42" name="矩形 41"/>
          <p:cNvSpPr/>
          <p:nvPr/>
        </p:nvSpPr>
        <p:spPr>
          <a:xfrm>
            <a:off x="813764" y="3857550"/>
            <a:ext cx="2769428" cy="920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此圖有環路，排序失敗</a:t>
            </a:r>
          </a:p>
        </p:txBody>
      </p:sp>
      <p:cxnSp>
        <p:nvCxnSpPr>
          <p:cNvPr id="44" name="肘形接點 43"/>
          <p:cNvCxnSpPr>
            <a:stCxn id="42" idx="2"/>
            <a:endCxn id="13" idx="1"/>
          </p:cNvCxnSpPr>
          <p:nvPr/>
        </p:nvCxnSpPr>
        <p:spPr>
          <a:xfrm rot="16200000" flipH="1">
            <a:off x="2702158" y="4274726"/>
            <a:ext cx="1774768" cy="2782129"/>
          </a:xfrm>
          <a:prstGeom prst="bentConnector2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35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4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拓樸排序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8" name="橢圓 7"/>
          <p:cNvSpPr/>
          <p:nvPr/>
        </p:nvSpPr>
        <p:spPr>
          <a:xfrm>
            <a:off x="6079881" y="3557956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打開</a:t>
            </a:r>
            <a:endParaRPr lang="en-US" altLang="zh-TW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音響</a:t>
            </a:r>
          </a:p>
        </p:txBody>
      </p:sp>
      <p:sp>
        <p:nvSpPr>
          <p:cNvPr id="9" name="橢圓 8"/>
          <p:cNvSpPr/>
          <p:nvPr/>
        </p:nvSpPr>
        <p:spPr>
          <a:xfrm>
            <a:off x="4574041" y="4745705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發動</a:t>
            </a:r>
            <a:endParaRPr lang="en-US" altLang="zh-TW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汽車</a:t>
            </a:r>
          </a:p>
        </p:txBody>
      </p:sp>
      <p:sp>
        <p:nvSpPr>
          <p:cNvPr id="10" name="橢圓 9"/>
          <p:cNvSpPr/>
          <p:nvPr/>
        </p:nvSpPr>
        <p:spPr>
          <a:xfrm>
            <a:off x="6079881" y="4745705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吃</a:t>
            </a:r>
            <a:endParaRPr lang="en-US" altLang="zh-TW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早餐</a:t>
            </a:r>
          </a:p>
        </p:txBody>
      </p:sp>
      <p:sp>
        <p:nvSpPr>
          <p:cNvPr id="11" name="橢圓 10"/>
          <p:cNvSpPr/>
          <p:nvPr/>
        </p:nvSpPr>
        <p:spPr>
          <a:xfrm>
            <a:off x="6079881" y="5978105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打</a:t>
            </a:r>
            <a:endParaRPr lang="en-US" altLang="zh-TW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領帶</a:t>
            </a:r>
          </a:p>
        </p:txBody>
      </p:sp>
      <p:sp>
        <p:nvSpPr>
          <p:cNvPr id="12" name="橢圓 11"/>
          <p:cNvSpPr/>
          <p:nvPr/>
        </p:nvSpPr>
        <p:spPr>
          <a:xfrm>
            <a:off x="7731908" y="4745705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開車</a:t>
            </a:r>
            <a:endParaRPr lang="en-US" altLang="zh-TW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上班</a:t>
            </a:r>
          </a:p>
        </p:txBody>
      </p:sp>
      <p:sp>
        <p:nvSpPr>
          <p:cNvPr id="13" name="橢圓 12"/>
          <p:cNvSpPr/>
          <p:nvPr/>
        </p:nvSpPr>
        <p:spPr>
          <a:xfrm>
            <a:off x="618728" y="4745705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起床</a:t>
            </a:r>
          </a:p>
        </p:txBody>
      </p:sp>
      <p:sp>
        <p:nvSpPr>
          <p:cNvPr id="14" name="橢圓 13"/>
          <p:cNvSpPr/>
          <p:nvPr/>
        </p:nvSpPr>
        <p:spPr>
          <a:xfrm>
            <a:off x="1876910" y="3787798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刷牙</a:t>
            </a:r>
          </a:p>
        </p:txBody>
      </p:sp>
      <p:sp>
        <p:nvSpPr>
          <p:cNvPr id="15" name="橢圓 14"/>
          <p:cNvSpPr/>
          <p:nvPr/>
        </p:nvSpPr>
        <p:spPr>
          <a:xfrm>
            <a:off x="1876910" y="5618105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洗臉</a:t>
            </a:r>
          </a:p>
        </p:txBody>
      </p:sp>
      <p:sp>
        <p:nvSpPr>
          <p:cNvPr id="16" name="橢圓 15"/>
          <p:cNvSpPr/>
          <p:nvPr/>
        </p:nvSpPr>
        <p:spPr>
          <a:xfrm>
            <a:off x="3120920" y="4745705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穿衣</a:t>
            </a:r>
          </a:p>
        </p:txBody>
      </p:sp>
      <p:cxnSp>
        <p:nvCxnSpPr>
          <p:cNvPr id="17" name="直線單箭頭接點 16"/>
          <p:cNvCxnSpPr>
            <a:stCxn id="13" idx="7"/>
            <a:endCxn id="14" idx="3"/>
          </p:cNvCxnSpPr>
          <p:nvPr/>
        </p:nvCxnSpPr>
        <p:spPr>
          <a:xfrm flipV="1">
            <a:off x="1233286" y="4402356"/>
            <a:ext cx="749066" cy="448791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3" idx="5"/>
            <a:endCxn id="15" idx="1"/>
          </p:cNvCxnSpPr>
          <p:nvPr/>
        </p:nvCxnSpPr>
        <p:spPr>
          <a:xfrm>
            <a:off x="1233286" y="5360263"/>
            <a:ext cx="749066" cy="363284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4" idx="5"/>
            <a:endCxn id="16" idx="1"/>
          </p:cNvCxnSpPr>
          <p:nvPr/>
        </p:nvCxnSpPr>
        <p:spPr>
          <a:xfrm>
            <a:off x="2491468" y="4402356"/>
            <a:ext cx="734894" cy="448791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5" idx="7"/>
            <a:endCxn id="16" idx="3"/>
          </p:cNvCxnSpPr>
          <p:nvPr/>
        </p:nvCxnSpPr>
        <p:spPr>
          <a:xfrm flipV="1">
            <a:off x="2491468" y="5360263"/>
            <a:ext cx="734894" cy="363284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6" idx="6"/>
            <a:endCxn id="9" idx="2"/>
          </p:cNvCxnSpPr>
          <p:nvPr/>
        </p:nvCxnSpPr>
        <p:spPr>
          <a:xfrm>
            <a:off x="3840920" y="5105705"/>
            <a:ext cx="733121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6" idx="5"/>
            <a:endCxn id="11" idx="2"/>
          </p:cNvCxnSpPr>
          <p:nvPr/>
        </p:nvCxnSpPr>
        <p:spPr>
          <a:xfrm>
            <a:off x="3735478" y="5360263"/>
            <a:ext cx="2344403" cy="977842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9" idx="5"/>
            <a:endCxn id="11" idx="1"/>
          </p:cNvCxnSpPr>
          <p:nvPr/>
        </p:nvCxnSpPr>
        <p:spPr>
          <a:xfrm>
            <a:off x="5188599" y="5360263"/>
            <a:ext cx="996724" cy="723284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9" idx="6"/>
            <a:endCxn id="10" idx="2"/>
          </p:cNvCxnSpPr>
          <p:nvPr/>
        </p:nvCxnSpPr>
        <p:spPr>
          <a:xfrm>
            <a:off x="5294041" y="5105705"/>
            <a:ext cx="785840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9" idx="7"/>
            <a:endCxn id="8" idx="3"/>
          </p:cNvCxnSpPr>
          <p:nvPr/>
        </p:nvCxnSpPr>
        <p:spPr>
          <a:xfrm flipV="1">
            <a:off x="5188599" y="4172514"/>
            <a:ext cx="996724" cy="678633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8" idx="5"/>
            <a:endCxn id="12" idx="1"/>
          </p:cNvCxnSpPr>
          <p:nvPr/>
        </p:nvCxnSpPr>
        <p:spPr>
          <a:xfrm>
            <a:off x="6694439" y="4172514"/>
            <a:ext cx="1142911" cy="678633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10" idx="6"/>
            <a:endCxn id="12" idx="2"/>
          </p:cNvCxnSpPr>
          <p:nvPr/>
        </p:nvCxnSpPr>
        <p:spPr>
          <a:xfrm>
            <a:off x="6799881" y="5105705"/>
            <a:ext cx="932027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11" idx="7"/>
            <a:endCxn id="12" idx="3"/>
          </p:cNvCxnSpPr>
          <p:nvPr/>
        </p:nvCxnSpPr>
        <p:spPr>
          <a:xfrm flipV="1">
            <a:off x="6694439" y="5360263"/>
            <a:ext cx="1142911" cy="723284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816737" y="442669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080457" y="34727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2080457" y="5303059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324467" y="442716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4758439" y="4443946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6294061" y="3206433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272421" y="438837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6276214" y="5659762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7964309" y="4429771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381" y="1433"/>
            <a:ext cx="3924131" cy="3283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" name="文字方塊 57"/>
          <p:cNvSpPr txBox="1"/>
          <p:nvPr/>
        </p:nvSpPr>
        <p:spPr>
          <a:xfrm>
            <a:off x="1306829" y="49360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2554378" y="39631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2554378" y="581024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787755" y="477678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5220498" y="478330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6746716" y="478330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6746716" y="3733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6747445" y="61534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8399283" y="49210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2554378" y="39673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2554378" y="58144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267603" y="245164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892307" y="245164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1525785" y="2451643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" name="直線單箭頭接點 71"/>
          <p:cNvCxnSpPr>
            <a:stCxn id="69" idx="3"/>
            <a:endCxn id="70" idx="1"/>
          </p:cNvCxnSpPr>
          <p:nvPr/>
        </p:nvCxnSpPr>
        <p:spPr>
          <a:xfrm>
            <a:off x="580509" y="2651698"/>
            <a:ext cx="288000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stCxn id="70" idx="3"/>
            <a:endCxn id="71" idx="1"/>
          </p:cNvCxnSpPr>
          <p:nvPr/>
        </p:nvCxnSpPr>
        <p:spPr>
          <a:xfrm>
            <a:off x="1205213" y="2651698"/>
            <a:ext cx="288000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2110748" y="245164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2744226" y="2451643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直線單箭頭接點 79"/>
          <p:cNvCxnSpPr>
            <a:stCxn id="71" idx="3"/>
            <a:endCxn id="78" idx="1"/>
          </p:cNvCxnSpPr>
          <p:nvPr/>
        </p:nvCxnSpPr>
        <p:spPr>
          <a:xfrm>
            <a:off x="1824265" y="2651698"/>
            <a:ext cx="286483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stCxn id="78" idx="3"/>
            <a:endCxn id="79" idx="1"/>
          </p:cNvCxnSpPr>
          <p:nvPr/>
        </p:nvCxnSpPr>
        <p:spPr>
          <a:xfrm>
            <a:off x="2423654" y="2651698"/>
            <a:ext cx="288000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字方塊 82"/>
          <p:cNvSpPr txBox="1"/>
          <p:nvPr/>
        </p:nvSpPr>
        <p:spPr>
          <a:xfrm>
            <a:off x="3335410" y="2451643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3968888" y="245164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直線單箭頭接點 84"/>
          <p:cNvCxnSpPr>
            <a:stCxn id="79" idx="3"/>
            <a:endCxn id="83" idx="1"/>
          </p:cNvCxnSpPr>
          <p:nvPr/>
        </p:nvCxnSpPr>
        <p:spPr>
          <a:xfrm>
            <a:off x="3042706" y="2651698"/>
            <a:ext cx="292704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>
            <a:stCxn id="83" idx="3"/>
            <a:endCxn id="84" idx="1"/>
          </p:cNvCxnSpPr>
          <p:nvPr/>
        </p:nvCxnSpPr>
        <p:spPr>
          <a:xfrm>
            <a:off x="3605036" y="2651698"/>
            <a:ext cx="363852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字方塊 86"/>
          <p:cNvSpPr txBox="1"/>
          <p:nvPr/>
        </p:nvSpPr>
        <p:spPr>
          <a:xfrm>
            <a:off x="4553851" y="245164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5187329" y="2451643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" name="直線單箭頭接點 88"/>
          <p:cNvCxnSpPr>
            <a:stCxn id="84" idx="3"/>
            <a:endCxn id="87" idx="1"/>
          </p:cNvCxnSpPr>
          <p:nvPr/>
        </p:nvCxnSpPr>
        <p:spPr>
          <a:xfrm>
            <a:off x="4281794" y="2651698"/>
            <a:ext cx="272057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>
            <a:stCxn id="87" idx="3"/>
            <a:endCxn id="88" idx="1"/>
          </p:cNvCxnSpPr>
          <p:nvPr/>
        </p:nvCxnSpPr>
        <p:spPr>
          <a:xfrm>
            <a:off x="4881185" y="2651698"/>
            <a:ext cx="306144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字方塊 91"/>
          <p:cNvSpPr txBox="1"/>
          <p:nvPr/>
        </p:nvSpPr>
        <p:spPr>
          <a:xfrm>
            <a:off x="3787755" y="47868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3786948" y="47868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5220498" y="477786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6746716" y="61534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6743091" y="615964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6749534" y="374100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6743091" y="47884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8399283" y="49210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8399283" y="491480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8399283" y="491480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34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xit" presetSubtype="8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xit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22" presetClass="exit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xit" presetSubtype="8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2" presetClass="exit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22" presetClass="exit" presetSubtype="1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xit" presetSubtype="8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22" presetClass="exit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2" presetClass="exit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000"/>
                            </p:stCondLst>
                            <p:childTnLst>
                              <p:par>
                                <p:cTn id="129" presetID="22" presetClass="exit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22" presetClass="exit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22" presetClass="exit" presetSubtype="8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000"/>
                            </p:stCondLst>
                            <p:childTnLst>
                              <p:par>
                                <p:cTn id="161" presetID="22" presetClass="exit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22" presetClass="exit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2" presetClass="exit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3000"/>
                            </p:stCondLst>
                            <p:childTnLst>
                              <p:par>
                                <p:cTn id="171" presetID="22" presetClass="exit" presetSubtype="1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22" presetClass="exit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22" presetClass="exit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9" presetID="22" presetClass="exit" presetSubtype="8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000"/>
                            </p:stCondLst>
                            <p:childTnLst>
                              <p:par>
                                <p:cTn id="209" presetID="22" presetClass="exit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3000"/>
                            </p:stCondLst>
                            <p:childTnLst>
                              <p:par>
                                <p:cTn id="213" presetID="22" presetClass="exit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29" presetID="22" presetClass="exit" presetSubtype="8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2000"/>
                            </p:stCondLst>
                            <p:childTnLst>
                              <p:par>
                                <p:cTn id="239" presetID="22" presetClass="exit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3000"/>
                            </p:stCondLst>
                            <p:childTnLst>
                              <p:par>
                                <p:cTn id="243" presetID="22" presetClass="exit" presetSubtype="1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500"/>
                            </p:stCondLst>
                            <p:childTnLst>
                              <p:par>
                                <p:cTn id="2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1000"/>
                            </p:stCondLst>
                            <p:childTnLst>
                              <p:par>
                                <p:cTn id="259" presetID="22" presetClass="exit" presetSubtype="8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2000"/>
                            </p:stCondLst>
                            <p:childTnLst>
                              <p:par>
                                <p:cTn id="269" presetID="22" presetClass="exit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3000"/>
                            </p:stCondLst>
                            <p:childTnLst>
                              <p:par>
                                <p:cTn id="273" presetID="22" presetClass="exit" presetSubtype="1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500"/>
                            </p:stCondLst>
                            <p:childTnLst>
                              <p:par>
                                <p:cTn id="2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1000"/>
                            </p:stCondLst>
                            <p:childTnLst>
                              <p:par>
                                <p:cTn id="289" presetID="22" presetClass="exit" presetSubtype="8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7" grpId="1"/>
      <p:bldP spid="68" grpId="0"/>
      <p:bldP spid="68" grpId="1"/>
      <p:bldP spid="69" grpId="0"/>
      <p:bldP spid="70" grpId="0"/>
      <p:bldP spid="71" grpId="0"/>
      <p:bldP spid="78" grpId="0"/>
      <p:bldP spid="79" grpId="0"/>
      <p:bldP spid="83" grpId="0"/>
      <p:bldP spid="84" grpId="0"/>
      <p:bldP spid="87" grpId="0"/>
      <p:bldP spid="88" grpId="0"/>
      <p:bldP spid="92" grpId="0"/>
      <p:bldP spid="92" grpId="1"/>
      <p:bldP spid="93" grpId="0"/>
      <p:bldP spid="93" grpId="1"/>
      <p:bldP spid="94" grpId="0"/>
      <p:bldP spid="94" grpId="1"/>
      <p:bldP spid="95" grpId="0"/>
      <p:bldP spid="95" grpId="1"/>
      <p:bldP spid="96" grpId="0"/>
      <p:bldP spid="96" grpId="1"/>
      <p:bldP spid="97" grpId="0"/>
      <p:bldP spid="97" grpId="1"/>
      <p:bldP spid="98" grpId="0"/>
      <p:bldP spid="98" grpId="1"/>
      <p:bldP spid="99" grpId="0"/>
      <p:bldP spid="99" grpId="1"/>
      <p:bldP spid="100" grpId="0"/>
      <p:bldP spid="100" grpId="1"/>
      <p:bldP spid="101" grpId="0"/>
      <p:bldP spid="101" grpId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AOE </a:t>
            </a:r>
            <a:r>
              <a:rPr lang="zh-TW" altLang="en-US" dirty="0"/>
              <a:t>網路 </a:t>
            </a:r>
            <a:r>
              <a:rPr lang="en-US" altLang="zh-TW" dirty="0"/>
              <a:t>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>
                <a:solidFill>
                  <a:srgbClr val="C00000"/>
                </a:solidFill>
              </a:rPr>
              <a:t>A</a:t>
            </a:r>
            <a:r>
              <a:rPr lang="en-US" altLang="zh-TW" dirty="0"/>
              <a:t>ctivity </a:t>
            </a:r>
            <a:r>
              <a:rPr lang="en-US" altLang="zh-TW" dirty="0">
                <a:solidFill>
                  <a:srgbClr val="C00000"/>
                </a:solidFill>
              </a:rPr>
              <a:t>o</a:t>
            </a:r>
            <a:r>
              <a:rPr lang="en-US" altLang="zh-TW" dirty="0"/>
              <a:t>n </a:t>
            </a:r>
            <a:r>
              <a:rPr lang="en-US" altLang="zh-TW" dirty="0">
                <a:solidFill>
                  <a:srgbClr val="C00000"/>
                </a:solidFill>
              </a:rPr>
              <a:t>E</a:t>
            </a:r>
            <a:r>
              <a:rPr lang="en-US" altLang="zh-TW" dirty="0"/>
              <a:t>dge Network</a:t>
            </a:r>
          </a:p>
          <a:p>
            <a:r>
              <a:rPr lang="zh-TW" altLang="en-US" dirty="0"/>
              <a:t>點表示狀態，邊表示工作</a:t>
            </a:r>
            <a:endParaRPr lang="en-US" altLang="zh-TW" dirty="0"/>
          </a:p>
          <a:p>
            <a:r>
              <a:rPr lang="zh-TW" altLang="en-US" dirty="0"/>
              <a:t>關切要點：</a:t>
            </a:r>
            <a:endParaRPr lang="en-US" altLang="zh-TW" dirty="0"/>
          </a:p>
          <a:p>
            <a:pPr lvl="1"/>
            <a:r>
              <a:rPr lang="zh-TW" altLang="en-US" dirty="0"/>
              <a:t>整個工程需時？</a:t>
            </a:r>
            <a:endParaRPr lang="en-US" altLang="zh-TW" dirty="0"/>
          </a:p>
          <a:p>
            <a:pPr lvl="1"/>
            <a:r>
              <a:rPr lang="zh-TW" altLang="en-US" dirty="0"/>
              <a:t>甚麼情況可提前或延後？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51</a:t>
            </a:fld>
            <a:endParaRPr lang="en-US" dirty="0"/>
          </a:p>
        </p:txBody>
      </p:sp>
      <p:cxnSp>
        <p:nvCxnSpPr>
          <p:cNvPr id="8" name="直線接點 7"/>
          <p:cNvCxnSpPr>
            <a:stCxn id="14" idx="3"/>
            <a:endCxn id="11" idx="7"/>
          </p:cNvCxnSpPr>
          <p:nvPr/>
        </p:nvCxnSpPr>
        <p:spPr>
          <a:xfrm flipH="1">
            <a:off x="2729715" y="4229181"/>
            <a:ext cx="1113650" cy="733339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2627892" y="429297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2483892" y="4920343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2450222" y="485841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801188" y="3983358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3785317" y="391079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3801188" y="5860703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6605528" y="485841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1"/>
            <a:endCxn id="11" idx="5"/>
          </p:cNvCxnSpPr>
          <p:nvPr/>
        </p:nvCxnSpPr>
        <p:spPr>
          <a:xfrm flipH="1" flipV="1">
            <a:off x="2729715" y="5166166"/>
            <a:ext cx="1113650" cy="736714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3801188" y="4920343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接點 30"/>
          <p:cNvCxnSpPr>
            <a:stCxn id="28" idx="2"/>
            <a:endCxn id="11" idx="6"/>
          </p:cNvCxnSpPr>
          <p:nvPr/>
        </p:nvCxnSpPr>
        <p:spPr>
          <a:xfrm flipH="1">
            <a:off x="2771892" y="5064343"/>
            <a:ext cx="102929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5261396" y="3983358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5261396" y="5860703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6643629" y="4920343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7" name="直線接點 36"/>
          <p:cNvCxnSpPr>
            <a:stCxn id="34" idx="2"/>
            <a:endCxn id="14" idx="6"/>
          </p:cNvCxnSpPr>
          <p:nvPr/>
        </p:nvCxnSpPr>
        <p:spPr>
          <a:xfrm flipH="1">
            <a:off x="4089188" y="4127358"/>
            <a:ext cx="117220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5" idx="2"/>
            <a:endCxn id="17" idx="6"/>
          </p:cNvCxnSpPr>
          <p:nvPr/>
        </p:nvCxnSpPr>
        <p:spPr>
          <a:xfrm flipH="1">
            <a:off x="4089188" y="6004703"/>
            <a:ext cx="117220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5" idx="1"/>
            <a:endCxn id="28" idx="5"/>
          </p:cNvCxnSpPr>
          <p:nvPr/>
        </p:nvCxnSpPr>
        <p:spPr>
          <a:xfrm flipH="1" flipV="1">
            <a:off x="4047011" y="5166166"/>
            <a:ext cx="1256562" cy="736714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34" idx="4"/>
            <a:endCxn id="35" idx="0"/>
          </p:cNvCxnSpPr>
          <p:nvPr/>
        </p:nvCxnSpPr>
        <p:spPr>
          <a:xfrm>
            <a:off x="5405396" y="4271358"/>
            <a:ext cx="0" cy="1589345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36" idx="1"/>
            <a:endCxn id="34" idx="6"/>
          </p:cNvCxnSpPr>
          <p:nvPr/>
        </p:nvCxnSpPr>
        <p:spPr>
          <a:xfrm flipH="1" flipV="1">
            <a:off x="5549396" y="4127358"/>
            <a:ext cx="1136410" cy="835162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stCxn id="36" idx="3"/>
            <a:endCxn id="35" idx="6"/>
          </p:cNvCxnSpPr>
          <p:nvPr/>
        </p:nvCxnSpPr>
        <p:spPr>
          <a:xfrm flipH="1">
            <a:off x="5549396" y="5166166"/>
            <a:ext cx="1136410" cy="838537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3773720" y="4838832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779922" y="578813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5227801" y="391079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227877" y="577750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959040" y="4735677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2655284" y="5491371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4216354" y="3790347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b="1">
                <a:latin typeface="Times New Roman" panose="02020603050405020304" pitchFamily="18" charset="0"/>
                <a:cs typeface="Times New Roman" panose="02020603050405020304" pitchFamily="18" charset="0"/>
              </a:rPr>
              <a:t> = 12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4438100" y="5150402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274061" y="5947355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5367446" y="4858411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6015826" y="4246961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6012199" y="5473018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AutoShape 60"/>
          <p:cNvSpPr>
            <a:spLocks noChangeArrowheads="1"/>
          </p:cNvSpPr>
          <p:nvPr/>
        </p:nvSpPr>
        <p:spPr bwMode="auto">
          <a:xfrm>
            <a:off x="7586348" y="4182906"/>
            <a:ext cx="1008063" cy="433387"/>
          </a:xfrm>
          <a:prstGeom prst="wedgeRoundRectCallout">
            <a:avLst>
              <a:gd name="adj1" fmla="val -111259"/>
              <a:gd name="adj2" fmla="val 118491"/>
              <a:gd name="adj3" fmla="val 16667"/>
            </a:avLst>
          </a:prstGeom>
          <a:noFill/>
          <a:ln w="19050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>
                <a:ea typeface="標楷體" pitchFamily="65" charset="-120"/>
              </a:rPr>
              <a:t>完工</a:t>
            </a:r>
          </a:p>
        </p:txBody>
      </p:sp>
      <p:sp>
        <p:nvSpPr>
          <p:cNvPr id="70" name="AutoShape 61"/>
          <p:cNvSpPr>
            <a:spLocks noChangeArrowheads="1"/>
          </p:cNvSpPr>
          <p:nvPr/>
        </p:nvSpPr>
        <p:spPr bwMode="auto">
          <a:xfrm>
            <a:off x="868769" y="4152345"/>
            <a:ext cx="1008062" cy="433388"/>
          </a:xfrm>
          <a:prstGeom prst="wedgeRoundRectCallout">
            <a:avLst>
              <a:gd name="adj1" fmla="val 102440"/>
              <a:gd name="adj2" fmla="val 137375"/>
              <a:gd name="adj3" fmla="val 16667"/>
            </a:avLst>
          </a:prstGeom>
          <a:noFill/>
          <a:ln w="19050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>
                <a:ea typeface="標楷體" pitchFamily="65" charset="-120"/>
              </a:rPr>
              <a:t>開工</a:t>
            </a:r>
          </a:p>
        </p:txBody>
      </p:sp>
      <p:sp>
        <p:nvSpPr>
          <p:cNvPr id="71" name="AutoShape 62"/>
          <p:cNvSpPr>
            <a:spLocks noChangeArrowheads="1"/>
          </p:cNvSpPr>
          <p:nvPr/>
        </p:nvSpPr>
        <p:spPr bwMode="auto">
          <a:xfrm>
            <a:off x="6375439" y="2660059"/>
            <a:ext cx="1871662" cy="722313"/>
          </a:xfrm>
          <a:prstGeom prst="wedgeRoundRectCallout">
            <a:avLst>
              <a:gd name="adj1" fmla="val -89761"/>
              <a:gd name="adj2" fmla="val 126539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18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工作</a:t>
            </a:r>
            <a:r>
              <a:rPr lang="en-US" altLang="zh-TW" sz="18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en-US" altLang="zh-TW" sz="1800" b="1" baseline="-30000" dirty="0"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8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18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en-US" altLang="zh-TW" sz="1800" b="1" baseline="-30000" dirty="0"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18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都完成才到達狀態</a:t>
            </a:r>
            <a:r>
              <a:rPr lang="en-US" altLang="zh-TW" sz="18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1800" b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1800" b="1" baseline="-25000" dirty="0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071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AOE </a:t>
            </a:r>
            <a:r>
              <a:rPr lang="zh-TW" altLang="en-US" dirty="0"/>
              <a:t>網路 </a:t>
            </a:r>
            <a:r>
              <a:rPr lang="en-US" altLang="zh-TW" dirty="0"/>
              <a:t>(2/6)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>
                <a:solidFill>
                  <a:srgbClr val="C00000"/>
                </a:solidFill>
              </a:rPr>
              <a:t>etv</a:t>
            </a:r>
            <a:r>
              <a:rPr lang="en-US" altLang="zh-TW" dirty="0">
                <a:solidFill>
                  <a:srgbClr val="C00000"/>
                </a:solidFill>
              </a:rPr>
              <a:t> (earliest time of vertex)</a:t>
            </a:r>
            <a:r>
              <a:rPr lang="zh-TW" altLang="en-US" dirty="0"/>
              <a:t>：點最早時間</a:t>
            </a:r>
            <a:endParaRPr lang="en-US" altLang="zh-TW" dirty="0"/>
          </a:p>
          <a:p>
            <a:r>
              <a:rPr lang="en-US" altLang="zh-TW" dirty="0" err="1">
                <a:solidFill>
                  <a:srgbClr val="C00000"/>
                </a:solidFill>
              </a:rPr>
              <a:t>ltv</a:t>
            </a:r>
            <a:r>
              <a:rPr lang="en-US" altLang="zh-TW" dirty="0">
                <a:solidFill>
                  <a:srgbClr val="C00000"/>
                </a:solidFill>
              </a:rPr>
              <a:t> (latest time of vertex)</a:t>
            </a:r>
            <a:r>
              <a:rPr lang="zh-TW" altLang="en-US" dirty="0"/>
              <a:t>：點最晚時間</a:t>
            </a:r>
            <a:endParaRPr lang="en-US" altLang="zh-TW" dirty="0"/>
          </a:p>
          <a:p>
            <a:pPr lvl="1"/>
            <a:r>
              <a:rPr lang="zh-TW" altLang="en-US" dirty="0"/>
              <a:t>超出此時間將會延誤整個工期</a:t>
            </a:r>
            <a:endParaRPr lang="en-US" altLang="zh-TW" dirty="0"/>
          </a:p>
          <a:p>
            <a:r>
              <a:rPr lang="en-US" altLang="zh-TW" dirty="0" err="1">
                <a:solidFill>
                  <a:srgbClr val="C00000"/>
                </a:solidFill>
              </a:rPr>
              <a:t>ete</a:t>
            </a:r>
            <a:r>
              <a:rPr lang="en-US" altLang="zh-TW" dirty="0">
                <a:solidFill>
                  <a:srgbClr val="C00000"/>
                </a:solidFill>
              </a:rPr>
              <a:t> (earliest time of edge)</a:t>
            </a:r>
            <a:r>
              <a:rPr lang="zh-TW" altLang="en-US" dirty="0"/>
              <a:t>：邊</a:t>
            </a:r>
            <a:r>
              <a:rPr lang="en-US" altLang="zh-TW" dirty="0"/>
              <a:t>(</a:t>
            </a:r>
            <a:r>
              <a:rPr lang="zh-TW" altLang="en-US" dirty="0"/>
              <a:t>工作</a:t>
            </a:r>
            <a:r>
              <a:rPr lang="en-US" altLang="zh-TW" dirty="0"/>
              <a:t>)</a:t>
            </a:r>
            <a:r>
              <a:rPr lang="zh-TW" altLang="en-US" dirty="0"/>
              <a:t>最早時間</a:t>
            </a:r>
            <a:endParaRPr lang="en-US" altLang="zh-TW" dirty="0"/>
          </a:p>
          <a:p>
            <a:r>
              <a:rPr lang="en-US" altLang="zh-TW" dirty="0" err="1">
                <a:solidFill>
                  <a:srgbClr val="C00000"/>
                </a:solidFill>
              </a:rPr>
              <a:t>lte</a:t>
            </a:r>
            <a:r>
              <a:rPr lang="en-US" altLang="zh-TW" dirty="0">
                <a:solidFill>
                  <a:srgbClr val="C00000"/>
                </a:solidFill>
              </a:rPr>
              <a:t> (latest time of edge)</a:t>
            </a:r>
            <a:r>
              <a:rPr lang="zh-TW" altLang="en-US" dirty="0"/>
              <a:t>：邊</a:t>
            </a:r>
            <a:r>
              <a:rPr lang="en-US" altLang="zh-TW" dirty="0"/>
              <a:t>(</a:t>
            </a:r>
            <a:r>
              <a:rPr lang="zh-TW" altLang="en-US" dirty="0"/>
              <a:t>工作</a:t>
            </a:r>
            <a:r>
              <a:rPr lang="en-US" altLang="zh-TW" dirty="0"/>
              <a:t>)</a:t>
            </a:r>
            <a:r>
              <a:rPr lang="zh-TW" altLang="en-US" dirty="0"/>
              <a:t>最晚時間</a:t>
            </a:r>
            <a:endParaRPr lang="en-US" altLang="zh-TW" dirty="0"/>
          </a:p>
          <a:p>
            <a:pPr lvl="1"/>
            <a:r>
              <a:rPr lang="zh-TW" altLang="en-US" dirty="0"/>
              <a:t>每個工作最晚必須開始時間</a:t>
            </a:r>
            <a:endParaRPr lang="en-US" altLang="zh-TW" dirty="0"/>
          </a:p>
          <a:p>
            <a:pPr lvl="1"/>
            <a:r>
              <a:rPr lang="zh-TW" altLang="en-US" dirty="0"/>
              <a:t>超出此時間將會延誤整個工期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先算出</a:t>
            </a:r>
            <a:r>
              <a:rPr lang="en-US" altLang="zh-TW" dirty="0" err="1"/>
              <a:t>etv</a:t>
            </a:r>
            <a:r>
              <a:rPr lang="zh-TW" altLang="en-US" dirty="0"/>
              <a:t>、</a:t>
            </a:r>
            <a:r>
              <a:rPr lang="en-US" altLang="zh-TW" dirty="0" err="1"/>
              <a:t>ltv</a:t>
            </a:r>
            <a:r>
              <a:rPr lang="zh-TW" altLang="en-US" dirty="0"/>
              <a:t>，再算出</a:t>
            </a:r>
            <a:r>
              <a:rPr lang="en-US" altLang="zh-TW" dirty="0" err="1"/>
              <a:t>ete</a:t>
            </a:r>
            <a:r>
              <a:rPr lang="zh-TW" altLang="en-US" dirty="0"/>
              <a:t>、</a:t>
            </a:r>
            <a:r>
              <a:rPr lang="en-US" altLang="zh-TW" dirty="0" err="1"/>
              <a:t>lte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04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AOE </a:t>
            </a:r>
            <a:r>
              <a:rPr lang="zh-TW" altLang="en-US" dirty="0"/>
              <a:t>網路 </a:t>
            </a:r>
            <a:r>
              <a:rPr lang="en-US" altLang="zh-TW" dirty="0"/>
              <a:t>(3/6)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按照</a:t>
            </a:r>
            <a:r>
              <a:rPr lang="zh-TW" altLang="en-US" dirty="0">
                <a:solidFill>
                  <a:srgbClr val="C00000"/>
                </a:solidFill>
              </a:rPr>
              <a:t>拓樸順序</a:t>
            </a:r>
            <a:r>
              <a:rPr lang="zh-TW" altLang="en-US" dirty="0"/>
              <a:t>決定</a:t>
            </a:r>
            <a:r>
              <a:rPr lang="en-US" altLang="zh-TW" dirty="0" err="1"/>
              <a:t>etv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53</a:t>
            </a:fld>
            <a:endParaRPr lang="en-US" dirty="0"/>
          </a:p>
        </p:txBody>
      </p:sp>
      <p:cxnSp>
        <p:nvCxnSpPr>
          <p:cNvPr id="7" name="直線接點 6"/>
          <p:cNvCxnSpPr>
            <a:stCxn id="11" idx="3"/>
            <a:endCxn id="9" idx="7"/>
          </p:cNvCxnSpPr>
          <p:nvPr/>
        </p:nvCxnSpPr>
        <p:spPr>
          <a:xfrm flipH="1">
            <a:off x="4758592" y="1727079"/>
            <a:ext cx="1113650" cy="733339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4656769" y="1790877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4512769" y="241824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4479099" y="235630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5830065" y="148125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5814194" y="140869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5830065" y="335860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8634405" y="235630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接點 14"/>
          <p:cNvCxnSpPr>
            <a:stCxn id="13" idx="1"/>
            <a:endCxn id="9" idx="5"/>
          </p:cNvCxnSpPr>
          <p:nvPr/>
        </p:nvCxnSpPr>
        <p:spPr>
          <a:xfrm flipH="1" flipV="1">
            <a:off x="4758592" y="2664064"/>
            <a:ext cx="1113650" cy="736714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橢圓 15"/>
          <p:cNvSpPr/>
          <p:nvPr/>
        </p:nvSpPr>
        <p:spPr>
          <a:xfrm>
            <a:off x="5830065" y="241824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>
            <a:stCxn id="16" idx="2"/>
            <a:endCxn id="9" idx="6"/>
          </p:cNvCxnSpPr>
          <p:nvPr/>
        </p:nvCxnSpPr>
        <p:spPr>
          <a:xfrm flipH="1">
            <a:off x="4800769" y="2562241"/>
            <a:ext cx="102929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7290273" y="148125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7290273" y="335860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8672506" y="241824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18" idx="2"/>
            <a:endCxn id="11" idx="6"/>
          </p:cNvCxnSpPr>
          <p:nvPr/>
        </p:nvCxnSpPr>
        <p:spPr>
          <a:xfrm flipH="1">
            <a:off x="6118065" y="1625256"/>
            <a:ext cx="117220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9" idx="2"/>
            <a:endCxn id="13" idx="6"/>
          </p:cNvCxnSpPr>
          <p:nvPr/>
        </p:nvCxnSpPr>
        <p:spPr>
          <a:xfrm flipH="1">
            <a:off x="6118065" y="3502601"/>
            <a:ext cx="117220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9" idx="1"/>
            <a:endCxn id="16" idx="5"/>
          </p:cNvCxnSpPr>
          <p:nvPr/>
        </p:nvCxnSpPr>
        <p:spPr>
          <a:xfrm flipH="1" flipV="1">
            <a:off x="6075888" y="2664064"/>
            <a:ext cx="1256562" cy="736714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8" idx="4"/>
            <a:endCxn id="19" idx="0"/>
          </p:cNvCxnSpPr>
          <p:nvPr/>
        </p:nvCxnSpPr>
        <p:spPr>
          <a:xfrm>
            <a:off x="7434273" y="1769256"/>
            <a:ext cx="0" cy="1589345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20" idx="1"/>
            <a:endCxn id="18" idx="6"/>
          </p:cNvCxnSpPr>
          <p:nvPr/>
        </p:nvCxnSpPr>
        <p:spPr>
          <a:xfrm flipH="1" flipV="1">
            <a:off x="7578273" y="1625256"/>
            <a:ext cx="1136410" cy="835162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20" idx="3"/>
            <a:endCxn id="19" idx="6"/>
          </p:cNvCxnSpPr>
          <p:nvPr/>
        </p:nvCxnSpPr>
        <p:spPr>
          <a:xfrm flipH="1">
            <a:off x="7578273" y="2664064"/>
            <a:ext cx="1136410" cy="838537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5802597" y="233673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808799" y="328603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256678" y="140869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7256754" y="327540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987917" y="2233575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684161" y="298926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6245231" y="1288245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b="1">
                <a:latin typeface="Times New Roman" panose="02020603050405020304" pitchFamily="18" charset="0"/>
                <a:cs typeface="Times New Roman" panose="02020603050405020304" pitchFamily="18" charset="0"/>
              </a:rPr>
              <a:t> = 12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6466977" y="2648300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302938" y="3445253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7396323" y="235630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8044703" y="174485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8041076" y="2970916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97711" y="3868211"/>
            <a:ext cx="12121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01248" y="4278701"/>
            <a:ext cx="3389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+ 3 = 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301248" y="4692476"/>
            <a:ext cx="3389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+ 4 = 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304786" y="5110448"/>
            <a:ext cx="3389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+ 2 = 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99345" y="5521444"/>
            <a:ext cx="41440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{4 + 4,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+ 7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481717" y="3868211"/>
            <a:ext cx="41440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{3 + 12,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+ 8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4480092" y="4586983"/>
            <a:ext cx="41440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 + 3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 + 9} 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648600" y="2763134"/>
          <a:ext cx="369075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2" name="群組 61"/>
          <p:cNvGrpSpPr/>
          <p:nvPr/>
        </p:nvGrpSpPr>
        <p:grpSpPr>
          <a:xfrm>
            <a:off x="735533" y="2406296"/>
            <a:ext cx="3509658" cy="369332"/>
            <a:chOff x="384644" y="2151104"/>
            <a:chExt cx="3509658" cy="369332"/>
          </a:xfrm>
        </p:grpSpPr>
        <p:sp>
          <p:nvSpPr>
            <p:cNvPr id="48" name="文字方塊 47"/>
            <p:cNvSpPr txBox="1"/>
            <p:nvPr/>
          </p:nvSpPr>
          <p:spPr>
            <a:xfrm>
              <a:off x="384644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911113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1434090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1960559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2480654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3003631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3530100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3" name="文字方塊 62"/>
          <p:cNvSpPr txBox="1"/>
          <p:nvPr/>
        </p:nvSpPr>
        <p:spPr>
          <a:xfrm>
            <a:off x="15093" y="277562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764987" y="276610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1270190" y="276610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1803800" y="276610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2330269" y="276610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2860997" y="276610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3341442" y="276610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3857278" y="276610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08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64" grpId="0"/>
      <p:bldP spid="65" grpId="0"/>
      <p:bldP spid="66" grpId="0"/>
      <p:bldP spid="67" grpId="0"/>
      <p:bldP spid="68" grpId="0"/>
      <p:bldP spid="69" grpId="0"/>
      <p:bldP spid="7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AOE </a:t>
            </a:r>
            <a:r>
              <a:rPr lang="zh-TW" altLang="en-US" dirty="0"/>
              <a:t>網路 </a:t>
            </a:r>
            <a:r>
              <a:rPr lang="en-US" altLang="zh-TW" dirty="0"/>
              <a:t>(4/6)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按照</a:t>
            </a:r>
            <a:r>
              <a:rPr lang="zh-TW" altLang="en-US" dirty="0">
                <a:solidFill>
                  <a:srgbClr val="C00000"/>
                </a:solidFill>
              </a:rPr>
              <a:t>反拓樸順序</a:t>
            </a:r>
            <a:r>
              <a:rPr lang="zh-TW" altLang="en-US" dirty="0"/>
              <a:t>決定</a:t>
            </a:r>
            <a:r>
              <a:rPr lang="en-US" altLang="zh-TW" dirty="0" err="1"/>
              <a:t>ltv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C00000"/>
                </a:solidFill>
              </a:rPr>
              <a:t>由後往前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8849" y="3868211"/>
            <a:ext cx="1340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152386" y="4278701"/>
            <a:ext cx="3523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 – 3 = 17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152386" y="4692476"/>
            <a:ext cx="39244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 – 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 –  9} 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153004" y="5416021"/>
            <a:ext cx="3389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 – 7 = 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088358" y="4683920"/>
            <a:ext cx="50369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{5 – 3, 5 – 4,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– 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088296" y="3868211"/>
            <a:ext cx="32672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 – 4 = 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4086671" y="4278626"/>
            <a:ext cx="3523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17 – 12 = 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線接點 55"/>
          <p:cNvCxnSpPr>
            <a:stCxn id="60" idx="3"/>
            <a:endCxn id="58" idx="7"/>
          </p:cNvCxnSpPr>
          <p:nvPr/>
        </p:nvCxnSpPr>
        <p:spPr>
          <a:xfrm flipH="1">
            <a:off x="4758592" y="1727079"/>
            <a:ext cx="1113650" cy="733339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4656769" y="1790877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4512769" y="241824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4479099" y="235630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橢圓 59"/>
          <p:cNvSpPr/>
          <p:nvPr/>
        </p:nvSpPr>
        <p:spPr>
          <a:xfrm>
            <a:off x="5830065" y="148125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文字方塊 60"/>
          <p:cNvSpPr txBox="1"/>
          <p:nvPr/>
        </p:nvSpPr>
        <p:spPr>
          <a:xfrm>
            <a:off x="5814194" y="140869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橢圓 63"/>
          <p:cNvSpPr/>
          <p:nvPr/>
        </p:nvSpPr>
        <p:spPr>
          <a:xfrm>
            <a:off x="5830065" y="335860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8634405" y="235630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線接點 65"/>
          <p:cNvCxnSpPr>
            <a:stCxn id="64" idx="1"/>
            <a:endCxn id="58" idx="5"/>
          </p:cNvCxnSpPr>
          <p:nvPr/>
        </p:nvCxnSpPr>
        <p:spPr>
          <a:xfrm flipH="1" flipV="1">
            <a:off x="4758592" y="2664064"/>
            <a:ext cx="1113650" cy="736714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5830065" y="241824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8" name="直線接點 67"/>
          <p:cNvCxnSpPr>
            <a:stCxn id="67" idx="2"/>
            <a:endCxn id="58" idx="6"/>
          </p:cNvCxnSpPr>
          <p:nvPr/>
        </p:nvCxnSpPr>
        <p:spPr>
          <a:xfrm flipH="1">
            <a:off x="4800769" y="2562241"/>
            <a:ext cx="102929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橢圓 68"/>
          <p:cNvSpPr/>
          <p:nvPr/>
        </p:nvSpPr>
        <p:spPr>
          <a:xfrm>
            <a:off x="7290273" y="148125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橢圓 69"/>
          <p:cNvSpPr/>
          <p:nvPr/>
        </p:nvSpPr>
        <p:spPr>
          <a:xfrm>
            <a:off x="7290273" y="335860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橢圓 70"/>
          <p:cNvSpPr/>
          <p:nvPr/>
        </p:nvSpPr>
        <p:spPr>
          <a:xfrm>
            <a:off x="8672506" y="241824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2" name="直線接點 71"/>
          <p:cNvCxnSpPr>
            <a:stCxn id="69" idx="2"/>
            <a:endCxn id="60" idx="6"/>
          </p:cNvCxnSpPr>
          <p:nvPr/>
        </p:nvCxnSpPr>
        <p:spPr>
          <a:xfrm flipH="1">
            <a:off x="6118065" y="1625256"/>
            <a:ext cx="117220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>
            <a:stCxn id="70" idx="2"/>
            <a:endCxn id="64" idx="6"/>
          </p:cNvCxnSpPr>
          <p:nvPr/>
        </p:nvCxnSpPr>
        <p:spPr>
          <a:xfrm flipH="1">
            <a:off x="6118065" y="3502601"/>
            <a:ext cx="117220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70" idx="1"/>
            <a:endCxn id="67" idx="5"/>
          </p:cNvCxnSpPr>
          <p:nvPr/>
        </p:nvCxnSpPr>
        <p:spPr>
          <a:xfrm flipH="1" flipV="1">
            <a:off x="6075888" y="2664064"/>
            <a:ext cx="1256562" cy="736714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>
            <a:stCxn id="69" idx="4"/>
            <a:endCxn id="70" idx="0"/>
          </p:cNvCxnSpPr>
          <p:nvPr/>
        </p:nvCxnSpPr>
        <p:spPr>
          <a:xfrm>
            <a:off x="7434273" y="1769256"/>
            <a:ext cx="0" cy="1589345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>
            <a:stCxn id="71" idx="1"/>
            <a:endCxn id="69" idx="6"/>
          </p:cNvCxnSpPr>
          <p:nvPr/>
        </p:nvCxnSpPr>
        <p:spPr>
          <a:xfrm flipH="1" flipV="1">
            <a:off x="7578273" y="1625256"/>
            <a:ext cx="1136410" cy="835162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>
            <a:stCxn id="71" idx="3"/>
            <a:endCxn id="70" idx="6"/>
          </p:cNvCxnSpPr>
          <p:nvPr/>
        </p:nvCxnSpPr>
        <p:spPr>
          <a:xfrm flipH="1">
            <a:off x="7578273" y="2664064"/>
            <a:ext cx="1136410" cy="838537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5802597" y="233673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5808799" y="328603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7256678" y="140869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7256754" y="327540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4987917" y="2233575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4684161" y="298926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6245231" y="1288245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b="1">
                <a:latin typeface="Times New Roman" panose="02020603050405020304" pitchFamily="18" charset="0"/>
                <a:cs typeface="Times New Roman" panose="02020603050405020304" pitchFamily="18" charset="0"/>
              </a:rPr>
              <a:t> = 12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6466977" y="2648300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6302938" y="3445253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7396323" y="235630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8044703" y="174485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8041076" y="2970916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648600" y="2763134"/>
          <a:ext cx="3690750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20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1" name="群組 90"/>
          <p:cNvGrpSpPr/>
          <p:nvPr/>
        </p:nvGrpSpPr>
        <p:grpSpPr>
          <a:xfrm>
            <a:off x="735533" y="2406296"/>
            <a:ext cx="3509658" cy="369332"/>
            <a:chOff x="384644" y="2151104"/>
            <a:chExt cx="3509658" cy="369332"/>
          </a:xfrm>
        </p:grpSpPr>
        <p:sp>
          <p:nvSpPr>
            <p:cNvPr id="92" name="文字方塊 91"/>
            <p:cNvSpPr txBox="1"/>
            <p:nvPr/>
          </p:nvSpPr>
          <p:spPr>
            <a:xfrm>
              <a:off x="384644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911113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文字方塊 93"/>
            <p:cNvSpPr txBox="1"/>
            <p:nvPr/>
          </p:nvSpPr>
          <p:spPr>
            <a:xfrm>
              <a:off x="1434090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1960559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文字方塊 95"/>
            <p:cNvSpPr txBox="1"/>
            <p:nvPr/>
          </p:nvSpPr>
          <p:spPr>
            <a:xfrm>
              <a:off x="2480654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文字方塊 96"/>
            <p:cNvSpPr txBox="1"/>
            <p:nvPr/>
          </p:nvSpPr>
          <p:spPr>
            <a:xfrm>
              <a:off x="3003631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文字方塊 97"/>
            <p:cNvSpPr txBox="1"/>
            <p:nvPr/>
          </p:nvSpPr>
          <p:spPr>
            <a:xfrm>
              <a:off x="3530100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9" name="文字方塊 98"/>
          <p:cNvSpPr txBox="1"/>
          <p:nvPr/>
        </p:nvSpPr>
        <p:spPr>
          <a:xfrm>
            <a:off x="15093" y="2754362"/>
            <a:ext cx="6815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57625" y="3150352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758997" y="31657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1264200" y="31657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1797810" y="31657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文字方塊 104"/>
          <p:cNvSpPr txBox="1"/>
          <p:nvPr/>
        </p:nvSpPr>
        <p:spPr>
          <a:xfrm>
            <a:off x="2324279" y="31657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文字方塊 105"/>
          <p:cNvSpPr txBox="1"/>
          <p:nvPr/>
        </p:nvSpPr>
        <p:spPr>
          <a:xfrm>
            <a:off x="2855007" y="31657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文字方塊 106"/>
          <p:cNvSpPr txBox="1"/>
          <p:nvPr/>
        </p:nvSpPr>
        <p:spPr>
          <a:xfrm>
            <a:off x="3335452" y="316574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字方塊 107"/>
          <p:cNvSpPr txBox="1"/>
          <p:nvPr/>
        </p:nvSpPr>
        <p:spPr>
          <a:xfrm>
            <a:off x="3851288" y="316574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9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2" grpId="0"/>
      <p:bldP spid="44" grpId="0"/>
      <p:bldP spid="45" grpId="0"/>
      <p:bldP spid="102" grpId="0"/>
      <p:bldP spid="103" grpId="0"/>
      <p:bldP spid="104" grpId="0"/>
      <p:bldP spid="105" grpId="0"/>
      <p:bldP spid="106" grpId="0"/>
      <p:bldP spid="107" grpId="0"/>
      <p:bldP spid="10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AOE </a:t>
            </a:r>
            <a:r>
              <a:rPr lang="zh-TW" altLang="en-US" dirty="0"/>
              <a:t>網路 </a:t>
            </a:r>
            <a:r>
              <a:rPr lang="en-US" altLang="zh-TW" dirty="0"/>
              <a:t>(5/6)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/>
              <a:t>ete</a:t>
            </a:r>
            <a:r>
              <a:rPr lang="zh-TW" altLang="en-US" dirty="0"/>
              <a:t>：邊之</a:t>
            </a:r>
            <a:r>
              <a:rPr lang="zh-TW" altLang="en-US" dirty="0">
                <a:solidFill>
                  <a:srgbClr val="C00000"/>
                </a:solidFill>
              </a:rPr>
              <a:t>起點</a:t>
            </a:r>
            <a:r>
              <a:rPr lang="zh-TW" altLang="en-US" dirty="0"/>
              <a:t>的</a:t>
            </a:r>
            <a:r>
              <a:rPr lang="en-US" altLang="zh-TW" dirty="0" err="1"/>
              <a:t>etv</a:t>
            </a:r>
            <a:endParaRPr lang="en-US" altLang="zh-TW" dirty="0"/>
          </a:p>
          <a:p>
            <a:r>
              <a:rPr lang="en-US" altLang="zh-TW" dirty="0" err="1"/>
              <a:t>lte</a:t>
            </a:r>
            <a:r>
              <a:rPr lang="zh-TW" altLang="en-US" dirty="0"/>
              <a:t>：邊之</a:t>
            </a:r>
            <a:r>
              <a:rPr lang="zh-TW" altLang="en-US" dirty="0">
                <a:solidFill>
                  <a:srgbClr val="C00000"/>
                </a:solidFill>
              </a:rPr>
              <a:t>終點</a:t>
            </a:r>
            <a:r>
              <a:rPr lang="zh-TW" altLang="en-US" dirty="0"/>
              <a:t>的</a:t>
            </a:r>
            <a:r>
              <a:rPr lang="en-US" altLang="zh-TW" dirty="0" err="1"/>
              <a:t>ltv</a:t>
            </a:r>
            <a:r>
              <a:rPr lang="en-US" altLang="zh-TW" dirty="0"/>
              <a:t> – </a:t>
            </a:r>
            <a:r>
              <a:rPr lang="zh-TW" altLang="en-US" dirty="0">
                <a:solidFill>
                  <a:srgbClr val="0000FF"/>
                </a:solidFill>
              </a:rPr>
              <a:t>邊長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63785" y="3910743"/>
            <a:ext cx="2097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7323" y="4289334"/>
            <a:ext cx="2093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67322" y="4671210"/>
            <a:ext cx="2097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線接點 55"/>
          <p:cNvCxnSpPr>
            <a:stCxn id="60" idx="3"/>
            <a:endCxn id="58" idx="7"/>
          </p:cNvCxnSpPr>
          <p:nvPr/>
        </p:nvCxnSpPr>
        <p:spPr>
          <a:xfrm flipH="1">
            <a:off x="4758592" y="1727079"/>
            <a:ext cx="1113650" cy="733339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4656769" y="1790877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4512769" y="241824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4479099" y="235630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橢圓 59"/>
          <p:cNvSpPr/>
          <p:nvPr/>
        </p:nvSpPr>
        <p:spPr>
          <a:xfrm>
            <a:off x="5830065" y="148125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文字方塊 60"/>
          <p:cNvSpPr txBox="1"/>
          <p:nvPr/>
        </p:nvSpPr>
        <p:spPr>
          <a:xfrm>
            <a:off x="5814194" y="140869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橢圓 63"/>
          <p:cNvSpPr/>
          <p:nvPr/>
        </p:nvSpPr>
        <p:spPr>
          <a:xfrm>
            <a:off x="5830065" y="335860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8634405" y="235630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線接點 65"/>
          <p:cNvCxnSpPr>
            <a:stCxn id="64" idx="1"/>
            <a:endCxn id="58" idx="5"/>
          </p:cNvCxnSpPr>
          <p:nvPr/>
        </p:nvCxnSpPr>
        <p:spPr>
          <a:xfrm flipH="1" flipV="1">
            <a:off x="4758592" y="2664064"/>
            <a:ext cx="1113650" cy="736714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橢圓 66"/>
          <p:cNvSpPr/>
          <p:nvPr/>
        </p:nvSpPr>
        <p:spPr>
          <a:xfrm>
            <a:off x="5830065" y="241824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8" name="直線接點 67"/>
          <p:cNvCxnSpPr>
            <a:stCxn id="67" idx="2"/>
            <a:endCxn id="58" idx="6"/>
          </p:cNvCxnSpPr>
          <p:nvPr/>
        </p:nvCxnSpPr>
        <p:spPr>
          <a:xfrm flipH="1">
            <a:off x="4800769" y="2562241"/>
            <a:ext cx="102929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橢圓 68"/>
          <p:cNvSpPr/>
          <p:nvPr/>
        </p:nvSpPr>
        <p:spPr>
          <a:xfrm>
            <a:off x="7290273" y="148125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橢圓 69"/>
          <p:cNvSpPr/>
          <p:nvPr/>
        </p:nvSpPr>
        <p:spPr>
          <a:xfrm>
            <a:off x="7290273" y="335860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橢圓 70"/>
          <p:cNvSpPr/>
          <p:nvPr/>
        </p:nvSpPr>
        <p:spPr>
          <a:xfrm>
            <a:off x="8672506" y="241824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2" name="直線接點 71"/>
          <p:cNvCxnSpPr>
            <a:stCxn id="69" idx="2"/>
            <a:endCxn id="60" idx="6"/>
          </p:cNvCxnSpPr>
          <p:nvPr/>
        </p:nvCxnSpPr>
        <p:spPr>
          <a:xfrm flipH="1">
            <a:off x="6118065" y="1625256"/>
            <a:ext cx="117220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>
            <a:stCxn id="70" idx="2"/>
            <a:endCxn id="64" idx="6"/>
          </p:cNvCxnSpPr>
          <p:nvPr/>
        </p:nvCxnSpPr>
        <p:spPr>
          <a:xfrm flipH="1">
            <a:off x="6118065" y="3502601"/>
            <a:ext cx="117220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70" idx="1"/>
            <a:endCxn id="67" idx="5"/>
          </p:cNvCxnSpPr>
          <p:nvPr/>
        </p:nvCxnSpPr>
        <p:spPr>
          <a:xfrm flipH="1" flipV="1">
            <a:off x="6075888" y="2664064"/>
            <a:ext cx="1256562" cy="736714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>
            <a:stCxn id="69" idx="4"/>
            <a:endCxn id="70" idx="0"/>
          </p:cNvCxnSpPr>
          <p:nvPr/>
        </p:nvCxnSpPr>
        <p:spPr>
          <a:xfrm>
            <a:off x="7434273" y="1769256"/>
            <a:ext cx="0" cy="1589345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>
            <a:stCxn id="71" idx="1"/>
            <a:endCxn id="69" idx="6"/>
          </p:cNvCxnSpPr>
          <p:nvPr/>
        </p:nvCxnSpPr>
        <p:spPr>
          <a:xfrm flipH="1" flipV="1">
            <a:off x="7578273" y="1625256"/>
            <a:ext cx="1136410" cy="835162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>
            <a:stCxn id="71" idx="3"/>
            <a:endCxn id="70" idx="6"/>
          </p:cNvCxnSpPr>
          <p:nvPr/>
        </p:nvCxnSpPr>
        <p:spPr>
          <a:xfrm flipH="1">
            <a:off x="7578273" y="2664064"/>
            <a:ext cx="1136410" cy="838537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5802597" y="233673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5808799" y="328603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7256678" y="140869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7256754" y="327540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4987917" y="2233575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4684161" y="298926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6245231" y="1288245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b="1">
                <a:latin typeface="Times New Roman" panose="02020603050405020304" pitchFamily="18" charset="0"/>
                <a:cs typeface="Times New Roman" panose="02020603050405020304" pitchFamily="18" charset="0"/>
              </a:rPr>
              <a:t> = 12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6466977" y="2648300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6302938" y="3445253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7396323" y="235630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8044703" y="174485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8041076" y="2970916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648600" y="2763134"/>
          <a:ext cx="3690750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1" name="群組 90"/>
          <p:cNvGrpSpPr/>
          <p:nvPr/>
        </p:nvGrpSpPr>
        <p:grpSpPr>
          <a:xfrm>
            <a:off x="735533" y="2406296"/>
            <a:ext cx="3509658" cy="369332"/>
            <a:chOff x="384644" y="2151104"/>
            <a:chExt cx="3509658" cy="369332"/>
          </a:xfrm>
        </p:grpSpPr>
        <p:sp>
          <p:nvSpPr>
            <p:cNvPr id="92" name="文字方塊 91"/>
            <p:cNvSpPr txBox="1"/>
            <p:nvPr/>
          </p:nvSpPr>
          <p:spPr>
            <a:xfrm>
              <a:off x="384644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911113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文字方塊 93"/>
            <p:cNvSpPr txBox="1"/>
            <p:nvPr/>
          </p:nvSpPr>
          <p:spPr>
            <a:xfrm>
              <a:off x="1434090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1960559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文字方塊 95"/>
            <p:cNvSpPr txBox="1"/>
            <p:nvPr/>
          </p:nvSpPr>
          <p:spPr>
            <a:xfrm>
              <a:off x="2480654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文字方塊 96"/>
            <p:cNvSpPr txBox="1"/>
            <p:nvPr/>
          </p:nvSpPr>
          <p:spPr>
            <a:xfrm>
              <a:off x="3003631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文字方塊 97"/>
            <p:cNvSpPr txBox="1"/>
            <p:nvPr/>
          </p:nvSpPr>
          <p:spPr>
            <a:xfrm>
              <a:off x="3530100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9" name="文字方塊 98"/>
          <p:cNvSpPr txBox="1"/>
          <p:nvPr/>
        </p:nvSpPr>
        <p:spPr>
          <a:xfrm>
            <a:off x="15093" y="2754362"/>
            <a:ext cx="6815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57625" y="3150352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758997" y="31657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1264200" y="31657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1797810" y="31657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文字方塊 104"/>
          <p:cNvSpPr txBox="1"/>
          <p:nvPr/>
        </p:nvSpPr>
        <p:spPr>
          <a:xfrm>
            <a:off x="2324279" y="31657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文字方塊 105"/>
          <p:cNvSpPr txBox="1"/>
          <p:nvPr/>
        </p:nvSpPr>
        <p:spPr>
          <a:xfrm>
            <a:off x="2855007" y="31657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文字方塊 106"/>
          <p:cNvSpPr txBox="1"/>
          <p:nvPr/>
        </p:nvSpPr>
        <p:spPr>
          <a:xfrm>
            <a:off x="3335452" y="316574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字方塊 107"/>
          <p:cNvSpPr txBox="1"/>
          <p:nvPr/>
        </p:nvSpPr>
        <p:spPr>
          <a:xfrm>
            <a:off x="3851288" y="316574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63784" y="5039421"/>
            <a:ext cx="2097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文字方塊 108"/>
          <p:cNvSpPr txBox="1"/>
          <p:nvPr/>
        </p:nvSpPr>
        <p:spPr>
          <a:xfrm>
            <a:off x="67322" y="5418012"/>
            <a:ext cx="2093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文字方塊 109"/>
          <p:cNvSpPr txBox="1"/>
          <p:nvPr/>
        </p:nvSpPr>
        <p:spPr>
          <a:xfrm>
            <a:off x="67321" y="5799888"/>
            <a:ext cx="2097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文字方塊 110"/>
          <p:cNvSpPr txBox="1"/>
          <p:nvPr/>
        </p:nvSpPr>
        <p:spPr>
          <a:xfrm>
            <a:off x="2285781" y="3910743"/>
            <a:ext cx="2097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2289319" y="4289334"/>
            <a:ext cx="2282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17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2289318" y="4671210"/>
            <a:ext cx="2097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2289319" y="5028788"/>
            <a:ext cx="3252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 – 3 = 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2292857" y="5407379"/>
            <a:ext cx="3249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 – 4 = 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2292856" y="5789255"/>
            <a:ext cx="3252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– 2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文字方塊 116"/>
          <p:cNvSpPr txBox="1"/>
          <p:nvPr/>
        </p:nvSpPr>
        <p:spPr>
          <a:xfrm>
            <a:off x="5620102" y="3910743"/>
            <a:ext cx="35092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17 – 12 = 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字方塊 117"/>
          <p:cNvSpPr txBox="1"/>
          <p:nvPr/>
        </p:nvSpPr>
        <p:spPr>
          <a:xfrm>
            <a:off x="5623640" y="4289334"/>
            <a:ext cx="3249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 – 4 = 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5623639" y="4671210"/>
            <a:ext cx="3252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 – 7 = 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5633723" y="5030294"/>
            <a:ext cx="3381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17 – 8 = 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文字方塊 120"/>
          <p:cNvSpPr txBox="1"/>
          <p:nvPr/>
        </p:nvSpPr>
        <p:spPr>
          <a:xfrm>
            <a:off x="5637260" y="5408885"/>
            <a:ext cx="3492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 – 3 = 17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文字方塊 121"/>
          <p:cNvSpPr txBox="1"/>
          <p:nvPr/>
        </p:nvSpPr>
        <p:spPr>
          <a:xfrm>
            <a:off x="5637260" y="5790761"/>
            <a:ext cx="34951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 – 9 = 11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771492" y="275024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文字方塊 123"/>
          <p:cNvSpPr txBox="1"/>
          <p:nvPr/>
        </p:nvSpPr>
        <p:spPr>
          <a:xfrm>
            <a:off x="1276695" y="275024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1810305" y="275024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文字方塊 125"/>
          <p:cNvSpPr txBox="1"/>
          <p:nvPr/>
        </p:nvSpPr>
        <p:spPr>
          <a:xfrm>
            <a:off x="2336774" y="275024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文字方塊 126"/>
          <p:cNvSpPr txBox="1"/>
          <p:nvPr/>
        </p:nvSpPr>
        <p:spPr>
          <a:xfrm>
            <a:off x="2867502" y="275024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文字方塊 127"/>
          <p:cNvSpPr txBox="1"/>
          <p:nvPr/>
        </p:nvSpPr>
        <p:spPr>
          <a:xfrm>
            <a:off x="3347947" y="275024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文字方塊 128"/>
          <p:cNvSpPr txBox="1"/>
          <p:nvPr/>
        </p:nvSpPr>
        <p:spPr>
          <a:xfrm>
            <a:off x="3863783" y="275024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85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101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>
                <a:solidFill>
                  <a:srgbClr val="C00000"/>
                </a:solidFill>
              </a:rPr>
              <a:t>關鍵路徑</a:t>
            </a:r>
            <a:r>
              <a:rPr lang="en-US" altLang="zh-TW" dirty="0">
                <a:solidFill>
                  <a:srgbClr val="C00000"/>
                </a:solidFill>
              </a:rPr>
              <a:t>(critical path)</a:t>
            </a:r>
            <a:r>
              <a:rPr lang="zh-TW" altLang="en-US" dirty="0"/>
              <a:t>：</a:t>
            </a:r>
            <a:r>
              <a:rPr lang="en-US" altLang="zh-TW" i="1" dirty="0"/>
              <a:t>e</a:t>
            </a:r>
            <a:r>
              <a:rPr lang="en-US" altLang="zh-TW" baseline="-25000" dirty="0"/>
              <a:t>3</a:t>
            </a:r>
            <a:r>
              <a:rPr lang="en-US" altLang="zh-TW" dirty="0"/>
              <a:t>, </a:t>
            </a:r>
            <a:r>
              <a:rPr lang="en-US" altLang="zh-TW" i="1" dirty="0"/>
              <a:t>e</a:t>
            </a:r>
            <a:r>
              <a:rPr lang="en-US" altLang="zh-TW" baseline="-25000" dirty="0"/>
              <a:t>6</a:t>
            </a:r>
            <a:r>
              <a:rPr lang="en-US" altLang="zh-TW" dirty="0"/>
              <a:t>, </a:t>
            </a:r>
            <a:r>
              <a:rPr lang="en-US" altLang="zh-TW" i="1" dirty="0"/>
              <a:t>e</a:t>
            </a:r>
            <a:r>
              <a:rPr lang="en-US" altLang="zh-TW" baseline="-25000" dirty="0"/>
              <a:t>7</a:t>
            </a:r>
            <a:r>
              <a:rPr lang="en-US" altLang="zh-TW" dirty="0"/>
              <a:t>, </a:t>
            </a:r>
            <a:r>
              <a:rPr lang="en-US" altLang="zh-TW" i="1" dirty="0"/>
              <a:t>e</a:t>
            </a:r>
            <a:r>
              <a:rPr lang="en-US" altLang="zh-TW" baseline="-25000" dirty="0"/>
              <a:t>8</a:t>
            </a:r>
            <a:r>
              <a:rPr lang="en-US" altLang="zh-TW" dirty="0"/>
              <a:t> (</a:t>
            </a:r>
            <a:r>
              <a:rPr lang="en-US" altLang="zh-TW" i="1" dirty="0"/>
              <a:t>v</a:t>
            </a:r>
            <a:r>
              <a:rPr lang="en-US" altLang="zh-TW" baseline="-25000" dirty="0"/>
              <a:t>0</a:t>
            </a:r>
            <a:r>
              <a:rPr lang="en-US" altLang="zh-TW" dirty="0"/>
              <a:t> </a:t>
            </a:r>
            <a:r>
              <a:rPr lang="en-US" altLang="zh-TW" dirty="0">
                <a:sym typeface="Symbol"/>
              </a:rPr>
              <a:t> </a:t>
            </a:r>
            <a:r>
              <a:rPr lang="en-US" altLang="zh-TW" i="1" dirty="0">
                <a:sym typeface="Symbol"/>
              </a:rPr>
              <a:t>v</a:t>
            </a:r>
            <a:r>
              <a:rPr lang="en-US" altLang="zh-TW" baseline="-25000" dirty="0">
                <a:sym typeface="Symbol"/>
              </a:rPr>
              <a:t>3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v</a:t>
            </a:r>
            <a:r>
              <a:rPr lang="en-US" altLang="zh-TW" baseline="-25000" dirty="0">
                <a:sym typeface="Symbol"/>
              </a:rPr>
              <a:t>4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v</a:t>
            </a:r>
            <a:r>
              <a:rPr lang="en-US" altLang="zh-TW" baseline="-25000" dirty="0">
                <a:sym typeface="Symbol"/>
              </a:rPr>
              <a:t>5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v</a:t>
            </a:r>
            <a:r>
              <a:rPr lang="en-US" altLang="zh-TW" baseline="-25000" dirty="0">
                <a:sym typeface="Symbol"/>
              </a:rPr>
              <a:t>6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90" name="橢圓 89"/>
          <p:cNvSpPr/>
          <p:nvPr/>
        </p:nvSpPr>
        <p:spPr>
          <a:xfrm>
            <a:off x="7290273" y="148125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橢圓 84"/>
          <p:cNvSpPr/>
          <p:nvPr/>
        </p:nvSpPr>
        <p:spPr>
          <a:xfrm>
            <a:off x="5830065" y="335860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橢圓 80"/>
          <p:cNvSpPr/>
          <p:nvPr/>
        </p:nvSpPr>
        <p:spPr>
          <a:xfrm>
            <a:off x="4512769" y="241824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文字方塊 100"/>
          <p:cNvSpPr txBox="1"/>
          <p:nvPr/>
        </p:nvSpPr>
        <p:spPr>
          <a:xfrm>
            <a:off x="7256678" y="140869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5808799" y="328603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4479099" y="235630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AOE </a:t>
            </a:r>
            <a:r>
              <a:rPr lang="zh-TW" altLang="en-US" dirty="0"/>
              <a:t>網路 </a:t>
            </a:r>
            <a:r>
              <a:rPr lang="en-US" altLang="zh-TW" dirty="0"/>
              <a:t>(6/6)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56</a:t>
            </a:fld>
            <a:endParaRPr lang="en-US" dirty="0"/>
          </a:p>
        </p:txBody>
      </p:sp>
      <p:graphicFrame>
        <p:nvGraphicFramePr>
          <p:cNvPr id="42" name="表格 41"/>
          <p:cNvGraphicFramePr>
            <a:graphicFrameLocks noGrp="1"/>
          </p:cNvGraphicFramePr>
          <p:nvPr/>
        </p:nvGraphicFramePr>
        <p:xfrm>
          <a:off x="695175" y="3153213"/>
          <a:ext cx="3690750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20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4" name="群組 43"/>
          <p:cNvGrpSpPr/>
          <p:nvPr/>
        </p:nvGrpSpPr>
        <p:grpSpPr>
          <a:xfrm>
            <a:off x="782108" y="2796375"/>
            <a:ext cx="3509658" cy="369332"/>
            <a:chOff x="384644" y="2151104"/>
            <a:chExt cx="3509658" cy="369332"/>
          </a:xfrm>
        </p:grpSpPr>
        <p:sp>
          <p:nvSpPr>
            <p:cNvPr id="45" name="文字方塊 44"/>
            <p:cNvSpPr txBox="1"/>
            <p:nvPr/>
          </p:nvSpPr>
          <p:spPr>
            <a:xfrm>
              <a:off x="384644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911113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1434090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1960559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2480654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3003631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3530100" y="215110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5" name="文字方塊 54"/>
          <p:cNvSpPr txBox="1"/>
          <p:nvPr/>
        </p:nvSpPr>
        <p:spPr>
          <a:xfrm>
            <a:off x="61668" y="3144441"/>
            <a:ext cx="6815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104200" y="3540431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805572" y="355582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1310775" y="355582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1844385" y="355582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2370854" y="355582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2901582" y="355582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3382027" y="355582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3897863" y="355582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直線接點 78"/>
          <p:cNvCxnSpPr>
            <a:stCxn id="83" idx="3"/>
            <a:endCxn id="81" idx="7"/>
          </p:cNvCxnSpPr>
          <p:nvPr/>
        </p:nvCxnSpPr>
        <p:spPr>
          <a:xfrm flipH="1">
            <a:off x="4758592" y="1727079"/>
            <a:ext cx="1113650" cy="733339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字方塊 79"/>
          <p:cNvSpPr txBox="1"/>
          <p:nvPr/>
        </p:nvSpPr>
        <p:spPr>
          <a:xfrm>
            <a:off x="4656769" y="1790877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橢圓 82"/>
          <p:cNvSpPr/>
          <p:nvPr/>
        </p:nvSpPr>
        <p:spPr>
          <a:xfrm>
            <a:off x="5830065" y="148125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5814194" y="140869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7" name="直線接點 86"/>
          <p:cNvCxnSpPr>
            <a:stCxn id="85" idx="1"/>
            <a:endCxn id="81" idx="5"/>
          </p:cNvCxnSpPr>
          <p:nvPr/>
        </p:nvCxnSpPr>
        <p:spPr>
          <a:xfrm flipH="1" flipV="1">
            <a:off x="4758592" y="2664064"/>
            <a:ext cx="1113650" cy="736714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橢圓 87"/>
          <p:cNvSpPr/>
          <p:nvPr/>
        </p:nvSpPr>
        <p:spPr>
          <a:xfrm>
            <a:off x="5830065" y="241824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9" name="直線接點 88"/>
          <p:cNvCxnSpPr>
            <a:stCxn id="88" idx="2"/>
            <a:endCxn id="81" idx="6"/>
          </p:cNvCxnSpPr>
          <p:nvPr/>
        </p:nvCxnSpPr>
        <p:spPr>
          <a:xfrm flipH="1">
            <a:off x="4800769" y="2562241"/>
            <a:ext cx="102929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橢圓 90"/>
          <p:cNvSpPr/>
          <p:nvPr/>
        </p:nvSpPr>
        <p:spPr>
          <a:xfrm>
            <a:off x="7290273" y="335860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橢圓 91"/>
          <p:cNvSpPr/>
          <p:nvPr/>
        </p:nvSpPr>
        <p:spPr>
          <a:xfrm>
            <a:off x="8672506" y="241824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3" name="直線接點 92"/>
          <p:cNvCxnSpPr>
            <a:stCxn id="90" idx="2"/>
            <a:endCxn id="83" idx="6"/>
          </p:cNvCxnSpPr>
          <p:nvPr/>
        </p:nvCxnSpPr>
        <p:spPr>
          <a:xfrm flipH="1">
            <a:off x="6118065" y="1625256"/>
            <a:ext cx="117220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>
            <a:stCxn id="91" idx="2"/>
            <a:endCxn id="85" idx="6"/>
          </p:cNvCxnSpPr>
          <p:nvPr/>
        </p:nvCxnSpPr>
        <p:spPr>
          <a:xfrm flipH="1">
            <a:off x="6118065" y="3502601"/>
            <a:ext cx="117220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>
            <a:stCxn id="91" idx="1"/>
            <a:endCxn id="88" idx="5"/>
          </p:cNvCxnSpPr>
          <p:nvPr/>
        </p:nvCxnSpPr>
        <p:spPr>
          <a:xfrm flipH="1" flipV="1">
            <a:off x="6075888" y="2664064"/>
            <a:ext cx="1256562" cy="736714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>
            <a:stCxn id="90" idx="4"/>
            <a:endCxn id="91" idx="0"/>
          </p:cNvCxnSpPr>
          <p:nvPr/>
        </p:nvCxnSpPr>
        <p:spPr>
          <a:xfrm>
            <a:off x="7434273" y="1769256"/>
            <a:ext cx="0" cy="1589345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/>
          <p:cNvCxnSpPr>
            <a:stCxn id="92" idx="1"/>
            <a:endCxn id="90" idx="6"/>
          </p:cNvCxnSpPr>
          <p:nvPr/>
        </p:nvCxnSpPr>
        <p:spPr>
          <a:xfrm flipH="1" flipV="1">
            <a:off x="7578273" y="1625256"/>
            <a:ext cx="1136410" cy="835162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>
            <a:stCxn id="92" idx="3"/>
            <a:endCxn id="91" idx="6"/>
          </p:cNvCxnSpPr>
          <p:nvPr/>
        </p:nvCxnSpPr>
        <p:spPr>
          <a:xfrm flipH="1">
            <a:off x="7578273" y="2664064"/>
            <a:ext cx="1136410" cy="838537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字方塊 98"/>
          <p:cNvSpPr txBox="1"/>
          <p:nvPr/>
        </p:nvSpPr>
        <p:spPr>
          <a:xfrm>
            <a:off x="5802597" y="233673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4987917" y="2233575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4684161" y="298926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文字方塊 104"/>
          <p:cNvSpPr txBox="1"/>
          <p:nvPr/>
        </p:nvSpPr>
        <p:spPr>
          <a:xfrm>
            <a:off x="6245231" y="1288245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b="1">
                <a:latin typeface="Times New Roman" panose="02020603050405020304" pitchFamily="18" charset="0"/>
                <a:cs typeface="Times New Roman" panose="02020603050405020304" pitchFamily="18" charset="0"/>
              </a:rPr>
              <a:t> = 12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文字方塊 105"/>
          <p:cNvSpPr txBox="1"/>
          <p:nvPr/>
        </p:nvSpPr>
        <p:spPr>
          <a:xfrm>
            <a:off x="6466977" y="2648300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文字方塊 106"/>
          <p:cNvSpPr txBox="1"/>
          <p:nvPr/>
        </p:nvSpPr>
        <p:spPr>
          <a:xfrm>
            <a:off x="6302938" y="3445253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字方塊 107"/>
          <p:cNvSpPr txBox="1"/>
          <p:nvPr/>
        </p:nvSpPr>
        <p:spPr>
          <a:xfrm>
            <a:off x="7396323" y="235630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文字方塊 108"/>
          <p:cNvSpPr txBox="1"/>
          <p:nvPr/>
        </p:nvSpPr>
        <p:spPr>
          <a:xfrm>
            <a:off x="8044703" y="174485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文字方塊 109"/>
          <p:cNvSpPr txBox="1"/>
          <p:nvPr/>
        </p:nvSpPr>
        <p:spPr>
          <a:xfrm>
            <a:off x="8041076" y="2970916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1" name="表格 110"/>
          <p:cNvGraphicFramePr>
            <a:graphicFrameLocks noGrp="1"/>
          </p:cNvGraphicFramePr>
          <p:nvPr/>
        </p:nvGraphicFramePr>
        <p:xfrm>
          <a:off x="689614" y="4597448"/>
          <a:ext cx="4728591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5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3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3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3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3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3" name="文字方塊 112"/>
          <p:cNvSpPr txBox="1"/>
          <p:nvPr/>
        </p:nvSpPr>
        <p:spPr>
          <a:xfrm>
            <a:off x="776551" y="424061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1303020" y="424061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1825997" y="424061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文字方塊 115"/>
          <p:cNvSpPr txBox="1"/>
          <p:nvPr/>
        </p:nvSpPr>
        <p:spPr>
          <a:xfrm>
            <a:off x="2352466" y="424061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文字方塊 116"/>
          <p:cNvSpPr txBox="1"/>
          <p:nvPr/>
        </p:nvSpPr>
        <p:spPr>
          <a:xfrm>
            <a:off x="2872561" y="424061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字方塊 117"/>
          <p:cNvSpPr txBox="1"/>
          <p:nvPr/>
        </p:nvSpPr>
        <p:spPr>
          <a:xfrm>
            <a:off x="3395538" y="424061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3922007" y="424061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56111" y="4588676"/>
            <a:ext cx="6815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文字方塊 120"/>
          <p:cNvSpPr txBox="1"/>
          <p:nvPr/>
        </p:nvSpPr>
        <p:spPr>
          <a:xfrm>
            <a:off x="98643" y="4984666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文字方塊 128"/>
          <p:cNvSpPr txBox="1"/>
          <p:nvPr/>
        </p:nvSpPr>
        <p:spPr>
          <a:xfrm>
            <a:off x="4447200" y="424061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文字方塊 129"/>
          <p:cNvSpPr txBox="1"/>
          <p:nvPr/>
        </p:nvSpPr>
        <p:spPr>
          <a:xfrm>
            <a:off x="4970177" y="424061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1738537" y="4304408"/>
            <a:ext cx="504000" cy="108000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圓角矩形 131"/>
          <p:cNvSpPr/>
          <p:nvPr/>
        </p:nvSpPr>
        <p:spPr>
          <a:xfrm>
            <a:off x="3338564" y="4304408"/>
            <a:ext cx="504000" cy="108000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圓角矩形 132"/>
          <p:cNvSpPr/>
          <p:nvPr/>
        </p:nvSpPr>
        <p:spPr>
          <a:xfrm>
            <a:off x="3853197" y="4304408"/>
            <a:ext cx="504000" cy="108000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圓角矩形 133"/>
          <p:cNvSpPr/>
          <p:nvPr/>
        </p:nvSpPr>
        <p:spPr>
          <a:xfrm>
            <a:off x="4366668" y="4304776"/>
            <a:ext cx="504000" cy="108000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文字方塊 101"/>
          <p:cNvSpPr txBox="1"/>
          <p:nvPr/>
        </p:nvSpPr>
        <p:spPr>
          <a:xfrm>
            <a:off x="7256754" y="327540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8634405" y="235630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49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mph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28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7" presetClass="emph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2" dur="2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2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50"/>
                            </p:stCondLst>
                            <p:childTnLst>
                              <p:par>
                                <p:cTn id="3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8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42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6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750"/>
                            </p:stCondLst>
                            <p:childTnLst>
                              <p:par>
                                <p:cTn id="5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2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56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0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2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250"/>
                            </p:stCondLst>
                            <p:childTnLst>
                              <p:par>
                                <p:cTn id="6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70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4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750"/>
                            </p:stCondLst>
                            <p:childTnLst>
                              <p:par>
                                <p:cTn id="7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0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84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8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2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0" grpId="0"/>
      <p:bldP spid="82" grpId="0"/>
      <p:bldP spid="10" grpId="0" animBg="1"/>
      <p:bldP spid="132" grpId="0" animBg="1"/>
      <p:bldP spid="133" grpId="0" animBg="1"/>
      <p:bldP spid="134" grpId="0" animBg="1"/>
      <p:bldP spid="102" grpId="0"/>
      <p:bldP spid="8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(1/9)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時間複雜度：</a:t>
            </a:r>
            <a:r>
              <a:rPr lang="en-US" altLang="zh-TW" i="1" dirty="0">
                <a:solidFill>
                  <a:srgbClr val="C00000"/>
                </a:solidFill>
              </a:rPr>
              <a:t>O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i="1" dirty="0">
                <a:solidFill>
                  <a:srgbClr val="C00000"/>
                </a:solidFill>
              </a:rPr>
              <a:t>V</a:t>
            </a:r>
            <a:r>
              <a:rPr lang="en-US" altLang="zh-TW" baseline="30000" dirty="0">
                <a:solidFill>
                  <a:srgbClr val="C00000"/>
                </a:solidFill>
              </a:rPr>
              <a:t>3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</a:p>
          <a:p>
            <a:r>
              <a:rPr lang="zh-TW" altLang="en-US" dirty="0"/>
              <a:t>以加權</a:t>
            </a:r>
            <a:r>
              <a:rPr lang="zh-TW" altLang="en-US" dirty="0">
                <a:solidFill>
                  <a:srgbClr val="C00000"/>
                </a:solidFill>
              </a:rPr>
              <a:t>鄰接矩陣</a:t>
            </a:r>
            <a:r>
              <a:rPr lang="zh-TW" altLang="en-US" dirty="0"/>
              <a:t>為基礎</a:t>
            </a:r>
            <a:endParaRPr lang="en-US" altLang="zh-TW" dirty="0"/>
          </a:p>
          <a:p>
            <a:r>
              <a:rPr lang="zh-TW" altLang="en-US" dirty="0">
                <a:solidFill>
                  <a:srgbClr val="C00000"/>
                </a:solidFill>
              </a:rPr>
              <a:t>減少</a:t>
            </a:r>
            <a:r>
              <a:rPr lang="zh-TW" altLang="en-US" dirty="0"/>
              <a:t>矩陣元素的值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57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1141024" y="3645986"/>
          <a:ext cx="3690750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5166501" y="1885858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5107654" y="1585225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5107654" y="2275859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5731049" y="1565198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5731049" y="2275859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6329147" y="1552959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6329147" y="2275859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7160158" y="1565198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7160158" y="2275859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5773226" y="2689074"/>
            <a:ext cx="1141109" cy="369332"/>
            <a:chOff x="1976105" y="2773335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4840400" y="1946240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5447125" y="1322944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5447125" y="2542015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6036597" y="1946240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6876234" y="1322820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6866274" y="2542015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7733125" y="1947758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776380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519142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5189394" y="3619245"/>
            <a:ext cx="2999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Cost[0][3]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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5190501" y="4418291"/>
            <a:ext cx="2999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Cost[3][4]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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5204612" y="5204985"/>
            <a:ext cx="2999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Cost[4][6]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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6742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(2/9)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58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3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429132" y="3400887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[1][2]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min{Cost[1][2], Cost[1][0] + Cost[0][2]}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 + 4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4450398" y="1422476"/>
            <a:ext cx="4507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Cost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][0] + Cost[0][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AutoShape 193"/>
          <p:cNvSpPr>
            <a:spLocks noChangeArrowheads="1"/>
          </p:cNvSpPr>
          <p:nvPr/>
        </p:nvSpPr>
        <p:spPr bwMode="auto">
          <a:xfrm>
            <a:off x="4076403" y="2317843"/>
            <a:ext cx="1365445" cy="749523"/>
          </a:xfrm>
          <a:prstGeom prst="wedgeRoundRectCallout">
            <a:avLst>
              <a:gd name="adj1" fmla="val 70979"/>
              <a:gd name="adj2" fmla="val -6431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原來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sp>
        <p:nvSpPr>
          <p:cNvPr id="81" name="AutoShape 194"/>
          <p:cNvSpPr>
            <a:spLocks noChangeArrowheads="1"/>
          </p:cNvSpPr>
          <p:nvPr/>
        </p:nvSpPr>
        <p:spPr bwMode="auto">
          <a:xfrm>
            <a:off x="7572602" y="2359965"/>
            <a:ext cx="1295400" cy="751361"/>
          </a:xfrm>
          <a:prstGeom prst="wedgeRoundRectCallout">
            <a:avLst>
              <a:gd name="adj1" fmla="val -74098"/>
              <a:gd name="adj2" fmla="val -70166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經過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cxnSp>
        <p:nvCxnSpPr>
          <p:cNvPr id="82" name="直線接點 81"/>
          <p:cNvCxnSpPr/>
          <p:nvPr/>
        </p:nvCxnSpPr>
        <p:spPr>
          <a:xfrm>
            <a:off x="5276388" y="2088000"/>
            <a:ext cx="936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6420602" y="2088000"/>
            <a:ext cx="2304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/>
          <p:cNvSpPr txBox="1"/>
          <p:nvPr/>
        </p:nvSpPr>
        <p:spPr>
          <a:xfrm>
            <a:off x="1804060" y="4118129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5/0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4429132" y="4473860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[1][3]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min{Cost[1][3], Cost[1][0] + Cost[0][3]}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1 + 5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86" name="文字方塊 85"/>
          <p:cNvSpPr txBox="1"/>
          <p:nvPr/>
        </p:nvSpPr>
        <p:spPr>
          <a:xfrm>
            <a:off x="4429132" y="5549355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[1][4]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min{Cost[1][4], Cost[1][0] + Cost[0][4]}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1 + 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圓角矩形 86"/>
          <p:cNvSpPr/>
          <p:nvPr/>
        </p:nvSpPr>
        <p:spPr>
          <a:xfrm>
            <a:off x="661598" y="3652030"/>
            <a:ext cx="3672000" cy="37795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圓角矩形 87"/>
          <p:cNvSpPr/>
          <p:nvPr/>
        </p:nvSpPr>
        <p:spPr>
          <a:xfrm>
            <a:off x="661598" y="3645709"/>
            <a:ext cx="543229" cy="275928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字方塊 88"/>
          <p:cNvSpPr txBox="1"/>
          <p:nvPr/>
        </p:nvSpPr>
        <p:spPr>
          <a:xfrm>
            <a:off x="1278721" y="4508178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5/0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橢圓 2"/>
          <p:cNvSpPr/>
          <p:nvPr/>
        </p:nvSpPr>
        <p:spPr>
          <a:xfrm>
            <a:off x="1727366" y="4029987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橢圓 89"/>
          <p:cNvSpPr/>
          <p:nvPr/>
        </p:nvSpPr>
        <p:spPr>
          <a:xfrm>
            <a:off x="2254862" y="4035603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橢圓 90"/>
          <p:cNvSpPr/>
          <p:nvPr/>
        </p:nvSpPr>
        <p:spPr>
          <a:xfrm>
            <a:off x="2790761" y="4029960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346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7" grpId="0" animBg="1"/>
      <p:bldP spid="88" grpId="0" animBg="1"/>
      <p:bldP spid="89" grpId="0" animBg="1"/>
      <p:bldP spid="3" grpId="0" animBg="1"/>
      <p:bldP spid="3" grpId="1" animBg="1"/>
      <p:bldP spid="90" grpId="0" animBg="1"/>
      <p:bldP spid="90" grpId="1" animBg="1"/>
      <p:bldP spid="91" grpId="0" animBg="1"/>
      <p:bldP spid="91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(3/9)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59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6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429132" y="3400887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[0][2]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min{Cost[0][2], Cost[0][1] + Cost[1][2]}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1 + 5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4450398" y="1422476"/>
            <a:ext cx="4507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Cost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 + Cost[1][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AutoShape 193"/>
          <p:cNvSpPr>
            <a:spLocks noChangeArrowheads="1"/>
          </p:cNvSpPr>
          <p:nvPr/>
        </p:nvSpPr>
        <p:spPr bwMode="auto">
          <a:xfrm>
            <a:off x="4076403" y="2317843"/>
            <a:ext cx="1365445" cy="749523"/>
          </a:xfrm>
          <a:prstGeom prst="wedgeRoundRectCallout">
            <a:avLst>
              <a:gd name="adj1" fmla="val 70979"/>
              <a:gd name="adj2" fmla="val -6431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原來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sp>
        <p:nvSpPr>
          <p:cNvPr id="81" name="AutoShape 194"/>
          <p:cNvSpPr>
            <a:spLocks noChangeArrowheads="1"/>
          </p:cNvSpPr>
          <p:nvPr/>
        </p:nvSpPr>
        <p:spPr bwMode="auto">
          <a:xfrm>
            <a:off x="7572602" y="2359965"/>
            <a:ext cx="1295400" cy="751361"/>
          </a:xfrm>
          <a:prstGeom prst="wedgeRoundRectCallout">
            <a:avLst>
              <a:gd name="adj1" fmla="val -74098"/>
              <a:gd name="adj2" fmla="val -70166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經過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cxnSp>
        <p:nvCxnSpPr>
          <p:cNvPr id="82" name="直線接點 81"/>
          <p:cNvCxnSpPr/>
          <p:nvPr/>
        </p:nvCxnSpPr>
        <p:spPr>
          <a:xfrm>
            <a:off x="5276388" y="2088000"/>
            <a:ext cx="936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6420602" y="2088000"/>
            <a:ext cx="2304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/>
          <p:cNvSpPr txBox="1"/>
          <p:nvPr/>
        </p:nvSpPr>
        <p:spPr>
          <a:xfrm>
            <a:off x="734141" y="4886853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3/1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4429132" y="4473860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[0][3]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min{Cost[0][3], Cost[0][1] + Cost[1][3]}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5,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 + 2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6" name="文字方塊 85"/>
          <p:cNvSpPr txBox="1"/>
          <p:nvPr/>
        </p:nvSpPr>
        <p:spPr>
          <a:xfrm>
            <a:off x="4429132" y="5549355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[0][4]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min{Cost[0][4], Cost[0][1] + Cost[1][4]}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1 + 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圓角矩形 86"/>
          <p:cNvSpPr/>
          <p:nvPr/>
        </p:nvSpPr>
        <p:spPr>
          <a:xfrm>
            <a:off x="661598" y="4045451"/>
            <a:ext cx="3672000" cy="37795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圓角矩形 87"/>
          <p:cNvSpPr/>
          <p:nvPr/>
        </p:nvSpPr>
        <p:spPr>
          <a:xfrm>
            <a:off x="1171982" y="3645709"/>
            <a:ext cx="543229" cy="275928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字方塊 88"/>
          <p:cNvSpPr txBox="1"/>
          <p:nvPr/>
        </p:nvSpPr>
        <p:spPr>
          <a:xfrm>
            <a:off x="2321307" y="3706822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3/1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橢圓 89"/>
          <p:cNvSpPr/>
          <p:nvPr/>
        </p:nvSpPr>
        <p:spPr>
          <a:xfrm>
            <a:off x="1727366" y="3636566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橢圓 90"/>
          <p:cNvSpPr/>
          <p:nvPr/>
        </p:nvSpPr>
        <p:spPr>
          <a:xfrm>
            <a:off x="2254862" y="3642182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橢圓 91"/>
          <p:cNvSpPr/>
          <p:nvPr/>
        </p:nvSpPr>
        <p:spPr>
          <a:xfrm>
            <a:off x="2790761" y="3636539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725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9" grpId="0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(4/9)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60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6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429132" y="3400887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[0][3]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min{Cost[0][3], Cost[0][2] + Cost[2][3]}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4 + 4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4450398" y="1422476"/>
            <a:ext cx="4507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Cost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 + Cost[1][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AutoShape 193"/>
          <p:cNvSpPr>
            <a:spLocks noChangeArrowheads="1"/>
          </p:cNvSpPr>
          <p:nvPr/>
        </p:nvSpPr>
        <p:spPr bwMode="auto">
          <a:xfrm>
            <a:off x="4076403" y="2317843"/>
            <a:ext cx="1365445" cy="749523"/>
          </a:xfrm>
          <a:prstGeom prst="wedgeRoundRectCallout">
            <a:avLst>
              <a:gd name="adj1" fmla="val 70979"/>
              <a:gd name="adj2" fmla="val -6431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原來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sp>
        <p:nvSpPr>
          <p:cNvPr id="81" name="AutoShape 194"/>
          <p:cNvSpPr>
            <a:spLocks noChangeArrowheads="1"/>
          </p:cNvSpPr>
          <p:nvPr/>
        </p:nvSpPr>
        <p:spPr bwMode="auto">
          <a:xfrm>
            <a:off x="7572602" y="2359965"/>
            <a:ext cx="1295400" cy="751361"/>
          </a:xfrm>
          <a:prstGeom prst="wedgeRoundRectCallout">
            <a:avLst>
              <a:gd name="adj1" fmla="val -74098"/>
              <a:gd name="adj2" fmla="val -70166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經過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cxnSp>
        <p:nvCxnSpPr>
          <p:cNvPr id="82" name="直線接點 81"/>
          <p:cNvCxnSpPr/>
          <p:nvPr/>
        </p:nvCxnSpPr>
        <p:spPr>
          <a:xfrm>
            <a:off x="5276388" y="2088000"/>
            <a:ext cx="936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6420602" y="2088000"/>
            <a:ext cx="2304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/>
          <p:cNvSpPr txBox="1"/>
          <p:nvPr/>
        </p:nvSpPr>
        <p:spPr>
          <a:xfrm>
            <a:off x="747424" y="5692500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4429132" y="4473860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[0][4]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min{Cost[0][4], Cost[0][2] + Cost[2][4]}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4 + 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4429132" y="5549355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[0][5]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min{Cost[0][5], Cost[0][2] + Cost[2][5]}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4 + 3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7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圓角矩形 86"/>
          <p:cNvSpPr/>
          <p:nvPr/>
        </p:nvSpPr>
        <p:spPr>
          <a:xfrm>
            <a:off x="661598" y="4438872"/>
            <a:ext cx="3672000" cy="37795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圓角矩形 87"/>
          <p:cNvSpPr/>
          <p:nvPr/>
        </p:nvSpPr>
        <p:spPr>
          <a:xfrm>
            <a:off x="1692999" y="3645709"/>
            <a:ext cx="543229" cy="275928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字方塊 88"/>
          <p:cNvSpPr txBox="1"/>
          <p:nvPr/>
        </p:nvSpPr>
        <p:spPr>
          <a:xfrm>
            <a:off x="3381072" y="3706733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3370549" y="4098760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8/2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1264771" y="5689860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8/2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橢圓 91"/>
          <p:cNvSpPr/>
          <p:nvPr/>
        </p:nvSpPr>
        <p:spPr>
          <a:xfrm>
            <a:off x="2248383" y="3636566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橢圓 92"/>
          <p:cNvSpPr/>
          <p:nvPr/>
        </p:nvSpPr>
        <p:spPr>
          <a:xfrm>
            <a:off x="2775879" y="3642182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橢圓 93"/>
          <p:cNvSpPr/>
          <p:nvPr/>
        </p:nvSpPr>
        <p:spPr>
          <a:xfrm>
            <a:off x="3311778" y="3636539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538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9" grpId="0" animBg="1"/>
      <p:bldP spid="90" grpId="0" animBg="1"/>
      <p:bldP spid="91" grpId="0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(5/9)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61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6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429132" y="3400887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[0][4]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min{Cost[0][4], Cost[0][3] + Cost[3][4]}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3 + 5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4450398" y="1422476"/>
            <a:ext cx="4507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Cost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 + Cost[1][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AutoShape 193"/>
          <p:cNvSpPr>
            <a:spLocks noChangeArrowheads="1"/>
          </p:cNvSpPr>
          <p:nvPr/>
        </p:nvSpPr>
        <p:spPr bwMode="auto">
          <a:xfrm>
            <a:off x="4076403" y="2317843"/>
            <a:ext cx="1365445" cy="749523"/>
          </a:xfrm>
          <a:prstGeom prst="wedgeRoundRectCallout">
            <a:avLst>
              <a:gd name="adj1" fmla="val 70979"/>
              <a:gd name="adj2" fmla="val -6431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原來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sp>
        <p:nvSpPr>
          <p:cNvPr id="81" name="AutoShape 194"/>
          <p:cNvSpPr>
            <a:spLocks noChangeArrowheads="1"/>
          </p:cNvSpPr>
          <p:nvPr/>
        </p:nvSpPr>
        <p:spPr bwMode="auto">
          <a:xfrm>
            <a:off x="7572602" y="2359965"/>
            <a:ext cx="1295400" cy="751361"/>
          </a:xfrm>
          <a:prstGeom prst="wedgeRoundRectCallout">
            <a:avLst>
              <a:gd name="adj1" fmla="val -74098"/>
              <a:gd name="adj2" fmla="val -70166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經過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cxnSp>
        <p:nvCxnSpPr>
          <p:cNvPr id="82" name="直線接點 81"/>
          <p:cNvCxnSpPr/>
          <p:nvPr/>
        </p:nvCxnSpPr>
        <p:spPr>
          <a:xfrm>
            <a:off x="5276388" y="2088000"/>
            <a:ext cx="936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6420602" y="2088000"/>
            <a:ext cx="2304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4429132" y="4473860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[0][5]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min{Cost[0][5], Cost[0][3] + Cost[3][5]}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7,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3 + 2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5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4429132" y="5549355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[0][6]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min{Cost[0][6], Cost[0][3] + Cost[3][6]}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3 + 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圓角矩形 86"/>
          <p:cNvSpPr/>
          <p:nvPr/>
        </p:nvSpPr>
        <p:spPr>
          <a:xfrm>
            <a:off x="661598" y="4832293"/>
            <a:ext cx="3672000" cy="37795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圓角矩形 87"/>
          <p:cNvSpPr/>
          <p:nvPr/>
        </p:nvSpPr>
        <p:spPr>
          <a:xfrm>
            <a:off x="2224649" y="3645709"/>
            <a:ext cx="543229" cy="275928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字方塊 88"/>
          <p:cNvSpPr txBox="1"/>
          <p:nvPr/>
        </p:nvSpPr>
        <p:spPr>
          <a:xfrm>
            <a:off x="2850834" y="3721090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2850834" y="4119284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3382246" y="3721090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741278" y="5298287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3377573" y="4119284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1275315" y="5678377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725066" y="5675005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1275385" y="5294471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2850834" y="4498170"/>
            <a:ext cx="367656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1788993" y="5298287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3371613" y="5291233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2830685" y="5686623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橢圓 101"/>
          <p:cNvSpPr/>
          <p:nvPr/>
        </p:nvSpPr>
        <p:spPr>
          <a:xfrm>
            <a:off x="2780033" y="3636566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橢圓 102"/>
          <p:cNvSpPr/>
          <p:nvPr/>
        </p:nvSpPr>
        <p:spPr>
          <a:xfrm>
            <a:off x="3307529" y="3642182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橢圓 103"/>
          <p:cNvSpPr/>
          <p:nvPr/>
        </p:nvSpPr>
        <p:spPr>
          <a:xfrm>
            <a:off x="3843428" y="3636539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175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2" grpId="1" animBg="1"/>
      <p:bldP spid="103" grpId="0" animBg="1"/>
      <p:bldP spid="103" grpId="1" animBg="1"/>
      <p:bldP spid="104" grpId="0" animBg="1"/>
      <p:bldP spid="104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(6/9)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62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6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429132" y="3400887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[6][0]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min{Cost[6][0], Cost[6][4] + Cost[4][0]}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6 + 8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4450398" y="1422476"/>
            <a:ext cx="4507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Cost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 + Cost[1][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AutoShape 193"/>
          <p:cNvSpPr>
            <a:spLocks noChangeArrowheads="1"/>
          </p:cNvSpPr>
          <p:nvPr/>
        </p:nvSpPr>
        <p:spPr bwMode="auto">
          <a:xfrm>
            <a:off x="4076403" y="2317843"/>
            <a:ext cx="1365445" cy="749523"/>
          </a:xfrm>
          <a:prstGeom prst="wedgeRoundRectCallout">
            <a:avLst>
              <a:gd name="adj1" fmla="val 70979"/>
              <a:gd name="adj2" fmla="val -6431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原來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sp>
        <p:nvSpPr>
          <p:cNvPr id="81" name="AutoShape 194"/>
          <p:cNvSpPr>
            <a:spLocks noChangeArrowheads="1"/>
          </p:cNvSpPr>
          <p:nvPr/>
        </p:nvSpPr>
        <p:spPr bwMode="auto">
          <a:xfrm>
            <a:off x="7572602" y="2359965"/>
            <a:ext cx="1295400" cy="751361"/>
          </a:xfrm>
          <a:prstGeom prst="wedgeRoundRectCallout">
            <a:avLst>
              <a:gd name="adj1" fmla="val -74098"/>
              <a:gd name="adj2" fmla="val -70166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經過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cxnSp>
        <p:nvCxnSpPr>
          <p:cNvPr id="82" name="直線接點 81"/>
          <p:cNvCxnSpPr/>
          <p:nvPr/>
        </p:nvCxnSpPr>
        <p:spPr>
          <a:xfrm>
            <a:off x="5276388" y="2088000"/>
            <a:ext cx="936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6420602" y="2088000"/>
            <a:ext cx="2304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4429132" y="4473860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[6][1]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min{Cost[6][1], Cost[6][4] + Cost[4][1]}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6 + 7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13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4429132" y="5549355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[6][2]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min{Cost[6][2], Cost[6][4] + Cost[4][2]}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6 + 9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15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圓角矩形 86"/>
          <p:cNvSpPr/>
          <p:nvPr/>
        </p:nvSpPr>
        <p:spPr>
          <a:xfrm>
            <a:off x="661598" y="5236347"/>
            <a:ext cx="3672000" cy="37795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文字方塊 101"/>
          <p:cNvSpPr txBox="1"/>
          <p:nvPr/>
        </p:nvSpPr>
        <p:spPr>
          <a:xfrm>
            <a:off x="3849707" y="3710152"/>
            <a:ext cx="483072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3845425" y="4119284"/>
            <a:ext cx="483072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3845425" y="4502234"/>
            <a:ext cx="483072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文字方塊 104"/>
          <p:cNvSpPr txBox="1"/>
          <p:nvPr/>
        </p:nvSpPr>
        <p:spPr>
          <a:xfrm>
            <a:off x="3840119" y="4886853"/>
            <a:ext cx="483072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文字方塊 105"/>
          <p:cNvSpPr txBox="1"/>
          <p:nvPr/>
        </p:nvSpPr>
        <p:spPr>
          <a:xfrm>
            <a:off x="683910" y="6070753"/>
            <a:ext cx="483072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文字方塊 106"/>
          <p:cNvSpPr txBox="1"/>
          <p:nvPr/>
        </p:nvSpPr>
        <p:spPr>
          <a:xfrm>
            <a:off x="1205365" y="6074020"/>
            <a:ext cx="483072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字方塊 107"/>
          <p:cNvSpPr txBox="1"/>
          <p:nvPr/>
        </p:nvSpPr>
        <p:spPr>
          <a:xfrm>
            <a:off x="1738857" y="6067566"/>
            <a:ext cx="483072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文字方塊 108"/>
          <p:cNvSpPr txBox="1"/>
          <p:nvPr/>
        </p:nvSpPr>
        <p:spPr>
          <a:xfrm>
            <a:off x="2255263" y="6067566"/>
            <a:ext cx="483072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圓角矩形 87"/>
          <p:cNvSpPr/>
          <p:nvPr/>
        </p:nvSpPr>
        <p:spPr>
          <a:xfrm>
            <a:off x="2745666" y="3645709"/>
            <a:ext cx="543229" cy="275928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橢圓 94"/>
          <p:cNvSpPr/>
          <p:nvPr/>
        </p:nvSpPr>
        <p:spPr>
          <a:xfrm>
            <a:off x="663600" y="6008337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橢圓 95"/>
          <p:cNvSpPr/>
          <p:nvPr/>
        </p:nvSpPr>
        <p:spPr>
          <a:xfrm>
            <a:off x="1191096" y="6013953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橢圓 96"/>
          <p:cNvSpPr/>
          <p:nvPr/>
        </p:nvSpPr>
        <p:spPr>
          <a:xfrm>
            <a:off x="1726995" y="6008310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259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(7/9)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63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6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14/4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13/4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11/4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14/4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13/4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11/4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429132" y="3400887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[6][0]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min{Cost[6][0], Cost[6][5] + Cost[5][0]}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14,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4 + 5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4450398" y="1422476"/>
            <a:ext cx="4507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Cost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 + Cost[1][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AutoShape 193"/>
          <p:cNvSpPr>
            <a:spLocks noChangeArrowheads="1"/>
          </p:cNvSpPr>
          <p:nvPr/>
        </p:nvSpPr>
        <p:spPr bwMode="auto">
          <a:xfrm>
            <a:off x="4076403" y="2317843"/>
            <a:ext cx="1365445" cy="749523"/>
          </a:xfrm>
          <a:prstGeom prst="wedgeRoundRectCallout">
            <a:avLst>
              <a:gd name="adj1" fmla="val 70979"/>
              <a:gd name="adj2" fmla="val -6431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原來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sp>
        <p:nvSpPr>
          <p:cNvPr id="81" name="AutoShape 194"/>
          <p:cNvSpPr>
            <a:spLocks noChangeArrowheads="1"/>
          </p:cNvSpPr>
          <p:nvPr/>
        </p:nvSpPr>
        <p:spPr bwMode="auto">
          <a:xfrm>
            <a:off x="7572602" y="2359965"/>
            <a:ext cx="1295400" cy="751361"/>
          </a:xfrm>
          <a:prstGeom prst="wedgeRoundRectCallout">
            <a:avLst>
              <a:gd name="adj1" fmla="val -74098"/>
              <a:gd name="adj2" fmla="val -70166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經過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cxnSp>
        <p:nvCxnSpPr>
          <p:cNvPr id="82" name="直線接點 81"/>
          <p:cNvCxnSpPr/>
          <p:nvPr/>
        </p:nvCxnSpPr>
        <p:spPr>
          <a:xfrm>
            <a:off x="5276388" y="2088000"/>
            <a:ext cx="936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6420602" y="2088000"/>
            <a:ext cx="2304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4429132" y="4473860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[6][1]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min{Cost[6][1], Cost[6][5] + Cost[5][1]}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13,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4 + 4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8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4429132" y="5549355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[6][2]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min{Cost[6][2], Cost[6][5] + Cost[5][2]}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15,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4 + 3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7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圓角矩形 86"/>
          <p:cNvSpPr/>
          <p:nvPr/>
        </p:nvSpPr>
        <p:spPr>
          <a:xfrm>
            <a:off x="661598" y="5619135"/>
            <a:ext cx="3672000" cy="37795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圓角矩形 87"/>
          <p:cNvSpPr/>
          <p:nvPr/>
        </p:nvSpPr>
        <p:spPr>
          <a:xfrm>
            <a:off x="3277316" y="3645709"/>
            <a:ext cx="543229" cy="275928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文字方塊 91"/>
          <p:cNvSpPr txBox="1"/>
          <p:nvPr/>
        </p:nvSpPr>
        <p:spPr>
          <a:xfrm>
            <a:off x="3872991" y="3710152"/>
            <a:ext cx="418803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3876529" y="4107111"/>
            <a:ext cx="418803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3876529" y="4500532"/>
            <a:ext cx="418803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3880067" y="4897491"/>
            <a:ext cx="418803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707180" y="6085467"/>
            <a:ext cx="418803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1766393" y="6085467"/>
            <a:ext cx="418803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1241980" y="6085843"/>
            <a:ext cx="418803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2296280" y="6089085"/>
            <a:ext cx="418803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橢圓 99"/>
          <p:cNvSpPr/>
          <p:nvPr/>
        </p:nvSpPr>
        <p:spPr>
          <a:xfrm>
            <a:off x="663600" y="6008337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1191096" y="6013953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橢圓 101"/>
          <p:cNvSpPr/>
          <p:nvPr/>
        </p:nvSpPr>
        <p:spPr>
          <a:xfrm>
            <a:off x="1726995" y="6008310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986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(8/9)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64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6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6/5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6/5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429132" y="3400887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[0][1]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min{Cost[0][1], Cost[0][6] + Cost[6][1]}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9 + 8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4450398" y="1422476"/>
            <a:ext cx="4507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Cost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 + Cost[1][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AutoShape 193"/>
          <p:cNvSpPr>
            <a:spLocks noChangeArrowheads="1"/>
          </p:cNvSpPr>
          <p:nvPr/>
        </p:nvSpPr>
        <p:spPr bwMode="auto">
          <a:xfrm>
            <a:off x="4076403" y="2317843"/>
            <a:ext cx="1365445" cy="749523"/>
          </a:xfrm>
          <a:prstGeom prst="wedgeRoundRectCallout">
            <a:avLst>
              <a:gd name="adj1" fmla="val 70979"/>
              <a:gd name="adj2" fmla="val -6431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原來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sp>
        <p:nvSpPr>
          <p:cNvPr id="81" name="AutoShape 194"/>
          <p:cNvSpPr>
            <a:spLocks noChangeArrowheads="1"/>
          </p:cNvSpPr>
          <p:nvPr/>
        </p:nvSpPr>
        <p:spPr bwMode="auto">
          <a:xfrm>
            <a:off x="7572602" y="2359965"/>
            <a:ext cx="1295400" cy="751361"/>
          </a:xfrm>
          <a:prstGeom prst="wedgeRoundRectCallout">
            <a:avLst>
              <a:gd name="adj1" fmla="val -74098"/>
              <a:gd name="adj2" fmla="val -70166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經過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cxnSp>
        <p:nvCxnSpPr>
          <p:cNvPr id="82" name="直線接點 81"/>
          <p:cNvCxnSpPr/>
          <p:nvPr/>
        </p:nvCxnSpPr>
        <p:spPr>
          <a:xfrm>
            <a:off x="5276388" y="2088000"/>
            <a:ext cx="936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6420602" y="2088000"/>
            <a:ext cx="2304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4429132" y="4473860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[2][3]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min{Cost[2][3], Cost[2][6] + Cost[6][3]}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7 + 6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4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4429132" y="5549355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[4][5]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min{Cost[4][5], Cost[4][6] + Cost[6][5]}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6 + 4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7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圓角矩形 86"/>
          <p:cNvSpPr/>
          <p:nvPr/>
        </p:nvSpPr>
        <p:spPr>
          <a:xfrm>
            <a:off x="661598" y="6012556"/>
            <a:ext cx="3672000" cy="37795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圓角矩形 87"/>
          <p:cNvSpPr/>
          <p:nvPr/>
        </p:nvSpPr>
        <p:spPr>
          <a:xfrm>
            <a:off x="3808966" y="3645709"/>
            <a:ext cx="543229" cy="275928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橢圓 83"/>
          <p:cNvSpPr/>
          <p:nvPr/>
        </p:nvSpPr>
        <p:spPr>
          <a:xfrm>
            <a:off x="1196713" y="3633774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橢圓 88"/>
          <p:cNvSpPr/>
          <p:nvPr/>
        </p:nvSpPr>
        <p:spPr>
          <a:xfrm>
            <a:off x="2244799" y="4427183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橢圓 89"/>
          <p:cNvSpPr/>
          <p:nvPr/>
        </p:nvSpPr>
        <p:spPr>
          <a:xfrm>
            <a:off x="3310929" y="5223383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011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  <p:bldP spid="84" grpId="0" animBg="1"/>
      <p:bldP spid="84" grpId="1" animBg="1"/>
      <p:bldP spid="89" grpId="0" animBg="1"/>
      <p:bldP spid="89" grpId="1" animBg="1"/>
      <p:bldP spid="90" grpId="0" animBg="1"/>
      <p:bldP spid="90" grpId="1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(9/9)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2026/05/27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65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6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6/5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6/5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橢圓 83"/>
          <p:cNvSpPr/>
          <p:nvPr/>
        </p:nvSpPr>
        <p:spPr>
          <a:xfrm>
            <a:off x="3835036" y="3641397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橢圓 88"/>
          <p:cNvSpPr/>
          <p:nvPr/>
        </p:nvSpPr>
        <p:spPr>
          <a:xfrm>
            <a:off x="2254862" y="3633774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橢圓 89"/>
          <p:cNvSpPr/>
          <p:nvPr/>
        </p:nvSpPr>
        <p:spPr>
          <a:xfrm>
            <a:off x="3297934" y="3639380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1" name="群組 90"/>
          <p:cNvGrpSpPr/>
          <p:nvPr/>
        </p:nvGrpSpPr>
        <p:grpSpPr>
          <a:xfrm>
            <a:off x="5438944" y="1525692"/>
            <a:ext cx="419749" cy="486988"/>
            <a:chOff x="1310533" y="1669486"/>
            <a:chExt cx="419749" cy="486988"/>
          </a:xfrm>
        </p:grpSpPr>
        <p:cxnSp>
          <p:nvCxnSpPr>
            <p:cNvPr id="92" name="直線接點 91"/>
            <p:cNvCxnSpPr>
              <a:stCxn id="104" idx="7"/>
              <a:endCxn id="107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文字方塊 9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4" name="群組 93"/>
          <p:cNvGrpSpPr/>
          <p:nvPr/>
        </p:nvGrpSpPr>
        <p:grpSpPr>
          <a:xfrm>
            <a:off x="6062339" y="1505665"/>
            <a:ext cx="411886" cy="507015"/>
            <a:chOff x="1933928" y="1649459"/>
            <a:chExt cx="411886" cy="507015"/>
          </a:xfrm>
        </p:grpSpPr>
        <p:cxnSp>
          <p:nvCxnSpPr>
            <p:cNvPr id="95" name="直線接點 94"/>
            <p:cNvCxnSpPr>
              <a:stCxn id="110" idx="1"/>
              <a:endCxn id="107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字方塊 95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7" name="群組 96"/>
          <p:cNvGrpSpPr/>
          <p:nvPr/>
        </p:nvGrpSpPr>
        <p:grpSpPr>
          <a:xfrm>
            <a:off x="6660437" y="2216326"/>
            <a:ext cx="627365" cy="413215"/>
            <a:chOff x="2532026" y="2360120"/>
            <a:chExt cx="627365" cy="413215"/>
          </a:xfrm>
        </p:grpSpPr>
        <p:cxnSp>
          <p:nvCxnSpPr>
            <p:cNvPr id="98" name="直線接點 97"/>
            <p:cNvCxnSpPr>
              <a:stCxn id="113" idx="1"/>
              <a:endCxn id="110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字方塊 98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0" name="群組 99"/>
          <p:cNvGrpSpPr/>
          <p:nvPr/>
        </p:nvGrpSpPr>
        <p:grpSpPr>
          <a:xfrm>
            <a:off x="7491448" y="2216326"/>
            <a:ext cx="653245" cy="425454"/>
            <a:chOff x="3363037" y="2360120"/>
            <a:chExt cx="653245" cy="425454"/>
          </a:xfrm>
        </p:grpSpPr>
        <p:cxnSp>
          <p:nvCxnSpPr>
            <p:cNvPr id="101" name="直線接點 100"/>
            <p:cNvCxnSpPr>
              <a:stCxn id="116" idx="3"/>
              <a:endCxn id="113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字方塊 101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3" name="群組 102"/>
          <p:cNvGrpSpPr/>
          <p:nvPr/>
        </p:nvGrpSpPr>
        <p:grpSpPr>
          <a:xfrm>
            <a:off x="5171690" y="1886707"/>
            <a:ext cx="364202" cy="371796"/>
            <a:chOff x="1043279" y="2030501"/>
            <a:chExt cx="364202" cy="371796"/>
          </a:xfrm>
        </p:grpSpPr>
        <p:sp>
          <p:nvSpPr>
            <p:cNvPr id="104" name="橢圓 103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5" name="文字方塊 104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6" name="群組 105"/>
          <p:cNvGrpSpPr/>
          <p:nvPr/>
        </p:nvGrpSpPr>
        <p:grpSpPr>
          <a:xfrm>
            <a:off x="5778415" y="1263411"/>
            <a:ext cx="364202" cy="371672"/>
            <a:chOff x="1650004" y="1407205"/>
            <a:chExt cx="364202" cy="371672"/>
          </a:xfrm>
        </p:grpSpPr>
        <p:sp>
          <p:nvSpPr>
            <p:cNvPr id="107" name="橢圓 106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8" name="文字方塊 107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9" name="群組 108"/>
          <p:cNvGrpSpPr/>
          <p:nvPr/>
        </p:nvGrpSpPr>
        <p:grpSpPr>
          <a:xfrm>
            <a:off x="6367887" y="1886707"/>
            <a:ext cx="364202" cy="371796"/>
            <a:chOff x="2239476" y="2030501"/>
            <a:chExt cx="364202" cy="371796"/>
          </a:xfrm>
        </p:grpSpPr>
        <p:sp>
          <p:nvSpPr>
            <p:cNvPr id="110" name="橢圓 109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1" name="文字方塊 110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2" name="群組 111"/>
          <p:cNvGrpSpPr/>
          <p:nvPr/>
        </p:nvGrpSpPr>
        <p:grpSpPr>
          <a:xfrm>
            <a:off x="7197564" y="2482482"/>
            <a:ext cx="364202" cy="371796"/>
            <a:chOff x="3069153" y="2626276"/>
            <a:chExt cx="364202" cy="371796"/>
          </a:xfrm>
        </p:grpSpPr>
        <p:sp>
          <p:nvSpPr>
            <p:cNvPr id="113" name="橢圓 112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4" name="文字方塊 113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5" name="群組 114"/>
          <p:cNvGrpSpPr/>
          <p:nvPr/>
        </p:nvGrpSpPr>
        <p:grpSpPr>
          <a:xfrm>
            <a:off x="8064415" y="1888225"/>
            <a:ext cx="364202" cy="370278"/>
            <a:chOff x="3936004" y="2032019"/>
            <a:chExt cx="364202" cy="370278"/>
          </a:xfrm>
        </p:grpSpPr>
        <p:sp>
          <p:nvSpPr>
            <p:cNvPr id="116" name="橢圓 115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7" name="文字方塊 116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8" name="橢圓 117"/>
          <p:cNvSpPr/>
          <p:nvPr/>
        </p:nvSpPr>
        <p:spPr>
          <a:xfrm>
            <a:off x="1201624" y="3633773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6040941" y="2977377"/>
            <a:ext cx="16375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 = 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9" name="群組 118"/>
          <p:cNvGrpSpPr/>
          <p:nvPr/>
        </p:nvGrpSpPr>
        <p:grpSpPr>
          <a:xfrm>
            <a:off x="6227647" y="4837381"/>
            <a:ext cx="411886" cy="425454"/>
            <a:chOff x="1933928" y="2360120"/>
            <a:chExt cx="411886" cy="425454"/>
          </a:xfrm>
        </p:grpSpPr>
        <p:cxnSp>
          <p:nvCxnSpPr>
            <p:cNvPr id="120" name="直線接點 119"/>
            <p:cNvCxnSpPr>
              <a:stCxn id="129" idx="3"/>
              <a:endCxn id="126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文字方塊 120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2" name="群組 121"/>
          <p:cNvGrpSpPr/>
          <p:nvPr/>
        </p:nvGrpSpPr>
        <p:grpSpPr>
          <a:xfrm>
            <a:off x="6825745" y="4114481"/>
            <a:ext cx="627365" cy="519254"/>
            <a:chOff x="2532026" y="1637220"/>
            <a:chExt cx="627365" cy="519254"/>
          </a:xfrm>
        </p:grpSpPr>
        <p:cxnSp>
          <p:nvCxnSpPr>
            <p:cNvPr id="123" name="直線接點 122"/>
            <p:cNvCxnSpPr>
              <a:stCxn id="132" idx="3"/>
              <a:endCxn id="129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字方塊 123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5" name="群組 124"/>
          <p:cNvGrpSpPr/>
          <p:nvPr/>
        </p:nvGrpSpPr>
        <p:grpSpPr>
          <a:xfrm>
            <a:off x="5943723" y="5103537"/>
            <a:ext cx="364202" cy="371796"/>
            <a:chOff x="1650004" y="2626276"/>
            <a:chExt cx="364202" cy="371796"/>
          </a:xfrm>
        </p:grpSpPr>
        <p:sp>
          <p:nvSpPr>
            <p:cNvPr id="126" name="橢圓 125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7" name="文字方塊 126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8" name="群組 127"/>
          <p:cNvGrpSpPr/>
          <p:nvPr/>
        </p:nvGrpSpPr>
        <p:grpSpPr>
          <a:xfrm>
            <a:off x="6533195" y="4507762"/>
            <a:ext cx="364202" cy="371796"/>
            <a:chOff x="2239476" y="2030501"/>
            <a:chExt cx="364202" cy="371796"/>
          </a:xfrm>
        </p:grpSpPr>
        <p:sp>
          <p:nvSpPr>
            <p:cNvPr id="129" name="橢圓 128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0" name="文字方塊 129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1" name="群組 130"/>
          <p:cNvGrpSpPr/>
          <p:nvPr/>
        </p:nvGrpSpPr>
        <p:grpSpPr>
          <a:xfrm>
            <a:off x="7372832" y="3884342"/>
            <a:ext cx="364202" cy="371796"/>
            <a:chOff x="3079113" y="1407081"/>
            <a:chExt cx="364202" cy="371796"/>
          </a:xfrm>
        </p:grpSpPr>
        <p:sp>
          <p:nvSpPr>
            <p:cNvPr id="132" name="橢圓 131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3" name="文字方塊 132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4" name="文字方塊 133"/>
          <p:cNvSpPr txBox="1"/>
          <p:nvPr/>
        </p:nvSpPr>
        <p:spPr>
          <a:xfrm>
            <a:off x="6227647" y="5609557"/>
            <a:ext cx="16375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 = 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橢圓 134"/>
          <p:cNvSpPr/>
          <p:nvPr/>
        </p:nvSpPr>
        <p:spPr>
          <a:xfrm>
            <a:off x="1730991" y="5218558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橢圓 135"/>
          <p:cNvSpPr/>
          <p:nvPr/>
        </p:nvSpPr>
        <p:spPr>
          <a:xfrm>
            <a:off x="2256257" y="5218558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349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4" grpId="1" animBg="1"/>
      <p:bldP spid="89" grpId="0" animBg="1"/>
      <p:bldP spid="89" grpId="1" animBg="1"/>
      <p:bldP spid="90" grpId="0" animBg="1"/>
      <p:bldP spid="90" grpId="1" animBg="1"/>
      <p:bldP spid="118" grpId="0" animBg="1"/>
      <p:bldP spid="118" grpId="1" animBg="1"/>
      <p:bldP spid="3" grpId="0"/>
      <p:bldP spid="134" grpId="0"/>
      <p:bldP spid="135" grpId="0" animBg="1"/>
      <p:bldP spid="135" grpId="1" animBg="1"/>
      <p:bldP spid="136" grpId="0" animBg="1"/>
    </p:bldLst>
  </p:timing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14349</TotalTime>
  <Words>8386</Words>
  <Application>Microsoft Office PowerPoint</Application>
  <PresentationFormat>如螢幕大小 (4:3)</PresentationFormat>
  <Paragraphs>3185</Paragraphs>
  <Slides>65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65</vt:i4>
      </vt:variant>
    </vt:vector>
  </HeadingPairs>
  <TitlesOfParts>
    <vt:vector size="73" baseType="lpstr">
      <vt:lpstr>標楷體</vt:lpstr>
      <vt:lpstr>Arial</vt:lpstr>
      <vt:lpstr>Calibri</vt:lpstr>
      <vt:lpstr>Cambria Math</vt:lpstr>
      <vt:lpstr>Monotype Corsiva</vt:lpstr>
      <vt:lpstr>Symbol</vt:lpstr>
      <vt:lpstr>Times New Roman</vt:lpstr>
      <vt:lpstr>NCKU3</vt:lpstr>
      <vt:lpstr>DATA STRUCTURES 資料結構</vt:lpstr>
      <vt:lpstr>圖形理論 (1/2)</vt:lpstr>
      <vt:lpstr>圖形理論 (2/2)</vt:lpstr>
      <vt:lpstr>圖形的專有名詞 (1/6)</vt:lpstr>
      <vt:lpstr>圖形的專有名詞 (2/6)</vt:lpstr>
      <vt:lpstr>圖形的專有名詞 (3/6)</vt:lpstr>
      <vt:lpstr>圖形的專有名詞 (4/6)</vt:lpstr>
      <vt:lpstr>圖形的專有名詞 (5/6)</vt:lpstr>
      <vt:lpstr>圖形的專有名詞 (6/6)</vt:lpstr>
      <vt:lpstr>相鄰矩陣 adjacency matrix (1/4)</vt:lpstr>
      <vt:lpstr>相鄰矩陣 adjacency matrix (2/4)</vt:lpstr>
      <vt:lpstr>相鄰矩陣 adjacency matrix (3/4)</vt:lpstr>
      <vt:lpstr>相鄰矩陣 adjacency matrix (4/4)</vt:lpstr>
      <vt:lpstr>相鄰串列 adjacency list (1/3)</vt:lpstr>
      <vt:lpstr>相鄰串列 adjacency list (2/3)</vt:lpstr>
      <vt:lpstr>相鄰串列 adjacency list (3/3)</vt:lpstr>
      <vt:lpstr>加權圖表示法 (1/2)</vt:lpstr>
      <vt:lpstr>加權圖表示法 (2/2)</vt:lpstr>
      <vt:lpstr>圖形追蹤 Traversal</vt:lpstr>
      <vt:lpstr>深度優先走訪 DFS (1/3)</vt:lpstr>
      <vt:lpstr>深度優先走訪 DFS (2/3)</vt:lpstr>
      <vt:lpstr>深度優先走訪 DFS (3/3)</vt:lpstr>
      <vt:lpstr>廣度優先走訪 BFS (1/3)</vt:lpstr>
      <vt:lpstr>廣度優先走訪 BFS (2/3)</vt:lpstr>
      <vt:lpstr>廣度優先走訪 BFS (3/3)</vt:lpstr>
      <vt:lpstr>樹 Tree</vt:lpstr>
      <vt:lpstr>展開樹 Spanning Tree (1/2)</vt:lpstr>
      <vt:lpstr>展開樹 Spanning Tree (2/2)</vt:lpstr>
      <vt:lpstr>BFS 展開樹</vt:lpstr>
      <vt:lpstr>DFS 展開樹</vt:lpstr>
      <vt:lpstr>最少花費展開樹</vt:lpstr>
      <vt:lpstr>Prim 演算法 (1/2)</vt:lpstr>
      <vt:lpstr>Prim 演算法 (2/2)</vt:lpstr>
      <vt:lpstr>Kruskal 演算法 (1/2)</vt:lpstr>
      <vt:lpstr>Kruskal 演算法 (2/2)</vt:lpstr>
      <vt:lpstr>最短路徑 Shortest path</vt:lpstr>
      <vt:lpstr>Dijkstra 演算法 (1/9)</vt:lpstr>
      <vt:lpstr>Dijkstra 演算法 (2/9)</vt:lpstr>
      <vt:lpstr>Dijkstra 演算法 (3/9)</vt:lpstr>
      <vt:lpstr>Dijkstra 演算法 (4/9)</vt:lpstr>
      <vt:lpstr>Dijkstra 演算法 (5/9)</vt:lpstr>
      <vt:lpstr>Dijkstra 演算法 (6/9)</vt:lpstr>
      <vt:lpstr>Dijkstra 演算法 (7/9)</vt:lpstr>
      <vt:lpstr>Dijkstra 演算法 (8/9)</vt:lpstr>
      <vt:lpstr>Dijkstra 演算法 (9/9)</vt:lpstr>
      <vt:lpstr>AOV 網路 (1/2)</vt:lpstr>
      <vt:lpstr>AOV 網路 (2/2)</vt:lpstr>
      <vt:lpstr>拓樸排序 (1/3)</vt:lpstr>
      <vt:lpstr>拓樸排序 (2/3)</vt:lpstr>
      <vt:lpstr>拓樸排序 (3/3)</vt:lpstr>
      <vt:lpstr>AOE 網路 (1/6)</vt:lpstr>
      <vt:lpstr>AOE 網路 (2/6)</vt:lpstr>
      <vt:lpstr>AOE 網路 (3/6)</vt:lpstr>
      <vt:lpstr>AOE 網路 (4/6)</vt:lpstr>
      <vt:lpstr>AOE 網路 (5/6)</vt:lpstr>
      <vt:lpstr>AOE 網路 (6/6)</vt:lpstr>
      <vt:lpstr>Floyd 演算法 (1/9)</vt:lpstr>
      <vt:lpstr>Floyd 演算法 (2/9)</vt:lpstr>
      <vt:lpstr>Floyd 演算法 (3/9)</vt:lpstr>
      <vt:lpstr>Floyd 演算法 (4/9)</vt:lpstr>
      <vt:lpstr>Floyd 演算法 (5/9)</vt:lpstr>
      <vt:lpstr>Floyd 演算法 (6/9)</vt:lpstr>
      <vt:lpstr>Floyd 演算法 (7/9)</vt:lpstr>
      <vt:lpstr>Floyd 演算法 (8/9)</vt:lpstr>
      <vt:lpstr>Floyd 演算法 (9/9)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李佳衛</cp:lastModifiedBy>
  <cp:revision>101</cp:revision>
  <cp:lastPrinted>2022-09-24T09:12:24Z</cp:lastPrinted>
  <dcterms:created xsi:type="dcterms:W3CDTF">2018-01-10T03:26:15Z</dcterms:created>
  <dcterms:modified xsi:type="dcterms:W3CDTF">2026-05-08T11:19:11Z</dcterms:modified>
</cp:coreProperties>
</file>