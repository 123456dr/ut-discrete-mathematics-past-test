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0"/>
  </p:notesMasterIdLst>
  <p:sldIdLst>
    <p:sldId id="365" r:id="rId2"/>
    <p:sldId id="396" r:id="rId3"/>
    <p:sldId id="397" r:id="rId4"/>
    <p:sldId id="398" r:id="rId5"/>
    <p:sldId id="400" r:id="rId6"/>
    <p:sldId id="401" r:id="rId7"/>
    <p:sldId id="402" r:id="rId8"/>
    <p:sldId id="403" r:id="rId9"/>
    <p:sldId id="404" r:id="rId10"/>
    <p:sldId id="405" r:id="rId11"/>
    <p:sldId id="406" r:id="rId12"/>
    <p:sldId id="407" r:id="rId13"/>
    <p:sldId id="408" r:id="rId14"/>
    <p:sldId id="409" r:id="rId15"/>
    <p:sldId id="410" r:id="rId16"/>
    <p:sldId id="462" r:id="rId17"/>
    <p:sldId id="411" r:id="rId18"/>
    <p:sldId id="412" r:id="rId19"/>
    <p:sldId id="413" r:id="rId20"/>
    <p:sldId id="414" r:id="rId21"/>
    <p:sldId id="415" r:id="rId22"/>
    <p:sldId id="463" r:id="rId23"/>
    <p:sldId id="416" r:id="rId24"/>
    <p:sldId id="417" r:id="rId25"/>
    <p:sldId id="418" r:id="rId26"/>
    <p:sldId id="419" r:id="rId27"/>
    <p:sldId id="420" r:id="rId28"/>
    <p:sldId id="421" r:id="rId29"/>
    <p:sldId id="422" r:id="rId30"/>
    <p:sldId id="423" r:id="rId31"/>
    <p:sldId id="424" r:id="rId32"/>
    <p:sldId id="425" r:id="rId33"/>
    <p:sldId id="426" r:id="rId34"/>
    <p:sldId id="427" r:id="rId35"/>
    <p:sldId id="428" r:id="rId36"/>
    <p:sldId id="429" r:id="rId37"/>
    <p:sldId id="430" r:id="rId38"/>
    <p:sldId id="431" r:id="rId39"/>
    <p:sldId id="432" r:id="rId40"/>
    <p:sldId id="433" r:id="rId41"/>
    <p:sldId id="434" r:id="rId42"/>
    <p:sldId id="435" r:id="rId43"/>
    <p:sldId id="436" r:id="rId44"/>
    <p:sldId id="437" r:id="rId45"/>
    <p:sldId id="438" r:id="rId46"/>
    <p:sldId id="439" r:id="rId47"/>
    <p:sldId id="440" r:id="rId48"/>
    <p:sldId id="441" r:id="rId49"/>
    <p:sldId id="442" r:id="rId50"/>
    <p:sldId id="443" r:id="rId51"/>
    <p:sldId id="444" r:id="rId52"/>
    <p:sldId id="445" r:id="rId53"/>
    <p:sldId id="446" r:id="rId54"/>
    <p:sldId id="447" r:id="rId55"/>
    <p:sldId id="448" r:id="rId56"/>
    <p:sldId id="449" r:id="rId57"/>
    <p:sldId id="450" r:id="rId58"/>
    <p:sldId id="451" r:id="rId59"/>
    <p:sldId id="452" r:id="rId60"/>
    <p:sldId id="453" r:id="rId61"/>
    <p:sldId id="399" r:id="rId62"/>
    <p:sldId id="454" r:id="rId63"/>
    <p:sldId id="455" r:id="rId64"/>
    <p:sldId id="456" r:id="rId65"/>
    <p:sldId id="457" r:id="rId66"/>
    <p:sldId id="460" r:id="rId67"/>
    <p:sldId id="458" r:id="rId68"/>
    <p:sldId id="459" r:id="rId69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DCDDE"/>
    <a:srgbClr val="E8E8EF"/>
    <a:srgbClr val="FFFFCC"/>
    <a:srgbClr val="820000"/>
    <a:srgbClr val="700000"/>
    <a:srgbClr val="9E0000"/>
    <a:srgbClr val="323232"/>
    <a:srgbClr val="3333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0932" autoAdjust="0"/>
  </p:normalViewPr>
  <p:slideViewPr>
    <p:cSldViewPr>
      <p:cViewPr varScale="1">
        <p:scale>
          <a:sx n="82" d="100"/>
          <a:sy n="82" d="100"/>
        </p:scale>
        <p:origin x="145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/>
            </a:lvl1pPr>
          </a:lstStyle>
          <a:p>
            <a:fld id="{7F921807-99F1-4DF0-94D7-7548FA810751}" type="datetimeFigureOut">
              <a:rPr lang="zh-TW" altLang="en-US" smtClean="0"/>
              <a:pPr/>
              <a:t>2026/3/27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2" tIns="45921" rIns="91842" bIns="4592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3"/>
          </a:xfrm>
          <a:prstGeom prst="rect">
            <a:avLst/>
          </a:prstGeom>
        </p:spPr>
        <p:txBody>
          <a:bodyPr vert="horz" lIns="91842" tIns="45921" rIns="91842" bIns="45921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r">
              <a:defRPr sz="1200"/>
            </a:lvl1pPr>
          </a:lstStyle>
          <a:p>
            <a:fld id="{6C24E503-88D4-45A6-8EBB-14391082A0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1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22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0956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3233" y="225653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530498"/>
            <a:ext cx="6552728" cy="16764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2026/04/08</a:t>
            </a: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924896" y="2394158"/>
            <a:ext cx="6111600" cy="18606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3233" y="425477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300993" y="6581001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12" name="Picture 2" descr="C:\Users\admin\Dropbox\世暘&amp;莉淳\相片\DSC_9359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2" y="2382770"/>
            <a:ext cx="2812457" cy="1872000"/>
          </a:xfrm>
          <a:prstGeom prst="rect">
            <a:avLst/>
          </a:prstGeom>
          <a:noFill/>
        </p:spPr>
      </p:pic>
      <p:pic>
        <p:nvPicPr>
          <p:cNvPr id="20" name="圖片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58" y="1161633"/>
            <a:ext cx="3566038" cy="108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0"/>
            <a:ext cx="6861448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" y="1268760"/>
            <a:ext cx="8928100" cy="532730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2026/04/08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F35E6-A8E7-488D-BD9F-ED9A7F7FA10F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2026/04/08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183EC-7050-45EB-9E88-B86B53D28D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795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2026/04/08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32F3C-BFB5-4433-80F2-31E4E599C2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2026/04/08</a:t>
            </a: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71ADB-DDEF-4830-B9BC-5050A26247A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2026/04/08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8238B-CE9D-4BC3-843E-48DE31256F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2026/04/08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989FA-7C75-4428-B4F8-334FD77211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2026/04/08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4DE-EAF4-4F9D-92A9-54CDF4DC460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2026/04/08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BED88-20FD-46BD-AA27-41E91F90C6D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2026/04/08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973D2-4DDA-41F5-8DAD-51687E6176F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232025" cy="659606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7950" y="0"/>
            <a:ext cx="6543675" cy="659606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2026/04/08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BEB42-A2EB-4830-8F53-FDF4A3AEB5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86816" y="0"/>
            <a:ext cx="686144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0" y="1250328"/>
            <a:ext cx="8940456" cy="5345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en-US" altLang="zh-TW"/>
              <a:t>2026/04/08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97650"/>
            <a:ext cx="28956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cs typeface="Angsana New" pitchFamily="18" charset="-34"/>
              </a:defRPr>
            </a:lvl1pPr>
          </a:lstStyle>
          <a:p>
            <a:fld id="{88815D73-EF14-4780-98ED-F121D5ADB135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6" name="矩形 15"/>
          <p:cNvSpPr/>
          <p:nvPr userDrawn="1"/>
        </p:nvSpPr>
        <p:spPr>
          <a:xfrm>
            <a:off x="0" y="1160664"/>
            <a:ext cx="9144000" cy="72000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4343620" y="935059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43" y="18248"/>
            <a:ext cx="2133600" cy="64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DATA</a:t>
            </a:r>
            <a:r>
              <a:rPr lang="zh-TW" altLang="en-US" dirty="0"/>
              <a:t> </a:t>
            </a:r>
            <a:r>
              <a:rPr lang="en-US" altLang="zh-TW" dirty="0"/>
              <a:t>STRUCTURES</a:t>
            </a:r>
            <a:br>
              <a:rPr lang="en-US" altLang="zh-TW" dirty="0"/>
            </a:br>
            <a:r>
              <a:rPr lang="zh-TW" altLang="en-US" dirty="0"/>
              <a:t>資料結構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/>
              <a:t>Chia-Wei Lee </a:t>
            </a:r>
            <a:r>
              <a:rPr lang="zh-TW" altLang="en-US" dirty="0"/>
              <a:t>李佳衛</a:t>
            </a:r>
          </a:p>
          <a:p>
            <a:pPr algn="r"/>
            <a:r>
              <a:rPr lang="en-US" altLang="zh-TW" dirty="0"/>
              <a:t>cwlee@utaipei.edu.tw</a:t>
            </a:r>
          </a:p>
          <a:p>
            <a:pPr algn="r"/>
            <a:r>
              <a:rPr lang="en-US" altLang="zh-TW" dirty="0"/>
              <a:t>Department of Computer Science</a:t>
            </a:r>
          </a:p>
          <a:p>
            <a:pPr algn="r"/>
            <a:r>
              <a:rPr lang="en-US" altLang="zh-TW" dirty="0"/>
              <a:t>University of Taipei</a:t>
            </a:r>
          </a:p>
        </p:txBody>
      </p:sp>
    </p:spTree>
    <p:extLst>
      <p:ext uri="{BB962C8B-B14F-4D97-AF65-F5344CB8AC3E}">
        <p14:creationId xmlns:p14="http://schemas.microsoft.com/office/powerpoint/2010/main" val="1714987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排序及定義 </a:t>
            </a:r>
            <a:r>
              <a:rPr lang="en-US" altLang="zh-TW" dirty="0"/>
              <a:t>(1/5)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檔案的邏輯組成</a:t>
            </a:r>
            <a:endParaRPr lang="en-US" altLang="zh-TW" dirty="0"/>
          </a:p>
          <a:p>
            <a:pPr lvl="1"/>
            <a:r>
              <a:rPr lang="zh-TW" altLang="en-US" dirty="0"/>
              <a:t>檔案是由一筆一筆的</a:t>
            </a:r>
            <a:r>
              <a:rPr lang="zh-TW" altLang="en-US" dirty="0">
                <a:solidFill>
                  <a:srgbClr val="C00000"/>
                </a:solidFill>
              </a:rPr>
              <a:t>紀錄</a:t>
            </a:r>
            <a:r>
              <a:rPr lang="en-US" altLang="zh-TW" dirty="0">
                <a:solidFill>
                  <a:srgbClr val="C00000"/>
                </a:solidFill>
              </a:rPr>
              <a:t>(record)</a:t>
            </a:r>
            <a:r>
              <a:rPr lang="zh-TW" altLang="en-US" dirty="0"/>
              <a:t>所構成</a:t>
            </a:r>
            <a:endParaRPr lang="en-US" altLang="zh-TW" dirty="0"/>
          </a:p>
          <a:p>
            <a:pPr lvl="1"/>
            <a:r>
              <a:rPr lang="zh-TW" altLang="en-US" dirty="0"/>
              <a:t>紀錄是由許多</a:t>
            </a:r>
            <a:r>
              <a:rPr lang="zh-TW" altLang="en-US" dirty="0">
                <a:solidFill>
                  <a:srgbClr val="C00000"/>
                </a:solidFill>
              </a:rPr>
              <a:t>欄位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zh-TW" altLang="en-US" dirty="0">
                <a:solidFill>
                  <a:srgbClr val="C00000"/>
                </a:solidFill>
              </a:rPr>
              <a:t>或屬性，</a:t>
            </a:r>
            <a:r>
              <a:rPr lang="en-US" altLang="zh-TW" dirty="0">
                <a:solidFill>
                  <a:srgbClr val="C00000"/>
                </a:solidFill>
              </a:rPr>
              <a:t>attribute)</a:t>
            </a:r>
            <a:r>
              <a:rPr lang="zh-TW" altLang="en-US" dirty="0"/>
              <a:t>所組成</a:t>
            </a:r>
            <a:endParaRPr lang="en-US" altLang="zh-TW" dirty="0"/>
          </a:p>
          <a:p>
            <a:pPr lvl="1"/>
            <a:r>
              <a:rPr lang="zh-TW" altLang="en-US" dirty="0"/>
              <a:t>以通訊錄檔案為例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153064" y="3277560"/>
          <a:ext cx="6688348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9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0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年齡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電話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住址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張四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(02)2334----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李五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(02)2999----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王六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(03)3444----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桃園縣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趙大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(02)2887----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陳文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(04)2333----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台中市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江水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28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(03)5341----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新竹市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圓角矩形 7"/>
          <p:cNvSpPr/>
          <p:nvPr/>
        </p:nvSpPr>
        <p:spPr>
          <a:xfrm>
            <a:off x="1138687" y="4071670"/>
            <a:ext cx="6719977" cy="396000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圖說文字 8"/>
          <p:cNvSpPr/>
          <p:nvPr/>
        </p:nvSpPr>
        <p:spPr>
          <a:xfrm>
            <a:off x="8031192" y="3554086"/>
            <a:ext cx="1000665" cy="517584"/>
          </a:xfrm>
          <a:prstGeom prst="wedgeRoundRectCallout">
            <a:avLst>
              <a:gd name="adj1" fmla="val -62212"/>
              <a:gd name="adj2" fmla="val 7750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紀錄</a:t>
            </a:r>
            <a:endParaRPr lang="zh-TW" altLang="en-US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2671315" y="3292416"/>
            <a:ext cx="1529750" cy="2754703"/>
          </a:xfrm>
          <a:prstGeom prst="roundRect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圖說文字 10"/>
          <p:cNvSpPr/>
          <p:nvPr/>
        </p:nvSpPr>
        <p:spPr>
          <a:xfrm>
            <a:off x="4201065" y="6130508"/>
            <a:ext cx="1000665" cy="517584"/>
          </a:xfrm>
          <a:prstGeom prst="wedgeRoundRectCallout">
            <a:avLst>
              <a:gd name="adj1" fmla="val -69108"/>
              <a:gd name="adj2" fmla="val -59167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欄位</a:t>
            </a:r>
          </a:p>
        </p:txBody>
      </p:sp>
    </p:spTree>
    <p:extLst>
      <p:ext uri="{BB962C8B-B14F-4D97-AF65-F5344CB8AC3E}">
        <p14:creationId xmlns:p14="http://schemas.microsoft.com/office/powerpoint/2010/main" val="405911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排序及定義 </a:t>
            </a:r>
            <a:r>
              <a:rPr lang="en-US" altLang="zh-TW" dirty="0"/>
              <a:t>(2/5)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以</a:t>
            </a:r>
            <a:r>
              <a:rPr lang="zh-TW" altLang="en-US" dirty="0">
                <a:solidFill>
                  <a:srgbClr val="C00000"/>
                </a:solidFill>
              </a:rPr>
              <a:t>年齡排序</a:t>
            </a:r>
            <a:r>
              <a:rPr lang="zh-TW" altLang="en-US" dirty="0"/>
              <a:t>過的通訊錄檔案</a:t>
            </a:r>
            <a:endParaRPr lang="en-US" altLang="zh-TW" dirty="0"/>
          </a:p>
          <a:p>
            <a:pPr lvl="1"/>
            <a:r>
              <a:rPr lang="zh-TW" altLang="en-US" dirty="0"/>
              <a:t>找出年齡為</a:t>
            </a:r>
            <a:r>
              <a:rPr lang="en-US" altLang="zh-TW" dirty="0">
                <a:solidFill>
                  <a:srgbClr val="C00000"/>
                </a:solidFill>
              </a:rPr>
              <a:t>25</a:t>
            </a:r>
            <a:r>
              <a:rPr lang="zh-TW" altLang="en-US" dirty="0">
                <a:solidFill>
                  <a:srgbClr val="C00000"/>
                </a:solidFill>
              </a:rPr>
              <a:t>歲</a:t>
            </a:r>
            <a:r>
              <a:rPr lang="zh-TW" altLang="en-US" dirty="0"/>
              <a:t>的人的資料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用某些欄位為依據來調整紀錄間的順序，這個動作稱為</a:t>
            </a:r>
            <a:r>
              <a:rPr lang="zh-TW" altLang="en-US" dirty="0">
                <a:solidFill>
                  <a:srgbClr val="C00000"/>
                </a:solidFill>
              </a:rPr>
              <a:t>排序</a:t>
            </a:r>
            <a:r>
              <a:rPr lang="en-US" altLang="zh-TW" dirty="0">
                <a:solidFill>
                  <a:srgbClr val="C00000"/>
                </a:solidFill>
              </a:rPr>
              <a:t>(sort)</a:t>
            </a:r>
            <a:r>
              <a:rPr lang="en-US" altLang="zh-TW" dirty="0"/>
              <a:t>。</a:t>
            </a:r>
          </a:p>
          <a:p>
            <a:pPr lvl="1">
              <a:spcBef>
                <a:spcPts val="0"/>
              </a:spcBef>
            </a:pPr>
            <a:r>
              <a:rPr lang="zh-TW" altLang="en-US" dirty="0"/>
              <a:t>用來排序的欄位稱為</a:t>
            </a:r>
            <a:r>
              <a:rPr lang="zh-TW" altLang="en-US" dirty="0">
                <a:solidFill>
                  <a:srgbClr val="C00000"/>
                </a:solidFill>
              </a:rPr>
              <a:t>鍵欄</a:t>
            </a:r>
            <a:r>
              <a:rPr lang="en-US" altLang="zh-TW" dirty="0">
                <a:solidFill>
                  <a:srgbClr val="C00000"/>
                </a:solidFill>
              </a:rPr>
              <a:t>(key field)</a:t>
            </a:r>
          </a:p>
          <a:p>
            <a:pPr lvl="1">
              <a:spcBef>
                <a:spcPts val="0"/>
              </a:spcBef>
            </a:pPr>
            <a:r>
              <a:rPr lang="zh-TW" altLang="en-US" dirty="0"/>
              <a:t>鍵欄的值稱為</a:t>
            </a:r>
            <a:r>
              <a:rPr lang="zh-TW" altLang="en-US" dirty="0">
                <a:solidFill>
                  <a:srgbClr val="C00000"/>
                </a:solidFill>
              </a:rPr>
              <a:t>鍵值( </a:t>
            </a:r>
            <a:r>
              <a:rPr lang="en-US" altLang="zh-TW" dirty="0">
                <a:solidFill>
                  <a:srgbClr val="C00000"/>
                </a:solidFill>
              </a:rPr>
              <a:t>key value)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161690" y="2337278"/>
          <a:ext cx="6688348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9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0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年齡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電話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住址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李五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(02)2999----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王六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(03)3444----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桃園縣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江水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28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(03)5341----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新竹市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張四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(02)2334----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趙大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(02)2887----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陳文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(04)2333----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台中市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8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排序及定義 </a:t>
            </a:r>
            <a:r>
              <a:rPr lang="en-US" altLang="zh-TW" dirty="0"/>
              <a:t>(3/5)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依照記錄儲存位置分類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內部排序法</a:t>
            </a:r>
            <a:r>
              <a:rPr lang="en-US" altLang="zh-TW" dirty="0">
                <a:solidFill>
                  <a:srgbClr val="C00000"/>
                </a:solidFill>
              </a:rPr>
              <a:t>(internal sort)</a:t>
            </a:r>
          </a:p>
          <a:p>
            <a:pPr lvl="2"/>
            <a:r>
              <a:rPr lang="zh-TW" altLang="en-US" dirty="0"/>
              <a:t>待排序的資料全部在主記憶體</a:t>
            </a:r>
            <a:r>
              <a:rPr lang="en-US" altLang="zh-TW" dirty="0"/>
              <a:t>(RAM)</a:t>
            </a:r>
            <a:r>
              <a:rPr lang="zh-TW" altLang="en-US" dirty="0"/>
              <a:t>中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外部排序法</a:t>
            </a:r>
            <a:r>
              <a:rPr lang="en-US" altLang="zh-TW" dirty="0">
                <a:solidFill>
                  <a:srgbClr val="C00000"/>
                </a:solidFill>
              </a:rPr>
              <a:t>(external sort)</a:t>
            </a:r>
          </a:p>
          <a:p>
            <a:pPr lvl="2"/>
            <a:r>
              <a:rPr lang="zh-TW" altLang="en-US" dirty="0"/>
              <a:t>待排序的資料只有部分在主記憶體中，其他大部份資料存於外部記憶體</a:t>
            </a:r>
            <a:r>
              <a:rPr lang="en-US" altLang="zh-TW" dirty="0"/>
              <a:t>(</a:t>
            </a:r>
            <a:r>
              <a:rPr lang="zh-TW" altLang="en-US" dirty="0"/>
              <a:t>記錄太多的狀況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依照排序方式分類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比較排序</a:t>
            </a:r>
            <a:r>
              <a:rPr lang="en-US" altLang="zh-TW" dirty="0">
                <a:solidFill>
                  <a:srgbClr val="C00000"/>
                </a:solidFill>
              </a:rPr>
              <a:t>(comparative sort)</a:t>
            </a:r>
          </a:p>
          <a:p>
            <a:pPr lvl="2"/>
            <a:r>
              <a:rPr lang="zh-TW" altLang="en-US" dirty="0"/>
              <a:t>以比較整個鍵值</a:t>
            </a:r>
            <a:r>
              <a:rPr lang="en-US" altLang="zh-TW" dirty="0"/>
              <a:t>(key value)</a:t>
            </a:r>
            <a:r>
              <a:rPr lang="zh-TW" altLang="en-US" dirty="0"/>
              <a:t>的方式排序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分配排序</a:t>
            </a:r>
            <a:r>
              <a:rPr lang="en-US" altLang="zh-TW" dirty="0">
                <a:solidFill>
                  <a:srgbClr val="C00000"/>
                </a:solidFill>
              </a:rPr>
              <a:t>(distributive sort)</a:t>
            </a:r>
          </a:p>
          <a:p>
            <a:pPr lvl="2"/>
            <a:r>
              <a:rPr lang="zh-TW" altLang="en-US" dirty="0"/>
              <a:t>一次只比較鍵值的某一位數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887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排序及定義 </a:t>
            </a:r>
            <a:r>
              <a:rPr lang="en-US" altLang="zh-TW" dirty="0"/>
              <a:t>(4/5)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排序的</a:t>
            </a:r>
            <a:r>
              <a:rPr lang="zh-TW" altLang="en-US" dirty="0">
                <a:solidFill>
                  <a:srgbClr val="C00000"/>
                </a:solidFill>
              </a:rPr>
              <a:t>效率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zh-TW" altLang="en-US" dirty="0"/>
              <a:t>以排序的資料量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zh-TW" altLang="en-US" dirty="0"/>
              <a:t>個資料</a:t>
            </a:r>
            <a:r>
              <a:rPr lang="en-US" altLang="zh-TW" dirty="0"/>
              <a:t>)</a:t>
            </a:r>
            <a:r>
              <a:rPr lang="zh-TW" altLang="en-US" dirty="0"/>
              <a:t>為參數，有些需時 </a:t>
            </a:r>
            <a:r>
              <a:rPr lang="en-US" altLang="zh-TW" dirty="0"/>
              <a:t>O(</a:t>
            </a:r>
            <a:r>
              <a:rPr lang="en-US" altLang="zh-TW" i="1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)，</a:t>
            </a:r>
            <a:r>
              <a:rPr lang="zh-TW" altLang="en-US" dirty="0"/>
              <a:t>有些可達 </a:t>
            </a:r>
            <a:r>
              <a:rPr lang="en-US" altLang="zh-TW" dirty="0"/>
              <a:t>O(</a:t>
            </a:r>
            <a:r>
              <a:rPr lang="en-US" altLang="zh-TW" i="1" dirty="0"/>
              <a:t>n</a:t>
            </a:r>
            <a:r>
              <a:rPr lang="en-US" altLang="zh-TW" dirty="0"/>
              <a:t> </a:t>
            </a:r>
            <a:r>
              <a:rPr lang="en-US" altLang="zh-TW" dirty="0" err="1"/>
              <a:t>lg</a:t>
            </a:r>
            <a:r>
              <a:rPr lang="en-US" altLang="zh-TW" dirty="0"/>
              <a:t> 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目前效率最好的排序演算法需時 </a:t>
            </a:r>
            <a:r>
              <a:rPr lang="en-US" altLang="zh-TW" dirty="0"/>
              <a:t>O(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排序法另一個要素是執行這些排序法所需的</a:t>
            </a:r>
            <a:r>
              <a:rPr lang="zh-TW" altLang="en-US" dirty="0">
                <a:solidFill>
                  <a:srgbClr val="C00000"/>
                </a:solidFill>
              </a:rPr>
              <a:t>額外記憶體空間</a:t>
            </a:r>
            <a:r>
              <a:rPr lang="zh-TW" altLang="en-US" dirty="0"/>
              <a:t>大小</a:t>
            </a:r>
            <a:endParaRPr lang="en-US" altLang="zh-TW" dirty="0"/>
          </a:p>
          <a:p>
            <a:pPr lvl="1"/>
            <a:r>
              <a:rPr lang="zh-TW" altLang="en-US" dirty="0"/>
              <a:t>有些完全不需額外記憶體，有些只需少數記憶體，有些需要</a:t>
            </a:r>
            <a:r>
              <a:rPr lang="en-US" altLang="zh-TW" dirty="0"/>
              <a:t>O(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  <a:r>
              <a:rPr lang="zh-TW" altLang="en-US" dirty="0"/>
              <a:t>的額外記憶體，有些甚至更多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在內部排序法中，影響效率的因素通常是作</a:t>
            </a:r>
            <a:r>
              <a:rPr lang="zh-TW" altLang="en-US" dirty="0">
                <a:solidFill>
                  <a:srgbClr val="C00000"/>
                </a:solidFill>
              </a:rPr>
              <a:t>比較</a:t>
            </a:r>
            <a:r>
              <a:rPr lang="en-US" altLang="zh-TW" dirty="0">
                <a:solidFill>
                  <a:srgbClr val="C00000"/>
                </a:solidFill>
              </a:rPr>
              <a:t>(compare)</a:t>
            </a:r>
            <a:r>
              <a:rPr lang="zh-TW" altLang="en-US" dirty="0"/>
              <a:t>的次數，和</a:t>
            </a:r>
            <a:r>
              <a:rPr lang="zh-TW" altLang="en-US" dirty="0">
                <a:solidFill>
                  <a:srgbClr val="C00000"/>
                </a:solidFill>
              </a:rPr>
              <a:t>資料交換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zh-TW" altLang="en-US" dirty="0">
                <a:solidFill>
                  <a:srgbClr val="C00000"/>
                </a:solidFill>
              </a:rPr>
              <a:t>或移動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en-US" dirty="0"/>
              <a:t>的次數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564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排序及定義 </a:t>
            </a:r>
            <a:r>
              <a:rPr lang="en-US" altLang="zh-TW" dirty="0"/>
              <a:t>(5/5)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排序法的</a:t>
            </a:r>
            <a:r>
              <a:rPr lang="zh-TW" altLang="en-US" dirty="0">
                <a:solidFill>
                  <a:srgbClr val="C00000"/>
                </a:solidFill>
              </a:rPr>
              <a:t>穩定性</a:t>
            </a:r>
            <a:r>
              <a:rPr lang="en-US" altLang="zh-TW" dirty="0">
                <a:solidFill>
                  <a:srgbClr val="C00000"/>
                </a:solidFill>
              </a:rPr>
              <a:t>(stability)</a:t>
            </a:r>
          </a:p>
          <a:p>
            <a:pPr lvl="1"/>
            <a:r>
              <a:rPr lang="zh-TW" altLang="en-US" dirty="0"/>
              <a:t>原先具有相同鍵值的那些記錄，經過排序後仍然</a:t>
            </a:r>
            <a:r>
              <a:rPr lang="zh-TW" altLang="en-US" dirty="0">
                <a:solidFill>
                  <a:srgbClr val="C00000"/>
                </a:solidFill>
              </a:rPr>
              <a:t>保持原先</a:t>
            </a:r>
            <a:r>
              <a:rPr lang="zh-TW" altLang="en-US" dirty="0"/>
              <a:t>的先後次序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73506" y="3079142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73506" y="3904403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773506" y="4689406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7116792" y="3888867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具有穩定性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7117080" y="4670996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不具有穩定性</a:t>
            </a:r>
          </a:p>
        </p:txBody>
      </p:sp>
      <p:sp>
        <p:nvSpPr>
          <p:cNvPr id="12" name="圓角矩形 11"/>
          <p:cNvSpPr/>
          <p:nvPr/>
        </p:nvSpPr>
        <p:spPr>
          <a:xfrm>
            <a:off x="3062377" y="4688248"/>
            <a:ext cx="1518249" cy="400110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885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氣泡排序法 </a:t>
            </a:r>
            <a:r>
              <a:rPr lang="en-US" altLang="zh-TW" dirty="0"/>
              <a:t>Bubble Sort (1/6)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相鄰兩個元素作比較，</a:t>
            </a:r>
            <a:r>
              <a:rPr lang="zh-TW" altLang="en-US" dirty="0">
                <a:solidFill>
                  <a:srgbClr val="C00000"/>
                </a:solidFill>
              </a:rPr>
              <a:t>小的往前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zh-TW" altLang="en-US" dirty="0">
                <a:solidFill>
                  <a:srgbClr val="C00000"/>
                </a:solidFill>
              </a:rPr>
              <a:t>左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C00000"/>
                </a:solidFill>
              </a:rPr>
              <a:t>大的往後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zh-TW" altLang="en-US" dirty="0">
                <a:solidFill>
                  <a:srgbClr val="C00000"/>
                </a:solidFill>
              </a:rPr>
              <a:t>右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26876" y="210436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632634" y="260180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629766" y="309924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635524" y="3579430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632634" y="405959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638392" y="4531158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635524" y="501134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641282" y="5491534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1" name="群組 30"/>
          <p:cNvGrpSpPr/>
          <p:nvPr/>
        </p:nvGrpSpPr>
        <p:grpSpPr>
          <a:xfrm>
            <a:off x="647001" y="2113470"/>
            <a:ext cx="1321878" cy="379564"/>
            <a:chOff x="1043797" y="2113470"/>
            <a:chExt cx="1321878" cy="379564"/>
          </a:xfrm>
        </p:grpSpPr>
        <p:sp>
          <p:nvSpPr>
            <p:cNvPr id="29" name="橢圓 28"/>
            <p:cNvSpPr/>
            <p:nvPr/>
          </p:nvSpPr>
          <p:spPr>
            <a:xfrm>
              <a:off x="1043797" y="2113471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橢圓 29"/>
            <p:cNvSpPr/>
            <p:nvPr/>
          </p:nvSpPr>
          <p:spPr>
            <a:xfrm>
              <a:off x="1717675" y="2113470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1320879" y="2602299"/>
            <a:ext cx="1321878" cy="379564"/>
            <a:chOff x="1043797" y="2113470"/>
            <a:chExt cx="1321878" cy="379564"/>
          </a:xfrm>
        </p:grpSpPr>
        <p:sp>
          <p:nvSpPr>
            <p:cNvPr id="33" name="橢圓 32"/>
            <p:cNvSpPr/>
            <p:nvPr/>
          </p:nvSpPr>
          <p:spPr>
            <a:xfrm>
              <a:off x="1043797" y="2113471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橢圓 33"/>
            <p:cNvSpPr/>
            <p:nvPr/>
          </p:nvSpPr>
          <p:spPr>
            <a:xfrm>
              <a:off x="1717675" y="2113470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2001526" y="3102632"/>
            <a:ext cx="1321878" cy="379564"/>
            <a:chOff x="1043797" y="2113470"/>
            <a:chExt cx="1321878" cy="379564"/>
          </a:xfrm>
        </p:grpSpPr>
        <p:sp>
          <p:nvSpPr>
            <p:cNvPr id="36" name="橢圓 35"/>
            <p:cNvSpPr/>
            <p:nvPr/>
          </p:nvSpPr>
          <p:spPr>
            <a:xfrm>
              <a:off x="1043797" y="2113471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橢圓 36"/>
            <p:cNvSpPr/>
            <p:nvPr/>
          </p:nvSpPr>
          <p:spPr>
            <a:xfrm>
              <a:off x="1717675" y="2113470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2684030" y="3577084"/>
            <a:ext cx="1321878" cy="379564"/>
            <a:chOff x="1043797" y="2113470"/>
            <a:chExt cx="1321878" cy="379564"/>
          </a:xfrm>
        </p:grpSpPr>
        <p:sp>
          <p:nvSpPr>
            <p:cNvPr id="39" name="橢圓 38"/>
            <p:cNvSpPr/>
            <p:nvPr/>
          </p:nvSpPr>
          <p:spPr>
            <a:xfrm>
              <a:off x="1043797" y="2113471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橢圓 39"/>
            <p:cNvSpPr/>
            <p:nvPr/>
          </p:nvSpPr>
          <p:spPr>
            <a:xfrm>
              <a:off x="1717675" y="2113470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3357908" y="4063040"/>
            <a:ext cx="1321878" cy="379564"/>
            <a:chOff x="1043797" y="2113470"/>
            <a:chExt cx="1321878" cy="379564"/>
          </a:xfrm>
        </p:grpSpPr>
        <p:sp>
          <p:nvSpPr>
            <p:cNvPr id="42" name="橢圓 41"/>
            <p:cNvSpPr/>
            <p:nvPr/>
          </p:nvSpPr>
          <p:spPr>
            <a:xfrm>
              <a:off x="1043797" y="2113471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橢圓 42"/>
            <p:cNvSpPr/>
            <p:nvPr/>
          </p:nvSpPr>
          <p:spPr>
            <a:xfrm>
              <a:off x="1717675" y="2113470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4040412" y="4534617"/>
            <a:ext cx="1321878" cy="379564"/>
            <a:chOff x="1043797" y="2113470"/>
            <a:chExt cx="1321878" cy="379564"/>
          </a:xfrm>
        </p:grpSpPr>
        <p:sp>
          <p:nvSpPr>
            <p:cNvPr id="45" name="橢圓 44"/>
            <p:cNvSpPr/>
            <p:nvPr/>
          </p:nvSpPr>
          <p:spPr>
            <a:xfrm>
              <a:off x="1043797" y="2113471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橢圓 45"/>
            <p:cNvSpPr/>
            <p:nvPr/>
          </p:nvSpPr>
          <p:spPr>
            <a:xfrm>
              <a:off x="1717675" y="2113470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4714290" y="5017698"/>
            <a:ext cx="1321878" cy="379564"/>
            <a:chOff x="1043797" y="2113470"/>
            <a:chExt cx="1321878" cy="379564"/>
          </a:xfrm>
        </p:grpSpPr>
        <p:sp>
          <p:nvSpPr>
            <p:cNvPr id="48" name="橢圓 47"/>
            <p:cNvSpPr/>
            <p:nvPr/>
          </p:nvSpPr>
          <p:spPr>
            <a:xfrm>
              <a:off x="1043797" y="2113471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橢圓 48"/>
            <p:cNvSpPr/>
            <p:nvPr/>
          </p:nvSpPr>
          <p:spPr>
            <a:xfrm>
              <a:off x="1717675" y="2113470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5390560" y="5497901"/>
            <a:ext cx="1321878" cy="379564"/>
            <a:chOff x="1043797" y="2113470"/>
            <a:chExt cx="1321878" cy="379564"/>
          </a:xfrm>
        </p:grpSpPr>
        <p:sp>
          <p:nvSpPr>
            <p:cNvPr id="51" name="橢圓 50"/>
            <p:cNvSpPr/>
            <p:nvPr/>
          </p:nvSpPr>
          <p:spPr>
            <a:xfrm>
              <a:off x="1043797" y="2113471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橢圓 51"/>
            <p:cNvSpPr/>
            <p:nvPr/>
          </p:nvSpPr>
          <p:spPr>
            <a:xfrm>
              <a:off x="1717675" y="2113470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638414" y="5954470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" name="圓角矩形圖說文字 53"/>
          <p:cNvSpPr/>
          <p:nvPr/>
        </p:nvSpPr>
        <p:spPr>
          <a:xfrm>
            <a:off x="6789008" y="4914181"/>
            <a:ext cx="1958196" cy="963284"/>
          </a:xfrm>
          <a:prstGeom prst="wedgeRoundRectCallout">
            <a:avLst>
              <a:gd name="adj1" fmla="val -51849"/>
              <a:gd name="adj2" fmla="val 772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Pass 1</a:t>
            </a:r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完成，</a:t>
            </a:r>
            <a:endParaRPr lang="en-US" altLang="zh-TW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最大值定位確定</a:t>
            </a:r>
          </a:p>
        </p:txBody>
      </p:sp>
    </p:spTree>
    <p:extLst>
      <p:ext uri="{BB962C8B-B14F-4D97-AF65-F5344CB8AC3E}">
        <p14:creationId xmlns:p14="http://schemas.microsoft.com/office/powerpoint/2010/main" val="3507186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氣泡排序法 </a:t>
            </a:r>
            <a:r>
              <a:rPr lang="en-US" altLang="zh-TW" dirty="0"/>
              <a:t>Bubble Sort (2/6)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相鄰兩個元素作比較，</a:t>
            </a:r>
            <a:r>
              <a:rPr lang="zh-TW" altLang="en-US" dirty="0">
                <a:solidFill>
                  <a:srgbClr val="C00000"/>
                </a:solidFill>
              </a:rPr>
              <a:t>小的往前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zh-TW" altLang="en-US" dirty="0">
                <a:solidFill>
                  <a:srgbClr val="C00000"/>
                </a:solidFill>
              </a:rPr>
              <a:t>左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C00000"/>
                </a:solidFill>
              </a:rPr>
              <a:t>大的往後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zh-TW" altLang="en-US" dirty="0">
                <a:solidFill>
                  <a:srgbClr val="C00000"/>
                </a:solidFill>
              </a:rPr>
              <a:t>右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26876" y="210436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632634" y="260180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629766" y="309924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635524" y="3579430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632634" y="405959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638392" y="4531158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635524" y="501134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641282" y="5491534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1" name="群組 30"/>
          <p:cNvGrpSpPr/>
          <p:nvPr/>
        </p:nvGrpSpPr>
        <p:grpSpPr>
          <a:xfrm>
            <a:off x="647001" y="2113470"/>
            <a:ext cx="1321878" cy="379564"/>
            <a:chOff x="1043797" y="2113470"/>
            <a:chExt cx="1321878" cy="379564"/>
          </a:xfrm>
        </p:grpSpPr>
        <p:sp>
          <p:nvSpPr>
            <p:cNvPr id="29" name="橢圓 28"/>
            <p:cNvSpPr/>
            <p:nvPr/>
          </p:nvSpPr>
          <p:spPr>
            <a:xfrm>
              <a:off x="1043797" y="2113471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橢圓 29"/>
            <p:cNvSpPr/>
            <p:nvPr/>
          </p:nvSpPr>
          <p:spPr>
            <a:xfrm>
              <a:off x="1717675" y="2113470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1320879" y="2602299"/>
            <a:ext cx="1321878" cy="379564"/>
            <a:chOff x="1043797" y="2113470"/>
            <a:chExt cx="1321878" cy="379564"/>
          </a:xfrm>
        </p:grpSpPr>
        <p:sp>
          <p:nvSpPr>
            <p:cNvPr id="33" name="橢圓 32"/>
            <p:cNvSpPr/>
            <p:nvPr/>
          </p:nvSpPr>
          <p:spPr>
            <a:xfrm>
              <a:off x="1043797" y="2113471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橢圓 33"/>
            <p:cNvSpPr/>
            <p:nvPr/>
          </p:nvSpPr>
          <p:spPr>
            <a:xfrm>
              <a:off x="1717675" y="2113470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2001526" y="3102632"/>
            <a:ext cx="1321878" cy="379564"/>
            <a:chOff x="1043797" y="2113470"/>
            <a:chExt cx="1321878" cy="379564"/>
          </a:xfrm>
        </p:grpSpPr>
        <p:sp>
          <p:nvSpPr>
            <p:cNvPr id="36" name="橢圓 35"/>
            <p:cNvSpPr/>
            <p:nvPr/>
          </p:nvSpPr>
          <p:spPr>
            <a:xfrm>
              <a:off x="1043797" y="2113471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橢圓 36"/>
            <p:cNvSpPr/>
            <p:nvPr/>
          </p:nvSpPr>
          <p:spPr>
            <a:xfrm>
              <a:off x="1717675" y="2113470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2684030" y="3577084"/>
            <a:ext cx="1321878" cy="379564"/>
            <a:chOff x="1043797" y="2113470"/>
            <a:chExt cx="1321878" cy="379564"/>
          </a:xfrm>
        </p:grpSpPr>
        <p:sp>
          <p:nvSpPr>
            <p:cNvPr id="39" name="橢圓 38"/>
            <p:cNvSpPr/>
            <p:nvPr/>
          </p:nvSpPr>
          <p:spPr>
            <a:xfrm>
              <a:off x="1043797" y="2113471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橢圓 39"/>
            <p:cNvSpPr/>
            <p:nvPr/>
          </p:nvSpPr>
          <p:spPr>
            <a:xfrm>
              <a:off x="1717675" y="2113470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3357908" y="4063040"/>
            <a:ext cx="1321878" cy="379564"/>
            <a:chOff x="1043797" y="2113470"/>
            <a:chExt cx="1321878" cy="379564"/>
          </a:xfrm>
        </p:grpSpPr>
        <p:sp>
          <p:nvSpPr>
            <p:cNvPr id="42" name="橢圓 41"/>
            <p:cNvSpPr/>
            <p:nvPr/>
          </p:nvSpPr>
          <p:spPr>
            <a:xfrm>
              <a:off x="1043797" y="2113471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橢圓 42"/>
            <p:cNvSpPr/>
            <p:nvPr/>
          </p:nvSpPr>
          <p:spPr>
            <a:xfrm>
              <a:off x="1717675" y="2113470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4040412" y="4534617"/>
            <a:ext cx="1321878" cy="379564"/>
            <a:chOff x="1043797" y="2113470"/>
            <a:chExt cx="1321878" cy="379564"/>
          </a:xfrm>
        </p:grpSpPr>
        <p:sp>
          <p:nvSpPr>
            <p:cNvPr id="45" name="橢圓 44"/>
            <p:cNvSpPr/>
            <p:nvPr/>
          </p:nvSpPr>
          <p:spPr>
            <a:xfrm>
              <a:off x="1043797" y="2113471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橢圓 45"/>
            <p:cNvSpPr/>
            <p:nvPr/>
          </p:nvSpPr>
          <p:spPr>
            <a:xfrm>
              <a:off x="1717675" y="2113470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4714290" y="5017698"/>
            <a:ext cx="1321878" cy="379564"/>
            <a:chOff x="1043797" y="2113470"/>
            <a:chExt cx="1321878" cy="379564"/>
          </a:xfrm>
        </p:grpSpPr>
        <p:sp>
          <p:nvSpPr>
            <p:cNvPr id="48" name="橢圓 47"/>
            <p:cNvSpPr/>
            <p:nvPr/>
          </p:nvSpPr>
          <p:spPr>
            <a:xfrm>
              <a:off x="1043797" y="2113471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橢圓 48"/>
            <p:cNvSpPr/>
            <p:nvPr/>
          </p:nvSpPr>
          <p:spPr>
            <a:xfrm>
              <a:off x="1717675" y="2113470"/>
              <a:ext cx="648000" cy="379563"/>
            </a:xfrm>
            <a:prstGeom prst="ellipse">
              <a:avLst/>
            </a:prstGeom>
            <a:noFill/>
            <a:ln w="285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4" name="圓角矩形圖說文字 53"/>
          <p:cNvSpPr/>
          <p:nvPr/>
        </p:nvSpPr>
        <p:spPr>
          <a:xfrm>
            <a:off x="6789008" y="1063926"/>
            <a:ext cx="1958196" cy="963284"/>
          </a:xfrm>
          <a:prstGeom prst="wedgeRoundRectCallout">
            <a:avLst>
              <a:gd name="adj1" fmla="val -51849"/>
              <a:gd name="adj2" fmla="val 772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Pass 1</a:t>
            </a:r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完成，</a:t>
            </a:r>
            <a:endParaRPr lang="en-US" altLang="zh-TW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最大值定位確定</a:t>
            </a:r>
          </a:p>
        </p:txBody>
      </p:sp>
      <p:sp>
        <p:nvSpPr>
          <p:cNvPr id="55" name="圓角矩形圖說文字 54"/>
          <p:cNvSpPr/>
          <p:nvPr/>
        </p:nvSpPr>
        <p:spPr>
          <a:xfrm>
            <a:off x="6806259" y="4456982"/>
            <a:ext cx="2199718" cy="963284"/>
          </a:xfrm>
          <a:prstGeom prst="wedgeRoundRectCallout">
            <a:avLst>
              <a:gd name="adj1" fmla="val -51849"/>
              <a:gd name="adj2" fmla="val 772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Pass 2</a:t>
            </a:r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完成，</a:t>
            </a:r>
            <a:endParaRPr lang="en-US" altLang="zh-TW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第二大值定位確定</a:t>
            </a:r>
          </a:p>
        </p:txBody>
      </p:sp>
    </p:spTree>
    <p:extLst>
      <p:ext uri="{BB962C8B-B14F-4D97-AF65-F5344CB8AC3E}">
        <p14:creationId xmlns:p14="http://schemas.microsoft.com/office/powerpoint/2010/main" val="99020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氣泡排序法 </a:t>
            </a:r>
            <a:r>
              <a:rPr lang="en-US" altLang="zh-TW" dirty="0"/>
              <a:t>Bubble Sort (3/6)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相鄰兩個元素作比較，</a:t>
            </a:r>
            <a:r>
              <a:rPr lang="zh-TW" altLang="en-US" dirty="0">
                <a:solidFill>
                  <a:srgbClr val="C00000"/>
                </a:solidFill>
              </a:rPr>
              <a:t>小的往前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zh-TW" altLang="en-US" dirty="0">
                <a:solidFill>
                  <a:srgbClr val="C00000"/>
                </a:solidFill>
              </a:rPr>
              <a:t>左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C00000"/>
                </a:solidFill>
              </a:rPr>
              <a:t>大的往後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zh-TW" altLang="en-US" dirty="0">
                <a:solidFill>
                  <a:srgbClr val="C00000"/>
                </a:solidFill>
              </a:rPr>
              <a:t>右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26876" y="210436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632634" y="260180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629766" y="309924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635524" y="3579430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632634" y="405959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638392" y="4531158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635524" y="501134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641282" y="5491534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" name="文字方塊 49"/>
          <p:cNvSpPr txBox="1"/>
          <p:nvPr/>
        </p:nvSpPr>
        <p:spPr>
          <a:xfrm>
            <a:off x="7116792" y="5924603"/>
            <a:ext cx="1467068" cy="400110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具有穩定性</a:t>
            </a:r>
          </a:p>
        </p:txBody>
      </p:sp>
      <p:graphicFrame>
        <p:nvGraphicFramePr>
          <p:cNvPr id="51" name="表格 50"/>
          <p:cNvGraphicFramePr>
            <a:graphicFrameLocks noGrp="1"/>
          </p:cNvGraphicFramePr>
          <p:nvPr/>
        </p:nvGraphicFramePr>
        <p:xfrm>
          <a:off x="638414" y="5954470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310551" y="258340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11729" y="310140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311729" y="358161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15124" y="406714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15124" y="453872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314605" y="499663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314605" y="546821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315124" y="594185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3347069" y="2113469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1320879" y="2113470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2004422" y="3101408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2004422" y="2615030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2682855" y="2593675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/>
          <p:cNvSpPr/>
          <p:nvPr/>
        </p:nvSpPr>
        <p:spPr>
          <a:xfrm>
            <a:off x="3347069" y="3101407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橢圓 38"/>
          <p:cNvSpPr/>
          <p:nvPr/>
        </p:nvSpPr>
        <p:spPr>
          <a:xfrm>
            <a:off x="2682855" y="3581611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橢圓 39"/>
          <p:cNvSpPr/>
          <p:nvPr/>
        </p:nvSpPr>
        <p:spPr>
          <a:xfrm>
            <a:off x="3364321" y="3577089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橢圓 40"/>
          <p:cNvSpPr/>
          <p:nvPr/>
        </p:nvSpPr>
        <p:spPr>
          <a:xfrm>
            <a:off x="2682855" y="4073314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橢圓 41"/>
          <p:cNvSpPr/>
          <p:nvPr/>
        </p:nvSpPr>
        <p:spPr>
          <a:xfrm>
            <a:off x="3364321" y="4068792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/>
          <p:cNvSpPr/>
          <p:nvPr/>
        </p:nvSpPr>
        <p:spPr>
          <a:xfrm>
            <a:off x="2686926" y="4548995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橢圓 43"/>
          <p:cNvSpPr/>
          <p:nvPr/>
        </p:nvSpPr>
        <p:spPr>
          <a:xfrm>
            <a:off x="3368392" y="4544473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橢圓 44"/>
          <p:cNvSpPr/>
          <p:nvPr/>
        </p:nvSpPr>
        <p:spPr>
          <a:xfrm>
            <a:off x="2686926" y="5040698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橢圓 45"/>
          <p:cNvSpPr/>
          <p:nvPr/>
        </p:nvSpPr>
        <p:spPr>
          <a:xfrm>
            <a:off x="3368392" y="5036176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橢圓 46"/>
          <p:cNvSpPr/>
          <p:nvPr/>
        </p:nvSpPr>
        <p:spPr>
          <a:xfrm>
            <a:off x="2685111" y="5488761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橢圓 47"/>
          <p:cNvSpPr/>
          <p:nvPr/>
        </p:nvSpPr>
        <p:spPr>
          <a:xfrm>
            <a:off x="3366577" y="5484239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橢圓 48"/>
          <p:cNvSpPr/>
          <p:nvPr/>
        </p:nvSpPr>
        <p:spPr>
          <a:xfrm>
            <a:off x="2685111" y="5980464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橢圓 51"/>
          <p:cNvSpPr/>
          <p:nvPr/>
        </p:nvSpPr>
        <p:spPr>
          <a:xfrm>
            <a:off x="3366577" y="5975942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002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氣泡排序法 </a:t>
            </a:r>
            <a:r>
              <a:rPr lang="en-US" altLang="zh-TW" dirty="0"/>
              <a:t>Bubble Sort (4/6)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相鄰兩個元素作比較，</a:t>
            </a:r>
            <a:r>
              <a:rPr lang="zh-TW" altLang="en-US" dirty="0">
                <a:solidFill>
                  <a:srgbClr val="C00000"/>
                </a:solidFill>
              </a:rPr>
              <a:t>小的往前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zh-TW" altLang="en-US" dirty="0">
                <a:solidFill>
                  <a:srgbClr val="C00000"/>
                </a:solidFill>
              </a:rPr>
              <a:t>左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C00000"/>
                </a:solidFill>
              </a:rPr>
              <a:t>大的往後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zh-TW" altLang="en-US" dirty="0">
                <a:solidFill>
                  <a:srgbClr val="C00000"/>
                </a:solidFill>
              </a:rPr>
              <a:t>右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endParaRPr lang="en-US" altLang="zh-TW" dirty="0"/>
          </a:p>
          <a:p>
            <a:pPr lvl="1"/>
            <a:r>
              <a:rPr lang="en-US" altLang="zh-TW" dirty="0"/>
              <a:t>Best case: 1, 2, 3, 4, 5, 6</a:t>
            </a:r>
          </a:p>
          <a:p>
            <a:pPr lvl="1"/>
            <a:endParaRPr lang="en-US" altLang="zh-TW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92000" y="2380950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692000" y="2964671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694992" y="3559895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694992" y="4143616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692116" y="4730212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692116" y="5313933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1380226" y="2966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381404" y="35705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1381404" y="41369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376173" y="47260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376173" y="5309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354779" y="2966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55957" y="35705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355957" y="41369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350726" y="47260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6350726" y="5309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154173" y="2966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155351" y="35705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155351" y="41369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150120" y="47260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150120" y="5309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158365" y="236816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比較</a:t>
            </a:r>
          </a:p>
        </p:txBody>
      </p:sp>
      <p:sp>
        <p:nvSpPr>
          <p:cNvPr id="29" name="文字方塊 28"/>
          <p:cNvSpPr txBox="1"/>
          <p:nvPr/>
        </p:nvSpPr>
        <p:spPr>
          <a:xfrm>
            <a:off x="6962990" y="236816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交換</a:t>
            </a:r>
          </a:p>
        </p:txBody>
      </p:sp>
      <p:sp>
        <p:nvSpPr>
          <p:cNvPr id="30" name="文字方塊 29"/>
          <p:cNvSpPr txBox="1"/>
          <p:nvPr/>
        </p:nvSpPr>
        <p:spPr>
          <a:xfrm>
            <a:off x="6291837" y="586226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155351" y="5862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179512" y="5843007"/>
            <a:ext cx="5827236" cy="707886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利用一變數來判斷是否要繼續下一次的掃描與比較</a:t>
            </a:r>
            <a:endParaRPr lang="en-US" altLang="zh-TW" sz="2000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以減少不必要的比較，提高效率</a:t>
            </a:r>
          </a:p>
        </p:txBody>
      </p:sp>
    </p:spTree>
    <p:extLst>
      <p:ext uri="{BB962C8B-B14F-4D97-AF65-F5344CB8AC3E}">
        <p14:creationId xmlns:p14="http://schemas.microsoft.com/office/powerpoint/2010/main" val="320595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30" grpId="0"/>
      <p:bldP spid="31" grpId="0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氣泡排序法 </a:t>
            </a:r>
            <a:r>
              <a:rPr lang="en-US" altLang="zh-TW" dirty="0"/>
              <a:t>Bubble Sort (5/6)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相鄰兩個元素作比較，</a:t>
            </a:r>
            <a:r>
              <a:rPr lang="zh-TW" altLang="en-US" dirty="0">
                <a:solidFill>
                  <a:srgbClr val="C00000"/>
                </a:solidFill>
              </a:rPr>
              <a:t>小的往前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zh-TW" altLang="en-US" dirty="0">
                <a:solidFill>
                  <a:srgbClr val="C00000"/>
                </a:solidFill>
              </a:rPr>
              <a:t>左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C00000"/>
                </a:solidFill>
              </a:rPr>
              <a:t>大的往後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zh-TW" altLang="en-US" dirty="0">
                <a:solidFill>
                  <a:srgbClr val="C00000"/>
                </a:solidFill>
              </a:rPr>
              <a:t>右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endParaRPr lang="en-US" altLang="zh-TW" dirty="0"/>
          </a:p>
          <a:p>
            <a:pPr lvl="1"/>
            <a:r>
              <a:rPr lang="en-US" altLang="zh-TW" dirty="0"/>
              <a:t>Worst case: 6, 5, 4, 3, 2, 1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92000" y="2380950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692000" y="2964671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694992" y="3559895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694992" y="4143616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692116" y="4730212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692116" y="5313933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6354779" y="2966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355957" y="35705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355957" y="41369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350726" y="47260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350726" y="5309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7154173" y="296626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7155351" y="35705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155351" y="41369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7150120" y="47260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150120" y="5309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158365" y="236816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比較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6962990" y="236816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交換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1380226" y="2966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381404" y="35705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381404" y="41369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1376173" y="47260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1376173" y="5309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6291837" y="586226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091231" y="586226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75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氣泡排序法 </a:t>
            </a:r>
            <a:r>
              <a:rPr lang="en-US" altLang="zh-TW" dirty="0"/>
              <a:t>Bubble Sort (6/6)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相鄰兩個元素作</a:t>
            </a:r>
            <a:r>
              <a:rPr lang="zh-TW" altLang="en-US" dirty="0">
                <a:solidFill>
                  <a:srgbClr val="0000FF"/>
                </a:solidFill>
              </a:rPr>
              <a:t>比較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C00000"/>
                </a:solidFill>
              </a:rPr>
              <a:t>小的往前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zh-TW" altLang="en-US" dirty="0">
                <a:solidFill>
                  <a:srgbClr val="C00000"/>
                </a:solidFill>
              </a:rPr>
              <a:t>左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C00000"/>
                </a:solidFill>
              </a:rPr>
              <a:t>大的往後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zh-TW" altLang="en-US" dirty="0">
                <a:solidFill>
                  <a:srgbClr val="C00000"/>
                </a:solidFill>
              </a:rPr>
              <a:t>右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cxnSp>
        <p:nvCxnSpPr>
          <p:cNvPr id="9" name="直線接點 8"/>
          <p:cNvCxnSpPr/>
          <p:nvPr/>
        </p:nvCxnSpPr>
        <p:spPr>
          <a:xfrm>
            <a:off x="3034951" y="1710169"/>
            <a:ext cx="3240000" cy="0"/>
          </a:xfrm>
          <a:prstGeom prst="line">
            <a:avLst/>
          </a:prstGeom>
          <a:ln w="28575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4306137" y="171016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交換</a:t>
            </a:r>
            <a:endParaRPr lang="zh-TW" altLang="en-US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525797" y="2268807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11"/>
              <p:cNvGraphicFramePr>
                <a:graphicFrameLocks noGrp="1"/>
              </p:cNvGraphicFramePr>
              <p:nvPr/>
            </p:nvGraphicFramePr>
            <p:xfrm>
              <a:off x="1494807" y="2941129"/>
              <a:ext cx="6188393" cy="3443669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3115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 rowSpan="2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比較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交換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best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worst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best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worst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i="1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3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3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3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3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</a:t>
                          </a:r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Total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8026734"/>
                  </p:ext>
                </p:extLst>
              </p:nvPr>
            </p:nvGraphicFramePr>
            <p:xfrm>
              <a:off x="1494807" y="2941129"/>
              <a:ext cx="6188393" cy="3443669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311593"/>
                    <a:gridCol w="1219200"/>
                    <a:gridCol w="1219200"/>
                    <a:gridCol w="1219200"/>
                    <a:gridCol w="1219200"/>
                  </a:tblGrid>
                  <a:tr h="396240">
                    <a:tc rowSpan="2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比較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交換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 vMerge="1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best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worst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best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worst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</a:t>
                          </a:r>
                          <a:endParaRPr lang="zh-TW" altLang="en-US" sz="2000" b="1" dirty="0" smtClean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i="1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</a:t>
                          </a:r>
                          <a:endParaRPr lang="zh-TW" altLang="en-US" sz="2000" b="1" dirty="0" smtClean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2</a:t>
                          </a:r>
                          <a:endParaRPr lang="zh-TW" altLang="en-US" sz="2000" b="1" dirty="0" smtClean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3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3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3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3</a:t>
                          </a:r>
                          <a:endParaRPr lang="zh-TW" altLang="en-US" sz="2000" b="1" dirty="0" smtClean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</a:t>
                          </a:r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6699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Total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107500" t="-418182" r="-300500" b="-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207500" t="-418182" r="-200500" b="-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407500" t="-418182" r="-500" b="-90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3" name="文字方塊 12"/>
          <p:cNvSpPr txBox="1"/>
          <p:nvPr/>
        </p:nvSpPr>
        <p:spPr>
          <a:xfrm>
            <a:off x="7815533" y="5829809"/>
            <a:ext cx="7809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73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選擇排序法 </a:t>
            </a:r>
            <a:r>
              <a:rPr lang="en-US" altLang="zh-TW" dirty="0"/>
              <a:t>Selection Sort (1/7)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>
                <a:solidFill>
                  <a:srgbClr val="C00000"/>
                </a:solidFill>
              </a:rPr>
              <a:t>氣泡</a:t>
            </a:r>
            <a:r>
              <a:rPr lang="zh-TW" altLang="en-US" dirty="0"/>
              <a:t>排序法：</a:t>
            </a:r>
            <a:r>
              <a:rPr lang="zh-TW" altLang="en-US" dirty="0">
                <a:solidFill>
                  <a:srgbClr val="C00000"/>
                </a:solidFill>
              </a:rPr>
              <a:t>一步一步</a:t>
            </a:r>
            <a:r>
              <a:rPr lang="zh-TW" altLang="en-US" dirty="0"/>
              <a:t>將最大值移到最右邊</a:t>
            </a:r>
            <a:endParaRPr lang="en-US" altLang="zh-TW" dirty="0"/>
          </a:p>
          <a:p>
            <a:endParaRPr lang="en-US" altLang="zh-TW" dirty="0">
              <a:solidFill>
                <a:srgbClr val="C00000"/>
              </a:solidFill>
            </a:endParaRPr>
          </a:p>
          <a:p>
            <a:r>
              <a:rPr lang="zh-TW" altLang="en-US" dirty="0">
                <a:solidFill>
                  <a:srgbClr val="C00000"/>
                </a:solidFill>
              </a:rPr>
              <a:t>選擇</a:t>
            </a:r>
            <a:r>
              <a:rPr lang="zh-TW" altLang="en-US" dirty="0"/>
              <a:t>排序法：</a:t>
            </a:r>
            <a:r>
              <a:rPr lang="zh-TW" altLang="en-US" dirty="0">
                <a:solidFill>
                  <a:srgbClr val="C00000"/>
                </a:solidFill>
              </a:rPr>
              <a:t>一次到位</a:t>
            </a:r>
            <a:r>
              <a:rPr lang="en-US" altLang="zh-TW" dirty="0"/>
              <a:t>(</a:t>
            </a:r>
            <a:r>
              <a:rPr lang="zh-TW" altLang="en-US" dirty="0"/>
              <a:t>一次交換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掃描整個範圍內的資料，選擇最大值或最小值</a:t>
            </a:r>
            <a:endParaRPr lang="en-US" altLang="zh-TW" dirty="0"/>
          </a:p>
          <a:p>
            <a:pPr lvl="1"/>
            <a:r>
              <a:rPr lang="zh-TW" altLang="en-US" dirty="0"/>
              <a:t>選擇</a:t>
            </a:r>
            <a:r>
              <a:rPr lang="zh-TW" altLang="en-US" dirty="0">
                <a:solidFill>
                  <a:srgbClr val="C00000"/>
                </a:solidFill>
              </a:rPr>
              <a:t>最大值</a:t>
            </a:r>
            <a:r>
              <a:rPr lang="zh-TW" altLang="en-US" dirty="0"/>
              <a:t>，與</a:t>
            </a:r>
            <a:r>
              <a:rPr lang="zh-TW" altLang="en-US" dirty="0">
                <a:solidFill>
                  <a:srgbClr val="C00000"/>
                </a:solidFill>
              </a:rPr>
              <a:t>最右邊</a:t>
            </a:r>
            <a:r>
              <a:rPr lang="zh-TW" altLang="en-US" dirty="0"/>
              <a:t>元素交換</a:t>
            </a:r>
            <a:endParaRPr lang="en-US" altLang="zh-TW" dirty="0"/>
          </a:p>
          <a:p>
            <a:pPr lvl="1"/>
            <a:r>
              <a:rPr lang="zh-TW" altLang="en-US" dirty="0"/>
              <a:t>選擇</a:t>
            </a:r>
            <a:r>
              <a:rPr lang="zh-TW" altLang="en-US" dirty="0">
                <a:solidFill>
                  <a:srgbClr val="C00000"/>
                </a:solidFill>
              </a:rPr>
              <a:t>最小值</a:t>
            </a:r>
            <a:r>
              <a:rPr lang="zh-TW" altLang="en-US" dirty="0"/>
              <a:t>，與</a:t>
            </a:r>
            <a:r>
              <a:rPr lang="zh-TW" altLang="en-US" dirty="0">
                <a:solidFill>
                  <a:srgbClr val="C00000"/>
                </a:solidFill>
              </a:rPr>
              <a:t>最左邊</a:t>
            </a:r>
            <a:r>
              <a:rPr lang="zh-TW" altLang="en-US" dirty="0"/>
              <a:t>元素交換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335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選擇排序法 </a:t>
            </a:r>
            <a:r>
              <a:rPr lang="en-US" altLang="zh-TW" dirty="0"/>
              <a:t>Selection Sort (2/7)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選擇</a:t>
            </a:r>
            <a:r>
              <a:rPr lang="zh-TW" altLang="en-US" dirty="0">
                <a:solidFill>
                  <a:srgbClr val="C00000"/>
                </a:solidFill>
              </a:rPr>
              <a:t>最大值</a:t>
            </a:r>
            <a:r>
              <a:rPr lang="zh-TW" altLang="en-US" dirty="0"/>
              <a:t>，與</a:t>
            </a:r>
            <a:r>
              <a:rPr lang="zh-TW" altLang="en-US" dirty="0">
                <a:solidFill>
                  <a:srgbClr val="C00000"/>
                </a:solidFill>
              </a:rPr>
              <a:t>最右邊</a:t>
            </a:r>
            <a:r>
              <a:rPr lang="zh-TW" altLang="en-US" dirty="0"/>
              <a:t>元素交換 </a:t>
            </a:r>
            <a:r>
              <a:rPr lang="en-US" altLang="zh-TW" dirty="0"/>
              <a:t>(</a:t>
            </a:r>
            <a:r>
              <a:rPr lang="zh-TW" altLang="en-US" dirty="0"/>
              <a:t>一次到位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26876" y="210436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32634" y="260180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29766" y="309924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635524" y="3579430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632634" y="405959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638392" y="4531158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635524" y="501134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641282" y="5491534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638414" y="5954470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橢圓 15"/>
          <p:cNvSpPr/>
          <p:nvPr/>
        </p:nvSpPr>
        <p:spPr>
          <a:xfrm>
            <a:off x="3329797" y="2087592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1299714" y="2585049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4695647" y="3091131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3329796" y="3574211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2656935" y="4057288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1299714" y="4531737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618227" y="4997557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1308339" y="5495014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310551" y="258340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11729" y="310140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11729" y="358161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315124" y="406714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315124" y="453872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314605" y="499663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314605" y="546821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15124" y="594185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44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選擇排序法 </a:t>
            </a:r>
            <a:r>
              <a:rPr lang="en-US" altLang="zh-TW" dirty="0"/>
              <a:t>Selection Sort (3/7)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選擇</a:t>
            </a:r>
            <a:r>
              <a:rPr lang="zh-TW" altLang="en-US" dirty="0">
                <a:solidFill>
                  <a:srgbClr val="C00000"/>
                </a:solidFill>
              </a:rPr>
              <a:t>最小值</a:t>
            </a:r>
            <a:r>
              <a:rPr lang="zh-TW" altLang="en-US" dirty="0"/>
              <a:t>，與</a:t>
            </a:r>
            <a:r>
              <a:rPr lang="zh-TW" altLang="en-US" dirty="0">
                <a:solidFill>
                  <a:srgbClr val="C00000"/>
                </a:solidFill>
              </a:rPr>
              <a:t>最左邊</a:t>
            </a:r>
            <a:r>
              <a:rPr lang="zh-TW" altLang="en-US" dirty="0"/>
              <a:t>元素交換 </a:t>
            </a:r>
            <a:r>
              <a:rPr lang="en-US" altLang="zh-TW" dirty="0"/>
              <a:t>(</a:t>
            </a:r>
            <a:r>
              <a:rPr lang="zh-TW" altLang="en-US" dirty="0"/>
              <a:t>一次到位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26876" y="210436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32634" y="260180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29766" y="309924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635524" y="3579430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632634" y="405959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638392" y="4531158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635524" y="501134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641282" y="5491534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638414" y="5954470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橢圓 15"/>
          <p:cNvSpPr/>
          <p:nvPr/>
        </p:nvSpPr>
        <p:spPr>
          <a:xfrm>
            <a:off x="5374255" y="2080796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5374254" y="2573577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5374252" y="3087823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5374252" y="3561967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5374256" y="4057288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3334130" y="4530870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3342778" y="5002144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3334129" y="5481846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7116792" y="5924603"/>
            <a:ext cx="1467068" cy="400110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具有穩定性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310551" y="258340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11729" y="310140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11729" y="358161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315124" y="406714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315124" y="453872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314605" y="499663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314605" y="546821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15124" y="594185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3344919" y="5943855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乘號 33"/>
          <p:cNvSpPr/>
          <p:nvPr/>
        </p:nvSpPr>
        <p:spPr>
          <a:xfrm>
            <a:off x="7253960" y="5547910"/>
            <a:ext cx="1188000" cy="1188000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464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0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0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 animBg="1"/>
      <p:bldP spid="3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選擇排序法 </a:t>
            </a:r>
            <a:r>
              <a:rPr lang="en-US" altLang="zh-TW" dirty="0"/>
              <a:t>Selection Sort (4/7)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選擇</a:t>
            </a:r>
            <a:r>
              <a:rPr lang="zh-TW" altLang="en-US" dirty="0">
                <a:solidFill>
                  <a:srgbClr val="C00000"/>
                </a:solidFill>
              </a:rPr>
              <a:t>最</a:t>
            </a:r>
            <a:r>
              <a:rPr lang="zh-TW" altLang="en-US" dirty="0">
                <a:solidFill>
                  <a:srgbClr val="0000FF"/>
                </a:solidFill>
              </a:rPr>
              <a:t>大</a:t>
            </a:r>
            <a:r>
              <a:rPr lang="zh-TW" altLang="en-US" dirty="0">
                <a:solidFill>
                  <a:srgbClr val="C00000"/>
                </a:solidFill>
              </a:rPr>
              <a:t>值</a:t>
            </a:r>
            <a:r>
              <a:rPr lang="zh-TW" altLang="en-US" dirty="0"/>
              <a:t>，與</a:t>
            </a:r>
            <a:r>
              <a:rPr lang="zh-TW" altLang="en-US" dirty="0">
                <a:solidFill>
                  <a:srgbClr val="C00000"/>
                </a:solidFill>
              </a:rPr>
              <a:t>最</a:t>
            </a:r>
            <a:r>
              <a:rPr lang="zh-TW" altLang="en-US" dirty="0">
                <a:solidFill>
                  <a:srgbClr val="0000FF"/>
                </a:solidFill>
              </a:rPr>
              <a:t>右</a:t>
            </a:r>
            <a:r>
              <a:rPr lang="zh-TW" altLang="en-US" dirty="0">
                <a:solidFill>
                  <a:srgbClr val="C00000"/>
                </a:solidFill>
              </a:rPr>
              <a:t>邊</a:t>
            </a:r>
            <a:r>
              <a:rPr lang="zh-TW" altLang="en-US" dirty="0"/>
              <a:t>元素交換 </a:t>
            </a:r>
            <a:r>
              <a:rPr lang="en-US" altLang="zh-TW" dirty="0"/>
              <a:t>(</a:t>
            </a:r>
            <a:r>
              <a:rPr lang="zh-TW" altLang="en-US" dirty="0"/>
              <a:t>一次到位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26876" y="210436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32634" y="260180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29766" y="309924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635524" y="3579430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632634" y="405959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638392" y="4531158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635524" y="501134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641282" y="5491534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638414" y="5954470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橢圓 15"/>
          <p:cNvSpPr/>
          <p:nvPr/>
        </p:nvSpPr>
        <p:spPr>
          <a:xfrm>
            <a:off x="5374255" y="2080796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5374254" y="2573577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1299713" y="3106806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1298398" y="3561879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1301128" y="4033718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3334130" y="4530870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3342778" y="5002144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3334129" y="5481846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7116792" y="5924603"/>
            <a:ext cx="1723549" cy="400110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不具有穩定性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310551" y="258340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11729" y="310140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11729" y="358161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315124" y="406714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315124" y="453872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314605" y="499663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314605" y="546821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15124" y="594185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3344919" y="5943855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586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選擇排序法 </a:t>
            </a:r>
            <a:r>
              <a:rPr lang="en-US" altLang="zh-TW" dirty="0"/>
              <a:t>Selection Sort (5/7)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選擇</a:t>
            </a:r>
            <a:r>
              <a:rPr lang="zh-TW" altLang="en-US" dirty="0">
                <a:solidFill>
                  <a:srgbClr val="C00000"/>
                </a:solidFill>
              </a:rPr>
              <a:t>最小值</a:t>
            </a:r>
            <a:r>
              <a:rPr lang="zh-TW" altLang="en-US" dirty="0"/>
              <a:t>，與</a:t>
            </a:r>
            <a:r>
              <a:rPr lang="zh-TW" altLang="en-US" dirty="0">
                <a:solidFill>
                  <a:srgbClr val="C00000"/>
                </a:solidFill>
              </a:rPr>
              <a:t>最左邊</a:t>
            </a:r>
            <a:r>
              <a:rPr lang="zh-TW" altLang="en-US" dirty="0"/>
              <a:t>元素交換 </a:t>
            </a:r>
            <a:r>
              <a:rPr lang="en-US" altLang="zh-TW" dirty="0"/>
              <a:t>(</a:t>
            </a:r>
            <a:r>
              <a:rPr lang="zh-TW" altLang="en-US" dirty="0"/>
              <a:t>一次到位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Best case: 1, 2, 3, 4, 5, 6</a:t>
            </a:r>
          </a:p>
          <a:p>
            <a:pPr lvl="1"/>
            <a:endParaRPr lang="en-US" altLang="zh-TW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69018" y="2380950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69018" y="2964671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772010" y="3559895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772010" y="4143616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769134" y="4730212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769134" y="5313933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457244" y="2966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58422" y="35705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58422" y="41369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53191" y="47260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53191" y="5309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155765" y="2966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156943" y="35705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5156943" y="41369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151712" y="47260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151712" y="5309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007531" y="2966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08709" y="35705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008709" y="41369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003478" y="47260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008709" y="5309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959351" y="236816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比較</a:t>
            </a:r>
          </a:p>
        </p:txBody>
      </p:sp>
      <p:sp>
        <p:nvSpPr>
          <p:cNvPr id="29" name="文字方塊 28"/>
          <p:cNvSpPr txBox="1"/>
          <p:nvPr/>
        </p:nvSpPr>
        <p:spPr>
          <a:xfrm>
            <a:off x="6567081" y="2368162"/>
            <a:ext cx="1152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設定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Min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092823" y="586226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008709" y="5862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8203692" y="2966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8204870" y="35705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8204870" y="41369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8199639" y="47260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8199639" y="5309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7763242" y="2368162"/>
            <a:ext cx="1152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更新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Min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8204870" y="5862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5979914" y="2966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5981092" y="35705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5981092" y="41369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5975861" y="47260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5975861" y="5309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5783500" y="236816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交換</a:t>
            </a:r>
          </a:p>
        </p:txBody>
      </p:sp>
      <p:sp>
        <p:nvSpPr>
          <p:cNvPr id="45" name="文字方塊 44"/>
          <p:cNvSpPr txBox="1"/>
          <p:nvPr/>
        </p:nvSpPr>
        <p:spPr>
          <a:xfrm>
            <a:off x="5975860" y="5862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548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000"/>
                            </p:stCondLst>
                            <p:childTnLst>
                              <p:par>
                                <p:cTn id="1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500"/>
                            </p:stCondLst>
                            <p:childTnLst>
                              <p:par>
                                <p:cTn id="1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8" grpId="0"/>
      <p:bldP spid="39" grpId="0"/>
      <p:bldP spid="40" grpId="0"/>
      <p:bldP spid="41" grpId="0"/>
      <p:bldP spid="42" grpId="0"/>
      <p:bldP spid="43" grpId="0"/>
      <p:bldP spid="4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選擇排序法 </a:t>
            </a:r>
            <a:r>
              <a:rPr lang="en-US" altLang="zh-TW" dirty="0"/>
              <a:t>Selection Sort (6/7)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選擇</a:t>
            </a:r>
            <a:r>
              <a:rPr lang="zh-TW" altLang="en-US" dirty="0">
                <a:solidFill>
                  <a:srgbClr val="C00000"/>
                </a:solidFill>
              </a:rPr>
              <a:t>最小值</a:t>
            </a:r>
            <a:r>
              <a:rPr lang="zh-TW" altLang="en-US" dirty="0"/>
              <a:t>，與</a:t>
            </a:r>
            <a:r>
              <a:rPr lang="zh-TW" altLang="en-US" dirty="0">
                <a:solidFill>
                  <a:srgbClr val="C00000"/>
                </a:solidFill>
              </a:rPr>
              <a:t>最左邊</a:t>
            </a:r>
            <a:r>
              <a:rPr lang="zh-TW" altLang="en-US" dirty="0"/>
              <a:t>元素交換 </a:t>
            </a:r>
            <a:r>
              <a:rPr lang="en-US" altLang="zh-TW" dirty="0"/>
              <a:t>(</a:t>
            </a:r>
            <a:r>
              <a:rPr lang="zh-TW" altLang="en-US" dirty="0"/>
              <a:t>一次到位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Worst case: 6, 5, 4, 3, 2, 1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769018" y="2380950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9018" y="2964671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772010" y="3559895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772010" y="4143616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/>
        </p:nvGraphicFramePr>
        <p:xfrm>
          <a:off x="769134" y="4730212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769134" y="5313933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文字方塊 37"/>
          <p:cNvSpPr txBox="1"/>
          <p:nvPr/>
        </p:nvSpPr>
        <p:spPr>
          <a:xfrm>
            <a:off x="457244" y="2966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458422" y="35705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458422" y="41369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53191" y="47260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453191" y="5309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5155765" y="2966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5156943" y="35705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156943" y="41369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5151712" y="47260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5151712" y="5309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7007531" y="2966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7008709" y="35705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7008709" y="41369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7003478" y="47260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7008709" y="5309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4959351" y="236816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比較</a:t>
            </a:r>
          </a:p>
        </p:txBody>
      </p:sp>
      <p:sp>
        <p:nvSpPr>
          <p:cNvPr id="54" name="文字方塊 53"/>
          <p:cNvSpPr txBox="1"/>
          <p:nvPr/>
        </p:nvSpPr>
        <p:spPr>
          <a:xfrm>
            <a:off x="6567081" y="2368162"/>
            <a:ext cx="1152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設定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Min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5092823" y="586226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7008709" y="5862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8203692" y="2966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8204870" y="35705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8204870" y="41369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8199639" y="47260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8199639" y="5309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7763242" y="2368162"/>
            <a:ext cx="1152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更新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Min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8204870" y="5862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5979914" y="2966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5981092" y="35705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5981092" y="41369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5975861" y="47260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5975861" y="5309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5783500" y="236816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交換</a:t>
            </a:r>
          </a:p>
        </p:txBody>
      </p:sp>
      <p:sp>
        <p:nvSpPr>
          <p:cNvPr id="70" name="文字方塊 69"/>
          <p:cNvSpPr txBox="1"/>
          <p:nvPr/>
        </p:nvSpPr>
        <p:spPr>
          <a:xfrm>
            <a:off x="5975860" y="5862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99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000"/>
                            </p:stCondLst>
                            <p:childTnLst>
                              <p:par>
                                <p:cTn id="1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500"/>
                            </p:stCondLst>
                            <p:childTnLst>
                              <p:par>
                                <p:cTn id="1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3" grpId="0"/>
      <p:bldP spid="64" grpId="0"/>
      <p:bldP spid="65" grpId="0"/>
      <p:bldP spid="66" grpId="0"/>
      <p:bldP spid="67" grpId="0"/>
      <p:bldP spid="68" grpId="0"/>
      <p:bldP spid="7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選擇排序法 </a:t>
            </a:r>
            <a:r>
              <a:rPr lang="en-US" altLang="zh-TW" dirty="0"/>
              <a:t>Selection Sort (7/7)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選擇</a:t>
            </a:r>
            <a:r>
              <a:rPr lang="zh-TW" altLang="en-US" dirty="0">
                <a:solidFill>
                  <a:srgbClr val="C00000"/>
                </a:solidFill>
              </a:rPr>
              <a:t>最小值</a:t>
            </a:r>
            <a:r>
              <a:rPr lang="zh-TW" altLang="en-US" dirty="0"/>
              <a:t>，與</a:t>
            </a:r>
            <a:r>
              <a:rPr lang="zh-TW" altLang="en-US" dirty="0">
                <a:solidFill>
                  <a:srgbClr val="C00000"/>
                </a:solidFill>
              </a:rPr>
              <a:t>最左邊</a:t>
            </a:r>
            <a:r>
              <a:rPr lang="zh-TW" altLang="en-US" dirty="0"/>
              <a:t>元素交換 </a:t>
            </a:r>
            <a:r>
              <a:rPr lang="en-US" altLang="zh-TW" dirty="0"/>
              <a:t>(</a:t>
            </a:r>
            <a:r>
              <a:rPr lang="zh-TW" altLang="en-US" dirty="0"/>
              <a:t>一次到位</a:t>
            </a:r>
            <a:r>
              <a:rPr lang="en-US" altLang="zh-TW" dirty="0"/>
              <a:t>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  <p:cxnSp>
        <p:nvCxnSpPr>
          <p:cNvPr id="9" name="直線接點 8"/>
          <p:cNvCxnSpPr/>
          <p:nvPr/>
        </p:nvCxnSpPr>
        <p:spPr>
          <a:xfrm>
            <a:off x="570442" y="1710169"/>
            <a:ext cx="1368000" cy="0"/>
          </a:xfrm>
          <a:prstGeom prst="line">
            <a:avLst/>
          </a:prstGeom>
          <a:ln w="28575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525797" y="2268807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11"/>
              <p:cNvGraphicFramePr>
                <a:graphicFrameLocks noGrp="1"/>
              </p:cNvGraphicFramePr>
              <p:nvPr/>
            </p:nvGraphicFramePr>
            <p:xfrm>
              <a:off x="718430" y="2915249"/>
              <a:ext cx="7587298" cy="3443669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3115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7869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25861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 rowSpan="2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比較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交換 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zh-TW" altLang="en-US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設定最小值 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+</a:t>
                          </a:r>
                          <a:r>
                            <a:rPr lang="zh-TW" altLang="en-US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更新最小值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best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worst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best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worst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 + 1 + 0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i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 + 1 + (</a:t>
                          </a:r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1)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 + 1 + 0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i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 + 1 + (</a:t>
                          </a:r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2)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3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3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3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 + 1 + 0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i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 + 1 + (</a:t>
                          </a:r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3)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</a:t>
                          </a:r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 + 1 + 0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 + 1 + (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1)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Total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2(</a:t>
                          </a:r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1)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𝟒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)(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1049993"/>
                  </p:ext>
                </p:extLst>
              </p:nvPr>
            </p:nvGraphicFramePr>
            <p:xfrm>
              <a:off x="718430" y="2915249"/>
              <a:ext cx="7587298" cy="3443669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3115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7869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25861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96240">
                    <a:tc rowSpan="2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比較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交換 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zh-TW" altLang="en-US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設定</a:t>
                          </a:r>
                          <a:r>
                            <a:rPr lang="zh-TW" altLang="en-US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最小值 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+</a:t>
                          </a:r>
                          <a:r>
                            <a:rPr lang="zh-TW" altLang="en-US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更新最小值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best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worst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best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worst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</a:t>
                          </a:r>
                          <a:endParaRPr lang="zh-TW" altLang="en-US" sz="2000" b="1" dirty="0" smtClean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 + 1 + 0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i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 + 1 + (</a:t>
                          </a:r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1)</a:t>
                          </a:r>
                          <a:endParaRPr lang="zh-TW" altLang="en-US" sz="2000" b="1" dirty="0" smtClean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 + 1 + 0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i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 + 1 + (</a:t>
                          </a:r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2)</a:t>
                          </a:r>
                          <a:endParaRPr lang="zh-TW" altLang="en-US" sz="2000" b="1" dirty="0" smtClean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3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3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3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 + 1 + 0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i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 + 1 + (</a:t>
                          </a:r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3)</a:t>
                          </a:r>
                          <a:endParaRPr lang="zh-TW" altLang="en-US" sz="2000" b="1" dirty="0" smtClean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</a:t>
                          </a:r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 + 1 + 0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 + 1 + (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1)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6699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Total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7463" t="-419091" r="-413930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8500" t="-419091" r="-316000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2(</a:t>
                          </a:r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1)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36119" t="-419091" r="-539" b="-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文字方塊 12"/>
          <p:cNvSpPr txBox="1"/>
          <p:nvPr/>
        </p:nvSpPr>
        <p:spPr>
          <a:xfrm>
            <a:off x="8350371" y="5829809"/>
            <a:ext cx="7809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165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插入排序法 </a:t>
            </a:r>
            <a:r>
              <a:rPr lang="en-US" altLang="zh-TW" dirty="0"/>
              <a:t>Insertion Sort (1/6)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整理撲克牌：每拿到一張，就放至適當的位置 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12" name="群組 11"/>
          <p:cNvGrpSpPr/>
          <p:nvPr/>
        </p:nvGrpSpPr>
        <p:grpSpPr>
          <a:xfrm>
            <a:off x="1125722" y="2932980"/>
            <a:ext cx="1595887" cy="2389517"/>
            <a:chOff x="625414" y="2932980"/>
            <a:chExt cx="1595887" cy="2389517"/>
          </a:xfrm>
        </p:grpSpPr>
        <p:sp>
          <p:nvSpPr>
            <p:cNvPr id="7" name="矩形 6"/>
            <p:cNvSpPr/>
            <p:nvPr/>
          </p:nvSpPr>
          <p:spPr>
            <a:xfrm>
              <a:off x="625414" y="2932980"/>
              <a:ext cx="1595887" cy="23895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625414" y="2932980"/>
              <a:ext cx="348172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  <a:p>
              <a:r>
                <a:rPr lang="zh-TW" altLang="en-US" sz="2400" b="1" dirty="0"/>
                <a:t>♠</a:t>
              </a:r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1545536" y="2932965"/>
            <a:ext cx="1595887" cy="2389532"/>
            <a:chOff x="984846" y="2932965"/>
            <a:chExt cx="1595887" cy="2389532"/>
          </a:xfrm>
        </p:grpSpPr>
        <p:sp>
          <p:nvSpPr>
            <p:cNvPr id="8" name="矩形 7"/>
            <p:cNvSpPr/>
            <p:nvPr/>
          </p:nvSpPr>
          <p:spPr>
            <a:xfrm>
              <a:off x="984846" y="2932980"/>
              <a:ext cx="1595887" cy="23895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990357" y="2932965"/>
              <a:ext cx="348172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  <a:p>
              <a:r>
                <a:rPr lang="zh-TW" altLang="en-US" sz="2400" b="1" dirty="0"/>
                <a:t>♠</a:t>
              </a: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937915" y="2932965"/>
            <a:ext cx="1595887" cy="2389532"/>
            <a:chOff x="984846" y="2932965"/>
            <a:chExt cx="1595887" cy="2389532"/>
          </a:xfrm>
        </p:grpSpPr>
        <p:sp>
          <p:nvSpPr>
            <p:cNvPr id="15" name="矩形 14"/>
            <p:cNvSpPr/>
            <p:nvPr/>
          </p:nvSpPr>
          <p:spPr>
            <a:xfrm>
              <a:off x="984846" y="2932980"/>
              <a:ext cx="1595887" cy="23895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990357" y="2932965"/>
              <a:ext cx="348172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</a:p>
            <a:p>
              <a:r>
                <a:rPr lang="zh-TW" altLang="en-US" sz="2400" b="1" dirty="0"/>
                <a:t>♠</a:t>
              </a: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2351980" y="2932980"/>
            <a:ext cx="1595887" cy="2389532"/>
            <a:chOff x="984846" y="2932965"/>
            <a:chExt cx="1595887" cy="2389532"/>
          </a:xfrm>
        </p:grpSpPr>
        <p:sp>
          <p:nvSpPr>
            <p:cNvPr id="18" name="矩形 17"/>
            <p:cNvSpPr/>
            <p:nvPr/>
          </p:nvSpPr>
          <p:spPr>
            <a:xfrm>
              <a:off x="984846" y="2932980"/>
              <a:ext cx="1595887" cy="23895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990357" y="2932965"/>
              <a:ext cx="348172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</a:p>
            <a:p>
              <a:r>
                <a:rPr lang="zh-TW" altLang="en-US" sz="2400" b="1" dirty="0"/>
                <a:t>♠</a:t>
              </a: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2757419" y="2932995"/>
            <a:ext cx="1595887" cy="2389532"/>
            <a:chOff x="984846" y="2932965"/>
            <a:chExt cx="1595887" cy="2389532"/>
          </a:xfrm>
        </p:grpSpPr>
        <p:sp>
          <p:nvSpPr>
            <p:cNvPr id="21" name="矩形 20"/>
            <p:cNvSpPr/>
            <p:nvPr/>
          </p:nvSpPr>
          <p:spPr>
            <a:xfrm>
              <a:off x="984846" y="2932980"/>
              <a:ext cx="1595887" cy="23895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990357" y="2932965"/>
              <a:ext cx="423514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  <a:p>
              <a:r>
                <a:rPr lang="zh-TW" altLang="en-US" sz="2400" b="1" dirty="0"/>
                <a:t>♠</a:t>
              </a:r>
            </a:p>
          </p:txBody>
        </p:sp>
      </p:grpSp>
      <p:grpSp>
        <p:nvGrpSpPr>
          <p:cNvPr id="31" name="群組 30"/>
          <p:cNvGrpSpPr/>
          <p:nvPr/>
        </p:nvGrpSpPr>
        <p:grpSpPr>
          <a:xfrm>
            <a:off x="3186444" y="2932965"/>
            <a:ext cx="1595887" cy="2389532"/>
            <a:chOff x="2686136" y="2932965"/>
            <a:chExt cx="1595887" cy="2389532"/>
          </a:xfrm>
        </p:grpSpPr>
        <p:grpSp>
          <p:nvGrpSpPr>
            <p:cNvPr id="23" name="群組 22"/>
            <p:cNvGrpSpPr/>
            <p:nvPr/>
          </p:nvGrpSpPr>
          <p:grpSpPr>
            <a:xfrm>
              <a:off x="2686136" y="2932965"/>
              <a:ext cx="1595887" cy="2389532"/>
              <a:chOff x="984846" y="2932965"/>
              <a:chExt cx="1595887" cy="2389532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984846" y="2932980"/>
                <a:ext cx="1595887" cy="238951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990357" y="2932965"/>
                <a:ext cx="407484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  <a:p>
                <a:r>
                  <a:rPr lang="zh-TW" altLang="en-US" sz="2400" b="1" dirty="0"/>
                  <a:t>♠</a:t>
                </a:r>
              </a:p>
            </p:txBody>
          </p:sp>
        </p:grpSp>
        <p:sp>
          <p:nvSpPr>
            <p:cNvPr id="26" name="矩形 25"/>
            <p:cNvSpPr/>
            <p:nvPr/>
          </p:nvSpPr>
          <p:spPr>
            <a:xfrm>
              <a:off x="3055054" y="3239396"/>
              <a:ext cx="838691" cy="156966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9600" b="1" dirty="0"/>
                <a:t>♠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3852998" y="4491500"/>
              <a:ext cx="407484" cy="830997"/>
            </a:xfrm>
            <a:prstGeom prst="rect">
              <a:avLst/>
            </a:prstGeom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wrap="none">
              <a:spAutoFit/>
            </a:bodyPr>
            <a:lstStyle/>
            <a:p>
              <a:r>
                <a: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  <a:p>
              <a:r>
                <a:rPr lang="zh-TW" altLang="en-US" sz="2400" b="1" dirty="0"/>
                <a:t>♠</a:t>
              </a: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6144753" y="2932965"/>
            <a:ext cx="1595887" cy="2389532"/>
            <a:chOff x="6144753" y="2932965"/>
            <a:chExt cx="1595887" cy="2389532"/>
          </a:xfrm>
        </p:grpSpPr>
        <p:grpSp>
          <p:nvGrpSpPr>
            <p:cNvPr id="27" name="群組 26"/>
            <p:cNvGrpSpPr/>
            <p:nvPr/>
          </p:nvGrpSpPr>
          <p:grpSpPr>
            <a:xfrm>
              <a:off x="6144753" y="2932965"/>
              <a:ext cx="1595887" cy="2389532"/>
              <a:chOff x="984846" y="2932965"/>
              <a:chExt cx="1595887" cy="2389532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984846" y="2932980"/>
                <a:ext cx="1595887" cy="238951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990357" y="2932965"/>
                <a:ext cx="34817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  <a:p>
                <a:r>
                  <a:rPr lang="zh-TW" altLang="en-US" sz="2400" b="1" dirty="0"/>
                  <a:t>♠</a:t>
                </a:r>
              </a:p>
            </p:txBody>
          </p:sp>
        </p:grpSp>
        <p:sp>
          <p:nvSpPr>
            <p:cNvPr id="32" name="矩形 31"/>
            <p:cNvSpPr/>
            <p:nvPr/>
          </p:nvSpPr>
          <p:spPr>
            <a:xfrm>
              <a:off x="6628949" y="3094183"/>
              <a:ext cx="553357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5400" b="1" dirty="0"/>
                <a:t>♠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6630132" y="3642306"/>
              <a:ext cx="553357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5400" b="1" dirty="0"/>
                <a:t>♠</a:t>
              </a:r>
            </a:p>
          </p:txBody>
        </p:sp>
        <p:sp>
          <p:nvSpPr>
            <p:cNvPr id="34" name="矩形 33"/>
            <p:cNvSpPr/>
            <p:nvPr/>
          </p:nvSpPr>
          <p:spPr>
            <a:xfrm>
              <a:off x="6741346" y="4224891"/>
              <a:ext cx="553357" cy="923330"/>
            </a:xfrm>
            <a:prstGeom prst="rect">
              <a:avLst/>
            </a:prstGeom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wrap="none">
              <a:spAutoFit/>
            </a:bodyPr>
            <a:lstStyle/>
            <a:p>
              <a:r>
                <a:rPr lang="zh-TW" altLang="en-US" sz="5400" b="1" dirty="0"/>
                <a:t>♠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7392468" y="4491499"/>
              <a:ext cx="348172" cy="830997"/>
            </a:xfrm>
            <a:prstGeom prst="rect">
              <a:avLst/>
            </a:prstGeom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wrap="none">
              <a:spAutoFit/>
            </a:bodyPr>
            <a:lstStyle/>
            <a:p>
              <a:r>
                <a: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  <a:p>
              <a:r>
                <a:rPr lang="zh-TW" altLang="en-US" sz="2400" b="1" dirty="0"/>
                <a:t>♠</a:t>
              </a:r>
            </a:p>
          </p:txBody>
        </p:sp>
      </p:grpSp>
      <p:cxnSp>
        <p:nvCxnSpPr>
          <p:cNvPr id="38" name="肘形接點 37"/>
          <p:cNvCxnSpPr/>
          <p:nvPr/>
        </p:nvCxnSpPr>
        <p:spPr>
          <a:xfrm rot="16200000" flipV="1">
            <a:off x="4241337" y="232979"/>
            <a:ext cx="12700" cy="5400000"/>
          </a:xfrm>
          <a:prstGeom prst="bentConnector3">
            <a:avLst>
              <a:gd name="adj1" fmla="val 1800000"/>
            </a:avLst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07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插入排序法 </a:t>
            </a:r>
            <a:r>
              <a:rPr lang="en-US" altLang="zh-TW" dirty="0"/>
              <a:t>Insertion Sort (2/6)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整理撲克牌：每拿到一張，就放至適當的位置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26876" y="192497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32634" y="242241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29766" y="309924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635524" y="3579430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632634" y="405959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638392" y="4531158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635524" y="501134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641282" y="5491534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638414" y="5954470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橢圓 15"/>
          <p:cNvSpPr/>
          <p:nvPr/>
        </p:nvSpPr>
        <p:spPr>
          <a:xfrm>
            <a:off x="1302589" y="1916832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1984076" y="2397036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2665563" y="3088253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3347050" y="3581394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4028537" y="4058719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4701398" y="4527425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5374259" y="5024881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6055746" y="5482074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/>
          <p:cNvCxnSpPr/>
          <p:nvPr/>
        </p:nvCxnSpPr>
        <p:spPr>
          <a:xfrm>
            <a:off x="1302589" y="1916832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1989828" y="2424352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2656937" y="3089690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3344175" y="3581394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4017035" y="4058719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4704274" y="4531735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5371383" y="5009061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6058621" y="5492139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310551" y="240401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11729" y="310140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11729" y="358161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315124" y="406714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315124" y="453872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314605" y="499663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314605" y="546821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15124" y="594185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肘形接點 40"/>
          <p:cNvCxnSpPr/>
          <p:nvPr/>
        </p:nvCxnSpPr>
        <p:spPr>
          <a:xfrm rot="5400000">
            <a:off x="2034867" y="2519778"/>
            <a:ext cx="36000" cy="576000"/>
          </a:xfrm>
          <a:prstGeom prst="bentConnector3">
            <a:avLst>
              <a:gd name="adj1" fmla="val 517728"/>
            </a:avLst>
          </a:prstGeom>
          <a:ln w="28575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肘形接點 48"/>
          <p:cNvCxnSpPr/>
          <p:nvPr/>
        </p:nvCxnSpPr>
        <p:spPr>
          <a:xfrm rot="5400000">
            <a:off x="1284589" y="2515916"/>
            <a:ext cx="36000" cy="576000"/>
          </a:xfrm>
          <a:prstGeom prst="bentConnector3">
            <a:avLst>
              <a:gd name="adj1" fmla="val 517728"/>
            </a:avLst>
          </a:prstGeom>
          <a:ln w="28575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595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插入排序法 </a:t>
            </a:r>
            <a:r>
              <a:rPr lang="en-US" altLang="zh-TW" dirty="0"/>
              <a:t>Insertion Sort (3/6)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整理撲克牌：每拿到一張，就放至適當的位置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26876" y="192497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32634" y="242241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29766" y="309924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635524" y="3579430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632634" y="405959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638392" y="4531158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635524" y="501134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641282" y="5491534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638414" y="5954470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橢圓 15"/>
          <p:cNvSpPr/>
          <p:nvPr/>
        </p:nvSpPr>
        <p:spPr>
          <a:xfrm>
            <a:off x="3339888" y="1916786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3328575" y="2403761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3339888" y="3094641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3347050" y="3581394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2672180" y="4053535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3347050" y="4521956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3328575" y="4991305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3347050" y="5481846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/>
          <p:cNvCxnSpPr/>
          <p:nvPr/>
        </p:nvCxnSpPr>
        <p:spPr>
          <a:xfrm>
            <a:off x="1302589" y="1916832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1989828" y="2424352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2656937" y="3089690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3344175" y="3581394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4017035" y="4058719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4704274" y="4531735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5371383" y="5009061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6058621" y="5492139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310551" y="240401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11729" y="310140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11729" y="358161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315124" y="406714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315124" y="453872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314605" y="499663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314605" y="546821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15124" y="594185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肘形接點 40"/>
          <p:cNvCxnSpPr/>
          <p:nvPr/>
        </p:nvCxnSpPr>
        <p:spPr>
          <a:xfrm rot="5400000">
            <a:off x="2034867" y="2519778"/>
            <a:ext cx="36000" cy="576000"/>
          </a:xfrm>
          <a:prstGeom prst="bentConnector3">
            <a:avLst>
              <a:gd name="adj1" fmla="val 517728"/>
            </a:avLst>
          </a:prstGeom>
          <a:ln w="28575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肘形接點 48"/>
          <p:cNvCxnSpPr/>
          <p:nvPr/>
        </p:nvCxnSpPr>
        <p:spPr>
          <a:xfrm rot="5400000">
            <a:off x="1284589" y="2515916"/>
            <a:ext cx="36000" cy="576000"/>
          </a:xfrm>
          <a:prstGeom prst="bentConnector3">
            <a:avLst>
              <a:gd name="adj1" fmla="val 517728"/>
            </a:avLst>
          </a:prstGeom>
          <a:ln w="28575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橢圓 41"/>
          <p:cNvSpPr/>
          <p:nvPr/>
        </p:nvSpPr>
        <p:spPr>
          <a:xfrm>
            <a:off x="3353667" y="5960883"/>
            <a:ext cx="681487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7116792" y="5924603"/>
            <a:ext cx="1467068" cy="400110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具有穩定性</a:t>
            </a:r>
          </a:p>
        </p:txBody>
      </p:sp>
    </p:spTree>
    <p:extLst>
      <p:ext uri="{BB962C8B-B14F-4D97-AF65-F5344CB8AC3E}">
        <p14:creationId xmlns:p14="http://schemas.microsoft.com/office/powerpoint/2010/main" val="216089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42" grpId="0" animBg="1"/>
      <p:bldP spid="4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插入排序法 </a:t>
            </a:r>
            <a:r>
              <a:rPr lang="en-US" altLang="zh-TW" dirty="0"/>
              <a:t>Insertion Sort (4/6)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整理撲克牌：每拿到一張，就放至適當的位置</a:t>
            </a:r>
            <a:endParaRPr lang="en-US" altLang="zh-TW" dirty="0"/>
          </a:p>
          <a:p>
            <a:pPr lvl="1"/>
            <a:r>
              <a:rPr lang="en-US" altLang="zh-TW" dirty="0"/>
              <a:t>Best case: 1, 2, 3, 4, 5, 6</a:t>
            </a:r>
          </a:p>
          <a:p>
            <a:pPr lvl="1"/>
            <a:endParaRPr lang="en-US" altLang="zh-TW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92000" y="2380950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692000" y="2964671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694992" y="3559895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694992" y="4143616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692116" y="4730212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692116" y="5313933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1380226" y="2966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381404" y="35705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1381404" y="41369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376173" y="47260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376173" y="5309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354779" y="296626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55957" y="35705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355957" y="41369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350726" y="47260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6350726" y="5309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154173" y="2966260"/>
            <a:ext cx="715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+ 0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155351" y="3570526"/>
            <a:ext cx="715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+ 0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155351" y="4136989"/>
            <a:ext cx="715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+ 0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150120" y="4726035"/>
            <a:ext cx="715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+ 0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150120" y="5309750"/>
            <a:ext cx="715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+ 0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158365" y="236816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比較</a:t>
            </a:r>
          </a:p>
        </p:txBody>
      </p:sp>
      <p:sp>
        <p:nvSpPr>
          <p:cNvPr id="29" name="文字方塊 28"/>
          <p:cNvSpPr txBox="1"/>
          <p:nvPr/>
        </p:nvSpPr>
        <p:spPr>
          <a:xfrm>
            <a:off x="7162989" y="236816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移動</a:t>
            </a:r>
          </a:p>
        </p:txBody>
      </p:sp>
      <p:sp>
        <p:nvSpPr>
          <p:cNvPr id="30" name="文字方塊 29"/>
          <p:cNvSpPr txBox="1"/>
          <p:nvPr/>
        </p:nvSpPr>
        <p:spPr>
          <a:xfrm>
            <a:off x="6350726" y="5862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287177" y="586226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圓角矩形圖說文字 31"/>
          <p:cNvSpPr/>
          <p:nvPr/>
        </p:nvSpPr>
        <p:spPr>
          <a:xfrm>
            <a:off x="6164862" y="1377934"/>
            <a:ext cx="2181757" cy="720080"/>
          </a:xfrm>
          <a:prstGeom prst="wedgeRoundRectCallout">
            <a:avLst>
              <a:gd name="adj1" fmla="val -161"/>
              <a:gd name="adj2" fmla="val 17833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先放到暫存空間，確定位置再放入</a:t>
            </a:r>
          </a:p>
        </p:txBody>
      </p:sp>
    </p:spTree>
    <p:extLst>
      <p:ext uri="{BB962C8B-B14F-4D97-AF65-F5344CB8AC3E}">
        <p14:creationId xmlns:p14="http://schemas.microsoft.com/office/powerpoint/2010/main" val="42998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30" grpId="0"/>
      <p:bldP spid="31" grpId="0"/>
      <p:bldP spid="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插入排序法 </a:t>
            </a:r>
            <a:r>
              <a:rPr lang="en-US" altLang="zh-TW" dirty="0"/>
              <a:t>Insertion Sort (5/6)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整理撲克牌：每拿到一張，就放至適當的位置</a:t>
            </a:r>
            <a:endParaRPr lang="en-US" altLang="zh-TW" dirty="0"/>
          </a:p>
          <a:p>
            <a:pPr lvl="1"/>
            <a:r>
              <a:rPr lang="en-US" altLang="zh-TW" dirty="0"/>
              <a:t>Worst case: 6, 5, 4, 3, 2, 1</a:t>
            </a:r>
          </a:p>
          <a:p>
            <a:pPr lvl="1"/>
            <a:endParaRPr lang="en-US" altLang="zh-TW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92000" y="2380950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692000" y="2964671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694992" y="3559895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694992" y="4143616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692116" y="4730212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692116" y="5313933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1380226" y="2966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381404" y="35705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1381404" y="41369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376173" y="47260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376173" y="5309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354779" y="296626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55957" y="35705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355957" y="41369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350726" y="47260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6350726" y="5309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154173" y="2966260"/>
            <a:ext cx="715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+ 1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155351" y="3570526"/>
            <a:ext cx="715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+ 2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155351" y="4136989"/>
            <a:ext cx="715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+ 3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150120" y="4726035"/>
            <a:ext cx="715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+ 4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150120" y="5309750"/>
            <a:ext cx="715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+ 5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158365" y="236816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比較</a:t>
            </a:r>
          </a:p>
        </p:txBody>
      </p:sp>
      <p:sp>
        <p:nvSpPr>
          <p:cNvPr id="29" name="文字方塊 28"/>
          <p:cNvSpPr txBox="1"/>
          <p:nvPr/>
        </p:nvSpPr>
        <p:spPr>
          <a:xfrm>
            <a:off x="7162989" y="236816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移動</a:t>
            </a:r>
          </a:p>
        </p:txBody>
      </p:sp>
      <p:sp>
        <p:nvSpPr>
          <p:cNvPr id="30" name="文字方塊 29"/>
          <p:cNvSpPr txBox="1"/>
          <p:nvPr/>
        </p:nvSpPr>
        <p:spPr>
          <a:xfrm>
            <a:off x="6291837" y="586226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287177" y="586226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400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30" grpId="0"/>
      <p:bldP spid="3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插入排序法 </a:t>
            </a:r>
            <a:r>
              <a:rPr lang="en-US" altLang="zh-TW" dirty="0"/>
              <a:t>Insertion Sort (6/6)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整理撲克牌：每拿到一張，就放至適當的位置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525797" y="2268807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11"/>
              <p:cNvGraphicFramePr>
                <a:graphicFrameLocks noGrp="1"/>
              </p:cNvGraphicFramePr>
              <p:nvPr/>
            </p:nvGraphicFramePr>
            <p:xfrm>
              <a:off x="1063507" y="2941129"/>
              <a:ext cx="6890068" cy="3443669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3115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92087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 rowSpan="2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比較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移動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best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worst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best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worst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b="1" i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i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 + 1</a:t>
                          </a:r>
                          <a:endParaRPr lang="zh-TW" altLang="en-US" sz="2000" b="1" i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b="1" i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 + 2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3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b="1" i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i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 + 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</a:t>
                          </a:r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 + (</a:t>
                          </a:r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1)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Total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1" i="1" smtClean="0">
                                    <a:latin typeface="Cambria Math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𝒏</m:t>
                                </m:r>
                                <m:r>
                                  <a:rPr lang="en-US" altLang="zh-TW" sz="2000" b="1" i="1" smtClean="0">
                                    <a:latin typeface="Cambria Math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−</m:t>
                                </m:r>
                                <m:r>
                                  <a:rPr lang="en-US" altLang="zh-TW" sz="2000" b="1" i="1" smtClean="0">
                                    <a:latin typeface="Cambria Math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2(</a:t>
                          </a:r>
                          <a:r>
                            <a:rPr lang="en-US" altLang="zh-TW" sz="2000" b="1" i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1)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𝟒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)(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altLang="zh-TW" sz="2000" b="1" i="1" smtClean="0">
                                        <a:latin typeface="Cambria Math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5125012"/>
                  </p:ext>
                </p:extLst>
              </p:nvPr>
            </p:nvGraphicFramePr>
            <p:xfrm>
              <a:off x="1063507" y="2941129"/>
              <a:ext cx="6890068" cy="3443669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311593"/>
                    <a:gridCol w="1219200"/>
                    <a:gridCol w="1219200"/>
                    <a:gridCol w="1219200"/>
                    <a:gridCol w="1920875"/>
                  </a:tblGrid>
                  <a:tr h="396240">
                    <a:tc rowSpan="2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比較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移動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 vMerge="1">
                      <a:txBody>
                        <a:bodyPr/>
                        <a:lstStyle/>
                        <a:p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best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worst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best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worst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b="1" i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b="1" dirty="0" smtClean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i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 + 1</a:t>
                          </a:r>
                          <a:endParaRPr lang="zh-TW" altLang="en-US" sz="2000" b="1" i="0" dirty="0" smtClean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b="1" i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 + 2</a:t>
                          </a:r>
                          <a:endParaRPr lang="zh-TW" altLang="en-US" sz="2000" b="1" dirty="0" smtClean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3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b="1" i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i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 + 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b="1" dirty="0" smtClean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Pass </a:t>
                          </a:r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 + (</a:t>
                          </a:r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1)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6699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Total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107500" t="-418182" r="-358000" b="-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206468" t="-418182" r="-256219" b="-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2(</a:t>
                          </a:r>
                          <a:r>
                            <a:rPr lang="en-US" altLang="zh-TW" sz="2000" b="1" i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0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– 1)</a:t>
                          </a:r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259048" t="-418182" b="-90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3" name="文字方塊 12"/>
          <p:cNvSpPr txBox="1"/>
          <p:nvPr/>
        </p:nvSpPr>
        <p:spPr>
          <a:xfrm>
            <a:off x="7970801" y="5829809"/>
            <a:ext cx="7809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26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合併排序法 </a:t>
            </a:r>
            <a:r>
              <a:rPr lang="en-US" altLang="zh-TW" dirty="0"/>
              <a:t>Merge Sort 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合併</a:t>
            </a:r>
            <a:r>
              <a:rPr lang="en-US" altLang="zh-TW" dirty="0"/>
              <a:t>(merge)</a:t>
            </a:r>
          </a:p>
          <a:p>
            <a:pPr lvl="1"/>
            <a:r>
              <a:rPr lang="zh-TW" altLang="en-US" dirty="0"/>
              <a:t>將兩個陣列合併成一個大陣列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59649" y="2829512"/>
          <a:ext cx="3386665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551023" y="3398855"/>
          <a:ext cx="4741331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60789" y="4479322"/>
          <a:ext cx="81519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9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9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9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9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9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9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9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9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767749" y="448571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429107" y="448571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067464" y="4485714"/>
            <a:ext cx="4269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731696" y="448571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413183" y="448571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086043" y="448571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758904" y="448571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423138" y="448571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130504" y="448571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803364" y="448571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467598" y="448571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8166336" y="448571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97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合併排序法 </a:t>
            </a:r>
            <a:r>
              <a:rPr lang="en-US" altLang="zh-TW" dirty="0"/>
              <a:t>Merge Sort 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不斷將資料切割成兩半，直到不能再切</a:t>
            </a:r>
            <a:r>
              <a:rPr lang="en-US" altLang="zh-TW" dirty="0"/>
              <a:t>(</a:t>
            </a:r>
            <a:r>
              <a:rPr lang="zh-TW" altLang="en-US" dirty="0"/>
              <a:t>只剩</a:t>
            </a:r>
            <a:r>
              <a:rPr lang="en-US" altLang="zh-TW" dirty="0"/>
              <a:t>1</a:t>
            </a:r>
            <a:r>
              <a:rPr lang="zh-TW" altLang="en-US" dirty="0"/>
              <a:t>筆資料</a:t>
            </a:r>
            <a:r>
              <a:rPr lang="en-US" altLang="zh-TW" dirty="0"/>
              <a:t>)</a:t>
            </a:r>
            <a:r>
              <a:rPr lang="zh-TW" altLang="en-US" dirty="0"/>
              <a:t>，再進行合併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26876" y="210436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32634" y="260180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FF993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rgbClr val="FF993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FF993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29766" y="3099242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FF993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635524" y="3579430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FF993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632634" y="405959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FF993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638392" y="4531158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FF993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635524" y="501134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FF993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641282" y="5491534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FF993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" name="直線接點 23"/>
          <p:cNvCxnSpPr/>
          <p:nvPr/>
        </p:nvCxnSpPr>
        <p:spPr>
          <a:xfrm>
            <a:off x="3329796" y="2104844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1981200" y="2593674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4698521" y="2593674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3326921" y="2602300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1986951" y="3091130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4704272" y="3091130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3332672" y="3099756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1302588" y="3095442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2665563" y="3099756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4019910" y="3095442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5374256" y="3099756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>
            <a:off x="1992701" y="3571334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/>
          <p:nvPr/>
        </p:nvCxnSpPr>
        <p:spPr>
          <a:xfrm>
            <a:off x="4710022" y="3571334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/>
          <p:nvPr/>
        </p:nvCxnSpPr>
        <p:spPr>
          <a:xfrm>
            <a:off x="3338422" y="3579960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/>
          <p:nvPr/>
        </p:nvCxnSpPr>
        <p:spPr>
          <a:xfrm>
            <a:off x="1308338" y="3575646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>
            <a:off x="2671313" y="3571334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4025660" y="3575646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>
            <a:off x="5380006" y="3579960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6049991" y="3579960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1989825" y="4051538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>
            <a:off x="4707146" y="4051538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3335546" y="4060164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305462" y="4055850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>
            <a:off x="2668437" y="4051538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4022784" y="4055850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5377130" y="4060164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2004202" y="4531742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4721523" y="4531742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3349923" y="4540368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3349923" y="5020572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/>
          <p:cNvSpPr txBox="1"/>
          <p:nvPr/>
        </p:nvSpPr>
        <p:spPr>
          <a:xfrm>
            <a:off x="7056000" y="208759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切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7056000" y="255341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切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7056000" y="307160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切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7056000" y="353353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切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7056000" y="406016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合</a:t>
            </a:r>
          </a:p>
        </p:txBody>
      </p:sp>
      <p:sp>
        <p:nvSpPr>
          <p:cNvPr id="59" name="文字方塊 58"/>
          <p:cNvSpPr txBox="1"/>
          <p:nvPr/>
        </p:nvSpPr>
        <p:spPr>
          <a:xfrm>
            <a:off x="7056000" y="453174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合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7056000" y="500906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合</a:t>
            </a:r>
          </a:p>
        </p:txBody>
      </p:sp>
      <p:sp>
        <p:nvSpPr>
          <p:cNvPr id="61" name="文字方塊 60"/>
          <p:cNvSpPr txBox="1"/>
          <p:nvPr/>
        </p:nvSpPr>
        <p:spPr>
          <a:xfrm>
            <a:off x="7056000" y="548064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合</a:t>
            </a:r>
          </a:p>
        </p:txBody>
      </p:sp>
      <p:sp>
        <p:nvSpPr>
          <p:cNvPr id="62" name="文字方塊 61"/>
          <p:cNvSpPr txBox="1"/>
          <p:nvPr/>
        </p:nvSpPr>
        <p:spPr>
          <a:xfrm>
            <a:off x="7471498" y="6029864"/>
            <a:ext cx="11657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7471498" y="5480647"/>
            <a:ext cx="1467068" cy="400110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具有穩定性</a:t>
            </a:r>
          </a:p>
        </p:txBody>
      </p:sp>
      <p:sp>
        <p:nvSpPr>
          <p:cNvPr id="64" name="文字方塊 63"/>
          <p:cNvSpPr txBox="1"/>
          <p:nvPr/>
        </p:nvSpPr>
        <p:spPr>
          <a:xfrm>
            <a:off x="949958" y="6029864"/>
            <a:ext cx="3809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各個擊破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法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(divide and conquer)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28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 animBg="1"/>
      <p:bldP spid="6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合併排序法 </a:t>
            </a:r>
            <a:r>
              <a:rPr lang="en-US" altLang="zh-TW" dirty="0"/>
              <a:t>Merge Sort 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效率分析</a:t>
            </a:r>
            <a:endParaRPr lang="en-US" altLang="zh-TW" dirty="0"/>
          </a:p>
          <a:p>
            <a:pPr lvl="1"/>
            <a:r>
              <a:rPr lang="zh-TW" altLang="en-US" dirty="0"/>
              <a:t>排序</a:t>
            </a:r>
            <a:r>
              <a:rPr lang="en-US" altLang="zh-TW" i="1" dirty="0"/>
              <a:t>n</a:t>
            </a:r>
            <a:r>
              <a:rPr lang="zh-TW" altLang="en-US" dirty="0"/>
              <a:t>筆資料需時 </a:t>
            </a:r>
            <a:r>
              <a:rPr lang="en-US" altLang="zh-TW" i="1" dirty="0"/>
              <a:t>T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944767" y="3614467"/>
            <a:ext cx="671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218601" y="2869720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218601" y="4307456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808731" y="2469610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/4)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808731" y="3269830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/4)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808730" y="3907346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/4)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808729" y="4707566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/4)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線單箭頭接點 14"/>
          <p:cNvCxnSpPr>
            <a:stCxn id="7" idx="3"/>
            <a:endCxn id="8" idx="1"/>
          </p:cNvCxnSpPr>
          <p:nvPr/>
        </p:nvCxnSpPr>
        <p:spPr>
          <a:xfrm flipV="1">
            <a:off x="2616746" y="3069775"/>
            <a:ext cx="601855" cy="74474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7" idx="3"/>
            <a:endCxn id="9" idx="1"/>
          </p:cNvCxnSpPr>
          <p:nvPr/>
        </p:nvCxnSpPr>
        <p:spPr>
          <a:xfrm>
            <a:off x="2616746" y="3814522"/>
            <a:ext cx="601855" cy="69298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8" idx="3"/>
            <a:endCxn id="10" idx="1"/>
          </p:cNvCxnSpPr>
          <p:nvPr/>
        </p:nvCxnSpPr>
        <p:spPr>
          <a:xfrm flipV="1">
            <a:off x="4071720" y="2669665"/>
            <a:ext cx="737011" cy="4001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8" idx="3"/>
            <a:endCxn id="11" idx="1"/>
          </p:cNvCxnSpPr>
          <p:nvPr/>
        </p:nvCxnSpPr>
        <p:spPr>
          <a:xfrm>
            <a:off x="4071720" y="3069775"/>
            <a:ext cx="737011" cy="4001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9" idx="3"/>
            <a:endCxn id="12" idx="1"/>
          </p:cNvCxnSpPr>
          <p:nvPr/>
        </p:nvCxnSpPr>
        <p:spPr>
          <a:xfrm flipV="1">
            <a:off x="4071720" y="4107401"/>
            <a:ext cx="737010" cy="4001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9" idx="3"/>
            <a:endCxn id="13" idx="1"/>
          </p:cNvCxnSpPr>
          <p:nvPr/>
        </p:nvCxnSpPr>
        <p:spPr>
          <a:xfrm>
            <a:off x="4071720" y="4507511"/>
            <a:ext cx="737009" cy="4001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stCxn id="10" idx="3"/>
          </p:cNvCxnSpPr>
          <p:nvPr/>
        </p:nvCxnSpPr>
        <p:spPr>
          <a:xfrm flipV="1">
            <a:off x="5661850" y="2469610"/>
            <a:ext cx="855901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stCxn id="10" idx="3"/>
          </p:cNvCxnSpPr>
          <p:nvPr/>
        </p:nvCxnSpPr>
        <p:spPr>
          <a:xfrm>
            <a:off x="5661850" y="2669665"/>
            <a:ext cx="855901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11" idx="3"/>
          </p:cNvCxnSpPr>
          <p:nvPr/>
        </p:nvCxnSpPr>
        <p:spPr>
          <a:xfrm>
            <a:off x="5661850" y="3469885"/>
            <a:ext cx="855901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11" idx="3"/>
          </p:cNvCxnSpPr>
          <p:nvPr/>
        </p:nvCxnSpPr>
        <p:spPr>
          <a:xfrm flipV="1">
            <a:off x="5661850" y="3269830"/>
            <a:ext cx="855901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stCxn id="12" idx="3"/>
          </p:cNvCxnSpPr>
          <p:nvPr/>
        </p:nvCxnSpPr>
        <p:spPr>
          <a:xfrm flipV="1">
            <a:off x="5661849" y="3907346"/>
            <a:ext cx="861656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12" idx="3"/>
          </p:cNvCxnSpPr>
          <p:nvPr/>
        </p:nvCxnSpPr>
        <p:spPr>
          <a:xfrm>
            <a:off x="5661849" y="4107401"/>
            <a:ext cx="861656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stCxn id="13" idx="3"/>
          </p:cNvCxnSpPr>
          <p:nvPr/>
        </p:nvCxnSpPr>
        <p:spPr>
          <a:xfrm flipV="1">
            <a:off x="5661848" y="4707566"/>
            <a:ext cx="861656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stCxn id="13" idx="3"/>
          </p:cNvCxnSpPr>
          <p:nvPr/>
        </p:nvCxnSpPr>
        <p:spPr>
          <a:xfrm>
            <a:off x="5661848" y="4907621"/>
            <a:ext cx="861656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字方塊 60"/>
          <p:cNvSpPr txBox="1"/>
          <p:nvPr/>
        </p:nvSpPr>
        <p:spPr>
          <a:xfrm>
            <a:off x="745413" y="5388626"/>
            <a:ext cx="30299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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/2)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 2(2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/4)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/2)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n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       …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4113908" y="5696402"/>
            <a:ext cx="104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= 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6583890" y="5696402"/>
            <a:ext cx="19094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O(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n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TW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lg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n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)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向右箭號 63"/>
          <p:cNvSpPr/>
          <p:nvPr/>
        </p:nvSpPr>
        <p:spPr>
          <a:xfrm>
            <a:off x="5745192" y="5751456"/>
            <a:ext cx="534389" cy="345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5466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2" grpId="0"/>
      <p:bldP spid="63" grpId="0"/>
      <p:bldP spid="6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快速排序法 </a:t>
            </a:r>
            <a:r>
              <a:rPr lang="en-US" altLang="zh-TW" dirty="0"/>
              <a:t>Quick Sort (1/4)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各個擊破法</a:t>
            </a:r>
            <a:endParaRPr lang="en-US" altLang="zh-TW" dirty="0"/>
          </a:p>
          <a:p>
            <a:pPr lvl="1"/>
            <a:r>
              <a:rPr lang="zh-TW" altLang="en-US" dirty="0"/>
              <a:t>將大範圍的資料切割</a:t>
            </a:r>
            <a:r>
              <a:rPr lang="en-US" altLang="zh-TW" dirty="0"/>
              <a:t>(partition)</a:t>
            </a:r>
            <a:r>
              <a:rPr lang="zh-TW" altLang="en-US" dirty="0"/>
              <a:t>成兩個小範圍的資料</a:t>
            </a:r>
            <a:endParaRPr lang="en-US" altLang="zh-TW" dirty="0"/>
          </a:p>
          <a:p>
            <a:pPr lvl="2"/>
            <a:r>
              <a:rPr lang="zh-TW" altLang="en-US" dirty="0"/>
              <a:t>基準值</a:t>
            </a:r>
            <a:r>
              <a:rPr lang="zh-TW" altLang="en-US" dirty="0">
                <a:solidFill>
                  <a:srgbClr val="C00000"/>
                </a:solidFill>
              </a:rPr>
              <a:t>左</a:t>
            </a:r>
            <a:r>
              <a:rPr lang="zh-TW" altLang="en-US" dirty="0"/>
              <a:t>邊元素 </a:t>
            </a:r>
            <a:r>
              <a:rPr lang="zh-TW" altLang="en-US" dirty="0">
                <a:solidFill>
                  <a:srgbClr val="C00000"/>
                </a:solidFill>
                <a:sym typeface="Symbol"/>
              </a:rPr>
              <a:t></a:t>
            </a:r>
            <a:r>
              <a:rPr lang="zh-TW" altLang="en-US" dirty="0">
                <a:sym typeface="Symbol"/>
              </a:rPr>
              <a:t> 基準值</a:t>
            </a:r>
            <a:endParaRPr lang="en-US" altLang="zh-TW" dirty="0">
              <a:sym typeface="Symbol"/>
            </a:endParaRPr>
          </a:p>
          <a:p>
            <a:pPr lvl="2"/>
            <a:r>
              <a:rPr lang="zh-TW" altLang="en-US" dirty="0">
                <a:sym typeface="Symbol"/>
              </a:rPr>
              <a:t>基準值</a:t>
            </a:r>
            <a:r>
              <a:rPr lang="zh-TW" altLang="en-US" dirty="0">
                <a:solidFill>
                  <a:srgbClr val="C00000"/>
                </a:solidFill>
                <a:sym typeface="Symbol"/>
              </a:rPr>
              <a:t>右</a:t>
            </a:r>
            <a:r>
              <a:rPr lang="zh-TW" altLang="en-US" dirty="0">
                <a:sym typeface="Symbol"/>
              </a:rPr>
              <a:t>邊元素 </a:t>
            </a:r>
            <a:r>
              <a:rPr lang="zh-TW" altLang="en-US" dirty="0">
                <a:solidFill>
                  <a:srgbClr val="C00000"/>
                </a:solidFill>
                <a:sym typeface="Symbol"/>
              </a:rPr>
              <a:t></a:t>
            </a:r>
            <a:r>
              <a:rPr lang="zh-TW" altLang="en-US" dirty="0">
                <a:sym typeface="Symbol"/>
              </a:rPr>
              <a:t> 基準值</a:t>
            </a:r>
            <a:endParaRPr lang="en-US" altLang="zh-TW" dirty="0">
              <a:sym typeface="Symbol"/>
            </a:endParaRPr>
          </a:p>
          <a:p>
            <a:pPr lvl="2"/>
            <a:endParaRPr lang="en-US" altLang="zh-TW" dirty="0">
              <a:sym typeface="Symbol"/>
            </a:endParaRPr>
          </a:p>
          <a:p>
            <a:pPr lvl="2"/>
            <a:endParaRPr lang="en-US" altLang="zh-TW" dirty="0">
              <a:sym typeface="Symbol"/>
            </a:endParaRPr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1"/>
            <a:r>
              <a:rPr lang="zh-TW" altLang="en-US" dirty="0"/>
              <a:t>分頭收拾左右各半的資料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569591" y="3519641"/>
          <a:ext cx="375357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251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1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/>
                        </a:rPr>
                        <a:t> </a:t>
                      </a:r>
                      <a:r>
                        <a:rPr lang="zh-TW" altLang="en-US" sz="20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基準值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基準值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/>
                        </a:rPr>
                        <a:t> </a:t>
                      </a:r>
                      <a:r>
                        <a:rPr lang="zh-TW" altLang="en-US" sz="20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基準值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1977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快速排序法 </a:t>
            </a:r>
            <a:r>
              <a:rPr lang="en-US" altLang="zh-TW" dirty="0"/>
              <a:t>Quick Sort (2/4)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分割</a:t>
            </a:r>
            <a:r>
              <a:rPr lang="en-US" altLang="zh-TW" dirty="0"/>
              <a:t>(partition)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87776" y="213941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2" name="群組 11"/>
          <p:cNvGrpSpPr/>
          <p:nvPr/>
        </p:nvGrpSpPr>
        <p:grpSpPr>
          <a:xfrm>
            <a:off x="7005571" y="1630853"/>
            <a:ext cx="311304" cy="493616"/>
            <a:chOff x="7005571" y="1630853"/>
            <a:chExt cx="311304" cy="493616"/>
          </a:xfrm>
        </p:grpSpPr>
        <p:sp>
          <p:nvSpPr>
            <p:cNvPr id="9" name="向下箭號 8"/>
            <p:cNvSpPr/>
            <p:nvPr/>
          </p:nvSpPr>
          <p:spPr>
            <a:xfrm>
              <a:off x="7083585" y="1948429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7005571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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2143148" y="1630853"/>
            <a:ext cx="311304" cy="493616"/>
            <a:chOff x="2143148" y="1630853"/>
            <a:chExt cx="311304" cy="493616"/>
          </a:xfrm>
        </p:grpSpPr>
        <p:sp>
          <p:nvSpPr>
            <p:cNvPr id="8" name="向下箭號 7"/>
            <p:cNvSpPr/>
            <p:nvPr/>
          </p:nvSpPr>
          <p:spPr>
            <a:xfrm>
              <a:off x="2212536" y="1948429"/>
              <a:ext cx="172528" cy="176040"/>
            </a:xfrm>
            <a:prstGeom prst="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2143148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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6415719" y="1632613"/>
            <a:ext cx="311304" cy="493616"/>
            <a:chOff x="7005571" y="1630853"/>
            <a:chExt cx="311304" cy="493616"/>
          </a:xfrm>
        </p:grpSpPr>
        <p:sp>
          <p:nvSpPr>
            <p:cNvPr id="15" name="向下箭號 14"/>
            <p:cNvSpPr/>
            <p:nvPr/>
          </p:nvSpPr>
          <p:spPr>
            <a:xfrm>
              <a:off x="7083585" y="1948429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7005571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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5803623" y="1630853"/>
            <a:ext cx="311304" cy="493616"/>
            <a:chOff x="7005571" y="1630853"/>
            <a:chExt cx="311304" cy="493616"/>
          </a:xfrm>
        </p:grpSpPr>
        <p:sp>
          <p:nvSpPr>
            <p:cNvPr id="18" name="向下箭號 17"/>
            <p:cNvSpPr/>
            <p:nvPr/>
          </p:nvSpPr>
          <p:spPr>
            <a:xfrm>
              <a:off x="7083585" y="1948429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7005571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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1384899" y="3137197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1" name="群組 20"/>
          <p:cNvGrpSpPr/>
          <p:nvPr/>
        </p:nvGrpSpPr>
        <p:grpSpPr>
          <a:xfrm>
            <a:off x="2139896" y="2620013"/>
            <a:ext cx="311304" cy="493616"/>
            <a:chOff x="2143148" y="1630853"/>
            <a:chExt cx="311304" cy="493616"/>
          </a:xfrm>
        </p:grpSpPr>
        <p:sp>
          <p:nvSpPr>
            <p:cNvPr id="22" name="向下箭號 21"/>
            <p:cNvSpPr/>
            <p:nvPr/>
          </p:nvSpPr>
          <p:spPr>
            <a:xfrm>
              <a:off x="2212536" y="1948429"/>
              <a:ext cx="172528" cy="176040"/>
            </a:xfrm>
            <a:prstGeom prst="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2143148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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5800371" y="2620013"/>
            <a:ext cx="311304" cy="493616"/>
            <a:chOff x="7005571" y="1630853"/>
            <a:chExt cx="311304" cy="493616"/>
          </a:xfrm>
        </p:grpSpPr>
        <p:sp>
          <p:nvSpPr>
            <p:cNvPr id="25" name="向下箭號 24"/>
            <p:cNvSpPr/>
            <p:nvPr/>
          </p:nvSpPr>
          <p:spPr>
            <a:xfrm>
              <a:off x="7083585" y="1948429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7005571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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群組 26"/>
          <p:cNvGrpSpPr/>
          <p:nvPr/>
        </p:nvGrpSpPr>
        <p:grpSpPr>
          <a:xfrm>
            <a:off x="2766751" y="2622251"/>
            <a:ext cx="311304" cy="493616"/>
            <a:chOff x="2143148" y="1630853"/>
            <a:chExt cx="311304" cy="493616"/>
          </a:xfrm>
        </p:grpSpPr>
        <p:sp>
          <p:nvSpPr>
            <p:cNvPr id="28" name="向下箭號 27"/>
            <p:cNvSpPr/>
            <p:nvPr/>
          </p:nvSpPr>
          <p:spPr>
            <a:xfrm>
              <a:off x="2212536" y="1948429"/>
              <a:ext cx="172528" cy="176040"/>
            </a:xfrm>
            <a:prstGeom prst="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2143148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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3367725" y="2622251"/>
            <a:ext cx="311304" cy="493616"/>
            <a:chOff x="2143148" y="1630853"/>
            <a:chExt cx="311304" cy="493616"/>
          </a:xfrm>
        </p:grpSpPr>
        <p:sp>
          <p:nvSpPr>
            <p:cNvPr id="31" name="向下箭號 30"/>
            <p:cNvSpPr/>
            <p:nvPr/>
          </p:nvSpPr>
          <p:spPr>
            <a:xfrm>
              <a:off x="2212536" y="1948429"/>
              <a:ext cx="172528" cy="176040"/>
            </a:xfrm>
            <a:prstGeom prst="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2143148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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5193646" y="2617117"/>
            <a:ext cx="311304" cy="493616"/>
            <a:chOff x="7005571" y="1630853"/>
            <a:chExt cx="311304" cy="493616"/>
          </a:xfrm>
        </p:grpSpPr>
        <p:sp>
          <p:nvSpPr>
            <p:cNvPr id="34" name="向下箭號 33"/>
            <p:cNvSpPr/>
            <p:nvPr/>
          </p:nvSpPr>
          <p:spPr>
            <a:xfrm>
              <a:off x="7083585" y="1948429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7005571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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4581171" y="2617117"/>
            <a:ext cx="311304" cy="493616"/>
            <a:chOff x="7005571" y="1630853"/>
            <a:chExt cx="311304" cy="493616"/>
          </a:xfrm>
        </p:grpSpPr>
        <p:sp>
          <p:nvSpPr>
            <p:cNvPr id="37" name="向下箭號 36"/>
            <p:cNvSpPr/>
            <p:nvPr/>
          </p:nvSpPr>
          <p:spPr>
            <a:xfrm>
              <a:off x="7083585" y="1948429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7005571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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9" name="表格 38"/>
          <p:cNvGraphicFramePr>
            <a:graphicFrameLocks noGrp="1"/>
          </p:cNvGraphicFramePr>
          <p:nvPr/>
        </p:nvGraphicFramePr>
        <p:xfrm>
          <a:off x="1379148" y="4157993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0" name="群組 39"/>
          <p:cNvGrpSpPr/>
          <p:nvPr/>
        </p:nvGrpSpPr>
        <p:grpSpPr>
          <a:xfrm>
            <a:off x="3355847" y="3645919"/>
            <a:ext cx="311304" cy="493616"/>
            <a:chOff x="2143148" y="1630853"/>
            <a:chExt cx="311304" cy="493616"/>
          </a:xfrm>
        </p:grpSpPr>
        <p:sp>
          <p:nvSpPr>
            <p:cNvPr id="41" name="向下箭號 40"/>
            <p:cNvSpPr/>
            <p:nvPr/>
          </p:nvSpPr>
          <p:spPr>
            <a:xfrm>
              <a:off x="2212536" y="1948429"/>
              <a:ext cx="172528" cy="176040"/>
            </a:xfrm>
            <a:prstGeom prst="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2143148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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群組 42"/>
          <p:cNvGrpSpPr/>
          <p:nvPr/>
        </p:nvGrpSpPr>
        <p:grpSpPr>
          <a:xfrm>
            <a:off x="4569293" y="3640785"/>
            <a:ext cx="311304" cy="493616"/>
            <a:chOff x="7005571" y="1630853"/>
            <a:chExt cx="311304" cy="493616"/>
          </a:xfrm>
        </p:grpSpPr>
        <p:sp>
          <p:nvSpPr>
            <p:cNvPr id="44" name="向下箭號 43"/>
            <p:cNvSpPr/>
            <p:nvPr/>
          </p:nvSpPr>
          <p:spPr>
            <a:xfrm>
              <a:off x="7083585" y="1948429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7005571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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3974073" y="3645919"/>
            <a:ext cx="311304" cy="493616"/>
            <a:chOff x="2143148" y="1630853"/>
            <a:chExt cx="311304" cy="493616"/>
          </a:xfrm>
        </p:grpSpPr>
        <p:sp>
          <p:nvSpPr>
            <p:cNvPr id="47" name="向下箭號 46"/>
            <p:cNvSpPr/>
            <p:nvPr/>
          </p:nvSpPr>
          <p:spPr>
            <a:xfrm>
              <a:off x="2212536" y="1948429"/>
              <a:ext cx="172528" cy="176040"/>
            </a:xfrm>
            <a:prstGeom prst="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2143148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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群組 48"/>
          <p:cNvGrpSpPr/>
          <p:nvPr/>
        </p:nvGrpSpPr>
        <p:grpSpPr>
          <a:xfrm>
            <a:off x="3969245" y="3646511"/>
            <a:ext cx="311304" cy="493616"/>
            <a:chOff x="7005571" y="1630853"/>
            <a:chExt cx="311304" cy="493616"/>
          </a:xfrm>
        </p:grpSpPr>
        <p:sp>
          <p:nvSpPr>
            <p:cNvPr id="50" name="向下箭號 49"/>
            <p:cNvSpPr/>
            <p:nvPr/>
          </p:nvSpPr>
          <p:spPr>
            <a:xfrm>
              <a:off x="7083585" y="1948429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7005571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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2" name="群組 51"/>
          <p:cNvGrpSpPr/>
          <p:nvPr/>
        </p:nvGrpSpPr>
        <p:grpSpPr>
          <a:xfrm>
            <a:off x="3345268" y="3646511"/>
            <a:ext cx="311304" cy="493616"/>
            <a:chOff x="7005571" y="1630853"/>
            <a:chExt cx="311304" cy="493616"/>
          </a:xfrm>
        </p:grpSpPr>
        <p:sp>
          <p:nvSpPr>
            <p:cNvPr id="53" name="向下箭號 52"/>
            <p:cNvSpPr/>
            <p:nvPr/>
          </p:nvSpPr>
          <p:spPr>
            <a:xfrm>
              <a:off x="7083585" y="1948429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7005571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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1370569" y="5210403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7" name="直線接點 56"/>
          <p:cNvCxnSpPr/>
          <p:nvPr/>
        </p:nvCxnSpPr>
        <p:spPr>
          <a:xfrm>
            <a:off x="3500919" y="4994516"/>
            <a:ext cx="0" cy="82800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群組 55"/>
          <p:cNvGrpSpPr/>
          <p:nvPr/>
        </p:nvGrpSpPr>
        <p:grpSpPr>
          <a:xfrm>
            <a:off x="2131270" y="4908197"/>
            <a:ext cx="311304" cy="1800000"/>
            <a:chOff x="2131270" y="4908197"/>
            <a:chExt cx="311304" cy="1800000"/>
          </a:xfrm>
        </p:grpSpPr>
        <p:sp>
          <p:nvSpPr>
            <p:cNvPr id="59" name="矩形 58"/>
            <p:cNvSpPr/>
            <p:nvPr/>
          </p:nvSpPr>
          <p:spPr>
            <a:xfrm>
              <a:off x="2131270" y="5888156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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左大括弧 59"/>
            <p:cNvSpPr/>
            <p:nvPr/>
          </p:nvSpPr>
          <p:spPr>
            <a:xfrm>
              <a:off x="2147697" y="4908197"/>
              <a:ext cx="288000" cy="1800000"/>
            </a:xfrm>
            <a:prstGeom prst="leftBrace">
              <a:avLst>
                <a:gd name="adj1" fmla="val 52519"/>
                <a:gd name="adj2" fmla="val 50000"/>
              </a:avLst>
            </a:prstGeom>
            <a:ln w="28575">
              <a:solidFill>
                <a:srgbClr val="FF9933"/>
              </a:solidFill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62" name="群組 61"/>
          <p:cNvGrpSpPr/>
          <p:nvPr/>
        </p:nvGrpSpPr>
        <p:grpSpPr>
          <a:xfrm>
            <a:off x="5469659" y="3984958"/>
            <a:ext cx="311304" cy="3636000"/>
            <a:chOff x="5469659" y="3984958"/>
            <a:chExt cx="311304" cy="3636000"/>
          </a:xfrm>
        </p:grpSpPr>
        <p:sp>
          <p:nvSpPr>
            <p:cNvPr id="58" name="矩形 57"/>
            <p:cNvSpPr/>
            <p:nvPr/>
          </p:nvSpPr>
          <p:spPr>
            <a:xfrm>
              <a:off x="5469659" y="5888156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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左大括弧 60"/>
            <p:cNvSpPr/>
            <p:nvPr/>
          </p:nvSpPr>
          <p:spPr>
            <a:xfrm>
              <a:off x="5485614" y="3984958"/>
              <a:ext cx="288000" cy="3636000"/>
            </a:xfrm>
            <a:prstGeom prst="leftBrace">
              <a:avLst>
                <a:gd name="adj1" fmla="val 52519"/>
                <a:gd name="adj2" fmla="val 50000"/>
              </a:avLst>
            </a:prstGeom>
            <a:ln w="28575">
              <a:solidFill>
                <a:srgbClr val="FF9933"/>
              </a:solidFill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655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快速排序法 </a:t>
            </a:r>
            <a:r>
              <a:rPr lang="en-US" altLang="zh-TW" dirty="0"/>
              <a:t>Quick Sort (3/4)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各個擊破法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31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87776" y="2139411"/>
          <a:ext cx="54864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379196" y="2656984"/>
          <a:ext cx="54864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376320" y="3188947"/>
          <a:ext cx="54864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373444" y="3738163"/>
          <a:ext cx="54864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361942" y="4278751"/>
          <a:ext cx="54864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359067" y="4827966"/>
          <a:ext cx="54864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橢圓 12"/>
          <p:cNvSpPr/>
          <p:nvPr/>
        </p:nvSpPr>
        <p:spPr>
          <a:xfrm>
            <a:off x="1992700" y="2130723"/>
            <a:ext cx="603852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7116791" y="4828931"/>
            <a:ext cx="1723549" cy="400110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不具有穩定性</a:t>
            </a:r>
          </a:p>
        </p:txBody>
      </p:sp>
      <p:sp>
        <p:nvSpPr>
          <p:cNvPr id="15" name="橢圓 14"/>
          <p:cNvSpPr/>
          <p:nvPr/>
        </p:nvSpPr>
        <p:spPr>
          <a:xfrm>
            <a:off x="3827251" y="2120657"/>
            <a:ext cx="603852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3818625" y="2661244"/>
            <a:ext cx="603852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4422477" y="2661244"/>
            <a:ext cx="603852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3818625" y="3175953"/>
            <a:ext cx="603852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422477" y="3175953"/>
            <a:ext cx="603852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3206147" y="3736671"/>
            <a:ext cx="603852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3809999" y="3736671"/>
            <a:ext cx="603852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3197521" y="4280135"/>
            <a:ext cx="603852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3801373" y="4280135"/>
            <a:ext cx="603852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3188889" y="4823599"/>
            <a:ext cx="603852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3792741" y="4823599"/>
            <a:ext cx="603852" cy="405442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535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快速排序法 </a:t>
            </a:r>
            <a:r>
              <a:rPr lang="en-US" altLang="zh-TW" dirty="0"/>
              <a:t>Quick Sort (4/4)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效率分析 </a:t>
            </a:r>
            <a:r>
              <a:rPr lang="en-US" altLang="zh-TW" dirty="0"/>
              <a:t>(</a:t>
            </a:r>
            <a:r>
              <a:rPr lang="zh-TW" altLang="en-US" dirty="0"/>
              <a:t>與合併排序法相似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排序</a:t>
            </a:r>
            <a:r>
              <a:rPr lang="en-US" altLang="zh-TW" i="1" dirty="0"/>
              <a:t>n</a:t>
            </a:r>
            <a:r>
              <a:rPr lang="zh-TW" altLang="en-US" dirty="0"/>
              <a:t>筆資料需時 </a:t>
            </a:r>
            <a:r>
              <a:rPr lang="en-US" altLang="zh-TW" i="1" dirty="0"/>
              <a:t>T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944767" y="3614467"/>
            <a:ext cx="671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218601" y="2869720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218601" y="4307456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808731" y="2469610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/4)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808731" y="3269830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/4)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808730" y="3907346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/4)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808729" y="4707566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/4)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線單箭頭接點 14"/>
          <p:cNvCxnSpPr>
            <a:stCxn id="7" idx="3"/>
            <a:endCxn id="8" idx="1"/>
          </p:cNvCxnSpPr>
          <p:nvPr/>
        </p:nvCxnSpPr>
        <p:spPr>
          <a:xfrm flipV="1">
            <a:off x="2616746" y="3069775"/>
            <a:ext cx="601855" cy="74474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7" idx="3"/>
            <a:endCxn id="9" idx="1"/>
          </p:cNvCxnSpPr>
          <p:nvPr/>
        </p:nvCxnSpPr>
        <p:spPr>
          <a:xfrm>
            <a:off x="2616746" y="3814522"/>
            <a:ext cx="601855" cy="69298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8" idx="3"/>
            <a:endCxn id="10" idx="1"/>
          </p:cNvCxnSpPr>
          <p:nvPr/>
        </p:nvCxnSpPr>
        <p:spPr>
          <a:xfrm flipV="1">
            <a:off x="4071720" y="2669665"/>
            <a:ext cx="737011" cy="4001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8" idx="3"/>
            <a:endCxn id="11" idx="1"/>
          </p:cNvCxnSpPr>
          <p:nvPr/>
        </p:nvCxnSpPr>
        <p:spPr>
          <a:xfrm>
            <a:off x="4071720" y="3069775"/>
            <a:ext cx="737011" cy="4001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9" idx="3"/>
            <a:endCxn id="12" idx="1"/>
          </p:cNvCxnSpPr>
          <p:nvPr/>
        </p:nvCxnSpPr>
        <p:spPr>
          <a:xfrm flipV="1">
            <a:off x="4071720" y="4107401"/>
            <a:ext cx="737010" cy="4001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9" idx="3"/>
            <a:endCxn id="13" idx="1"/>
          </p:cNvCxnSpPr>
          <p:nvPr/>
        </p:nvCxnSpPr>
        <p:spPr>
          <a:xfrm>
            <a:off x="4071720" y="4507511"/>
            <a:ext cx="737009" cy="4001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stCxn id="10" idx="3"/>
          </p:cNvCxnSpPr>
          <p:nvPr/>
        </p:nvCxnSpPr>
        <p:spPr>
          <a:xfrm flipV="1">
            <a:off x="5661850" y="2469610"/>
            <a:ext cx="855901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stCxn id="10" idx="3"/>
          </p:cNvCxnSpPr>
          <p:nvPr/>
        </p:nvCxnSpPr>
        <p:spPr>
          <a:xfrm>
            <a:off x="5661850" y="2669665"/>
            <a:ext cx="855901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11" idx="3"/>
          </p:cNvCxnSpPr>
          <p:nvPr/>
        </p:nvCxnSpPr>
        <p:spPr>
          <a:xfrm>
            <a:off x="5661850" y="3469885"/>
            <a:ext cx="855901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11" idx="3"/>
          </p:cNvCxnSpPr>
          <p:nvPr/>
        </p:nvCxnSpPr>
        <p:spPr>
          <a:xfrm flipV="1">
            <a:off x="5661850" y="3269830"/>
            <a:ext cx="855901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stCxn id="12" idx="3"/>
          </p:cNvCxnSpPr>
          <p:nvPr/>
        </p:nvCxnSpPr>
        <p:spPr>
          <a:xfrm flipV="1">
            <a:off x="5661849" y="3907346"/>
            <a:ext cx="861656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12" idx="3"/>
          </p:cNvCxnSpPr>
          <p:nvPr/>
        </p:nvCxnSpPr>
        <p:spPr>
          <a:xfrm>
            <a:off x="5661849" y="4107401"/>
            <a:ext cx="861656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stCxn id="13" idx="3"/>
          </p:cNvCxnSpPr>
          <p:nvPr/>
        </p:nvCxnSpPr>
        <p:spPr>
          <a:xfrm flipV="1">
            <a:off x="5661848" y="4707566"/>
            <a:ext cx="861656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stCxn id="13" idx="3"/>
          </p:cNvCxnSpPr>
          <p:nvPr/>
        </p:nvCxnSpPr>
        <p:spPr>
          <a:xfrm>
            <a:off x="5661848" y="4907621"/>
            <a:ext cx="861656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字方塊 60"/>
          <p:cNvSpPr txBox="1"/>
          <p:nvPr/>
        </p:nvSpPr>
        <p:spPr>
          <a:xfrm>
            <a:off x="745413" y="5388626"/>
            <a:ext cx="30299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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/2)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 2(2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/4)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/2)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n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       …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4113908" y="5696402"/>
            <a:ext cx="104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= 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6583890" y="5696402"/>
            <a:ext cx="19094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O(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n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TW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lg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n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)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向右箭號 63"/>
          <p:cNvSpPr/>
          <p:nvPr/>
        </p:nvSpPr>
        <p:spPr>
          <a:xfrm>
            <a:off x="5745192" y="5751456"/>
            <a:ext cx="534389" cy="345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499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2" grpId="0"/>
      <p:bldP spid="63" grpId="0"/>
      <p:bldP spid="6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(1/24)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  <a:endParaRPr lang="en-US" altLang="zh-TW" dirty="0"/>
          </a:p>
          <a:p>
            <a:pPr lvl="1"/>
            <a:r>
              <a:rPr lang="zh-TW" altLang="en-US" dirty="0"/>
              <a:t>將陣列調整成堆積</a:t>
            </a:r>
            <a:endParaRPr lang="en-US" altLang="zh-TW" dirty="0"/>
          </a:p>
          <a:p>
            <a:pPr lvl="1"/>
            <a:r>
              <a:rPr lang="zh-TW" altLang="en-US" dirty="0"/>
              <a:t>當堆積節點數目大於</a:t>
            </a:r>
            <a:r>
              <a:rPr lang="en-US" altLang="zh-TW" dirty="0"/>
              <a:t>1</a:t>
            </a:r>
            <a:r>
              <a:rPr lang="zh-TW" altLang="en-US" dirty="0"/>
              <a:t>時，重複迴圈</a:t>
            </a:r>
            <a:endParaRPr lang="en-US" altLang="zh-TW" dirty="0"/>
          </a:p>
          <a:p>
            <a:pPr lvl="2"/>
            <a:r>
              <a:rPr lang="zh-TW" altLang="en-US" dirty="0"/>
              <a:t>將堆積的樹根與堆積的最後一個元素交換</a:t>
            </a:r>
            <a:endParaRPr lang="en-US" altLang="zh-TW" dirty="0"/>
          </a:p>
          <a:p>
            <a:pPr lvl="2"/>
            <a:r>
              <a:rPr lang="zh-TW" altLang="en-US" dirty="0"/>
              <a:t>堆積少最後一個節點</a:t>
            </a:r>
            <a:endParaRPr lang="en-US" altLang="zh-TW" dirty="0"/>
          </a:p>
          <a:p>
            <a:pPr lvl="2"/>
            <a:r>
              <a:rPr lang="zh-TW" altLang="en-US" dirty="0"/>
              <a:t>重新調整成堆積</a:t>
            </a:r>
            <a:endParaRPr lang="en-US" altLang="zh-TW" dirty="0"/>
          </a:p>
          <a:p>
            <a:pPr lvl="1"/>
            <a:r>
              <a:rPr lang="zh-TW" altLang="en-US" dirty="0"/>
              <a:t>迴圈結束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1911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(2/24)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34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0" name="群組 39"/>
          <p:cNvGrpSpPr/>
          <p:nvPr/>
        </p:nvGrpSpPr>
        <p:grpSpPr>
          <a:xfrm>
            <a:off x="2666724" y="3360613"/>
            <a:ext cx="3135891" cy="1965174"/>
            <a:chOff x="2666724" y="3360613"/>
            <a:chExt cx="3135891" cy="1965174"/>
          </a:xfrm>
        </p:grpSpPr>
        <p:sp>
          <p:nvSpPr>
            <p:cNvPr id="8" name="橢圓 7"/>
            <p:cNvSpPr/>
            <p:nvPr/>
          </p:nvSpPr>
          <p:spPr>
            <a:xfrm>
              <a:off x="5090490" y="393899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5026217" y="388970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72</a:t>
              </a:r>
              <a:endParaRPr lang="zh-TW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橢圓 9"/>
            <p:cNvSpPr/>
            <p:nvPr/>
          </p:nvSpPr>
          <p:spPr>
            <a:xfrm>
              <a:off x="4064474" y="449111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4002954" y="443604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39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橢圓 11"/>
            <p:cNvSpPr/>
            <p:nvPr/>
          </p:nvSpPr>
          <p:spPr>
            <a:xfrm>
              <a:off x="3053581" y="448533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2989831" y="443604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橢圓 13"/>
            <p:cNvSpPr/>
            <p:nvPr/>
          </p:nvSpPr>
          <p:spPr>
            <a:xfrm>
              <a:off x="2730474" y="500597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4750734" y="448533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5442465" y="449111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7" name="直線接點 16"/>
            <p:cNvCxnSpPr>
              <a:stCxn id="12" idx="4"/>
              <a:endCxn id="14" idx="0"/>
            </p:cNvCxnSpPr>
            <p:nvPr/>
          </p:nvCxnSpPr>
          <p:spPr>
            <a:xfrm flipH="1">
              <a:off x="2874474" y="4773332"/>
              <a:ext cx="323107" cy="2326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橢圓 17"/>
            <p:cNvSpPr/>
            <p:nvPr/>
          </p:nvSpPr>
          <p:spPr>
            <a:xfrm>
              <a:off x="3568312" y="393899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4338737" y="3409905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0" name="直線接點 19"/>
            <p:cNvCxnSpPr>
              <a:stCxn id="8" idx="4"/>
              <a:endCxn id="16" idx="0"/>
            </p:cNvCxnSpPr>
            <p:nvPr/>
          </p:nvCxnSpPr>
          <p:spPr>
            <a:xfrm>
              <a:off x="5234490" y="4226992"/>
              <a:ext cx="351975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>
              <a:stCxn id="8" idx="4"/>
              <a:endCxn id="15" idx="0"/>
            </p:cNvCxnSpPr>
            <p:nvPr/>
          </p:nvCxnSpPr>
          <p:spPr>
            <a:xfrm flipH="1">
              <a:off x="4894734" y="4226992"/>
              <a:ext cx="339756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>
              <a:stCxn id="18" idx="4"/>
              <a:endCxn id="10" idx="0"/>
            </p:cNvCxnSpPr>
            <p:nvPr/>
          </p:nvCxnSpPr>
          <p:spPr>
            <a:xfrm>
              <a:off x="3712312" y="4226992"/>
              <a:ext cx="496162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>
              <a:stCxn id="18" idx="4"/>
              <a:endCxn id="12" idx="0"/>
            </p:cNvCxnSpPr>
            <p:nvPr/>
          </p:nvCxnSpPr>
          <p:spPr>
            <a:xfrm flipH="1">
              <a:off x="3197581" y="4226992"/>
              <a:ext cx="514731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>
              <a:stCxn id="19" idx="4"/>
              <a:endCxn id="8" idx="0"/>
            </p:cNvCxnSpPr>
            <p:nvPr/>
          </p:nvCxnSpPr>
          <p:spPr>
            <a:xfrm>
              <a:off x="4482737" y="3697905"/>
              <a:ext cx="751753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>
              <a:stCxn id="19" idx="4"/>
              <a:endCxn id="18" idx="0"/>
            </p:cNvCxnSpPr>
            <p:nvPr/>
          </p:nvCxnSpPr>
          <p:spPr>
            <a:xfrm flipH="1">
              <a:off x="3712312" y="3697905"/>
              <a:ext cx="770425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4285856" y="336061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3512500" y="388970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4686984" y="4433199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67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5387116" y="443604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37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2666724" y="495645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橢圓 30"/>
            <p:cNvSpPr/>
            <p:nvPr/>
          </p:nvSpPr>
          <p:spPr>
            <a:xfrm>
              <a:off x="3390469" y="500737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橢圓 31"/>
            <p:cNvSpPr/>
            <p:nvPr/>
          </p:nvSpPr>
          <p:spPr>
            <a:xfrm>
              <a:off x="3754412" y="500737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3" name="直線接點 32"/>
            <p:cNvCxnSpPr>
              <a:stCxn id="12" idx="4"/>
              <a:endCxn id="31" idx="0"/>
            </p:cNvCxnSpPr>
            <p:nvPr/>
          </p:nvCxnSpPr>
          <p:spPr>
            <a:xfrm>
              <a:off x="3197581" y="4773332"/>
              <a:ext cx="336888" cy="234042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>
              <a:stCxn id="10" idx="4"/>
              <a:endCxn id="32" idx="0"/>
            </p:cNvCxnSpPr>
            <p:nvPr/>
          </p:nvCxnSpPr>
          <p:spPr>
            <a:xfrm flipH="1">
              <a:off x="3898412" y="4779117"/>
              <a:ext cx="310062" cy="22825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字方塊 34"/>
            <p:cNvSpPr txBox="1"/>
            <p:nvPr/>
          </p:nvSpPr>
          <p:spPr>
            <a:xfrm>
              <a:off x="3326719" y="495645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3698261" y="495645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38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627477" y="575909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9" name="肘形接點 38"/>
          <p:cNvCxnSpPr/>
          <p:nvPr/>
        </p:nvCxnSpPr>
        <p:spPr>
          <a:xfrm rot="5400000" flipH="1" flipV="1">
            <a:off x="4670140" y="3008786"/>
            <a:ext cx="12700" cy="5508000"/>
          </a:xfrm>
          <a:prstGeom prst="bentConnector3">
            <a:avLst>
              <a:gd name="adj1" fmla="val 1800000"/>
            </a:avLst>
          </a:prstGeom>
          <a:ln w="28575">
            <a:solidFill>
              <a:srgbClr val="C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51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(3/24)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35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>
            <a:stCxn id="12" idx="4"/>
            <a:endCxn id="14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橢圓 17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>
            <a:stCxn id="8" idx="4"/>
            <a:endCxn id="16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8" idx="4"/>
            <a:endCxn id="15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8" idx="4"/>
            <a:endCxn id="10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8" idx="4"/>
            <a:endCxn id="12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9" idx="4"/>
            <a:endCxn id="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9" idx="4"/>
            <a:endCxn id="18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接點 32"/>
          <p:cNvCxnSpPr>
            <a:stCxn id="12" idx="4"/>
            <a:endCxn id="31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627477" y="575909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8" name="弧形接點 37"/>
          <p:cNvCxnSpPr>
            <a:endCxn id="27" idx="0"/>
          </p:cNvCxnSpPr>
          <p:nvPr/>
        </p:nvCxnSpPr>
        <p:spPr>
          <a:xfrm rot="10800000" flipV="1">
            <a:off x="3720250" y="3534624"/>
            <a:ext cx="565606" cy="355076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弧形接點 38"/>
          <p:cNvCxnSpPr>
            <a:stCxn id="27" idx="3"/>
          </p:cNvCxnSpPr>
          <p:nvPr/>
        </p:nvCxnSpPr>
        <p:spPr>
          <a:xfrm flipV="1">
            <a:off x="3927999" y="3727104"/>
            <a:ext cx="554738" cy="347262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949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(4/24)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36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>
            <a:stCxn id="12" idx="4"/>
            <a:endCxn id="14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橢圓 17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>
            <a:stCxn id="8" idx="4"/>
            <a:endCxn id="16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8" idx="4"/>
            <a:endCxn id="15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8" idx="4"/>
            <a:endCxn id="10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8" idx="4"/>
            <a:endCxn id="12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9" idx="4"/>
            <a:endCxn id="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9" idx="4"/>
            <a:endCxn id="18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接點 32"/>
          <p:cNvCxnSpPr>
            <a:stCxn id="12" idx="4"/>
            <a:endCxn id="31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627477" y="575909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8" name="弧形接點 37"/>
          <p:cNvCxnSpPr>
            <a:stCxn id="27" idx="1"/>
            <a:endCxn id="13" idx="0"/>
          </p:cNvCxnSpPr>
          <p:nvPr/>
        </p:nvCxnSpPr>
        <p:spPr>
          <a:xfrm rot="10800000" flipV="1">
            <a:off x="3197582" y="4074366"/>
            <a:ext cx="314919" cy="361674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弧形接點 38"/>
          <p:cNvCxnSpPr/>
          <p:nvPr/>
        </p:nvCxnSpPr>
        <p:spPr>
          <a:xfrm flipV="1">
            <a:off x="3326719" y="4275472"/>
            <a:ext cx="382660" cy="342393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997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(5/24)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37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>
            <a:stCxn id="12" idx="4"/>
            <a:endCxn id="14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橢圓 17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>
            <a:stCxn id="8" idx="4"/>
            <a:endCxn id="16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8" idx="4"/>
            <a:endCxn id="15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8" idx="4"/>
            <a:endCxn id="10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8" idx="4"/>
            <a:endCxn id="12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9" idx="4"/>
            <a:endCxn id="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9" idx="4"/>
            <a:endCxn id="18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接點 32"/>
          <p:cNvCxnSpPr>
            <a:stCxn id="12" idx="4"/>
            <a:endCxn id="31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627477" y="575909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1" name="弧形接點 40"/>
          <p:cNvCxnSpPr>
            <a:endCxn id="35" idx="1"/>
          </p:cNvCxnSpPr>
          <p:nvPr/>
        </p:nvCxnSpPr>
        <p:spPr>
          <a:xfrm rot="16200000" flipH="1">
            <a:off x="3084105" y="4898506"/>
            <a:ext cx="340011" cy="145218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弧形接點 41"/>
          <p:cNvCxnSpPr>
            <a:stCxn id="35" idx="0"/>
          </p:cNvCxnSpPr>
          <p:nvPr/>
        </p:nvCxnSpPr>
        <p:spPr>
          <a:xfrm rot="16200000" flipV="1">
            <a:off x="3294721" y="4716707"/>
            <a:ext cx="338590" cy="140906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38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(6/24)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38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>
            <a:stCxn id="12" idx="4"/>
            <a:endCxn id="14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橢圓 17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>
            <a:stCxn id="8" idx="4"/>
            <a:endCxn id="16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8" idx="4"/>
            <a:endCxn id="15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8" idx="4"/>
            <a:endCxn id="10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8" idx="4"/>
            <a:endCxn id="12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9" idx="4"/>
            <a:endCxn id="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9" idx="4"/>
            <a:endCxn id="18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接點 32"/>
          <p:cNvCxnSpPr>
            <a:stCxn id="12" idx="4"/>
            <a:endCxn id="31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627477" y="575909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8" name="肘形接點 37"/>
          <p:cNvCxnSpPr/>
          <p:nvPr/>
        </p:nvCxnSpPr>
        <p:spPr>
          <a:xfrm rot="5400000" flipH="1" flipV="1">
            <a:off x="4382442" y="3350786"/>
            <a:ext cx="12700" cy="4824000"/>
          </a:xfrm>
          <a:prstGeom prst="bentConnector3">
            <a:avLst>
              <a:gd name="adj1" fmla="val 1800000"/>
            </a:avLst>
          </a:prstGeom>
          <a:ln w="28575">
            <a:solidFill>
              <a:srgbClr val="C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2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(7/24)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39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>
            <a:stCxn id="12" idx="4"/>
            <a:endCxn id="14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橢圓 17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>
            <a:stCxn id="8" idx="4"/>
            <a:endCxn id="16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8" idx="4"/>
            <a:endCxn id="15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8" idx="4"/>
            <a:endCxn id="10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8" idx="4"/>
            <a:endCxn id="12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9" idx="4"/>
            <a:endCxn id="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9" idx="4"/>
            <a:endCxn id="18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627477" y="575909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0" name="弧形接點 39"/>
          <p:cNvCxnSpPr>
            <a:endCxn id="9" idx="1"/>
          </p:cNvCxnSpPr>
          <p:nvPr/>
        </p:nvCxnSpPr>
        <p:spPr>
          <a:xfrm rot="16200000" flipH="1">
            <a:off x="4578359" y="3626507"/>
            <a:ext cx="344421" cy="551295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弧形接點 40"/>
          <p:cNvCxnSpPr>
            <a:stCxn id="9" idx="0"/>
          </p:cNvCxnSpPr>
          <p:nvPr/>
        </p:nvCxnSpPr>
        <p:spPr>
          <a:xfrm rot="16200000" flipV="1">
            <a:off x="4788976" y="3444708"/>
            <a:ext cx="343000" cy="546983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55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(8/24)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40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>
            <a:stCxn id="12" idx="4"/>
            <a:endCxn id="14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橢圓 17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>
            <a:stCxn id="8" idx="4"/>
            <a:endCxn id="16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8" idx="4"/>
            <a:endCxn id="15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8" idx="4"/>
            <a:endCxn id="10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8" idx="4"/>
            <a:endCxn id="12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9" idx="4"/>
            <a:endCxn id="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9" idx="4"/>
            <a:endCxn id="18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627477" y="575909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0" name="弧形接點 39"/>
          <p:cNvCxnSpPr>
            <a:stCxn id="9" idx="1"/>
            <a:endCxn id="28" idx="0"/>
          </p:cNvCxnSpPr>
          <p:nvPr/>
        </p:nvCxnSpPr>
        <p:spPr>
          <a:xfrm rot="10800000" flipV="1">
            <a:off x="4894735" y="4074365"/>
            <a:ext cx="131483" cy="358833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弧形接點 40"/>
          <p:cNvCxnSpPr>
            <a:stCxn id="28" idx="3"/>
          </p:cNvCxnSpPr>
          <p:nvPr/>
        </p:nvCxnSpPr>
        <p:spPr>
          <a:xfrm flipV="1">
            <a:off x="5102483" y="4268645"/>
            <a:ext cx="148313" cy="349220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83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(9/24)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41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>
            <a:stCxn id="12" idx="4"/>
            <a:endCxn id="14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橢圓 17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>
            <a:stCxn id="8" idx="4"/>
            <a:endCxn id="16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8" idx="4"/>
            <a:endCxn id="15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8" idx="4"/>
            <a:endCxn id="10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8" idx="4"/>
            <a:endCxn id="12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9" idx="4"/>
            <a:endCxn id="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9" idx="4"/>
            <a:endCxn id="18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627477" y="575909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肘形接點 34"/>
          <p:cNvCxnSpPr/>
          <p:nvPr/>
        </p:nvCxnSpPr>
        <p:spPr>
          <a:xfrm rot="5400000" flipH="1" flipV="1">
            <a:off x="4075248" y="3638786"/>
            <a:ext cx="12700" cy="4248000"/>
          </a:xfrm>
          <a:prstGeom prst="bentConnector3">
            <a:avLst>
              <a:gd name="adj1" fmla="val 1800000"/>
            </a:avLst>
          </a:prstGeom>
          <a:ln w="28575">
            <a:solidFill>
              <a:srgbClr val="C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940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(10/24)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42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>
            <a:stCxn id="8" idx="4"/>
            <a:endCxn id="16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8" idx="4"/>
            <a:endCxn id="15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8" idx="4"/>
            <a:endCxn id="10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8" idx="4"/>
            <a:endCxn id="12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9" idx="4"/>
            <a:endCxn id="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9" idx="4"/>
            <a:endCxn id="18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627477" y="575909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8" name="弧形接點 37"/>
          <p:cNvCxnSpPr>
            <a:endCxn id="9" idx="1"/>
          </p:cNvCxnSpPr>
          <p:nvPr/>
        </p:nvCxnSpPr>
        <p:spPr>
          <a:xfrm rot="16200000" flipH="1">
            <a:off x="4580979" y="3629128"/>
            <a:ext cx="347262" cy="543213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弧形接點 38"/>
          <p:cNvCxnSpPr>
            <a:stCxn id="9" idx="0"/>
          </p:cNvCxnSpPr>
          <p:nvPr/>
        </p:nvCxnSpPr>
        <p:spPr>
          <a:xfrm rot="16200000" flipV="1">
            <a:off x="4791597" y="3447329"/>
            <a:ext cx="345841" cy="538901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弧形接點 42"/>
          <p:cNvCxnSpPr>
            <a:stCxn id="28" idx="3"/>
            <a:endCxn id="9" idx="2"/>
          </p:cNvCxnSpPr>
          <p:nvPr/>
        </p:nvCxnSpPr>
        <p:spPr>
          <a:xfrm flipV="1">
            <a:off x="5102483" y="4259032"/>
            <a:ext cx="131484" cy="358833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弧形接點 45"/>
          <p:cNvCxnSpPr>
            <a:stCxn id="9" idx="1"/>
            <a:endCxn id="28" idx="0"/>
          </p:cNvCxnSpPr>
          <p:nvPr/>
        </p:nvCxnSpPr>
        <p:spPr>
          <a:xfrm rot="10800000" flipV="1">
            <a:off x="4894735" y="4074365"/>
            <a:ext cx="131483" cy="358833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38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(11/24)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43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>
            <a:stCxn id="8" idx="4"/>
            <a:endCxn id="16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8" idx="4"/>
            <a:endCxn id="15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8" idx="4"/>
            <a:endCxn id="10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8" idx="4"/>
            <a:endCxn id="12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9" idx="4"/>
            <a:endCxn id="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9" idx="4"/>
            <a:endCxn id="18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627477" y="575909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4" name="肘形接點 33"/>
          <p:cNvCxnSpPr/>
          <p:nvPr/>
        </p:nvCxnSpPr>
        <p:spPr>
          <a:xfrm rot="5400000" flipH="1" flipV="1">
            <a:off x="3754596" y="3932086"/>
            <a:ext cx="12700" cy="3636000"/>
          </a:xfrm>
          <a:prstGeom prst="bentConnector3">
            <a:avLst>
              <a:gd name="adj1" fmla="val 1800000"/>
            </a:avLst>
          </a:prstGeom>
          <a:ln w="28575">
            <a:solidFill>
              <a:srgbClr val="C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27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(12/24)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44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>
            <a:stCxn id="8" idx="4"/>
            <a:endCxn id="15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8" idx="4"/>
            <a:endCxn id="10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8" idx="4"/>
            <a:endCxn id="12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9" idx="4"/>
            <a:endCxn id="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9" idx="4"/>
            <a:endCxn id="18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627477" y="575909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8" name="弧形接點 37"/>
          <p:cNvCxnSpPr>
            <a:endCxn id="27" idx="0"/>
          </p:cNvCxnSpPr>
          <p:nvPr/>
        </p:nvCxnSpPr>
        <p:spPr>
          <a:xfrm rot="10800000" flipV="1">
            <a:off x="3720250" y="3543858"/>
            <a:ext cx="550692" cy="345841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弧形接點 38"/>
          <p:cNvCxnSpPr>
            <a:stCxn id="27" idx="3"/>
            <a:endCxn id="26" idx="2"/>
          </p:cNvCxnSpPr>
          <p:nvPr/>
        </p:nvCxnSpPr>
        <p:spPr>
          <a:xfrm flipV="1">
            <a:off x="3927999" y="3729945"/>
            <a:ext cx="565607" cy="344421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弧形接點 42"/>
          <p:cNvCxnSpPr>
            <a:stCxn id="13" idx="3"/>
            <a:endCxn id="27" idx="2"/>
          </p:cNvCxnSpPr>
          <p:nvPr/>
        </p:nvCxnSpPr>
        <p:spPr>
          <a:xfrm flipV="1">
            <a:off x="3405330" y="4259032"/>
            <a:ext cx="314920" cy="361674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弧形接點 45"/>
          <p:cNvCxnSpPr>
            <a:stCxn id="27" idx="1"/>
            <a:endCxn id="13" idx="0"/>
          </p:cNvCxnSpPr>
          <p:nvPr/>
        </p:nvCxnSpPr>
        <p:spPr>
          <a:xfrm rot="10800000" flipV="1">
            <a:off x="3197582" y="4074366"/>
            <a:ext cx="314919" cy="361674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319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(13/24)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45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>
            <a:stCxn id="8" idx="4"/>
            <a:endCxn id="15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8" idx="4"/>
            <a:endCxn id="10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8" idx="4"/>
            <a:endCxn id="12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9" idx="4"/>
            <a:endCxn id="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9" idx="4"/>
            <a:endCxn id="18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627477" y="575909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1" name="肘形接點 30"/>
          <p:cNvCxnSpPr/>
          <p:nvPr/>
        </p:nvCxnSpPr>
        <p:spPr>
          <a:xfrm rot="5400000" flipH="1" flipV="1">
            <a:off x="3457524" y="4256086"/>
            <a:ext cx="12700" cy="2988000"/>
          </a:xfrm>
          <a:prstGeom prst="bentConnector3">
            <a:avLst>
              <a:gd name="adj1" fmla="val 1800000"/>
            </a:avLst>
          </a:prstGeom>
          <a:ln w="28575">
            <a:solidFill>
              <a:srgbClr val="C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068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(14/24)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46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接點 21"/>
          <p:cNvCxnSpPr>
            <a:stCxn id="18" idx="4"/>
            <a:endCxn id="10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8" idx="4"/>
            <a:endCxn id="12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9" idx="4"/>
            <a:endCxn id="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9" idx="4"/>
            <a:endCxn id="18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627477" y="575909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8" name="弧形接點 37"/>
          <p:cNvCxnSpPr>
            <a:endCxn id="27" idx="0"/>
          </p:cNvCxnSpPr>
          <p:nvPr/>
        </p:nvCxnSpPr>
        <p:spPr>
          <a:xfrm rot="10800000" flipV="1">
            <a:off x="3720250" y="3543858"/>
            <a:ext cx="550692" cy="345841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弧形接點 38"/>
          <p:cNvCxnSpPr>
            <a:stCxn id="27" idx="3"/>
            <a:endCxn id="26" idx="2"/>
          </p:cNvCxnSpPr>
          <p:nvPr/>
        </p:nvCxnSpPr>
        <p:spPr>
          <a:xfrm flipV="1">
            <a:off x="3927999" y="3729945"/>
            <a:ext cx="565607" cy="344421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弧形接點 42"/>
          <p:cNvCxnSpPr>
            <a:stCxn id="11" idx="0"/>
            <a:endCxn id="27" idx="3"/>
          </p:cNvCxnSpPr>
          <p:nvPr/>
        </p:nvCxnSpPr>
        <p:spPr>
          <a:xfrm rot="16200000" flipV="1">
            <a:off x="3888515" y="4113850"/>
            <a:ext cx="361674" cy="282705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弧形接點 45"/>
          <p:cNvCxnSpPr>
            <a:stCxn id="27" idx="2"/>
            <a:endCxn id="11" idx="1"/>
          </p:cNvCxnSpPr>
          <p:nvPr/>
        </p:nvCxnSpPr>
        <p:spPr>
          <a:xfrm rot="16200000" flipH="1">
            <a:off x="3680765" y="4298517"/>
            <a:ext cx="361674" cy="282704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935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(15/24)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47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接點 21"/>
          <p:cNvCxnSpPr>
            <a:stCxn id="18" idx="4"/>
            <a:endCxn id="10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8" idx="4"/>
            <a:endCxn id="12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9" idx="4"/>
            <a:endCxn id="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9" idx="4"/>
            <a:endCxn id="18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627477" y="575909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肘形接點 27"/>
          <p:cNvCxnSpPr/>
          <p:nvPr/>
        </p:nvCxnSpPr>
        <p:spPr>
          <a:xfrm rot="5400000" flipH="1" flipV="1">
            <a:off x="3126387" y="4556786"/>
            <a:ext cx="12700" cy="2412000"/>
          </a:xfrm>
          <a:prstGeom prst="bentConnector3">
            <a:avLst>
              <a:gd name="adj1" fmla="val 1800000"/>
            </a:avLst>
          </a:prstGeom>
          <a:ln w="28575">
            <a:solidFill>
              <a:srgbClr val="C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072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(16/24)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48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>
            <a:stCxn id="18" idx="4"/>
            <a:endCxn id="12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9" idx="4"/>
            <a:endCxn id="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9" idx="4"/>
            <a:endCxn id="18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627477" y="575909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8" name="弧形接點 37"/>
          <p:cNvCxnSpPr>
            <a:endCxn id="27" idx="0"/>
          </p:cNvCxnSpPr>
          <p:nvPr/>
        </p:nvCxnSpPr>
        <p:spPr>
          <a:xfrm rot="10800000" flipV="1">
            <a:off x="3720250" y="3543858"/>
            <a:ext cx="550692" cy="345841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弧形接點 38"/>
          <p:cNvCxnSpPr>
            <a:stCxn id="27" idx="3"/>
            <a:endCxn id="26" idx="2"/>
          </p:cNvCxnSpPr>
          <p:nvPr/>
        </p:nvCxnSpPr>
        <p:spPr>
          <a:xfrm flipV="1">
            <a:off x="3927999" y="3729945"/>
            <a:ext cx="565607" cy="344421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弧形接點 42"/>
          <p:cNvCxnSpPr>
            <a:stCxn id="13" idx="3"/>
            <a:endCxn id="27" idx="2"/>
          </p:cNvCxnSpPr>
          <p:nvPr/>
        </p:nvCxnSpPr>
        <p:spPr>
          <a:xfrm flipV="1">
            <a:off x="3405330" y="4259032"/>
            <a:ext cx="314920" cy="361674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弧形接點 45"/>
          <p:cNvCxnSpPr>
            <a:stCxn id="27" idx="1"/>
            <a:endCxn id="13" idx="0"/>
          </p:cNvCxnSpPr>
          <p:nvPr/>
        </p:nvCxnSpPr>
        <p:spPr>
          <a:xfrm rot="10800000" flipV="1">
            <a:off x="3197582" y="4074366"/>
            <a:ext cx="314919" cy="361674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409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(17/24)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49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>
            <a:stCxn id="18" idx="4"/>
            <a:endCxn id="12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9" idx="4"/>
            <a:endCxn id="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9" idx="4"/>
            <a:endCxn id="18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627477" y="575909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肘形接點 27"/>
          <p:cNvCxnSpPr/>
          <p:nvPr/>
        </p:nvCxnSpPr>
        <p:spPr>
          <a:xfrm rot="5400000" flipH="1" flipV="1">
            <a:off x="2848403" y="4875486"/>
            <a:ext cx="12700" cy="1800000"/>
          </a:xfrm>
          <a:prstGeom prst="bentConnector3">
            <a:avLst>
              <a:gd name="adj1" fmla="val 1800000"/>
            </a:avLst>
          </a:prstGeom>
          <a:ln w="28575">
            <a:solidFill>
              <a:srgbClr val="C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645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(18/24)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50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接點 23"/>
          <p:cNvCxnSpPr>
            <a:stCxn id="19" idx="4"/>
            <a:endCxn id="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9" idx="4"/>
            <a:endCxn id="18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627477" y="575909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8" name="弧形接點 37"/>
          <p:cNvCxnSpPr>
            <a:endCxn id="9" idx="1"/>
          </p:cNvCxnSpPr>
          <p:nvPr/>
        </p:nvCxnSpPr>
        <p:spPr>
          <a:xfrm rot="16200000" flipH="1">
            <a:off x="4580979" y="3629128"/>
            <a:ext cx="347262" cy="543213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弧形接點 38"/>
          <p:cNvCxnSpPr>
            <a:stCxn id="9" idx="0"/>
            <a:endCxn id="26" idx="3"/>
          </p:cNvCxnSpPr>
          <p:nvPr/>
        </p:nvCxnSpPr>
        <p:spPr>
          <a:xfrm rot="16200000" flipV="1">
            <a:off x="4795451" y="3451184"/>
            <a:ext cx="344421" cy="532612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59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(19/24)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51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接點 23"/>
          <p:cNvCxnSpPr>
            <a:stCxn id="19" idx="4"/>
            <a:endCxn id="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9" idx="4"/>
            <a:endCxn id="18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627477" y="575909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0" name="肘形接點 19"/>
          <p:cNvCxnSpPr/>
          <p:nvPr/>
        </p:nvCxnSpPr>
        <p:spPr>
          <a:xfrm rot="5400000" flipH="1" flipV="1">
            <a:off x="2541957" y="5181486"/>
            <a:ext cx="12700" cy="1188000"/>
          </a:xfrm>
          <a:prstGeom prst="bentConnector3">
            <a:avLst>
              <a:gd name="adj1" fmla="val 1800000"/>
            </a:avLst>
          </a:prstGeom>
          <a:ln w="28575">
            <a:solidFill>
              <a:srgbClr val="C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18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(20/24)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52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橢圓 17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/>
          <p:cNvCxnSpPr>
            <a:stCxn id="19" idx="4"/>
            <a:endCxn id="18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627477" y="575909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弧形接點 20"/>
          <p:cNvCxnSpPr>
            <a:stCxn id="26" idx="1"/>
            <a:endCxn id="27" idx="0"/>
          </p:cNvCxnSpPr>
          <p:nvPr/>
        </p:nvCxnSpPr>
        <p:spPr>
          <a:xfrm rot="10800000" flipV="1">
            <a:off x="3720250" y="3545278"/>
            <a:ext cx="565606" cy="344421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弧形接點 21"/>
          <p:cNvCxnSpPr>
            <a:stCxn id="27" idx="3"/>
          </p:cNvCxnSpPr>
          <p:nvPr/>
        </p:nvCxnSpPr>
        <p:spPr>
          <a:xfrm flipV="1">
            <a:off x="3927999" y="3727104"/>
            <a:ext cx="555005" cy="347262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86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(21/24)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53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橢圓 17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/>
          <p:cNvCxnSpPr>
            <a:stCxn id="19" idx="4"/>
            <a:endCxn id="18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627477" y="575909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肘形接點 16"/>
          <p:cNvCxnSpPr/>
          <p:nvPr/>
        </p:nvCxnSpPr>
        <p:spPr>
          <a:xfrm rot="5400000" flipH="1" flipV="1">
            <a:off x="2235511" y="5487486"/>
            <a:ext cx="12700" cy="576000"/>
          </a:xfrm>
          <a:prstGeom prst="bentConnector3">
            <a:avLst>
              <a:gd name="adj1" fmla="val 1800000"/>
            </a:avLst>
          </a:prstGeom>
          <a:ln w="28575">
            <a:solidFill>
              <a:srgbClr val="C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69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(22/24)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54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橢圓 18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627477" y="575909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68987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(23/24)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堆積排序法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55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627477" y="575909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948906" y="4091586"/>
            <a:ext cx="1723549" cy="400110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不具有穩定性</a:t>
            </a:r>
          </a:p>
        </p:txBody>
      </p:sp>
      <p:cxnSp>
        <p:nvCxnSpPr>
          <p:cNvPr id="9" name="直線單箭頭接點 8"/>
          <p:cNvCxnSpPr/>
          <p:nvPr/>
        </p:nvCxnSpPr>
        <p:spPr>
          <a:xfrm>
            <a:off x="2536166" y="2829464"/>
            <a:ext cx="4226943" cy="2924355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5003321" y="2829464"/>
            <a:ext cx="1155939" cy="2924355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96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堆積排序法 </a:t>
            </a:r>
            <a:r>
              <a:rPr lang="en-US" altLang="zh-TW" dirty="0"/>
              <a:t>Heap Sort (24/24)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效率</a:t>
            </a:r>
            <a:endParaRPr lang="en-US" altLang="zh-TW" dirty="0"/>
          </a:p>
          <a:p>
            <a:pPr lvl="1"/>
            <a:r>
              <a:rPr lang="zh-TW" altLang="en-US" dirty="0"/>
              <a:t>將陣列調整成堆積 </a:t>
            </a:r>
            <a:r>
              <a:rPr lang="en-US" altLang="zh-TW" dirty="0"/>
              <a:t>(</a:t>
            </a:r>
            <a:r>
              <a:rPr lang="zh-TW" altLang="en-US" dirty="0"/>
              <a:t>建立堆積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當堆積節點數目大於</a:t>
            </a:r>
            <a:r>
              <a:rPr lang="en-US" altLang="zh-TW" dirty="0"/>
              <a:t>1</a:t>
            </a:r>
            <a:r>
              <a:rPr lang="zh-TW" altLang="en-US" dirty="0"/>
              <a:t>時，重複迴圈</a:t>
            </a:r>
            <a:endParaRPr lang="en-US" altLang="zh-TW" dirty="0"/>
          </a:p>
          <a:p>
            <a:pPr lvl="2"/>
            <a:r>
              <a:rPr lang="zh-TW" altLang="en-US" dirty="0"/>
              <a:t>將堆積的樹根與堆積的最後一個元素交換</a:t>
            </a:r>
            <a:endParaRPr lang="en-US" altLang="zh-TW" dirty="0"/>
          </a:p>
          <a:p>
            <a:pPr lvl="2"/>
            <a:r>
              <a:rPr lang="zh-TW" altLang="en-US" dirty="0"/>
              <a:t>堆積少最後一個節點</a:t>
            </a:r>
            <a:endParaRPr lang="en-US" altLang="zh-TW" dirty="0"/>
          </a:p>
          <a:p>
            <a:pPr lvl="2"/>
            <a:r>
              <a:rPr lang="zh-TW" altLang="en-US" dirty="0"/>
              <a:t>重新調整成堆積</a:t>
            </a:r>
            <a:endParaRPr lang="en-US" altLang="zh-TW" dirty="0"/>
          </a:p>
          <a:p>
            <a:pPr lvl="1"/>
            <a:r>
              <a:rPr lang="zh-TW" altLang="en-US" dirty="0"/>
              <a:t>迴圈結束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6426703" y="1665585"/>
            <a:ext cx="1144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右大括弧 7"/>
          <p:cNvSpPr/>
          <p:nvPr/>
        </p:nvSpPr>
        <p:spPr>
          <a:xfrm>
            <a:off x="5917737" y="2060849"/>
            <a:ext cx="336430" cy="1872208"/>
          </a:xfrm>
          <a:prstGeom prst="rightBrace">
            <a:avLst>
              <a:gd name="adj1" fmla="val 51923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6426703" y="2636912"/>
            <a:ext cx="11464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1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每次</a:t>
            </a:r>
            <a:r>
              <a:rPr lang="en-US" altLang="zh-TW" sz="2000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 err="1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lg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723968" y="2790800"/>
            <a:ext cx="1144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767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二元樹排序法 </a:t>
            </a:r>
            <a:br>
              <a:rPr lang="en-US" altLang="zh-TW" sz="3600" dirty="0"/>
            </a:br>
            <a:r>
              <a:rPr lang="en-US" altLang="zh-TW" sz="3600" dirty="0"/>
              <a:t>Binary Tree Sort (1/4)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二元樹排序法</a:t>
            </a:r>
            <a:endParaRPr lang="en-US" altLang="zh-TW" dirty="0"/>
          </a:p>
          <a:p>
            <a:pPr lvl="1"/>
            <a:r>
              <a:rPr lang="zh-TW" altLang="en-US" dirty="0"/>
              <a:t>建立</a:t>
            </a:r>
            <a:r>
              <a:rPr lang="zh-TW" altLang="en-US" dirty="0">
                <a:solidFill>
                  <a:srgbClr val="C00000"/>
                </a:solidFill>
              </a:rPr>
              <a:t>二元搜尋樹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zh-TW" altLang="en-US" dirty="0"/>
              <a:t>對二元搜尋樹進行</a:t>
            </a:r>
            <a:r>
              <a:rPr lang="zh-TW" altLang="en-US" dirty="0">
                <a:solidFill>
                  <a:srgbClr val="C00000"/>
                </a:solidFill>
              </a:rPr>
              <a:t>中序追蹤</a:t>
            </a:r>
            <a:r>
              <a:rPr lang="zh-TW" altLang="en-US" dirty="0"/>
              <a:t>，並輸出結果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0893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二元樹排序法 </a:t>
            </a:r>
            <a:br>
              <a:rPr lang="en-US" altLang="zh-TW" sz="3600" dirty="0"/>
            </a:br>
            <a:r>
              <a:rPr lang="en-US" altLang="zh-TW" sz="3600" dirty="0"/>
              <a:t>Binary Tree Sort (2/4)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建立二元搜尋樹</a:t>
            </a:r>
            <a:endParaRPr lang="en-US" altLang="zh-TW" dirty="0"/>
          </a:p>
          <a:p>
            <a:pPr lvl="1"/>
            <a:r>
              <a:rPr lang="zh-TW" altLang="en-US" dirty="0"/>
              <a:t>每讀入一個資料就依循下列原則，將新節點插入擴充中的二元搜尋樹：</a:t>
            </a:r>
            <a:endParaRPr lang="en-US" altLang="zh-TW" dirty="0"/>
          </a:p>
          <a:p>
            <a:pPr marL="1371600" lvl="2" indent="-457200">
              <a:buFont typeface="+mj-lt"/>
              <a:buAutoNum type="arabicPeriod"/>
            </a:pPr>
            <a:r>
              <a:rPr lang="zh-TW" altLang="en-US" dirty="0"/>
              <a:t>如果是空樹，則新節點為樹根</a:t>
            </a:r>
            <a:endParaRPr lang="en-US" altLang="zh-TW" dirty="0"/>
          </a:p>
          <a:p>
            <a:pPr marL="1371600" lvl="2" indent="-457200">
              <a:buFont typeface="+mj-lt"/>
              <a:buAutoNum type="arabicPeriod"/>
            </a:pPr>
            <a:r>
              <a:rPr lang="zh-TW" altLang="en-US" dirty="0"/>
              <a:t>否則將新節點的資料與樹根相比</a:t>
            </a:r>
            <a:endParaRPr lang="en-US" altLang="zh-TW" dirty="0"/>
          </a:p>
          <a:p>
            <a:pPr lvl="3"/>
            <a:r>
              <a:rPr lang="zh-TW" altLang="en-US" dirty="0">
                <a:solidFill>
                  <a:srgbClr val="C00000"/>
                </a:solidFill>
              </a:rPr>
              <a:t>小於</a:t>
            </a:r>
            <a:r>
              <a:rPr lang="zh-TW" altLang="en-US" dirty="0"/>
              <a:t>樹根則往</a:t>
            </a:r>
            <a:r>
              <a:rPr lang="zh-TW" altLang="en-US" dirty="0">
                <a:solidFill>
                  <a:srgbClr val="C00000"/>
                </a:solidFill>
              </a:rPr>
              <a:t>左</a:t>
            </a:r>
            <a:r>
              <a:rPr lang="zh-TW" altLang="en-US" dirty="0"/>
              <a:t>子樹</a:t>
            </a:r>
            <a:endParaRPr lang="en-US" altLang="zh-TW" dirty="0"/>
          </a:p>
          <a:p>
            <a:pPr lvl="3"/>
            <a:r>
              <a:rPr lang="zh-TW" altLang="en-US" dirty="0">
                <a:solidFill>
                  <a:srgbClr val="C00000"/>
                </a:solidFill>
              </a:rPr>
              <a:t>大於</a:t>
            </a:r>
            <a:r>
              <a:rPr lang="zh-TW" altLang="en-US" dirty="0"/>
              <a:t>樹根則往</a:t>
            </a:r>
            <a:r>
              <a:rPr lang="zh-TW" altLang="en-US" dirty="0">
                <a:solidFill>
                  <a:srgbClr val="C00000"/>
                </a:solidFill>
              </a:rPr>
              <a:t>右</a:t>
            </a:r>
            <a:r>
              <a:rPr lang="zh-TW" altLang="en-US" dirty="0"/>
              <a:t>子樹</a:t>
            </a:r>
          </a:p>
          <a:p>
            <a:pPr marL="1371600" lvl="2" indent="-457200">
              <a:buFont typeface="+mj-lt"/>
              <a:buAutoNum type="arabicPeriod"/>
            </a:pPr>
            <a:r>
              <a:rPr lang="zh-TW" altLang="en-US" dirty="0"/>
              <a:t>重複與此子樹的樹根比較，直到指標接地為止</a:t>
            </a:r>
            <a:endParaRPr lang="en-US" altLang="zh-TW" dirty="0"/>
          </a:p>
          <a:p>
            <a:pPr marL="1371600" lvl="2" indent="-457200">
              <a:buFont typeface="+mj-lt"/>
              <a:buAutoNum type="arabicPeriod"/>
            </a:pPr>
            <a:r>
              <a:rPr lang="zh-TW" altLang="en-US" dirty="0"/>
              <a:t>將新節點加在最後停留之處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0006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二元樹排序法 </a:t>
            </a:r>
            <a:br>
              <a:rPr lang="en-US" altLang="zh-TW" sz="3600" dirty="0"/>
            </a:br>
            <a:r>
              <a:rPr lang="en-US" altLang="zh-TW" sz="3600" dirty="0"/>
              <a:t>Binary Tree Sort (3/4)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Input: 51, 70, 39, 45, 63, 80, 20, 42, 75, 10, </a:t>
            </a:r>
            <a:r>
              <a:rPr lang="en-US" altLang="zh-TW" u="sng" dirty="0"/>
              <a:t>45</a:t>
            </a:r>
            <a:endParaRPr lang="zh-TW" altLang="en-US" u="sng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59</a:t>
            </a:fld>
            <a:endParaRPr lang="en-US" dirty="0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3156465" y="474129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197319" y="419495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857563" y="419495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821783" y="4194952"/>
            <a:ext cx="349520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479572" y="4194952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497322" y="3665865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821783" y="3665865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群組 49"/>
          <p:cNvGrpSpPr/>
          <p:nvPr/>
        </p:nvGrpSpPr>
        <p:grpSpPr>
          <a:xfrm>
            <a:off x="4300441" y="3328573"/>
            <a:ext cx="415499" cy="369332"/>
            <a:chOff x="4300441" y="3328573"/>
            <a:chExt cx="415499" cy="369332"/>
          </a:xfrm>
        </p:grpSpPr>
        <p:sp>
          <p:nvSpPr>
            <p:cNvPr id="15" name="橢圓 14"/>
            <p:cNvSpPr/>
            <p:nvPr/>
          </p:nvSpPr>
          <p:spPr>
            <a:xfrm>
              <a:off x="4353322" y="3377865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4300441" y="332857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1" name="群組 50"/>
          <p:cNvGrpSpPr/>
          <p:nvPr/>
        </p:nvGrpSpPr>
        <p:grpSpPr>
          <a:xfrm>
            <a:off x="3621971" y="3857660"/>
            <a:ext cx="415499" cy="369332"/>
            <a:chOff x="3621971" y="3857660"/>
            <a:chExt cx="415499" cy="369332"/>
          </a:xfrm>
        </p:grpSpPr>
        <p:sp>
          <p:nvSpPr>
            <p:cNvPr id="13" name="橢圓 12"/>
            <p:cNvSpPr/>
            <p:nvPr/>
          </p:nvSpPr>
          <p:spPr>
            <a:xfrm>
              <a:off x="3677783" y="390695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3621971" y="385766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39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4" name="群組 53"/>
          <p:cNvGrpSpPr/>
          <p:nvPr/>
        </p:nvGrpSpPr>
        <p:grpSpPr>
          <a:xfrm>
            <a:off x="4997672" y="3849034"/>
            <a:ext cx="415499" cy="369332"/>
            <a:chOff x="4997672" y="3849034"/>
            <a:chExt cx="415499" cy="369332"/>
          </a:xfrm>
        </p:grpSpPr>
        <p:sp>
          <p:nvSpPr>
            <p:cNvPr id="14" name="橢圓 13"/>
            <p:cNvSpPr/>
            <p:nvPr/>
          </p:nvSpPr>
          <p:spPr>
            <a:xfrm>
              <a:off x="5053319" y="390695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4997672" y="3849034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2" name="群組 51"/>
          <p:cNvGrpSpPr/>
          <p:nvPr/>
        </p:nvGrpSpPr>
        <p:grpSpPr>
          <a:xfrm>
            <a:off x="3271822" y="4404000"/>
            <a:ext cx="415499" cy="369332"/>
            <a:chOff x="3271822" y="4404000"/>
            <a:chExt cx="415499" cy="369332"/>
          </a:xfrm>
        </p:grpSpPr>
        <p:sp>
          <p:nvSpPr>
            <p:cNvPr id="8" name="橢圓 7"/>
            <p:cNvSpPr/>
            <p:nvPr/>
          </p:nvSpPr>
          <p:spPr>
            <a:xfrm>
              <a:off x="3335572" y="445329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3271822" y="440400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3965783" y="4404000"/>
            <a:ext cx="415499" cy="369332"/>
            <a:chOff x="3965783" y="4404000"/>
            <a:chExt cx="415499" cy="369332"/>
          </a:xfrm>
        </p:grpSpPr>
        <p:sp>
          <p:nvSpPr>
            <p:cNvPr id="9" name="橢圓 8"/>
            <p:cNvSpPr/>
            <p:nvPr/>
          </p:nvSpPr>
          <p:spPr>
            <a:xfrm>
              <a:off x="4027303" y="445907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3965783" y="440400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0" name="群組 59"/>
          <p:cNvGrpSpPr/>
          <p:nvPr/>
        </p:nvGrpSpPr>
        <p:grpSpPr>
          <a:xfrm>
            <a:off x="4649813" y="4401159"/>
            <a:ext cx="415499" cy="369332"/>
            <a:chOff x="4649813" y="4401159"/>
            <a:chExt cx="415499" cy="369332"/>
          </a:xfrm>
        </p:grpSpPr>
        <p:sp>
          <p:nvSpPr>
            <p:cNvPr id="10" name="橢圓 9"/>
            <p:cNvSpPr/>
            <p:nvPr/>
          </p:nvSpPr>
          <p:spPr>
            <a:xfrm>
              <a:off x="4713563" y="445329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4649813" y="4401159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群組 54"/>
          <p:cNvGrpSpPr/>
          <p:nvPr/>
        </p:nvGrpSpPr>
        <p:grpSpPr>
          <a:xfrm>
            <a:off x="5349945" y="4404000"/>
            <a:ext cx="415499" cy="369332"/>
            <a:chOff x="5349945" y="4404000"/>
            <a:chExt cx="415499" cy="369332"/>
          </a:xfrm>
        </p:grpSpPr>
        <p:sp>
          <p:nvSpPr>
            <p:cNvPr id="11" name="橢圓 10"/>
            <p:cNvSpPr/>
            <p:nvPr/>
          </p:nvSpPr>
          <p:spPr>
            <a:xfrm>
              <a:off x="5405294" y="445907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5349945" y="440400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2948715" y="4924415"/>
            <a:ext cx="415499" cy="369332"/>
            <a:chOff x="2948715" y="4924415"/>
            <a:chExt cx="415499" cy="369332"/>
          </a:xfrm>
        </p:grpSpPr>
        <p:sp>
          <p:nvSpPr>
            <p:cNvPr id="7" name="橢圓 6"/>
            <p:cNvSpPr/>
            <p:nvPr/>
          </p:nvSpPr>
          <p:spPr>
            <a:xfrm>
              <a:off x="3012465" y="497393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2948715" y="492441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2" name="直線接點 31"/>
          <p:cNvCxnSpPr>
            <a:stCxn id="9" idx="4"/>
            <a:endCxn id="30" idx="0"/>
          </p:cNvCxnSpPr>
          <p:nvPr/>
        </p:nvCxnSpPr>
        <p:spPr>
          <a:xfrm flipH="1">
            <a:off x="3816460" y="4747077"/>
            <a:ext cx="354843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>
            <a:off x="4171303" y="4747077"/>
            <a:ext cx="336888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>
            <a:stCxn id="34" idx="0"/>
            <a:endCxn id="11" idx="4"/>
          </p:cNvCxnSpPr>
          <p:nvPr/>
        </p:nvCxnSpPr>
        <p:spPr>
          <a:xfrm flipV="1">
            <a:off x="5241502" y="4747077"/>
            <a:ext cx="307792" cy="22663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群組 57"/>
          <p:cNvGrpSpPr/>
          <p:nvPr/>
        </p:nvGrpSpPr>
        <p:grpSpPr>
          <a:xfrm>
            <a:off x="3608710" y="4924415"/>
            <a:ext cx="415499" cy="369332"/>
            <a:chOff x="3608710" y="4924415"/>
            <a:chExt cx="415499" cy="369332"/>
          </a:xfrm>
        </p:grpSpPr>
        <p:sp>
          <p:nvSpPr>
            <p:cNvPr id="30" name="橢圓 29"/>
            <p:cNvSpPr/>
            <p:nvPr/>
          </p:nvSpPr>
          <p:spPr>
            <a:xfrm>
              <a:off x="3672460" y="497533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3608710" y="492441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7" name="群組 56"/>
          <p:cNvGrpSpPr/>
          <p:nvPr/>
        </p:nvGrpSpPr>
        <p:grpSpPr>
          <a:xfrm>
            <a:off x="4299414" y="4924415"/>
            <a:ext cx="415499" cy="369332"/>
            <a:chOff x="4299414" y="4924415"/>
            <a:chExt cx="415499" cy="369332"/>
          </a:xfrm>
        </p:grpSpPr>
        <p:sp>
          <p:nvSpPr>
            <p:cNvPr id="31" name="橢圓 30"/>
            <p:cNvSpPr/>
            <p:nvPr/>
          </p:nvSpPr>
          <p:spPr>
            <a:xfrm>
              <a:off x="4364191" y="497533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文字方塊 36"/>
            <p:cNvSpPr txBox="1"/>
            <p:nvPr/>
          </p:nvSpPr>
          <p:spPr>
            <a:xfrm>
              <a:off x="4299414" y="492441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45</a:t>
              </a:r>
              <a:endParaRPr lang="zh-TW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5044693" y="4934668"/>
            <a:ext cx="415499" cy="369332"/>
            <a:chOff x="5044693" y="4934668"/>
            <a:chExt cx="415499" cy="369332"/>
          </a:xfrm>
        </p:grpSpPr>
        <p:sp>
          <p:nvSpPr>
            <p:cNvPr id="34" name="橢圓 33"/>
            <p:cNvSpPr/>
            <p:nvPr/>
          </p:nvSpPr>
          <p:spPr>
            <a:xfrm>
              <a:off x="5097502" y="497370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5044693" y="493466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文字方塊 38"/>
          <p:cNvSpPr txBox="1"/>
          <p:nvPr/>
        </p:nvSpPr>
        <p:spPr>
          <a:xfrm>
            <a:off x="4898952" y="23390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236956" y="23390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5729950" y="23390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2821457" y="23390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4067954" y="23390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5314451" y="23390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6560948" y="23390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2405958" y="23390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3652455" y="23390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4483453" y="23390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6145449" y="23390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1" name="群組 60"/>
          <p:cNvGrpSpPr/>
          <p:nvPr/>
        </p:nvGrpSpPr>
        <p:grpSpPr>
          <a:xfrm>
            <a:off x="2208846" y="5639638"/>
            <a:ext cx="4598690" cy="769442"/>
            <a:chOff x="4075978" y="3500288"/>
            <a:chExt cx="4598690" cy="769442"/>
          </a:xfrm>
        </p:grpSpPr>
        <p:sp>
          <p:nvSpPr>
            <p:cNvPr id="62" name="文字方塊 61"/>
            <p:cNvSpPr txBox="1"/>
            <p:nvPr/>
          </p:nvSpPr>
          <p:spPr>
            <a:xfrm>
              <a:off x="4075978" y="3500288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中序</a:t>
              </a:r>
              <a:endPara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6597173" y="39003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4935177" y="39003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39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7428171" y="39003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4519678" y="39003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5766175" y="39003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7012672" y="39003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8259169" y="39003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4104179" y="39003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5350676" y="39003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6181674" y="39003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45</a:t>
              </a:r>
              <a:endParaRPr lang="zh-TW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7843670" y="390039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文字方塊 73"/>
          <p:cNvSpPr txBox="1"/>
          <p:nvPr/>
        </p:nvSpPr>
        <p:spPr>
          <a:xfrm>
            <a:off x="6702725" y="5639638"/>
            <a:ext cx="1467068" cy="400110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具有穩定性</a:t>
            </a:r>
          </a:p>
        </p:txBody>
      </p:sp>
    </p:spTree>
    <p:extLst>
      <p:ext uri="{BB962C8B-B14F-4D97-AF65-F5344CB8AC3E}">
        <p14:creationId xmlns:p14="http://schemas.microsoft.com/office/powerpoint/2010/main" val="208926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3" presetClass="emph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3" presetClass="emph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5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75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250"/>
                            </p:stCondLst>
                            <p:childTnLst>
                              <p:par>
                                <p:cTn id="34" presetID="3" presetClass="emph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3" presetClass="emph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75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25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750"/>
                            </p:stCondLst>
                            <p:childTnLst>
                              <p:par>
                                <p:cTn id="56" presetID="3" presetClass="emph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8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90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9500"/>
                            </p:stCondLst>
                            <p:childTnLst>
                              <p:par>
                                <p:cTn id="67" presetID="3" presetClass="emph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25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75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1250"/>
                            </p:stCondLst>
                            <p:childTnLst>
                              <p:par>
                                <p:cTn id="78" presetID="3" presetClass="emph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20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25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3000"/>
                            </p:stCondLst>
                            <p:childTnLst>
                              <p:par>
                                <p:cTn id="89" presetID="3" presetClass="emph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3750"/>
                            </p:stCondLst>
                            <p:childTnLst>
                              <p:par>
                                <p:cTn id="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425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4750"/>
                            </p:stCondLst>
                            <p:childTnLst>
                              <p:par>
                                <p:cTn id="100" presetID="3" presetClass="emph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5500"/>
                            </p:stCondLst>
                            <p:childTnLst>
                              <p:par>
                                <p:cTn id="10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6000"/>
                            </p:stCondLst>
                            <p:childTnLst>
                              <p:par>
                                <p:cTn id="10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6500"/>
                            </p:stCondLst>
                            <p:childTnLst>
                              <p:par>
                                <p:cTn id="111" presetID="3" presetClass="emph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7250"/>
                            </p:stCondLst>
                            <p:childTnLst>
                              <p:par>
                                <p:cTn id="1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7750"/>
                            </p:stCondLst>
                            <p:childTnLst>
                              <p:par>
                                <p:cTn id="1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7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二元樹排序法 </a:t>
            </a:r>
            <a:br>
              <a:rPr lang="en-US" altLang="zh-TW" sz="3600" dirty="0"/>
            </a:br>
            <a:r>
              <a:rPr lang="en-US" altLang="zh-TW" sz="3600" dirty="0"/>
              <a:t>Binary Tree Sort (4/4)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170980" y="1319014"/>
                <a:ext cx="8826061" cy="5098878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zh-TW" altLang="en-US" dirty="0"/>
                  <a:t>效率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二元搜尋樹高度</a:t>
                </a:r>
                <a:endParaRPr lang="en-US" altLang="zh-TW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0" smtClean="0">
                            <a:latin typeface="Cambria Math"/>
                          </a:rPr>
                          <m:t>𝐥𝐠</m:t>
                        </m:r>
                        <m:r>
                          <a:rPr lang="en-US" altLang="zh-TW" b="1" i="1" smtClean="0">
                            <a:latin typeface="Cambria Math"/>
                          </a:rPr>
                          <m:t> </m:t>
                        </m:r>
                        <m:r>
                          <a:rPr lang="en-US" altLang="zh-TW" b="1" i="1" smtClean="0">
                            <a:latin typeface="Cambria Math"/>
                          </a:rPr>
                          <m:t>𝒏</m:t>
                        </m:r>
                      </m:e>
                    </m:d>
                    <m:r>
                      <a:rPr lang="en-US" altLang="zh-TW" b="1" i="1" smtClean="0">
                        <a:latin typeface="Cambria Math"/>
                      </a:rPr>
                      <m:t>+</m:t>
                    </m:r>
                    <m:r>
                      <a:rPr lang="en-US" altLang="zh-TW" b="1" i="1" smtClean="0">
                        <a:latin typeface="Cambria Math"/>
                      </a:rPr>
                      <m:t>𝟏</m:t>
                    </m:r>
                  </m:oMath>
                </a14:m>
                <a:r>
                  <a:rPr lang="en-US" altLang="zh-TW" dirty="0"/>
                  <a:t> ~ </a:t>
                </a:r>
                <a:r>
                  <a:rPr lang="en-US" altLang="zh-TW" i="1" dirty="0"/>
                  <a:t>n</a:t>
                </a:r>
              </a:p>
              <a:p>
                <a:pPr lvl="1"/>
                <a:r>
                  <a:rPr lang="zh-TW" altLang="en-US" dirty="0"/>
                  <a:t>建立過程，每插入一筆資料需要搜尋樹一次</a:t>
                </a:r>
                <a:endParaRPr lang="en-US" altLang="zh-TW" dirty="0"/>
              </a:p>
              <a:p>
                <a:pPr lvl="2"/>
                <a:r>
                  <a:rPr lang="zh-TW" altLang="en-US" dirty="0"/>
                  <a:t>共有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</a:t>
                </a:r>
                <a:r>
                  <a:rPr lang="zh-TW" altLang="en-US" dirty="0"/>
                  <a:t>次插入</a:t>
                </a:r>
                <a:endParaRPr lang="en-US" altLang="zh-TW" dirty="0"/>
              </a:p>
              <a:p>
                <a:pPr lvl="1"/>
                <a:r>
                  <a:rPr lang="en-US" altLang="zh-TW" dirty="0"/>
                  <a:t>O(</a:t>
                </a:r>
                <a:r>
                  <a:rPr lang="en-US" altLang="zh-TW" i="1" dirty="0"/>
                  <a:t>n </a:t>
                </a:r>
                <a:r>
                  <a:rPr lang="en-US" altLang="zh-TW" dirty="0" err="1"/>
                  <a:t>lg</a:t>
                </a:r>
                <a:r>
                  <a:rPr lang="en-US" altLang="zh-TW" i="1" dirty="0"/>
                  <a:t> n</a:t>
                </a:r>
                <a:r>
                  <a:rPr lang="en-US" altLang="zh-TW" dirty="0"/>
                  <a:t>)</a:t>
                </a:r>
                <a:r>
                  <a:rPr lang="en-US" altLang="zh-TW" i="1" dirty="0"/>
                  <a:t> ~ </a:t>
                </a:r>
                <a:r>
                  <a:rPr lang="en-US" altLang="zh-TW" dirty="0"/>
                  <a:t>O(</a:t>
                </a:r>
                <a:r>
                  <a:rPr lang="en-US" altLang="zh-TW" i="1" dirty="0"/>
                  <a:t>n</a:t>
                </a:r>
                <a:r>
                  <a:rPr lang="en-US" altLang="zh-TW" baseline="30000" dirty="0"/>
                  <a:t>2</a:t>
                </a:r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 rotWithShape="1">
                <a:blip r:embed="rId2"/>
                <a:stretch>
                  <a:fillRect l="-5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60</a:t>
            </a:fld>
            <a:endParaRPr lang="en-US" dirty="0"/>
          </a:p>
        </p:txBody>
      </p:sp>
      <p:grpSp>
        <p:nvGrpSpPr>
          <p:cNvPr id="10" name="群組 9"/>
          <p:cNvGrpSpPr/>
          <p:nvPr/>
        </p:nvGrpSpPr>
        <p:grpSpPr>
          <a:xfrm>
            <a:off x="2244469" y="3535948"/>
            <a:ext cx="4066565" cy="1252004"/>
            <a:chOff x="2170333" y="3854834"/>
            <a:chExt cx="4066565" cy="1252004"/>
          </a:xfrm>
        </p:grpSpPr>
        <p:sp>
          <p:nvSpPr>
            <p:cNvPr id="7" name="圓角矩形圖說文字 6"/>
            <p:cNvSpPr/>
            <p:nvPr/>
          </p:nvSpPr>
          <p:spPr>
            <a:xfrm>
              <a:off x="3525855" y="4414378"/>
              <a:ext cx="2711043" cy="692460"/>
            </a:xfrm>
            <a:prstGeom prst="wedgeRoundRectCallout">
              <a:avLst>
                <a:gd name="adj1" fmla="val -87055"/>
                <a:gd name="adj2" fmla="val -127104"/>
                <a:gd name="adj3" fmla="val 16667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Input </a:t>
              </a:r>
              <a:r>
                <a: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資料為已排序好時</a:t>
              </a:r>
              <a:endPara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pPr algn="ctr"/>
              <a:r>
                <a: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會形成歪斜樹</a:t>
              </a:r>
            </a:p>
          </p:txBody>
        </p:sp>
        <p:cxnSp>
          <p:nvCxnSpPr>
            <p:cNvPr id="9" name="直線接點 8"/>
            <p:cNvCxnSpPr/>
            <p:nvPr/>
          </p:nvCxnSpPr>
          <p:spPr>
            <a:xfrm>
              <a:off x="2170333" y="3854834"/>
              <a:ext cx="612000" cy="0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00543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謝耳排序 </a:t>
            </a:r>
            <a:r>
              <a:rPr lang="en-US" altLang="zh-TW" dirty="0"/>
              <a:t>Shell Sort</a:t>
            </a:r>
            <a:r>
              <a:rPr lang="zh-TW" altLang="en-US" dirty="0"/>
              <a:t> </a:t>
            </a:r>
            <a:r>
              <a:rPr lang="en-US" altLang="zh-TW" dirty="0"/>
              <a:t>(1/5)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謝耳排序 </a:t>
                </a:r>
                <a:r>
                  <a:rPr lang="en-US" altLang="zh-TW" dirty="0"/>
                  <a:t>(Shell sort)</a:t>
                </a:r>
              </a:p>
              <a:p>
                <a:pPr lvl="1"/>
                <a:r>
                  <a:rPr lang="zh-TW" altLang="en-US" dirty="0"/>
                  <a:t>氣泡排序或插入排序的變種</a:t>
                </a:r>
                <a:endParaRPr lang="en-US" altLang="zh-TW" dirty="0"/>
              </a:p>
              <a:p>
                <a:pPr lvl="1"/>
                <a:r>
                  <a:rPr lang="en-US" altLang="zh-TW" dirty="0"/>
                  <a:t>1959</a:t>
                </a:r>
                <a:r>
                  <a:rPr lang="zh-TW" altLang="en-US" dirty="0"/>
                  <a:t>年</a:t>
                </a:r>
                <a:r>
                  <a:rPr lang="en-US" altLang="zh-TW" dirty="0"/>
                  <a:t>Donald Shell</a:t>
                </a:r>
                <a:r>
                  <a:rPr lang="zh-TW" altLang="en-US" dirty="0"/>
                  <a:t>所提出</a:t>
                </a:r>
                <a:endParaRPr lang="en-US" altLang="zh-TW" dirty="0"/>
              </a:p>
              <a:p>
                <a:pPr lvl="1"/>
                <a:r>
                  <a:rPr lang="en-US" altLang="zh-TW" dirty="0"/>
                  <a:t>best case: O(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log</a:t>
                </a:r>
                <a:r>
                  <a:rPr lang="en-US" altLang="zh-TW" baseline="30000" dirty="0"/>
                  <a:t>2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); worst case: O(</a:t>
                </a:r>
                <a:r>
                  <a:rPr lang="en-US" altLang="zh-TW" i="1" dirty="0"/>
                  <a:t>n</a:t>
                </a:r>
                <a:r>
                  <a:rPr lang="en-US" altLang="zh-TW" baseline="30000" dirty="0"/>
                  <a:t>2</a:t>
                </a:r>
                <a:r>
                  <a:rPr lang="en-US" altLang="zh-TW" dirty="0"/>
                  <a:t>)</a:t>
                </a:r>
              </a:p>
              <a:p>
                <a:endParaRPr lang="en-US" altLang="zh-TW" dirty="0"/>
              </a:p>
              <a:p>
                <a:r>
                  <a:rPr lang="zh-TW" altLang="en-US" dirty="0"/>
                  <a:t>謝耳排序法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將</a:t>
                </a:r>
                <a:r>
                  <a:rPr lang="en-US" altLang="zh-TW" i="1" dirty="0"/>
                  <a:t>n</a:t>
                </a:r>
                <a:r>
                  <a:rPr lang="zh-TW" altLang="en-US" dirty="0"/>
                  <a:t>筆資料分成</a:t>
                </a:r>
                <a14:m>
                  <m:oMath xmlns:m="http://schemas.openxmlformats.org/officeDocument/2006/math">
                    <m:r>
                      <a:rPr lang="en-US" altLang="zh-TW" b="1" i="0" smtClean="0">
                        <a:latin typeface="Cambria Math" panose="02040503050406030204" pitchFamily="18" charset="0"/>
                      </a:rPr>
                      <m:t> </m:t>
                    </m:r>
                    <m:box>
                      <m:boxPr>
                        <m:ctrlPr>
                          <a:rPr lang="zh-TW" alt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r>
                          <m:rPr>
                            <m:brk m:alnAt="63"/>
                          </m:rP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box>
                  </m:oMath>
                </a14:m>
                <a:r>
                  <a:rPr lang="zh-TW" altLang="en-US" dirty="0"/>
                  <a:t>部分，稱</a:t>
                </a:r>
                <a:r>
                  <a:rPr lang="en-US" altLang="zh-TW" i="1" dirty="0"/>
                  <a:t>Y</a:t>
                </a:r>
                <a:r>
                  <a:rPr lang="zh-TW" altLang="en-US" dirty="0"/>
                  <a:t>為劃分數</a:t>
                </a:r>
                <a:endParaRPr lang="en-US" altLang="zh-TW" dirty="0"/>
              </a:p>
              <a:p>
                <a:pPr lvl="2"/>
                <a:r>
                  <a:rPr lang="zh-TW" altLang="en-US" dirty="0"/>
                  <a:t>第</a:t>
                </a:r>
                <a:r>
                  <a:rPr lang="en-US" altLang="zh-TW" dirty="0"/>
                  <a:t>1</a:t>
                </a:r>
                <a:r>
                  <a:rPr lang="zh-TW" altLang="en-US" dirty="0"/>
                  <a:t>組：</a:t>
                </a:r>
                <a:r>
                  <a:rPr lang="en-US" altLang="zh-TW" dirty="0"/>
                  <a:t>1, 1+</a:t>
                </a:r>
                <a:r>
                  <a:rPr lang="en-US" altLang="zh-TW" i="1" dirty="0"/>
                  <a:t>Y</a:t>
                </a:r>
                <a:r>
                  <a:rPr lang="en-US" altLang="zh-TW" dirty="0"/>
                  <a:t>, 1+2</a:t>
                </a:r>
                <a:r>
                  <a:rPr lang="en-US" altLang="zh-TW" i="1" dirty="0"/>
                  <a:t>Y</a:t>
                </a:r>
                <a:r>
                  <a:rPr lang="en-US" altLang="zh-TW" dirty="0"/>
                  <a:t>, 1+3</a:t>
                </a:r>
                <a:r>
                  <a:rPr lang="en-US" altLang="zh-TW" i="1" dirty="0"/>
                  <a:t>Y</a:t>
                </a:r>
                <a:r>
                  <a:rPr lang="en-US" altLang="zh-TW" dirty="0"/>
                  <a:t>,…</a:t>
                </a:r>
              </a:p>
              <a:p>
                <a:pPr lvl="2"/>
                <a:r>
                  <a:rPr lang="zh-TW" altLang="en-US" dirty="0"/>
                  <a:t>第</a:t>
                </a:r>
                <a:r>
                  <a:rPr lang="en-US" altLang="zh-TW" dirty="0"/>
                  <a:t>2</a:t>
                </a:r>
                <a:r>
                  <a:rPr lang="zh-TW" altLang="en-US" dirty="0"/>
                  <a:t>組：</a:t>
                </a:r>
                <a:r>
                  <a:rPr lang="en-US" altLang="zh-TW" dirty="0"/>
                  <a:t>2, 2+</a:t>
                </a:r>
                <a:r>
                  <a:rPr lang="en-US" altLang="zh-TW" i="1" dirty="0"/>
                  <a:t>Y</a:t>
                </a:r>
                <a:r>
                  <a:rPr lang="en-US" altLang="zh-TW" dirty="0"/>
                  <a:t>, 2+2</a:t>
                </a:r>
                <a:r>
                  <a:rPr lang="en-US" altLang="zh-TW" i="1" dirty="0"/>
                  <a:t>Y</a:t>
                </a:r>
                <a:r>
                  <a:rPr lang="en-US" altLang="zh-TW" dirty="0"/>
                  <a:t>, 2+3</a:t>
                </a:r>
                <a:r>
                  <a:rPr lang="en-US" altLang="zh-TW" i="1" dirty="0"/>
                  <a:t>Y</a:t>
                </a:r>
                <a:r>
                  <a:rPr lang="en-US" altLang="zh-TW" dirty="0"/>
                  <a:t>,…</a:t>
                </a:r>
              </a:p>
              <a:p>
                <a:pPr lvl="2"/>
                <a:r>
                  <a:rPr lang="en-US" altLang="zh-TW" dirty="0"/>
                  <a:t>…</a:t>
                </a:r>
              </a:p>
              <a:p>
                <a:pPr lvl="2"/>
                <a:r>
                  <a:rPr lang="zh-TW" altLang="en-US" dirty="0"/>
                  <a:t>將每一組以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插入排序法</a:t>
                </a:r>
                <a:r>
                  <a:rPr lang="zh-TW" altLang="en-US" dirty="0"/>
                  <a:t>排序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每一循環的劃分數是上一循環劃分數除以</a:t>
                </a:r>
                <a:r>
                  <a:rPr lang="en-US" altLang="zh-TW" dirty="0"/>
                  <a:t>2</a:t>
                </a:r>
                <a:r>
                  <a:rPr lang="zh-TW" altLang="en-US" dirty="0"/>
                  <a:t>，最後一循環的劃分數為</a:t>
                </a:r>
                <a:r>
                  <a:rPr lang="en-US" altLang="zh-TW" dirty="0"/>
                  <a:t>1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5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61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8555928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謝耳排序 </a:t>
            </a:r>
            <a:r>
              <a:rPr lang="en-US" altLang="zh-TW" dirty="0"/>
              <a:t>Shell Sort</a:t>
            </a:r>
            <a:r>
              <a:rPr lang="zh-TW" altLang="en-US" dirty="0"/>
              <a:t> </a:t>
            </a:r>
            <a:r>
              <a:rPr lang="en-US" altLang="zh-TW" dirty="0"/>
              <a:t>(2/5)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C00000"/>
                </a:solidFill>
              </a:rPr>
              <a:t>9</a:t>
            </a:r>
            <a:r>
              <a:rPr lang="zh-TW" altLang="en-US" dirty="0"/>
              <a:t>筆資料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62</a:t>
            </a:fld>
            <a:endParaRPr lang="en-US" altLang="zh-TW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572347" y="1811197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721634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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384614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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070169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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733149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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393990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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5056970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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742525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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405505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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078112" y="1484784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</a:t>
            </a:r>
            <a:endParaRPr lang="zh-TW" altLang="en-US" sz="20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179512" y="2867784"/>
                <a:ext cx="1130438" cy="535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i="1" dirty="0">
                    <a:solidFill>
                      <a:srgbClr val="C00000"/>
                    </a:solidFill>
                    <a:latin typeface="+mj-lt"/>
                  </a:rPr>
                  <a:t>Y</a:t>
                </a:r>
                <a:r>
                  <a:rPr lang="zh-TW" altLang="en-US" sz="2000" b="1" dirty="0">
                    <a:solidFill>
                      <a:srgbClr val="C00000"/>
                    </a:solidFill>
                    <a:latin typeface="+mj-lt"/>
                  </a:rPr>
                  <a:t> </a:t>
                </a:r>
                <a:r>
                  <a:rPr lang="en-US" altLang="zh-TW" sz="2000" b="1" dirty="0">
                    <a:solidFill>
                      <a:srgbClr val="C00000"/>
                    </a:solidFill>
                    <a:latin typeface="+mj-lt"/>
                  </a:rPr>
                  <a:t>=</a:t>
                </a:r>
                <a:r>
                  <a:rPr lang="zh-TW" altLang="en-US" sz="2000" b="1" dirty="0">
                    <a:solidFill>
                      <a:srgbClr val="C0000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num>
                      <m:den>
                        <m:r>
                          <a:rPr lang="en-US" altLang="zh-TW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zh-TW" altLang="en-US" sz="2000" b="1" dirty="0">
                    <a:solidFill>
                      <a:srgbClr val="C00000"/>
                    </a:solidFill>
                    <a:latin typeface="+mj-lt"/>
                  </a:rPr>
                  <a:t> </a:t>
                </a:r>
                <a:r>
                  <a:rPr lang="en-US" altLang="zh-TW" sz="2000" b="1" dirty="0">
                    <a:solidFill>
                      <a:srgbClr val="C00000"/>
                    </a:solidFill>
                    <a:latin typeface="+mj-lt"/>
                  </a:rPr>
                  <a:t>= 4</a:t>
                </a:r>
                <a:endParaRPr lang="zh-TW" altLang="en-US" sz="2000" b="1" dirty="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2867784"/>
                <a:ext cx="1130438" cy="535468"/>
              </a:xfrm>
              <a:prstGeom prst="rect">
                <a:avLst/>
              </a:prstGeom>
              <a:blipFill rotWithShape="0">
                <a:blip r:embed="rId2"/>
                <a:stretch>
                  <a:fillRect l="-5376" r="-4839" b="-6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2924097" y="2937398"/>
          <a:ext cx="2031999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9" name="群組 48"/>
          <p:cNvGrpSpPr/>
          <p:nvPr/>
        </p:nvGrpSpPr>
        <p:grpSpPr>
          <a:xfrm>
            <a:off x="3070169" y="2615453"/>
            <a:ext cx="1737717" cy="400110"/>
            <a:chOff x="3070169" y="2615453"/>
            <a:chExt cx="1737717" cy="400110"/>
          </a:xfrm>
        </p:grpSpPr>
        <p:sp>
          <p:nvSpPr>
            <p:cNvPr id="19" name="文字方塊 18"/>
            <p:cNvSpPr txBox="1"/>
            <p:nvPr/>
          </p:nvSpPr>
          <p:spPr>
            <a:xfrm>
              <a:off x="3070169" y="2615453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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3733148" y="2615453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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4393990" y="2615453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</a:t>
              </a:r>
              <a:endParaRPr lang="zh-TW" altLang="en-US" sz="2000" b="1" dirty="0">
                <a:latin typeface="+mj-lt"/>
              </a:endParaRPr>
            </a:p>
          </p:txBody>
        </p:sp>
      </p:grpSp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2924097" y="3688711"/>
          <a:ext cx="1354666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0" name="群組 49"/>
          <p:cNvGrpSpPr/>
          <p:nvPr/>
        </p:nvGrpSpPr>
        <p:grpSpPr>
          <a:xfrm>
            <a:off x="3070169" y="3358453"/>
            <a:ext cx="1076875" cy="410786"/>
            <a:chOff x="3070169" y="3358453"/>
            <a:chExt cx="1076875" cy="410786"/>
          </a:xfrm>
        </p:grpSpPr>
        <p:sp>
          <p:nvSpPr>
            <p:cNvPr id="23" name="文字方塊 22"/>
            <p:cNvSpPr txBox="1"/>
            <p:nvPr/>
          </p:nvSpPr>
          <p:spPr>
            <a:xfrm>
              <a:off x="3070169" y="3369129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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3733148" y="3358453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</a:t>
              </a:r>
              <a:endParaRPr lang="zh-TW" altLang="en-US" sz="2000" b="1" dirty="0">
                <a:latin typeface="+mj-lt"/>
              </a:endParaRPr>
            </a:p>
          </p:txBody>
        </p:sp>
      </p:grpSp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2940649" y="4441687"/>
          <a:ext cx="1354666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1" name="群組 50"/>
          <p:cNvGrpSpPr/>
          <p:nvPr/>
        </p:nvGrpSpPr>
        <p:grpSpPr>
          <a:xfrm>
            <a:off x="3070169" y="4107244"/>
            <a:ext cx="1076875" cy="406502"/>
            <a:chOff x="3070169" y="4107244"/>
            <a:chExt cx="1076875" cy="406502"/>
          </a:xfrm>
        </p:grpSpPr>
        <p:sp>
          <p:nvSpPr>
            <p:cNvPr id="26" name="文字方塊 25"/>
            <p:cNvSpPr txBox="1"/>
            <p:nvPr/>
          </p:nvSpPr>
          <p:spPr>
            <a:xfrm>
              <a:off x="3070169" y="4107244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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3733148" y="4113636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</a:t>
              </a:r>
              <a:endParaRPr lang="zh-TW" altLang="en-US" sz="2000" b="1" dirty="0">
                <a:latin typeface="+mj-lt"/>
              </a:endParaRPr>
            </a:p>
          </p:txBody>
        </p:sp>
      </p:grpSp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2944845" y="5193000"/>
          <a:ext cx="1354666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2" name="群組 51"/>
          <p:cNvGrpSpPr/>
          <p:nvPr/>
        </p:nvGrpSpPr>
        <p:grpSpPr>
          <a:xfrm>
            <a:off x="3070169" y="4862427"/>
            <a:ext cx="1076875" cy="406502"/>
            <a:chOff x="3070169" y="4862427"/>
            <a:chExt cx="1076875" cy="406502"/>
          </a:xfrm>
        </p:grpSpPr>
        <p:sp>
          <p:nvSpPr>
            <p:cNvPr id="29" name="文字方塊 28"/>
            <p:cNvSpPr txBox="1"/>
            <p:nvPr/>
          </p:nvSpPr>
          <p:spPr>
            <a:xfrm>
              <a:off x="3070169" y="4862427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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3733148" y="4868819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</a:t>
              </a:r>
              <a:endParaRPr lang="zh-TW" altLang="en-US" sz="2000" b="1" dirty="0">
                <a:latin typeface="+mj-lt"/>
              </a:endParaRPr>
            </a:p>
          </p:txBody>
        </p:sp>
      </p:grpSp>
      <p:sp>
        <p:nvSpPr>
          <p:cNvPr id="31" name="文字方塊 30"/>
          <p:cNvSpPr txBox="1"/>
          <p:nvPr/>
        </p:nvSpPr>
        <p:spPr>
          <a:xfrm>
            <a:off x="1696876" y="2935463"/>
            <a:ext cx="840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第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1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組</a:t>
            </a:r>
          </a:p>
        </p:txBody>
      </p:sp>
      <p:sp>
        <p:nvSpPr>
          <p:cNvPr id="32" name="文字方塊 31"/>
          <p:cNvSpPr txBox="1"/>
          <p:nvPr/>
        </p:nvSpPr>
        <p:spPr>
          <a:xfrm>
            <a:off x="1696875" y="3662225"/>
            <a:ext cx="840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第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2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組</a:t>
            </a:r>
          </a:p>
        </p:txBody>
      </p:sp>
      <p:sp>
        <p:nvSpPr>
          <p:cNvPr id="33" name="文字方塊 32"/>
          <p:cNvSpPr txBox="1"/>
          <p:nvPr/>
        </p:nvSpPr>
        <p:spPr>
          <a:xfrm>
            <a:off x="1695730" y="4415473"/>
            <a:ext cx="840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第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3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組</a:t>
            </a:r>
          </a:p>
        </p:txBody>
      </p:sp>
      <p:sp>
        <p:nvSpPr>
          <p:cNvPr id="34" name="文字方塊 33"/>
          <p:cNvSpPr txBox="1"/>
          <p:nvPr/>
        </p:nvSpPr>
        <p:spPr>
          <a:xfrm>
            <a:off x="1712089" y="5189130"/>
            <a:ext cx="840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第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4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組</a:t>
            </a:r>
          </a:p>
        </p:txBody>
      </p:sp>
      <p:sp>
        <p:nvSpPr>
          <p:cNvPr id="35" name="向右箭號 34"/>
          <p:cNvSpPr/>
          <p:nvPr/>
        </p:nvSpPr>
        <p:spPr>
          <a:xfrm>
            <a:off x="5451308" y="3920875"/>
            <a:ext cx="478607" cy="6831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36" name="表格 35"/>
          <p:cNvGraphicFramePr>
            <a:graphicFrameLocks noGrp="1"/>
          </p:cNvGraphicFramePr>
          <p:nvPr/>
        </p:nvGraphicFramePr>
        <p:xfrm>
          <a:off x="6320633" y="2937398"/>
          <a:ext cx="2031999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3" name="群組 52"/>
          <p:cNvGrpSpPr/>
          <p:nvPr/>
        </p:nvGrpSpPr>
        <p:grpSpPr>
          <a:xfrm>
            <a:off x="6466705" y="2615453"/>
            <a:ext cx="1737717" cy="400110"/>
            <a:chOff x="6466705" y="2615453"/>
            <a:chExt cx="1737717" cy="400110"/>
          </a:xfrm>
        </p:grpSpPr>
        <p:sp>
          <p:nvSpPr>
            <p:cNvPr id="37" name="文字方塊 36"/>
            <p:cNvSpPr txBox="1"/>
            <p:nvPr/>
          </p:nvSpPr>
          <p:spPr>
            <a:xfrm>
              <a:off x="6466705" y="2615453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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7129684" y="2615453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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7790526" y="2615453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</a:t>
              </a:r>
              <a:endParaRPr lang="zh-TW" altLang="en-US" sz="2000" b="1" dirty="0">
                <a:latin typeface="+mj-lt"/>
              </a:endParaRPr>
            </a:p>
          </p:txBody>
        </p:sp>
      </p:grpSp>
      <p:graphicFrame>
        <p:nvGraphicFramePr>
          <p:cNvPr id="40" name="表格 39"/>
          <p:cNvGraphicFramePr>
            <a:graphicFrameLocks noGrp="1"/>
          </p:cNvGraphicFramePr>
          <p:nvPr/>
        </p:nvGraphicFramePr>
        <p:xfrm>
          <a:off x="6320633" y="3688711"/>
          <a:ext cx="1354666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4" name="群組 53"/>
          <p:cNvGrpSpPr/>
          <p:nvPr/>
        </p:nvGrpSpPr>
        <p:grpSpPr>
          <a:xfrm>
            <a:off x="6466705" y="3358453"/>
            <a:ext cx="1076875" cy="410786"/>
            <a:chOff x="6466705" y="3358453"/>
            <a:chExt cx="1076875" cy="410786"/>
          </a:xfrm>
        </p:grpSpPr>
        <p:sp>
          <p:nvSpPr>
            <p:cNvPr id="41" name="文字方塊 40"/>
            <p:cNvSpPr txBox="1"/>
            <p:nvPr/>
          </p:nvSpPr>
          <p:spPr>
            <a:xfrm>
              <a:off x="6466705" y="3369129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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7129684" y="3358453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</a:t>
              </a:r>
              <a:endParaRPr lang="zh-TW" altLang="en-US" sz="2000" b="1" dirty="0">
                <a:latin typeface="+mj-lt"/>
              </a:endParaRPr>
            </a:p>
          </p:txBody>
        </p:sp>
      </p:grpSp>
      <p:graphicFrame>
        <p:nvGraphicFramePr>
          <p:cNvPr id="43" name="表格 42"/>
          <p:cNvGraphicFramePr>
            <a:graphicFrameLocks noGrp="1"/>
          </p:cNvGraphicFramePr>
          <p:nvPr/>
        </p:nvGraphicFramePr>
        <p:xfrm>
          <a:off x="6337185" y="4441687"/>
          <a:ext cx="1354666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5" name="群組 54"/>
          <p:cNvGrpSpPr/>
          <p:nvPr/>
        </p:nvGrpSpPr>
        <p:grpSpPr>
          <a:xfrm>
            <a:off x="6466705" y="4107244"/>
            <a:ext cx="1076875" cy="406502"/>
            <a:chOff x="6466705" y="4107244"/>
            <a:chExt cx="1076875" cy="406502"/>
          </a:xfrm>
        </p:grpSpPr>
        <p:sp>
          <p:nvSpPr>
            <p:cNvPr id="44" name="文字方塊 43"/>
            <p:cNvSpPr txBox="1"/>
            <p:nvPr/>
          </p:nvSpPr>
          <p:spPr>
            <a:xfrm>
              <a:off x="6466705" y="4107244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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7129684" y="4113636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</a:t>
              </a:r>
              <a:endParaRPr lang="zh-TW" altLang="en-US" sz="2000" b="1" dirty="0">
                <a:latin typeface="+mj-lt"/>
              </a:endParaRPr>
            </a:p>
          </p:txBody>
        </p:sp>
      </p:grpSp>
      <p:graphicFrame>
        <p:nvGraphicFramePr>
          <p:cNvPr id="46" name="表格 45"/>
          <p:cNvGraphicFramePr>
            <a:graphicFrameLocks noGrp="1"/>
          </p:cNvGraphicFramePr>
          <p:nvPr/>
        </p:nvGraphicFramePr>
        <p:xfrm>
          <a:off x="6341381" y="5193000"/>
          <a:ext cx="1354666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6" name="群組 55"/>
          <p:cNvGrpSpPr/>
          <p:nvPr/>
        </p:nvGrpSpPr>
        <p:grpSpPr>
          <a:xfrm>
            <a:off x="6466705" y="4862427"/>
            <a:ext cx="1076875" cy="406502"/>
            <a:chOff x="6466705" y="4862427"/>
            <a:chExt cx="1076875" cy="406502"/>
          </a:xfrm>
        </p:grpSpPr>
        <p:sp>
          <p:nvSpPr>
            <p:cNvPr id="47" name="文字方塊 46"/>
            <p:cNvSpPr txBox="1"/>
            <p:nvPr/>
          </p:nvSpPr>
          <p:spPr>
            <a:xfrm>
              <a:off x="6466705" y="4862427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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7129684" y="4868819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</a:t>
              </a:r>
              <a:endParaRPr lang="zh-TW" altLang="en-US" sz="2000" b="1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007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謝耳排序 </a:t>
            </a:r>
            <a:r>
              <a:rPr lang="en-US" altLang="zh-TW" dirty="0"/>
              <a:t>Shell Sort</a:t>
            </a:r>
            <a:r>
              <a:rPr lang="zh-TW" altLang="en-US" dirty="0"/>
              <a:t> </a:t>
            </a:r>
            <a:r>
              <a:rPr lang="en-US" altLang="zh-TW" dirty="0"/>
              <a:t>(3/5)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C00000"/>
                </a:solidFill>
              </a:rPr>
              <a:t>9</a:t>
            </a:r>
            <a:r>
              <a:rPr lang="zh-TW" altLang="en-US" dirty="0"/>
              <a:t>筆資料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63</a:t>
            </a:fld>
            <a:endParaRPr lang="en-US" altLang="zh-TW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572347" y="1811197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721634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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384614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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070169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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733149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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393990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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5056970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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742525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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405505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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078112" y="1484784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</a:t>
            </a:r>
            <a:endParaRPr lang="zh-TW" altLang="en-US" sz="20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179512" y="2867784"/>
                <a:ext cx="1130438" cy="535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i="1" dirty="0">
                    <a:solidFill>
                      <a:srgbClr val="C00000"/>
                    </a:solidFill>
                    <a:latin typeface="+mj-lt"/>
                  </a:rPr>
                  <a:t>Y</a:t>
                </a:r>
                <a:r>
                  <a:rPr lang="zh-TW" altLang="en-US" sz="2000" b="1" dirty="0">
                    <a:solidFill>
                      <a:srgbClr val="C00000"/>
                    </a:solidFill>
                    <a:latin typeface="+mj-lt"/>
                  </a:rPr>
                  <a:t> </a:t>
                </a:r>
                <a:r>
                  <a:rPr lang="en-US" altLang="zh-TW" sz="2000" b="1" dirty="0">
                    <a:solidFill>
                      <a:srgbClr val="C00000"/>
                    </a:solidFill>
                    <a:latin typeface="+mj-lt"/>
                  </a:rPr>
                  <a:t>=</a:t>
                </a:r>
                <a:r>
                  <a:rPr lang="zh-TW" altLang="en-US" sz="2000" b="1" dirty="0">
                    <a:solidFill>
                      <a:srgbClr val="C0000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altLang="zh-TW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zh-TW" altLang="en-US" sz="2000" b="1" dirty="0">
                    <a:solidFill>
                      <a:srgbClr val="C00000"/>
                    </a:solidFill>
                    <a:latin typeface="+mj-lt"/>
                  </a:rPr>
                  <a:t> </a:t>
                </a:r>
                <a:r>
                  <a:rPr lang="en-US" altLang="zh-TW" sz="2000" b="1" dirty="0">
                    <a:solidFill>
                      <a:srgbClr val="C00000"/>
                    </a:solidFill>
                    <a:latin typeface="+mj-lt"/>
                  </a:rPr>
                  <a:t>= 2</a:t>
                </a:r>
                <a:endParaRPr lang="zh-TW" altLang="en-US" sz="2000" b="1" dirty="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2867784"/>
                <a:ext cx="1130438" cy="535468"/>
              </a:xfrm>
              <a:prstGeom prst="rect">
                <a:avLst/>
              </a:prstGeom>
              <a:blipFill rotWithShape="0">
                <a:blip r:embed="rId2"/>
                <a:stretch>
                  <a:fillRect l="-5376" r="-4839" b="-6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/>
          <p:cNvGrpSpPr/>
          <p:nvPr/>
        </p:nvGrpSpPr>
        <p:grpSpPr>
          <a:xfrm>
            <a:off x="3070169" y="3369129"/>
            <a:ext cx="2400697" cy="403757"/>
            <a:chOff x="3070169" y="3369129"/>
            <a:chExt cx="2400697" cy="403757"/>
          </a:xfrm>
        </p:grpSpPr>
        <p:sp>
          <p:nvSpPr>
            <p:cNvPr id="23" name="文字方塊 22"/>
            <p:cNvSpPr txBox="1"/>
            <p:nvPr/>
          </p:nvSpPr>
          <p:spPr>
            <a:xfrm>
              <a:off x="3070169" y="3369129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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4413865" y="3369129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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3734170" y="3372776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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5056970" y="3369129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</a:t>
              </a:r>
              <a:endParaRPr lang="zh-TW" altLang="en-US" sz="2000" b="1" dirty="0">
                <a:latin typeface="+mj-lt"/>
              </a:endParaRPr>
            </a:p>
          </p:txBody>
        </p:sp>
      </p:grpSp>
      <p:sp>
        <p:nvSpPr>
          <p:cNvPr id="31" name="文字方塊 30"/>
          <p:cNvSpPr txBox="1"/>
          <p:nvPr/>
        </p:nvSpPr>
        <p:spPr>
          <a:xfrm>
            <a:off x="1696876" y="2935463"/>
            <a:ext cx="840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第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1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組</a:t>
            </a:r>
          </a:p>
        </p:txBody>
      </p:sp>
      <p:sp>
        <p:nvSpPr>
          <p:cNvPr id="32" name="文字方塊 31"/>
          <p:cNvSpPr txBox="1"/>
          <p:nvPr/>
        </p:nvSpPr>
        <p:spPr>
          <a:xfrm>
            <a:off x="1696875" y="3662225"/>
            <a:ext cx="840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第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2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組</a:t>
            </a:r>
          </a:p>
        </p:txBody>
      </p:sp>
      <p:graphicFrame>
        <p:nvGraphicFramePr>
          <p:cNvPr id="49" name="表格 48"/>
          <p:cNvGraphicFramePr>
            <a:graphicFrameLocks noGrp="1"/>
          </p:cNvGraphicFramePr>
          <p:nvPr/>
        </p:nvGraphicFramePr>
        <p:xfrm>
          <a:off x="2924097" y="2976395"/>
          <a:ext cx="3386665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8" name="群組 17"/>
          <p:cNvGrpSpPr/>
          <p:nvPr/>
        </p:nvGrpSpPr>
        <p:grpSpPr>
          <a:xfrm>
            <a:off x="3070169" y="2614094"/>
            <a:ext cx="3090701" cy="406288"/>
            <a:chOff x="3070169" y="2614094"/>
            <a:chExt cx="3090701" cy="406288"/>
          </a:xfrm>
        </p:grpSpPr>
        <p:sp>
          <p:nvSpPr>
            <p:cNvPr id="19" name="文字方塊 18"/>
            <p:cNvSpPr txBox="1"/>
            <p:nvPr/>
          </p:nvSpPr>
          <p:spPr>
            <a:xfrm>
              <a:off x="3070169" y="2615453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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4413865" y="2615453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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5746974" y="2614094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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3728532" y="2620272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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5061213" y="2615453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</a:t>
              </a:r>
              <a:endParaRPr lang="zh-TW" altLang="en-US" sz="2000" b="1" dirty="0">
                <a:latin typeface="+mj-lt"/>
              </a:endParaRPr>
            </a:p>
          </p:txBody>
        </p:sp>
      </p:grpSp>
      <p:graphicFrame>
        <p:nvGraphicFramePr>
          <p:cNvPr id="52" name="表格 51"/>
          <p:cNvGraphicFramePr>
            <a:graphicFrameLocks noGrp="1"/>
          </p:cNvGraphicFramePr>
          <p:nvPr/>
        </p:nvGraphicFramePr>
        <p:xfrm>
          <a:off x="2924096" y="3715809"/>
          <a:ext cx="2709332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" name="向下箭號 52"/>
          <p:cNvSpPr/>
          <p:nvPr/>
        </p:nvSpPr>
        <p:spPr>
          <a:xfrm>
            <a:off x="3846714" y="4448959"/>
            <a:ext cx="86409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6" name="群組 25"/>
          <p:cNvGrpSpPr/>
          <p:nvPr/>
        </p:nvGrpSpPr>
        <p:grpSpPr>
          <a:xfrm>
            <a:off x="3094927" y="5711277"/>
            <a:ext cx="2400697" cy="403757"/>
            <a:chOff x="3094927" y="5711277"/>
            <a:chExt cx="2400697" cy="403757"/>
          </a:xfrm>
        </p:grpSpPr>
        <p:sp>
          <p:nvSpPr>
            <p:cNvPr id="57" name="文字方塊 56"/>
            <p:cNvSpPr txBox="1"/>
            <p:nvPr/>
          </p:nvSpPr>
          <p:spPr>
            <a:xfrm>
              <a:off x="3094927" y="5711277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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4438623" y="5711277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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3758928" y="5714924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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60" name="文字方塊 59"/>
            <p:cNvSpPr txBox="1"/>
            <p:nvPr/>
          </p:nvSpPr>
          <p:spPr>
            <a:xfrm>
              <a:off x="5081728" y="5711277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</a:t>
              </a:r>
              <a:endParaRPr lang="zh-TW" altLang="en-US" sz="2000" b="1" dirty="0">
                <a:latin typeface="+mj-lt"/>
              </a:endParaRPr>
            </a:p>
          </p:txBody>
        </p:sp>
      </p:grpSp>
      <p:sp>
        <p:nvSpPr>
          <p:cNvPr id="61" name="文字方塊 60"/>
          <p:cNvSpPr txBox="1"/>
          <p:nvPr/>
        </p:nvSpPr>
        <p:spPr>
          <a:xfrm>
            <a:off x="1721634" y="5277611"/>
            <a:ext cx="840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第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1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組</a:t>
            </a:r>
          </a:p>
        </p:txBody>
      </p:sp>
      <p:sp>
        <p:nvSpPr>
          <p:cNvPr id="62" name="文字方塊 61"/>
          <p:cNvSpPr txBox="1"/>
          <p:nvPr/>
        </p:nvSpPr>
        <p:spPr>
          <a:xfrm>
            <a:off x="1721633" y="6004373"/>
            <a:ext cx="840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第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2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組</a:t>
            </a:r>
          </a:p>
        </p:txBody>
      </p:sp>
      <p:graphicFrame>
        <p:nvGraphicFramePr>
          <p:cNvPr id="63" name="表格 62"/>
          <p:cNvGraphicFramePr>
            <a:graphicFrameLocks noGrp="1"/>
          </p:cNvGraphicFramePr>
          <p:nvPr/>
        </p:nvGraphicFramePr>
        <p:xfrm>
          <a:off x="2948855" y="5318543"/>
          <a:ext cx="3386665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5" name="群組 24"/>
          <p:cNvGrpSpPr/>
          <p:nvPr/>
        </p:nvGrpSpPr>
        <p:grpSpPr>
          <a:xfrm>
            <a:off x="3094927" y="4956242"/>
            <a:ext cx="3090701" cy="406288"/>
            <a:chOff x="3094927" y="4956242"/>
            <a:chExt cx="3090701" cy="406288"/>
          </a:xfrm>
        </p:grpSpPr>
        <p:sp>
          <p:nvSpPr>
            <p:cNvPr id="54" name="文字方塊 53"/>
            <p:cNvSpPr txBox="1"/>
            <p:nvPr/>
          </p:nvSpPr>
          <p:spPr>
            <a:xfrm>
              <a:off x="3094927" y="4957601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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4438623" y="4957601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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5771732" y="4956242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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3753290" y="4962420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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5085971" y="4957601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</a:t>
              </a:r>
              <a:endParaRPr lang="zh-TW" altLang="en-US" sz="2000" b="1" dirty="0">
                <a:latin typeface="+mj-lt"/>
              </a:endParaRPr>
            </a:p>
          </p:txBody>
        </p:sp>
      </p:grpSp>
      <p:graphicFrame>
        <p:nvGraphicFramePr>
          <p:cNvPr id="66" name="表格 65"/>
          <p:cNvGraphicFramePr>
            <a:graphicFrameLocks noGrp="1"/>
          </p:cNvGraphicFramePr>
          <p:nvPr/>
        </p:nvGraphicFramePr>
        <p:xfrm>
          <a:off x="2948854" y="6057957"/>
          <a:ext cx="2709332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75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53" grpId="0" animBg="1"/>
      <p:bldP spid="61" grpId="0"/>
      <p:bldP spid="6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謝耳排序 </a:t>
            </a:r>
            <a:r>
              <a:rPr lang="en-US" altLang="zh-TW" dirty="0"/>
              <a:t>Shell Sort</a:t>
            </a:r>
            <a:r>
              <a:rPr lang="zh-TW" altLang="en-US" dirty="0"/>
              <a:t> </a:t>
            </a:r>
            <a:r>
              <a:rPr lang="en-US" altLang="zh-TW" dirty="0"/>
              <a:t>(4/5)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C00000"/>
                </a:solidFill>
              </a:rPr>
              <a:t>9</a:t>
            </a:r>
            <a:r>
              <a:rPr lang="zh-TW" altLang="en-US" dirty="0"/>
              <a:t>筆資料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64</a:t>
            </a:fld>
            <a:endParaRPr lang="en-US" altLang="zh-TW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572347" y="1811197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721634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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384614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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070169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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733149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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393990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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5056970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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742525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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405505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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078112" y="1484784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</a:t>
            </a:r>
            <a:endParaRPr lang="zh-TW" altLang="en-US" sz="20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179512" y="2867784"/>
                <a:ext cx="1130438" cy="535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i="1" dirty="0">
                    <a:solidFill>
                      <a:srgbClr val="C00000"/>
                    </a:solidFill>
                    <a:latin typeface="+mj-lt"/>
                  </a:rPr>
                  <a:t>Y</a:t>
                </a:r>
                <a:r>
                  <a:rPr lang="zh-TW" altLang="en-US" sz="2000" b="1" dirty="0">
                    <a:solidFill>
                      <a:srgbClr val="C00000"/>
                    </a:solidFill>
                    <a:latin typeface="+mj-lt"/>
                  </a:rPr>
                  <a:t> </a:t>
                </a:r>
                <a:r>
                  <a:rPr lang="en-US" altLang="zh-TW" sz="2000" b="1" dirty="0">
                    <a:solidFill>
                      <a:srgbClr val="C00000"/>
                    </a:solidFill>
                    <a:latin typeface="+mj-lt"/>
                  </a:rPr>
                  <a:t>=</a:t>
                </a:r>
                <a:r>
                  <a:rPr lang="zh-TW" altLang="en-US" sz="2000" b="1" dirty="0">
                    <a:solidFill>
                      <a:srgbClr val="C0000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altLang="zh-TW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zh-TW" altLang="en-US" sz="2000" b="1" dirty="0">
                    <a:solidFill>
                      <a:srgbClr val="C00000"/>
                    </a:solidFill>
                    <a:latin typeface="+mj-lt"/>
                  </a:rPr>
                  <a:t> </a:t>
                </a:r>
                <a:r>
                  <a:rPr lang="en-US" altLang="zh-TW" sz="2000" b="1" dirty="0">
                    <a:solidFill>
                      <a:srgbClr val="C00000"/>
                    </a:solidFill>
                    <a:latin typeface="+mj-lt"/>
                  </a:rPr>
                  <a:t>= 1</a:t>
                </a:r>
                <a:endParaRPr lang="zh-TW" altLang="en-US" sz="2000" b="1" dirty="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2867784"/>
                <a:ext cx="1130438" cy="535468"/>
              </a:xfrm>
              <a:prstGeom prst="rect">
                <a:avLst/>
              </a:prstGeom>
              <a:blipFill rotWithShape="0">
                <a:blip r:embed="rId2"/>
                <a:stretch>
                  <a:fillRect l="-5376" r="-4839" b="-6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字方塊 30"/>
          <p:cNvSpPr txBox="1"/>
          <p:nvPr/>
        </p:nvSpPr>
        <p:spPr>
          <a:xfrm>
            <a:off x="469655" y="3732356"/>
            <a:ext cx="840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第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1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組</a:t>
            </a:r>
          </a:p>
        </p:txBody>
      </p:sp>
      <p:graphicFrame>
        <p:nvGraphicFramePr>
          <p:cNvPr id="45" name="表格 44"/>
          <p:cNvGraphicFramePr>
            <a:graphicFrameLocks noGrp="1"/>
          </p:cNvGraphicFramePr>
          <p:nvPr/>
        </p:nvGraphicFramePr>
        <p:xfrm>
          <a:off x="1572347" y="3736226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8" name="群組 17"/>
          <p:cNvGrpSpPr/>
          <p:nvPr/>
        </p:nvGrpSpPr>
        <p:grpSpPr>
          <a:xfrm>
            <a:off x="1721634" y="3409813"/>
            <a:ext cx="5770374" cy="400708"/>
            <a:chOff x="1721634" y="3409813"/>
            <a:chExt cx="5770374" cy="400708"/>
          </a:xfrm>
        </p:grpSpPr>
        <p:sp>
          <p:nvSpPr>
            <p:cNvPr id="46" name="文字方塊 45"/>
            <p:cNvSpPr txBox="1"/>
            <p:nvPr/>
          </p:nvSpPr>
          <p:spPr>
            <a:xfrm>
              <a:off x="1721634" y="3410411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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47" name="文字方塊 46"/>
            <p:cNvSpPr txBox="1"/>
            <p:nvPr/>
          </p:nvSpPr>
          <p:spPr>
            <a:xfrm>
              <a:off x="2384614" y="3410411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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3070169" y="3410411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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733149" y="3410411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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4393990" y="3410411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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5056970" y="3410411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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5742525" y="3410411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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6405505" y="3410411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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7078112" y="3409813"/>
              <a:ext cx="413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+mj-lt"/>
                  <a:sym typeface="Wingdings" panose="05000000000000000000" pitchFamily="2" charset="2"/>
                </a:rPr>
                <a:t></a:t>
              </a:r>
              <a:endParaRPr lang="zh-TW" altLang="en-US" sz="2000" b="1" dirty="0">
                <a:latin typeface="+mj-lt"/>
              </a:endParaRPr>
            </a:p>
          </p:txBody>
        </p:sp>
      </p:grpSp>
      <p:sp>
        <p:nvSpPr>
          <p:cNvPr id="73" name="向下箭號 72"/>
          <p:cNvSpPr/>
          <p:nvPr/>
        </p:nvSpPr>
        <p:spPr>
          <a:xfrm>
            <a:off x="3943790" y="2685242"/>
            <a:ext cx="86409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7393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7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謝耳排序 </a:t>
            </a:r>
            <a:r>
              <a:rPr lang="en-US" altLang="zh-TW" dirty="0"/>
              <a:t>Shell Sort</a:t>
            </a:r>
            <a:r>
              <a:rPr lang="zh-TW" altLang="en-US" dirty="0"/>
              <a:t> </a:t>
            </a:r>
            <a:r>
              <a:rPr lang="en-US" altLang="zh-TW" dirty="0"/>
              <a:t>(5/5)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C00000"/>
                </a:solidFill>
              </a:rPr>
              <a:t>9</a:t>
            </a:r>
            <a:r>
              <a:rPr lang="zh-TW" altLang="en-US" dirty="0"/>
              <a:t>筆資料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65</a:t>
            </a:fld>
            <a:endParaRPr lang="en-US" altLang="zh-TW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572347" y="1811197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721634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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384614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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070169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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733149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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393990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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5056970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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742525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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405505" y="148538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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078112" y="1484784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</a:t>
            </a:r>
            <a:endParaRPr lang="zh-TW" altLang="en-US" sz="20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179512" y="2867784"/>
                <a:ext cx="1130438" cy="535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i="1" dirty="0">
                    <a:latin typeface="+mj-lt"/>
                  </a:rPr>
                  <a:t>Y</a:t>
                </a:r>
                <a:r>
                  <a:rPr lang="zh-TW" altLang="en-US" sz="2000" b="1" dirty="0">
                    <a:latin typeface="+mj-lt"/>
                  </a:rPr>
                  <a:t> </a:t>
                </a:r>
                <a:r>
                  <a:rPr lang="en-US" altLang="zh-TW" sz="2000" b="1" dirty="0">
                    <a:latin typeface="+mj-lt"/>
                  </a:rPr>
                  <a:t>=</a:t>
                </a:r>
                <a:r>
                  <a:rPr lang="zh-TW" altLang="en-US" sz="2000" b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num>
                      <m:den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zh-TW" altLang="en-US" sz="2000" b="1" dirty="0">
                    <a:latin typeface="+mj-lt"/>
                  </a:rPr>
                  <a:t> </a:t>
                </a:r>
                <a:r>
                  <a:rPr lang="en-US" altLang="zh-TW" sz="2000" b="1" dirty="0">
                    <a:latin typeface="+mj-lt"/>
                  </a:rPr>
                  <a:t>= 4</a:t>
                </a:r>
                <a:endParaRPr lang="zh-TW" altLang="en-US" sz="20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2867784"/>
                <a:ext cx="1130438" cy="535468"/>
              </a:xfrm>
              <a:prstGeom prst="rect">
                <a:avLst/>
              </a:prstGeom>
              <a:blipFill rotWithShape="0">
                <a:blip r:embed="rId2"/>
                <a:stretch>
                  <a:fillRect l="-5376" r="-4839" b="-6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9" name="表格 48"/>
          <p:cNvGraphicFramePr>
            <a:graphicFrameLocks noGrp="1"/>
          </p:cNvGraphicFramePr>
          <p:nvPr/>
        </p:nvGraphicFramePr>
        <p:xfrm>
          <a:off x="1572347" y="2938918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" name="文字方塊 49"/>
          <p:cNvSpPr txBox="1"/>
          <p:nvPr/>
        </p:nvSpPr>
        <p:spPr>
          <a:xfrm>
            <a:off x="1721634" y="2613103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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2384614" y="2613103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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3070169" y="2613103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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3733149" y="2613103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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4393990" y="2613103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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5056970" y="2613103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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5742525" y="2613103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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6405505" y="2613103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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7078112" y="2612505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</a:t>
            </a:r>
            <a:endParaRPr lang="zh-TW" altLang="en-US" sz="20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/>
              <p:cNvSpPr txBox="1"/>
              <p:nvPr/>
            </p:nvSpPr>
            <p:spPr>
              <a:xfrm>
                <a:off x="179512" y="3789040"/>
                <a:ext cx="1130438" cy="535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i="1" dirty="0">
                    <a:latin typeface="+mj-lt"/>
                  </a:rPr>
                  <a:t>Y</a:t>
                </a:r>
                <a:r>
                  <a:rPr lang="zh-TW" altLang="en-US" sz="2000" b="1" dirty="0">
                    <a:latin typeface="+mj-lt"/>
                  </a:rPr>
                  <a:t> </a:t>
                </a:r>
                <a:r>
                  <a:rPr lang="en-US" altLang="zh-TW" sz="2000" b="1" dirty="0">
                    <a:latin typeface="+mj-lt"/>
                  </a:rPr>
                  <a:t>=</a:t>
                </a:r>
                <a:r>
                  <a:rPr lang="zh-TW" altLang="en-US" sz="2000" b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zh-TW" altLang="en-US" sz="2000" b="1" dirty="0">
                    <a:latin typeface="+mj-lt"/>
                  </a:rPr>
                  <a:t> </a:t>
                </a:r>
                <a:r>
                  <a:rPr lang="en-US" altLang="zh-TW" sz="2000" b="1" dirty="0">
                    <a:latin typeface="+mj-lt"/>
                  </a:rPr>
                  <a:t>= 2</a:t>
                </a:r>
                <a:endParaRPr lang="zh-TW" altLang="en-US" sz="20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59" name="文字方塊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3789040"/>
                <a:ext cx="1130438" cy="535468"/>
              </a:xfrm>
              <a:prstGeom prst="rect">
                <a:avLst/>
              </a:prstGeom>
              <a:blipFill rotWithShape="0">
                <a:blip r:embed="rId3"/>
                <a:stretch>
                  <a:fillRect l="-5376" r="-4839" b="-80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/>
              <p:cNvSpPr txBox="1"/>
              <p:nvPr/>
            </p:nvSpPr>
            <p:spPr>
              <a:xfrm>
                <a:off x="180887" y="4710296"/>
                <a:ext cx="1130438" cy="535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i="1" dirty="0">
                    <a:latin typeface="+mj-lt"/>
                  </a:rPr>
                  <a:t>Y</a:t>
                </a:r>
                <a:r>
                  <a:rPr lang="zh-TW" altLang="en-US" sz="2000" b="1" dirty="0">
                    <a:latin typeface="+mj-lt"/>
                  </a:rPr>
                  <a:t> </a:t>
                </a:r>
                <a:r>
                  <a:rPr lang="en-US" altLang="zh-TW" sz="2000" b="1" dirty="0">
                    <a:latin typeface="+mj-lt"/>
                  </a:rPr>
                  <a:t>=</a:t>
                </a:r>
                <a:r>
                  <a:rPr lang="zh-TW" altLang="en-US" sz="2000" b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zh-TW" altLang="en-US" sz="2000" b="1" dirty="0">
                    <a:latin typeface="+mj-lt"/>
                  </a:rPr>
                  <a:t> </a:t>
                </a:r>
                <a:r>
                  <a:rPr lang="en-US" altLang="zh-TW" sz="2000" b="1" dirty="0">
                    <a:latin typeface="+mj-lt"/>
                  </a:rPr>
                  <a:t>= 1</a:t>
                </a:r>
                <a:endParaRPr lang="zh-TW" altLang="en-US" sz="20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60" name="文字方塊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87" y="4710296"/>
                <a:ext cx="1130438" cy="535468"/>
              </a:xfrm>
              <a:prstGeom prst="rect">
                <a:avLst/>
              </a:prstGeom>
              <a:blipFill rotWithShape="0">
                <a:blip r:embed="rId4"/>
                <a:stretch>
                  <a:fillRect l="-5946" r="-4865" b="-6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" name="表格 60"/>
          <p:cNvGraphicFramePr>
            <a:graphicFrameLocks noGrp="1"/>
          </p:cNvGraphicFramePr>
          <p:nvPr/>
        </p:nvGraphicFramePr>
        <p:xfrm>
          <a:off x="1572347" y="3868519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文字方塊 61"/>
          <p:cNvSpPr txBox="1"/>
          <p:nvPr/>
        </p:nvSpPr>
        <p:spPr>
          <a:xfrm>
            <a:off x="1721634" y="3542704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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2384614" y="3542704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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3070169" y="3542704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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3733149" y="3542704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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4393990" y="3542704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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5056970" y="3542704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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5742525" y="3542704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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6405505" y="3542704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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7078112" y="3542106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</a:t>
            </a:r>
            <a:endParaRPr lang="zh-TW" altLang="en-US" sz="2000" b="1" dirty="0">
              <a:latin typeface="+mj-lt"/>
            </a:endParaRPr>
          </a:p>
        </p:txBody>
      </p:sp>
      <p:graphicFrame>
        <p:nvGraphicFramePr>
          <p:cNvPr id="71" name="表格 70"/>
          <p:cNvGraphicFramePr>
            <a:graphicFrameLocks noGrp="1"/>
          </p:cNvGraphicFramePr>
          <p:nvPr/>
        </p:nvGraphicFramePr>
        <p:xfrm>
          <a:off x="1572347" y="4793021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2" name="文字方塊 71"/>
          <p:cNvSpPr txBox="1"/>
          <p:nvPr/>
        </p:nvSpPr>
        <p:spPr>
          <a:xfrm>
            <a:off x="1721634" y="4467206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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2384614" y="4467206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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3070169" y="4467206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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3733149" y="4467206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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4393990" y="4467206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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5056970" y="4467206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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5742525" y="4467206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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6405505" y="4467206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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7078112" y="4466608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sym typeface="Wingdings" panose="05000000000000000000" pitchFamily="2" charset="2"/>
              </a:rPr>
              <a:t>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82" name="橢圓 81"/>
          <p:cNvSpPr/>
          <p:nvPr/>
        </p:nvSpPr>
        <p:spPr>
          <a:xfrm>
            <a:off x="4286959" y="1818937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橢圓 82"/>
          <p:cNvSpPr/>
          <p:nvPr/>
        </p:nvSpPr>
        <p:spPr>
          <a:xfrm>
            <a:off x="2265074" y="1820930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橢圓 83"/>
          <p:cNvSpPr/>
          <p:nvPr/>
        </p:nvSpPr>
        <p:spPr>
          <a:xfrm>
            <a:off x="3609145" y="3881671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橢圓 84"/>
          <p:cNvSpPr/>
          <p:nvPr/>
        </p:nvSpPr>
        <p:spPr>
          <a:xfrm>
            <a:off x="4290902" y="2945736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橢圓 85"/>
          <p:cNvSpPr/>
          <p:nvPr/>
        </p:nvSpPr>
        <p:spPr>
          <a:xfrm>
            <a:off x="4970999" y="2937331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橢圓 86"/>
          <p:cNvSpPr/>
          <p:nvPr/>
        </p:nvSpPr>
        <p:spPr>
          <a:xfrm>
            <a:off x="4290902" y="3876857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橢圓 87"/>
          <p:cNvSpPr/>
          <p:nvPr/>
        </p:nvSpPr>
        <p:spPr>
          <a:xfrm>
            <a:off x="3609145" y="4791434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橢圓 88"/>
          <p:cNvSpPr/>
          <p:nvPr/>
        </p:nvSpPr>
        <p:spPr>
          <a:xfrm>
            <a:off x="4296345" y="4801359"/>
            <a:ext cx="648000" cy="379563"/>
          </a:xfrm>
          <a:prstGeom prst="ellipse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文字方塊 89"/>
          <p:cNvSpPr txBox="1"/>
          <p:nvPr/>
        </p:nvSpPr>
        <p:spPr>
          <a:xfrm>
            <a:off x="7078112" y="5680093"/>
            <a:ext cx="1723549" cy="400110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不具有穩定性</a:t>
            </a:r>
          </a:p>
        </p:txBody>
      </p:sp>
    </p:spTree>
    <p:extLst>
      <p:ext uri="{BB962C8B-B14F-4D97-AF65-F5344CB8AC3E}">
        <p14:creationId xmlns:p14="http://schemas.microsoft.com/office/powerpoint/2010/main" val="173707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基數排序法 </a:t>
            </a:r>
            <a:r>
              <a:rPr lang="en-US" altLang="zh-TW" dirty="0"/>
              <a:t>Radix Sort 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基數排序</a:t>
            </a:r>
            <a:r>
              <a:rPr lang="en-US" altLang="zh-TW" dirty="0"/>
              <a:t>(radix sort)</a:t>
            </a:r>
          </a:p>
          <a:p>
            <a:pPr lvl="1"/>
            <a:r>
              <a:rPr lang="zh-TW" altLang="en-US" dirty="0"/>
              <a:t>又稱為</a:t>
            </a:r>
            <a:r>
              <a:rPr lang="en-US" altLang="zh-TW" dirty="0"/>
              <a:t>bucket sort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桶子排序</a:t>
            </a:r>
            <a:r>
              <a:rPr lang="en-US" altLang="zh-TW" dirty="0"/>
              <a:t>)</a:t>
            </a:r>
            <a:r>
              <a:rPr lang="zh-TW" altLang="en-US" dirty="0"/>
              <a:t>或</a:t>
            </a:r>
            <a:r>
              <a:rPr lang="en-US" altLang="zh-TW" dirty="0"/>
              <a:t>bin sort</a:t>
            </a:r>
          </a:p>
          <a:p>
            <a:pPr lvl="1"/>
            <a:r>
              <a:rPr lang="zh-TW" altLang="en-US" dirty="0"/>
              <a:t>屬於分配排序</a:t>
            </a:r>
            <a:r>
              <a:rPr lang="en-US" altLang="zh-TW" dirty="0"/>
              <a:t>(distributive</a:t>
            </a:r>
            <a:r>
              <a:rPr lang="zh-TW" altLang="en-US" dirty="0"/>
              <a:t> </a:t>
            </a:r>
            <a:r>
              <a:rPr lang="en-US" altLang="zh-TW" dirty="0"/>
              <a:t>sort)</a:t>
            </a:r>
          </a:p>
          <a:p>
            <a:pPr lvl="1"/>
            <a:r>
              <a:rPr lang="en-US" altLang="zh-TW" dirty="0"/>
              <a:t>1887</a:t>
            </a:r>
            <a:r>
              <a:rPr lang="zh-TW" altLang="en-US" dirty="0"/>
              <a:t>年</a:t>
            </a:r>
            <a:r>
              <a:rPr lang="en-US" altLang="zh-TW" dirty="0"/>
              <a:t>Herman Hollerith</a:t>
            </a:r>
            <a:r>
              <a:rPr lang="zh-TW" altLang="en-US" dirty="0"/>
              <a:t>在打孔卡片機器上的發現</a:t>
            </a:r>
            <a:endParaRPr lang="en-US" altLang="zh-TW" dirty="0"/>
          </a:p>
          <a:p>
            <a:pPr lvl="1"/>
            <a:r>
              <a:rPr lang="zh-TW" altLang="en-US" dirty="0"/>
              <a:t>依據每個記錄的鍵值劃分為若干單元，把相同單元放在同一箱子</a:t>
            </a:r>
            <a:endParaRPr lang="en-US" altLang="zh-TW" dirty="0"/>
          </a:p>
          <a:p>
            <a:pPr lvl="1"/>
            <a:r>
              <a:rPr lang="zh-TW" altLang="en-US" dirty="0"/>
              <a:t>排序的過程可分為：</a:t>
            </a:r>
            <a:endParaRPr lang="en-US" altLang="zh-TW" dirty="0"/>
          </a:p>
          <a:p>
            <a:pPr lvl="2"/>
            <a:r>
              <a:rPr lang="en-US" altLang="zh-TW" dirty="0"/>
              <a:t>MSD (Most Significant Digital)</a:t>
            </a:r>
          </a:p>
          <a:p>
            <a:pPr lvl="3"/>
            <a:r>
              <a:rPr lang="zh-TW" altLang="en-US" dirty="0"/>
              <a:t>第一次分配後，資料分成</a:t>
            </a:r>
            <a:r>
              <a:rPr lang="en-US" altLang="zh-TW" i="1" dirty="0"/>
              <a:t>m</a:t>
            </a:r>
            <a:r>
              <a:rPr lang="zh-TW" altLang="en-US" dirty="0"/>
              <a:t>堆，</a:t>
            </a:r>
            <a:r>
              <a:rPr lang="en-US" altLang="zh-TW" dirty="0"/>
              <a:t>1 &lt; </a:t>
            </a:r>
            <a:r>
              <a:rPr lang="en-US" altLang="zh-TW" i="1" dirty="0"/>
              <a:t>m</a:t>
            </a:r>
            <a:r>
              <a:rPr lang="en-US" altLang="zh-TW" dirty="0"/>
              <a:t> &lt; </a:t>
            </a:r>
            <a:r>
              <a:rPr lang="en-US" altLang="zh-TW" i="1" dirty="0"/>
              <a:t>n</a:t>
            </a:r>
          </a:p>
          <a:p>
            <a:pPr lvl="3"/>
            <a:r>
              <a:rPr lang="zh-TW" altLang="en-US" dirty="0"/>
              <a:t>每一堆可利用</a:t>
            </a:r>
            <a:r>
              <a:rPr lang="zh-TW" altLang="en-US" dirty="0">
                <a:solidFill>
                  <a:srgbClr val="C00000"/>
                </a:solidFill>
              </a:rPr>
              <a:t>插入</a:t>
            </a:r>
            <a:r>
              <a:rPr lang="zh-TW" altLang="en-US" dirty="0"/>
              <a:t>排序來完成排序</a:t>
            </a:r>
            <a:endParaRPr lang="en-US" altLang="zh-TW" dirty="0"/>
          </a:p>
          <a:p>
            <a:pPr lvl="2"/>
            <a:r>
              <a:rPr lang="en-US" altLang="zh-TW" dirty="0"/>
              <a:t>LSD</a:t>
            </a:r>
            <a:r>
              <a:rPr lang="zh-TW" altLang="en-US" dirty="0"/>
              <a:t> </a:t>
            </a:r>
            <a:r>
              <a:rPr lang="en-US" altLang="zh-TW" dirty="0"/>
              <a:t>(Least Significant Digital)</a:t>
            </a:r>
          </a:p>
          <a:p>
            <a:pPr lvl="3"/>
            <a:r>
              <a:rPr lang="zh-TW" altLang="en-US" dirty="0"/>
              <a:t>鍵值為</a:t>
            </a:r>
            <a:r>
              <a:rPr lang="en-US" altLang="zh-TW" i="1" dirty="0"/>
              <a:t>n</a:t>
            </a:r>
            <a:r>
              <a:rPr lang="zh-TW" altLang="en-US" dirty="0"/>
              <a:t>位數時，則需要</a:t>
            </a:r>
            <a:r>
              <a:rPr lang="en-US" altLang="zh-TW" i="1" dirty="0"/>
              <a:t>n</a:t>
            </a:r>
            <a:r>
              <a:rPr lang="zh-TW" altLang="en-US" dirty="0"/>
              <a:t>次分配</a:t>
            </a:r>
            <a:endParaRPr lang="en-US" altLang="zh-TW" dirty="0"/>
          </a:p>
          <a:p>
            <a:pPr lvl="1"/>
            <a:r>
              <a:rPr lang="zh-TW" altLang="en-US" dirty="0"/>
              <a:t>具有穩定性的排序</a:t>
            </a:r>
            <a:endParaRPr lang="en-US" altLang="zh-TW" dirty="0"/>
          </a:p>
          <a:p>
            <a:pPr lvl="1"/>
            <a:r>
              <a:rPr lang="zh-TW" altLang="en-US" dirty="0"/>
              <a:t>可達到</a:t>
            </a:r>
            <a:r>
              <a:rPr lang="en-US" altLang="zh-TW" dirty="0"/>
              <a:t>O(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  <a:r>
              <a:rPr lang="zh-TW" altLang="en-US" dirty="0"/>
              <a:t>的排序演算法，但需要</a:t>
            </a:r>
            <a:r>
              <a:rPr lang="en-US" altLang="zh-TW" i="1" dirty="0"/>
              <a:t>n</a:t>
            </a:r>
            <a:r>
              <a:rPr lang="en-US" altLang="zh-TW" baseline="30000" dirty="0"/>
              <a:t>2</a:t>
            </a:r>
            <a:r>
              <a:rPr lang="zh-TW" altLang="en-US" dirty="0"/>
              <a:t>的空間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66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516299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基數排序法 </a:t>
            </a:r>
            <a:r>
              <a:rPr lang="en-US" altLang="zh-TW" dirty="0"/>
              <a:t>Radix Sort 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970181" y="2162432"/>
            <a:ext cx="5186035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239, 234, 879, 878, 123, 358, 416, 317, 137, 225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20138" y="3116092"/>
            <a:ext cx="1082348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428112" y="3122975"/>
            <a:ext cx="159530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645752" y="3122975"/>
            <a:ext cx="1082348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58,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230397" y="3122975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235898" y="3116092"/>
            <a:ext cx="1082348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79,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31082" y="4076635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306426" y="4075930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525314" y="4076635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230397" y="4076635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235898" y="4069752"/>
            <a:ext cx="1082348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9, 8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1452345" y="4076635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113892" y="4075930"/>
            <a:ext cx="1082348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9, 2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5270447" y="4067173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31082" y="5014466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2306426" y="5013761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525314" y="5014466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6230397" y="5014466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139610" y="5005004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452345" y="5014466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3027689" y="5014466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270447" y="5005004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3726815" y="5013761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864472" y="5008993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直線單箭頭接點 32"/>
          <p:cNvCxnSpPr>
            <a:stCxn id="13" idx="2"/>
            <a:endCxn id="22" idx="0"/>
          </p:cNvCxnSpPr>
          <p:nvPr/>
        </p:nvCxnSpPr>
        <p:spPr>
          <a:xfrm>
            <a:off x="1015776" y="4476745"/>
            <a:ext cx="0" cy="5377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stCxn id="18" idx="2"/>
            <a:endCxn id="27" idx="0"/>
          </p:cNvCxnSpPr>
          <p:nvPr/>
        </p:nvCxnSpPr>
        <p:spPr>
          <a:xfrm>
            <a:off x="1737039" y="4476745"/>
            <a:ext cx="0" cy="5377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stCxn id="14" idx="2"/>
            <a:endCxn id="23" idx="0"/>
          </p:cNvCxnSpPr>
          <p:nvPr/>
        </p:nvCxnSpPr>
        <p:spPr>
          <a:xfrm>
            <a:off x="2591120" y="4476040"/>
            <a:ext cx="0" cy="5377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8" idx="2"/>
            <a:endCxn id="13" idx="0"/>
          </p:cNvCxnSpPr>
          <p:nvPr/>
        </p:nvCxnSpPr>
        <p:spPr>
          <a:xfrm flipH="1">
            <a:off x="1015776" y="3516202"/>
            <a:ext cx="345536" cy="560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8" idx="2"/>
            <a:endCxn id="18" idx="0"/>
          </p:cNvCxnSpPr>
          <p:nvPr/>
        </p:nvCxnSpPr>
        <p:spPr>
          <a:xfrm>
            <a:off x="1361312" y="3516202"/>
            <a:ext cx="375727" cy="560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9" idx="2"/>
            <a:endCxn id="14" idx="0"/>
          </p:cNvCxnSpPr>
          <p:nvPr/>
        </p:nvCxnSpPr>
        <p:spPr>
          <a:xfrm flipH="1">
            <a:off x="2591120" y="3523085"/>
            <a:ext cx="634647" cy="5528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stCxn id="9" idx="2"/>
            <a:endCxn id="19" idx="0"/>
          </p:cNvCxnSpPr>
          <p:nvPr/>
        </p:nvCxnSpPr>
        <p:spPr>
          <a:xfrm>
            <a:off x="3225767" y="3523085"/>
            <a:ext cx="429299" cy="5528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10" idx="2"/>
            <a:endCxn id="15" idx="0"/>
          </p:cNvCxnSpPr>
          <p:nvPr/>
        </p:nvCxnSpPr>
        <p:spPr>
          <a:xfrm flipH="1">
            <a:off x="4810008" y="3523085"/>
            <a:ext cx="376918" cy="5535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stCxn id="10" idx="2"/>
            <a:endCxn id="20" idx="0"/>
          </p:cNvCxnSpPr>
          <p:nvPr/>
        </p:nvCxnSpPr>
        <p:spPr>
          <a:xfrm>
            <a:off x="5186926" y="3523085"/>
            <a:ext cx="368215" cy="5440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stCxn id="11" idx="2"/>
            <a:endCxn id="16" idx="0"/>
          </p:cNvCxnSpPr>
          <p:nvPr/>
        </p:nvCxnSpPr>
        <p:spPr>
          <a:xfrm>
            <a:off x="6515091" y="3523085"/>
            <a:ext cx="0" cy="5535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>
            <a:stCxn id="12" idx="2"/>
            <a:endCxn id="17" idx="0"/>
          </p:cNvCxnSpPr>
          <p:nvPr/>
        </p:nvCxnSpPr>
        <p:spPr>
          <a:xfrm>
            <a:off x="7777072" y="3516202"/>
            <a:ext cx="0" cy="5535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20" idx="2"/>
            <a:endCxn id="29" idx="0"/>
          </p:cNvCxnSpPr>
          <p:nvPr/>
        </p:nvCxnSpPr>
        <p:spPr>
          <a:xfrm>
            <a:off x="5555141" y="4467283"/>
            <a:ext cx="0" cy="5377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>
            <a:stCxn id="16" idx="2"/>
            <a:endCxn id="25" idx="0"/>
          </p:cNvCxnSpPr>
          <p:nvPr/>
        </p:nvCxnSpPr>
        <p:spPr>
          <a:xfrm>
            <a:off x="6515091" y="4476745"/>
            <a:ext cx="0" cy="5377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stCxn id="17" idx="2"/>
            <a:endCxn id="26" idx="0"/>
          </p:cNvCxnSpPr>
          <p:nvPr/>
        </p:nvCxnSpPr>
        <p:spPr>
          <a:xfrm flipH="1">
            <a:off x="7424304" y="4469862"/>
            <a:ext cx="352768" cy="53514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>
            <a:stCxn id="17" idx="2"/>
            <a:endCxn id="31" idx="0"/>
          </p:cNvCxnSpPr>
          <p:nvPr/>
        </p:nvCxnSpPr>
        <p:spPr>
          <a:xfrm>
            <a:off x="7777072" y="4469862"/>
            <a:ext cx="372094" cy="5391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stCxn id="19" idx="2"/>
            <a:endCxn id="28" idx="0"/>
          </p:cNvCxnSpPr>
          <p:nvPr/>
        </p:nvCxnSpPr>
        <p:spPr>
          <a:xfrm flipH="1">
            <a:off x="3312383" y="4476040"/>
            <a:ext cx="342683" cy="53842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>
            <a:stCxn id="19" idx="2"/>
            <a:endCxn id="30" idx="0"/>
          </p:cNvCxnSpPr>
          <p:nvPr/>
        </p:nvCxnSpPr>
        <p:spPr>
          <a:xfrm>
            <a:off x="3655066" y="4476040"/>
            <a:ext cx="356443" cy="5377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15" idx="2"/>
            <a:endCxn id="24" idx="0"/>
          </p:cNvCxnSpPr>
          <p:nvPr/>
        </p:nvCxnSpPr>
        <p:spPr>
          <a:xfrm>
            <a:off x="4810008" y="4476745"/>
            <a:ext cx="0" cy="5377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>
            <a:stCxn id="7" idx="2"/>
            <a:endCxn id="9" idx="0"/>
          </p:cNvCxnSpPr>
          <p:nvPr/>
        </p:nvCxnSpPr>
        <p:spPr>
          <a:xfrm flipH="1">
            <a:off x="3225767" y="2562542"/>
            <a:ext cx="1337432" cy="560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>
            <a:stCxn id="7" idx="2"/>
            <a:endCxn id="8" idx="0"/>
          </p:cNvCxnSpPr>
          <p:nvPr/>
        </p:nvCxnSpPr>
        <p:spPr>
          <a:xfrm flipH="1">
            <a:off x="1361312" y="2562542"/>
            <a:ext cx="3201887" cy="5535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>
            <a:stCxn id="7" idx="2"/>
            <a:endCxn id="10" idx="0"/>
          </p:cNvCxnSpPr>
          <p:nvPr/>
        </p:nvCxnSpPr>
        <p:spPr>
          <a:xfrm>
            <a:off x="4563199" y="2562542"/>
            <a:ext cx="623727" cy="560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>
            <a:stCxn id="7" idx="2"/>
            <a:endCxn id="11" idx="0"/>
          </p:cNvCxnSpPr>
          <p:nvPr/>
        </p:nvCxnSpPr>
        <p:spPr>
          <a:xfrm>
            <a:off x="4563199" y="2562542"/>
            <a:ext cx="1951892" cy="560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>
            <a:stCxn id="7" idx="2"/>
            <a:endCxn id="12" idx="0"/>
          </p:cNvCxnSpPr>
          <p:nvPr/>
        </p:nvCxnSpPr>
        <p:spPr>
          <a:xfrm>
            <a:off x="4563199" y="2562542"/>
            <a:ext cx="3213873" cy="5535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字方塊 100"/>
          <p:cNvSpPr txBox="1"/>
          <p:nvPr/>
        </p:nvSpPr>
        <p:spPr>
          <a:xfrm>
            <a:off x="7235898" y="580993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分堆排序</a:t>
            </a:r>
          </a:p>
        </p:txBody>
      </p:sp>
    </p:spTree>
    <p:extLst>
      <p:ext uri="{BB962C8B-B14F-4D97-AF65-F5344CB8AC3E}">
        <p14:creationId xmlns:p14="http://schemas.microsoft.com/office/powerpoint/2010/main" val="1658595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0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5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0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5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500"/>
                            </p:stCondLst>
                            <p:childTnLst>
                              <p:par>
                                <p:cTn id="1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500"/>
                            </p:stCondLst>
                            <p:childTnLst>
                              <p:par>
                                <p:cTn id="1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000"/>
                            </p:stCondLst>
                            <p:childTnLst>
                              <p:par>
                                <p:cTn id="1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500"/>
                            </p:stCondLst>
                            <p:childTnLst>
                              <p:par>
                                <p:cTn id="1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3000"/>
                            </p:stCondLst>
                            <p:childTnLst>
                              <p:par>
                                <p:cTn id="1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3500"/>
                            </p:stCondLst>
                            <p:childTnLst>
                              <p:par>
                                <p:cTn id="1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4000"/>
                            </p:stCondLst>
                            <p:childTnLst>
                              <p:par>
                                <p:cTn id="1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4500"/>
                            </p:stCondLst>
                            <p:childTnLst>
                              <p:par>
                                <p:cTn id="1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0"/>
                            </p:stCondLst>
                            <p:childTnLst>
                              <p:par>
                                <p:cTn id="1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500"/>
                            </p:stCondLst>
                            <p:childTnLst>
                              <p:par>
                                <p:cTn id="1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6000"/>
                            </p:stCondLst>
                            <p:childTnLst>
                              <p:par>
                                <p:cTn id="1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6500"/>
                            </p:stCondLst>
                            <p:childTnLst>
                              <p:par>
                                <p:cTn id="1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7000"/>
                            </p:stCondLst>
                            <p:childTnLst>
                              <p:par>
                                <p:cTn id="1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7500"/>
                            </p:stCondLst>
                            <p:childTnLst>
                              <p:par>
                                <p:cTn id="1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8000"/>
                            </p:stCondLst>
                            <p:childTnLst>
                              <p:par>
                                <p:cTn id="1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8500"/>
                            </p:stCondLst>
                            <p:childTnLst>
                              <p:par>
                                <p:cTn id="1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9000"/>
                            </p:stCondLst>
                            <p:childTnLst>
                              <p:par>
                                <p:cTn id="1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9500"/>
                            </p:stCondLst>
                            <p:childTnLst>
                              <p:par>
                                <p:cTn id="1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10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基數排序法 </a:t>
            </a:r>
            <a:r>
              <a:rPr lang="en-US" altLang="zh-TW" dirty="0"/>
              <a:t>Radix Sort 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2026/04/08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976359" y="1563129"/>
            <a:ext cx="5186035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239, 234, 879, 878, 123, 358, 416, 317, 137, 225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23617" y="2792754"/>
            <a:ext cx="24878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1174372" y="2792754"/>
            <a:ext cx="24878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1539662" y="2792754"/>
            <a:ext cx="24878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1904952" y="2792754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606462" y="2792754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3318430" y="2792754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034678" y="2792754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750926" y="2792754"/>
            <a:ext cx="1082348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13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980135" y="2792754"/>
            <a:ext cx="1082348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35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208529" y="2792754"/>
            <a:ext cx="1082348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87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75339" y="3972819"/>
            <a:ext cx="24878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9" name="文字方塊 18"/>
          <p:cNvSpPr txBox="1"/>
          <p:nvPr/>
        </p:nvSpPr>
        <p:spPr>
          <a:xfrm>
            <a:off x="1059055" y="3972819"/>
            <a:ext cx="1082348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6, 3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2276333" y="3968485"/>
            <a:ext cx="1082348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3, 2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490753" y="3968485"/>
            <a:ext cx="159530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4, 1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7, 2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218134" y="3968485"/>
            <a:ext cx="24878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3" name="文字方塊 22"/>
          <p:cNvSpPr txBox="1"/>
          <p:nvPr/>
        </p:nvSpPr>
        <p:spPr>
          <a:xfrm>
            <a:off x="5598992" y="3968485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296513" y="3968485"/>
            <a:ext cx="24878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673433" y="3968485"/>
            <a:ext cx="1082348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8, 8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883915" y="3968485"/>
            <a:ext cx="24878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7" name="文字方塊 26"/>
          <p:cNvSpPr txBox="1"/>
          <p:nvPr/>
        </p:nvSpPr>
        <p:spPr>
          <a:xfrm>
            <a:off x="8260835" y="3968485"/>
            <a:ext cx="24878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8" name="文字方塊 27"/>
          <p:cNvSpPr txBox="1"/>
          <p:nvPr/>
        </p:nvSpPr>
        <p:spPr>
          <a:xfrm>
            <a:off x="706229" y="5103460"/>
            <a:ext cx="24878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9" name="文字方塊 28"/>
          <p:cNvSpPr txBox="1"/>
          <p:nvPr/>
        </p:nvSpPr>
        <p:spPr>
          <a:xfrm>
            <a:off x="1089945" y="5103460"/>
            <a:ext cx="1082348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307223" y="5105196"/>
            <a:ext cx="159530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037462" y="5103460"/>
            <a:ext cx="101822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5186993" y="5104656"/>
            <a:ext cx="5693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5887684" y="5103460"/>
            <a:ext cx="24878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4" name="文字方塊 33"/>
          <p:cNvSpPr txBox="1"/>
          <p:nvPr/>
        </p:nvSpPr>
        <p:spPr>
          <a:xfrm>
            <a:off x="6267774" y="5103460"/>
            <a:ext cx="24878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5" name="文字方塊 34"/>
          <p:cNvSpPr txBox="1"/>
          <p:nvPr/>
        </p:nvSpPr>
        <p:spPr>
          <a:xfrm>
            <a:off x="6647795" y="5103460"/>
            <a:ext cx="24878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7027816" y="5103460"/>
            <a:ext cx="1082348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8241399" y="5103460"/>
            <a:ext cx="24878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8" name="向下箭號 37"/>
          <p:cNvSpPr/>
          <p:nvPr/>
        </p:nvSpPr>
        <p:spPr>
          <a:xfrm>
            <a:off x="4034678" y="2193324"/>
            <a:ext cx="613512" cy="3645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向下箭號 38"/>
          <p:cNvSpPr/>
          <p:nvPr/>
        </p:nvSpPr>
        <p:spPr>
          <a:xfrm>
            <a:off x="4034678" y="3449166"/>
            <a:ext cx="613512" cy="3645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向下箭號 39"/>
          <p:cNvSpPr/>
          <p:nvPr/>
        </p:nvSpPr>
        <p:spPr>
          <a:xfrm>
            <a:off x="4034678" y="4564940"/>
            <a:ext cx="613512" cy="3645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870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theme/theme1.xml><?xml version="1.0" encoding="utf-8"?>
<a:theme xmlns:a="http://schemas.openxmlformats.org/drawingml/2006/main" name="NCKU3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CKU3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1" id="{1D2088C2-DF28-403B-A142-ABEFFB73DCD1}" vid="{F9685623-F412-4155-8B4F-1E431000369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NTTU</Template>
  <TotalTime>14351</TotalTime>
  <Words>5865</Words>
  <Application>Microsoft Office PowerPoint</Application>
  <PresentationFormat>如螢幕大小 (4:3)</PresentationFormat>
  <Paragraphs>2890</Paragraphs>
  <Slides>68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68</vt:i4>
      </vt:variant>
    </vt:vector>
  </HeadingPairs>
  <TitlesOfParts>
    <vt:vector size="76" baseType="lpstr">
      <vt:lpstr>標楷體</vt:lpstr>
      <vt:lpstr>Arial</vt:lpstr>
      <vt:lpstr>Calibri</vt:lpstr>
      <vt:lpstr>Cambria Math</vt:lpstr>
      <vt:lpstr>Monotype Corsiva</vt:lpstr>
      <vt:lpstr>Symbol</vt:lpstr>
      <vt:lpstr>Times New Roman</vt:lpstr>
      <vt:lpstr>NCKU3</vt:lpstr>
      <vt:lpstr>DATA STRUCTURES 資料結構</vt:lpstr>
      <vt:lpstr>排序及定義 (1/5)</vt:lpstr>
      <vt:lpstr>排序及定義 (2/5)</vt:lpstr>
      <vt:lpstr>排序及定義 (3/5)</vt:lpstr>
      <vt:lpstr>排序及定義 (4/5)</vt:lpstr>
      <vt:lpstr>排序及定義 (5/5)</vt:lpstr>
      <vt:lpstr>氣泡排序法 Bubble Sort (1/6)</vt:lpstr>
      <vt:lpstr>氣泡排序法 Bubble Sort (2/6)</vt:lpstr>
      <vt:lpstr>氣泡排序法 Bubble Sort (3/6)</vt:lpstr>
      <vt:lpstr>氣泡排序法 Bubble Sort (4/6)</vt:lpstr>
      <vt:lpstr>氣泡排序法 Bubble Sort (5/6)</vt:lpstr>
      <vt:lpstr>氣泡排序法 Bubble Sort (6/6)</vt:lpstr>
      <vt:lpstr>選擇排序法 Selection Sort (1/7)</vt:lpstr>
      <vt:lpstr>選擇排序法 Selection Sort (2/7)</vt:lpstr>
      <vt:lpstr>選擇排序法 Selection Sort (3/7)</vt:lpstr>
      <vt:lpstr>選擇排序法 Selection Sort (4/7)</vt:lpstr>
      <vt:lpstr>選擇排序法 Selection Sort (5/7)</vt:lpstr>
      <vt:lpstr>選擇排序法 Selection Sort (6/7)</vt:lpstr>
      <vt:lpstr>選擇排序法 Selection Sort (7/7)</vt:lpstr>
      <vt:lpstr>插入排序法 Insertion Sort (1/6)</vt:lpstr>
      <vt:lpstr>插入排序法 Insertion Sort (2/6)</vt:lpstr>
      <vt:lpstr>插入排序法 Insertion Sort (3/6)</vt:lpstr>
      <vt:lpstr>插入排序法 Insertion Sort (4/6)</vt:lpstr>
      <vt:lpstr>插入排序法 Insertion Sort (5/6)</vt:lpstr>
      <vt:lpstr>插入排序法 Insertion Sort (6/6)</vt:lpstr>
      <vt:lpstr>合併排序法 Merge Sort (1/3)</vt:lpstr>
      <vt:lpstr>合併排序法 Merge Sort (2/3)</vt:lpstr>
      <vt:lpstr>合併排序法 Merge Sort (3/3)</vt:lpstr>
      <vt:lpstr>快速排序法 Quick Sort (1/4)</vt:lpstr>
      <vt:lpstr>快速排序法 Quick Sort (2/4)</vt:lpstr>
      <vt:lpstr>快速排序法 Quick Sort (3/4)</vt:lpstr>
      <vt:lpstr>快速排序法 Quick Sort (4/4)</vt:lpstr>
      <vt:lpstr>堆積排序法 Heap Sort (1/24)</vt:lpstr>
      <vt:lpstr>堆積排序法 Heap Sort (2/24)</vt:lpstr>
      <vt:lpstr>堆積排序法 Heap Sort (3/24)</vt:lpstr>
      <vt:lpstr>堆積排序法 Heap Sort (4/24)</vt:lpstr>
      <vt:lpstr>堆積排序法 Heap Sort (5/24)</vt:lpstr>
      <vt:lpstr>堆積排序法 Heap Sort (6/24)</vt:lpstr>
      <vt:lpstr>堆積排序法 Heap Sort (7/24)</vt:lpstr>
      <vt:lpstr>堆積排序法 Heap Sort (8/24)</vt:lpstr>
      <vt:lpstr>堆積排序法 Heap Sort (9/24)</vt:lpstr>
      <vt:lpstr>堆積排序法 Heap Sort (10/24)</vt:lpstr>
      <vt:lpstr>堆積排序法 Heap Sort (11/24)</vt:lpstr>
      <vt:lpstr>堆積排序法 Heap Sort (12/24)</vt:lpstr>
      <vt:lpstr>堆積排序法 Heap Sort (13/24)</vt:lpstr>
      <vt:lpstr>堆積排序法 Heap Sort (14/24)</vt:lpstr>
      <vt:lpstr>堆積排序法 Heap Sort (15/24)</vt:lpstr>
      <vt:lpstr>堆積排序法 Heap Sort (16/24)</vt:lpstr>
      <vt:lpstr>堆積排序法 Heap Sort (17/24)</vt:lpstr>
      <vt:lpstr>堆積排序法 Heap Sort (18/24)</vt:lpstr>
      <vt:lpstr>堆積排序法 Heap Sort (19/24)</vt:lpstr>
      <vt:lpstr>堆積排序法 Heap Sort (20/24)</vt:lpstr>
      <vt:lpstr>堆積排序法 Heap Sort (21/24)</vt:lpstr>
      <vt:lpstr>堆積排序法 Heap Sort (22/24)</vt:lpstr>
      <vt:lpstr>堆積排序法 Heap Sort (23/24)</vt:lpstr>
      <vt:lpstr>堆積排序法 Heap Sort (24/24)</vt:lpstr>
      <vt:lpstr>二元樹排序法  Binary Tree Sort (1/4)</vt:lpstr>
      <vt:lpstr>二元樹排序法  Binary Tree Sort (2/4)</vt:lpstr>
      <vt:lpstr>二元樹排序法  Binary Tree Sort (3/4)</vt:lpstr>
      <vt:lpstr>二元樹排序法  Binary Tree Sort (4/4)</vt:lpstr>
      <vt:lpstr>謝耳排序 Shell Sort (1/5)</vt:lpstr>
      <vt:lpstr>謝耳排序 Shell Sort (2/5)</vt:lpstr>
      <vt:lpstr>謝耳排序 Shell Sort (3/5)</vt:lpstr>
      <vt:lpstr>謝耳排序 Shell Sort (4/5)</vt:lpstr>
      <vt:lpstr>謝耳排序 Shell Sort (5/5)</vt:lpstr>
      <vt:lpstr>基數排序法 Radix Sort (1/3)</vt:lpstr>
      <vt:lpstr>基數排序法 Radix Sort (2/3)</vt:lpstr>
      <vt:lpstr>基數排序法 Radix Sort (3/3)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資料結構 Data Structure</dc:title>
  <dc:creator>C.-W. Lee</dc:creator>
  <cp:lastModifiedBy>李佳衛</cp:lastModifiedBy>
  <cp:revision>102</cp:revision>
  <cp:lastPrinted>2022-09-24T09:12:24Z</cp:lastPrinted>
  <dcterms:created xsi:type="dcterms:W3CDTF">2018-01-10T03:26:15Z</dcterms:created>
  <dcterms:modified xsi:type="dcterms:W3CDTF">2026-03-27T15:00:36Z</dcterms:modified>
</cp:coreProperties>
</file>