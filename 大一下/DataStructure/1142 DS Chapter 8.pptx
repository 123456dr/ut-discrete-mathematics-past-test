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4"/>
  </p:notesMasterIdLst>
  <p:sldIdLst>
    <p:sldId id="365" r:id="rId2"/>
    <p:sldId id="366" r:id="rId3"/>
    <p:sldId id="367" r:id="rId4"/>
    <p:sldId id="368" r:id="rId5"/>
    <p:sldId id="369" r:id="rId6"/>
    <p:sldId id="370" r:id="rId7"/>
    <p:sldId id="371" r:id="rId8"/>
    <p:sldId id="372" r:id="rId9"/>
    <p:sldId id="373" r:id="rId10"/>
    <p:sldId id="374" r:id="rId11"/>
    <p:sldId id="375" r:id="rId12"/>
    <p:sldId id="376" r:id="rId13"/>
    <p:sldId id="377" r:id="rId14"/>
    <p:sldId id="378" r:id="rId15"/>
    <p:sldId id="379" r:id="rId16"/>
    <p:sldId id="380" r:id="rId17"/>
    <p:sldId id="381" r:id="rId18"/>
    <p:sldId id="382" r:id="rId19"/>
    <p:sldId id="383" r:id="rId20"/>
    <p:sldId id="384" r:id="rId21"/>
    <p:sldId id="385" r:id="rId22"/>
    <p:sldId id="386" r:id="rId23"/>
    <p:sldId id="387" r:id="rId24"/>
    <p:sldId id="388" r:id="rId25"/>
    <p:sldId id="389" r:id="rId26"/>
    <p:sldId id="390" r:id="rId27"/>
    <p:sldId id="391" r:id="rId28"/>
    <p:sldId id="392" r:id="rId29"/>
    <p:sldId id="393" r:id="rId30"/>
    <p:sldId id="394" r:id="rId31"/>
    <p:sldId id="395" r:id="rId32"/>
    <p:sldId id="396" r:id="rId33"/>
    <p:sldId id="397" r:id="rId34"/>
    <p:sldId id="398" r:id="rId35"/>
    <p:sldId id="399" r:id="rId36"/>
    <p:sldId id="400" r:id="rId37"/>
    <p:sldId id="401" r:id="rId38"/>
    <p:sldId id="402" r:id="rId39"/>
    <p:sldId id="403" r:id="rId40"/>
    <p:sldId id="404" r:id="rId41"/>
    <p:sldId id="405" r:id="rId42"/>
    <p:sldId id="406" r:id="rId43"/>
    <p:sldId id="407" r:id="rId44"/>
    <p:sldId id="408" r:id="rId45"/>
    <p:sldId id="409" r:id="rId46"/>
    <p:sldId id="410" r:id="rId47"/>
    <p:sldId id="411" r:id="rId48"/>
    <p:sldId id="412" r:id="rId49"/>
    <p:sldId id="413" r:id="rId50"/>
    <p:sldId id="414" r:id="rId51"/>
    <p:sldId id="415" r:id="rId52"/>
    <p:sldId id="416" r:id="rId53"/>
    <p:sldId id="417" r:id="rId54"/>
    <p:sldId id="418" r:id="rId55"/>
    <p:sldId id="419" r:id="rId56"/>
    <p:sldId id="420" r:id="rId57"/>
    <p:sldId id="421" r:id="rId58"/>
    <p:sldId id="422" r:id="rId59"/>
    <p:sldId id="423" r:id="rId60"/>
    <p:sldId id="424" r:id="rId61"/>
    <p:sldId id="425" r:id="rId62"/>
    <p:sldId id="426" r:id="rId63"/>
  </p:sldIdLst>
  <p:sldSz cx="9144000" cy="6858000" type="screen4x3"/>
  <p:notesSz cx="6807200" cy="9939338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DCDDE"/>
    <a:srgbClr val="E8E8EF"/>
    <a:srgbClr val="FFFFCC"/>
    <a:srgbClr val="820000"/>
    <a:srgbClr val="700000"/>
    <a:srgbClr val="9E0000"/>
    <a:srgbClr val="323232"/>
    <a:srgbClr val="333399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014" autoAdjust="0"/>
    <p:restoredTop sz="90932" autoAdjust="0"/>
  </p:normalViewPr>
  <p:slideViewPr>
    <p:cSldViewPr>
      <p:cViewPr varScale="1">
        <p:scale>
          <a:sx n="86" d="100"/>
          <a:sy n="86" d="100"/>
        </p:scale>
        <p:origin x="133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55839" y="1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/>
          <a:lstStyle>
            <a:lvl1pPr algn="r">
              <a:defRPr sz="1200"/>
            </a:lvl1pPr>
          </a:lstStyle>
          <a:p>
            <a:fld id="{7F921807-99F1-4DF0-94D7-7548FA810751}" type="datetimeFigureOut">
              <a:rPr lang="zh-TW" altLang="en-US" smtClean="0"/>
              <a:pPr/>
              <a:t>2026/1/27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920750" y="746125"/>
            <a:ext cx="4965700" cy="37258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42" tIns="45921" rIns="91842" bIns="45921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0721" y="4721186"/>
            <a:ext cx="5445760" cy="4472703"/>
          </a:xfrm>
          <a:prstGeom prst="rect">
            <a:avLst/>
          </a:prstGeom>
        </p:spPr>
        <p:txBody>
          <a:bodyPr vert="horz" lIns="91842" tIns="45921" rIns="91842" bIns="45921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440647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55839" y="9440647"/>
            <a:ext cx="2949786" cy="496967"/>
          </a:xfrm>
          <a:prstGeom prst="rect">
            <a:avLst/>
          </a:prstGeom>
        </p:spPr>
        <p:txBody>
          <a:bodyPr vert="horz" lIns="91842" tIns="45921" rIns="91842" bIns="45921" rtlCol="0" anchor="b"/>
          <a:lstStyle>
            <a:lvl1pPr algn="r">
              <a:defRPr sz="1200"/>
            </a:lvl1pPr>
          </a:lstStyle>
          <a:p>
            <a:fld id="{6C24E503-88D4-45A6-8EBB-14391082A01A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651298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2DCA57-9D53-411D-9D3B-645A04C6A569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512202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C24E503-88D4-45A6-8EBB-14391082A01A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82498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 userDrawn="1"/>
        </p:nvSpPr>
        <p:spPr>
          <a:xfrm>
            <a:off x="3233" y="2256530"/>
            <a:ext cx="9144000" cy="126032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081" name="Rectangle 9"/>
          <p:cNvSpPr>
            <a:spLocks noGrp="1" noChangeArrowheads="1"/>
          </p:cNvSpPr>
          <p:nvPr>
            <p:ph type="subTitle" idx="1"/>
          </p:nvPr>
        </p:nvSpPr>
        <p:spPr>
          <a:xfrm>
            <a:off x="2483768" y="4530498"/>
            <a:ext cx="6552728" cy="1676400"/>
          </a:xfrm>
        </p:spPr>
        <p:txBody>
          <a:bodyPr/>
          <a:lstStyle>
            <a:lvl1pPr marL="0" indent="0" algn="ctr">
              <a:buFontTx/>
              <a:buNone/>
              <a:defRPr b="1">
                <a:latin typeface="+mj-lt"/>
                <a:ea typeface="標楷體" panose="03000509000000000000" pitchFamily="65" charset="-120"/>
              </a:defRPr>
            </a:lvl1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3082" name="Rectangle 10"/>
          <p:cNvSpPr>
            <a:spLocks noGrp="1" noChangeArrowheads="1"/>
          </p:cNvSpPr>
          <p:nvPr>
            <p:ph type="dt" sz="half" idx="2"/>
          </p:nvPr>
        </p:nvSpPr>
        <p:spPr>
          <a:xfrm>
            <a:off x="0" y="6400800"/>
            <a:ext cx="19050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2026/03/25</a:t>
            </a:r>
            <a:endParaRPr lang="en-US" altLang="zh-TW"/>
          </a:p>
        </p:txBody>
      </p:sp>
      <p:sp>
        <p:nvSpPr>
          <p:cNvPr id="3083" name="Rectangle 11"/>
          <p:cNvSpPr>
            <a:spLocks noGrp="1" noChangeArrowheads="1"/>
          </p:cNvSpPr>
          <p:nvPr>
            <p:ph type="ftr" sz="quarter" idx="3"/>
          </p:nvPr>
        </p:nvSpPr>
        <p:spPr>
          <a:xfrm>
            <a:off x="3124200" y="64008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3084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2924896" y="2394158"/>
            <a:ext cx="6111600" cy="1860612"/>
          </a:xfrm>
        </p:spPr>
        <p:txBody>
          <a:bodyPr/>
          <a:lstStyle>
            <a:lvl1pPr algn="ctr">
              <a:defRPr sz="4000">
                <a:solidFill>
                  <a:schemeClr val="tx1"/>
                </a:solidFill>
                <a:latin typeface="+mj-lt"/>
                <a:ea typeface="標楷體" panose="03000509000000000000" pitchFamily="65" charset="-120"/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 dirty="0"/>
          </a:p>
        </p:txBody>
      </p:sp>
      <p:sp>
        <p:nvSpPr>
          <p:cNvPr id="18" name="矩形 17"/>
          <p:cNvSpPr/>
          <p:nvPr userDrawn="1"/>
        </p:nvSpPr>
        <p:spPr>
          <a:xfrm>
            <a:off x="3233" y="4254770"/>
            <a:ext cx="9144000" cy="126032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 userDrawn="1"/>
        </p:nvSpPr>
        <p:spPr>
          <a:xfrm>
            <a:off x="4300993" y="6581001"/>
            <a:ext cx="484624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800" b="1" i="1" dirty="0" smtClean="0">
                <a:latin typeface="Monotype Corsiva" panose="03010101010201010101" pitchFamily="66" charset="0"/>
                <a:cs typeface="Nirmala UI" panose="020B0502040204020203" pitchFamily="34" charset="0"/>
              </a:rPr>
              <a:t>Interconnection Networks and Algorithm Application Lab.</a:t>
            </a:r>
            <a:endParaRPr lang="zh-TW" altLang="en-US" sz="1800" b="1" i="1" dirty="0">
              <a:latin typeface="Monotype Corsiva" panose="03010101010201010101" pitchFamily="66" charset="0"/>
              <a:cs typeface="Nirmala UI" panose="020B0502040204020203" pitchFamily="34" charset="0"/>
            </a:endParaRPr>
          </a:p>
        </p:txBody>
      </p:sp>
      <p:pic>
        <p:nvPicPr>
          <p:cNvPr id="12" name="Picture 2" descr="C:\Users\admin\Dropbox\世暘&amp;莉淳\相片\DSC_9359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792" y="2382770"/>
            <a:ext cx="2812457" cy="1872000"/>
          </a:xfrm>
          <a:prstGeom prst="rect">
            <a:avLst/>
          </a:prstGeom>
          <a:noFill/>
        </p:spPr>
      </p:pic>
      <p:pic>
        <p:nvPicPr>
          <p:cNvPr id="20" name="圖片 19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0458" y="1161633"/>
            <a:ext cx="3566038" cy="1080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7504" y="0"/>
            <a:ext cx="6861448" cy="1143000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07950" y="1268760"/>
            <a:ext cx="8928100" cy="5327303"/>
          </a:xfrm>
        </p:spPr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2026/03/25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33F35E6-A8E7-488D-BD9F-ED9A7F7FA10F}" type="slidenum">
              <a:rPr lang="en-US" altLang="zh-TW"/>
              <a:pPr/>
              <a:t>‹#›</a:t>
            </a:fld>
            <a:endParaRPr lang="en-US" altLang="zh-TW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2026/03/25</a:t>
            </a: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3183EC-7050-45EB-9E88-B86B53D28DC6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107950" y="1482725"/>
            <a:ext cx="4387850" cy="5113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482725"/>
            <a:ext cx="4387850" cy="511333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2026/03/25</a:t>
            </a: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3B32F3C-BFB5-4433-80F2-31E4E599C271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2026/03/25</a:t>
            </a:r>
            <a:endParaRPr lang="en-US" altLang="zh-TW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2C71ADB-DDEF-4830-B9BC-5050A26247AE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2026/03/25</a:t>
            </a:r>
            <a:endParaRPr lang="en-US" altLang="zh-TW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E38238B-CE9D-4BC3-843E-48DE31256F23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2026/03/25</a:t>
            </a:r>
            <a:endParaRPr lang="en-US" altLang="zh-TW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F9989FA-7C75-4428-B4F8-334FD7721128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2026/03/25</a:t>
            </a: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E4ED4DE-EAF4-4F9D-92A9-54CDF4DC4603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TW" altLang="en-US" smtClean="0"/>
              <a:t>按一下圖示以新增圖片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2026/03/25</a:t>
            </a:r>
            <a:endParaRPr lang="en-US" altLang="zh-TW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7DBED88-20FD-46BD-AA27-41E91F90C6D7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2026/03/25</a:t>
            </a: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35973D2-4DDA-41F5-8DAD-51687E6176F5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804025" y="0"/>
            <a:ext cx="2232025" cy="6596063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107950" y="0"/>
            <a:ext cx="6543675" cy="6596063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 smtClean="0"/>
              <a:t>2026/03/25</a:t>
            </a:r>
            <a:endParaRPr lang="en-US" altLang="zh-TW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76BEB42-A2EB-4830-8F53-FDF4A3AEB5C6}" type="slidenum">
              <a:rPr lang="en-US" altLang="zh-TW"/>
              <a:pPr/>
              <a:t>‹#›</a:t>
            </a:fld>
            <a:endParaRPr lang="en-US" altLang="zh-TW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2" name="Rectangle 8"/>
          <p:cNvSpPr>
            <a:spLocks noGrp="1" noChangeArrowheads="1"/>
          </p:cNvSpPr>
          <p:nvPr>
            <p:ph type="title"/>
          </p:nvPr>
        </p:nvSpPr>
        <p:spPr bwMode="auto">
          <a:xfrm>
            <a:off x="86816" y="0"/>
            <a:ext cx="6861448" cy="114300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dirty="0" smtClean="0"/>
              <a:t>按一下以編輯母片標題樣式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96040" y="1250328"/>
            <a:ext cx="8940456" cy="534573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" y="6597650"/>
            <a:ext cx="19050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1">
                <a:latin typeface="+mn-lt"/>
                <a:cs typeface="Angsana New" pitchFamily="18" charset="-34"/>
              </a:defRPr>
            </a:lvl1pPr>
          </a:lstStyle>
          <a:p>
            <a:r>
              <a:rPr lang="en-US" altLang="zh-TW" smtClean="0"/>
              <a:t>2026/03/25</a:t>
            </a:r>
            <a:endParaRPr lang="en-US" altLang="zh-TW"/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200400" y="6597650"/>
            <a:ext cx="28956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1">
                <a:latin typeface="+mn-lt"/>
                <a:cs typeface="Angsana New" pitchFamily="18" charset="-34"/>
              </a:defRPr>
            </a:lvl1pPr>
          </a:lstStyle>
          <a:p>
            <a:r>
              <a:rPr lang="sv-SE" altLang="zh-TW" smtClean="0"/>
              <a:t>(c) 2026 Spring, C.-W. Lee</a:t>
            </a:r>
            <a:endParaRPr lang="en-US" altLang="zh-TW"/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597650"/>
            <a:ext cx="1905000" cy="2603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1">
                <a:latin typeface="+mn-lt"/>
                <a:cs typeface="Angsana New" pitchFamily="18" charset="-34"/>
              </a:defRPr>
            </a:lvl1pPr>
          </a:lstStyle>
          <a:p>
            <a:fld id="{88815D73-EF14-4780-98ED-F121D5ADB135}" type="slidenum">
              <a:rPr lang="en-US" altLang="zh-TW"/>
              <a:pPr/>
              <a:t>‹#›</a:t>
            </a:fld>
            <a:endParaRPr lang="en-US" altLang="zh-TW"/>
          </a:p>
        </p:txBody>
      </p:sp>
      <p:sp>
        <p:nvSpPr>
          <p:cNvPr id="16" name="矩形 15"/>
          <p:cNvSpPr/>
          <p:nvPr userDrawn="1"/>
        </p:nvSpPr>
        <p:spPr>
          <a:xfrm>
            <a:off x="0" y="1160664"/>
            <a:ext cx="9144000" cy="72000"/>
          </a:xfrm>
          <a:prstGeom prst="rect">
            <a:avLst/>
          </a:prstGeom>
          <a:gradFill flip="none" rotWithShape="1">
            <a:gsLst>
              <a:gs pos="0">
                <a:srgbClr val="820000">
                  <a:shade val="30000"/>
                  <a:satMod val="115000"/>
                </a:srgbClr>
              </a:gs>
              <a:gs pos="100000">
                <a:srgbClr val="820000">
                  <a:shade val="100000"/>
                  <a:satMod val="115000"/>
                </a:srgb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 userDrawn="1"/>
        </p:nvSpPr>
        <p:spPr>
          <a:xfrm>
            <a:off x="4343620" y="935059"/>
            <a:ext cx="4846240" cy="276999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TW" sz="1800" b="1" i="1" dirty="0" smtClean="0">
                <a:latin typeface="Monotype Corsiva" panose="03010101010201010101" pitchFamily="66" charset="0"/>
                <a:cs typeface="Nirmala UI" panose="020B0502040204020203" pitchFamily="34" charset="0"/>
              </a:rPr>
              <a:t>Interconnection Networks and Algorithm Application Lab.</a:t>
            </a:r>
            <a:endParaRPr lang="zh-TW" altLang="en-US" sz="1800" b="1" i="1" dirty="0">
              <a:latin typeface="Monotype Corsiva" panose="03010101010201010101" pitchFamily="66" charset="0"/>
              <a:cs typeface="Nirmala UI" panose="020B0502040204020203" pitchFamily="34" charset="0"/>
            </a:endParaRPr>
          </a:p>
        </p:txBody>
      </p:sp>
      <p:pic>
        <p:nvPicPr>
          <p:cNvPr id="2" name="圖片 1"/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7043" y="18248"/>
            <a:ext cx="2133600" cy="64617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iming>
    <p:tnLst>
      <p:par>
        <p:cTn id="1" dur="indefinite" restart="never" nodeType="tmRoot"/>
      </p:par>
    </p:tnLst>
  </p:timing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chemeClr val="tx1"/>
          </a:solidFill>
          <a:latin typeface="+mj-lt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000" b="1">
          <a:solidFill>
            <a:srgbClr val="DDDDDD"/>
          </a:solidFill>
          <a:latin typeface="Times New Roman" pitchFamily="18" charset="0"/>
          <a:ea typeface="新細明體" pitchFamily="18" charset="-12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Blip>
          <a:blip r:embed="rId14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Blip>
          <a:blip r:embed="rId15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Blip>
          <a:blip r:embed="rId17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j-lt"/>
          <a:ea typeface="標楷體" panose="03000509000000000000" pitchFamily="65" charset="-12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Blip>
          <a:blip r:embed="rId16"/>
        </a:buBlip>
        <a:defRPr kumimoji="1" sz="2000" b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Relationship Id="rId9" Type="http://schemas.openxmlformats.org/officeDocument/2006/relationships/image" Target="../media/image15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 smtClean="0"/>
              <a:t>DATA</a:t>
            </a:r>
            <a:r>
              <a:rPr lang="zh-TW" altLang="en-US" dirty="0" smtClean="0"/>
              <a:t> </a:t>
            </a:r>
            <a:r>
              <a:rPr lang="en-US" altLang="zh-TW" dirty="0" smtClean="0"/>
              <a:t>STRUCTURES</a:t>
            </a:r>
            <a:br>
              <a:rPr lang="en-US" altLang="zh-TW" dirty="0" smtClean="0"/>
            </a:br>
            <a:r>
              <a:rPr lang="zh-TW" altLang="en-US" dirty="0" smtClean="0"/>
              <a:t>資料結構</a:t>
            </a:r>
            <a:endParaRPr lang="zh-TW" alt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r"/>
            <a:r>
              <a:rPr lang="en-US" altLang="zh-TW" dirty="0"/>
              <a:t>Chia-Wei Lee </a:t>
            </a:r>
            <a:r>
              <a:rPr lang="zh-TW" altLang="en-US" dirty="0"/>
              <a:t>李佳衛</a:t>
            </a:r>
          </a:p>
          <a:p>
            <a:pPr algn="r"/>
            <a:r>
              <a:rPr lang="en-US" altLang="zh-TW" dirty="0"/>
              <a:t>cwlee@utaipei.edu.tw</a:t>
            </a:r>
          </a:p>
          <a:p>
            <a:pPr algn="r"/>
            <a:r>
              <a:rPr lang="en-US" altLang="zh-TW" dirty="0"/>
              <a:t>Department of Computer Science</a:t>
            </a:r>
          </a:p>
          <a:p>
            <a:pPr algn="r"/>
            <a:r>
              <a:rPr lang="en-US" altLang="zh-TW" dirty="0"/>
              <a:t>University of Taipei</a:t>
            </a:r>
          </a:p>
        </p:txBody>
      </p:sp>
    </p:spTree>
    <p:extLst>
      <p:ext uri="{BB962C8B-B14F-4D97-AF65-F5344CB8AC3E}">
        <p14:creationId xmlns:p14="http://schemas.microsoft.com/office/powerpoint/2010/main" val="17149876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堆積 </a:t>
            </a:r>
            <a:r>
              <a:rPr lang="en-US" altLang="zh-TW" dirty="0" smtClean="0"/>
              <a:t>Heap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堆積</a:t>
            </a:r>
            <a:r>
              <a:rPr lang="en-US" altLang="zh-TW" dirty="0" smtClean="0"/>
              <a:t>(heap)</a:t>
            </a:r>
            <a:r>
              <a:rPr lang="zh-TW" altLang="en-US" dirty="0" smtClean="0"/>
              <a:t>：一種特殊的二元樹</a:t>
            </a:r>
            <a:endParaRPr lang="en-US" altLang="zh-TW" dirty="0" smtClean="0"/>
          </a:p>
          <a:p>
            <a:pPr lvl="1"/>
            <a:r>
              <a:rPr lang="zh-TW" altLang="en-US" dirty="0" smtClean="0">
                <a:solidFill>
                  <a:srgbClr val="C00000"/>
                </a:solidFill>
              </a:rPr>
              <a:t>完整</a:t>
            </a:r>
            <a:r>
              <a:rPr lang="zh-TW" altLang="en-US" dirty="0" smtClean="0"/>
              <a:t>二元樹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內部節點的值 </a:t>
            </a:r>
            <a:r>
              <a:rPr lang="zh-TW" altLang="en-US" dirty="0" smtClean="0">
                <a:solidFill>
                  <a:srgbClr val="C00000"/>
                </a:solidFill>
                <a:sym typeface="Symbol"/>
              </a:rPr>
              <a:t></a:t>
            </a:r>
            <a:r>
              <a:rPr lang="zh-TW" altLang="en-US" dirty="0" smtClean="0">
                <a:sym typeface="Symbol"/>
              </a:rPr>
              <a:t> 其子節點的值</a:t>
            </a:r>
            <a:endParaRPr lang="en-US" altLang="zh-TW" dirty="0" smtClean="0">
              <a:sym typeface="Symbol"/>
            </a:endParaRPr>
          </a:p>
          <a:p>
            <a:pPr lvl="2"/>
            <a:r>
              <a:rPr lang="zh-TW" altLang="en-US" dirty="0" smtClean="0">
                <a:sym typeface="Symbol"/>
              </a:rPr>
              <a:t>樹根是整棵樹的</a:t>
            </a:r>
            <a:r>
              <a:rPr lang="zh-TW" altLang="en-US" dirty="0" smtClean="0">
                <a:solidFill>
                  <a:srgbClr val="C00000"/>
                </a:solidFill>
                <a:sym typeface="Symbol"/>
              </a:rPr>
              <a:t>最大值</a:t>
            </a:r>
            <a:r>
              <a:rPr lang="zh-TW" altLang="en-US" dirty="0" smtClean="0">
                <a:sym typeface="Symbol"/>
              </a:rPr>
              <a:t>：</a:t>
            </a:r>
            <a:r>
              <a:rPr lang="zh-TW" altLang="en-US" dirty="0" smtClean="0">
                <a:solidFill>
                  <a:srgbClr val="C00000"/>
                </a:solidFill>
                <a:sym typeface="Symbol"/>
              </a:rPr>
              <a:t>最大</a:t>
            </a:r>
            <a:r>
              <a:rPr lang="zh-TW" altLang="en-US" dirty="0" smtClean="0">
                <a:sym typeface="Symbol"/>
              </a:rPr>
              <a:t>堆積 </a:t>
            </a:r>
            <a:r>
              <a:rPr lang="en-US" altLang="zh-TW" dirty="0" smtClean="0">
                <a:sym typeface="Symbol"/>
              </a:rPr>
              <a:t>(</a:t>
            </a:r>
            <a:r>
              <a:rPr lang="en-US" altLang="zh-TW" dirty="0" smtClean="0">
                <a:solidFill>
                  <a:srgbClr val="C00000"/>
                </a:solidFill>
                <a:sym typeface="Symbol"/>
              </a:rPr>
              <a:t>max</a:t>
            </a:r>
            <a:r>
              <a:rPr lang="en-US" altLang="zh-TW" dirty="0" smtClean="0">
                <a:sym typeface="Symbol"/>
              </a:rPr>
              <a:t> heap)</a:t>
            </a:r>
          </a:p>
          <a:p>
            <a:pPr lvl="1"/>
            <a:r>
              <a:rPr lang="zh-TW" altLang="en-US" dirty="0"/>
              <a:t>內部節點的值 </a:t>
            </a:r>
            <a:r>
              <a:rPr lang="zh-TW" altLang="en-US" dirty="0" smtClean="0">
                <a:solidFill>
                  <a:srgbClr val="C00000"/>
                </a:solidFill>
                <a:sym typeface="Symbol"/>
              </a:rPr>
              <a:t></a:t>
            </a:r>
            <a:r>
              <a:rPr lang="zh-TW" altLang="en-US" dirty="0" smtClean="0">
                <a:sym typeface="Symbol"/>
              </a:rPr>
              <a:t> </a:t>
            </a:r>
            <a:r>
              <a:rPr lang="zh-TW" altLang="en-US" dirty="0">
                <a:sym typeface="Symbol"/>
              </a:rPr>
              <a:t>其子節點的值</a:t>
            </a:r>
            <a:endParaRPr lang="en-US" altLang="zh-TW" dirty="0">
              <a:sym typeface="Symbol"/>
            </a:endParaRPr>
          </a:p>
          <a:p>
            <a:pPr lvl="2"/>
            <a:r>
              <a:rPr lang="zh-TW" altLang="en-US" dirty="0">
                <a:sym typeface="Symbol"/>
              </a:rPr>
              <a:t>樹根是整棵樹的</a:t>
            </a:r>
            <a:r>
              <a:rPr lang="zh-TW" altLang="en-US" dirty="0" smtClean="0">
                <a:solidFill>
                  <a:srgbClr val="C00000"/>
                </a:solidFill>
                <a:sym typeface="Symbol"/>
              </a:rPr>
              <a:t>最小值</a:t>
            </a:r>
            <a:r>
              <a:rPr lang="zh-TW" altLang="en-US" dirty="0">
                <a:sym typeface="Symbol"/>
              </a:rPr>
              <a:t>：</a:t>
            </a:r>
            <a:r>
              <a:rPr lang="zh-TW" altLang="en-US" dirty="0" smtClean="0">
                <a:solidFill>
                  <a:srgbClr val="C00000"/>
                </a:solidFill>
                <a:sym typeface="Symbol"/>
              </a:rPr>
              <a:t>最小</a:t>
            </a:r>
            <a:r>
              <a:rPr lang="zh-TW" altLang="en-US" dirty="0" smtClean="0">
                <a:sym typeface="Symbol"/>
              </a:rPr>
              <a:t>堆積 </a:t>
            </a:r>
            <a:r>
              <a:rPr lang="en-US" altLang="zh-TW" dirty="0" smtClean="0">
                <a:sym typeface="Symbol"/>
              </a:rPr>
              <a:t>(</a:t>
            </a:r>
            <a:r>
              <a:rPr lang="en-US" altLang="zh-TW" dirty="0" smtClean="0">
                <a:solidFill>
                  <a:srgbClr val="C00000"/>
                </a:solidFill>
                <a:sym typeface="Symbol"/>
              </a:rPr>
              <a:t>min</a:t>
            </a:r>
            <a:r>
              <a:rPr lang="en-US" altLang="zh-TW" dirty="0" smtClean="0">
                <a:sym typeface="Symbol"/>
              </a:rPr>
              <a:t> </a:t>
            </a:r>
            <a:r>
              <a:rPr lang="en-US" altLang="zh-TW" dirty="0">
                <a:sym typeface="Symbol"/>
              </a:rPr>
              <a:t>heap</a:t>
            </a:r>
            <a:r>
              <a:rPr lang="en-US" altLang="zh-TW" dirty="0" smtClean="0">
                <a:sym typeface="Symbol"/>
              </a:rPr>
              <a:t>)</a:t>
            </a:r>
          </a:p>
          <a:p>
            <a:endParaRPr lang="en-US" altLang="zh-TW" dirty="0">
              <a:sym typeface="Symbol"/>
            </a:endParaRPr>
          </a:p>
          <a:p>
            <a:endParaRPr lang="en-US" altLang="zh-TW" dirty="0">
              <a:sym typeface="Symbol"/>
            </a:endParaRPr>
          </a:p>
          <a:p>
            <a:pPr lvl="1"/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1295531" y="543462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1618638" y="491398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2310369" y="491977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2996629" y="491398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3688360" y="491977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/>
          <p:cNvCxnSpPr>
            <a:stCxn id="8" idx="4"/>
            <a:endCxn id="7" idx="0"/>
          </p:cNvCxnSpPr>
          <p:nvPr/>
        </p:nvCxnSpPr>
        <p:spPr>
          <a:xfrm flipH="1">
            <a:off x="1439531" y="5201985"/>
            <a:ext cx="323107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橢圓 12"/>
          <p:cNvSpPr/>
          <p:nvPr/>
        </p:nvSpPr>
        <p:spPr>
          <a:xfrm>
            <a:off x="1960849" y="436764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3336385" y="436764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2636388" y="383855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接點 15"/>
          <p:cNvCxnSpPr>
            <a:stCxn id="14" idx="4"/>
            <a:endCxn id="11" idx="0"/>
          </p:cNvCxnSpPr>
          <p:nvPr/>
        </p:nvCxnSpPr>
        <p:spPr>
          <a:xfrm>
            <a:off x="3480385" y="4655645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14" idx="4"/>
            <a:endCxn id="10" idx="0"/>
          </p:cNvCxnSpPr>
          <p:nvPr/>
        </p:nvCxnSpPr>
        <p:spPr>
          <a:xfrm flipH="1">
            <a:off x="3140629" y="4655645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13" idx="4"/>
            <a:endCxn id="9" idx="0"/>
          </p:cNvCxnSpPr>
          <p:nvPr/>
        </p:nvCxnSpPr>
        <p:spPr>
          <a:xfrm>
            <a:off x="2104849" y="4655645"/>
            <a:ext cx="349520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13" idx="4"/>
            <a:endCxn id="8" idx="0"/>
          </p:cNvCxnSpPr>
          <p:nvPr/>
        </p:nvCxnSpPr>
        <p:spPr>
          <a:xfrm flipH="1">
            <a:off x="1762638" y="4655645"/>
            <a:ext cx="34221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5" idx="4"/>
            <a:endCxn id="14" idx="0"/>
          </p:cNvCxnSpPr>
          <p:nvPr/>
        </p:nvCxnSpPr>
        <p:spPr>
          <a:xfrm>
            <a:off x="2780388" y="4126558"/>
            <a:ext cx="699997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5" idx="4"/>
            <a:endCxn id="13" idx="0"/>
          </p:cNvCxnSpPr>
          <p:nvPr/>
        </p:nvCxnSpPr>
        <p:spPr>
          <a:xfrm flipH="1">
            <a:off x="2104849" y="4126558"/>
            <a:ext cx="675539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2583507" y="378926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1905037" y="431835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3280738" y="4309727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1554888" y="486469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2248849" y="486469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2932879" y="4861852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3633011" y="486469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1231781" y="5385108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橢圓 38"/>
          <p:cNvSpPr/>
          <p:nvPr/>
        </p:nvSpPr>
        <p:spPr>
          <a:xfrm>
            <a:off x="5131389" y="5434399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橢圓 39"/>
          <p:cNvSpPr/>
          <p:nvPr/>
        </p:nvSpPr>
        <p:spPr>
          <a:xfrm>
            <a:off x="5454496" y="4913759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1" name="橢圓 40"/>
          <p:cNvSpPr/>
          <p:nvPr/>
        </p:nvSpPr>
        <p:spPr>
          <a:xfrm>
            <a:off x="6146227" y="491954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橢圓 41"/>
          <p:cNvSpPr/>
          <p:nvPr/>
        </p:nvSpPr>
        <p:spPr>
          <a:xfrm>
            <a:off x="6832487" y="4913759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橢圓 42"/>
          <p:cNvSpPr/>
          <p:nvPr/>
        </p:nvSpPr>
        <p:spPr>
          <a:xfrm>
            <a:off x="7524218" y="491954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4" name="直線接點 43"/>
          <p:cNvCxnSpPr>
            <a:stCxn id="40" idx="4"/>
            <a:endCxn id="39" idx="0"/>
          </p:cNvCxnSpPr>
          <p:nvPr/>
        </p:nvCxnSpPr>
        <p:spPr>
          <a:xfrm flipH="1">
            <a:off x="5275389" y="5201759"/>
            <a:ext cx="323107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橢圓 44"/>
          <p:cNvSpPr/>
          <p:nvPr/>
        </p:nvSpPr>
        <p:spPr>
          <a:xfrm>
            <a:off x="5796707" y="4367419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6" name="橢圓 45"/>
          <p:cNvSpPr/>
          <p:nvPr/>
        </p:nvSpPr>
        <p:spPr>
          <a:xfrm>
            <a:off x="7172243" y="4367419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橢圓 46"/>
          <p:cNvSpPr/>
          <p:nvPr/>
        </p:nvSpPr>
        <p:spPr>
          <a:xfrm>
            <a:off x="6472246" y="3838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8" name="直線接點 47"/>
          <p:cNvCxnSpPr>
            <a:stCxn id="46" idx="4"/>
            <a:endCxn id="43" idx="0"/>
          </p:cNvCxnSpPr>
          <p:nvPr/>
        </p:nvCxnSpPr>
        <p:spPr>
          <a:xfrm>
            <a:off x="7316243" y="4655419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直線接點 48"/>
          <p:cNvCxnSpPr>
            <a:stCxn id="46" idx="4"/>
            <a:endCxn id="42" idx="0"/>
          </p:cNvCxnSpPr>
          <p:nvPr/>
        </p:nvCxnSpPr>
        <p:spPr>
          <a:xfrm flipH="1">
            <a:off x="6976487" y="4655419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>
            <a:stCxn id="45" idx="4"/>
            <a:endCxn id="41" idx="0"/>
          </p:cNvCxnSpPr>
          <p:nvPr/>
        </p:nvCxnSpPr>
        <p:spPr>
          <a:xfrm>
            <a:off x="5940707" y="4655419"/>
            <a:ext cx="349520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>
            <a:stCxn id="45" idx="4"/>
            <a:endCxn id="40" idx="0"/>
          </p:cNvCxnSpPr>
          <p:nvPr/>
        </p:nvCxnSpPr>
        <p:spPr>
          <a:xfrm flipH="1">
            <a:off x="5598496" y="4655419"/>
            <a:ext cx="34221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>
            <a:stCxn id="47" idx="4"/>
            <a:endCxn id="46" idx="0"/>
          </p:cNvCxnSpPr>
          <p:nvPr/>
        </p:nvCxnSpPr>
        <p:spPr>
          <a:xfrm>
            <a:off x="6616246" y="4126332"/>
            <a:ext cx="699997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>
            <a:stCxn id="47" idx="4"/>
            <a:endCxn id="45" idx="0"/>
          </p:cNvCxnSpPr>
          <p:nvPr/>
        </p:nvCxnSpPr>
        <p:spPr>
          <a:xfrm flipH="1">
            <a:off x="5940707" y="4126332"/>
            <a:ext cx="675539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文字方塊 53"/>
          <p:cNvSpPr txBox="1"/>
          <p:nvPr/>
        </p:nvSpPr>
        <p:spPr>
          <a:xfrm>
            <a:off x="6419365" y="3789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文字方塊 54"/>
          <p:cNvSpPr txBox="1"/>
          <p:nvPr/>
        </p:nvSpPr>
        <p:spPr>
          <a:xfrm>
            <a:off x="5740895" y="4318127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7116596" y="4309501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5390746" y="4864467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6084707" y="4864467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字方塊 58"/>
          <p:cNvSpPr txBox="1"/>
          <p:nvPr/>
        </p:nvSpPr>
        <p:spPr>
          <a:xfrm>
            <a:off x="6768737" y="486162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7468869" y="4864467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5067639" y="5384882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矩形 61"/>
          <p:cNvSpPr/>
          <p:nvPr/>
        </p:nvSpPr>
        <p:spPr>
          <a:xfrm>
            <a:off x="2168329" y="5722625"/>
            <a:ext cx="124585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max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heap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3" name="矩形 62"/>
          <p:cNvSpPr/>
          <p:nvPr/>
        </p:nvSpPr>
        <p:spPr>
          <a:xfrm>
            <a:off x="6025827" y="5722625"/>
            <a:ext cx="120257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min</a:t>
            </a:r>
            <a:r>
              <a:rPr lang="en-US" altLang="zh-TW" sz="2000" b="1" dirty="0" smtClean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 </a:t>
            </a:r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/>
              </a:rPr>
              <a:t>heap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2658834" y="6216380"/>
            <a:ext cx="37753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左子樹與右子樹的大小順序不管</a:t>
            </a:r>
            <a:endParaRPr lang="zh-TW" altLang="en-US" sz="2000" b="1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40816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完整二元樹性質 </a:t>
            </a:r>
            <a:r>
              <a:rPr lang="en-US" altLang="zh-TW" dirty="0" smtClean="0"/>
              <a:t>(1/4)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>
                <a:solidFill>
                  <a:srgbClr val="0000FF"/>
                </a:solidFill>
              </a:rPr>
              <a:t>完整二元樹</a:t>
            </a:r>
            <a:r>
              <a:rPr lang="en-US" altLang="zh-TW" dirty="0" smtClean="0">
                <a:solidFill>
                  <a:srgbClr val="0000FF"/>
                </a:solidFill>
              </a:rPr>
              <a:t>(complete binary tree)</a:t>
            </a:r>
            <a:r>
              <a:rPr lang="zh-TW" altLang="en-US" dirty="0" smtClean="0"/>
              <a:t>：由上而下逐階排列，第</a:t>
            </a:r>
            <a:r>
              <a:rPr lang="en-US" altLang="zh-TW" i="1" dirty="0" smtClean="0"/>
              <a:t>k</a:t>
            </a:r>
            <a:r>
              <a:rPr lang="zh-TW" altLang="en-US" dirty="0" smtClean="0"/>
              <a:t>階滿了才能排到</a:t>
            </a:r>
            <a:r>
              <a:rPr lang="en-US" altLang="zh-TW" i="1" dirty="0" smtClean="0"/>
              <a:t>k</a:t>
            </a:r>
            <a:r>
              <a:rPr lang="en-US" altLang="zh-TW" dirty="0" smtClean="0"/>
              <a:t> + 1</a:t>
            </a:r>
            <a:r>
              <a:rPr lang="zh-TW" altLang="en-US" dirty="0" smtClean="0"/>
              <a:t>階，每一階的點都是往左靠。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7" name="圓角矩形 6"/>
          <p:cNvSpPr/>
          <p:nvPr/>
        </p:nvSpPr>
        <p:spPr>
          <a:xfrm>
            <a:off x="2457163" y="2833892"/>
            <a:ext cx="4320000" cy="1511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圓角矩形 7"/>
          <p:cNvSpPr/>
          <p:nvPr/>
        </p:nvSpPr>
        <p:spPr>
          <a:xfrm>
            <a:off x="2457163" y="3565817"/>
            <a:ext cx="4320000" cy="1511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圓角矩形 8"/>
          <p:cNvSpPr/>
          <p:nvPr/>
        </p:nvSpPr>
        <p:spPr>
          <a:xfrm>
            <a:off x="2457163" y="4315624"/>
            <a:ext cx="4320000" cy="1511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圓角矩形 9"/>
          <p:cNvSpPr/>
          <p:nvPr/>
        </p:nvSpPr>
        <p:spPr>
          <a:xfrm>
            <a:off x="2457163" y="5110850"/>
            <a:ext cx="4320000" cy="1511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4637057" y="276519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3521383" y="349003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3964651" y="423766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3026359" y="423766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5700975" y="349003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接點 15"/>
          <p:cNvCxnSpPr>
            <a:stCxn id="11" idx="3"/>
            <a:endCxn id="12" idx="7"/>
          </p:cNvCxnSpPr>
          <p:nvPr/>
        </p:nvCxnSpPr>
        <p:spPr>
          <a:xfrm flipH="1">
            <a:off x="3767206" y="3011020"/>
            <a:ext cx="912028" cy="52119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11" idx="5"/>
            <a:endCxn id="15" idx="1"/>
          </p:cNvCxnSpPr>
          <p:nvPr/>
        </p:nvCxnSpPr>
        <p:spPr>
          <a:xfrm>
            <a:off x="4882880" y="3011020"/>
            <a:ext cx="860272" cy="52119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12" idx="4"/>
            <a:endCxn id="14" idx="0"/>
          </p:cNvCxnSpPr>
          <p:nvPr/>
        </p:nvCxnSpPr>
        <p:spPr>
          <a:xfrm flipH="1">
            <a:off x="3170359" y="3778037"/>
            <a:ext cx="495024" cy="4596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12" idx="4"/>
            <a:endCxn id="13" idx="0"/>
          </p:cNvCxnSpPr>
          <p:nvPr/>
        </p:nvCxnSpPr>
        <p:spPr>
          <a:xfrm>
            <a:off x="3665383" y="3778037"/>
            <a:ext cx="443268" cy="4596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橢圓 19"/>
          <p:cNvSpPr/>
          <p:nvPr/>
        </p:nvSpPr>
        <p:spPr>
          <a:xfrm>
            <a:off x="2726236" y="5026359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/>
          <p:cNvSpPr/>
          <p:nvPr/>
        </p:nvSpPr>
        <p:spPr>
          <a:xfrm>
            <a:off x="3330088" y="5026359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2" name="直線接點 21"/>
          <p:cNvCxnSpPr>
            <a:stCxn id="14" idx="4"/>
            <a:endCxn id="21" idx="0"/>
          </p:cNvCxnSpPr>
          <p:nvPr/>
        </p:nvCxnSpPr>
        <p:spPr>
          <a:xfrm>
            <a:off x="3170359" y="4525662"/>
            <a:ext cx="303729" cy="50069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14" idx="4"/>
            <a:endCxn id="20" idx="0"/>
          </p:cNvCxnSpPr>
          <p:nvPr/>
        </p:nvCxnSpPr>
        <p:spPr>
          <a:xfrm flipH="1">
            <a:off x="2870236" y="4525662"/>
            <a:ext cx="300123" cy="50069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橢圓 23"/>
          <p:cNvSpPr/>
          <p:nvPr/>
        </p:nvSpPr>
        <p:spPr>
          <a:xfrm>
            <a:off x="5253054" y="423766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5" name="直線接點 24"/>
          <p:cNvCxnSpPr>
            <a:stCxn id="15" idx="4"/>
            <a:endCxn id="24" idx="0"/>
          </p:cNvCxnSpPr>
          <p:nvPr/>
        </p:nvCxnSpPr>
        <p:spPr>
          <a:xfrm flipH="1">
            <a:off x="5397054" y="3778037"/>
            <a:ext cx="447921" cy="4596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橢圓 25"/>
          <p:cNvSpPr/>
          <p:nvPr/>
        </p:nvSpPr>
        <p:spPr>
          <a:xfrm>
            <a:off x="6175407" y="423766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7" name="直線接點 26"/>
          <p:cNvCxnSpPr>
            <a:stCxn id="15" idx="4"/>
            <a:endCxn id="26" idx="0"/>
          </p:cNvCxnSpPr>
          <p:nvPr/>
        </p:nvCxnSpPr>
        <p:spPr>
          <a:xfrm>
            <a:off x="5844975" y="3778037"/>
            <a:ext cx="474432" cy="4596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橢圓 27"/>
          <p:cNvSpPr/>
          <p:nvPr/>
        </p:nvSpPr>
        <p:spPr>
          <a:xfrm>
            <a:off x="3673251" y="5026359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9" name="直線接點 28"/>
          <p:cNvCxnSpPr>
            <a:stCxn id="13" idx="4"/>
            <a:endCxn id="28" idx="0"/>
          </p:cNvCxnSpPr>
          <p:nvPr/>
        </p:nvCxnSpPr>
        <p:spPr>
          <a:xfrm flipH="1">
            <a:off x="3817251" y="4525662"/>
            <a:ext cx="291400" cy="50069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/>
          <p:cNvSpPr txBox="1"/>
          <p:nvPr/>
        </p:nvSpPr>
        <p:spPr>
          <a:xfrm>
            <a:off x="1631521" y="5002945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 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1631521" y="4207719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 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1631521" y="3457912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 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1631521" y="2725987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 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4639642" y="272598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3521712" y="343879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692349" y="344404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3028923" y="418760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3949984" y="418656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5237472" y="418656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6169366" y="417974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2719280" y="498569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3328111" y="497586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3611184" y="497586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77021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完整二元樹性質</a:t>
            </a:r>
            <a:r>
              <a:rPr lang="en-US" altLang="zh-TW" dirty="0" smtClean="0"/>
              <a:t>(2/4)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編號性質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編號為</a:t>
            </a:r>
            <a:r>
              <a:rPr lang="en-US" altLang="zh-TW" i="1" dirty="0" err="1" smtClean="0">
                <a:solidFill>
                  <a:srgbClr val="C00000"/>
                </a:solidFill>
              </a:rPr>
              <a:t>i</a:t>
            </a:r>
            <a:r>
              <a:rPr lang="zh-TW" altLang="en-US" dirty="0" smtClean="0"/>
              <a:t>的節點，</a:t>
            </a:r>
            <a:r>
              <a:rPr lang="zh-TW" altLang="en-US" dirty="0" smtClean="0">
                <a:solidFill>
                  <a:srgbClr val="C00000"/>
                </a:solidFill>
              </a:rPr>
              <a:t>左</a:t>
            </a:r>
            <a:r>
              <a:rPr lang="zh-TW" altLang="en-US" dirty="0" smtClean="0"/>
              <a:t>子節點編號為</a:t>
            </a:r>
            <a:r>
              <a:rPr lang="en-US" altLang="zh-TW" dirty="0" smtClean="0">
                <a:solidFill>
                  <a:srgbClr val="C00000"/>
                </a:solidFill>
              </a:rPr>
              <a:t>2</a:t>
            </a:r>
            <a:r>
              <a:rPr lang="en-US" altLang="zh-TW" i="1" dirty="0" smtClean="0">
                <a:solidFill>
                  <a:srgbClr val="C00000"/>
                </a:solidFill>
              </a:rPr>
              <a:t>i</a:t>
            </a:r>
            <a:r>
              <a:rPr lang="zh-TW" altLang="en-US" dirty="0" smtClean="0"/>
              <a:t>，</a:t>
            </a:r>
            <a:r>
              <a:rPr lang="zh-TW" altLang="en-US" dirty="0" smtClean="0">
                <a:solidFill>
                  <a:srgbClr val="C00000"/>
                </a:solidFill>
              </a:rPr>
              <a:t>右</a:t>
            </a:r>
            <a:r>
              <a:rPr lang="zh-TW" altLang="en-US" dirty="0" smtClean="0"/>
              <a:t>子節點編號為</a:t>
            </a:r>
            <a:r>
              <a:rPr lang="en-US" altLang="zh-TW" dirty="0" smtClean="0">
                <a:solidFill>
                  <a:srgbClr val="C00000"/>
                </a:solidFill>
              </a:rPr>
              <a:t>2</a:t>
            </a:r>
            <a:r>
              <a:rPr lang="en-US" altLang="zh-TW" i="1" dirty="0" smtClean="0">
                <a:solidFill>
                  <a:srgbClr val="C00000"/>
                </a:solidFill>
              </a:rPr>
              <a:t>i</a:t>
            </a:r>
            <a:r>
              <a:rPr lang="en-US" altLang="zh-TW" dirty="0" smtClean="0">
                <a:solidFill>
                  <a:srgbClr val="C00000"/>
                </a:solidFill>
              </a:rPr>
              <a:t> + 1</a:t>
            </a:r>
          </a:p>
          <a:p>
            <a:pPr lvl="1"/>
            <a:r>
              <a:rPr lang="zh-TW" altLang="en-US" dirty="0" smtClean="0">
                <a:solidFill>
                  <a:srgbClr val="0000FF"/>
                </a:solidFill>
              </a:rPr>
              <a:t>注意：樹根編號由</a:t>
            </a:r>
            <a:r>
              <a:rPr lang="en-US" altLang="zh-TW" dirty="0" smtClean="0">
                <a:solidFill>
                  <a:srgbClr val="0000FF"/>
                </a:solidFill>
              </a:rPr>
              <a:t>0</a:t>
            </a:r>
            <a:r>
              <a:rPr lang="zh-TW" altLang="en-US" dirty="0" smtClean="0">
                <a:solidFill>
                  <a:srgbClr val="0000FF"/>
                </a:solidFill>
              </a:rPr>
              <a:t>開始或由</a:t>
            </a:r>
            <a:r>
              <a:rPr lang="en-US" altLang="zh-TW" dirty="0" smtClean="0">
                <a:solidFill>
                  <a:srgbClr val="0000FF"/>
                </a:solidFill>
              </a:rPr>
              <a:t>1</a:t>
            </a:r>
            <a:r>
              <a:rPr lang="zh-TW" altLang="en-US" dirty="0" smtClean="0">
                <a:solidFill>
                  <a:srgbClr val="0000FF"/>
                </a:solidFill>
              </a:rPr>
              <a:t>開始，計算方式會有差異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圓角矩形 6"/>
          <p:cNvSpPr/>
          <p:nvPr/>
        </p:nvSpPr>
        <p:spPr>
          <a:xfrm>
            <a:off x="2457163" y="2833892"/>
            <a:ext cx="4320000" cy="1511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圓角矩形 7"/>
          <p:cNvSpPr/>
          <p:nvPr/>
        </p:nvSpPr>
        <p:spPr>
          <a:xfrm>
            <a:off x="2457163" y="3565817"/>
            <a:ext cx="4320000" cy="1511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圓角矩形 8"/>
          <p:cNvSpPr/>
          <p:nvPr/>
        </p:nvSpPr>
        <p:spPr>
          <a:xfrm>
            <a:off x="2457163" y="4315624"/>
            <a:ext cx="4320000" cy="1511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圓角矩形 9"/>
          <p:cNvSpPr/>
          <p:nvPr/>
        </p:nvSpPr>
        <p:spPr>
          <a:xfrm>
            <a:off x="2457163" y="5110850"/>
            <a:ext cx="4320000" cy="1511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4637057" y="276519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3521383" y="349003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3964651" y="423766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3026359" y="423766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5700975" y="349003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接點 15"/>
          <p:cNvCxnSpPr>
            <a:stCxn id="11" idx="3"/>
            <a:endCxn id="12" idx="7"/>
          </p:cNvCxnSpPr>
          <p:nvPr/>
        </p:nvCxnSpPr>
        <p:spPr>
          <a:xfrm flipH="1">
            <a:off x="3767206" y="3011020"/>
            <a:ext cx="912028" cy="52119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11" idx="5"/>
            <a:endCxn id="15" idx="1"/>
          </p:cNvCxnSpPr>
          <p:nvPr/>
        </p:nvCxnSpPr>
        <p:spPr>
          <a:xfrm>
            <a:off x="4882880" y="3011020"/>
            <a:ext cx="860272" cy="52119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12" idx="4"/>
            <a:endCxn id="14" idx="0"/>
          </p:cNvCxnSpPr>
          <p:nvPr/>
        </p:nvCxnSpPr>
        <p:spPr>
          <a:xfrm flipH="1">
            <a:off x="3170359" y="3778037"/>
            <a:ext cx="495024" cy="4596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12" idx="4"/>
            <a:endCxn id="13" idx="0"/>
          </p:cNvCxnSpPr>
          <p:nvPr/>
        </p:nvCxnSpPr>
        <p:spPr>
          <a:xfrm>
            <a:off x="3665383" y="3778037"/>
            <a:ext cx="443268" cy="4596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橢圓 19"/>
          <p:cNvSpPr/>
          <p:nvPr/>
        </p:nvSpPr>
        <p:spPr>
          <a:xfrm>
            <a:off x="2726236" y="5026359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/>
          <p:cNvSpPr/>
          <p:nvPr/>
        </p:nvSpPr>
        <p:spPr>
          <a:xfrm>
            <a:off x="3330088" y="5026359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2" name="直線接點 21"/>
          <p:cNvCxnSpPr>
            <a:stCxn id="14" idx="4"/>
            <a:endCxn id="21" idx="0"/>
          </p:cNvCxnSpPr>
          <p:nvPr/>
        </p:nvCxnSpPr>
        <p:spPr>
          <a:xfrm>
            <a:off x="3170359" y="4525662"/>
            <a:ext cx="303729" cy="50069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14" idx="4"/>
            <a:endCxn id="20" idx="0"/>
          </p:cNvCxnSpPr>
          <p:nvPr/>
        </p:nvCxnSpPr>
        <p:spPr>
          <a:xfrm flipH="1">
            <a:off x="2870236" y="4525662"/>
            <a:ext cx="300123" cy="50069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橢圓 23"/>
          <p:cNvSpPr/>
          <p:nvPr/>
        </p:nvSpPr>
        <p:spPr>
          <a:xfrm>
            <a:off x="5253054" y="423766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5" name="直線接點 24"/>
          <p:cNvCxnSpPr>
            <a:stCxn id="15" idx="4"/>
            <a:endCxn id="24" idx="0"/>
          </p:cNvCxnSpPr>
          <p:nvPr/>
        </p:nvCxnSpPr>
        <p:spPr>
          <a:xfrm flipH="1">
            <a:off x="5397054" y="3778037"/>
            <a:ext cx="447921" cy="4596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橢圓 25"/>
          <p:cNvSpPr/>
          <p:nvPr/>
        </p:nvSpPr>
        <p:spPr>
          <a:xfrm>
            <a:off x="6175407" y="423766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7" name="直線接點 26"/>
          <p:cNvCxnSpPr>
            <a:stCxn id="15" idx="4"/>
            <a:endCxn id="26" idx="0"/>
          </p:cNvCxnSpPr>
          <p:nvPr/>
        </p:nvCxnSpPr>
        <p:spPr>
          <a:xfrm>
            <a:off x="5844975" y="3778037"/>
            <a:ext cx="474432" cy="4596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橢圓 27"/>
          <p:cNvSpPr/>
          <p:nvPr/>
        </p:nvSpPr>
        <p:spPr>
          <a:xfrm>
            <a:off x="3673251" y="5026359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9" name="直線接點 28"/>
          <p:cNvCxnSpPr>
            <a:stCxn id="13" idx="4"/>
            <a:endCxn id="28" idx="0"/>
          </p:cNvCxnSpPr>
          <p:nvPr/>
        </p:nvCxnSpPr>
        <p:spPr>
          <a:xfrm flipH="1">
            <a:off x="3817251" y="4525662"/>
            <a:ext cx="291400" cy="50069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/>
          <p:cNvSpPr txBox="1"/>
          <p:nvPr/>
        </p:nvSpPr>
        <p:spPr>
          <a:xfrm>
            <a:off x="1631521" y="5002945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 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1631521" y="4207719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 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1631521" y="3457912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 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1631521" y="2725987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 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4639642" y="272598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3521712" y="343879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692349" y="344404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3028923" y="418760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3949984" y="418656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5237472" y="418656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6169366" y="417974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2719280" y="498569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3328111" y="497586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3600956" y="497586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圓角矩形圖說文字 43"/>
          <p:cNvSpPr/>
          <p:nvPr/>
        </p:nvSpPr>
        <p:spPr>
          <a:xfrm>
            <a:off x="3521383" y="5538786"/>
            <a:ext cx="1666565" cy="585969"/>
          </a:xfrm>
          <a:prstGeom prst="wedgeRoundRectCallout">
            <a:avLst>
              <a:gd name="adj1" fmla="val 58250"/>
              <a:gd name="adj2" fmla="val -217840"/>
              <a:gd name="adj3" fmla="val 16667"/>
            </a:avLst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左子節點編號</a:t>
            </a:r>
            <a:endParaRPr lang="en-US" altLang="zh-TW" b="1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en-US" altLang="zh-TW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 </a:t>
            </a:r>
            <a:r>
              <a:rPr lang="en-US" altLang="zh-TW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 </a:t>
            </a:r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3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5" name="圓角矩形圖說文字 44"/>
          <p:cNvSpPr/>
          <p:nvPr/>
        </p:nvSpPr>
        <p:spPr>
          <a:xfrm>
            <a:off x="6891472" y="2555514"/>
            <a:ext cx="1306898" cy="497683"/>
          </a:xfrm>
          <a:prstGeom prst="wedgeRoundRectCallout">
            <a:avLst>
              <a:gd name="adj1" fmla="val -117090"/>
              <a:gd name="adj2" fmla="val 144485"/>
              <a:gd name="adj3" fmla="val 16667"/>
            </a:avLst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編號 </a:t>
            </a:r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3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6" name="圓角矩形圖說文字 45"/>
          <p:cNvSpPr/>
          <p:nvPr/>
        </p:nvSpPr>
        <p:spPr>
          <a:xfrm>
            <a:off x="6597329" y="5538786"/>
            <a:ext cx="1666565" cy="585969"/>
          </a:xfrm>
          <a:prstGeom prst="wedgeRoundRectCallout">
            <a:avLst>
              <a:gd name="adj1" fmla="val -64425"/>
              <a:gd name="adj2" fmla="val -216368"/>
              <a:gd name="adj3" fmla="val 16667"/>
            </a:avLst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右子節點編號</a:t>
            </a:r>
            <a:endParaRPr lang="en-US" altLang="zh-TW" b="1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en-US" altLang="zh-TW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 </a:t>
            </a:r>
            <a:r>
              <a:rPr lang="en-US" altLang="zh-TW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 </a:t>
            </a:r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3</a:t>
            </a:r>
            <a:r>
              <a:rPr lang="en-US" altLang="zh-TW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 + 1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47" name="圓角矩形圖說文字 46"/>
          <p:cNvSpPr/>
          <p:nvPr/>
        </p:nvSpPr>
        <p:spPr>
          <a:xfrm>
            <a:off x="764199" y="5831770"/>
            <a:ext cx="1666565" cy="585969"/>
          </a:xfrm>
          <a:prstGeom prst="wedgeRoundRectCallout">
            <a:avLst>
              <a:gd name="adj1" fmla="val 70155"/>
              <a:gd name="adj2" fmla="val -135399"/>
              <a:gd name="adj3" fmla="val 16667"/>
            </a:avLst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左子節點編號</a:t>
            </a:r>
            <a:endParaRPr lang="en-US" altLang="zh-TW" b="1" dirty="0" smtClean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  <a:p>
            <a:pPr algn="ctr"/>
            <a:r>
              <a:rPr lang="en-US" altLang="zh-TW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2 </a:t>
            </a:r>
            <a:r>
              <a:rPr lang="en-US" altLang="zh-TW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 </a:t>
            </a:r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8</a:t>
            </a:r>
            <a:r>
              <a:rPr lang="en-US" altLang="zh-TW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Symbol"/>
              </a:rPr>
              <a:t> &gt; 10</a:t>
            </a:r>
            <a:endParaRPr lang="zh-TW" altLang="en-US" b="1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0268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 animBg="1"/>
      <p:bldP spid="45" grpId="0" animBg="1"/>
      <p:bldP spid="46" grpId="0" animBg="1"/>
      <p:bldP spid="4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完整二元樹性質</a:t>
            </a:r>
            <a:r>
              <a:rPr lang="en-US" altLang="zh-TW" dirty="0" smtClean="0"/>
              <a:t>(3/4)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sz="quarter" idx="4294967295"/>
              </p:nvPr>
            </p:nvSpPr>
            <p:spPr>
              <a:xfrm>
                <a:off x="170980" y="1319014"/>
                <a:ext cx="8826061" cy="5098878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rPr lang="zh-TW" altLang="en-US" dirty="0" smtClean="0"/>
                  <a:t>編號性質</a:t>
                </a:r>
                <a:endParaRPr lang="en-US" altLang="zh-TW" dirty="0" smtClean="0"/>
              </a:p>
              <a:p>
                <a:pPr lvl="1"/>
                <a:r>
                  <a:rPr lang="zh-TW" altLang="en-US" dirty="0" smtClean="0"/>
                  <a:t>編號為</a:t>
                </a:r>
                <a:r>
                  <a:rPr lang="en-US" altLang="zh-TW" i="1" dirty="0" err="1" smtClean="0">
                    <a:solidFill>
                      <a:srgbClr val="C00000"/>
                    </a:solidFill>
                  </a:rPr>
                  <a:t>i</a:t>
                </a:r>
                <a:r>
                  <a:rPr lang="zh-TW" altLang="en-US" dirty="0" smtClean="0"/>
                  <a:t>的節點，父節點編號為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zh-TW" altLang="en-US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lin"/>
                            <m:ctrlPr>
                              <a:rPr lang="zh-TW" altLang="en-US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𝒊</m:t>
                            </m:r>
                          </m:num>
                          <m:den>
                            <m:r>
                              <a:rPr lang="en-US" altLang="zh-TW" b="1" i="1" smtClean="0">
                                <a:solidFill>
                                  <a:srgbClr val="C00000"/>
                                </a:solidFill>
                                <a:latin typeface="Cambria Math"/>
                              </a:rPr>
                              <m:t>𝟐</m:t>
                            </m:r>
                          </m:den>
                        </m:f>
                      </m:e>
                    </m:d>
                  </m:oMath>
                </a14:m>
                <a:endParaRPr lang="en-US" altLang="zh-TW" dirty="0" smtClean="0">
                  <a:solidFill>
                    <a:srgbClr val="C00000"/>
                  </a:solidFill>
                </a:endParaRPr>
              </a:p>
              <a:p>
                <a:pPr lvl="1"/>
                <a:r>
                  <a:rPr lang="zh-TW" altLang="en-US" dirty="0">
                    <a:solidFill>
                      <a:srgbClr val="0000FF"/>
                    </a:solidFill>
                  </a:rPr>
                  <a:t>注意：樹根編號由</a:t>
                </a:r>
                <a:r>
                  <a:rPr lang="en-US" altLang="zh-TW" dirty="0">
                    <a:solidFill>
                      <a:srgbClr val="0000FF"/>
                    </a:solidFill>
                  </a:rPr>
                  <a:t>0</a:t>
                </a:r>
                <a:r>
                  <a:rPr lang="zh-TW" altLang="en-US" dirty="0">
                    <a:solidFill>
                      <a:srgbClr val="0000FF"/>
                    </a:solidFill>
                  </a:rPr>
                  <a:t>開始或由</a:t>
                </a:r>
                <a:r>
                  <a:rPr lang="en-US" altLang="zh-TW" dirty="0">
                    <a:solidFill>
                      <a:srgbClr val="0000FF"/>
                    </a:solidFill>
                  </a:rPr>
                  <a:t>1</a:t>
                </a:r>
                <a:r>
                  <a:rPr lang="zh-TW" altLang="en-US" dirty="0">
                    <a:solidFill>
                      <a:srgbClr val="0000FF"/>
                    </a:solidFill>
                  </a:rPr>
                  <a:t>開始，計算方式會有差異</a:t>
                </a:r>
                <a:endParaRPr lang="zh-TW" altLang="en-US" dirty="0">
                  <a:solidFill>
                    <a:srgbClr val="C00000"/>
                  </a:solidFill>
                </a:endParaRPr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4294967295"/>
              </p:nvPr>
            </p:nvSpPr>
            <p:spPr>
              <a:xfrm>
                <a:off x="170980" y="1319014"/>
                <a:ext cx="8826061" cy="5098878"/>
              </a:xfrm>
              <a:prstGeom prst="rect">
                <a:avLst/>
              </a:prstGeom>
              <a:blipFill rotWithShape="0">
                <a:blip r:embed="rId2"/>
                <a:stretch>
                  <a:fillRect t="-191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7" name="圓角矩形 6"/>
          <p:cNvSpPr/>
          <p:nvPr/>
        </p:nvSpPr>
        <p:spPr>
          <a:xfrm>
            <a:off x="2457163" y="2833892"/>
            <a:ext cx="4320000" cy="1511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圓角矩形 7"/>
          <p:cNvSpPr/>
          <p:nvPr/>
        </p:nvSpPr>
        <p:spPr>
          <a:xfrm>
            <a:off x="2457163" y="3565817"/>
            <a:ext cx="4320000" cy="1511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圓角矩形 8"/>
          <p:cNvSpPr/>
          <p:nvPr/>
        </p:nvSpPr>
        <p:spPr>
          <a:xfrm>
            <a:off x="2457163" y="4315624"/>
            <a:ext cx="4320000" cy="1511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圓角矩形 9"/>
          <p:cNvSpPr/>
          <p:nvPr/>
        </p:nvSpPr>
        <p:spPr>
          <a:xfrm>
            <a:off x="2457163" y="5110850"/>
            <a:ext cx="4320000" cy="15111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4637057" y="276519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3521383" y="349003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3964651" y="423766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3026359" y="423766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5700975" y="349003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接點 15"/>
          <p:cNvCxnSpPr>
            <a:stCxn id="11" idx="3"/>
            <a:endCxn id="12" idx="7"/>
          </p:cNvCxnSpPr>
          <p:nvPr/>
        </p:nvCxnSpPr>
        <p:spPr>
          <a:xfrm flipH="1">
            <a:off x="3767206" y="3011020"/>
            <a:ext cx="912028" cy="52119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11" idx="5"/>
            <a:endCxn id="15" idx="1"/>
          </p:cNvCxnSpPr>
          <p:nvPr/>
        </p:nvCxnSpPr>
        <p:spPr>
          <a:xfrm>
            <a:off x="4882880" y="3011020"/>
            <a:ext cx="860272" cy="52119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12" idx="4"/>
            <a:endCxn id="14" idx="0"/>
          </p:cNvCxnSpPr>
          <p:nvPr/>
        </p:nvCxnSpPr>
        <p:spPr>
          <a:xfrm flipH="1">
            <a:off x="3170359" y="3778037"/>
            <a:ext cx="495024" cy="4596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12" idx="4"/>
            <a:endCxn id="13" idx="0"/>
          </p:cNvCxnSpPr>
          <p:nvPr/>
        </p:nvCxnSpPr>
        <p:spPr>
          <a:xfrm>
            <a:off x="3665383" y="3778037"/>
            <a:ext cx="443268" cy="4596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橢圓 19"/>
          <p:cNvSpPr/>
          <p:nvPr/>
        </p:nvSpPr>
        <p:spPr>
          <a:xfrm>
            <a:off x="2726236" y="5026359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/>
          <p:cNvSpPr/>
          <p:nvPr/>
        </p:nvSpPr>
        <p:spPr>
          <a:xfrm>
            <a:off x="3330088" y="5026359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2" name="直線接點 21"/>
          <p:cNvCxnSpPr>
            <a:stCxn id="14" idx="4"/>
            <a:endCxn id="21" idx="0"/>
          </p:cNvCxnSpPr>
          <p:nvPr/>
        </p:nvCxnSpPr>
        <p:spPr>
          <a:xfrm>
            <a:off x="3170359" y="4525662"/>
            <a:ext cx="303729" cy="50069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14" idx="4"/>
            <a:endCxn id="20" idx="0"/>
          </p:cNvCxnSpPr>
          <p:nvPr/>
        </p:nvCxnSpPr>
        <p:spPr>
          <a:xfrm flipH="1">
            <a:off x="2870236" y="4525662"/>
            <a:ext cx="300123" cy="50069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橢圓 23"/>
          <p:cNvSpPr/>
          <p:nvPr/>
        </p:nvSpPr>
        <p:spPr>
          <a:xfrm>
            <a:off x="5253054" y="423766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5" name="直線接點 24"/>
          <p:cNvCxnSpPr>
            <a:stCxn id="15" idx="4"/>
            <a:endCxn id="24" idx="0"/>
          </p:cNvCxnSpPr>
          <p:nvPr/>
        </p:nvCxnSpPr>
        <p:spPr>
          <a:xfrm flipH="1">
            <a:off x="5397054" y="3778037"/>
            <a:ext cx="447921" cy="4596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橢圓 25"/>
          <p:cNvSpPr/>
          <p:nvPr/>
        </p:nvSpPr>
        <p:spPr>
          <a:xfrm>
            <a:off x="6175407" y="423766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7" name="直線接點 26"/>
          <p:cNvCxnSpPr>
            <a:stCxn id="15" idx="4"/>
            <a:endCxn id="26" idx="0"/>
          </p:cNvCxnSpPr>
          <p:nvPr/>
        </p:nvCxnSpPr>
        <p:spPr>
          <a:xfrm>
            <a:off x="5844975" y="3778037"/>
            <a:ext cx="474432" cy="4596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橢圓 27"/>
          <p:cNvSpPr/>
          <p:nvPr/>
        </p:nvSpPr>
        <p:spPr>
          <a:xfrm>
            <a:off x="3673251" y="5026359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9" name="直線接點 28"/>
          <p:cNvCxnSpPr>
            <a:stCxn id="13" idx="4"/>
            <a:endCxn id="28" idx="0"/>
          </p:cNvCxnSpPr>
          <p:nvPr/>
        </p:nvCxnSpPr>
        <p:spPr>
          <a:xfrm flipH="1">
            <a:off x="3817251" y="4525662"/>
            <a:ext cx="291400" cy="50069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字方塊 29"/>
          <p:cNvSpPr txBox="1"/>
          <p:nvPr/>
        </p:nvSpPr>
        <p:spPr>
          <a:xfrm>
            <a:off x="1631521" y="5002945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 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文字方塊 30"/>
          <p:cNvSpPr txBox="1"/>
          <p:nvPr/>
        </p:nvSpPr>
        <p:spPr>
          <a:xfrm>
            <a:off x="1631521" y="4207719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 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1631521" y="3457912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 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1631521" y="2725987"/>
            <a:ext cx="8066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level 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4639642" y="2725987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3521712" y="3438790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5692349" y="344404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3010389" y="4187601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3949984" y="418656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5237472" y="418656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6169366" y="417974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2719280" y="498569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3328111" y="4975863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3620236" y="497586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圓角矩形圖說文字 44"/>
          <p:cNvSpPr/>
          <p:nvPr/>
        </p:nvSpPr>
        <p:spPr>
          <a:xfrm>
            <a:off x="7268869" y="5123435"/>
            <a:ext cx="1306898" cy="497683"/>
          </a:xfrm>
          <a:prstGeom prst="wedgeRoundRectCallout">
            <a:avLst>
              <a:gd name="adj1" fmla="val -114441"/>
              <a:gd name="adj2" fmla="val -161234"/>
              <a:gd name="adj3" fmla="val 16667"/>
            </a:avLst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編號 </a:t>
            </a:r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7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6" name="圓角矩形圖說文字 45"/>
              <p:cNvSpPr/>
              <p:nvPr/>
            </p:nvSpPr>
            <p:spPr>
              <a:xfrm>
                <a:off x="7175695" y="2427611"/>
                <a:ext cx="1666565" cy="675172"/>
              </a:xfrm>
              <a:prstGeom prst="wedgeRoundRectCallout">
                <a:avLst>
                  <a:gd name="adj1" fmla="val -120663"/>
                  <a:gd name="adj2" fmla="val 105356"/>
                  <a:gd name="adj3" fmla="val 16667"/>
                </a:avLst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b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父節點編號</a:t>
                </a:r>
                <a:endParaRPr lang="en-US" altLang="zh-TW" b="1" dirty="0" smtClean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en-US" altLang="zh-TW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type m:val="lin"/>
                              <m:ctrlPr>
                                <a:rPr lang="en-US" altLang="zh-TW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TW" b="1" i="1" dirty="0" smtClean="0">
                                  <a:solidFill>
                                    <a:srgbClr val="0000FF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𝟕</m:t>
                              </m:r>
                            </m:num>
                            <m:den>
                              <m:r>
                                <a:rPr lang="en-US" altLang="zh-TW" b="1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</m:oMath>
                  </m:oMathPara>
                </a14:m>
                <a:endParaRPr lang="zh-TW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6" name="圓角矩形圖說文字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75695" y="2427611"/>
                <a:ext cx="1666565" cy="675172"/>
              </a:xfrm>
              <a:prstGeom prst="wedgeRoundRectCallout">
                <a:avLst>
                  <a:gd name="adj1" fmla="val -120663"/>
                  <a:gd name="adj2" fmla="val 105356"/>
                  <a:gd name="adj3" fmla="val 16667"/>
                </a:avLst>
              </a:prstGeom>
              <a:blipFill rotWithShape="0">
                <a:blip r:embed="rId3"/>
                <a:stretch>
                  <a:fillRect t="-11236" b="-23034"/>
                </a:stretch>
              </a:blipFill>
              <a:ln w="2857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60010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完整二元樹性質</a:t>
            </a:r>
            <a:r>
              <a:rPr lang="en-US" altLang="zh-TW" dirty="0" smtClean="0"/>
              <a:t>(4/4)</a:t>
            </a:r>
            <a:endParaRPr lang="zh-TW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/>
              <p:cNvSpPr>
                <a:spLocks noGrp="1"/>
              </p:cNvSpPr>
              <p:nvPr>
                <p:ph sz="quarter" idx="4294967295"/>
              </p:nvPr>
            </p:nvSpPr>
            <p:spPr>
              <a:xfrm>
                <a:off x="170980" y="1319014"/>
                <a:ext cx="8826061" cy="5098878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rPr lang="zh-TW" altLang="en-US" dirty="0"/>
                  <a:t>總點數為</a:t>
                </a:r>
                <a:r>
                  <a:rPr lang="en-US" altLang="zh-TW" i="1" dirty="0">
                    <a:solidFill>
                      <a:srgbClr val="C00000"/>
                    </a:solidFill>
                  </a:rPr>
                  <a:t>n</a:t>
                </a:r>
                <a:r>
                  <a:rPr lang="zh-TW" altLang="en-US" dirty="0" smtClean="0"/>
                  <a:t>的完整二元</a:t>
                </a:r>
                <a:r>
                  <a:rPr lang="zh-TW" altLang="en-US" dirty="0"/>
                  <a:t>樹，樹</a:t>
                </a:r>
                <a:r>
                  <a:rPr lang="zh-TW" altLang="en-US" dirty="0" smtClean="0"/>
                  <a:t>高為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zh-TW" altLang="en-US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TW">
                            <a:solidFill>
                              <a:srgbClr val="C00000"/>
                            </a:solidFill>
                            <a:latin typeface="Cambria Math"/>
                          </a:rPr>
                          <m:t>𝐥𝐠</m:t>
                        </m:r>
                        <m:r>
                          <a:rPr lang="en-US" altLang="zh-TW" i="1">
                            <a:solidFill>
                              <a:srgbClr val="C00000"/>
                            </a:solidFill>
                            <a:latin typeface="Cambria Math"/>
                          </a:rPr>
                          <m:t> </m:t>
                        </m:r>
                        <m:r>
                          <a:rPr lang="en-US" altLang="zh-TW" i="1">
                            <a:solidFill>
                              <a:srgbClr val="C00000"/>
                            </a:solidFill>
                            <a:latin typeface="Cambria Math"/>
                          </a:rPr>
                          <m:t>𝒏</m:t>
                        </m:r>
                      </m:e>
                    </m:d>
                    <m:r>
                      <a:rPr lang="en-US" altLang="zh-TW" i="1">
                        <a:solidFill>
                          <a:srgbClr val="C00000"/>
                        </a:solidFill>
                        <a:latin typeface="Cambria Math"/>
                      </a:rPr>
                      <m:t>+</m:t>
                    </m:r>
                    <m:r>
                      <a:rPr lang="en-US" altLang="zh-TW" i="1">
                        <a:solidFill>
                          <a:srgbClr val="C00000"/>
                        </a:solidFill>
                        <a:latin typeface="Cambria Math"/>
                      </a:rPr>
                      <m:t>𝟏</m:t>
                    </m:r>
                  </m:oMath>
                </a14:m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3"/>
              </p:nvPr>
            </p:nvSpPr>
            <p:spPr>
              <a:blipFill rotWithShape="1">
                <a:blip r:embed="rId2"/>
                <a:stretch>
                  <a:fillRect l="-552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5279636" y="370627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5595000" y="370627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5975501" y="370627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6299491" y="370627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6659892" y="370627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6983882" y="370627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7355757" y="370627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7679747" y="370627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5438849" y="318563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6130580" y="319141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/>
          <p:cNvSpPr/>
          <p:nvPr/>
        </p:nvSpPr>
        <p:spPr>
          <a:xfrm>
            <a:off x="6816840" y="318563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/>
          <p:cNvSpPr/>
          <p:nvPr/>
        </p:nvSpPr>
        <p:spPr>
          <a:xfrm>
            <a:off x="7508571" y="319141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" name="直線接點 19"/>
          <p:cNvCxnSpPr>
            <a:stCxn id="16" idx="4"/>
            <a:endCxn id="7" idx="0"/>
          </p:cNvCxnSpPr>
          <p:nvPr/>
        </p:nvCxnSpPr>
        <p:spPr>
          <a:xfrm flipH="1">
            <a:off x="5423636" y="3473630"/>
            <a:ext cx="159213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橢圓 20"/>
          <p:cNvSpPr/>
          <p:nvPr/>
        </p:nvSpPr>
        <p:spPr>
          <a:xfrm>
            <a:off x="5781060" y="263929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橢圓 21"/>
          <p:cNvSpPr/>
          <p:nvPr/>
        </p:nvSpPr>
        <p:spPr>
          <a:xfrm>
            <a:off x="7156596" y="263929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3" name="橢圓 22"/>
          <p:cNvSpPr/>
          <p:nvPr/>
        </p:nvSpPr>
        <p:spPr>
          <a:xfrm>
            <a:off x="6456599" y="211020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6" name="直線接點 25"/>
          <p:cNvCxnSpPr>
            <a:stCxn id="16" idx="4"/>
            <a:endCxn id="9" idx="0"/>
          </p:cNvCxnSpPr>
          <p:nvPr/>
        </p:nvCxnSpPr>
        <p:spPr>
          <a:xfrm>
            <a:off x="5582849" y="3473630"/>
            <a:ext cx="156151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線接點 28"/>
          <p:cNvCxnSpPr>
            <a:stCxn id="17" idx="4"/>
            <a:endCxn id="10" idx="0"/>
          </p:cNvCxnSpPr>
          <p:nvPr/>
        </p:nvCxnSpPr>
        <p:spPr>
          <a:xfrm flipH="1">
            <a:off x="6119501" y="3479415"/>
            <a:ext cx="155079" cy="22685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線接點 31"/>
          <p:cNvCxnSpPr>
            <a:stCxn id="17" idx="4"/>
            <a:endCxn id="11" idx="0"/>
          </p:cNvCxnSpPr>
          <p:nvPr/>
        </p:nvCxnSpPr>
        <p:spPr>
          <a:xfrm>
            <a:off x="6274580" y="3479415"/>
            <a:ext cx="168911" cy="22685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線接點 34"/>
          <p:cNvCxnSpPr>
            <a:stCxn id="18" idx="4"/>
            <a:endCxn id="12" idx="0"/>
          </p:cNvCxnSpPr>
          <p:nvPr/>
        </p:nvCxnSpPr>
        <p:spPr>
          <a:xfrm flipH="1">
            <a:off x="6803892" y="3473630"/>
            <a:ext cx="156948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/>
          <p:cNvCxnSpPr>
            <a:stCxn id="18" idx="4"/>
            <a:endCxn id="13" idx="0"/>
          </p:cNvCxnSpPr>
          <p:nvPr/>
        </p:nvCxnSpPr>
        <p:spPr>
          <a:xfrm>
            <a:off x="6960840" y="3473630"/>
            <a:ext cx="167042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>
            <a:stCxn id="19" idx="4"/>
            <a:endCxn id="14" idx="0"/>
          </p:cNvCxnSpPr>
          <p:nvPr/>
        </p:nvCxnSpPr>
        <p:spPr>
          <a:xfrm flipH="1">
            <a:off x="7499757" y="3479415"/>
            <a:ext cx="152814" cy="22685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>
            <a:stCxn id="19" idx="4"/>
            <a:endCxn id="15" idx="0"/>
          </p:cNvCxnSpPr>
          <p:nvPr/>
        </p:nvCxnSpPr>
        <p:spPr>
          <a:xfrm>
            <a:off x="7652571" y="3479415"/>
            <a:ext cx="171176" cy="22685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線接點 46"/>
          <p:cNvCxnSpPr>
            <a:stCxn id="22" idx="4"/>
            <a:endCxn id="19" idx="0"/>
          </p:cNvCxnSpPr>
          <p:nvPr/>
        </p:nvCxnSpPr>
        <p:spPr>
          <a:xfrm>
            <a:off x="7300596" y="2927290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>
            <a:stCxn id="22" idx="4"/>
            <a:endCxn id="18" idx="0"/>
          </p:cNvCxnSpPr>
          <p:nvPr/>
        </p:nvCxnSpPr>
        <p:spPr>
          <a:xfrm flipH="1">
            <a:off x="6960840" y="2927290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>
            <a:stCxn id="21" idx="4"/>
            <a:endCxn id="17" idx="0"/>
          </p:cNvCxnSpPr>
          <p:nvPr/>
        </p:nvCxnSpPr>
        <p:spPr>
          <a:xfrm>
            <a:off x="5925060" y="2927290"/>
            <a:ext cx="349520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線接點 55"/>
          <p:cNvCxnSpPr>
            <a:stCxn id="21" idx="4"/>
            <a:endCxn id="16" idx="0"/>
          </p:cNvCxnSpPr>
          <p:nvPr/>
        </p:nvCxnSpPr>
        <p:spPr>
          <a:xfrm flipH="1">
            <a:off x="5582849" y="2927290"/>
            <a:ext cx="34221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>
            <a:stCxn id="23" idx="4"/>
            <a:endCxn id="22" idx="0"/>
          </p:cNvCxnSpPr>
          <p:nvPr/>
        </p:nvCxnSpPr>
        <p:spPr>
          <a:xfrm>
            <a:off x="6600599" y="2398203"/>
            <a:ext cx="699997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線接點 61"/>
          <p:cNvCxnSpPr>
            <a:stCxn id="23" idx="4"/>
            <a:endCxn id="21" idx="0"/>
          </p:cNvCxnSpPr>
          <p:nvPr/>
        </p:nvCxnSpPr>
        <p:spPr>
          <a:xfrm flipH="1">
            <a:off x="5925060" y="2398203"/>
            <a:ext cx="675539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橢圓 64"/>
          <p:cNvSpPr/>
          <p:nvPr/>
        </p:nvSpPr>
        <p:spPr>
          <a:xfrm>
            <a:off x="1182060" y="370627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3" name="橢圓 72"/>
          <p:cNvSpPr/>
          <p:nvPr/>
        </p:nvSpPr>
        <p:spPr>
          <a:xfrm>
            <a:off x="1341273" y="318563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橢圓 73"/>
          <p:cNvSpPr/>
          <p:nvPr/>
        </p:nvSpPr>
        <p:spPr>
          <a:xfrm>
            <a:off x="2033004" y="319141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5" name="橢圓 74"/>
          <p:cNvSpPr/>
          <p:nvPr/>
        </p:nvSpPr>
        <p:spPr>
          <a:xfrm>
            <a:off x="2719264" y="318563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6" name="橢圓 75"/>
          <p:cNvSpPr/>
          <p:nvPr/>
        </p:nvSpPr>
        <p:spPr>
          <a:xfrm>
            <a:off x="3410995" y="319141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7" name="直線接點 76"/>
          <p:cNvCxnSpPr>
            <a:stCxn id="73" idx="4"/>
            <a:endCxn id="65" idx="0"/>
          </p:cNvCxnSpPr>
          <p:nvPr/>
        </p:nvCxnSpPr>
        <p:spPr>
          <a:xfrm flipH="1">
            <a:off x="1326060" y="3473630"/>
            <a:ext cx="159213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橢圓 77"/>
          <p:cNvSpPr/>
          <p:nvPr/>
        </p:nvSpPr>
        <p:spPr>
          <a:xfrm>
            <a:off x="1683484" y="263929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" name="橢圓 78"/>
          <p:cNvSpPr/>
          <p:nvPr/>
        </p:nvSpPr>
        <p:spPr>
          <a:xfrm>
            <a:off x="3059020" y="263929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0" name="橢圓 79"/>
          <p:cNvSpPr/>
          <p:nvPr/>
        </p:nvSpPr>
        <p:spPr>
          <a:xfrm>
            <a:off x="2359023" y="211020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8" name="直線接點 87"/>
          <p:cNvCxnSpPr>
            <a:stCxn id="79" idx="4"/>
            <a:endCxn id="76" idx="0"/>
          </p:cNvCxnSpPr>
          <p:nvPr/>
        </p:nvCxnSpPr>
        <p:spPr>
          <a:xfrm>
            <a:off x="3203020" y="2927290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線接點 88"/>
          <p:cNvCxnSpPr>
            <a:stCxn id="79" idx="4"/>
            <a:endCxn id="75" idx="0"/>
          </p:cNvCxnSpPr>
          <p:nvPr/>
        </p:nvCxnSpPr>
        <p:spPr>
          <a:xfrm flipH="1">
            <a:off x="2863264" y="2927290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直線接點 89"/>
          <p:cNvCxnSpPr>
            <a:stCxn id="78" idx="4"/>
            <a:endCxn id="74" idx="0"/>
          </p:cNvCxnSpPr>
          <p:nvPr/>
        </p:nvCxnSpPr>
        <p:spPr>
          <a:xfrm>
            <a:off x="1827484" y="2927290"/>
            <a:ext cx="349520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直線接點 90"/>
          <p:cNvCxnSpPr>
            <a:stCxn id="78" idx="4"/>
            <a:endCxn id="73" idx="0"/>
          </p:cNvCxnSpPr>
          <p:nvPr/>
        </p:nvCxnSpPr>
        <p:spPr>
          <a:xfrm flipH="1">
            <a:off x="1485273" y="2927290"/>
            <a:ext cx="34221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直線接點 91"/>
          <p:cNvCxnSpPr>
            <a:stCxn id="80" idx="4"/>
            <a:endCxn id="79" idx="0"/>
          </p:cNvCxnSpPr>
          <p:nvPr/>
        </p:nvCxnSpPr>
        <p:spPr>
          <a:xfrm>
            <a:off x="2503023" y="2398203"/>
            <a:ext cx="699997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直線接點 92"/>
          <p:cNvCxnSpPr>
            <a:stCxn id="80" idx="4"/>
            <a:endCxn id="78" idx="0"/>
          </p:cNvCxnSpPr>
          <p:nvPr/>
        </p:nvCxnSpPr>
        <p:spPr>
          <a:xfrm flipH="1">
            <a:off x="1827484" y="2398203"/>
            <a:ext cx="675539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群組 7"/>
          <p:cNvGrpSpPr/>
          <p:nvPr/>
        </p:nvGrpSpPr>
        <p:grpSpPr>
          <a:xfrm>
            <a:off x="3928509" y="2110203"/>
            <a:ext cx="970950" cy="1889825"/>
            <a:chOff x="3928509" y="2110203"/>
            <a:chExt cx="970950" cy="1889825"/>
          </a:xfrm>
        </p:grpSpPr>
        <p:cxnSp>
          <p:nvCxnSpPr>
            <p:cNvPr id="95" name="直線接點 94"/>
            <p:cNvCxnSpPr/>
            <p:nvPr/>
          </p:nvCxnSpPr>
          <p:spPr>
            <a:xfrm>
              <a:off x="4107459" y="2110203"/>
              <a:ext cx="792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直線接點 95"/>
            <p:cNvCxnSpPr/>
            <p:nvPr/>
          </p:nvCxnSpPr>
          <p:spPr>
            <a:xfrm>
              <a:off x="4608306" y="3988126"/>
              <a:ext cx="252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線單箭頭接點 97"/>
            <p:cNvCxnSpPr/>
            <p:nvPr/>
          </p:nvCxnSpPr>
          <p:spPr>
            <a:xfrm flipH="1">
              <a:off x="4245475" y="2110203"/>
              <a:ext cx="539" cy="1368000"/>
            </a:xfrm>
            <a:prstGeom prst="straightConnector1">
              <a:avLst/>
            </a:prstGeom>
            <a:ln w="28575"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線單箭頭接點 102"/>
            <p:cNvCxnSpPr/>
            <p:nvPr/>
          </p:nvCxnSpPr>
          <p:spPr>
            <a:xfrm flipH="1">
              <a:off x="4725663" y="2115961"/>
              <a:ext cx="539" cy="1884067"/>
            </a:xfrm>
            <a:prstGeom prst="straightConnector1">
              <a:avLst/>
            </a:prstGeom>
            <a:ln w="28575"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線接點 103"/>
            <p:cNvCxnSpPr/>
            <p:nvPr/>
          </p:nvCxnSpPr>
          <p:spPr>
            <a:xfrm>
              <a:off x="4107059" y="3479415"/>
              <a:ext cx="252000" cy="0"/>
            </a:xfrm>
            <a:prstGeom prst="line">
              <a:avLst/>
            </a:prstGeom>
            <a:ln w="28575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5" name="文字方塊 104"/>
            <p:cNvSpPr txBox="1"/>
            <p:nvPr/>
          </p:nvSpPr>
          <p:spPr>
            <a:xfrm>
              <a:off x="3928509" y="2639290"/>
              <a:ext cx="659155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 – 1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6" name="文字方塊 105"/>
            <p:cNvSpPr txBox="1"/>
            <p:nvPr/>
          </p:nvSpPr>
          <p:spPr>
            <a:xfrm>
              <a:off x="4577351" y="2927290"/>
              <a:ext cx="300082" cy="369332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TW" b="1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07" name="文字方塊 106"/>
          <p:cNvSpPr txBox="1"/>
          <p:nvPr/>
        </p:nvSpPr>
        <p:spPr>
          <a:xfrm>
            <a:off x="6084510" y="4167689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點數最多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sp>
        <p:nvSpPr>
          <p:cNvPr id="108" name="文字方塊 107"/>
          <p:cNvSpPr txBox="1"/>
          <p:nvPr/>
        </p:nvSpPr>
        <p:spPr>
          <a:xfrm>
            <a:off x="1908997" y="4167689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solidFill>
                  <a:srgbClr val="C00000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點數最少</a:t>
            </a:r>
            <a:endParaRPr lang="zh-TW" altLang="en-US" sz="2000" b="1" dirty="0">
              <a:solidFill>
                <a:srgbClr val="C00000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9" name="文字方塊 108"/>
              <p:cNvSpPr txBox="1"/>
              <p:nvPr/>
            </p:nvSpPr>
            <p:spPr>
              <a:xfrm>
                <a:off x="3203020" y="4671211"/>
                <a:ext cx="2842253" cy="37978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altLang="zh-TW" b="1" i="1" smtClean="0">
                              <a:latin typeface="Cambria Math"/>
                            </a:rPr>
                            <m:t>𝟐</m:t>
                          </m:r>
                        </m:e>
                        <m:sup>
                          <m:r>
                            <a:rPr lang="en-US" altLang="zh-TW" b="1" i="1" smtClean="0">
                              <a:latin typeface="Cambria Math"/>
                            </a:rPr>
                            <m:t>𝒌</m:t>
                          </m:r>
                          <m:r>
                            <a:rPr lang="en-US" altLang="zh-TW" b="1" i="1" smtClean="0">
                              <a:latin typeface="Cambria Math"/>
                            </a:rPr>
                            <m:t>−</m:t>
                          </m:r>
                          <m:r>
                            <a:rPr lang="en-US" altLang="zh-TW" b="1" i="1" smtClean="0">
                              <a:latin typeface="Cambria Math"/>
                            </a:rPr>
                            <m:t>𝟏</m:t>
                          </m:r>
                        </m:sup>
                      </m:sSup>
                      <m:r>
                        <a:rPr lang="en-US" altLang="zh-TW" b="1" i="1" smtClean="0">
                          <a:latin typeface="Cambria Math"/>
                          <a:ea typeface="Cambria Math"/>
                        </a:rPr>
                        <m:t>≤</m:t>
                      </m:r>
                      <m:r>
                        <a:rPr lang="en-US" altLang="zh-TW" b="1" i="1" smtClean="0">
                          <a:latin typeface="Cambria Math"/>
                        </a:rPr>
                        <m:t>𝒏</m:t>
                      </m:r>
                      <m:r>
                        <a:rPr lang="en-US" altLang="zh-TW" b="1" i="1" smtClean="0">
                          <a:latin typeface="Cambria Math"/>
                        </a:rPr>
                        <m:t> ≤ </m:t>
                      </m:r>
                      <m:sSup>
                        <m:sSup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altLang="zh-TW" b="1" i="1" smtClean="0">
                              <a:latin typeface="Cambria Math"/>
                              <a:ea typeface="Cambria Math"/>
                            </a:rPr>
                            <m:t>𝟐</m:t>
                          </m:r>
                        </m:e>
                        <m:sup>
                          <m:r>
                            <a:rPr lang="en-US" altLang="zh-TW" b="1" i="1" smtClean="0">
                              <a:latin typeface="Cambria Math"/>
                              <a:ea typeface="Cambria Math"/>
                            </a:rPr>
                            <m:t>𝒌</m:t>
                          </m:r>
                        </m:sup>
                      </m:sSup>
                      <m:r>
                        <a:rPr lang="en-US" altLang="zh-TW" b="1" i="1" smtClean="0">
                          <a:latin typeface="Cambria Math"/>
                          <a:ea typeface="Cambria Math"/>
                        </a:rPr>
                        <m:t>−</m:t>
                      </m:r>
                      <m:r>
                        <a:rPr lang="en-US" altLang="zh-TW" b="1" i="1" smtClean="0">
                          <a:latin typeface="Cambria Math"/>
                          <a:ea typeface="Cambria Math"/>
                        </a:rPr>
                        <m:t>𝟏</m:t>
                      </m:r>
                      <m:r>
                        <a:rPr lang="en-US" altLang="zh-TW" b="1" i="0" smtClean="0">
                          <a:latin typeface="Cambria Math"/>
                          <a:ea typeface="Cambria Math"/>
                        </a:rPr>
                        <m:t>&lt; </m:t>
                      </m:r>
                      <m:sSup>
                        <m:sSup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altLang="zh-TW" b="1" i="1" smtClean="0">
                              <a:latin typeface="Cambria Math"/>
                              <a:ea typeface="Cambria Math"/>
                            </a:rPr>
                            <m:t>𝟐</m:t>
                          </m:r>
                        </m:e>
                        <m:sup>
                          <m:r>
                            <a:rPr lang="en-US" altLang="zh-TW" b="1" i="1" smtClean="0">
                              <a:latin typeface="Cambria Math"/>
                              <a:ea typeface="Cambria Math"/>
                            </a:rPr>
                            <m:t>𝒌</m:t>
                          </m:r>
                        </m:sup>
                      </m:sSup>
                    </m:oMath>
                  </m:oMathPara>
                </a14:m>
                <a:endParaRPr lang="en-US" altLang="zh-TW" b="1" dirty="0" smtClean="0">
                  <a:ea typeface="Cambria Math"/>
                </a:endParaRPr>
              </a:p>
            </p:txBody>
          </p:sp>
        </mc:Choice>
        <mc:Fallback xmlns="">
          <p:sp>
            <p:nvSpPr>
              <p:cNvPr id="109" name="文字方塊 10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3020" y="4671211"/>
                <a:ext cx="2842253" cy="379784"/>
              </a:xfrm>
              <a:prstGeom prst="rect">
                <a:avLst/>
              </a:prstGeom>
              <a:blipFill rotWithShape="0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0" name="文字方塊 109"/>
              <p:cNvSpPr txBox="1"/>
              <p:nvPr/>
            </p:nvSpPr>
            <p:spPr>
              <a:xfrm>
                <a:off x="3249862" y="5045481"/>
                <a:ext cx="2757934" cy="40498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lang="en-US" altLang="zh-TW" b="1" i="0" smtClean="0">
                              <a:latin typeface="Cambria Math"/>
                            </a:rPr>
                            <m:t>𝐥𝐠</m:t>
                          </m:r>
                        </m:fName>
                        <m:e>
                          <m:d>
                            <m:dPr>
                              <m:ctrlP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altLang="zh-TW" b="1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TW" b="1" i="1" smtClean="0">
                                      <a:latin typeface="Cambria Math"/>
                                    </a:rPr>
                                    <m:t>𝟐</m:t>
                                  </m:r>
                                </m:e>
                                <m:sup>
                                  <m:r>
                                    <a:rPr lang="en-US" altLang="zh-TW" b="1" i="1" smtClean="0">
                                      <a:latin typeface="Cambria Math"/>
                                    </a:rPr>
                                    <m:t>𝒌</m:t>
                                  </m:r>
                                  <m:r>
                                    <a:rPr lang="en-US" altLang="zh-TW" b="1" i="1" smtClean="0">
                                      <a:latin typeface="Cambria Math"/>
                                    </a:rPr>
                                    <m:t>−</m:t>
                                  </m:r>
                                  <m:r>
                                    <a:rPr lang="en-US" altLang="zh-TW" b="1" i="1" smtClean="0">
                                      <a:latin typeface="Cambria Math"/>
                                    </a:rPr>
                                    <m:t>𝟏</m:t>
                                  </m:r>
                                </m:sup>
                              </m:sSup>
                            </m:e>
                          </m:d>
                        </m:e>
                      </m:func>
                      <m:r>
                        <a:rPr lang="en-US" altLang="zh-TW" b="1" i="1" smtClean="0">
                          <a:latin typeface="Cambria Math"/>
                          <a:ea typeface="Cambria Math"/>
                        </a:rPr>
                        <m:t>≤</m:t>
                      </m:r>
                      <m:func>
                        <m:func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uncPr>
                        <m:fName>
                          <m:r>
                            <a:rPr lang="en-US" altLang="zh-TW" b="1" i="0" smtClean="0">
                              <a:latin typeface="Cambria Math"/>
                              <a:ea typeface="Cambria Math"/>
                            </a:rPr>
                            <m:t>𝐥𝐠</m:t>
                          </m:r>
                        </m:fName>
                        <m:e>
                          <m:r>
                            <a:rPr lang="en-US" altLang="zh-TW" b="1" i="1" smtClean="0">
                              <a:latin typeface="Cambria Math"/>
                              <a:ea typeface="Cambria Math"/>
                            </a:rPr>
                            <m:t>𝒏</m:t>
                          </m:r>
                        </m:e>
                      </m:func>
                      <m:r>
                        <a:rPr lang="en-US" altLang="zh-TW" b="1" i="1" smtClean="0">
                          <a:latin typeface="Cambria Math"/>
                          <a:ea typeface="Cambria Math"/>
                        </a:rPr>
                        <m:t>&lt;</m:t>
                      </m:r>
                      <m:r>
                        <a:rPr lang="en-US" altLang="zh-TW" b="1" i="0" smtClean="0">
                          <a:latin typeface="Cambria Math"/>
                          <a:ea typeface="Cambria Math"/>
                        </a:rPr>
                        <m:t>𝐥𝐠</m:t>
                      </m:r>
                      <m:r>
                        <a:rPr lang="en-US" altLang="zh-TW" b="1" i="1" smtClean="0">
                          <a:latin typeface="Cambria Math"/>
                          <a:ea typeface="Cambria Math"/>
                        </a:rPr>
                        <m:t>⁡(</m:t>
                      </m:r>
                      <m:sSup>
                        <m:sSup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sSupPr>
                        <m:e>
                          <m:r>
                            <a:rPr lang="en-US" altLang="zh-TW" b="1" i="1" smtClean="0">
                              <a:latin typeface="Cambria Math"/>
                              <a:ea typeface="Cambria Math"/>
                            </a:rPr>
                            <m:t>𝟐</m:t>
                          </m:r>
                        </m:e>
                        <m:sup>
                          <m:r>
                            <a:rPr lang="en-US" altLang="zh-TW" b="1" i="1" smtClean="0">
                              <a:latin typeface="Cambria Math"/>
                              <a:ea typeface="Cambria Math"/>
                            </a:rPr>
                            <m:t>𝒌</m:t>
                          </m:r>
                        </m:sup>
                      </m:sSup>
                      <m:r>
                        <a:rPr lang="en-US" altLang="zh-TW" b="1" i="1" smtClean="0">
                          <a:latin typeface="Cambria Math"/>
                          <a:ea typeface="Cambria Math"/>
                        </a:rPr>
                        <m:t>)</m:t>
                      </m:r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110" name="文字方塊 10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9862" y="5045481"/>
                <a:ext cx="2757934" cy="404983"/>
              </a:xfrm>
              <a:prstGeom prst="rect">
                <a:avLst/>
              </a:prstGeom>
              <a:blipFill rotWithShape="0">
                <a:blip r:embed="rId4"/>
                <a:stretch>
                  <a:fillRect b="-10606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1" name="文字方塊 110"/>
              <p:cNvSpPr txBox="1"/>
              <p:nvPr/>
            </p:nvSpPr>
            <p:spPr>
              <a:xfrm>
                <a:off x="3501478" y="5461966"/>
                <a:ext cx="198483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1" i="1" smtClean="0">
                          <a:latin typeface="Cambria Math"/>
                        </a:rPr>
                        <m:t>𝒌</m:t>
                      </m:r>
                      <m:r>
                        <a:rPr lang="en-US" altLang="zh-TW" b="1" i="1" smtClean="0">
                          <a:latin typeface="Cambria Math"/>
                        </a:rPr>
                        <m:t>−</m:t>
                      </m:r>
                      <m:r>
                        <a:rPr lang="en-US" altLang="zh-TW" b="1" i="1" smtClean="0">
                          <a:latin typeface="Cambria Math"/>
                        </a:rPr>
                        <m:t>𝟏</m:t>
                      </m:r>
                      <m:r>
                        <a:rPr lang="en-US" altLang="zh-TW" b="1" i="1" smtClean="0">
                          <a:latin typeface="Cambria Math"/>
                        </a:rPr>
                        <m:t> ≤</m:t>
                      </m:r>
                      <m:func>
                        <m:funcPr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  <a:ea typeface="Cambria Math"/>
                            </a:rPr>
                          </m:ctrlPr>
                        </m:funcPr>
                        <m:fName>
                          <m:r>
                            <a:rPr lang="en-US" altLang="zh-TW" b="1" i="0" smtClean="0">
                              <a:latin typeface="Cambria Math"/>
                              <a:ea typeface="Cambria Math"/>
                            </a:rPr>
                            <m:t>𝐥𝐠</m:t>
                          </m:r>
                        </m:fName>
                        <m:e>
                          <m:r>
                            <a:rPr lang="en-US" altLang="zh-TW" b="1" i="1" smtClean="0">
                              <a:latin typeface="Cambria Math"/>
                              <a:ea typeface="Cambria Math"/>
                            </a:rPr>
                            <m:t>𝒏</m:t>
                          </m:r>
                        </m:e>
                      </m:func>
                      <m:r>
                        <a:rPr lang="en-US" altLang="zh-TW" b="1" i="1" smtClean="0">
                          <a:latin typeface="Cambria Math"/>
                          <a:ea typeface="Cambria Math"/>
                        </a:rPr>
                        <m:t>&lt;</m:t>
                      </m:r>
                      <m:r>
                        <a:rPr lang="en-US" altLang="zh-TW" b="1" i="1" smtClean="0">
                          <a:latin typeface="Cambria Math"/>
                          <a:ea typeface="Cambria Math"/>
                        </a:rPr>
                        <m:t>𝒌</m:t>
                      </m:r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111" name="文字方塊 1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1478" y="5461966"/>
                <a:ext cx="1984839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14754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2" name="文字方塊 111"/>
              <p:cNvSpPr txBox="1"/>
              <p:nvPr/>
            </p:nvSpPr>
            <p:spPr>
              <a:xfrm>
                <a:off x="3501478" y="5831298"/>
                <a:ext cx="16526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zh-TW" altLang="en-US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TW" b="1" i="0" smtClean="0">
                                  <a:latin typeface="Cambria Math"/>
                                </a:rPr>
                                <m:t>𝐥𝐠</m:t>
                              </m:r>
                            </m:fName>
                            <m:e>
                              <m:r>
                                <a:rPr lang="en-US" altLang="zh-TW" b="1" i="1" smtClean="0">
                                  <a:latin typeface="Cambria Math"/>
                                </a:rPr>
                                <m:t>𝒏</m:t>
                              </m:r>
                            </m:e>
                          </m:func>
                        </m:e>
                      </m:d>
                      <m:r>
                        <a:rPr lang="en-US" altLang="zh-TW" b="1" i="1" smtClean="0">
                          <a:latin typeface="Cambria Math"/>
                        </a:rPr>
                        <m:t>=</m:t>
                      </m:r>
                      <m:r>
                        <a:rPr lang="en-US" altLang="zh-TW" b="1" i="1" smtClean="0">
                          <a:latin typeface="Cambria Math"/>
                        </a:rPr>
                        <m:t>𝒌</m:t>
                      </m:r>
                      <m:r>
                        <a:rPr lang="en-US" altLang="zh-TW" b="1" i="1" smtClean="0">
                          <a:latin typeface="Cambria Math"/>
                        </a:rPr>
                        <m:t>−</m:t>
                      </m:r>
                      <m:r>
                        <a:rPr lang="en-US" altLang="zh-TW" b="1" i="1" smtClean="0"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112" name="文字方塊 1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1478" y="5831298"/>
                <a:ext cx="1652697" cy="369332"/>
              </a:xfrm>
              <a:prstGeom prst="rect">
                <a:avLst/>
              </a:prstGeom>
              <a:blipFill rotWithShape="0">
                <a:blip r:embed="rId6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3" name="文字方塊 112"/>
              <p:cNvSpPr txBox="1"/>
              <p:nvPr/>
            </p:nvSpPr>
            <p:spPr>
              <a:xfrm>
                <a:off x="3502050" y="6186583"/>
                <a:ext cx="1652697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TW" b="1" i="1" smtClean="0">
                          <a:latin typeface="Cambria Math"/>
                        </a:rPr>
                        <m:t>𝒌</m:t>
                      </m:r>
                      <m:r>
                        <a:rPr lang="en-US" altLang="zh-TW" b="1" i="1" smtClean="0">
                          <a:latin typeface="Cambria Math"/>
                        </a:rPr>
                        <m:t>=</m:t>
                      </m:r>
                      <m:d>
                        <m:dPr>
                          <m:begChr m:val="⌊"/>
                          <m:endChr m:val="⌋"/>
                          <m:ctrlPr>
                            <a:rPr lang="en-US" altLang="zh-TW" b="1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func>
                            <m:funcPr>
                              <m:ctrlPr>
                                <a:rPr lang="en-US" altLang="zh-TW" b="1" i="1" smtClean="0">
                                  <a:latin typeface="Cambria Math" panose="02040503050406030204" pitchFamily="18" charset="0"/>
                                </a:rPr>
                              </m:ctrlPr>
                            </m:funcPr>
                            <m:fName>
                              <m:r>
                                <a:rPr lang="en-US" altLang="zh-TW" b="1" i="0" smtClean="0">
                                  <a:latin typeface="Cambria Math"/>
                                </a:rPr>
                                <m:t>𝐥𝐠</m:t>
                              </m:r>
                            </m:fName>
                            <m:e>
                              <m:r>
                                <a:rPr lang="en-US" altLang="zh-TW" b="1" i="1" smtClean="0">
                                  <a:latin typeface="Cambria Math"/>
                                </a:rPr>
                                <m:t>𝒏</m:t>
                              </m:r>
                            </m:e>
                          </m:func>
                        </m:e>
                      </m:d>
                      <m:r>
                        <a:rPr lang="en-US" altLang="zh-TW" b="1" i="1" smtClean="0">
                          <a:latin typeface="Cambria Math"/>
                        </a:rPr>
                        <m:t>+</m:t>
                      </m:r>
                      <m:r>
                        <a:rPr lang="en-US" altLang="zh-TW" b="1" i="1" smtClean="0">
                          <a:latin typeface="Cambria Math"/>
                        </a:rPr>
                        <m:t>𝟏</m:t>
                      </m:r>
                    </m:oMath>
                  </m:oMathPara>
                </a14:m>
                <a:endParaRPr lang="zh-TW" altLang="en-US" b="1" dirty="0"/>
              </a:p>
            </p:txBody>
          </p:sp>
        </mc:Choice>
        <mc:Fallback xmlns="">
          <p:sp>
            <p:nvSpPr>
              <p:cNvPr id="113" name="文字方塊 1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02050" y="6186583"/>
                <a:ext cx="1652697" cy="369332"/>
              </a:xfrm>
              <a:prstGeom prst="rect">
                <a:avLst/>
              </a:prstGeom>
              <a:blipFill rotWithShape="0">
                <a:blip r:embed="rId7"/>
                <a:stretch>
                  <a:fillRect b="-16667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圓角矩形圖說文字 113"/>
              <p:cNvSpPr/>
              <p:nvPr/>
            </p:nvSpPr>
            <p:spPr>
              <a:xfrm>
                <a:off x="184046" y="5397790"/>
                <a:ext cx="1992958" cy="618174"/>
              </a:xfrm>
              <a:prstGeom prst="wedgeRoundRectCallout">
                <a:avLst>
                  <a:gd name="adj1" fmla="val 8308"/>
                  <a:gd name="adj2" fmla="val -272916"/>
                  <a:gd name="adj3" fmla="val 16667"/>
                </a:avLst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b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總點數 </a:t>
                </a:r>
                <a:r>
                  <a:rPr lang="en-US" altLang="zh-TW" b="1" dirty="0" smtClean="0">
                    <a:solidFill>
                      <a:srgbClr val="0000FF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8</a:t>
                </a:r>
              </a:p>
              <a:p>
                <a:pPr algn="ctr"/>
                <a:r>
                  <a:rPr lang="zh-TW" altLang="en-US" b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高度為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zh-TW" alt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b="1" i="0" smtClean="0">
                            <a:solidFill>
                              <a:schemeClr val="tx1"/>
                            </a:solidFill>
                            <a:latin typeface="Cambria Math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𝐥𝐠</m:t>
                        </m:r>
                        <m:r>
                          <a:rPr lang="en-US" altLang="zh-TW" b="1" i="1" smtClean="0">
                            <a:solidFill>
                              <a:schemeClr val="tx1"/>
                            </a:solidFill>
                            <a:latin typeface="Cambria Math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TW" b="1" i="1" smtClean="0">
                            <a:solidFill>
                              <a:srgbClr val="0000FF"/>
                            </a:solidFill>
                            <a:latin typeface="Cambria Math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𝟖</m:t>
                        </m:r>
                      </m:e>
                    </m:d>
                    <m:r>
                      <a:rPr lang="en-US" altLang="zh-TW" b="1" i="1" smtClean="0">
                        <a:solidFill>
                          <a:schemeClr val="tx1"/>
                        </a:solidFill>
                        <a:latin typeface="Cambria Math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b="1" i="1" smtClean="0">
                        <a:solidFill>
                          <a:schemeClr val="tx1"/>
                        </a:solidFill>
                        <a:latin typeface="Cambria Math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endParaRPr lang="zh-TW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4" name="圓角矩形圖說文字 1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4046" y="5397790"/>
                <a:ext cx="1992958" cy="618174"/>
              </a:xfrm>
              <a:prstGeom prst="wedgeRoundRectCallout">
                <a:avLst>
                  <a:gd name="adj1" fmla="val 8308"/>
                  <a:gd name="adj2" fmla="val -272916"/>
                  <a:gd name="adj3" fmla="val 16667"/>
                </a:avLst>
              </a:prstGeom>
              <a:blipFill rotWithShape="1">
                <a:blip r:embed="rId8"/>
                <a:stretch>
                  <a:fillRect b="-4776"/>
                </a:stretch>
              </a:blipFill>
              <a:ln w="2857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5" name="圓角矩形圖說文字 114"/>
              <p:cNvSpPr/>
              <p:nvPr/>
            </p:nvSpPr>
            <p:spPr>
              <a:xfrm>
                <a:off x="6803892" y="5397790"/>
                <a:ext cx="2106603" cy="618174"/>
              </a:xfrm>
              <a:prstGeom prst="wedgeRoundRectCallout">
                <a:avLst>
                  <a:gd name="adj1" fmla="val -29037"/>
                  <a:gd name="adj2" fmla="val -258962"/>
                  <a:gd name="adj3" fmla="val 16667"/>
                </a:avLst>
              </a:prstGeom>
              <a:noFill/>
              <a:ln w="28575">
                <a:solidFill>
                  <a:srgbClr val="C0000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b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總點數 </a:t>
                </a:r>
                <a:r>
                  <a:rPr lang="en-US" altLang="zh-TW" b="1" dirty="0" smtClean="0">
                    <a:solidFill>
                      <a:srgbClr val="0000FF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15</a:t>
                </a:r>
              </a:p>
              <a:p>
                <a:pPr algn="ctr"/>
                <a:r>
                  <a:rPr lang="zh-TW" altLang="en-US" b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高度為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zh-TW" altLang="en-US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TW" b="1" i="0" smtClean="0">
                            <a:solidFill>
                              <a:schemeClr val="tx1"/>
                            </a:solidFill>
                            <a:latin typeface="Cambria Math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𝐥𝐠</m:t>
                        </m:r>
                        <m:r>
                          <a:rPr lang="en-US" altLang="zh-TW" b="1" i="1" smtClean="0">
                            <a:solidFill>
                              <a:schemeClr val="tx1"/>
                            </a:solidFill>
                            <a:latin typeface="Cambria Math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 </m:t>
                        </m:r>
                        <m:r>
                          <a:rPr lang="en-US" altLang="zh-TW" b="1" i="1" smtClean="0">
                            <a:solidFill>
                              <a:srgbClr val="0000FF"/>
                            </a:solidFill>
                            <a:latin typeface="Cambria Math"/>
                            <a:ea typeface="標楷體" panose="03000509000000000000" pitchFamily="65" charset="-120"/>
                            <a:cs typeface="Times New Roman" panose="02020603050405020304" pitchFamily="18" charset="0"/>
                          </a:rPr>
                          <m:t>𝟏𝟓</m:t>
                        </m:r>
                      </m:e>
                    </m:d>
                    <m:r>
                      <a:rPr lang="en-US" altLang="zh-TW" b="1" i="1" smtClean="0">
                        <a:solidFill>
                          <a:schemeClr val="tx1"/>
                        </a:solidFill>
                        <a:latin typeface="Cambria Math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+</m:t>
                    </m:r>
                    <m:r>
                      <a:rPr lang="en-US" altLang="zh-TW" b="1" i="1" smtClean="0">
                        <a:solidFill>
                          <a:schemeClr val="tx1"/>
                        </a:solidFill>
                        <a:latin typeface="Cambria Math"/>
                        <a:ea typeface="標楷體" panose="03000509000000000000" pitchFamily="65" charset="-120"/>
                        <a:cs typeface="Times New Roman" panose="02020603050405020304" pitchFamily="18" charset="0"/>
                      </a:rPr>
                      <m:t>𝟏</m:t>
                    </m:r>
                  </m:oMath>
                </a14:m>
                <a:endParaRPr lang="zh-TW" altLang="en-US" b="1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5" name="圓角矩形圖說文字 1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03892" y="5397790"/>
                <a:ext cx="2106603" cy="618174"/>
              </a:xfrm>
              <a:prstGeom prst="wedgeRoundRectCallout">
                <a:avLst>
                  <a:gd name="adj1" fmla="val -29037"/>
                  <a:gd name="adj2" fmla="val -258962"/>
                  <a:gd name="adj3" fmla="val 16667"/>
                </a:avLst>
              </a:prstGeom>
              <a:blipFill rotWithShape="1">
                <a:blip r:embed="rId9"/>
                <a:stretch>
                  <a:fillRect b="-4984"/>
                </a:stretch>
              </a:blipFill>
              <a:ln w="28575">
                <a:solidFill>
                  <a:srgbClr val="C00000"/>
                </a:solidFill>
              </a:ln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43917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" grpId="0"/>
      <p:bldP spid="110" grpId="0"/>
      <p:bldP spid="111" grpId="0"/>
      <p:bldP spid="112" grpId="0"/>
      <p:bldP spid="113" grpId="0"/>
      <p:bldP spid="114" grpId="0" animBg="1"/>
      <p:bldP spid="11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堆積表示法</a:t>
            </a:r>
            <a:r>
              <a:rPr lang="en-US" altLang="zh-TW" dirty="0" smtClean="0"/>
              <a:t> (1/2)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用</a:t>
            </a:r>
            <a:r>
              <a:rPr lang="zh-TW" altLang="en-US" dirty="0" smtClean="0">
                <a:solidFill>
                  <a:srgbClr val="0000FF"/>
                </a:solidFill>
              </a:rPr>
              <a:t>一維陣列</a:t>
            </a:r>
            <a:r>
              <a:rPr lang="zh-TW" altLang="en-US" dirty="0" smtClean="0"/>
              <a:t>表示</a:t>
            </a:r>
            <a:r>
              <a:rPr lang="en-US" altLang="zh-TW" dirty="0" smtClean="0"/>
              <a:t>max heap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3104972" y="387257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3428079" y="33519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4119810" y="33577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4806070" y="33519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5497801" y="33577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/>
          <p:cNvCxnSpPr>
            <a:stCxn id="8" idx="4"/>
            <a:endCxn id="7" idx="0"/>
          </p:cNvCxnSpPr>
          <p:nvPr/>
        </p:nvCxnSpPr>
        <p:spPr>
          <a:xfrm flipH="1">
            <a:off x="3248972" y="3639932"/>
            <a:ext cx="323107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橢圓 12"/>
          <p:cNvSpPr/>
          <p:nvPr/>
        </p:nvSpPr>
        <p:spPr>
          <a:xfrm>
            <a:off x="3770290" y="28055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5145826" y="28055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4445829" y="227650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接點 15"/>
          <p:cNvCxnSpPr>
            <a:stCxn id="14" idx="4"/>
            <a:endCxn id="11" idx="0"/>
          </p:cNvCxnSpPr>
          <p:nvPr/>
        </p:nvCxnSpPr>
        <p:spPr>
          <a:xfrm>
            <a:off x="5289826" y="3093592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14" idx="4"/>
            <a:endCxn id="10" idx="0"/>
          </p:cNvCxnSpPr>
          <p:nvPr/>
        </p:nvCxnSpPr>
        <p:spPr>
          <a:xfrm flipH="1">
            <a:off x="4950070" y="3093592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13" idx="4"/>
            <a:endCxn id="9" idx="0"/>
          </p:cNvCxnSpPr>
          <p:nvPr/>
        </p:nvCxnSpPr>
        <p:spPr>
          <a:xfrm>
            <a:off x="3914290" y="3093592"/>
            <a:ext cx="349520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13" idx="4"/>
            <a:endCxn id="8" idx="0"/>
          </p:cNvCxnSpPr>
          <p:nvPr/>
        </p:nvCxnSpPr>
        <p:spPr>
          <a:xfrm flipH="1">
            <a:off x="3572079" y="3093592"/>
            <a:ext cx="34221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5" idx="4"/>
            <a:endCxn id="14" idx="0"/>
          </p:cNvCxnSpPr>
          <p:nvPr/>
        </p:nvCxnSpPr>
        <p:spPr>
          <a:xfrm>
            <a:off x="4589829" y="2564505"/>
            <a:ext cx="699997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5" idx="4"/>
            <a:endCxn id="13" idx="0"/>
          </p:cNvCxnSpPr>
          <p:nvPr/>
        </p:nvCxnSpPr>
        <p:spPr>
          <a:xfrm flipH="1">
            <a:off x="3914290" y="2564505"/>
            <a:ext cx="675539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4392948" y="222721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3714478" y="27563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090179" y="274767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字方塊 24"/>
          <p:cNvSpPr txBox="1"/>
          <p:nvPr/>
        </p:nvSpPr>
        <p:spPr>
          <a:xfrm>
            <a:off x="3364329" y="33026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4058290" y="33026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4742320" y="329979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5442452" y="33026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3041222" y="38230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1" name="表格 30"/>
          <p:cNvGraphicFramePr>
            <a:graphicFrameLocks noGrp="1"/>
          </p:cNvGraphicFramePr>
          <p:nvPr>
            <p:extLst/>
          </p:nvPr>
        </p:nvGraphicFramePr>
        <p:xfrm>
          <a:off x="2303920" y="4933831"/>
          <a:ext cx="48768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28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73619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堆積表示法</a:t>
            </a:r>
            <a:r>
              <a:rPr lang="en-US" altLang="zh-TW" dirty="0" smtClean="0"/>
              <a:t> (2/2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任一陣列都可轉成二元樹，但不一定會成為堆積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8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1634774" y="2423544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9" name="橢圓 38"/>
          <p:cNvSpPr/>
          <p:nvPr/>
        </p:nvSpPr>
        <p:spPr>
          <a:xfrm>
            <a:off x="3053581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文字方塊 39"/>
          <p:cNvSpPr txBox="1"/>
          <p:nvPr/>
        </p:nvSpPr>
        <p:spPr>
          <a:xfrm>
            <a:off x="2989831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橢圓 40"/>
          <p:cNvSpPr/>
          <p:nvPr/>
        </p:nvSpPr>
        <p:spPr>
          <a:xfrm>
            <a:off x="2730474" y="500597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橢圓 41"/>
          <p:cNvSpPr/>
          <p:nvPr/>
        </p:nvSpPr>
        <p:spPr>
          <a:xfrm>
            <a:off x="4064474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3" name="橢圓 42"/>
          <p:cNvSpPr/>
          <p:nvPr/>
        </p:nvSpPr>
        <p:spPr>
          <a:xfrm>
            <a:off x="4750734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橢圓 43"/>
          <p:cNvSpPr/>
          <p:nvPr/>
        </p:nvSpPr>
        <p:spPr>
          <a:xfrm>
            <a:off x="5442465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5" name="直線接點 44"/>
          <p:cNvCxnSpPr>
            <a:stCxn id="39" idx="4"/>
            <a:endCxn id="41" idx="0"/>
          </p:cNvCxnSpPr>
          <p:nvPr/>
        </p:nvCxnSpPr>
        <p:spPr>
          <a:xfrm flipH="1">
            <a:off x="2874474" y="4773332"/>
            <a:ext cx="323107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橢圓 45"/>
          <p:cNvSpPr/>
          <p:nvPr/>
        </p:nvSpPr>
        <p:spPr>
          <a:xfrm>
            <a:off x="3568312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橢圓 46"/>
          <p:cNvSpPr/>
          <p:nvPr/>
        </p:nvSpPr>
        <p:spPr>
          <a:xfrm>
            <a:off x="5090490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橢圓 47"/>
          <p:cNvSpPr/>
          <p:nvPr/>
        </p:nvSpPr>
        <p:spPr>
          <a:xfrm>
            <a:off x="4338737" y="340990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9" name="直線接點 48"/>
          <p:cNvCxnSpPr>
            <a:stCxn id="47" idx="4"/>
            <a:endCxn id="44" idx="0"/>
          </p:cNvCxnSpPr>
          <p:nvPr/>
        </p:nvCxnSpPr>
        <p:spPr>
          <a:xfrm>
            <a:off x="5234490" y="4226992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>
            <a:stCxn id="47" idx="4"/>
            <a:endCxn id="43" idx="0"/>
          </p:cNvCxnSpPr>
          <p:nvPr/>
        </p:nvCxnSpPr>
        <p:spPr>
          <a:xfrm flipH="1">
            <a:off x="4894734" y="4226992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>
            <a:stCxn id="46" idx="4"/>
            <a:endCxn id="42" idx="0"/>
          </p:cNvCxnSpPr>
          <p:nvPr/>
        </p:nvCxnSpPr>
        <p:spPr>
          <a:xfrm>
            <a:off x="3712312" y="4226992"/>
            <a:ext cx="496162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>
            <a:stCxn id="46" idx="4"/>
            <a:endCxn id="39" idx="0"/>
          </p:cNvCxnSpPr>
          <p:nvPr/>
        </p:nvCxnSpPr>
        <p:spPr>
          <a:xfrm flipH="1">
            <a:off x="3197581" y="4226992"/>
            <a:ext cx="51473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>
            <a:stCxn id="48" idx="4"/>
            <a:endCxn id="47" idx="0"/>
          </p:cNvCxnSpPr>
          <p:nvPr/>
        </p:nvCxnSpPr>
        <p:spPr>
          <a:xfrm>
            <a:off x="4482737" y="3697905"/>
            <a:ext cx="751753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>
            <a:stCxn id="48" idx="4"/>
            <a:endCxn id="46" idx="0"/>
          </p:cNvCxnSpPr>
          <p:nvPr/>
        </p:nvCxnSpPr>
        <p:spPr>
          <a:xfrm flipH="1">
            <a:off x="3712312" y="3697905"/>
            <a:ext cx="770425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字方塊 54"/>
          <p:cNvSpPr txBox="1"/>
          <p:nvPr/>
        </p:nvSpPr>
        <p:spPr>
          <a:xfrm>
            <a:off x="4285856" y="336061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3512500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5034843" y="388107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4002954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字方塊 58"/>
          <p:cNvSpPr txBox="1"/>
          <p:nvPr/>
        </p:nvSpPr>
        <p:spPr>
          <a:xfrm>
            <a:off x="4686984" y="443319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文字方塊 59"/>
          <p:cNvSpPr txBox="1"/>
          <p:nvPr/>
        </p:nvSpPr>
        <p:spPr>
          <a:xfrm>
            <a:off x="5387116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文字方塊 60"/>
          <p:cNvSpPr txBox="1"/>
          <p:nvPr/>
        </p:nvSpPr>
        <p:spPr>
          <a:xfrm>
            <a:off x="2666724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2" name="橢圓 61"/>
          <p:cNvSpPr/>
          <p:nvPr/>
        </p:nvSpPr>
        <p:spPr>
          <a:xfrm>
            <a:off x="3390469" y="500737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3" name="橢圓 62"/>
          <p:cNvSpPr/>
          <p:nvPr/>
        </p:nvSpPr>
        <p:spPr>
          <a:xfrm>
            <a:off x="3754412" y="500737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4" name="直線接點 63"/>
          <p:cNvCxnSpPr>
            <a:stCxn id="39" idx="4"/>
            <a:endCxn id="62" idx="0"/>
          </p:cNvCxnSpPr>
          <p:nvPr/>
        </p:nvCxnSpPr>
        <p:spPr>
          <a:xfrm>
            <a:off x="3197581" y="4773332"/>
            <a:ext cx="336888" cy="23404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直線接點 64"/>
          <p:cNvCxnSpPr>
            <a:stCxn id="42" idx="4"/>
            <a:endCxn id="63" idx="0"/>
          </p:cNvCxnSpPr>
          <p:nvPr/>
        </p:nvCxnSpPr>
        <p:spPr>
          <a:xfrm flipH="1">
            <a:off x="3898412" y="4779117"/>
            <a:ext cx="310062" cy="22825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文字方塊 65"/>
          <p:cNvSpPr txBox="1"/>
          <p:nvPr/>
        </p:nvSpPr>
        <p:spPr>
          <a:xfrm>
            <a:off x="3326719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66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文字方塊 66"/>
          <p:cNvSpPr txBox="1"/>
          <p:nvPr/>
        </p:nvSpPr>
        <p:spPr>
          <a:xfrm>
            <a:off x="3698261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06914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3600" dirty="0"/>
              <a:t>二元樹轉成堆積</a:t>
            </a:r>
            <a:r>
              <a:rPr lang="en-US" altLang="zh-TW" sz="3600" dirty="0"/>
              <a:t>-</a:t>
            </a:r>
            <a:br>
              <a:rPr lang="en-US" altLang="zh-TW" sz="3600" dirty="0"/>
            </a:br>
            <a:r>
              <a:rPr lang="zh-TW" altLang="en-US" sz="3600" dirty="0">
                <a:solidFill>
                  <a:srgbClr val="C00000"/>
                </a:solidFill>
              </a:rPr>
              <a:t>由上而下</a:t>
            </a:r>
            <a:r>
              <a:rPr lang="zh-TW" altLang="en-US" sz="3600" dirty="0"/>
              <a:t>往下調整</a:t>
            </a:r>
            <a:r>
              <a:rPr lang="zh-TW" altLang="en-US" sz="3600" dirty="0" smtClean="0"/>
              <a:t>法 </a:t>
            </a:r>
            <a:r>
              <a:rPr lang="en-US" altLang="zh-TW" sz="3600" dirty="0" smtClean="0"/>
              <a:t>(1/10)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將二元樹轉成</a:t>
            </a:r>
            <a:r>
              <a:rPr lang="en-US" altLang="zh-TW" dirty="0"/>
              <a:t>max heap</a:t>
            </a:r>
          </a:p>
          <a:p>
            <a:pPr lvl="1"/>
            <a:r>
              <a:rPr lang="zh-TW" altLang="en-US" dirty="0">
                <a:solidFill>
                  <a:srgbClr val="0000FF"/>
                </a:solidFill>
              </a:rPr>
              <a:t>方法一：往下調整法</a:t>
            </a:r>
            <a:r>
              <a:rPr lang="en-US" altLang="zh-TW" dirty="0">
                <a:solidFill>
                  <a:srgbClr val="0000FF"/>
                </a:solidFill>
              </a:rPr>
              <a:t>(</a:t>
            </a:r>
            <a:r>
              <a:rPr lang="zh-TW" altLang="en-US" dirty="0" smtClean="0">
                <a:solidFill>
                  <a:srgbClr val="0000FF"/>
                </a:solidFill>
              </a:rPr>
              <a:t>由上而下</a:t>
            </a:r>
            <a:r>
              <a:rPr lang="en-US" altLang="zh-TW" dirty="0" smtClean="0">
                <a:solidFill>
                  <a:srgbClr val="0000FF"/>
                </a:solidFill>
              </a:rPr>
              <a:t>)</a:t>
            </a:r>
            <a:endParaRPr lang="en-US" altLang="zh-TW" dirty="0">
              <a:solidFill>
                <a:srgbClr val="0000FF"/>
              </a:solidFill>
            </a:endParaRPr>
          </a:p>
          <a:p>
            <a:pPr marL="1371600" lvl="2" indent="-457200">
              <a:buFont typeface="+mj-lt"/>
              <a:buAutoNum type="arabicPeriod"/>
            </a:pPr>
            <a:r>
              <a:rPr lang="zh-TW" altLang="en-US" dirty="0" smtClean="0"/>
              <a:t>從</a:t>
            </a:r>
            <a:r>
              <a:rPr lang="zh-TW" altLang="en-US" dirty="0" smtClean="0">
                <a:solidFill>
                  <a:srgbClr val="C00000"/>
                </a:solidFill>
              </a:rPr>
              <a:t>樹根節點 </a:t>
            </a:r>
            <a:r>
              <a:rPr lang="en-US" altLang="zh-TW" i="1" dirty="0" smtClean="0">
                <a:solidFill>
                  <a:srgbClr val="C00000"/>
                </a:solidFill>
              </a:rPr>
              <a:t>a</a:t>
            </a:r>
            <a:r>
              <a:rPr lang="en-US" altLang="zh-TW" dirty="0" smtClean="0">
                <a:solidFill>
                  <a:srgbClr val="C00000"/>
                </a:solidFill>
              </a:rPr>
              <a:t>[0] </a:t>
            </a:r>
            <a:r>
              <a:rPr lang="zh-TW" altLang="en-US" dirty="0" smtClean="0"/>
              <a:t>開始</a:t>
            </a:r>
            <a:endParaRPr lang="en-US" altLang="zh-TW" dirty="0"/>
          </a:p>
          <a:p>
            <a:pPr marL="1371600" lvl="2" indent="-457200">
              <a:buFont typeface="+mj-lt"/>
              <a:buAutoNum type="arabicPeriod"/>
            </a:pPr>
            <a:r>
              <a:rPr lang="zh-TW" altLang="en-US" dirty="0" smtClean="0"/>
              <a:t>將樹根節點 </a:t>
            </a:r>
            <a:r>
              <a:rPr lang="en-US" altLang="zh-TW" i="1" dirty="0" smtClean="0"/>
              <a:t>a</a:t>
            </a:r>
            <a:r>
              <a:rPr lang="en-US" altLang="zh-TW" dirty="0" smtClean="0"/>
              <a:t>[0] </a:t>
            </a:r>
            <a:r>
              <a:rPr lang="zh-TW" altLang="en-US" dirty="0" smtClean="0"/>
              <a:t>與</a:t>
            </a:r>
            <a:r>
              <a:rPr lang="zh-TW" altLang="en-US" dirty="0">
                <a:solidFill>
                  <a:srgbClr val="C00000"/>
                </a:solidFill>
              </a:rPr>
              <a:t>大兒子</a:t>
            </a:r>
            <a:r>
              <a:rPr lang="en-US" altLang="zh-TW" dirty="0">
                <a:solidFill>
                  <a:srgbClr val="C00000"/>
                </a:solidFill>
              </a:rPr>
              <a:t>(</a:t>
            </a:r>
            <a:r>
              <a:rPr lang="zh-TW" altLang="en-US" dirty="0">
                <a:solidFill>
                  <a:srgbClr val="C00000"/>
                </a:solidFill>
              </a:rPr>
              <a:t>兩個子節點中最大的</a:t>
            </a:r>
            <a:r>
              <a:rPr lang="en-US" altLang="zh-TW" dirty="0">
                <a:solidFill>
                  <a:srgbClr val="C00000"/>
                </a:solidFill>
              </a:rPr>
              <a:t>)</a:t>
            </a:r>
            <a:r>
              <a:rPr lang="zh-TW" altLang="en-US" dirty="0"/>
              <a:t>作比較</a:t>
            </a:r>
            <a:endParaRPr lang="en-US" altLang="zh-TW" dirty="0"/>
          </a:p>
          <a:p>
            <a:pPr lvl="3"/>
            <a:r>
              <a:rPr lang="en-US" altLang="zh-TW" i="1" dirty="0" smtClean="0"/>
              <a:t>a</a:t>
            </a:r>
            <a:r>
              <a:rPr lang="en-US" altLang="zh-TW" dirty="0" smtClean="0"/>
              <a:t>[0] </a:t>
            </a:r>
            <a:r>
              <a:rPr lang="en-US" altLang="zh-TW" dirty="0">
                <a:solidFill>
                  <a:srgbClr val="C00000"/>
                </a:solidFill>
              </a:rPr>
              <a:t>&lt;</a:t>
            </a:r>
            <a:r>
              <a:rPr lang="en-US" altLang="zh-TW" dirty="0"/>
              <a:t> </a:t>
            </a:r>
            <a:r>
              <a:rPr lang="zh-TW" altLang="en-US" dirty="0"/>
              <a:t>大兒子：</a:t>
            </a:r>
            <a:r>
              <a:rPr lang="zh-TW" altLang="en-US" dirty="0">
                <a:solidFill>
                  <a:srgbClr val="C00000"/>
                </a:solidFill>
              </a:rPr>
              <a:t>交換</a:t>
            </a:r>
            <a:endParaRPr lang="en-US" altLang="zh-TW" dirty="0">
              <a:solidFill>
                <a:srgbClr val="C00000"/>
              </a:solidFill>
            </a:endParaRPr>
          </a:p>
          <a:p>
            <a:pPr marL="1371600" lvl="2" indent="-457200">
              <a:buFont typeface="+mj-lt"/>
              <a:buAutoNum type="arabicPeriod"/>
            </a:pPr>
            <a:r>
              <a:rPr lang="zh-TW" altLang="en-US" dirty="0"/>
              <a:t>節點交換後，檢查</a:t>
            </a:r>
            <a:r>
              <a:rPr lang="zh-TW" altLang="en-US" dirty="0">
                <a:solidFill>
                  <a:srgbClr val="C00000"/>
                </a:solidFill>
              </a:rPr>
              <a:t>新的位置</a:t>
            </a:r>
            <a:r>
              <a:rPr lang="zh-TW" altLang="en-US" dirty="0"/>
              <a:t>是否符合</a:t>
            </a:r>
            <a:r>
              <a:rPr lang="en-US" altLang="zh-TW" dirty="0"/>
              <a:t>max heap</a:t>
            </a:r>
          </a:p>
          <a:p>
            <a:pPr marL="1371600" lvl="2" indent="-457200">
              <a:buFont typeface="+mj-lt"/>
              <a:buAutoNum type="arabicPeriod"/>
            </a:pPr>
            <a:r>
              <a:rPr lang="zh-TW" altLang="en-US" dirty="0"/>
              <a:t>依序檢查、調整 </a:t>
            </a:r>
            <a:r>
              <a:rPr lang="en-US" altLang="zh-TW" i="1" dirty="0" smtClean="0">
                <a:solidFill>
                  <a:srgbClr val="C00000"/>
                </a:solidFill>
              </a:rPr>
              <a:t>a</a:t>
            </a:r>
            <a:r>
              <a:rPr lang="en-US" altLang="zh-TW" dirty="0" smtClean="0">
                <a:solidFill>
                  <a:srgbClr val="C00000"/>
                </a:solidFill>
              </a:rPr>
              <a:t>[0]</a:t>
            </a:r>
            <a:r>
              <a:rPr lang="zh-TW" altLang="en-US" dirty="0" smtClean="0">
                <a:solidFill>
                  <a:srgbClr val="C00000"/>
                </a:solidFill>
              </a:rPr>
              <a:t> </a:t>
            </a:r>
            <a:r>
              <a:rPr lang="en-US" altLang="zh-TW" dirty="0">
                <a:solidFill>
                  <a:srgbClr val="C00000"/>
                </a:solidFill>
              </a:rPr>
              <a:t>~ </a:t>
            </a:r>
            <a:r>
              <a:rPr lang="en-US" altLang="zh-TW" i="1" dirty="0" smtClean="0">
                <a:solidFill>
                  <a:srgbClr val="C00000"/>
                </a:solidFill>
              </a:rPr>
              <a:t>a</a:t>
            </a:r>
            <a:r>
              <a:rPr lang="en-US" altLang="zh-TW" dirty="0" smtClean="0">
                <a:solidFill>
                  <a:srgbClr val="C00000"/>
                </a:solidFill>
              </a:rPr>
              <a:t>[</a:t>
            </a:r>
            <a:r>
              <a:rPr lang="en-US" altLang="zh-TW" i="1" dirty="0" smtClean="0">
                <a:solidFill>
                  <a:srgbClr val="C00000"/>
                </a:solidFill>
              </a:rPr>
              <a:t>k</a:t>
            </a:r>
            <a:r>
              <a:rPr lang="en-US" altLang="zh-TW" dirty="0" smtClean="0">
                <a:solidFill>
                  <a:srgbClr val="C00000"/>
                </a:solidFill>
              </a:rPr>
              <a:t>] (</a:t>
            </a:r>
            <a:r>
              <a:rPr lang="zh-TW" altLang="en-US" dirty="0" smtClean="0">
                <a:solidFill>
                  <a:srgbClr val="C00000"/>
                </a:solidFill>
              </a:rPr>
              <a:t>最後一個有子節點的節點</a:t>
            </a:r>
            <a:r>
              <a:rPr lang="en-US" altLang="zh-TW" dirty="0" smtClean="0">
                <a:solidFill>
                  <a:srgbClr val="C00000"/>
                </a:solidFill>
              </a:rPr>
              <a:t>)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9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976740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橢圓 8"/>
          <p:cNvSpPr/>
          <p:nvPr/>
        </p:nvSpPr>
        <p:spPr>
          <a:xfrm>
            <a:off x="4064474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/>
          <p:cNvSpPr txBox="1"/>
          <p:nvPr/>
        </p:nvSpPr>
        <p:spPr>
          <a:xfrm>
            <a:off x="4011580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橢圓 7"/>
          <p:cNvSpPr/>
          <p:nvPr/>
        </p:nvSpPr>
        <p:spPr>
          <a:xfrm>
            <a:off x="3053581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/>
          <p:cNvSpPr txBox="1"/>
          <p:nvPr/>
        </p:nvSpPr>
        <p:spPr>
          <a:xfrm>
            <a:off x="2989831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3600" dirty="0"/>
              <a:t>二元樹轉成堆積</a:t>
            </a:r>
            <a:r>
              <a:rPr lang="en-US" altLang="zh-TW" sz="3600" dirty="0" smtClean="0"/>
              <a:t>-</a:t>
            </a:r>
            <a:br>
              <a:rPr lang="en-US" altLang="zh-TW" sz="3600" dirty="0" smtClean="0"/>
            </a:br>
            <a:r>
              <a:rPr lang="zh-TW" altLang="en-US" sz="3600" dirty="0" smtClean="0">
                <a:solidFill>
                  <a:srgbClr val="C00000"/>
                </a:solidFill>
              </a:rPr>
              <a:t>由上而下</a:t>
            </a:r>
            <a:r>
              <a:rPr lang="zh-TW" altLang="en-US" sz="3600" dirty="0" smtClean="0"/>
              <a:t>往</a:t>
            </a:r>
            <a:r>
              <a:rPr lang="zh-TW" altLang="en-US" sz="3600" dirty="0"/>
              <a:t>下調整法 </a:t>
            </a:r>
            <a:r>
              <a:rPr lang="en-US" altLang="zh-TW" sz="3600" dirty="0" smtClean="0"/>
              <a:t>(2/10)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將二元樹轉成</a:t>
            </a:r>
            <a:r>
              <a:rPr lang="en-US" altLang="zh-TW" dirty="0" smtClean="0"/>
              <a:t>max heap</a:t>
            </a:r>
          </a:p>
          <a:p>
            <a:pPr lvl="1"/>
            <a:r>
              <a:rPr lang="zh-TW" altLang="en-US" dirty="0" smtClean="0">
                <a:solidFill>
                  <a:srgbClr val="0000FF"/>
                </a:solidFill>
              </a:rPr>
              <a:t>方法一：往下調整法</a:t>
            </a:r>
            <a:r>
              <a:rPr lang="en-US" altLang="zh-TW" dirty="0">
                <a:solidFill>
                  <a:srgbClr val="0000FF"/>
                </a:solidFill>
              </a:rPr>
              <a:t>(</a:t>
            </a:r>
            <a:r>
              <a:rPr lang="zh-TW" altLang="en-US" dirty="0" smtClean="0">
                <a:solidFill>
                  <a:srgbClr val="0000FF"/>
                </a:solidFill>
              </a:rPr>
              <a:t>由上而下</a:t>
            </a:r>
            <a:r>
              <a:rPr lang="en-US" altLang="zh-TW" dirty="0" smtClean="0">
                <a:solidFill>
                  <a:srgbClr val="0000FF"/>
                </a:solidFill>
              </a:rPr>
              <a:t>)</a:t>
            </a:r>
          </a:p>
          <a:p>
            <a:pPr lvl="2"/>
            <a:r>
              <a:rPr lang="zh-TW" altLang="en-US" dirty="0" smtClean="0"/>
              <a:t>從</a:t>
            </a:r>
            <a:r>
              <a:rPr lang="zh-TW" altLang="en-US" dirty="0" smtClean="0">
                <a:solidFill>
                  <a:srgbClr val="C00000"/>
                </a:solidFill>
              </a:rPr>
              <a:t>樹根節點 </a:t>
            </a:r>
            <a:r>
              <a:rPr lang="en-US" altLang="zh-TW" i="1" dirty="0" smtClean="0"/>
              <a:t>a</a:t>
            </a:r>
            <a:r>
              <a:rPr lang="en-US" altLang="zh-TW" dirty="0" smtClean="0"/>
              <a:t>[0] </a:t>
            </a:r>
            <a:r>
              <a:rPr lang="zh-TW" altLang="en-US" dirty="0" smtClean="0"/>
              <a:t>開始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2730474" y="500597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4750734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5442465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/>
          <p:cNvCxnSpPr>
            <a:stCxn id="8" idx="4"/>
            <a:endCxn id="7" idx="0"/>
          </p:cNvCxnSpPr>
          <p:nvPr/>
        </p:nvCxnSpPr>
        <p:spPr>
          <a:xfrm flipH="1">
            <a:off x="2874474" y="4773332"/>
            <a:ext cx="323107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橢圓 12"/>
          <p:cNvSpPr/>
          <p:nvPr/>
        </p:nvSpPr>
        <p:spPr>
          <a:xfrm>
            <a:off x="3568312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5090490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4338737" y="340990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接點 15"/>
          <p:cNvCxnSpPr>
            <a:stCxn id="14" idx="4"/>
            <a:endCxn id="11" idx="0"/>
          </p:cNvCxnSpPr>
          <p:nvPr/>
        </p:nvCxnSpPr>
        <p:spPr>
          <a:xfrm>
            <a:off x="5234490" y="4226992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14" idx="4"/>
            <a:endCxn id="10" idx="0"/>
          </p:cNvCxnSpPr>
          <p:nvPr/>
        </p:nvCxnSpPr>
        <p:spPr>
          <a:xfrm flipH="1">
            <a:off x="4894734" y="4226992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13" idx="4"/>
            <a:endCxn id="9" idx="0"/>
          </p:cNvCxnSpPr>
          <p:nvPr/>
        </p:nvCxnSpPr>
        <p:spPr>
          <a:xfrm>
            <a:off x="3712312" y="4226992"/>
            <a:ext cx="496162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13" idx="4"/>
            <a:endCxn id="8" idx="0"/>
          </p:cNvCxnSpPr>
          <p:nvPr/>
        </p:nvCxnSpPr>
        <p:spPr>
          <a:xfrm flipH="1">
            <a:off x="3197581" y="4226992"/>
            <a:ext cx="51473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5" idx="4"/>
            <a:endCxn id="14" idx="0"/>
          </p:cNvCxnSpPr>
          <p:nvPr/>
        </p:nvCxnSpPr>
        <p:spPr>
          <a:xfrm>
            <a:off x="4482737" y="3697905"/>
            <a:ext cx="751753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5" idx="4"/>
            <a:endCxn id="13" idx="0"/>
          </p:cNvCxnSpPr>
          <p:nvPr/>
        </p:nvCxnSpPr>
        <p:spPr>
          <a:xfrm flipH="1">
            <a:off x="3712312" y="3697905"/>
            <a:ext cx="770425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4285856" y="336061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3512500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034843" y="388107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4686984" y="443319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5387116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2666724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橢圓 29"/>
          <p:cNvSpPr/>
          <p:nvPr/>
        </p:nvSpPr>
        <p:spPr>
          <a:xfrm>
            <a:off x="3390469" y="500737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3754412" y="500737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2" name="直線接點 31"/>
          <p:cNvCxnSpPr>
            <a:stCxn id="8" idx="4"/>
            <a:endCxn id="30" idx="0"/>
          </p:cNvCxnSpPr>
          <p:nvPr/>
        </p:nvCxnSpPr>
        <p:spPr>
          <a:xfrm>
            <a:off x="3197581" y="4773332"/>
            <a:ext cx="336888" cy="23404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9" idx="4"/>
            <a:endCxn id="31" idx="0"/>
          </p:cNvCxnSpPr>
          <p:nvPr/>
        </p:nvCxnSpPr>
        <p:spPr>
          <a:xfrm flipH="1">
            <a:off x="3898412" y="4779117"/>
            <a:ext cx="310062" cy="22825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/>
          <p:cNvSpPr txBox="1"/>
          <p:nvPr/>
        </p:nvSpPr>
        <p:spPr>
          <a:xfrm>
            <a:off x="3326719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66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3698261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圓角矩形 35"/>
          <p:cNvSpPr/>
          <p:nvPr/>
        </p:nvSpPr>
        <p:spPr>
          <a:xfrm>
            <a:off x="4265788" y="3374229"/>
            <a:ext cx="424124" cy="366491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圓角矩形圖說文字 38"/>
          <p:cNvSpPr/>
          <p:nvPr/>
        </p:nvSpPr>
        <p:spPr>
          <a:xfrm>
            <a:off x="4902035" y="2445832"/>
            <a:ext cx="1385660" cy="678510"/>
          </a:xfrm>
          <a:prstGeom prst="wedgeRoundRectCallout">
            <a:avLst>
              <a:gd name="adj1" fmla="val -68290"/>
              <a:gd name="adj2" fmla="val 89865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樹根節點</a:t>
            </a:r>
            <a:endParaRPr lang="zh-TW" altLang="en-US" sz="2000" b="1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p:cxnSp>
        <p:nvCxnSpPr>
          <p:cNvPr id="44" name="弧形接點 43"/>
          <p:cNvCxnSpPr>
            <a:stCxn id="22" idx="1"/>
            <a:endCxn id="23" idx="0"/>
          </p:cNvCxnSpPr>
          <p:nvPr/>
        </p:nvCxnSpPr>
        <p:spPr>
          <a:xfrm rot="10800000" flipV="1">
            <a:off x="3720250" y="3545278"/>
            <a:ext cx="565606" cy="344421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弧形接點 44"/>
          <p:cNvCxnSpPr>
            <a:stCxn id="23" idx="3"/>
            <a:endCxn id="22" idx="2"/>
          </p:cNvCxnSpPr>
          <p:nvPr/>
        </p:nvCxnSpPr>
        <p:spPr>
          <a:xfrm flipV="1">
            <a:off x="3927999" y="3729945"/>
            <a:ext cx="565607" cy="344421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向下箭號 39"/>
          <p:cNvSpPr/>
          <p:nvPr/>
        </p:nvSpPr>
        <p:spPr>
          <a:xfrm>
            <a:off x="4391586" y="3157552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9648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9" grpId="0" animBg="1"/>
      <p:bldP spid="40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橢圓 8"/>
          <p:cNvSpPr/>
          <p:nvPr/>
        </p:nvSpPr>
        <p:spPr>
          <a:xfrm>
            <a:off x="4064474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/>
          <p:cNvSpPr txBox="1"/>
          <p:nvPr/>
        </p:nvSpPr>
        <p:spPr>
          <a:xfrm>
            <a:off x="4011580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橢圓 7"/>
          <p:cNvSpPr/>
          <p:nvPr/>
        </p:nvSpPr>
        <p:spPr>
          <a:xfrm>
            <a:off x="3053581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/>
          <p:cNvSpPr txBox="1"/>
          <p:nvPr/>
        </p:nvSpPr>
        <p:spPr>
          <a:xfrm>
            <a:off x="2989831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3600" dirty="0"/>
              <a:t>二元樹轉成堆積</a:t>
            </a:r>
            <a:r>
              <a:rPr lang="en-US" altLang="zh-TW" sz="3600" dirty="0" smtClean="0"/>
              <a:t>-</a:t>
            </a:r>
            <a:br>
              <a:rPr lang="en-US" altLang="zh-TW" sz="3600" dirty="0" smtClean="0"/>
            </a:br>
            <a:r>
              <a:rPr lang="zh-TW" altLang="en-US" sz="3600" dirty="0" smtClean="0">
                <a:solidFill>
                  <a:srgbClr val="C00000"/>
                </a:solidFill>
              </a:rPr>
              <a:t>由上而下</a:t>
            </a:r>
            <a:r>
              <a:rPr lang="zh-TW" altLang="en-US" sz="3600" dirty="0" smtClean="0"/>
              <a:t>往</a:t>
            </a:r>
            <a:r>
              <a:rPr lang="zh-TW" altLang="en-US" sz="3600" dirty="0"/>
              <a:t>下調整法 </a:t>
            </a:r>
            <a:r>
              <a:rPr lang="en-US" altLang="zh-TW" sz="3600" dirty="0" smtClean="0"/>
              <a:t>(3/10)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將二元樹轉成</a:t>
            </a:r>
            <a:r>
              <a:rPr lang="en-US" altLang="zh-TW" dirty="0" smtClean="0"/>
              <a:t>max heap</a:t>
            </a:r>
          </a:p>
          <a:p>
            <a:pPr lvl="1"/>
            <a:r>
              <a:rPr lang="zh-TW" altLang="en-US" dirty="0" smtClean="0">
                <a:solidFill>
                  <a:srgbClr val="0000FF"/>
                </a:solidFill>
              </a:rPr>
              <a:t>方法一：往下調整法</a:t>
            </a:r>
            <a:r>
              <a:rPr lang="en-US" altLang="zh-TW" dirty="0">
                <a:solidFill>
                  <a:srgbClr val="0000FF"/>
                </a:solidFill>
              </a:rPr>
              <a:t>(</a:t>
            </a:r>
            <a:r>
              <a:rPr lang="zh-TW" altLang="en-US" dirty="0" smtClean="0">
                <a:solidFill>
                  <a:srgbClr val="0000FF"/>
                </a:solidFill>
              </a:rPr>
              <a:t>由上而下</a:t>
            </a:r>
            <a:r>
              <a:rPr lang="en-US" altLang="zh-TW" dirty="0" smtClean="0">
                <a:solidFill>
                  <a:srgbClr val="0000FF"/>
                </a:solidFill>
              </a:rPr>
              <a:t>)</a:t>
            </a:r>
          </a:p>
          <a:p>
            <a:pPr lvl="2"/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2730474" y="500597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4750734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5442465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/>
          <p:cNvCxnSpPr>
            <a:stCxn id="8" idx="4"/>
            <a:endCxn id="7" idx="0"/>
          </p:cNvCxnSpPr>
          <p:nvPr/>
        </p:nvCxnSpPr>
        <p:spPr>
          <a:xfrm flipH="1">
            <a:off x="2874474" y="4773332"/>
            <a:ext cx="323107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橢圓 12"/>
          <p:cNvSpPr/>
          <p:nvPr/>
        </p:nvSpPr>
        <p:spPr>
          <a:xfrm>
            <a:off x="3568312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5090490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4338737" y="340990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接點 15"/>
          <p:cNvCxnSpPr>
            <a:stCxn id="14" idx="4"/>
            <a:endCxn id="11" idx="0"/>
          </p:cNvCxnSpPr>
          <p:nvPr/>
        </p:nvCxnSpPr>
        <p:spPr>
          <a:xfrm>
            <a:off x="5234490" y="4226992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14" idx="4"/>
            <a:endCxn id="10" idx="0"/>
          </p:cNvCxnSpPr>
          <p:nvPr/>
        </p:nvCxnSpPr>
        <p:spPr>
          <a:xfrm flipH="1">
            <a:off x="4894734" y="4226992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13" idx="4"/>
            <a:endCxn id="9" idx="0"/>
          </p:cNvCxnSpPr>
          <p:nvPr/>
        </p:nvCxnSpPr>
        <p:spPr>
          <a:xfrm>
            <a:off x="3712312" y="4226992"/>
            <a:ext cx="496162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13" idx="4"/>
            <a:endCxn id="8" idx="0"/>
          </p:cNvCxnSpPr>
          <p:nvPr/>
        </p:nvCxnSpPr>
        <p:spPr>
          <a:xfrm flipH="1">
            <a:off x="3197581" y="4226992"/>
            <a:ext cx="51473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5" idx="4"/>
            <a:endCxn id="14" idx="0"/>
          </p:cNvCxnSpPr>
          <p:nvPr/>
        </p:nvCxnSpPr>
        <p:spPr>
          <a:xfrm>
            <a:off x="4482737" y="3697905"/>
            <a:ext cx="751753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5" idx="4"/>
            <a:endCxn id="13" idx="0"/>
          </p:cNvCxnSpPr>
          <p:nvPr/>
        </p:nvCxnSpPr>
        <p:spPr>
          <a:xfrm flipH="1">
            <a:off x="3712312" y="3697905"/>
            <a:ext cx="770425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4285856" y="336061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3512500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034843" y="388107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4686984" y="443319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5387116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2666724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橢圓 29"/>
          <p:cNvSpPr/>
          <p:nvPr/>
        </p:nvSpPr>
        <p:spPr>
          <a:xfrm>
            <a:off x="3390469" y="500737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3754412" y="500737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2" name="直線接點 31"/>
          <p:cNvCxnSpPr>
            <a:stCxn id="8" idx="4"/>
            <a:endCxn id="30" idx="0"/>
          </p:cNvCxnSpPr>
          <p:nvPr/>
        </p:nvCxnSpPr>
        <p:spPr>
          <a:xfrm>
            <a:off x="3197581" y="4773332"/>
            <a:ext cx="336888" cy="23404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9" idx="4"/>
            <a:endCxn id="31" idx="0"/>
          </p:cNvCxnSpPr>
          <p:nvPr/>
        </p:nvCxnSpPr>
        <p:spPr>
          <a:xfrm flipH="1">
            <a:off x="3898412" y="4779117"/>
            <a:ext cx="310062" cy="22825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/>
          <p:cNvSpPr txBox="1"/>
          <p:nvPr/>
        </p:nvSpPr>
        <p:spPr>
          <a:xfrm>
            <a:off x="3326719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66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3698261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" name="弧形接點 43"/>
          <p:cNvCxnSpPr>
            <a:stCxn id="23" idx="1"/>
            <a:endCxn id="25" idx="0"/>
          </p:cNvCxnSpPr>
          <p:nvPr/>
        </p:nvCxnSpPr>
        <p:spPr>
          <a:xfrm rot="10800000" flipV="1">
            <a:off x="3197582" y="4074366"/>
            <a:ext cx="314919" cy="361674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弧形接點 44"/>
          <p:cNvCxnSpPr>
            <a:stCxn id="25" idx="3"/>
            <a:endCxn id="23" idx="2"/>
          </p:cNvCxnSpPr>
          <p:nvPr/>
        </p:nvCxnSpPr>
        <p:spPr>
          <a:xfrm flipV="1">
            <a:off x="3405330" y="4259032"/>
            <a:ext cx="314920" cy="361674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圓角矩形 37"/>
          <p:cNvSpPr/>
          <p:nvPr/>
        </p:nvSpPr>
        <p:spPr>
          <a:xfrm>
            <a:off x="3512500" y="3899787"/>
            <a:ext cx="424124" cy="366491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向下箭號 38"/>
          <p:cNvSpPr/>
          <p:nvPr/>
        </p:nvSpPr>
        <p:spPr>
          <a:xfrm>
            <a:off x="3633985" y="3704145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0880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橢圓 8"/>
          <p:cNvSpPr/>
          <p:nvPr/>
        </p:nvSpPr>
        <p:spPr>
          <a:xfrm>
            <a:off x="4064474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/>
          <p:cNvSpPr txBox="1"/>
          <p:nvPr/>
        </p:nvSpPr>
        <p:spPr>
          <a:xfrm>
            <a:off x="4011580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橢圓 7"/>
          <p:cNvSpPr/>
          <p:nvPr/>
        </p:nvSpPr>
        <p:spPr>
          <a:xfrm>
            <a:off x="3053581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/>
          <p:cNvSpPr txBox="1"/>
          <p:nvPr/>
        </p:nvSpPr>
        <p:spPr>
          <a:xfrm>
            <a:off x="2989831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3600" dirty="0"/>
              <a:t>二元樹轉成堆積</a:t>
            </a:r>
            <a:r>
              <a:rPr lang="en-US" altLang="zh-TW" sz="3600" dirty="0" smtClean="0"/>
              <a:t>-</a:t>
            </a:r>
            <a:br>
              <a:rPr lang="en-US" altLang="zh-TW" sz="3600" dirty="0" smtClean="0"/>
            </a:br>
            <a:r>
              <a:rPr lang="zh-TW" altLang="en-US" sz="3600" dirty="0" smtClean="0">
                <a:solidFill>
                  <a:srgbClr val="C00000"/>
                </a:solidFill>
              </a:rPr>
              <a:t>由上而下</a:t>
            </a:r>
            <a:r>
              <a:rPr lang="zh-TW" altLang="en-US" sz="3600" dirty="0" smtClean="0"/>
              <a:t>往</a:t>
            </a:r>
            <a:r>
              <a:rPr lang="zh-TW" altLang="en-US" sz="3600" dirty="0"/>
              <a:t>下調整法 </a:t>
            </a:r>
            <a:r>
              <a:rPr lang="en-US" altLang="zh-TW" sz="3600" dirty="0" smtClean="0"/>
              <a:t>(4/10)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將二元樹轉成</a:t>
            </a:r>
            <a:r>
              <a:rPr lang="en-US" altLang="zh-TW" dirty="0" smtClean="0"/>
              <a:t>max heap</a:t>
            </a:r>
          </a:p>
          <a:p>
            <a:pPr lvl="1"/>
            <a:r>
              <a:rPr lang="zh-TW" altLang="en-US" dirty="0" smtClean="0">
                <a:solidFill>
                  <a:srgbClr val="0000FF"/>
                </a:solidFill>
              </a:rPr>
              <a:t>方法一：往下調整法</a:t>
            </a:r>
            <a:r>
              <a:rPr lang="en-US" altLang="zh-TW" dirty="0">
                <a:solidFill>
                  <a:srgbClr val="0000FF"/>
                </a:solidFill>
              </a:rPr>
              <a:t>(</a:t>
            </a:r>
            <a:r>
              <a:rPr lang="zh-TW" altLang="en-US" dirty="0" smtClean="0">
                <a:solidFill>
                  <a:srgbClr val="0000FF"/>
                </a:solidFill>
              </a:rPr>
              <a:t>由上而下</a:t>
            </a:r>
            <a:r>
              <a:rPr lang="en-US" altLang="zh-TW" dirty="0" smtClean="0">
                <a:solidFill>
                  <a:srgbClr val="0000FF"/>
                </a:solidFill>
              </a:rPr>
              <a:t>)</a:t>
            </a:r>
          </a:p>
          <a:p>
            <a:pPr lvl="2"/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2730474" y="500597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4750734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5442465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/>
          <p:cNvCxnSpPr>
            <a:stCxn id="8" idx="4"/>
            <a:endCxn id="7" idx="0"/>
          </p:cNvCxnSpPr>
          <p:nvPr/>
        </p:nvCxnSpPr>
        <p:spPr>
          <a:xfrm flipH="1">
            <a:off x="2874474" y="4773332"/>
            <a:ext cx="323107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橢圓 12"/>
          <p:cNvSpPr/>
          <p:nvPr/>
        </p:nvSpPr>
        <p:spPr>
          <a:xfrm>
            <a:off x="3568312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5090490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4338737" y="340990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接點 15"/>
          <p:cNvCxnSpPr>
            <a:stCxn id="14" idx="4"/>
            <a:endCxn id="11" idx="0"/>
          </p:cNvCxnSpPr>
          <p:nvPr/>
        </p:nvCxnSpPr>
        <p:spPr>
          <a:xfrm>
            <a:off x="5234490" y="4226992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14" idx="4"/>
            <a:endCxn id="10" idx="0"/>
          </p:cNvCxnSpPr>
          <p:nvPr/>
        </p:nvCxnSpPr>
        <p:spPr>
          <a:xfrm flipH="1">
            <a:off x="4894734" y="4226992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13" idx="4"/>
            <a:endCxn id="9" idx="0"/>
          </p:cNvCxnSpPr>
          <p:nvPr/>
        </p:nvCxnSpPr>
        <p:spPr>
          <a:xfrm>
            <a:off x="3712312" y="4226992"/>
            <a:ext cx="496162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13" idx="4"/>
            <a:endCxn id="8" idx="0"/>
          </p:cNvCxnSpPr>
          <p:nvPr/>
        </p:nvCxnSpPr>
        <p:spPr>
          <a:xfrm flipH="1">
            <a:off x="3197581" y="4226992"/>
            <a:ext cx="51473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5" idx="4"/>
            <a:endCxn id="14" idx="0"/>
          </p:cNvCxnSpPr>
          <p:nvPr/>
        </p:nvCxnSpPr>
        <p:spPr>
          <a:xfrm>
            <a:off x="4482737" y="3697905"/>
            <a:ext cx="751753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5" idx="4"/>
            <a:endCxn id="13" idx="0"/>
          </p:cNvCxnSpPr>
          <p:nvPr/>
        </p:nvCxnSpPr>
        <p:spPr>
          <a:xfrm flipH="1">
            <a:off x="3712312" y="3697905"/>
            <a:ext cx="770425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4285856" y="336061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3512500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034843" y="388107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4686984" y="443319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5387116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2666724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橢圓 29"/>
          <p:cNvSpPr/>
          <p:nvPr/>
        </p:nvSpPr>
        <p:spPr>
          <a:xfrm>
            <a:off x="3390469" y="500737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3754412" y="500737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2" name="直線接點 31"/>
          <p:cNvCxnSpPr>
            <a:stCxn id="8" idx="4"/>
            <a:endCxn id="30" idx="0"/>
          </p:cNvCxnSpPr>
          <p:nvPr/>
        </p:nvCxnSpPr>
        <p:spPr>
          <a:xfrm>
            <a:off x="3197581" y="4773332"/>
            <a:ext cx="336888" cy="23404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9" idx="4"/>
            <a:endCxn id="31" idx="0"/>
          </p:cNvCxnSpPr>
          <p:nvPr/>
        </p:nvCxnSpPr>
        <p:spPr>
          <a:xfrm flipH="1">
            <a:off x="3898412" y="4779117"/>
            <a:ext cx="310062" cy="22825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/>
          <p:cNvSpPr txBox="1"/>
          <p:nvPr/>
        </p:nvSpPr>
        <p:spPr>
          <a:xfrm>
            <a:off x="3326719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66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3698261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" name="弧形接點 43"/>
          <p:cNvCxnSpPr>
            <a:stCxn id="24" idx="1"/>
            <a:endCxn id="27" idx="0"/>
          </p:cNvCxnSpPr>
          <p:nvPr/>
        </p:nvCxnSpPr>
        <p:spPr>
          <a:xfrm rot="10800000" flipV="1">
            <a:off x="4894735" y="4065739"/>
            <a:ext cx="140109" cy="367459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弧形接點 44"/>
          <p:cNvCxnSpPr>
            <a:stCxn id="27" idx="3"/>
            <a:endCxn id="24" idx="2"/>
          </p:cNvCxnSpPr>
          <p:nvPr/>
        </p:nvCxnSpPr>
        <p:spPr>
          <a:xfrm flipV="1">
            <a:off x="5102483" y="4250406"/>
            <a:ext cx="140110" cy="367459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圓角矩形 37"/>
          <p:cNvSpPr/>
          <p:nvPr/>
        </p:nvSpPr>
        <p:spPr>
          <a:xfrm>
            <a:off x="5030530" y="3902559"/>
            <a:ext cx="424124" cy="366491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向下箭號 38"/>
          <p:cNvSpPr/>
          <p:nvPr/>
        </p:nvSpPr>
        <p:spPr>
          <a:xfrm>
            <a:off x="5148226" y="3693327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660426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橢圓 8"/>
          <p:cNvSpPr/>
          <p:nvPr/>
        </p:nvSpPr>
        <p:spPr>
          <a:xfrm>
            <a:off x="4064474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/>
          <p:cNvSpPr txBox="1"/>
          <p:nvPr/>
        </p:nvSpPr>
        <p:spPr>
          <a:xfrm>
            <a:off x="4011580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橢圓 7"/>
          <p:cNvSpPr/>
          <p:nvPr/>
        </p:nvSpPr>
        <p:spPr>
          <a:xfrm>
            <a:off x="3053581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/>
          <p:cNvSpPr txBox="1"/>
          <p:nvPr/>
        </p:nvSpPr>
        <p:spPr>
          <a:xfrm>
            <a:off x="2989831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3600" dirty="0"/>
              <a:t>二元樹轉成堆積</a:t>
            </a:r>
            <a:r>
              <a:rPr lang="en-US" altLang="zh-TW" sz="3600" dirty="0" smtClean="0"/>
              <a:t>-</a:t>
            </a:r>
            <a:br>
              <a:rPr lang="en-US" altLang="zh-TW" sz="3600" dirty="0" smtClean="0"/>
            </a:br>
            <a:r>
              <a:rPr lang="zh-TW" altLang="en-US" sz="3600" dirty="0" smtClean="0">
                <a:solidFill>
                  <a:srgbClr val="C00000"/>
                </a:solidFill>
              </a:rPr>
              <a:t>由上而下</a:t>
            </a:r>
            <a:r>
              <a:rPr lang="zh-TW" altLang="en-US" sz="3600" dirty="0" smtClean="0"/>
              <a:t>往</a:t>
            </a:r>
            <a:r>
              <a:rPr lang="zh-TW" altLang="en-US" sz="3600" dirty="0"/>
              <a:t>下調整法 </a:t>
            </a:r>
            <a:r>
              <a:rPr lang="en-US" altLang="zh-TW" sz="3600" dirty="0" smtClean="0"/>
              <a:t>(5/10)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將二元樹轉成</a:t>
            </a:r>
            <a:r>
              <a:rPr lang="en-US" altLang="zh-TW" dirty="0" smtClean="0"/>
              <a:t>max heap</a:t>
            </a:r>
          </a:p>
          <a:p>
            <a:pPr lvl="1"/>
            <a:r>
              <a:rPr lang="zh-TW" altLang="en-US" dirty="0" smtClean="0">
                <a:solidFill>
                  <a:srgbClr val="0000FF"/>
                </a:solidFill>
              </a:rPr>
              <a:t>方法一：往下調整法</a:t>
            </a:r>
            <a:r>
              <a:rPr lang="en-US" altLang="zh-TW" dirty="0">
                <a:solidFill>
                  <a:srgbClr val="0000FF"/>
                </a:solidFill>
              </a:rPr>
              <a:t>(</a:t>
            </a:r>
            <a:r>
              <a:rPr lang="zh-TW" altLang="en-US" dirty="0" smtClean="0">
                <a:solidFill>
                  <a:srgbClr val="0000FF"/>
                </a:solidFill>
              </a:rPr>
              <a:t>由上而下</a:t>
            </a:r>
            <a:r>
              <a:rPr lang="en-US" altLang="zh-TW" dirty="0" smtClean="0">
                <a:solidFill>
                  <a:srgbClr val="0000FF"/>
                </a:solidFill>
              </a:rPr>
              <a:t>)</a:t>
            </a:r>
          </a:p>
          <a:p>
            <a:pPr lvl="2"/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2730474" y="500597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4750734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5442465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/>
          <p:cNvCxnSpPr>
            <a:stCxn id="8" idx="4"/>
            <a:endCxn id="7" idx="0"/>
          </p:cNvCxnSpPr>
          <p:nvPr/>
        </p:nvCxnSpPr>
        <p:spPr>
          <a:xfrm flipH="1">
            <a:off x="2874474" y="4773332"/>
            <a:ext cx="323107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橢圓 12"/>
          <p:cNvSpPr/>
          <p:nvPr/>
        </p:nvSpPr>
        <p:spPr>
          <a:xfrm>
            <a:off x="3568312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5090490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4338737" y="340990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接點 15"/>
          <p:cNvCxnSpPr>
            <a:stCxn id="14" idx="4"/>
            <a:endCxn id="11" idx="0"/>
          </p:cNvCxnSpPr>
          <p:nvPr/>
        </p:nvCxnSpPr>
        <p:spPr>
          <a:xfrm>
            <a:off x="5234490" y="4226992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14" idx="4"/>
            <a:endCxn id="10" idx="0"/>
          </p:cNvCxnSpPr>
          <p:nvPr/>
        </p:nvCxnSpPr>
        <p:spPr>
          <a:xfrm flipH="1">
            <a:off x="4894734" y="4226992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13" idx="4"/>
            <a:endCxn id="9" idx="0"/>
          </p:cNvCxnSpPr>
          <p:nvPr/>
        </p:nvCxnSpPr>
        <p:spPr>
          <a:xfrm>
            <a:off x="3712312" y="4226992"/>
            <a:ext cx="496162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13" idx="4"/>
            <a:endCxn id="8" idx="0"/>
          </p:cNvCxnSpPr>
          <p:nvPr/>
        </p:nvCxnSpPr>
        <p:spPr>
          <a:xfrm flipH="1">
            <a:off x="3197581" y="4226992"/>
            <a:ext cx="51473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5" idx="4"/>
            <a:endCxn id="14" idx="0"/>
          </p:cNvCxnSpPr>
          <p:nvPr/>
        </p:nvCxnSpPr>
        <p:spPr>
          <a:xfrm>
            <a:off x="4482737" y="3697905"/>
            <a:ext cx="751753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5" idx="4"/>
            <a:endCxn id="13" idx="0"/>
          </p:cNvCxnSpPr>
          <p:nvPr/>
        </p:nvCxnSpPr>
        <p:spPr>
          <a:xfrm flipH="1">
            <a:off x="3712312" y="3697905"/>
            <a:ext cx="770425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4285856" y="336061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3512500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034843" y="388107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u="sng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4686984" y="443319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5387116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2666724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橢圓 29"/>
          <p:cNvSpPr/>
          <p:nvPr/>
        </p:nvSpPr>
        <p:spPr>
          <a:xfrm>
            <a:off x="3390469" y="500737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3754412" y="500737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2" name="直線接點 31"/>
          <p:cNvCxnSpPr>
            <a:stCxn id="8" idx="4"/>
            <a:endCxn id="30" idx="0"/>
          </p:cNvCxnSpPr>
          <p:nvPr/>
        </p:nvCxnSpPr>
        <p:spPr>
          <a:xfrm>
            <a:off x="3197581" y="4773332"/>
            <a:ext cx="336888" cy="23404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9" idx="4"/>
            <a:endCxn id="31" idx="0"/>
          </p:cNvCxnSpPr>
          <p:nvPr/>
        </p:nvCxnSpPr>
        <p:spPr>
          <a:xfrm flipH="1">
            <a:off x="3898412" y="4779117"/>
            <a:ext cx="310062" cy="22825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/>
          <p:cNvSpPr txBox="1"/>
          <p:nvPr/>
        </p:nvSpPr>
        <p:spPr>
          <a:xfrm>
            <a:off x="3326719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66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3698261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" name="弧形接點 43"/>
          <p:cNvCxnSpPr>
            <a:stCxn id="8" idx="4"/>
            <a:endCxn id="34" idx="1"/>
          </p:cNvCxnSpPr>
          <p:nvPr/>
        </p:nvCxnSpPr>
        <p:spPr>
          <a:xfrm rot="16200000" flipH="1">
            <a:off x="3078256" y="4892657"/>
            <a:ext cx="367789" cy="129138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弧形接點 44"/>
          <p:cNvCxnSpPr>
            <a:stCxn id="34" idx="0"/>
            <a:endCxn id="25" idx="3"/>
          </p:cNvCxnSpPr>
          <p:nvPr/>
        </p:nvCxnSpPr>
        <p:spPr>
          <a:xfrm rot="16200000" flipV="1">
            <a:off x="3302026" y="4724011"/>
            <a:ext cx="335749" cy="129139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圓角矩形 37"/>
          <p:cNvSpPr/>
          <p:nvPr/>
        </p:nvSpPr>
        <p:spPr>
          <a:xfrm>
            <a:off x="2982417" y="4438881"/>
            <a:ext cx="424124" cy="366491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向下箭號 38"/>
          <p:cNvSpPr/>
          <p:nvPr/>
        </p:nvSpPr>
        <p:spPr>
          <a:xfrm>
            <a:off x="3106145" y="4228666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6077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橢圓 8"/>
          <p:cNvSpPr/>
          <p:nvPr/>
        </p:nvSpPr>
        <p:spPr>
          <a:xfrm>
            <a:off x="4064474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/>
          <p:cNvSpPr txBox="1"/>
          <p:nvPr/>
        </p:nvSpPr>
        <p:spPr>
          <a:xfrm>
            <a:off x="4011580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橢圓 7"/>
          <p:cNvSpPr/>
          <p:nvPr/>
        </p:nvSpPr>
        <p:spPr>
          <a:xfrm>
            <a:off x="3053581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/>
          <p:cNvSpPr txBox="1"/>
          <p:nvPr/>
        </p:nvSpPr>
        <p:spPr>
          <a:xfrm>
            <a:off x="2989831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66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3600" dirty="0"/>
              <a:t>二元樹轉成堆積</a:t>
            </a:r>
            <a:r>
              <a:rPr lang="en-US" altLang="zh-TW" sz="3600" dirty="0" smtClean="0"/>
              <a:t>-</a:t>
            </a:r>
            <a:br>
              <a:rPr lang="en-US" altLang="zh-TW" sz="3600" dirty="0" smtClean="0"/>
            </a:br>
            <a:r>
              <a:rPr lang="zh-TW" altLang="en-US" sz="3600" dirty="0" smtClean="0">
                <a:solidFill>
                  <a:srgbClr val="C00000"/>
                </a:solidFill>
              </a:rPr>
              <a:t>由上而下</a:t>
            </a:r>
            <a:r>
              <a:rPr lang="zh-TW" altLang="en-US" sz="3600" dirty="0" smtClean="0"/>
              <a:t>往</a:t>
            </a:r>
            <a:r>
              <a:rPr lang="zh-TW" altLang="en-US" sz="3600" dirty="0"/>
              <a:t>下調整法 </a:t>
            </a:r>
            <a:r>
              <a:rPr lang="en-US" altLang="zh-TW" sz="3600" dirty="0" smtClean="0"/>
              <a:t>(6/10)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將二元樹轉成</a:t>
            </a:r>
            <a:r>
              <a:rPr lang="en-US" altLang="zh-TW" dirty="0" smtClean="0"/>
              <a:t>max heap</a:t>
            </a:r>
          </a:p>
          <a:p>
            <a:pPr lvl="1"/>
            <a:r>
              <a:rPr lang="zh-TW" altLang="en-US" dirty="0" smtClean="0">
                <a:solidFill>
                  <a:srgbClr val="0000FF"/>
                </a:solidFill>
              </a:rPr>
              <a:t>方法一：往下調整法</a:t>
            </a:r>
            <a:r>
              <a:rPr lang="en-US" altLang="zh-TW" dirty="0">
                <a:solidFill>
                  <a:srgbClr val="0000FF"/>
                </a:solidFill>
              </a:rPr>
              <a:t>(</a:t>
            </a:r>
            <a:r>
              <a:rPr lang="zh-TW" altLang="en-US" dirty="0" smtClean="0">
                <a:solidFill>
                  <a:srgbClr val="0000FF"/>
                </a:solidFill>
              </a:rPr>
              <a:t>由上而下</a:t>
            </a:r>
            <a:r>
              <a:rPr lang="en-US" altLang="zh-TW" dirty="0" smtClean="0">
                <a:solidFill>
                  <a:srgbClr val="0000FF"/>
                </a:solidFill>
              </a:rPr>
              <a:t>)</a:t>
            </a:r>
          </a:p>
          <a:p>
            <a:pPr lvl="2"/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2730474" y="500597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4750734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5442465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/>
          <p:cNvCxnSpPr>
            <a:stCxn id="8" idx="4"/>
            <a:endCxn id="7" idx="0"/>
          </p:cNvCxnSpPr>
          <p:nvPr/>
        </p:nvCxnSpPr>
        <p:spPr>
          <a:xfrm flipH="1">
            <a:off x="2874474" y="4773332"/>
            <a:ext cx="323107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橢圓 12"/>
          <p:cNvSpPr/>
          <p:nvPr/>
        </p:nvSpPr>
        <p:spPr>
          <a:xfrm>
            <a:off x="3568312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5090490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4338737" y="340990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接點 15"/>
          <p:cNvCxnSpPr>
            <a:stCxn id="14" idx="4"/>
            <a:endCxn id="11" idx="0"/>
          </p:cNvCxnSpPr>
          <p:nvPr/>
        </p:nvCxnSpPr>
        <p:spPr>
          <a:xfrm>
            <a:off x="5234490" y="4226992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14" idx="4"/>
            <a:endCxn id="10" idx="0"/>
          </p:cNvCxnSpPr>
          <p:nvPr/>
        </p:nvCxnSpPr>
        <p:spPr>
          <a:xfrm flipH="1">
            <a:off x="4894734" y="4226992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13" idx="4"/>
            <a:endCxn id="9" idx="0"/>
          </p:cNvCxnSpPr>
          <p:nvPr/>
        </p:nvCxnSpPr>
        <p:spPr>
          <a:xfrm>
            <a:off x="3712312" y="4226992"/>
            <a:ext cx="496162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13" idx="4"/>
            <a:endCxn id="8" idx="0"/>
          </p:cNvCxnSpPr>
          <p:nvPr/>
        </p:nvCxnSpPr>
        <p:spPr>
          <a:xfrm flipH="1">
            <a:off x="3197581" y="4226992"/>
            <a:ext cx="51473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5" idx="4"/>
            <a:endCxn id="14" idx="0"/>
          </p:cNvCxnSpPr>
          <p:nvPr/>
        </p:nvCxnSpPr>
        <p:spPr>
          <a:xfrm>
            <a:off x="4482737" y="3697905"/>
            <a:ext cx="751753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5" idx="4"/>
            <a:endCxn id="13" idx="0"/>
          </p:cNvCxnSpPr>
          <p:nvPr/>
        </p:nvCxnSpPr>
        <p:spPr>
          <a:xfrm flipH="1">
            <a:off x="3712312" y="3697905"/>
            <a:ext cx="770425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4285856" y="336061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3512500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034843" y="388107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4686984" y="443319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5387116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2666724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橢圓 29"/>
          <p:cNvSpPr/>
          <p:nvPr/>
        </p:nvSpPr>
        <p:spPr>
          <a:xfrm>
            <a:off x="3390469" y="500737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3754412" y="500737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2" name="直線接點 31"/>
          <p:cNvCxnSpPr>
            <a:stCxn id="8" idx="4"/>
            <a:endCxn id="30" idx="0"/>
          </p:cNvCxnSpPr>
          <p:nvPr/>
        </p:nvCxnSpPr>
        <p:spPr>
          <a:xfrm>
            <a:off x="3197581" y="4773332"/>
            <a:ext cx="336888" cy="23404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9" idx="4"/>
            <a:endCxn id="31" idx="0"/>
          </p:cNvCxnSpPr>
          <p:nvPr/>
        </p:nvCxnSpPr>
        <p:spPr>
          <a:xfrm flipH="1">
            <a:off x="3898412" y="4779117"/>
            <a:ext cx="310062" cy="22825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/>
          <p:cNvSpPr txBox="1"/>
          <p:nvPr/>
        </p:nvSpPr>
        <p:spPr>
          <a:xfrm>
            <a:off x="3326719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3698261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" name="弧形接點 43"/>
          <p:cNvCxnSpPr>
            <a:stCxn id="23" idx="1"/>
            <a:endCxn id="25" idx="0"/>
          </p:cNvCxnSpPr>
          <p:nvPr/>
        </p:nvCxnSpPr>
        <p:spPr>
          <a:xfrm rot="10800000" flipV="1">
            <a:off x="3197582" y="4074366"/>
            <a:ext cx="314919" cy="361674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弧形接點 44"/>
          <p:cNvCxnSpPr>
            <a:stCxn id="25" idx="3"/>
            <a:endCxn id="23" idx="2"/>
          </p:cNvCxnSpPr>
          <p:nvPr/>
        </p:nvCxnSpPr>
        <p:spPr>
          <a:xfrm flipV="1">
            <a:off x="3405330" y="4259032"/>
            <a:ext cx="314920" cy="361674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765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橢圓 8"/>
          <p:cNvSpPr/>
          <p:nvPr/>
        </p:nvSpPr>
        <p:spPr>
          <a:xfrm>
            <a:off x="4064474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/>
          <p:cNvSpPr txBox="1"/>
          <p:nvPr/>
        </p:nvSpPr>
        <p:spPr>
          <a:xfrm>
            <a:off x="4011580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橢圓 7"/>
          <p:cNvSpPr/>
          <p:nvPr/>
        </p:nvSpPr>
        <p:spPr>
          <a:xfrm>
            <a:off x="3053581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/>
          <p:cNvSpPr txBox="1"/>
          <p:nvPr/>
        </p:nvSpPr>
        <p:spPr>
          <a:xfrm>
            <a:off x="2989831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3600" dirty="0"/>
              <a:t>二元樹轉成堆積</a:t>
            </a:r>
            <a:r>
              <a:rPr lang="en-US" altLang="zh-TW" sz="3600" dirty="0" smtClean="0"/>
              <a:t>-</a:t>
            </a:r>
            <a:br>
              <a:rPr lang="en-US" altLang="zh-TW" sz="3600" dirty="0" smtClean="0"/>
            </a:br>
            <a:r>
              <a:rPr lang="zh-TW" altLang="en-US" sz="3600" dirty="0" smtClean="0">
                <a:solidFill>
                  <a:srgbClr val="C00000"/>
                </a:solidFill>
              </a:rPr>
              <a:t>由上而下</a:t>
            </a:r>
            <a:r>
              <a:rPr lang="zh-TW" altLang="en-US" sz="3600" dirty="0" smtClean="0"/>
              <a:t>往</a:t>
            </a:r>
            <a:r>
              <a:rPr lang="zh-TW" altLang="en-US" sz="3600" dirty="0"/>
              <a:t>下調整法 </a:t>
            </a:r>
            <a:r>
              <a:rPr lang="en-US" altLang="zh-TW" sz="3600" dirty="0" smtClean="0"/>
              <a:t>(7/10)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將二元樹轉成</a:t>
            </a:r>
            <a:r>
              <a:rPr lang="en-US" altLang="zh-TW" dirty="0" smtClean="0"/>
              <a:t>max heap</a:t>
            </a:r>
          </a:p>
          <a:p>
            <a:pPr lvl="1"/>
            <a:r>
              <a:rPr lang="zh-TW" altLang="en-US" dirty="0" smtClean="0">
                <a:solidFill>
                  <a:srgbClr val="0000FF"/>
                </a:solidFill>
              </a:rPr>
              <a:t>方法一：往下調整法</a:t>
            </a:r>
            <a:r>
              <a:rPr lang="en-US" altLang="zh-TW" dirty="0">
                <a:solidFill>
                  <a:srgbClr val="0000FF"/>
                </a:solidFill>
              </a:rPr>
              <a:t>(</a:t>
            </a:r>
            <a:r>
              <a:rPr lang="zh-TW" altLang="en-US" dirty="0" smtClean="0">
                <a:solidFill>
                  <a:srgbClr val="0000FF"/>
                </a:solidFill>
              </a:rPr>
              <a:t>由上而下</a:t>
            </a:r>
            <a:r>
              <a:rPr lang="en-US" altLang="zh-TW" dirty="0" smtClean="0">
                <a:solidFill>
                  <a:srgbClr val="0000FF"/>
                </a:solidFill>
              </a:rPr>
              <a:t>)</a:t>
            </a:r>
          </a:p>
          <a:p>
            <a:pPr lvl="2"/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2730474" y="500597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4750734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5442465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/>
          <p:cNvCxnSpPr>
            <a:stCxn id="8" idx="4"/>
            <a:endCxn id="7" idx="0"/>
          </p:cNvCxnSpPr>
          <p:nvPr/>
        </p:nvCxnSpPr>
        <p:spPr>
          <a:xfrm flipH="1">
            <a:off x="2874474" y="4773332"/>
            <a:ext cx="323107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橢圓 12"/>
          <p:cNvSpPr/>
          <p:nvPr/>
        </p:nvSpPr>
        <p:spPr>
          <a:xfrm>
            <a:off x="3568312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5090490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4338737" y="340990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接點 15"/>
          <p:cNvCxnSpPr>
            <a:stCxn id="14" idx="4"/>
            <a:endCxn id="11" idx="0"/>
          </p:cNvCxnSpPr>
          <p:nvPr/>
        </p:nvCxnSpPr>
        <p:spPr>
          <a:xfrm>
            <a:off x="5234490" y="4226992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14" idx="4"/>
            <a:endCxn id="10" idx="0"/>
          </p:cNvCxnSpPr>
          <p:nvPr/>
        </p:nvCxnSpPr>
        <p:spPr>
          <a:xfrm flipH="1">
            <a:off x="4894734" y="4226992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13" idx="4"/>
            <a:endCxn id="9" idx="0"/>
          </p:cNvCxnSpPr>
          <p:nvPr/>
        </p:nvCxnSpPr>
        <p:spPr>
          <a:xfrm>
            <a:off x="3712312" y="4226992"/>
            <a:ext cx="496162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13" idx="4"/>
            <a:endCxn id="8" idx="0"/>
          </p:cNvCxnSpPr>
          <p:nvPr/>
        </p:nvCxnSpPr>
        <p:spPr>
          <a:xfrm flipH="1">
            <a:off x="3197581" y="4226992"/>
            <a:ext cx="51473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5" idx="4"/>
            <a:endCxn id="14" idx="0"/>
          </p:cNvCxnSpPr>
          <p:nvPr/>
        </p:nvCxnSpPr>
        <p:spPr>
          <a:xfrm>
            <a:off x="4482737" y="3697905"/>
            <a:ext cx="751753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5" idx="4"/>
            <a:endCxn id="13" idx="0"/>
          </p:cNvCxnSpPr>
          <p:nvPr/>
        </p:nvCxnSpPr>
        <p:spPr>
          <a:xfrm flipH="1">
            <a:off x="3712312" y="3697905"/>
            <a:ext cx="770425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4285856" y="336061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3512500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66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034843" y="388107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4686984" y="443319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5387116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2666724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橢圓 29"/>
          <p:cNvSpPr/>
          <p:nvPr/>
        </p:nvSpPr>
        <p:spPr>
          <a:xfrm>
            <a:off x="3390469" y="500737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3754412" y="500737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2" name="直線接點 31"/>
          <p:cNvCxnSpPr>
            <a:stCxn id="8" idx="4"/>
            <a:endCxn id="30" idx="0"/>
          </p:cNvCxnSpPr>
          <p:nvPr/>
        </p:nvCxnSpPr>
        <p:spPr>
          <a:xfrm>
            <a:off x="3197581" y="4773332"/>
            <a:ext cx="336888" cy="23404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9" idx="4"/>
            <a:endCxn id="31" idx="0"/>
          </p:cNvCxnSpPr>
          <p:nvPr/>
        </p:nvCxnSpPr>
        <p:spPr>
          <a:xfrm flipH="1">
            <a:off x="3898412" y="4779117"/>
            <a:ext cx="310062" cy="22825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/>
          <p:cNvSpPr txBox="1"/>
          <p:nvPr/>
        </p:nvSpPr>
        <p:spPr>
          <a:xfrm>
            <a:off x="3326719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3698261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" name="弧形接點 43"/>
          <p:cNvCxnSpPr>
            <a:stCxn id="26" idx="1"/>
            <a:endCxn id="35" idx="0"/>
          </p:cNvCxnSpPr>
          <p:nvPr/>
        </p:nvCxnSpPr>
        <p:spPr>
          <a:xfrm rot="10800000" flipV="1">
            <a:off x="3906012" y="4620705"/>
            <a:ext cx="105569" cy="335749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弧形接點 44"/>
          <p:cNvCxnSpPr>
            <a:stCxn id="35" idx="3"/>
            <a:endCxn id="26" idx="2"/>
          </p:cNvCxnSpPr>
          <p:nvPr/>
        </p:nvCxnSpPr>
        <p:spPr>
          <a:xfrm flipV="1">
            <a:off x="4113760" y="4805372"/>
            <a:ext cx="105570" cy="335749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圓角矩形 37"/>
          <p:cNvSpPr/>
          <p:nvPr/>
        </p:nvSpPr>
        <p:spPr>
          <a:xfrm>
            <a:off x="4001840" y="4447673"/>
            <a:ext cx="424124" cy="366491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向下箭號 38"/>
          <p:cNvSpPr/>
          <p:nvPr/>
        </p:nvSpPr>
        <p:spPr>
          <a:xfrm>
            <a:off x="4119104" y="4238691"/>
            <a:ext cx="172528" cy="176040"/>
          </a:xfrm>
          <a:prstGeom prst="down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33385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橢圓 8"/>
          <p:cNvSpPr/>
          <p:nvPr/>
        </p:nvSpPr>
        <p:spPr>
          <a:xfrm>
            <a:off x="4064474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/>
          <p:cNvSpPr txBox="1"/>
          <p:nvPr/>
        </p:nvSpPr>
        <p:spPr>
          <a:xfrm>
            <a:off x="4011580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73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橢圓 7"/>
          <p:cNvSpPr/>
          <p:nvPr/>
        </p:nvSpPr>
        <p:spPr>
          <a:xfrm>
            <a:off x="3053581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/>
          <p:cNvSpPr txBox="1"/>
          <p:nvPr/>
        </p:nvSpPr>
        <p:spPr>
          <a:xfrm>
            <a:off x="2989831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3600" dirty="0"/>
              <a:t>二元樹轉成堆積</a:t>
            </a:r>
            <a:r>
              <a:rPr lang="en-US" altLang="zh-TW" sz="3600" dirty="0" smtClean="0"/>
              <a:t>-</a:t>
            </a:r>
            <a:br>
              <a:rPr lang="en-US" altLang="zh-TW" sz="3600" dirty="0" smtClean="0"/>
            </a:br>
            <a:r>
              <a:rPr lang="zh-TW" altLang="en-US" sz="3600" dirty="0" smtClean="0">
                <a:solidFill>
                  <a:srgbClr val="C00000"/>
                </a:solidFill>
              </a:rPr>
              <a:t>由上而下</a:t>
            </a:r>
            <a:r>
              <a:rPr lang="zh-TW" altLang="en-US" sz="3600" dirty="0" smtClean="0"/>
              <a:t>往</a:t>
            </a:r>
            <a:r>
              <a:rPr lang="zh-TW" altLang="en-US" sz="3600" dirty="0"/>
              <a:t>下調整法 </a:t>
            </a:r>
            <a:r>
              <a:rPr lang="en-US" altLang="zh-TW" sz="3600" dirty="0" smtClean="0"/>
              <a:t>(8/10)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將二元樹轉成</a:t>
            </a:r>
            <a:r>
              <a:rPr lang="en-US" altLang="zh-TW" dirty="0" smtClean="0"/>
              <a:t>max heap</a:t>
            </a:r>
          </a:p>
          <a:p>
            <a:pPr lvl="1"/>
            <a:r>
              <a:rPr lang="zh-TW" altLang="en-US" dirty="0" smtClean="0">
                <a:solidFill>
                  <a:srgbClr val="0000FF"/>
                </a:solidFill>
              </a:rPr>
              <a:t>方法一：往下調整法</a:t>
            </a:r>
            <a:r>
              <a:rPr lang="en-US" altLang="zh-TW" dirty="0">
                <a:solidFill>
                  <a:srgbClr val="0000FF"/>
                </a:solidFill>
              </a:rPr>
              <a:t>(</a:t>
            </a:r>
            <a:r>
              <a:rPr lang="zh-TW" altLang="en-US" dirty="0" smtClean="0">
                <a:solidFill>
                  <a:srgbClr val="0000FF"/>
                </a:solidFill>
              </a:rPr>
              <a:t>由上而下</a:t>
            </a:r>
            <a:r>
              <a:rPr lang="en-US" altLang="zh-TW" dirty="0" smtClean="0">
                <a:solidFill>
                  <a:srgbClr val="0000FF"/>
                </a:solidFill>
              </a:rPr>
              <a:t>)</a:t>
            </a:r>
          </a:p>
          <a:p>
            <a:pPr lvl="2"/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2730474" y="500597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4750734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5442465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/>
          <p:cNvCxnSpPr>
            <a:stCxn id="8" idx="4"/>
            <a:endCxn id="7" idx="0"/>
          </p:cNvCxnSpPr>
          <p:nvPr/>
        </p:nvCxnSpPr>
        <p:spPr>
          <a:xfrm flipH="1">
            <a:off x="2874474" y="4773332"/>
            <a:ext cx="323107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橢圓 12"/>
          <p:cNvSpPr/>
          <p:nvPr/>
        </p:nvSpPr>
        <p:spPr>
          <a:xfrm>
            <a:off x="3568312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5090490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4338737" y="340990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接點 15"/>
          <p:cNvCxnSpPr>
            <a:stCxn id="14" idx="4"/>
            <a:endCxn id="11" idx="0"/>
          </p:cNvCxnSpPr>
          <p:nvPr/>
        </p:nvCxnSpPr>
        <p:spPr>
          <a:xfrm>
            <a:off x="5234490" y="4226992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14" idx="4"/>
            <a:endCxn id="10" idx="0"/>
          </p:cNvCxnSpPr>
          <p:nvPr/>
        </p:nvCxnSpPr>
        <p:spPr>
          <a:xfrm flipH="1">
            <a:off x="4894734" y="4226992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13" idx="4"/>
            <a:endCxn id="9" idx="0"/>
          </p:cNvCxnSpPr>
          <p:nvPr/>
        </p:nvCxnSpPr>
        <p:spPr>
          <a:xfrm>
            <a:off x="3712312" y="4226992"/>
            <a:ext cx="496162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13" idx="4"/>
            <a:endCxn id="8" idx="0"/>
          </p:cNvCxnSpPr>
          <p:nvPr/>
        </p:nvCxnSpPr>
        <p:spPr>
          <a:xfrm flipH="1">
            <a:off x="3197581" y="4226992"/>
            <a:ext cx="51473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5" idx="4"/>
            <a:endCxn id="14" idx="0"/>
          </p:cNvCxnSpPr>
          <p:nvPr/>
        </p:nvCxnSpPr>
        <p:spPr>
          <a:xfrm>
            <a:off x="4482737" y="3697905"/>
            <a:ext cx="751753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5" idx="4"/>
            <a:endCxn id="13" idx="0"/>
          </p:cNvCxnSpPr>
          <p:nvPr/>
        </p:nvCxnSpPr>
        <p:spPr>
          <a:xfrm flipH="1">
            <a:off x="3712312" y="3697905"/>
            <a:ext cx="770425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4285856" y="336061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3512500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66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034843" y="388107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4686984" y="443319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5387116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2666724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橢圓 29"/>
          <p:cNvSpPr/>
          <p:nvPr/>
        </p:nvSpPr>
        <p:spPr>
          <a:xfrm>
            <a:off x="3390469" y="500737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3754412" y="500737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2" name="直線接點 31"/>
          <p:cNvCxnSpPr>
            <a:stCxn id="8" idx="4"/>
            <a:endCxn id="30" idx="0"/>
          </p:cNvCxnSpPr>
          <p:nvPr/>
        </p:nvCxnSpPr>
        <p:spPr>
          <a:xfrm>
            <a:off x="3197581" y="4773332"/>
            <a:ext cx="336888" cy="23404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9" idx="4"/>
            <a:endCxn id="31" idx="0"/>
          </p:cNvCxnSpPr>
          <p:nvPr/>
        </p:nvCxnSpPr>
        <p:spPr>
          <a:xfrm flipH="1">
            <a:off x="3898412" y="4779117"/>
            <a:ext cx="310062" cy="22825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/>
          <p:cNvSpPr txBox="1"/>
          <p:nvPr/>
        </p:nvSpPr>
        <p:spPr>
          <a:xfrm>
            <a:off x="3326719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3698261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" name="弧形接點 43"/>
          <p:cNvCxnSpPr>
            <a:stCxn id="23" idx="2"/>
            <a:endCxn id="26" idx="1"/>
          </p:cNvCxnSpPr>
          <p:nvPr/>
        </p:nvCxnSpPr>
        <p:spPr>
          <a:xfrm rot="16200000" flipH="1">
            <a:off x="3685078" y="4294204"/>
            <a:ext cx="361674" cy="291330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弧形接點 44"/>
          <p:cNvCxnSpPr>
            <a:stCxn id="26" idx="0"/>
            <a:endCxn id="23" idx="3"/>
          </p:cNvCxnSpPr>
          <p:nvPr/>
        </p:nvCxnSpPr>
        <p:spPr>
          <a:xfrm rot="16200000" flipV="1">
            <a:off x="3892828" y="4109537"/>
            <a:ext cx="361674" cy="291331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09490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橢圓 8"/>
          <p:cNvSpPr/>
          <p:nvPr/>
        </p:nvSpPr>
        <p:spPr>
          <a:xfrm>
            <a:off x="4064474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/>
          <p:cNvSpPr txBox="1"/>
          <p:nvPr/>
        </p:nvSpPr>
        <p:spPr>
          <a:xfrm>
            <a:off x="4011580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66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橢圓 7"/>
          <p:cNvSpPr/>
          <p:nvPr/>
        </p:nvSpPr>
        <p:spPr>
          <a:xfrm>
            <a:off x="3053581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/>
          <p:cNvSpPr txBox="1"/>
          <p:nvPr/>
        </p:nvSpPr>
        <p:spPr>
          <a:xfrm>
            <a:off x="2989831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3600" dirty="0"/>
              <a:t>二元樹轉成堆積</a:t>
            </a:r>
            <a:r>
              <a:rPr lang="en-US" altLang="zh-TW" sz="3600" dirty="0" smtClean="0"/>
              <a:t>-</a:t>
            </a:r>
            <a:br>
              <a:rPr lang="en-US" altLang="zh-TW" sz="3600" dirty="0" smtClean="0"/>
            </a:br>
            <a:r>
              <a:rPr lang="zh-TW" altLang="en-US" sz="3600" dirty="0" smtClean="0">
                <a:solidFill>
                  <a:srgbClr val="C00000"/>
                </a:solidFill>
              </a:rPr>
              <a:t>由上而下</a:t>
            </a:r>
            <a:r>
              <a:rPr lang="zh-TW" altLang="en-US" sz="3600" dirty="0" smtClean="0"/>
              <a:t>往</a:t>
            </a:r>
            <a:r>
              <a:rPr lang="zh-TW" altLang="en-US" sz="3600" dirty="0"/>
              <a:t>下調整法 </a:t>
            </a:r>
            <a:r>
              <a:rPr lang="en-US" altLang="zh-TW" sz="3600" dirty="0" smtClean="0"/>
              <a:t>(9/10)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將二元樹轉成</a:t>
            </a:r>
            <a:r>
              <a:rPr lang="en-US" altLang="zh-TW" dirty="0" smtClean="0"/>
              <a:t>max heap</a:t>
            </a:r>
          </a:p>
          <a:p>
            <a:pPr lvl="1"/>
            <a:r>
              <a:rPr lang="zh-TW" altLang="en-US" dirty="0" smtClean="0">
                <a:solidFill>
                  <a:srgbClr val="0000FF"/>
                </a:solidFill>
              </a:rPr>
              <a:t>方法一：往下調整法</a:t>
            </a:r>
            <a:r>
              <a:rPr lang="en-US" altLang="zh-TW" dirty="0">
                <a:solidFill>
                  <a:srgbClr val="0000FF"/>
                </a:solidFill>
              </a:rPr>
              <a:t>(</a:t>
            </a:r>
            <a:r>
              <a:rPr lang="zh-TW" altLang="en-US" dirty="0" smtClean="0">
                <a:solidFill>
                  <a:srgbClr val="0000FF"/>
                </a:solidFill>
              </a:rPr>
              <a:t>由上而下</a:t>
            </a:r>
            <a:r>
              <a:rPr lang="en-US" altLang="zh-TW" dirty="0" smtClean="0">
                <a:solidFill>
                  <a:srgbClr val="0000FF"/>
                </a:solidFill>
              </a:rPr>
              <a:t>)</a:t>
            </a:r>
          </a:p>
          <a:p>
            <a:pPr lvl="2"/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2730474" y="500597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4750734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5442465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/>
          <p:cNvCxnSpPr>
            <a:stCxn id="8" idx="4"/>
            <a:endCxn id="7" idx="0"/>
          </p:cNvCxnSpPr>
          <p:nvPr/>
        </p:nvCxnSpPr>
        <p:spPr>
          <a:xfrm flipH="1">
            <a:off x="2874474" y="4773332"/>
            <a:ext cx="323107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橢圓 12"/>
          <p:cNvSpPr/>
          <p:nvPr/>
        </p:nvSpPr>
        <p:spPr>
          <a:xfrm>
            <a:off x="3568312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5090490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4338737" y="340990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接點 15"/>
          <p:cNvCxnSpPr>
            <a:stCxn id="14" idx="4"/>
            <a:endCxn id="11" idx="0"/>
          </p:cNvCxnSpPr>
          <p:nvPr/>
        </p:nvCxnSpPr>
        <p:spPr>
          <a:xfrm>
            <a:off x="5234490" y="4226992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14" idx="4"/>
            <a:endCxn id="10" idx="0"/>
          </p:cNvCxnSpPr>
          <p:nvPr/>
        </p:nvCxnSpPr>
        <p:spPr>
          <a:xfrm flipH="1">
            <a:off x="4894734" y="4226992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13" idx="4"/>
            <a:endCxn id="9" idx="0"/>
          </p:cNvCxnSpPr>
          <p:nvPr/>
        </p:nvCxnSpPr>
        <p:spPr>
          <a:xfrm>
            <a:off x="3712312" y="4226992"/>
            <a:ext cx="496162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13" idx="4"/>
            <a:endCxn id="8" idx="0"/>
          </p:cNvCxnSpPr>
          <p:nvPr/>
        </p:nvCxnSpPr>
        <p:spPr>
          <a:xfrm flipH="1">
            <a:off x="3197581" y="4226992"/>
            <a:ext cx="51473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5" idx="4"/>
            <a:endCxn id="14" idx="0"/>
          </p:cNvCxnSpPr>
          <p:nvPr/>
        </p:nvCxnSpPr>
        <p:spPr>
          <a:xfrm>
            <a:off x="4482737" y="3697905"/>
            <a:ext cx="751753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5" idx="4"/>
            <a:endCxn id="13" idx="0"/>
          </p:cNvCxnSpPr>
          <p:nvPr/>
        </p:nvCxnSpPr>
        <p:spPr>
          <a:xfrm flipH="1">
            <a:off x="3712312" y="3697905"/>
            <a:ext cx="770425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4285856" y="336061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3512500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73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034843" y="388107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4686984" y="443319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5387116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2666724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橢圓 29"/>
          <p:cNvSpPr/>
          <p:nvPr/>
        </p:nvSpPr>
        <p:spPr>
          <a:xfrm>
            <a:off x="3390469" y="500737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3754412" y="500737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2" name="直線接點 31"/>
          <p:cNvCxnSpPr>
            <a:stCxn id="8" idx="4"/>
            <a:endCxn id="30" idx="0"/>
          </p:cNvCxnSpPr>
          <p:nvPr/>
        </p:nvCxnSpPr>
        <p:spPr>
          <a:xfrm>
            <a:off x="3197581" y="4773332"/>
            <a:ext cx="336888" cy="23404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9" idx="4"/>
            <a:endCxn id="31" idx="0"/>
          </p:cNvCxnSpPr>
          <p:nvPr/>
        </p:nvCxnSpPr>
        <p:spPr>
          <a:xfrm flipH="1">
            <a:off x="3898412" y="4779117"/>
            <a:ext cx="310062" cy="22825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/>
          <p:cNvSpPr txBox="1"/>
          <p:nvPr/>
        </p:nvSpPr>
        <p:spPr>
          <a:xfrm>
            <a:off x="3326719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3698261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4" name="弧形接點 43"/>
          <p:cNvCxnSpPr>
            <a:stCxn id="22" idx="1"/>
            <a:endCxn id="23" idx="0"/>
          </p:cNvCxnSpPr>
          <p:nvPr/>
        </p:nvCxnSpPr>
        <p:spPr>
          <a:xfrm rot="10800000" flipV="1">
            <a:off x="3720250" y="3545278"/>
            <a:ext cx="565606" cy="344421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弧形接點 44"/>
          <p:cNvCxnSpPr>
            <a:stCxn id="23" idx="3"/>
            <a:endCxn id="22" idx="2"/>
          </p:cNvCxnSpPr>
          <p:nvPr/>
        </p:nvCxnSpPr>
        <p:spPr>
          <a:xfrm flipV="1">
            <a:off x="3927999" y="3729945"/>
            <a:ext cx="565607" cy="344421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946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橢圓 8"/>
          <p:cNvSpPr/>
          <p:nvPr/>
        </p:nvSpPr>
        <p:spPr>
          <a:xfrm>
            <a:off x="4064474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/>
          <p:cNvSpPr txBox="1"/>
          <p:nvPr/>
        </p:nvSpPr>
        <p:spPr>
          <a:xfrm>
            <a:off x="4011580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66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橢圓 7"/>
          <p:cNvSpPr/>
          <p:nvPr/>
        </p:nvSpPr>
        <p:spPr>
          <a:xfrm>
            <a:off x="3053581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/>
          <p:cNvSpPr txBox="1"/>
          <p:nvPr/>
        </p:nvSpPr>
        <p:spPr>
          <a:xfrm>
            <a:off x="2989831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3600" dirty="0"/>
              <a:t>二元樹轉成堆積</a:t>
            </a:r>
            <a:r>
              <a:rPr lang="en-US" altLang="zh-TW" sz="3600" dirty="0" smtClean="0"/>
              <a:t>-</a:t>
            </a:r>
            <a:br>
              <a:rPr lang="en-US" altLang="zh-TW" sz="3600" dirty="0" smtClean="0"/>
            </a:br>
            <a:r>
              <a:rPr lang="zh-TW" altLang="en-US" sz="3600" dirty="0" smtClean="0">
                <a:solidFill>
                  <a:srgbClr val="C00000"/>
                </a:solidFill>
              </a:rPr>
              <a:t>由上而下</a:t>
            </a:r>
            <a:r>
              <a:rPr lang="zh-TW" altLang="en-US" sz="3600" dirty="0" smtClean="0"/>
              <a:t>往</a:t>
            </a:r>
            <a:r>
              <a:rPr lang="zh-TW" altLang="en-US" sz="3600" dirty="0"/>
              <a:t>下調整法 </a:t>
            </a:r>
            <a:r>
              <a:rPr lang="en-US" altLang="zh-TW" sz="3600" dirty="0" smtClean="0"/>
              <a:t>(10/10)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將二元樹轉成</a:t>
            </a:r>
            <a:r>
              <a:rPr lang="en-US" altLang="zh-TW" dirty="0" smtClean="0"/>
              <a:t>max heap</a:t>
            </a:r>
          </a:p>
          <a:p>
            <a:pPr lvl="1"/>
            <a:r>
              <a:rPr lang="zh-TW" altLang="en-US" dirty="0" smtClean="0">
                <a:solidFill>
                  <a:srgbClr val="0000FF"/>
                </a:solidFill>
              </a:rPr>
              <a:t>方法一：往下調整法</a:t>
            </a:r>
            <a:r>
              <a:rPr lang="en-US" altLang="zh-TW" dirty="0">
                <a:solidFill>
                  <a:srgbClr val="0000FF"/>
                </a:solidFill>
              </a:rPr>
              <a:t>(</a:t>
            </a:r>
            <a:r>
              <a:rPr lang="zh-TW" altLang="en-US" dirty="0" smtClean="0">
                <a:solidFill>
                  <a:srgbClr val="0000FF"/>
                </a:solidFill>
              </a:rPr>
              <a:t>由上而下</a:t>
            </a:r>
            <a:r>
              <a:rPr lang="en-US" altLang="zh-TW" dirty="0" smtClean="0">
                <a:solidFill>
                  <a:srgbClr val="0000FF"/>
                </a:solidFill>
              </a:rPr>
              <a:t>)</a:t>
            </a:r>
          </a:p>
          <a:p>
            <a:pPr lvl="2"/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2730474" y="500597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4750734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5442465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/>
          <p:cNvCxnSpPr>
            <a:stCxn id="8" idx="4"/>
            <a:endCxn id="7" idx="0"/>
          </p:cNvCxnSpPr>
          <p:nvPr/>
        </p:nvCxnSpPr>
        <p:spPr>
          <a:xfrm flipH="1">
            <a:off x="2874474" y="4773332"/>
            <a:ext cx="323107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橢圓 12"/>
          <p:cNvSpPr/>
          <p:nvPr/>
        </p:nvSpPr>
        <p:spPr>
          <a:xfrm>
            <a:off x="3568312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5090490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4338737" y="340990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接點 15"/>
          <p:cNvCxnSpPr>
            <a:stCxn id="14" idx="4"/>
            <a:endCxn id="11" idx="0"/>
          </p:cNvCxnSpPr>
          <p:nvPr/>
        </p:nvCxnSpPr>
        <p:spPr>
          <a:xfrm>
            <a:off x="5234490" y="4226992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14" idx="4"/>
            <a:endCxn id="10" idx="0"/>
          </p:cNvCxnSpPr>
          <p:nvPr/>
        </p:nvCxnSpPr>
        <p:spPr>
          <a:xfrm flipH="1">
            <a:off x="4894734" y="4226992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13" idx="4"/>
            <a:endCxn id="9" idx="0"/>
          </p:cNvCxnSpPr>
          <p:nvPr/>
        </p:nvCxnSpPr>
        <p:spPr>
          <a:xfrm>
            <a:off x="3712312" y="4226992"/>
            <a:ext cx="496162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13" idx="4"/>
            <a:endCxn id="8" idx="0"/>
          </p:cNvCxnSpPr>
          <p:nvPr/>
        </p:nvCxnSpPr>
        <p:spPr>
          <a:xfrm flipH="1">
            <a:off x="3197581" y="4226992"/>
            <a:ext cx="51473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5" idx="4"/>
            <a:endCxn id="14" idx="0"/>
          </p:cNvCxnSpPr>
          <p:nvPr/>
        </p:nvCxnSpPr>
        <p:spPr>
          <a:xfrm>
            <a:off x="4482737" y="3697905"/>
            <a:ext cx="751753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5" idx="4"/>
            <a:endCxn id="13" idx="0"/>
          </p:cNvCxnSpPr>
          <p:nvPr/>
        </p:nvCxnSpPr>
        <p:spPr>
          <a:xfrm flipH="1">
            <a:off x="3712312" y="3697905"/>
            <a:ext cx="770425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4285856" y="336061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73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3512500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034843" y="388107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4686984" y="443319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5387116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2666724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橢圓 29"/>
          <p:cNvSpPr/>
          <p:nvPr/>
        </p:nvSpPr>
        <p:spPr>
          <a:xfrm>
            <a:off x="3390469" y="500737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3754412" y="500737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2" name="直線接點 31"/>
          <p:cNvCxnSpPr>
            <a:stCxn id="8" idx="4"/>
            <a:endCxn id="30" idx="0"/>
          </p:cNvCxnSpPr>
          <p:nvPr/>
        </p:nvCxnSpPr>
        <p:spPr>
          <a:xfrm>
            <a:off x="3197581" y="4773332"/>
            <a:ext cx="336888" cy="23404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9" idx="4"/>
            <a:endCxn id="31" idx="0"/>
          </p:cNvCxnSpPr>
          <p:nvPr/>
        </p:nvCxnSpPr>
        <p:spPr>
          <a:xfrm flipH="1">
            <a:off x="3898412" y="4779117"/>
            <a:ext cx="310062" cy="22825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/>
          <p:cNvSpPr txBox="1"/>
          <p:nvPr/>
        </p:nvSpPr>
        <p:spPr>
          <a:xfrm>
            <a:off x="3326719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3698261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862039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3600" dirty="0"/>
              <a:t>二元樹轉成</a:t>
            </a:r>
            <a:r>
              <a:rPr lang="zh-TW" altLang="en-US" sz="3600" dirty="0" smtClean="0"/>
              <a:t>堆積</a:t>
            </a:r>
            <a:r>
              <a:rPr lang="en-US" altLang="zh-TW" sz="3600" dirty="0" smtClean="0"/>
              <a:t>-</a:t>
            </a:r>
            <a:br>
              <a:rPr lang="en-US" altLang="zh-TW" sz="3600" dirty="0" smtClean="0"/>
            </a:br>
            <a:r>
              <a:rPr lang="zh-TW" altLang="en-US" sz="3600" dirty="0" smtClean="0"/>
              <a:t>由下而上往下調整法 </a:t>
            </a:r>
            <a:r>
              <a:rPr lang="en-US" altLang="zh-TW" sz="3600" dirty="0" smtClean="0"/>
              <a:t>(1/9)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將二元樹轉成</a:t>
            </a:r>
            <a:r>
              <a:rPr lang="en-US" altLang="zh-TW" dirty="0" smtClean="0"/>
              <a:t>max heap</a:t>
            </a:r>
          </a:p>
          <a:p>
            <a:pPr lvl="1"/>
            <a:r>
              <a:rPr lang="zh-TW" altLang="en-US" dirty="0" smtClean="0">
                <a:solidFill>
                  <a:srgbClr val="0000FF"/>
                </a:solidFill>
              </a:rPr>
              <a:t>方法一：往下調整法</a:t>
            </a:r>
            <a:r>
              <a:rPr lang="en-US" altLang="zh-TW" dirty="0" smtClean="0">
                <a:solidFill>
                  <a:srgbClr val="0000FF"/>
                </a:solidFill>
              </a:rPr>
              <a:t>(</a:t>
            </a:r>
            <a:r>
              <a:rPr lang="zh-TW" altLang="en-US" dirty="0" smtClean="0">
                <a:solidFill>
                  <a:srgbClr val="0000FF"/>
                </a:solidFill>
              </a:rPr>
              <a:t>由下而上</a:t>
            </a:r>
            <a:r>
              <a:rPr lang="en-US" altLang="zh-TW" dirty="0" smtClean="0">
                <a:solidFill>
                  <a:srgbClr val="0000FF"/>
                </a:solidFill>
              </a:rPr>
              <a:t>)</a:t>
            </a:r>
          </a:p>
          <a:p>
            <a:pPr marL="1371600" lvl="2" indent="-457200">
              <a:buFont typeface="+mj-lt"/>
              <a:buAutoNum type="arabicPeriod"/>
            </a:pPr>
            <a:r>
              <a:rPr lang="zh-TW" altLang="en-US" dirty="0" smtClean="0"/>
              <a:t>從</a:t>
            </a:r>
            <a:r>
              <a:rPr lang="zh-TW" altLang="en-US" dirty="0" smtClean="0">
                <a:solidFill>
                  <a:srgbClr val="C00000"/>
                </a:solidFill>
              </a:rPr>
              <a:t>最後一個有子節點</a:t>
            </a:r>
            <a:r>
              <a:rPr lang="zh-TW" altLang="en-US" dirty="0" smtClean="0"/>
              <a:t>的節點 </a:t>
            </a:r>
            <a:r>
              <a:rPr lang="en-US" altLang="zh-TW" i="1" dirty="0" smtClean="0"/>
              <a:t>a</a:t>
            </a:r>
            <a:r>
              <a:rPr lang="en-US" altLang="zh-TW" dirty="0" smtClean="0"/>
              <a:t>[</a:t>
            </a:r>
            <a:r>
              <a:rPr lang="en-US" altLang="zh-TW" i="1" dirty="0" smtClean="0"/>
              <a:t>k</a:t>
            </a:r>
            <a:r>
              <a:rPr lang="en-US" altLang="zh-TW" dirty="0" smtClean="0"/>
              <a:t>] </a:t>
            </a:r>
            <a:r>
              <a:rPr lang="zh-TW" altLang="en-US" dirty="0" smtClean="0"/>
              <a:t>開始</a:t>
            </a:r>
            <a:endParaRPr lang="en-US" altLang="zh-TW" dirty="0" smtClean="0"/>
          </a:p>
          <a:p>
            <a:pPr marL="1371600" lvl="2" indent="-457200">
              <a:buFont typeface="+mj-lt"/>
              <a:buAutoNum type="arabicPeriod"/>
            </a:pPr>
            <a:r>
              <a:rPr lang="zh-TW" altLang="en-US" dirty="0" smtClean="0"/>
              <a:t>將 </a:t>
            </a:r>
            <a:r>
              <a:rPr lang="en-US" altLang="zh-TW" i="1" dirty="0" smtClean="0"/>
              <a:t>a</a:t>
            </a:r>
            <a:r>
              <a:rPr lang="en-US" altLang="zh-TW" dirty="0" smtClean="0"/>
              <a:t>[</a:t>
            </a:r>
            <a:r>
              <a:rPr lang="en-US" altLang="zh-TW" i="1" dirty="0" smtClean="0"/>
              <a:t>k</a:t>
            </a:r>
            <a:r>
              <a:rPr lang="en-US" altLang="zh-TW" dirty="0" smtClean="0"/>
              <a:t>] </a:t>
            </a:r>
            <a:r>
              <a:rPr lang="zh-TW" altLang="en-US" dirty="0" smtClean="0"/>
              <a:t>節點與</a:t>
            </a:r>
            <a:r>
              <a:rPr lang="zh-TW" altLang="en-US" dirty="0" smtClean="0">
                <a:solidFill>
                  <a:srgbClr val="C00000"/>
                </a:solidFill>
              </a:rPr>
              <a:t>大兒子</a:t>
            </a:r>
            <a:r>
              <a:rPr lang="en-US" altLang="zh-TW" dirty="0" smtClean="0">
                <a:solidFill>
                  <a:srgbClr val="C00000"/>
                </a:solidFill>
              </a:rPr>
              <a:t>(</a:t>
            </a:r>
            <a:r>
              <a:rPr lang="zh-TW" altLang="en-US" dirty="0" smtClean="0">
                <a:solidFill>
                  <a:srgbClr val="C00000"/>
                </a:solidFill>
              </a:rPr>
              <a:t>兩個子節點中最大的</a:t>
            </a:r>
            <a:r>
              <a:rPr lang="en-US" altLang="zh-TW" dirty="0" smtClean="0">
                <a:solidFill>
                  <a:srgbClr val="C00000"/>
                </a:solidFill>
              </a:rPr>
              <a:t>)</a:t>
            </a:r>
            <a:r>
              <a:rPr lang="zh-TW" altLang="en-US" dirty="0" smtClean="0"/>
              <a:t>作比較</a:t>
            </a:r>
            <a:endParaRPr lang="en-US" altLang="zh-TW" dirty="0" smtClean="0"/>
          </a:p>
          <a:p>
            <a:pPr lvl="3"/>
            <a:r>
              <a:rPr lang="en-US" altLang="zh-TW" i="1" dirty="0" smtClean="0"/>
              <a:t>a</a:t>
            </a:r>
            <a:r>
              <a:rPr lang="en-US" altLang="zh-TW" dirty="0" smtClean="0"/>
              <a:t>[</a:t>
            </a:r>
            <a:r>
              <a:rPr lang="en-US" altLang="zh-TW" i="1" dirty="0" smtClean="0"/>
              <a:t>k</a:t>
            </a:r>
            <a:r>
              <a:rPr lang="en-US" altLang="zh-TW" dirty="0" smtClean="0"/>
              <a:t>] </a:t>
            </a:r>
            <a:r>
              <a:rPr lang="en-US" altLang="zh-TW" dirty="0" smtClean="0">
                <a:solidFill>
                  <a:srgbClr val="C00000"/>
                </a:solidFill>
              </a:rPr>
              <a:t>&lt;</a:t>
            </a:r>
            <a:r>
              <a:rPr lang="en-US" altLang="zh-TW" dirty="0" smtClean="0"/>
              <a:t> </a:t>
            </a:r>
            <a:r>
              <a:rPr lang="zh-TW" altLang="en-US" dirty="0" smtClean="0"/>
              <a:t>大兒子：</a:t>
            </a:r>
            <a:r>
              <a:rPr lang="zh-TW" altLang="en-US" dirty="0" smtClean="0">
                <a:solidFill>
                  <a:srgbClr val="C00000"/>
                </a:solidFill>
              </a:rPr>
              <a:t>交換</a:t>
            </a:r>
            <a:endParaRPr lang="en-US" altLang="zh-TW" dirty="0" smtClean="0">
              <a:solidFill>
                <a:srgbClr val="C00000"/>
              </a:solidFill>
            </a:endParaRPr>
          </a:p>
          <a:p>
            <a:pPr marL="1371600" lvl="2" indent="-457200">
              <a:buFont typeface="+mj-lt"/>
              <a:buAutoNum type="arabicPeriod"/>
            </a:pPr>
            <a:r>
              <a:rPr lang="zh-TW" altLang="en-US" dirty="0" smtClean="0"/>
              <a:t>節點交換後，檢查</a:t>
            </a:r>
            <a:r>
              <a:rPr lang="zh-TW" altLang="en-US" dirty="0" smtClean="0">
                <a:solidFill>
                  <a:srgbClr val="C00000"/>
                </a:solidFill>
              </a:rPr>
              <a:t>新的位置</a:t>
            </a:r>
            <a:r>
              <a:rPr lang="zh-TW" altLang="en-US" dirty="0" smtClean="0"/>
              <a:t>是否符合</a:t>
            </a:r>
            <a:r>
              <a:rPr lang="en-US" altLang="zh-TW" dirty="0" smtClean="0"/>
              <a:t>max heap</a:t>
            </a:r>
          </a:p>
          <a:p>
            <a:pPr marL="1371600" lvl="2" indent="-457200">
              <a:buFont typeface="+mj-lt"/>
              <a:buAutoNum type="arabicPeriod"/>
            </a:pPr>
            <a:r>
              <a:rPr lang="zh-TW" altLang="en-US" dirty="0" smtClean="0"/>
              <a:t>依序檢查、調整 </a:t>
            </a:r>
            <a:r>
              <a:rPr lang="en-US" altLang="zh-TW" i="1" dirty="0" smtClean="0">
                <a:solidFill>
                  <a:srgbClr val="C00000"/>
                </a:solidFill>
              </a:rPr>
              <a:t>a</a:t>
            </a:r>
            <a:r>
              <a:rPr lang="en-US" altLang="zh-TW" dirty="0" smtClean="0">
                <a:solidFill>
                  <a:srgbClr val="C00000"/>
                </a:solidFill>
              </a:rPr>
              <a:t>[</a:t>
            </a:r>
            <a:r>
              <a:rPr lang="en-US" altLang="zh-TW" i="1" dirty="0" smtClean="0">
                <a:solidFill>
                  <a:srgbClr val="C00000"/>
                </a:solidFill>
              </a:rPr>
              <a:t>k</a:t>
            </a:r>
            <a:r>
              <a:rPr lang="en-US" altLang="zh-TW" dirty="0" smtClean="0">
                <a:solidFill>
                  <a:srgbClr val="C00000"/>
                </a:solidFill>
              </a:rPr>
              <a:t> – 1]</a:t>
            </a:r>
            <a:r>
              <a:rPr lang="zh-TW" altLang="en-US" dirty="0" smtClean="0">
                <a:solidFill>
                  <a:srgbClr val="C00000"/>
                </a:solidFill>
              </a:rPr>
              <a:t> </a:t>
            </a:r>
            <a:r>
              <a:rPr lang="en-US" altLang="zh-TW" dirty="0" smtClean="0">
                <a:solidFill>
                  <a:srgbClr val="C00000"/>
                </a:solidFill>
              </a:rPr>
              <a:t>~ </a:t>
            </a:r>
            <a:r>
              <a:rPr lang="en-US" altLang="zh-TW" i="1" dirty="0" smtClean="0">
                <a:solidFill>
                  <a:srgbClr val="C00000"/>
                </a:solidFill>
              </a:rPr>
              <a:t>a</a:t>
            </a:r>
            <a:r>
              <a:rPr lang="en-US" altLang="zh-TW" dirty="0" smtClean="0">
                <a:solidFill>
                  <a:srgbClr val="C00000"/>
                </a:solidFill>
              </a:rPr>
              <a:t>[</a:t>
            </a:r>
            <a:r>
              <a:rPr lang="en-US" altLang="zh-TW" i="1" dirty="0" smtClean="0">
                <a:solidFill>
                  <a:srgbClr val="C00000"/>
                </a:solidFill>
              </a:rPr>
              <a:t>k</a:t>
            </a:r>
            <a:r>
              <a:rPr lang="en-US" altLang="zh-TW" dirty="0" smtClean="0">
                <a:solidFill>
                  <a:srgbClr val="C00000"/>
                </a:solidFill>
              </a:rPr>
              <a:t> – </a:t>
            </a:r>
            <a:r>
              <a:rPr lang="en-US" altLang="zh-TW" i="1" dirty="0" smtClean="0">
                <a:solidFill>
                  <a:srgbClr val="C00000"/>
                </a:solidFill>
              </a:rPr>
              <a:t>k</a:t>
            </a:r>
            <a:r>
              <a:rPr lang="en-US" altLang="zh-TW" dirty="0" smtClean="0">
                <a:solidFill>
                  <a:srgbClr val="C00000"/>
                </a:solidFill>
              </a:rPr>
              <a:t>] (</a:t>
            </a:r>
            <a:r>
              <a:rPr lang="en-US" altLang="zh-TW" i="1" dirty="0" smtClean="0">
                <a:solidFill>
                  <a:srgbClr val="C00000"/>
                </a:solidFill>
              </a:rPr>
              <a:t>a</a:t>
            </a:r>
            <a:r>
              <a:rPr lang="en-US" altLang="zh-TW" dirty="0" smtClean="0">
                <a:solidFill>
                  <a:srgbClr val="C00000"/>
                </a:solidFill>
              </a:rPr>
              <a:t>[0])</a:t>
            </a:r>
          </a:p>
          <a:p>
            <a:pPr lvl="2"/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159188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橢圓 8"/>
          <p:cNvSpPr/>
          <p:nvPr/>
        </p:nvSpPr>
        <p:spPr>
          <a:xfrm>
            <a:off x="4064474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/>
          <p:cNvSpPr txBox="1"/>
          <p:nvPr/>
        </p:nvSpPr>
        <p:spPr>
          <a:xfrm>
            <a:off x="4011580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橢圓 7"/>
          <p:cNvSpPr/>
          <p:nvPr/>
        </p:nvSpPr>
        <p:spPr>
          <a:xfrm>
            <a:off x="3053581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/>
          <p:cNvSpPr txBox="1"/>
          <p:nvPr/>
        </p:nvSpPr>
        <p:spPr>
          <a:xfrm>
            <a:off x="2989831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3600" dirty="0"/>
              <a:t>二元樹轉成堆積</a:t>
            </a:r>
            <a:r>
              <a:rPr lang="en-US" altLang="zh-TW" sz="3600" dirty="0" smtClean="0"/>
              <a:t>-</a:t>
            </a:r>
            <a:br>
              <a:rPr lang="en-US" altLang="zh-TW" sz="3600" dirty="0" smtClean="0"/>
            </a:br>
            <a:r>
              <a:rPr lang="zh-TW" altLang="en-US" sz="3600" dirty="0"/>
              <a:t>由下而上</a:t>
            </a:r>
            <a:r>
              <a:rPr lang="zh-TW" altLang="en-US" sz="3600" dirty="0" smtClean="0"/>
              <a:t>往</a:t>
            </a:r>
            <a:r>
              <a:rPr lang="zh-TW" altLang="en-US" sz="3600" dirty="0"/>
              <a:t>下調整法 </a:t>
            </a:r>
            <a:r>
              <a:rPr lang="en-US" altLang="zh-TW" sz="3600" dirty="0" smtClean="0"/>
              <a:t>(2/9)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將二元樹轉成</a:t>
            </a:r>
            <a:r>
              <a:rPr lang="en-US" altLang="zh-TW" dirty="0" smtClean="0"/>
              <a:t>max heap</a:t>
            </a:r>
          </a:p>
          <a:p>
            <a:pPr lvl="1"/>
            <a:r>
              <a:rPr lang="zh-TW" altLang="en-US" dirty="0" smtClean="0">
                <a:solidFill>
                  <a:srgbClr val="0000FF"/>
                </a:solidFill>
              </a:rPr>
              <a:t>方法一：往下調整法</a:t>
            </a:r>
            <a:r>
              <a:rPr lang="en-US" altLang="zh-TW" dirty="0">
                <a:solidFill>
                  <a:srgbClr val="0000FF"/>
                </a:solidFill>
              </a:rPr>
              <a:t>(</a:t>
            </a:r>
            <a:r>
              <a:rPr lang="zh-TW" altLang="en-US" dirty="0">
                <a:solidFill>
                  <a:srgbClr val="0000FF"/>
                </a:solidFill>
              </a:rPr>
              <a:t>由下而上</a:t>
            </a:r>
            <a:r>
              <a:rPr lang="en-US" altLang="zh-TW" dirty="0">
                <a:solidFill>
                  <a:srgbClr val="0000FF"/>
                </a:solidFill>
              </a:rPr>
              <a:t>)</a:t>
            </a:r>
            <a:endParaRPr lang="en-US" altLang="zh-TW" dirty="0" smtClean="0">
              <a:solidFill>
                <a:srgbClr val="0000FF"/>
              </a:solidFill>
            </a:endParaRPr>
          </a:p>
          <a:p>
            <a:pPr lvl="2"/>
            <a:r>
              <a:rPr lang="zh-TW" altLang="en-US" dirty="0" smtClean="0"/>
              <a:t>從</a:t>
            </a:r>
            <a:r>
              <a:rPr lang="zh-TW" altLang="en-US" dirty="0" smtClean="0">
                <a:solidFill>
                  <a:srgbClr val="C00000"/>
                </a:solidFill>
              </a:rPr>
              <a:t>最後一個有子節點</a:t>
            </a:r>
            <a:r>
              <a:rPr lang="zh-TW" altLang="en-US" dirty="0" smtClean="0"/>
              <a:t>的節點 </a:t>
            </a:r>
            <a:r>
              <a:rPr lang="en-US" altLang="zh-TW" i="1" dirty="0"/>
              <a:t>a</a:t>
            </a:r>
            <a:r>
              <a:rPr lang="en-US" altLang="zh-TW" dirty="0"/>
              <a:t>[</a:t>
            </a:r>
            <a:r>
              <a:rPr lang="en-US" altLang="zh-TW" i="1" dirty="0"/>
              <a:t>k</a:t>
            </a:r>
            <a:r>
              <a:rPr lang="en-US" altLang="zh-TW" dirty="0" smtClean="0"/>
              <a:t>] </a:t>
            </a:r>
            <a:r>
              <a:rPr lang="zh-TW" altLang="en-US" dirty="0" smtClean="0"/>
              <a:t>開始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2730474" y="500597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4750734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5442465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/>
          <p:cNvCxnSpPr>
            <a:stCxn id="8" idx="4"/>
            <a:endCxn id="7" idx="0"/>
          </p:cNvCxnSpPr>
          <p:nvPr/>
        </p:nvCxnSpPr>
        <p:spPr>
          <a:xfrm flipH="1">
            <a:off x="2874474" y="4773332"/>
            <a:ext cx="323107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橢圓 12"/>
          <p:cNvSpPr/>
          <p:nvPr/>
        </p:nvSpPr>
        <p:spPr>
          <a:xfrm>
            <a:off x="3568312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5090490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4338737" y="340990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接點 15"/>
          <p:cNvCxnSpPr>
            <a:stCxn id="14" idx="4"/>
            <a:endCxn id="11" idx="0"/>
          </p:cNvCxnSpPr>
          <p:nvPr/>
        </p:nvCxnSpPr>
        <p:spPr>
          <a:xfrm>
            <a:off x="5234490" y="4226992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14" idx="4"/>
            <a:endCxn id="10" idx="0"/>
          </p:cNvCxnSpPr>
          <p:nvPr/>
        </p:nvCxnSpPr>
        <p:spPr>
          <a:xfrm flipH="1">
            <a:off x="4894734" y="4226992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13" idx="4"/>
            <a:endCxn id="9" idx="0"/>
          </p:cNvCxnSpPr>
          <p:nvPr/>
        </p:nvCxnSpPr>
        <p:spPr>
          <a:xfrm>
            <a:off x="3712312" y="4226992"/>
            <a:ext cx="496162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13" idx="4"/>
            <a:endCxn id="8" idx="0"/>
          </p:cNvCxnSpPr>
          <p:nvPr/>
        </p:nvCxnSpPr>
        <p:spPr>
          <a:xfrm flipH="1">
            <a:off x="3197581" y="4226992"/>
            <a:ext cx="51473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5" idx="4"/>
            <a:endCxn id="14" idx="0"/>
          </p:cNvCxnSpPr>
          <p:nvPr/>
        </p:nvCxnSpPr>
        <p:spPr>
          <a:xfrm>
            <a:off x="4482737" y="3697905"/>
            <a:ext cx="751753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5" idx="4"/>
            <a:endCxn id="13" idx="0"/>
          </p:cNvCxnSpPr>
          <p:nvPr/>
        </p:nvCxnSpPr>
        <p:spPr>
          <a:xfrm flipH="1">
            <a:off x="3712312" y="3697905"/>
            <a:ext cx="770425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4285856" y="336061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3512500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034843" y="388107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4686984" y="443319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5387116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2666724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橢圓 29"/>
          <p:cNvSpPr/>
          <p:nvPr/>
        </p:nvSpPr>
        <p:spPr>
          <a:xfrm>
            <a:off x="3390469" y="500737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3754412" y="500737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2" name="直線接點 31"/>
          <p:cNvCxnSpPr>
            <a:stCxn id="8" idx="4"/>
            <a:endCxn id="30" idx="0"/>
          </p:cNvCxnSpPr>
          <p:nvPr/>
        </p:nvCxnSpPr>
        <p:spPr>
          <a:xfrm>
            <a:off x="3197581" y="4773332"/>
            <a:ext cx="336888" cy="23404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9" idx="4"/>
            <a:endCxn id="31" idx="0"/>
          </p:cNvCxnSpPr>
          <p:nvPr/>
        </p:nvCxnSpPr>
        <p:spPr>
          <a:xfrm flipH="1">
            <a:off x="3898412" y="4779117"/>
            <a:ext cx="310062" cy="22825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/>
          <p:cNvSpPr txBox="1"/>
          <p:nvPr/>
        </p:nvSpPr>
        <p:spPr>
          <a:xfrm>
            <a:off x="3326719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66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3698261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圓角矩形 35"/>
          <p:cNvSpPr/>
          <p:nvPr/>
        </p:nvSpPr>
        <p:spPr>
          <a:xfrm>
            <a:off x="3994329" y="4444665"/>
            <a:ext cx="424124" cy="366491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圓角矩形圖說文字 37"/>
          <p:cNvSpPr/>
          <p:nvPr/>
        </p:nvSpPr>
        <p:spPr>
          <a:xfrm>
            <a:off x="4233130" y="5676181"/>
            <a:ext cx="3023600" cy="543464"/>
          </a:xfrm>
          <a:prstGeom prst="wedgeRoundRectCallout">
            <a:avLst>
              <a:gd name="adj1" fmla="val -56553"/>
              <a:gd name="adj2" fmla="val -124083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最後一個節點編號 </a:t>
            </a:r>
            <a:r>
              <a:rPr lang="en-US" altLang="zh-TW" sz="2000" b="1" i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n</a:t>
            </a:r>
            <a:r>
              <a:rPr lang="en-US" altLang="zh-TW" sz="2000" b="1" dirty="0" smtClean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</a:rPr>
              <a:t> – 1</a:t>
            </a:r>
            <a:endParaRPr lang="zh-TW" altLang="en-US" sz="2000" b="1" dirty="0">
              <a:solidFill>
                <a:schemeClr val="tx1"/>
              </a:solidFill>
              <a:latin typeface="Times New Roman" panose="02020603050405020304" pitchFamily="18" charset="0"/>
              <a:ea typeface="標楷體" panose="03000509000000000000" pitchFamily="65" charset="-12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9" name="圓角矩形圖說文字 38"/>
              <p:cNvSpPr/>
              <p:nvPr/>
            </p:nvSpPr>
            <p:spPr>
              <a:xfrm>
                <a:off x="820924" y="2766109"/>
                <a:ext cx="2376657" cy="1189008"/>
              </a:xfrm>
              <a:prstGeom prst="wedgeRoundRectCallout">
                <a:avLst>
                  <a:gd name="adj1" fmla="val 80928"/>
                  <a:gd name="adj2" fmla="val 94542"/>
                  <a:gd name="adj3" fmla="val 16667"/>
                </a:avLst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sz="2000" b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父節點編號 </a:t>
                </a:r>
                <a:r>
                  <a:rPr lang="en-US" altLang="zh-TW" sz="2000" b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(</a:t>
                </a:r>
                <a:r>
                  <a:rPr lang="en-US" altLang="zh-TW" sz="2000" b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0</a:t>
                </a:r>
                <a:r>
                  <a:rPr lang="zh-TW" altLang="en-US" sz="2000" b="1" dirty="0" smtClean="0">
                    <a:solidFill>
                      <a:srgbClr val="C00000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開始</a:t>
                </a:r>
                <a:r>
                  <a:rPr lang="en-US" altLang="zh-TW" sz="2000" b="1" dirty="0" smtClean="0">
                    <a:solidFill>
                      <a:schemeClr val="tx1"/>
                    </a:solidFill>
                    <a:latin typeface="Times New Roman" panose="02020603050405020304" pitchFamily="18" charset="0"/>
                    <a:ea typeface="標楷體" panose="03000509000000000000" pitchFamily="65" charset="-120"/>
                    <a:cs typeface="Times New Roman" panose="02020603050405020304" pitchFamily="18" charset="0"/>
                  </a:rPr>
                  <a:t>)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⌊"/>
                          <m:endChr m:val="⌋"/>
                          <m:ctrlPr>
                            <a:rPr lang="en-US" altLang="zh-TW" sz="2000" b="1" i="1" dirty="0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標楷體" panose="03000509000000000000" pitchFamily="65" charset="-120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f>
                            <m:fPr>
                              <m:ctrlPr>
                                <a:rPr lang="en-US" altLang="zh-TW" sz="2000" b="1" i="1" dirty="0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d>
                                <m:dPr>
                                  <m:ctrlPr>
                                    <a:rPr lang="en-US" altLang="zh-TW" sz="2000" b="1" i="1" dirty="0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zh-TW" sz="2000" b="1" i="1" dirty="0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𝒏</m:t>
                                  </m:r>
                                  <m:r>
                                    <a:rPr lang="en-US" altLang="zh-TW" sz="2000" b="1" i="1" dirty="0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r>
                                    <a:rPr lang="en-US" altLang="zh-TW" sz="2000" b="1" i="1" dirty="0" smtClean="0">
                                      <a:solidFill>
                                        <a:schemeClr val="tx1"/>
                                      </a:solidFill>
                                      <a:latin typeface="Cambria Math"/>
                                      <a:ea typeface="標楷體" panose="03000509000000000000" pitchFamily="65" charset="-120"/>
                                      <a:cs typeface="Times New Roman" panose="02020603050405020304" pitchFamily="18" charset="0"/>
                                    </a:rPr>
                                    <m:t>𝟏</m:t>
                                  </m:r>
                                </m:e>
                              </m:d>
                              <m:r>
                                <a:rPr lang="en-US" altLang="zh-TW" sz="2000" b="1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zh-TW" sz="2000" b="1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𝟏</m:t>
                              </m:r>
                            </m:num>
                            <m:den>
                              <m:r>
                                <a:rPr lang="en-US" altLang="zh-TW" sz="2000" b="1" i="1" dirty="0" smtClean="0">
                                  <a:solidFill>
                                    <a:schemeClr val="tx1"/>
                                  </a:solidFill>
                                  <a:latin typeface="Cambria Math"/>
                                  <a:ea typeface="標楷體" panose="03000509000000000000" pitchFamily="65" charset="-120"/>
                                  <a:cs typeface="Times New Roman" panose="02020603050405020304" pitchFamily="18" charset="0"/>
                                </a:rPr>
                                <m:t>𝟐</m:t>
                              </m:r>
                            </m:den>
                          </m:f>
                        </m:e>
                      </m:d>
                      <m:r>
                        <a:rPr lang="en-US" altLang="zh-TW" sz="2000" b="1" i="1" dirty="0" smtClean="0">
                          <a:solidFill>
                            <a:schemeClr val="tx1"/>
                          </a:solidFill>
                          <a:latin typeface="Cambria Math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TW" sz="2000" b="1" i="1" dirty="0" smtClean="0">
                          <a:solidFill>
                            <a:schemeClr val="tx1"/>
                          </a:solidFill>
                          <a:latin typeface="Cambria Math"/>
                          <a:ea typeface="標楷體" panose="03000509000000000000" pitchFamily="65" charset="-120"/>
                          <a:cs typeface="Times New Roman" panose="02020603050405020304" pitchFamily="18" charset="0"/>
                        </a:rPr>
                        <m:t>𝟒</m:t>
                      </m:r>
                    </m:oMath>
                  </m:oMathPara>
                </a14:m>
                <a:endParaRPr lang="zh-TW" altLang="en-US" sz="2000" b="1" dirty="0">
                  <a:solidFill>
                    <a:schemeClr val="tx1"/>
                  </a:solidFill>
                  <a:latin typeface="Times New Roman" panose="02020603050405020304" pitchFamily="18" charset="0"/>
                  <a:ea typeface="標楷體" panose="03000509000000000000" pitchFamily="65" charset="-12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9" name="圓角矩形圖說文字 3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0924" y="2766109"/>
                <a:ext cx="2376657" cy="1189008"/>
              </a:xfrm>
              <a:prstGeom prst="wedgeRoundRectCallout">
                <a:avLst>
                  <a:gd name="adj1" fmla="val 80928"/>
                  <a:gd name="adj2" fmla="val 94542"/>
                  <a:gd name="adj3" fmla="val 16667"/>
                </a:avLst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4" name="弧形接點 43"/>
          <p:cNvCxnSpPr>
            <a:stCxn id="26" idx="1"/>
            <a:endCxn id="35" idx="0"/>
          </p:cNvCxnSpPr>
          <p:nvPr/>
        </p:nvCxnSpPr>
        <p:spPr>
          <a:xfrm rot="10800000" flipV="1">
            <a:off x="3906012" y="4620705"/>
            <a:ext cx="105569" cy="335749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弧形接點 44"/>
          <p:cNvCxnSpPr>
            <a:stCxn id="35" idx="3"/>
            <a:endCxn id="26" idx="2"/>
          </p:cNvCxnSpPr>
          <p:nvPr/>
        </p:nvCxnSpPr>
        <p:spPr>
          <a:xfrm flipV="1">
            <a:off x="4113760" y="4805372"/>
            <a:ext cx="105570" cy="335749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1921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 animBg="1"/>
      <p:bldP spid="38" grpId="0" animBg="1"/>
      <p:bldP spid="3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橢圓 8"/>
          <p:cNvSpPr/>
          <p:nvPr/>
        </p:nvSpPr>
        <p:spPr>
          <a:xfrm>
            <a:off x="4064474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/>
          <p:cNvSpPr txBox="1"/>
          <p:nvPr/>
        </p:nvSpPr>
        <p:spPr>
          <a:xfrm>
            <a:off x="4002954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73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橢圓 7"/>
          <p:cNvSpPr/>
          <p:nvPr/>
        </p:nvSpPr>
        <p:spPr>
          <a:xfrm>
            <a:off x="3053581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/>
          <p:cNvSpPr txBox="1"/>
          <p:nvPr/>
        </p:nvSpPr>
        <p:spPr>
          <a:xfrm>
            <a:off x="2989831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3600" dirty="0"/>
              <a:t>二元樹轉成堆積</a:t>
            </a:r>
            <a:r>
              <a:rPr lang="en-US" altLang="zh-TW" sz="3600" dirty="0" smtClean="0"/>
              <a:t>-</a:t>
            </a:r>
            <a:br>
              <a:rPr lang="en-US" altLang="zh-TW" sz="3600" dirty="0" smtClean="0"/>
            </a:br>
            <a:r>
              <a:rPr lang="zh-TW" altLang="en-US" sz="3600" dirty="0"/>
              <a:t>由下而上</a:t>
            </a:r>
            <a:r>
              <a:rPr lang="zh-TW" altLang="en-US" sz="3600" dirty="0" smtClean="0"/>
              <a:t>往</a:t>
            </a:r>
            <a:r>
              <a:rPr lang="zh-TW" altLang="en-US" sz="3600" dirty="0"/>
              <a:t>下調整法 </a:t>
            </a:r>
            <a:r>
              <a:rPr lang="en-US" altLang="zh-TW" sz="3600" dirty="0" smtClean="0"/>
              <a:t>(3/9)</a:t>
            </a:r>
            <a:endParaRPr lang="zh-TW" altLang="en-US" sz="3600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將二元樹轉成</a:t>
            </a:r>
            <a:r>
              <a:rPr lang="en-US" altLang="zh-TW" dirty="0" smtClean="0"/>
              <a:t>max heap</a:t>
            </a:r>
          </a:p>
          <a:p>
            <a:pPr lvl="1"/>
            <a:r>
              <a:rPr lang="zh-TW" altLang="en-US" dirty="0" smtClean="0">
                <a:solidFill>
                  <a:srgbClr val="0000FF"/>
                </a:solidFill>
              </a:rPr>
              <a:t>方法一：往下調整法</a:t>
            </a:r>
            <a:r>
              <a:rPr lang="en-US" altLang="zh-TW" dirty="0">
                <a:solidFill>
                  <a:srgbClr val="0000FF"/>
                </a:solidFill>
              </a:rPr>
              <a:t>(</a:t>
            </a:r>
            <a:r>
              <a:rPr lang="zh-TW" altLang="en-US" dirty="0">
                <a:solidFill>
                  <a:srgbClr val="0000FF"/>
                </a:solidFill>
              </a:rPr>
              <a:t>由下而上</a:t>
            </a:r>
            <a:r>
              <a:rPr lang="en-US" altLang="zh-TW" dirty="0">
                <a:solidFill>
                  <a:srgbClr val="0000FF"/>
                </a:solidFill>
              </a:rPr>
              <a:t>)</a:t>
            </a:r>
            <a:endParaRPr lang="en-US" altLang="zh-TW" dirty="0" smtClean="0">
              <a:solidFill>
                <a:srgbClr val="0000FF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2730474" y="500597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4750734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5442465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/>
          <p:cNvCxnSpPr>
            <a:stCxn id="8" idx="4"/>
            <a:endCxn id="7" idx="0"/>
          </p:cNvCxnSpPr>
          <p:nvPr/>
        </p:nvCxnSpPr>
        <p:spPr>
          <a:xfrm flipH="1">
            <a:off x="2874474" y="4773332"/>
            <a:ext cx="323107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橢圓 12"/>
          <p:cNvSpPr/>
          <p:nvPr/>
        </p:nvSpPr>
        <p:spPr>
          <a:xfrm>
            <a:off x="3568312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5090490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4338737" y="340990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接點 15"/>
          <p:cNvCxnSpPr>
            <a:stCxn id="14" idx="4"/>
            <a:endCxn id="11" idx="0"/>
          </p:cNvCxnSpPr>
          <p:nvPr/>
        </p:nvCxnSpPr>
        <p:spPr>
          <a:xfrm>
            <a:off x="5234490" y="4226992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14" idx="4"/>
            <a:endCxn id="10" idx="0"/>
          </p:cNvCxnSpPr>
          <p:nvPr/>
        </p:nvCxnSpPr>
        <p:spPr>
          <a:xfrm flipH="1">
            <a:off x="4894734" y="4226992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13" idx="4"/>
            <a:endCxn id="9" idx="0"/>
          </p:cNvCxnSpPr>
          <p:nvPr/>
        </p:nvCxnSpPr>
        <p:spPr>
          <a:xfrm>
            <a:off x="3712312" y="4226992"/>
            <a:ext cx="496162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13" idx="4"/>
            <a:endCxn id="8" idx="0"/>
          </p:cNvCxnSpPr>
          <p:nvPr/>
        </p:nvCxnSpPr>
        <p:spPr>
          <a:xfrm flipH="1">
            <a:off x="3197581" y="4226992"/>
            <a:ext cx="51473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5" idx="4"/>
            <a:endCxn id="14" idx="0"/>
          </p:cNvCxnSpPr>
          <p:nvPr/>
        </p:nvCxnSpPr>
        <p:spPr>
          <a:xfrm>
            <a:off x="4482737" y="3697905"/>
            <a:ext cx="751753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5" idx="4"/>
            <a:endCxn id="13" idx="0"/>
          </p:cNvCxnSpPr>
          <p:nvPr/>
        </p:nvCxnSpPr>
        <p:spPr>
          <a:xfrm flipH="1">
            <a:off x="3712312" y="3697905"/>
            <a:ext cx="770425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4285856" y="336061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3512500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5034843" y="388107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4686984" y="443319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5387116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2666724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橢圓 29"/>
          <p:cNvSpPr/>
          <p:nvPr/>
        </p:nvSpPr>
        <p:spPr>
          <a:xfrm>
            <a:off x="3390469" y="500737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3754412" y="500737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2" name="直線接點 31"/>
          <p:cNvCxnSpPr>
            <a:stCxn id="8" idx="4"/>
            <a:endCxn id="30" idx="0"/>
          </p:cNvCxnSpPr>
          <p:nvPr/>
        </p:nvCxnSpPr>
        <p:spPr>
          <a:xfrm>
            <a:off x="3197581" y="4773332"/>
            <a:ext cx="336888" cy="23404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9" idx="4"/>
            <a:endCxn id="31" idx="0"/>
          </p:cNvCxnSpPr>
          <p:nvPr/>
        </p:nvCxnSpPr>
        <p:spPr>
          <a:xfrm flipH="1">
            <a:off x="3898412" y="4779117"/>
            <a:ext cx="310062" cy="22825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/>
          <p:cNvSpPr txBox="1"/>
          <p:nvPr/>
        </p:nvSpPr>
        <p:spPr>
          <a:xfrm>
            <a:off x="3326719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66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3698261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圓角矩形 39"/>
          <p:cNvSpPr/>
          <p:nvPr/>
        </p:nvSpPr>
        <p:spPr>
          <a:xfrm>
            <a:off x="2968074" y="4444665"/>
            <a:ext cx="424124" cy="366491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1" name="弧形接點 40"/>
          <p:cNvCxnSpPr>
            <a:stCxn id="25" idx="2"/>
            <a:endCxn id="34" idx="1"/>
          </p:cNvCxnSpPr>
          <p:nvPr/>
        </p:nvCxnSpPr>
        <p:spPr>
          <a:xfrm rot="16200000" flipH="1">
            <a:off x="3094276" y="4908677"/>
            <a:ext cx="335749" cy="129138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弧形接點 41"/>
          <p:cNvCxnSpPr>
            <a:stCxn id="34" idx="0"/>
            <a:endCxn id="40" idx="3"/>
          </p:cNvCxnSpPr>
          <p:nvPr/>
        </p:nvCxnSpPr>
        <p:spPr>
          <a:xfrm rot="16200000" flipV="1">
            <a:off x="3299062" y="4721047"/>
            <a:ext cx="328544" cy="142271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0619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橢圓 13"/>
          <p:cNvSpPr/>
          <p:nvPr/>
        </p:nvSpPr>
        <p:spPr>
          <a:xfrm>
            <a:off x="5090490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文字方塊 23"/>
          <p:cNvSpPr txBox="1"/>
          <p:nvPr/>
        </p:nvSpPr>
        <p:spPr>
          <a:xfrm>
            <a:off x="5026217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將二元樹轉成</a:t>
            </a:r>
            <a:r>
              <a:rPr lang="en-US" altLang="zh-TW" dirty="0" smtClean="0"/>
              <a:t>max heap</a:t>
            </a:r>
          </a:p>
          <a:p>
            <a:pPr lvl="1"/>
            <a:r>
              <a:rPr lang="zh-TW" altLang="en-US" dirty="0" smtClean="0">
                <a:solidFill>
                  <a:srgbClr val="0000FF"/>
                </a:solidFill>
              </a:rPr>
              <a:t>方法一：往下調整法</a:t>
            </a:r>
            <a:r>
              <a:rPr lang="en-US" altLang="zh-TW" dirty="0">
                <a:solidFill>
                  <a:srgbClr val="0000FF"/>
                </a:solidFill>
              </a:rPr>
              <a:t>(</a:t>
            </a:r>
            <a:r>
              <a:rPr lang="zh-TW" altLang="en-US" dirty="0">
                <a:solidFill>
                  <a:srgbClr val="0000FF"/>
                </a:solidFill>
              </a:rPr>
              <a:t>由下而上</a:t>
            </a:r>
            <a:r>
              <a:rPr lang="en-US" altLang="zh-TW" dirty="0">
                <a:solidFill>
                  <a:srgbClr val="0000FF"/>
                </a:solidFill>
              </a:rPr>
              <a:t>)</a:t>
            </a:r>
            <a:endParaRPr lang="en-US" altLang="zh-TW" dirty="0" smtClean="0">
              <a:solidFill>
                <a:srgbClr val="0000FF"/>
              </a:solidFill>
            </a:endParaRPr>
          </a:p>
        </p:txBody>
      </p:sp>
      <p:sp>
        <p:nvSpPr>
          <p:cNvPr id="9" name="橢圓 8"/>
          <p:cNvSpPr/>
          <p:nvPr/>
        </p:nvSpPr>
        <p:spPr>
          <a:xfrm>
            <a:off x="4064474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/>
          <p:cNvSpPr txBox="1"/>
          <p:nvPr/>
        </p:nvSpPr>
        <p:spPr>
          <a:xfrm>
            <a:off x="4002954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橢圓 7"/>
          <p:cNvSpPr/>
          <p:nvPr/>
        </p:nvSpPr>
        <p:spPr>
          <a:xfrm>
            <a:off x="3053581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/>
          <p:cNvSpPr txBox="1"/>
          <p:nvPr/>
        </p:nvSpPr>
        <p:spPr>
          <a:xfrm>
            <a:off x="2989831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66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3600" dirty="0"/>
              <a:t>二元樹轉成堆積</a:t>
            </a:r>
            <a:r>
              <a:rPr lang="en-US" altLang="zh-TW" sz="3600" dirty="0" smtClean="0"/>
              <a:t>-</a:t>
            </a:r>
            <a:br>
              <a:rPr lang="en-US" altLang="zh-TW" sz="3600" dirty="0" smtClean="0"/>
            </a:br>
            <a:r>
              <a:rPr lang="zh-TW" altLang="en-US" sz="3600" dirty="0"/>
              <a:t>由下而上</a:t>
            </a:r>
            <a:r>
              <a:rPr lang="zh-TW" altLang="en-US" sz="3600" dirty="0" smtClean="0"/>
              <a:t>往</a:t>
            </a:r>
            <a:r>
              <a:rPr lang="zh-TW" altLang="en-US" sz="3600" dirty="0"/>
              <a:t>下調整法 </a:t>
            </a:r>
            <a:r>
              <a:rPr lang="en-US" altLang="zh-TW" sz="3600" dirty="0" smtClean="0"/>
              <a:t>(4/9)</a:t>
            </a:r>
            <a:endParaRPr lang="zh-TW" altLang="en-US" sz="3600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2730474" y="500597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4750734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5442465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/>
          <p:cNvCxnSpPr>
            <a:stCxn id="8" idx="4"/>
            <a:endCxn id="7" idx="0"/>
          </p:cNvCxnSpPr>
          <p:nvPr/>
        </p:nvCxnSpPr>
        <p:spPr>
          <a:xfrm flipH="1">
            <a:off x="2874474" y="4773332"/>
            <a:ext cx="323107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橢圓 12"/>
          <p:cNvSpPr/>
          <p:nvPr/>
        </p:nvSpPr>
        <p:spPr>
          <a:xfrm>
            <a:off x="3568312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4338737" y="340990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接點 15"/>
          <p:cNvCxnSpPr>
            <a:stCxn id="14" idx="4"/>
            <a:endCxn id="11" idx="0"/>
          </p:cNvCxnSpPr>
          <p:nvPr/>
        </p:nvCxnSpPr>
        <p:spPr>
          <a:xfrm>
            <a:off x="5234490" y="4226992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14" idx="4"/>
            <a:endCxn id="10" idx="0"/>
          </p:cNvCxnSpPr>
          <p:nvPr/>
        </p:nvCxnSpPr>
        <p:spPr>
          <a:xfrm flipH="1">
            <a:off x="4894734" y="4226992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13" idx="4"/>
            <a:endCxn id="9" idx="0"/>
          </p:cNvCxnSpPr>
          <p:nvPr/>
        </p:nvCxnSpPr>
        <p:spPr>
          <a:xfrm>
            <a:off x="3712312" y="4226992"/>
            <a:ext cx="496162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13" idx="4"/>
            <a:endCxn id="8" idx="0"/>
          </p:cNvCxnSpPr>
          <p:nvPr/>
        </p:nvCxnSpPr>
        <p:spPr>
          <a:xfrm flipH="1">
            <a:off x="3197581" y="4226992"/>
            <a:ext cx="51473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5" idx="4"/>
            <a:endCxn id="14" idx="0"/>
          </p:cNvCxnSpPr>
          <p:nvPr/>
        </p:nvCxnSpPr>
        <p:spPr>
          <a:xfrm>
            <a:off x="4482737" y="3697905"/>
            <a:ext cx="751753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5" idx="4"/>
            <a:endCxn id="13" idx="0"/>
          </p:cNvCxnSpPr>
          <p:nvPr/>
        </p:nvCxnSpPr>
        <p:spPr>
          <a:xfrm flipH="1">
            <a:off x="3712312" y="3697905"/>
            <a:ext cx="770425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4285856" y="336061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3512500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4686984" y="443319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5387116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2666724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橢圓 29"/>
          <p:cNvSpPr/>
          <p:nvPr/>
        </p:nvSpPr>
        <p:spPr>
          <a:xfrm>
            <a:off x="3390469" y="500737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3754412" y="500737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2" name="直線接點 31"/>
          <p:cNvCxnSpPr>
            <a:stCxn id="8" idx="4"/>
            <a:endCxn id="30" idx="0"/>
          </p:cNvCxnSpPr>
          <p:nvPr/>
        </p:nvCxnSpPr>
        <p:spPr>
          <a:xfrm>
            <a:off x="3197581" y="4773332"/>
            <a:ext cx="336888" cy="23404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9" idx="4"/>
            <a:endCxn id="31" idx="0"/>
          </p:cNvCxnSpPr>
          <p:nvPr/>
        </p:nvCxnSpPr>
        <p:spPr>
          <a:xfrm flipH="1">
            <a:off x="3898412" y="4779117"/>
            <a:ext cx="310062" cy="22825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/>
          <p:cNvSpPr txBox="1"/>
          <p:nvPr/>
        </p:nvSpPr>
        <p:spPr>
          <a:xfrm>
            <a:off x="3326719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3698261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圓角矩形 39"/>
          <p:cNvSpPr/>
          <p:nvPr/>
        </p:nvSpPr>
        <p:spPr>
          <a:xfrm>
            <a:off x="5021904" y="3892138"/>
            <a:ext cx="424124" cy="366491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1" name="弧形接點 40"/>
          <p:cNvCxnSpPr>
            <a:stCxn id="24" idx="1"/>
            <a:endCxn id="27" idx="0"/>
          </p:cNvCxnSpPr>
          <p:nvPr/>
        </p:nvCxnSpPr>
        <p:spPr>
          <a:xfrm rot="10800000" flipV="1">
            <a:off x="4894735" y="4074365"/>
            <a:ext cx="131483" cy="358833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弧形接點 41"/>
          <p:cNvCxnSpPr>
            <a:stCxn id="27" idx="3"/>
            <a:endCxn id="24" idx="2"/>
          </p:cNvCxnSpPr>
          <p:nvPr/>
        </p:nvCxnSpPr>
        <p:spPr>
          <a:xfrm flipV="1">
            <a:off x="5102483" y="4259032"/>
            <a:ext cx="131484" cy="358833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60653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橢圓 13"/>
          <p:cNvSpPr/>
          <p:nvPr/>
        </p:nvSpPr>
        <p:spPr>
          <a:xfrm>
            <a:off x="5090490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文字方塊 23"/>
          <p:cNvSpPr txBox="1"/>
          <p:nvPr/>
        </p:nvSpPr>
        <p:spPr>
          <a:xfrm>
            <a:off x="5026217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u="sng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u="sng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將二元樹轉成</a:t>
            </a:r>
            <a:r>
              <a:rPr lang="en-US" altLang="zh-TW" dirty="0" smtClean="0"/>
              <a:t>max heap</a:t>
            </a:r>
          </a:p>
          <a:p>
            <a:pPr lvl="1"/>
            <a:r>
              <a:rPr lang="zh-TW" altLang="en-US" dirty="0" smtClean="0">
                <a:solidFill>
                  <a:srgbClr val="0000FF"/>
                </a:solidFill>
              </a:rPr>
              <a:t>方法一：往下調整法</a:t>
            </a:r>
            <a:r>
              <a:rPr lang="en-US" altLang="zh-TW" dirty="0">
                <a:solidFill>
                  <a:srgbClr val="0000FF"/>
                </a:solidFill>
              </a:rPr>
              <a:t>(</a:t>
            </a:r>
            <a:r>
              <a:rPr lang="zh-TW" altLang="en-US" dirty="0">
                <a:solidFill>
                  <a:srgbClr val="0000FF"/>
                </a:solidFill>
              </a:rPr>
              <a:t>由下而上</a:t>
            </a:r>
            <a:r>
              <a:rPr lang="en-US" altLang="zh-TW" dirty="0">
                <a:solidFill>
                  <a:srgbClr val="0000FF"/>
                </a:solidFill>
              </a:rPr>
              <a:t>)</a:t>
            </a:r>
            <a:endParaRPr lang="en-US" altLang="zh-TW" dirty="0" smtClean="0">
              <a:solidFill>
                <a:srgbClr val="0000FF"/>
              </a:solidFill>
            </a:endParaRPr>
          </a:p>
        </p:txBody>
      </p:sp>
      <p:sp>
        <p:nvSpPr>
          <p:cNvPr id="9" name="橢圓 8"/>
          <p:cNvSpPr/>
          <p:nvPr/>
        </p:nvSpPr>
        <p:spPr>
          <a:xfrm>
            <a:off x="4064474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/>
          <p:cNvSpPr txBox="1"/>
          <p:nvPr/>
        </p:nvSpPr>
        <p:spPr>
          <a:xfrm>
            <a:off x="4002954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橢圓 7"/>
          <p:cNvSpPr/>
          <p:nvPr/>
        </p:nvSpPr>
        <p:spPr>
          <a:xfrm>
            <a:off x="3053581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/>
          <p:cNvSpPr txBox="1"/>
          <p:nvPr/>
        </p:nvSpPr>
        <p:spPr>
          <a:xfrm>
            <a:off x="2989831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66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3600" dirty="0"/>
              <a:t>二元樹轉成堆積</a:t>
            </a:r>
            <a:r>
              <a:rPr lang="en-US" altLang="zh-TW" sz="3600" dirty="0" smtClean="0"/>
              <a:t>-</a:t>
            </a:r>
            <a:br>
              <a:rPr lang="en-US" altLang="zh-TW" sz="3600" dirty="0" smtClean="0"/>
            </a:br>
            <a:r>
              <a:rPr lang="zh-TW" altLang="en-US" sz="3600" dirty="0"/>
              <a:t>由下而上</a:t>
            </a:r>
            <a:r>
              <a:rPr lang="zh-TW" altLang="en-US" sz="3600" dirty="0" smtClean="0"/>
              <a:t>往</a:t>
            </a:r>
            <a:r>
              <a:rPr lang="zh-TW" altLang="en-US" sz="3600" dirty="0"/>
              <a:t>下調整法 </a:t>
            </a:r>
            <a:r>
              <a:rPr lang="en-US" altLang="zh-TW" sz="3600" dirty="0" smtClean="0"/>
              <a:t>(5/9)</a:t>
            </a:r>
            <a:endParaRPr lang="zh-TW" altLang="en-US" sz="3600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2730474" y="500597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4750734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5442465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/>
          <p:cNvCxnSpPr>
            <a:stCxn id="8" idx="4"/>
            <a:endCxn id="7" idx="0"/>
          </p:cNvCxnSpPr>
          <p:nvPr/>
        </p:nvCxnSpPr>
        <p:spPr>
          <a:xfrm flipH="1">
            <a:off x="2874474" y="4773332"/>
            <a:ext cx="323107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橢圓 12"/>
          <p:cNvSpPr/>
          <p:nvPr/>
        </p:nvSpPr>
        <p:spPr>
          <a:xfrm>
            <a:off x="3568312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4338737" y="340990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接點 15"/>
          <p:cNvCxnSpPr>
            <a:stCxn id="14" idx="4"/>
            <a:endCxn id="11" idx="0"/>
          </p:cNvCxnSpPr>
          <p:nvPr/>
        </p:nvCxnSpPr>
        <p:spPr>
          <a:xfrm>
            <a:off x="5234490" y="4226992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14" idx="4"/>
            <a:endCxn id="10" idx="0"/>
          </p:cNvCxnSpPr>
          <p:nvPr/>
        </p:nvCxnSpPr>
        <p:spPr>
          <a:xfrm flipH="1">
            <a:off x="4894734" y="4226992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13" idx="4"/>
            <a:endCxn id="9" idx="0"/>
          </p:cNvCxnSpPr>
          <p:nvPr/>
        </p:nvCxnSpPr>
        <p:spPr>
          <a:xfrm>
            <a:off x="3712312" y="4226992"/>
            <a:ext cx="496162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13" idx="4"/>
            <a:endCxn id="8" idx="0"/>
          </p:cNvCxnSpPr>
          <p:nvPr/>
        </p:nvCxnSpPr>
        <p:spPr>
          <a:xfrm flipH="1">
            <a:off x="3197581" y="4226992"/>
            <a:ext cx="51473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5" idx="4"/>
            <a:endCxn id="14" idx="0"/>
          </p:cNvCxnSpPr>
          <p:nvPr/>
        </p:nvCxnSpPr>
        <p:spPr>
          <a:xfrm>
            <a:off x="4482737" y="3697905"/>
            <a:ext cx="751753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5" idx="4"/>
            <a:endCxn id="13" idx="0"/>
          </p:cNvCxnSpPr>
          <p:nvPr/>
        </p:nvCxnSpPr>
        <p:spPr>
          <a:xfrm flipH="1">
            <a:off x="3712312" y="3697905"/>
            <a:ext cx="770425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4285856" y="336061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3512500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4686984" y="443319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5387116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2666724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橢圓 29"/>
          <p:cNvSpPr/>
          <p:nvPr/>
        </p:nvSpPr>
        <p:spPr>
          <a:xfrm>
            <a:off x="3390469" y="500737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3754412" y="500737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2" name="直線接點 31"/>
          <p:cNvCxnSpPr>
            <a:stCxn id="8" idx="4"/>
            <a:endCxn id="30" idx="0"/>
          </p:cNvCxnSpPr>
          <p:nvPr/>
        </p:nvCxnSpPr>
        <p:spPr>
          <a:xfrm>
            <a:off x="3197581" y="4773332"/>
            <a:ext cx="336888" cy="23404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9" idx="4"/>
            <a:endCxn id="31" idx="0"/>
          </p:cNvCxnSpPr>
          <p:nvPr/>
        </p:nvCxnSpPr>
        <p:spPr>
          <a:xfrm flipH="1">
            <a:off x="3898412" y="4779117"/>
            <a:ext cx="310062" cy="22825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/>
          <p:cNvSpPr txBox="1"/>
          <p:nvPr/>
        </p:nvSpPr>
        <p:spPr>
          <a:xfrm>
            <a:off x="3326719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3698261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圓角矩形 39"/>
          <p:cNvSpPr/>
          <p:nvPr/>
        </p:nvSpPr>
        <p:spPr>
          <a:xfrm>
            <a:off x="3495102" y="3892138"/>
            <a:ext cx="424124" cy="366491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1" name="弧形接點 40"/>
          <p:cNvCxnSpPr>
            <a:stCxn id="40" idx="2"/>
            <a:endCxn id="26" idx="1"/>
          </p:cNvCxnSpPr>
          <p:nvPr/>
        </p:nvCxnSpPr>
        <p:spPr>
          <a:xfrm rot="16200000" flipH="1">
            <a:off x="3674021" y="4291772"/>
            <a:ext cx="362077" cy="295790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弧形接點 41"/>
          <p:cNvCxnSpPr>
            <a:stCxn id="26" idx="0"/>
            <a:endCxn id="23" idx="3"/>
          </p:cNvCxnSpPr>
          <p:nvPr/>
        </p:nvCxnSpPr>
        <p:spPr>
          <a:xfrm rot="16200000" flipV="1">
            <a:off x="3888515" y="4113850"/>
            <a:ext cx="361674" cy="282705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0840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橢圓 13"/>
          <p:cNvSpPr/>
          <p:nvPr/>
        </p:nvSpPr>
        <p:spPr>
          <a:xfrm>
            <a:off x="5090490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文字方塊 23"/>
          <p:cNvSpPr txBox="1"/>
          <p:nvPr/>
        </p:nvSpPr>
        <p:spPr>
          <a:xfrm>
            <a:off x="5026217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將二元樹轉成</a:t>
            </a:r>
            <a:r>
              <a:rPr lang="en-US" altLang="zh-TW" dirty="0" smtClean="0"/>
              <a:t>max heap</a:t>
            </a:r>
          </a:p>
          <a:p>
            <a:pPr lvl="1"/>
            <a:r>
              <a:rPr lang="zh-TW" altLang="en-US" dirty="0" smtClean="0">
                <a:solidFill>
                  <a:srgbClr val="0000FF"/>
                </a:solidFill>
              </a:rPr>
              <a:t>方法一：往下調整法</a:t>
            </a:r>
            <a:r>
              <a:rPr lang="en-US" altLang="zh-TW" dirty="0">
                <a:solidFill>
                  <a:srgbClr val="0000FF"/>
                </a:solidFill>
              </a:rPr>
              <a:t>(</a:t>
            </a:r>
            <a:r>
              <a:rPr lang="zh-TW" altLang="en-US" dirty="0">
                <a:solidFill>
                  <a:srgbClr val="0000FF"/>
                </a:solidFill>
              </a:rPr>
              <a:t>由下而上</a:t>
            </a:r>
            <a:r>
              <a:rPr lang="en-US" altLang="zh-TW" dirty="0">
                <a:solidFill>
                  <a:srgbClr val="0000FF"/>
                </a:solidFill>
              </a:rPr>
              <a:t>)</a:t>
            </a:r>
            <a:endParaRPr lang="en-US" altLang="zh-TW" dirty="0" smtClean="0">
              <a:solidFill>
                <a:srgbClr val="0000FF"/>
              </a:solidFill>
            </a:endParaRPr>
          </a:p>
        </p:txBody>
      </p:sp>
      <p:sp>
        <p:nvSpPr>
          <p:cNvPr id="9" name="橢圓 8"/>
          <p:cNvSpPr/>
          <p:nvPr/>
        </p:nvSpPr>
        <p:spPr>
          <a:xfrm>
            <a:off x="4064474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/>
          <p:cNvSpPr txBox="1"/>
          <p:nvPr/>
        </p:nvSpPr>
        <p:spPr>
          <a:xfrm>
            <a:off x="4002954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橢圓 7"/>
          <p:cNvSpPr/>
          <p:nvPr/>
        </p:nvSpPr>
        <p:spPr>
          <a:xfrm>
            <a:off x="3053581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/>
          <p:cNvSpPr txBox="1"/>
          <p:nvPr/>
        </p:nvSpPr>
        <p:spPr>
          <a:xfrm>
            <a:off x="2989831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66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3600" dirty="0"/>
              <a:t>二元樹轉成堆積</a:t>
            </a:r>
            <a:r>
              <a:rPr lang="en-US" altLang="zh-TW" sz="3600" dirty="0" smtClean="0"/>
              <a:t>-</a:t>
            </a:r>
            <a:br>
              <a:rPr lang="en-US" altLang="zh-TW" sz="3600" dirty="0" smtClean="0"/>
            </a:br>
            <a:r>
              <a:rPr lang="zh-TW" altLang="en-US" sz="3600" dirty="0"/>
              <a:t>由下而上</a:t>
            </a:r>
            <a:r>
              <a:rPr lang="zh-TW" altLang="en-US" sz="3600" dirty="0" smtClean="0"/>
              <a:t>往</a:t>
            </a:r>
            <a:r>
              <a:rPr lang="zh-TW" altLang="en-US" sz="3600" dirty="0"/>
              <a:t>下調整法 </a:t>
            </a:r>
            <a:r>
              <a:rPr lang="en-US" altLang="zh-TW" sz="3600" dirty="0" smtClean="0"/>
              <a:t>(6/9)</a:t>
            </a:r>
            <a:endParaRPr lang="zh-TW" altLang="en-US" sz="3600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2730474" y="500597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4750734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5442465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/>
          <p:cNvCxnSpPr>
            <a:stCxn id="8" idx="4"/>
            <a:endCxn id="7" idx="0"/>
          </p:cNvCxnSpPr>
          <p:nvPr/>
        </p:nvCxnSpPr>
        <p:spPr>
          <a:xfrm flipH="1">
            <a:off x="2874474" y="4773332"/>
            <a:ext cx="323107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橢圓 12"/>
          <p:cNvSpPr/>
          <p:nvPr/>
        </p:nvSpPr>
        <p:spPr>
          <a:xfrm>
            <a:off x="3568312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4338737" y="340990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接點 15"/>
          <p:cNvCxnSpPr>
            <a:stCxn id="14" idx="4"/>
            <a:endCxn id="11" idx="0"/>
          </p:cNvCxnSpPr>
          <p:nvPr/>
        </p:nvCxnSpPr>
        <p:spPr>
          <a:xfrm>
            <a:off x="5234490" y="4226992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14" idx="4"/>
            <a:endCxn id="10" idx="0"/>
          </p:cNvCxnSpPr>
          <p:nvPr/>
        </p:nvCxnSpPr>
        <p:spPr>
          <a:xfrm flipH="1">
            <a:off x="4894734" y="4226992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13" idx="4"/>
            <a:endCxn id="9" idx="0"/>
          </p:cNvCxnSpPr>
          <p:nvPr/>
        </p:nvCxnSpPr>
        <p:spPr>
          <a:xfrm>
            <a:off x="3712312" y="4226992"/>
            <a:ext cx="496162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13" idx="4"/>
            <a:endCxn id="8" idx="0"/>
          </p:cNvCxnSpPr>
          <p:nvPr/>
        </p:nvCxnSpPr>
        <p:spPr>
          <a:xfrm flipH="1">
            <a:off x="3197581" y="4226992"/>
            <a:ext cx="51473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5" idx="4"/>
            <a:endCxn id="14" idx="0"/>
          </p:cNvCxnSpPr>
          <p:nvPr/>
        </p:nvCxnSpPr>
        <p:spPr>
          <a:xfrm>
            <a:off x="4482737" y="3697905"/>
            <a:ext cx="751753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5" idx="4"/>
            <a:endCxn id="13" idx="0"/>
          </p:cNvCxnSpPr>
          <p:nvPr/>
        </p:nvCxnSpPr>
        <p:spPr>
          <a:xfrm flipH="1">
            <a:off x="3712312" y="3697905"/>
            <a:ext cx="770425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4285856" y="336061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3512500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73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4686984" y="443319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5387116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2666724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橢圓 29"/>
          <p:cNvSpPr/>
          <p:nvPr/>
        </p:nvSpPr>
        <p:spPr>
          <a:xfrm>
            <a:off x="3390469" y="500737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3754412" y="500737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2" name="直線接點 31"/>
          <p:cNvCxnSpPr>
            <a:stCxn id="8" idx="4"/>
            <a:endCxn id="30" idx="0"/>
          </p:cNvCxnSpPr>
          <p:nvPr/>
        </p:nvCxnSpPr>
        <p:spPr>
          <a:xfrm>
            <a:off x="3197581" y="4773332"/>
            <a:ext cx="336888" cy="23404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9" idx="4"/>
            <a:endCxn id="31" idx="0"/>
          </p:cNvCxnSpPr>
          <p:nvPr/>
        </p:nvCxnSpPr>
        <p:spPr>
          <a:xfrm flipH="1">
            <a:off x="3898412" y="4779117"/>
            <a:ext cx="310062" cy="22825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/>
          <p:cNvSpPr txBox="1"/>
          <p:nvPr/>
        </p:nvSpPr>
        <p:spPr>
          <a:xfrm>
            <a:off x="3326719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3698261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圓角矩形 39"/>
          <p:cNvSpPr/>
          <p:nvPr/>
        </p:nvSpPr>
        <p:spPr>
          <a:xfrm>
            <a:off x="4262816" y="3365952"/>
            <a:ext cx="424124" cy="366491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1" name="弧形接點 40"/>
          <p:cNvCxnSpPr>
            <a:stCxn id="40" idx="1"/>
            <a:endCxn id="23" idx="0"/>
          </p:cNvCxnSpPr>
          <p:nvPr/>
        </p:nvCxnSpPr>
        <p:spPr>
          <a:xfrm rot="10800000" flipV="1">
            <a:off x="3720250" y="3549198"/>
            <a:ext cx="542566" cy="340502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弧形接點 41"/>
          <p:cNvCxnSpPr>
            <a:stCxn id="23" idx="3"/>
            <a:endCxn id="40" idx="2"/>
          </p:cNvCxnSpPr>
          <p:nvPr/>
        </p:nvCxnSpPr>
        <p:spPr>
          <a:xfrm flipV="1">
            <a:off x="3927999" y="3732443"/>
            <a:ext cx="546879" cy="341923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8341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橢圓 13"/>
          <p:cNvSpPr/>
          <p:nvPr/>
        </p:nvSpPr>
        <p:spPr>
          <a:xfrm>
            <a:off x="5090490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文字方塊 23"/>
          <p:cNvSpPr txBox="1"/>
          <p:nvPr/>
        </p:nvSpPr>
        <p:spPr>
          <a:xfrm>
            <a:off x="5026217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將二元樹轉成</a:t>
            </a:r>
            <a:r>
              <a:rPr lang="en-US" altLang="zh-TW" dirty="0" smtClean="0"/>
              <a:t>max heap</a:t>
            </a:r>
          </a:p>
          <a:p>
            <a:pPr lvl="1"/>
            <a:r>
              <a:rPr lang="zh-TW" altLang="en-US" dirty="0" smtClean="0">
                <a:solidFill>
                  <a:srgbClr val="0000FF"/>
                </a:solidFill>
              </a:rPr>
              <a:t>方法一：往下調整法</a:t>
            </a:r>
            <a:r>
              <a:rPr lang="en-US" altLang="zh-TW" dirty="0">
                <a:solidFill>
                  <a:srgbClr val="0000FF"/>
                </a:solidFill>
              </a:rPr>
              <a:t>(</a:t>
            </a:r>
            <a:r>
              <a:rPr lang="zh-TW" altLang="en-US" dirty="0">
                <a:solidFill>
                  <a:srgbClr val="0000FF"/>
                </a:solidFill>
              </a:rPr>
              <a:t>由下而上</a:t>
            </a:r>
            <a:r>
              <a:rPr lang="en-US" altLang="zh-TW" dirty="0">
                <a:solidFill>
                  <a:srgbClr val="0000FF"/>
                </a:solidFill>
              </a:rPr>
              <a:t>)</a:t>
            </a:r>
            <a:endParaRPr lang="en-US" altLang="zh-TW" dirty="0" smtClean="0">
              <a:solidFill>
                <a:srgbClr val="0000FF"/>
              </a:solidFill>
            </a:endParaRPr>
          </a:p>
        </p:txBody>
      </p:sp>
      <p:sp>
        <p:nvSpPr>
          <p:cNvPr id="9" name="橢圓 8"/>
          <p:cNvSpPr/>
          <p:nvPr/>
        </p:nvSpPr>
        <p:spPr>
          <a:xfrm>
            <a:off x="4064474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/>
          <p:cNvSpPr txBox="1"/>
          <p:nvPr/>
        </p:nvSpPr>
        <p:spPr>
          <a:xfrm>
            <a:off x="4002954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橢圓 7"/>
          <p:cNvSpPr/>
          <p:nvPr/>
        </p:nvSpPr>
        <p:spPr>
          <a:xfrm>
            <a:off x="3053581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/>
          <p:cNvSpPr txBox="1"/>
          <p:nvPr/>
        </p:nvSpPr>
        <p:spPr>
          <a:xfrm>
            <a:off x="2989831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66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3600" dirty="0"/>
              <a:t>二元樹轉成堆積</a:t>
            </a:r>
            <a:r>
              <a:rPr lang="en-US" altLang="zh-TW" sz="3600" dirty="0" smtClean="0"/>
              <a:t>-</a:t>
            </a:r>
            <a:br>
              <a:rPr lang="en-US" altLang="zh-TW" sz="3600" dirty="0" smtClean="0"/>
            </a:br>
            <a:r>
              <a:rPr lang="zh-TW" altLang="en-US" sz="3600" dirty="0"/>
              <a:t>由下而上</a:t>
            </a:r>
            <a:r>
              <a:rPr lang="zh-TW" altLang="en-US" sz="3600" dirty="0" smtClean="0"/>
              <a:t>往</a:t>
            </a:r>
            <a:r>
              <a:rPr lang="zh-TW" altLang="en-US" sz="3600" dirty="0"/>
              <a:t>下調整法 </a:t>
            </a:r>
            <a:r>
              <a:rPr lang="en-US" altLang="zh-TW" sz="3600" dirty="0" smtClean="0"/>
              <a:t>(7/9)</a:t>
            </a:r>
            <a:endParaRPr lang="zh-TW" altLang="en-US" sz="3600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2730474" y="500597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4750734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5442465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/>
          <p:cNvCxnSpPr>
            <a:stCxn id="8" idx="4"/>
            <a:endCxn id="7" idx="0"/>
          </p:cNvCxnSpPr>
          <p:nvPr/>
        </p:nvCxnSpPr>
        <p:spPr>
          <a:xfrm flipH="1">
            <a:off x="2874474" y="4773332"/>
            <a:ext cx="323107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橢圓 12"/>
          <p:cNvSpPr/>
          <p:nvPr/>
        </p:nvSpPr>
        <p:spPr>
          <a:xfrm>
            <a:off x="3568312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4338737" y="340990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接點 15"/>
          <p:cNvCxnSpPr>
            <a:stCxn id="14" idx="4"/>
            <a:endCxn id="11" idx="0"/>
          </p:cNvCxnSpPr>
          <p:nvPr/>
        </p:nvCxnSpPr>
        <p:spPr>
          <a:xfrm>
            <a:off x="5234490" y="4226992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14" idx="4"/>
            <a:endCxn id="10" idx="0"/>
          </p:cNvCxnSpPr>
          <p:nvPr/>
        </p:nvCxnSpPr>
        <p:spPr>
          <a:xfrm flipH="1">
            <a:off x="4894734" y="4226992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13" idx="4"/>
            <a:endCxn id="9" idx="0"/>
          </p:cNvCxnSpPr>
          <p:nvPr/>
        </p:nvCxnSpPr>
        <p:spPr>
          <a:xfrm>
            <a:off x="3712312" y="4226992"/>
            <a:ext cx="496162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13" idx="4"/>
            <a:endCxn id="8" idx="0"/>
          </p:cNvCxnSpPr>
          <p:nvPr/>
        </p:nvCxnSpPr>
        <p:spPr>
          <a:xfrm flipH="1">
            <a:off x="3197581" y="4226992"/>
            <a:ext cx="51473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5" idx="4"/>
            <a:endCxn id="14" idx="0"/>
          </p:cNvCxnSpPr>
          <p:nvPr/>
        </p:nvCxnSpPr>
        <p:spPr>
          <a:xfrm>
            <a:off x="4482737" y="3697905"/>
            <a:ext cx="751753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5" idx="4"/>
            <a:endCxn id="13" idx="0"/>
          </p:cNvCxnSpPr>
          <p:nvPr/>
        </p:nvCxnSpPr>
        <p:spPr>
          <a:xfrm flipH="1">
            <a:off x="3712312" y="3697905"/>
            <a:ext cx="770425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4285856" y="336061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73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3512500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4686984" y="443319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5387116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2666724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橢圓 29"/>
          <p:cNvSpPr/>
          <p:nvPr/>
        </p:nvSpPr>
        <p:spPr>
          <a:xfrm>
            <a:off x="3390469" y="500737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3754412" y="500737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2" name="直線接點 31"/>
          <p:cNvCxnSpPr>
            <a:stCxn id="8" idx="4"/>
            <a:endCxn id="30" idx="0"/>
          </p:cNvCxnSpPr>
          <p:nvPr/>
        </p:nvCxnSpPr>
        <p:spPr>
          <a:xfrm>
            <a:off x="3197581" y="4773332"/>
            <a:ext cx="336888" cy="23404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9" idx="4"/>
            <a:endCxn id="31" idx="0"/>
          </p:cNvCxnSpPr>
          <p:nvPr/>
        </p:nvCxnSpPr>
        <p:spPr>
          <a:xfrm flipH="1">
            <a:off x="3898412" y="4779117"/>
            <a:ext cx="310062" cy="22825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/>
          <p:cNvSpPr txBox="1"/>
          <p:nvPr/>
        </p:nvSpPr>
        <p:spPr>
          <a:xfrm>
            <a:off x="3326719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3698261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圓角矩形 39"/>
          <p:cNvSpPr/>
          <p:nvPr/>
        </p:nvSpPr>
        <p:spPr>
          <a:xfrm>
            <a:off x="3503875" y="3903404"/>
            <a:ext cx="424124" cy="366491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1" name="弧形接點 40"/>
          <p:cNvCxnSpPr>
            <a:stCxn id="23" idx="2"/>
            <a:endCxn id="26" idx="1"/>
          </p:cNvCxnSpPr>
          <p:nvPr/>
        </p:nvCxnSpPr>
        <p:spPr>
          <a:xfrm rot="16200000" flipH="1">
            <a:off x="3680765" y="4298517"/>
            <a:ext cx="361674" cy="282704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弧形接點 41"/>
          <p:cNvCxnSpPr>
            <a:stCxn id="26" idx="0"/>
            <a:endCxn id="40" idx="3"/>
          </p:cNvCxnSpPr>
          <p:nvPr/>
        </p:nvCxnSpPr>
        <p:spPr>
          <a:xfrm rot="16200000" flipV="1">
            <a:off x="3894657" y="4119992"/>
            <a:ext cx="349390" cy="282705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813471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橢圓 13"/>
          <p:cNvSpPr/>
          <p:nvPr/>
        </p:nvSpPr>
        <p:spPr>
          <a:xfrm>
            <a:off x="5090490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文字方塊 23"/>
          <p:cNvSpPr txBox="1"/>
          <p:nvPr/>
        </p:nvSpPr>
        <p:spPr>
          <a:xfrm>
            <a:off x="5026217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將二元樹轉成</a:t>
            </a:r>
            <a:r>
              <a:rPr lang="en-US" altLang="zh-TW" dirty="0" smtClean="0"/>
              <a:t>max heap</a:t>
            </a:r>
          </a:p>
          <a:p>
            <a:pPr lvl="1"/>
            <a:r>
              <a:rPr lang="zh-TW" altLang="en-US" dirty="0" smtClean="0">
                <a:solidFill>
                  <a:srgbClr val="0000FF"/>
                </a:solidFill>
              </a:rPr>
              <a:t>方法一：往下調整法</a:t>
            </a:r>
            <a:r>
              <a:rPr lang="en-US" altLang="zh-TW" dirty="0">
                <a:solidFill>
                  <a:srgbClr val="0000FF"/>
                </a:solidFill>
              </a:rPr>
              <a:t>(</a:t>
            </a:r>
            <a:r>
              <a:rPr lang="zh-TW" altLang="en-US" dirty="0">
                <a:solidFill>
                  <a:srgbClr val="0000FF"/>
                </a:solidFill>
              </a:rPr>
              <a:t>由下而上</a:t>
            </a:r>
            <a:r>
              <a:rPr lang="en-US" altLang="zh-TW" dirty="0">
                <a:solidFill>
                  <a:srgbClr val="0000FF"/>
                </a:solidFill>
              </a:rPr>
              <a:t>)</a:t>
            </a:r>
            <a:endParaRPr lang="en-US" altLang="zh-TW" dirty="0" smtClean="0">
              <a:solidFill>
                <a:srgbClr val="0000FF"/>
              </a:solidFill>
            </a:endParaRPr>
          </a:p>
        </p:txBody>
      </p:sp>
      <p:sp>
        <p:nvSpPr>
          <p:cNvPr id="9" name="橢圓 8"/>
          <p:cNvSpPr/>
          <p:nvPr/>
        </p:nvSpPr>
        <p:spPr>
          <a:xfrm>
            <a:off x="4064474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/>
          <p:cNvSpPr txBox="1"/>
          <p:nvPr/>
        </p:nvSpPr>
        <p:spPr>
          <a:xfrm>
            <a:off x="4002954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橢圓 7"/>
          <p:cNvSpPr/>
          <p:nvPr/>
        </p:nvSpPr>
        <p:spPr>
          <a:xfrm>
            <a:off x="3053581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/>
          <p:cNvSpPr txBox="1"/>
          <p:nvPr/>
        </p:nvSpPr>
        <p:spPr>
          <a:xfrm>
            <a:off x="2989831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66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3600" dirty="0"/>
              <a:t>二元樹轉成堆積</a:t>
            </a:r>
            <a:r>
              <a:rPr lang="en-US" altLang="zh-TW" sz="3600" dirty="0" smtClean="0"/>
              <a:t>-</a:t>
            </a:r>
            <a:br>
              <a:rPr lang="en-US" altLang="zh-TW" sz="3600" dirty="0" smtClean="0"/>
            </a:br>
            <a:r>
              <a:rPr lang="zh-TW" altLang="en-US" sz="3600" dirty="0"/>
              <a:t>由下而上</a:t>
            </a:r>
            <a:r>
              <a:rPr lang="zh-TW" altLang="en-US" sz="3600" dirty="0" smtClean="0"/>
              <a:t>往</a:t>
            </a:r>
            <a:r>
              <a:rPr lang="zh-TW" altLang="en-US" sz="3600" dirty="0"/>
              <a:t>下調整法 </a:t>
            </a:r>
            <a:r>
              <a:rPr lang="en-US" altLang="zh-TW" sz="3600" dirty="0" smtClean="0"/>
              <a:t>(8/9)</a:t>
            </a:r>
            <a:endParaRPr lang="zh-TW" altLang="en-US" sz="3600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2730474" y="500597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4750734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5442465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/>
          <p:cNvCxnSpPr>
            <a:stCxn id="8" idx="4"/>
            <a:endCxn id="7" idx="0"/>
          </p:cNvCxnSpPr>
          <p:nvPr/>
        </p:nvCxnSpPr>
        <p:spPr>
          <a:xfrm flipH="1">
            <a:off x="2874474" y="4773332"/>
            <a:ext cx="323107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橢圓 12"/>
          <p:cNvSpPr/>
          <p:nvPr/>
        </p:nvSpPr>
        <p:spPr>
          <a:xfrm>
            <a:off x="3568312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4338737" y="340990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接點 15"/>
          <p:cNvCxnSpPr>
            <a:stCxn id="14" idx="4"/>
            <a:endCxn id="11" idx="0"/>
          </p:cNvCxnSpPr>
          <p:nvPr/>
        </p:nvCxnSpPr>
        <p:spPr>
          <a:xfrm>
            <a:off x="5234490" y="4226992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14" idx="4"/>
            <a:endCxn id="10" idx="0"/>
          </p:cNvCxnSpPr>
          <p:nvPr/>
        </p:nvCxnSpPr>
        <p:spPr>
          <a:xfrm flipH="1">
            <a:off x="4894734" y="4226992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13" idx="4"/>
            <a:endCxn id="9" idx="0"/>
          </p:cNvCxnSpPr>
          <p:nvPr/>
        </p:nvCxnSpPr>
        <p:spPr>
          <a:xfrm>
            <a:off x="3712312" y="4226992"/>
            <a:ext cx="496162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13" idx="4"/>
            <a:endCxn id="8" idx="0"/>
          </p:cNvCxnSpPr>
          <p:nvPr/>
        </p:nvCxnSpPr>
        <p:spPr>
          <a:xfrm flipH="1">
            <a:off x="3197581" y="4226992"/>
            <a:ext cx="51473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5" idx="4"/>
            <a:endCxn id="14" idx="0"/>
          </p:cNvCxnSpPr>
          <p:nvPr/>
        </p:nvCxnSpPr>
        <p:spPr>
          <a:xfrm>
            <a:off x="4482737" y="3697905"/>
            <a:ext cx="751753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5" idx="4"/>
            <a:endCxn id="13" idx="0"/>
          </p:cNvCxnSpPr>
          <p:nvPr/>
        </p:nvCxnSpPr>
        <p:spPr>
          <a:xfrm flipH="1">
            <a:off x="3712312" y="3697905"/>
            <a:ext cx="770425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4285856" y="336061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3512500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4686984" y="443319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5387116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2666724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橢圓 29"/>
          <p:cNvSpPr/>
          <p:nvPr/>
        </p:nvSpPr>
        <p:spPr>
          <a:xfrm>
            <a:off x="3390469" y="500737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3754412" y="500737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2" name="直線接點 31"/>
          <p:cNvCxnSpPr>
            <a:stCxn id="8" idx="4"/>
            <a:endCxn id="30" idx="0"/>
          </p:cNvCxnSpPr>
          <p:nvPr/>
        </p:nvCxnSpPr>
        <p:spPr>
          <a:xfrm>
            <a:off x="3197581" y="4773332"/>
            <a:ext cx="336888" cy="23404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9" idx="4"/>
            <a:endCxn id="31" idx="0"/>
          </p:cNvCxnSpPr>
          <p:nvPr/>
        </p:nvCxnSpPr>
        <p:spPr>
          <a:xfrm flipH="1">
            <a:off x="3898412" y="4779117"/>
            <a:ext cx="310062" cy="22825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/>
          <p:cNvSpPr txBox="1"/>
          <p:nvPr/>
        </p:nvSpPr>
        <p:spPr>
          <a:xfrm>
            <a:off x="3326719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3698261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圓角矩形 39"/>
          <p:cNvSpPr/>
          <p:nvPr/>
        </p:nvSpPr>
        <p:spPr>
          <a:xfrm>
            <a:off x="4002954" y="4451871"/>
            <a:ext cx="424124" cy="366491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1" name="弧形接點 40"/>
          <p:cNvCxnSpPr>
            <a:stCxn id="40" idx="1"/>
            <a:endCxn id="35" idx="0"/>
          </p:cNvCxnSpPr>
          <p:nvPr/>
        </p:nvCxnSpPr>
        <p:spPr>
          <a:xfrm rot="10800000" flipV="1">
            <a:off x="3906012" y="4635117"/>
            <a:ext cx="96943" cy="321338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弧形接點 41"/>
          <p:cNvCxnSpPr>
            <a:stCxn id="35" idx="3"/>
            <a:endCxn id="26" idx="2"/>
          </p:cNvCxnSpPr>
          <p:nvPr/>
        </p:nvCxnSpPr>
        <p:spPr>
          <a:xfrm flipV="1">
            <a:off x="4113760" y="4805372"/>
            <a:ext cx="96944" cy="335749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22498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橢圓 13"/>
          <p:cNvSpPr/>
          <p:nvPr/>
        </p:nvSpPr>
        <p:spPr>
          <a:xfrm>
            <a:off x="5090490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文字方塊 23"/>
          <p:cNvSpPr txBox="1"/>
          <p:nvPr/>
        </p:nvSpPr>
        <p:spPr>
          <a:xfrm>
            <a:off x="5026217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將二元樹轉成</a:t>
            </a:r>
            <a:r>
              <a:rPr lang="en-US" altLang="zh-TW" dirty="0" smtClean="0"/>
              <a:t>max heap</a:t>
            </a:r>
          </a:p>
          <a:p>
            <a:pPr lvl="1"/>
            <a:r>
              <a:rPr lang="zh-TW" altLang="en-US" dirty="0" smtClean="0">
                <a:solidFill>
                  <a:srgbClr val="0000FF"/>
                </a:solidFill>
              </a:rPr>
              <a:t>方法一：往下調整法</a:t>
            </a:r>
            <a:r>
              <a:rPr lang="en-US" altLang="zh-TW" dirty="0">
                <a:solidFill>
                  <a:srgbClr val="0000FF"/>
                </a:solidFill>
              </a:rPr>
              <a:t>(</a:t>
            </a:r>
            <a:r>
              <a:rPr lang="zh-TW" altLang="en-US" dirty="0">
                <a:solidFill>
                  <a:srgbClr val="0000FF"/>
                </a:solidFill>
              </a:rPr>
              <a:t>由下而上</a:t>
            </a:r>
            <a:r>
              <a:rPr lang="en-US" altLang="zh-TW" dirty="0">
                <a:solidFill>
                  <a:srgbClr val="0000FF"/>
                </a:solidFill>
              </a:rPr>
              <a:t>)</a:t>
            </a:r>
            <a:endParaRPr lang="en-US" altLang="zh-TW" dirty="0" smtClean="0">
              <a:solidFill>
                <a:srgbClr val="0000FF"/>
              </a:solidFill>
            </a:endParaRPr>
          </a:p>
        </p:txBody>
      </p:sp>
      <p:sp>
        <p:nvSpPr>
          <p:cNvPr id="9" name="橢圓 8"/>
          <p:cNvSpPr/>
          <p:nvPr/>
        </p:nvSpPr>
        <p:spPr>
          <a:xfrm>
            <a:off x="4064474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/>
          <p:cNvSpPr txBox="1"/>
          <p:nvPr/>
        </p:nvSpPr>
        <p:spPr>
          <a:xfrm>
            <a:off x="4002954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橢圓 7"/>
          <p:cNvSpPr/>
          <p:nvPr/>
        </p:nvSpPr>
        <p:spPr>
          <a:xfrm>
            <a:off x="3053581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文字方塊 24"/>
          <p:cNvSpPr txBox="1"/>
          <p:nvPr/>
        </p:nvSpPr>
        <p:spPr>
          <a:xfrm>
            <a:off x="2989831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66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3600" dirty="0"/>
              <a:t>二元樹轉成堆積</a:t>
            </a:r>
            <a:r>
              <a:rPr lang="en-US" altLang="zh-TW" sz="3600" dirty="0" smtClean="0"/>
              <a:t>-</a:t>
            </a:r>
            <a:br>
              <a:rPr lang="en-US" altLang="zh-TW" sz="3600" dirty="0" smtClean="0"/>
            </a:br>
            <a:r>
              <a:rPr lang="zh-TW" altLang="en-US" sz="3600" dirty="0"/>
              <a:t>由下而上</a:t>
            </a:r>
            <a:r>
              <a:rPr lang="zh-TW" altLang="en-US" sz="3600" dirty="0" smtClean="0"/>
              <a:t>往</a:t>
            </a:r>
            <a:r>
              <a:rPr lang="zh-TW" altLang="en-US" sz="3600" dirty="0"/>
              <a:t>下調整法 </a:t>
            </a:r>
            <a:r>
              <a:rPr lang="en-US" altLang="zh-TW" sz="3600" dirty="0" smtClean="0"/>
              <a:t>(9/9)</a:t>
            </a:r>
            <a:endParaRPr lang="zh-TW" altLang="en-US" sz="3600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7" name="橢圓 6"/>
          <p:cNvSpPr/>
          <p:nvPr/>
        </p:nvSpPr>
        <p:spPr>
          <a:xfrm>
            <a:off x="2730474" y="500597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橢圓 9"/>
          <p:cNvSpPr/>
          <p:nvPr/>
        </p:nvSpPr>
        <p:spPr>
          <a:xfrm>
            <a:off x="4750734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橢圓 10"/>
          <p:cNvSpPr/>
          <p:nvPr/>
        </p:nvSpPr>
        <p:spPr>
          <a:xfrm>
            <a:off x="5442465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2" name="直線接點 11"/>
          <p:cNvCxnSpPr>
            <a:stCxn id="8" idx="4"/>
            <a:endCxn id="7" idx="0"/>
          </p:cNvCxnSpPr>
          <p:nvPr/>
        </p:nvCxnSpPr>
        <p:spPr>
          <a:xfrm flipH="1">
            <a:off x="2874474" y="4773332"/>
            <a:ext cx="323107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橢圓 12"/>
          <p:cNvSpPr/>
          <p:nvPr/>
        </p:nvSpPr>
        <p:spPr>
          <a:xfrm>
            <a:off x="3568312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4338737" y="340990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接點 15"/>
          <p:cNvCxnSpPr>
            <a:stCxn id="14" idx="4"/>
            <a:endCxn id="11" idx="0"/>
          </p:cNvCxnSpPr>
          <p:nvPr/>
        </p:nvCxnSpPr>
        <p:spPr>
          <a:xfrm>
            <a:off x="5234490" y="4226992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線接點 16"/>
          <p:cNvCxnSpPr>
            <a:stCxn id="14" idx="4"/>
            <a:endCxn id="10" idx="0"/>
          </p:cNvCxnSpPr>
          <p:nvPr/>
        </p:nvCxnSpPr>
        <p:spPr>
          <a:xfrm flipH="1">
            <a:off x="4894734" y="4226992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線接點 17"/>
          <p:cNvCxnSpPr>
            <a:stCxn id="13" idx="4"/>
            <a:endCxn id="9" idx="0"/>
          </p:cNvCxnSpPr>
          <p:nvPr/>
        </p:nvCxnSpPr>
        <p:spPr>
          <a:xfrm>
            <a:off x="3712312" y="4226992"/>
            <a:ext cx="496162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接點 18"/>
          <p:cNvCxnSpPr>
            <a:stCxn id="13" idx="4"/>
            <a:endCxn id="8" idx="0"/>
          </p:cNvCxnSpPr>
          <p:nvPr/>
        </p:nvCxnSpPr>
        <p:spPr>
          <a:xfrm flipH="1">
            <a:off x="3197581" y="4226992"/>
            <a:ext cx="51473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5" idx="4"/>
            <a:endCxn id="14" idx="0"/>
          </p:cNvCxnSpPr>
          <p:nvPr/>
        </p:nvCxnSpPr>
        <p:spPr>
          <a:xfrm>
            <a:off x="4482737" y="3697905"/>
            <a:ext cx="751753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5" idx="4"/>
            <a:endCxn id="13" idx="0"/>
          </p:cNvCxnSpPr>
          <p:nvPr/>
        </p:nvCxnSpPr>
        <p:spPr>
          <a:xfrm flipH="1">
            <a:off x="3712312" y="3697905"/>
            <a:ext cx="770425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字方塊 21"/>
          <p:cNvSpPr txBox="1"/>
          <p:nvPr/>
        </p:nvSpPr>
        <p:spPr>
          <a:xfrm>
            <a:off x="4285856" y="336061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文字方塊 22"/>
          <p:cNvSpPr txBox="1"/>
          <p:nvPr/>
        </p:nvSpPr>
        <p:spPr>
          <a:xfrm>
            <a:off x="3512500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4686984" y="443319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5387116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2666724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橢圓 29"/>
          <p:cNvSpPr/>
          <p:nvPr/>
        </p:nvSpPr>
        <p:spPr>
          <a:xfrm>
            <a:off x="3390469" y="500737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3754412" y="500737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2" name="直線接點 31"/>
          <p:cNvCxnSpPr>
            <a:stCxn id="8" idx="4"/>
            <a:endCxn id="30" idx="0"/>
          </p:cNvCxnSpPr>
          <p:nvPr/>
        </p:nvCxnSpPr>
        <p:spPr>
          <a:xfrm>
            <a:off x="3197581" y="4773332"/>
            <a:ext cx="336888" cy="23404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9" idx="4"/>
            <a:endCxn id="31" idx="0"/>
          </p:cNvCxnSpPr>
          <p:nvPr/>
        </p:nvCxnSpPr>
        <p:spPr>
          <a:xfrm flipH="1">
            <a:off x="3898412" y="4779117"/>
            <a:ext cx="310062" cy="22825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/>
          <p:cNvSpPr txBox="1"/>
          <p:nvPr/>
        </p:nvSpPr>
        <p:spPr>
          <a:xfrm>
            <a:off x="3326719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3698261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82315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二元樹轉成堆積</a:t>
            </a:r>
            <a:r>
              <a:rPr lang="en-US" altLang="zh-TW" dirty="0" smtClean="0"/>
              <a:t>-</a:t>
            </a:r>
            <a:r>
              <a:rPr lang="zh-TW" altLang="en-US" dirty="0" smtClean="0"/>
              <a:t>逐一插入法 </a:t>
            </a:r>
            <a:r>
              <a:rPr lang="en-US" altLang="zh-TW" dirty="0" smtClean="0"/>
              <a:t>(1/14)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將二元樹轉成</a:t>
            </a:r>
            <a:r>
              <a:rPr lang="en-US" altLang="zh-TW" dirty="0" smtClean="0"/>
              <a:t>max heap</a:t>
            </a:r>
          </a:p>
          <a:p>
            <a:pPr lvl="1"/>
            <a:r>
              <a:rPr lang="zh-TW" altLang="en-US" dirty="0" smtClean="0">
                <a:solidFill>
                  <a:srgbClr val="0000FF"/>
                </a:solidFill>
              </a:rPr>
              <a:t>方法二：逐一插入法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28</a:t>
            </a:fld>
            <a:endParaRPr lang="en-US" dirty="0"/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/>
          </p:nvPr>
        </p:nvGraphicFramePr>
        <p:xfrm>
          <a:off x="1634774" y="2423544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u="sn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38" name="群組 37"/>
          <p:cNvGrpSpPr/>
          <p:nvPr/>
        </p:nvGrpSpPr>
        <p:grpSpPr>
          <a:xfrm>
            <a:off x="4285856" y="3360613"/>
            <a:ext cx="415499" cy="369332"/>
            <a:chOff x="4285856" y="3360613"/>
            <a:chExt cx="415499" cy="369332"/>
          </a:xfrm>
        </p:grpSpPr>
        <p:sp>
          <p:nvSpPr>
            <p:cNvPr id="20" name="橢圓 19"/>
            <p:cNvSpPr/>
            <p:nvPr/>
          </p:nvSpPr>
          <p:spPr>
            <a:xfrm>
              <a:off x="4338737" y="3409905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文字方塊 26"/>
            <p:cNvSpPr txBox="1"/>
            <p:nvPr/>
          </p:nvSpPr>
          <p:spPr>
            <a:xfrm>
              <a:off x="4285856" y="3360613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38</a:t>
              </a:r>
              <a:endParaRPr lang="zh-TW" altLang="en-US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43801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二元樹轉成堆積</a:t>
            </a:r>
            <a:r>
              <a:rPr lang="en-US" altLang="zh-TW" dirty="0"/>
              <a:t>-</a:t>
            </a:r>
            <a:r>
              <a:rPr lang="zh-TW" altLang="en-US" dirty="0"/>
              <a:t>逐一插入法 </a:t>
            </a:r>
            <a:r>
              <a:rPr lang="en-US" altLang="zh-TW" dirty="0" smtClean="0"/>
              <a:t>(2/14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將二元樹轉成</a:t>
            </a:r>
            <a:r>
              <a:rPr lang="en-US" altLang="zh-TW" dirty="0" smtClean="0"/>
              <a:t>max heap</a:t>
            </a:r>
          </a:p>
          <a:p>
            <a:pPr lvl="1"/>
            <a:r>
              <a:rPr lang="zh-TW" altLang="en-US" dirty="0" smtClean="0">
                <a:solidFill>
                  <a:srgbClr val="0000FF"/>
                </a:solidFill>
              </a:rPr>
              <a:t>方法二：逐一插入法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29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1634774" y="2423544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u="sn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9" name="橢圓 18"/>
          <p:cNvSpPr/>
          <p:nvPr/>
        </p:nvSpPr>
        <p:spPr>
          <a:xfrm>
            <a:off x="4338737" y="340990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5" name="直線接點 24"/>
          <p:cNvCxnSpPr>
            <a:stCxn id="19" idx="4"/>
            <a:endCxn id="18" idx="0"/>
          </p:cNvCxnSpPr>
          <p:nvPr/>
        </p:nvCxnSpPr>
        <p:spPr>
          <a:xfrm flipH="1">
            <a:off x="3712312" y="3697905"/>
            <a:ext cx="770425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/>
          <p:cNvSpPr txBox="1"/>
          <p:nvPr/>
        </p:nvSpPr>
        <p:spPr>
          <a:xfrm>
            <a:off x="4285856" y="336061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40" name="群組 39"/>
          <p:cNvGrpSpPr/>
          <p:nvPr/>
        </p:nvGrpSpPr>
        <p:grpSpPr>
          <a:xfrm>
            <a:off x="3512500" y="3889700"/>
            <a:ext cx="415499" cy="369332"/>
            <a:chOff x="3512500" y="3889700"/>
            <a:chExt cx="415499" cy="369332"/>
          </a:xfrm>
        </p:grpSpPr>
        <p:sp>
          <p:nvSpPr>
            <p:cNvPr id="18" name="橢圓 17"/>
            <p:cNvSpPr/>
            <p:nvPr/>
          </p:nvSpPr>
          <p:spPr>
            <a:xfrm>
              <a:off x="3568312" y="393899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7" name="文字方塊 26"/>
            <p:cNvSpPr txBox="1"/>
            <p:nvPr/>
          </p:nvSpPr>
          <p:spPr>
            <a:xfrm>
              <a:off x="3512500" y="3889700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72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38" name="弧形接點 37"/>
          <p:cNvCxnSpPr/>
          <p:nvPr/>
        </p:nvCxnSpPr>
        <p:spPr>
          <a:xfrm rot="10800000" flipV="1">
            <a:off x="3720250" y="3549198"/>
            <a:ext cx="542566" cy="340502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弧形接點 38"/>
          <p:cNvCxnSpPr/>
          <p:nvPr/>
        </p:nvCxnSpPr>
        <p:spPr>
          <a:xfrm flipV="1">
            <a:off x="3927999" y="3732443"/>
            <a:ext cx="546879" cy="341923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6368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二元樹轉成堆積</a:t>
            </a:r>
            <a:r>
              <a:rPr lang="en-US" altLang="zh-TW" dirty="0"/>
              <a:t>-</a:t>
            </a:r>
            <a:r>
              <a:rPr lang="zh-TW" altLang="en-US" dirty="0"/>
              <a:t>逐一插入法 </a:t>
            </a:r>
            <a:r>
              <a:rPr lang="en-US" altLang="zh-TW" dirty="0" smtClean="0"/>
              <a:t>(3/14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將二元樹轉成</a:t>
            </a:r>
            <a:r>
              <a:rPr lang="en-US" altLang="zh-TW" dirty="0" smtClean="0"/>
              <a:t>max heap</a:t>
            </a:r>
          </a:p>
          <a:p>
            <a:pPr lvl="1"/>
            <a:r>
              <a:rPr lang="zh-TW" altLang="en-US" dirty="0" smtClean="0">
                <a:solidFill>
                  <a:srgbClr val="0000FF"/>
                </a:solidFill>
              </a:rPr>
              <a:t>方法二：逐一插入法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30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1634774" y="2423544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u="sn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8" name="群組 7"/>
          <p:cNvGrpSpPr/>
          <p:nvPr/>
        </p:nvGrpSpPr>
        <p:grpSpPr>
          <a:xfrm>
            <a:off x="5026217" y="3889700"/>
            <a:ext cx="415499" cy="369332"/>
            <a:chOff x="5026217" y="3889700"/>
            <a:chExt cx="415499" cy="369332"/>
          </a:xfrm>
        </p:grpSpPr>
        <p:sp>
          <p:nvSpPr>
            <p:cNvPr id="16" name="橢圓 15"/>
            <p:cNvSpPr/>
            <p:nvPr/>
          </p:nvSpPr>
          <p:spPr>
            <a:xfrm>
              <a:off x="5090490" y="393899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7" name="文字方塊 16"/>
            <p:cNvSpPr txBox="1"/>
            <p:nvPr/>
          </p:nvSpPr>
          <p:spPr>
            <a:xfrm>
              <a:off x="5026217" y="3889700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67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0" name="橢圓 19"/>
          <p:cNvSpPr/>
          <p:nvPr/>
        </p:nvSpPr>
        <p:spPr>
          <a:xfrm>
            <a:off x="3568312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1" name="橢圓 20"/>
          <p:cNvSpPr/>
          <p:nvPr/>
        </p:nvSpPr>
        <p:spPr>
          <a:xfrm>
            <a:off x="4338737" y="340990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2" name="直線接點 21"/>
          <p:cNvCxnSpPr>
            <a:stCxn id="21" idx="4"/>
            <a:endCxn id="16" idx="0"/>
          </p:cNvCxnSpPr>
          <p:nvPr/>
        </p:nvCxnSpPr>
        <p:spPr>
          <a:xfrm>
            <a:off x="4482737" y="3697905"/>
            <a:ext cx="751753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21" idx="4"/>
            <a:endCxn id="20" idx="0"/>
          </p:cNvCxnSpPr>
          <p:nvPr/>
        </p:nvCxnSpPr>
        <p:spPr>
          <a:xfrm flipH="1">
            <a:off x="3712312" y="3697905"/>
            <a:ext cx="770425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文字方塊 23"/>
          <p:cNvSpPr txBox="1"/>
          <p:nvPr/>
        </p:nvSpPr>
        <p:spPr>
          <a:xfrm>
            <a:off x="4285857" y="3360613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3512500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02260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二元樹轉成堆積</a:t>
            </a:r>
            <a:r>
              <a:rPr lang="en-US" altLang="zh-TW" dirty="0"/>
              <a:t>-</a:t>
            </a:r>
            <a:r>
              <a:rPr lang="zh-TW" altLang="en-US" dirty="0"/>
              <a:t>逐一插入法 </a:t>
            </a:r>
            <a:r>
              <a:rPr lang="en-US" altLang="zh-TW" dirty="0" smtClean="0"/>
              <a:t>(4/14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將二元樹轉成</a:t>
            </a:r>
            <a:r>
              <a:rPr lang="en-US" altLang="zh-TW" dirty="0" smtClean="0"/>
              <a:t>max heap</a:t>
            </a:r>
          </a:p>
          <a:p>
            <a:pPr lvl="1"/>
            <a:r>
              <a:rPr lang="zh-TW" altLang="en-US" dirty="0" smtClean="0">
                <a:solidFill>
                  <a:srgbClr val="0000FF"/>
                </a:solidFill>
              </a:rPr>
              <a:t>方法二：逐一插入法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31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1634774" y="2423544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u="sn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橢圓 17"/>
          <p:cNvSpPr/>
          <p:nvPr/>
        </p:nvSpPr>
        <p:spPr>
          <a:xfrm>
            <a:off x="5090490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/>
          <p:cNvSpPr txBox="1"/>
          <p:nvPr/>
        </p:nvSpPr>
        <p:spPr>
          <a:xfrm>
            <a:off x="5026217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1" name="群組 10"/>
          <p:cNvGrpSpPr/>
          <p:nvPr/>
        </p:nvGrpSpPr>
        <p:grpSpPr>
          <a:xfrm>
            <a:off x="2989831" y="4436040"/>
            <a:ext cx="415499" cy="369332"/>
            <a:chOff x="2989831" y="4436040"/>
            <a:chExt cx="415499" cy="369332"/>
          </a:xfrm>
        </p:grpSpPr>
        <p:sp>
          <p:nvSpPr>
            <p:cNvPr id="27" name="橢圓 26"/>
            <p:cNvSpPr/>
            <p:nvPr/>
          </p:nvSpPr>
          <p:spPr>
            <a:xfrm>
              <a:off x="3053581" y="448533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9" name="文字方塊 28"/>
            <p:cNvSpPr txBox="1"/>
            <p:nvPr/>
          </p:nvSpPr>
          <p:spPr>
            <a:xfrm>
              <a:off x="2989831" y="4436040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41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34" name="橢圓 33"/>
          <p:cNvSpPr/>
          <p:nvPr/>
        </p:nvSpPr>
        <p:spPr>
          <a:xfrm>
            <a:off x="3568312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橢圓 34"/>
          <p:cNvSpPr/>
          <p:nvPr/>
        </p:nvSpPr>
        <p:spPr>
          <a:xfrm>
            <a:off x="4338737" y="340990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9" name="直線接點 38"/>
          <p:cNvCxnSpPr>
            <a:stCxn id="34" idx="4"/>
            <a:endCxn id="27" idx="0"/>
          </p:cNvCxnSpPr>
          <p:nvPr/>
        </p:nvCxnSpPr>
        <p:spPr>
          <a:xfrm flipH="1">
            <a:off x="3197581" y="4226992"/>
            <a:ext cx="51473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/>
          <p:cNvCxnSpPr>
            <a:stCxn id="35" idx="4"/>
            <a:endCxn id="18" idx="0"/>
          </p:cNvCxnSpPr>
          <p:nvPr/>
        </p:nvCxnSpPr>
        <p:spPr>
          <a:xfrm>
            <a:off x="4482737" y="3697905"/>
            <a:ext cx="751753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>
            <a:stCxn id="35" idx="4"/>
            <a:endCxn id="34" idx="0"/>
          </p:cNvCxnSpPr>
          <p:nvPr/>
        </p:nvCxnSpPr>
        <p:spPr>
          <a:xfrm flipH="1">
            <a:off x="3712312" y="3697905"/>
            <a:ext cx="770425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字方塊 41"/>
          <p:cNvSpPr txBox="1"/>
          <p:nvPr/>
        </p:nvSpPr>
        <p:spPr>
          <a:xfrm>
            <a:off x="4285856" y="336061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3512500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4" name="弧形接點 53"/>
          <p:cNvCxnSpPr>
            <a:endCxn id="29" idx="0"/>
          </p:cNvCxnSpPr>
          <p:nvPr/>
        </p:nvCxnSpPr>
        <p:spPr>
          <a:xfrm rot="10800000" flipV="1">
            <a:off x="3197581" y="4075786"/>
            <a:ext cx="297668" cy="360253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弧形接點 54"/>
          <p:cNvCxnSpPr>
            <a:stCxn id="29" idx="3"/>
          </p:cNvCxnSpPr>
          <p:nvPr/>
        </p:nvCxnSpPr>
        <p:spPr>
          <a:xfrm flipV="1">
            <a:off x="3405330" y="4259032"/>
            <a:ext cx="301981" cy="361674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38339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二元樹轉成堆積</a:t>
            </a:r>
            <a:r>
              <a:rPr lang="en-US" altLang="zh-TW" dirty="0"/>
              <a:t>-</a:t>
            </a:r>
            <a:r>
              <a:rPr lang="zh-TW" altLang="en-US" dirty="0"/>
              <a:t>逐一插入法 </a:t>
            </a:r>
            <a:r>
              <a:rPr lang="en-US" altLang="zh-TW" dirty="0" smtClean="0"/>
              <a:t>(5/14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將二元樹轉成</a:t>
            </a:r>
            <a:r>
              <a:rPr lang="en-US" altLang="zh-TW" dirty="0" smtClean="0"/>
              <a:t>max heap</a:t>
            </a:r>
          </a:p>
          <a:p>
            <a:pPr lvl="1"/>
            <a:r>
              <a:rPr lang="zh-TW" altLang="en-US" dirty="0" smtClean="0">
                <a:solidFill>
                  <a:srgbClr val="0000FF"/>
                </a:solidFill>
              </a:rPr>
              <a:t>方法二：逐一插入法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32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1634774" y="2423544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u="sn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橢圓 17"/>
          <p:cNvSpPr/>
          <p:nvPr/>
        </p:nvSpPr>
        <p:spPr>
          <a:xfrm>
            <a:off x="5090490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/>
          <p:cNvSpPr txBox="1"/>
          <p:nvPr/>
        </p:nvSpPr>
        <p:spPr>
          <a:xfrm>
            <a:off x="5026217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群組 7"/>
          <p:cNvGrpSpPr/>
          <p:nvPr/>
        </p:nvGrpSpPr>
        <p:grpSpPr>
          <a:xfrm>
            <a:off x="4002954" y="4436040"/>
            <a:ext cx="415499" cy="369332"/>
            <a:chOff x="4002954" y="4436040"/>
            <a:chExt cx="415499" cy="369332"/>
          </a:xfrm>
        </p:grpSpPr>
        <p:sp>
          <p:nvSpPr>
            <p:cNvPr id="25" name="橢圓 24"/>
            <p:cNvSpPr/>
            <p:nvPr/>
          </p:nvSpPr>
          <p:spPr>
            <a:xfrm>
              <a:off x="4064474" y="449111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26" name="文字方塊 25"/>
            <p:cNvSpPr txBox="1"/>
            <p:nvPr/>
          </p:nvSpPr>
          <p:spPr>
            <a:xfrm>
              <a:off x="4002954" y="4436040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39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7" name="橢圓 26"/>
          <p:cNvSpPr/>
          <p:nvPr/>
        </p:nvSpPr>
        <p:spPr>
          <a:xfrm>
            <a:off x="3053581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/>
          <p:cNvSpPr txBox="1"/>
          <p:nvPr/>
        </p:nvSpPr>
        <p:spPr>
          <a:xfrm>
            <a:off x="2989831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橢圓 33"/>
          <p:cNvSpPr/>
          <p:nvPr/>
        </p:nvSpPr>
        <p:spPr>
          <a:xfrm>
            <a:off x="3568312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橢圓 34"/>
          <p:cNvSpPr/>
          <p:nvPr/>
        </p:nvSpPr>
        <p:spPr>
          <a:xfrm>
            <a:off x="4338737" y="340990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8" name="直線接點 37"/>
          <p:cNvCxnSpPr>
            <a:stCxn id="34" idx="4"/>
            <a:endCxn id="25" idx="0"/>
          </p:cNvCxnSpPr>
          <p:nvPr/>
        </p:nvCxnSpPr>
        <p:spPr>
          <a:xfrm>
            <a:off x="3712312" y="4226992"/>
            <a:ext cx="496162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>
            <a:stCxn id="34" idx="4"/>
            <a:endCxn id="27" idx="0"/>
          </p:cNvCxnSpPr>
          <p:nvPr/>
        </p:nvCxnSpPr>
        <p:spPr>
          <a:xfrm flipH="1">
            <a:off x="3197581" y="4226992"/>
            <a:ext cx="51473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/>
          <p:cNvCxnSpPr>
            <a:stCxn id="35" idx="4"/>
            <a:endCxn id="18" idx="0"/>
          </p:cNvCxnSpPr>
          <p:nvPr/>
        </p:nvCxnSpPr>
        <p:spPr>
          <a:xfrm>
            <a:off x="4482737" y="3697905"/>
            <a:ext cx="751753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>
            <a:stCxn id="35" idx="4"/>
            <a:endCxn id="34" idx="0"/>
          </p:cNvCxnSpPr>
          <p:nvPr/>
        </p:nvCxnSpPr>
        <p:spPr>
          <a:xfrm flipH="1">
            <a:off x="3712312" y="3697905"/>
            <a:ext cx="770425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字方塊 41"/>
          <p:cNvSpPr txBox="1"/>
          <p:nvPr/>
        </p:nvSpPr>
        <p:spPr>
          <a:xfrm>
            <a:off x="4285856" y="336061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3512500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30007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二元樹轉成堆積</a:t>
            </a:r>
            <a:r>
              <a:rPr lang="en-US" altLang="zh-TW" dirty="0"/>
              <a:t>-</a:t>
            </a:r>
            <a:r>
              <a:rPr lang="zh-TW" altLang="en-US" dirty="0"/>
              <a:t>逐一插入法 </a:t>
            </a:r>
            <a:r>
              <a:rPr lang="en-US" altLang="zh-TW" dirty="0" smtClean="0"/>
              <a:t>(6/14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將二元樹轉成</a:t>
            </a:r>
            <a:r>
              <a:rPr lang="en-US" altLang="zh-TW" dirty="0" smtClean="0"/>
              <a:t>max heap</a:t>
            </a:r>
          </a:p>
          <a:p>
            <a:pPr lvl="1"/>
            <a:r>
              <a:rPr lang="zh-TW" altLang="en-US" dirty="0" smtClean="0">
                <a:solidFill>
                  <a:srgbClr val="0000FF"/>
                </a:solidFill>
              </a:rPr>
              <a:t>方法二：逐一插入法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33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1634774" y="2423544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u="sng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橢圓 17"/>
          <p:cNvSpPr/>
          <p:nvPr/>
        </p:nvSpPr>
        <p:spPr>
          <a:xfrm>
            <a:off x="5090490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/>
          <p:cNvSpPr txBox="1"/>
          <p:nvPr/>
        </p:nvSpPr>
        <p:spPr>
          <a:xfrm>
            <a:off x="5026217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橢圓 24"/>
          <p:cNvSpPr/>
          <p:nvPr/>
        </p:nvSpPr>
        <p:spPr>
          <a:xfrm>
            <a:off x="4064474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/>
          <p:cNvSpPr txBox="1"/>
          <p:nvPr/>
        </p:nvSpPr>
        <p:spPr>
          <a:xfrm>
            <a:off x="4002954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橢圓 26"/>
          <p:cNvSpPr/>
          <p:nvPr/>
        </p:nvSpPr>
        <p:spPr>
          <a:xfrm>
            <a:off x="3053581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/>
          <p:cNvSpPr txBox="1"/>
          <p:nvPr/>
        </p:nvSpPr>
        <p:spPr>
          <a:xfrm>
            <a:off x="2989831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橢圓 33"/>
          <p:cNvSpPr/>
          <p:nvPr/>
        </p:nvSpPr>
        <p:spPr>
          <a:xfrm>
            <a:off x="3568312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橢圓 34"/>
          <p:cNvSpPr/>
          <p:nvPr/>
        </p:nvSpPr>
        <p:spPr>
          <a:xfrm>
            <a:off x="4338737" y="340990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7" name="直線接點 36"/>
          <p:cNvCxnSpPr>
            <a:stCxn id="18" idx="4"/>
            <a:endCxn id="31" idx="0"/>
          </p:cNvCxnSpPr>
          <p:nvPr/>
        </p:nvCxnSpPr>
        <p:spPr>
          <a:xfrm flipH="1">
            <a:off x="4894734" y="4226992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/>
          <p:cNvCxnSpPr>
            <a:stCxn id="34" idx="4"/>
            <a:endCxn id="25" idx="0"/>
          </p:cNvCxnSpPr>
          <p:nvPr/>
        </p:nvCxnSpPr>
        <p:spPr>
          <a:xfrm>
            <a:off x="3712312" y="4226992"/>
            <a:ext cx="496162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>
            <a:stCxn id="34" idx="4"/>
            <a:endCxn id="27" idx="0"/>
          </p:cNvCxnSpPr>
          <p:nvPr/>
        </p:nvCxnSpPr>
        <p:spPr>
          <a:xfrm flipH="1">
            <a:off x="3197581" y="4226992"/>
            <a:ext cx="51473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/>
          <p:cNvCxnSpPr>
            <a:stCxn id="35" idx="4"/>
            <a:endCxn id="18" idx="0"/>
          </p:cNvCxnSpPr>
          <p:nvPr/>
        </p:nvCxnSpPr>
        <p:spPr>
          <a:xfrm>
            <a:off x="4482737" y="3697905"/>
            <a:ext cx="751753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>
            <a:stCxn id="35" idx="4"/>
            <a:endCxn id="34" idx="0"/>
          </p:cNvCxnSpPr>
          <p:nvPr/>
        </p:nvCxnSpPr>
        <p:spPr>
          <a:xfrm flipH="1">
            <a:off x="3712312" y="3697905"/>
            <a:ext cx="770425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字方塊 41"/>
          <p:cNvSpPr txBox="1"/>
          <p:nvPr/>
        </p:nvSpPr>
        <p:spPr>
          <a:xfrm>
            <a:off x="4285856" y="336061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3512500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0" name="群組 9"/>
          <p:cNvGrpSpPr/>
          <p:nvPr/>
        </p:nvGrpSpPr>
        <p:grpSpPr>
          <a:xfrm>
            <a:off x="4686984" y="4433199"/>
            <a:ext cx="415499" cy="369332"/>
            <a:chOff x="4686984" y="4433199"/>
            <a:chExt cx="415499" cy="369332"/>
          </a:xfrm>
        </p:grpSpPr>
        <p:sp>
          <p:nvSpPr>
            <p:cNvPr id="31" name="橢圓 30"/>
            <p:cNvSpPr/>
            <p:nvPr/>
          </p:nvSpPr>
          <p:spPr>
            <a:xfrm>
              <a:off x="4750734" y="448533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4" name="文字方塊 43"/>
            <p:cNvSpPr txBox="1"/>
            <p:nvPr/>
          </p:nvSpPr>
          <p:spPr>
            <a:xfrm>
              <a:off x="4686984" y="4433199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u="sng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72</a:t>
              </a:r>
              <a:endParaRPr lang="zh-TW" altLang="en-US" b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56" name="弧形接點 55"/>
          <p:cNvCxnSpPr/>
          <p:nvPr/>
        </p:nvCxnSpPr>
        <p:spPr>
          <a:xfrm rot="10800000" flipV="1">
            <a:off x="4858613" y="4082991"/>
            <a:ext cx="158978" cy="408125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弧形接點 56"/>
          <p:cNvCxnSpPr>
            <a:stCxn id="44" idx="3"/>
          </p:cNvCxnSpPr>
          <p:nvPr/>
        </p:nvCxnSpPr>
        <p:spPr>
          <a:xfrm flipV="1">
            <a:off x="5102483" y="4266237"/>
            <a:ext cx="127170" cy="351628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55295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二元樹轉成堆積</a:t>
            </a:r>
            <a:r>
              <a:rPr lang="en-US" altLang="zh-TW" dirty="0"/>
              <a:t>-</a:t>
            </a:r>
            <a:r>
              <a:rPr lang="zh-TW" altLang="en-US" dirty="0"/>
              <a:t>逐一插入法 </a:t>
            </a:r>
            <a:r>
              <a:rPr lang="en-US" altLang="zh-TW" dirty="0" smtClean="0"/>
              <a:t>(7/14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將二元樹轉成</a:t>
            </a:r>
            <a:r>
              <a:rPr lang="en-US" altLang="zh-TW" dirty="0" smtClean="0"/>
              <a:t>max heap</a:t>
            </a:r>
          </a:p>
          <a:p>
            <a:pPr lvl="1"/>
            <a:r>
              <a:rPr lang="zh-TW" altLang="en-US" dirty="0" smtClean="0">
                <a:solidFill>
                  <a:srgbClr val="0000FF"/>
                </a:solidFill>
              </a:rPr>
              <a:t>方法二：逐一插入法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34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1634774" y="2423544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u="sn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橢圓 17"/>
          <p:cNvSpPr/>
          <p:nvPr/>
        </p:nvSpPr>
        <p:spPr>
          <a:xfrm>
            <a:off x="5090490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/>
          <p:cNvSpPr txBox="1"/>
          <p:nvPr/>
        </p:nvSpPr>
        <p:spPr>
          <a:xfrm>
            <a:off x="5026217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橢圓 24"/>
          <p:cNvSpPr/>
          <p:nvPr/>
        </p:nvSpPr>
        <p:spPr>
          <a:xfrm>
            <a:off x="4064474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/>
          <p:cNvSpPr txBox="1"/>
          <p:nvPr/>
        </p:nvSpPr>
        <p:spPr>
          <a:xfrm>
            <a:off x="4002954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橢圓 26"/>
          <p:cNvSpPr/>
          <p:nvPr/>
        </p:nvSpPr>
        <p:spPr>
          <a:xfrm>
            <a:off x="3053581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/>
          <p:cNvSpPr txBox="1"/>
          <p:nvPr/>
        </p:nvSpPr>
        <p:spPr>
          <a:xfrm>
            <a:off x="2989831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橢圓 30"/>
          <p:cNvSpPr/>
          <p:nvPr/>
        </p:nvSpPr>
        <p:spPr>
          <a:xfrm>
            <a:off x="4750734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4" name="橢圓 33"/>
          <p:cNvSpPr/>
          <p:nvPr/>
        </p:nvSpPr>
        <p:spPr>
          <a:xfrm>
            <a:off x="3568312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橢圓 34"/>
          <p:cNvSpPr/>
          <p:nvPr/>
        </p:nvSpPr>
        <p:spPr>
          <a:xfrm>
            <a:off x="4338737" y="340990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6" name="直線接點 35"/>
          <p:cNvCxnSpPr>
            <a:stCxn id="18" idx="4"/>
            <a:endCxn id="32" idx="0"/>
          </p:cNvCxnSpPr>
          <p:nvPr/>
        </p:nvCxnSpPr>
        <p:spPr>
          <a:xfrm>
            <a:off x="5234490" y="4226992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/>
          <p:cNvCxnSpPr>
            <a:stCxn id="18" idx="4"/>
            <a:endCxn id="31" idx="0"/>
          </p:cNvCxnSpPr>
          <p:nvPr/>
        </p:nvCxnSpPr>
        <p:spPr>
          <a:xfrm flipH="1">
            <a:off x="4894734" y="4226992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/>
          <p:cNvCxnSpPr>
            <a:stCxn id="34" idx="4"/>
            <a:endCxn id="25" idx="0"/>
          </p:cNvCxnSpPr>
          <p:nvPr/>
        </p:nvCxnSpPr>
        <p:spPr>
          <a:xfrm>
            <a:off x="3712312" y="4226992"/>
            <a:ext cx="496162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>
            <a:stCxn id="34" idx="4"/>
            <a:endCxn id="27" idx="0"/>
          </p:cNvCxnSpPr>
          <p:nvPr/>
        </p:nvCxnSpPr>
        <p:spPr>
          <a:xfrm flipH="1">
            <a:off x="3197581" y="4226992"/>
            <a:ext cx="51473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/>
          <p:cNvCxnSpPr>
            <a:stCxn id="35" idx="4"/>
            <a:endCxn id="18" idx="0"/>
          </p:cNvCxnSpPr>
          <p:nvPr/>
        </p:nvCxnSpPr>
        <p:spPr>
          <a:xfrm>
            <a:off x="4482737" y="3697905"/>
            <a:ext cx="751753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>
            <a:stCxn id="35" idx="4"/>
            <a:endCxn id="34" idx="0"/>
          </p:cNvCxnSpPr>
          <p:nvPr/>
        </p:nvCxnSpPr>
        <p:spPr>
          <a:xfrm flipH="1">
            <a:off x="3712312" y="3697905"/>
            <a:ext cx="770425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字方塊 41"/>
          <p:cNvSpPr txBox="1"/>
          <p:nvPr/>
        </p:nvSpPr>
        <p:spPr>
          <a:xfrm>
            <a:off x="4285856" y="336061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3512500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4686984" y="443319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群組 7"/>
          <p:cNvGrpSpPr/>
          <p:nvPr/>
        </p:nvGrpSpPr>
        <p:grpSpPr>
          <a:xfrm>
            <a:off x="5387116" y="4436040"/>
            <a:ext cx="415499" cy="369332"/>
            <a:chOff x="5387116" y="4436040"/>
            <a:chExt cx="415499" cy="369332"/>
          </a:xfrm>
        </p:grpSpPr>
        <p:sp>
          <p:nvSpPr>
            <p:cNvPr id="32" name="橢圓 31"/>
            <p:cNvSpPr/>
            <p:nvPr/>
          </p:nvSpPr>
          <p:spPr>
            <a:xfrm>
              <a:off x="5442465" y="4491117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5" name="文字方塊 44"/>
            <p:cNvSpPr txBox="1"/>
            <p:nvPr/>
          </p:nvSpPr>
          <p:spPr>
            <a:xfrm>
              <a:off x="5387116" y="4436040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37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698800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二元樹轉成堆積</a:t>
            </a:r>
            <a:r>
              <a:rPr lang="en-US" altLang="zh-TW" dirty="0"/>
              <a:t>-</a:t>
            </a:r>
            <a:r>
              <a:rPr lang="zh-TW" altLang="en-US" dirty="0"/>
              <a:t>逐一插入法 </a:t>
            </a:r>
            <a:r>
              <a:rPr lang="en-US" altLang="zh-TW" dirty="0" smtClean="0"/>
              <a:t>(8/14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將二元樹轉成</a:t>
            </a:r>
            <a:r>
              <a:rPr lang="en-US" altLang="zh-TW" dirty="0" smtClean="0"/>
              <a:t>max heap</a:t>
            </a:r>
          </a:p>
          <a:p>
            <a:pPr lvl="1"/>
            <a:r>
              <a:rPr lang="zh-TW" altLang="en-US" dirty="0" smtClean="0">
                <a:solidFill>
                  <a:srgbClr val="0000FF"/>
                </a:solidFill>
              </a:rPr>
              <a:t>方法二：逐一插入法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35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1634774" y="2423544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u="sn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橢圓 17"/>
          <p:cNvSpPr/>
          <p:nvPr/>
        </p:nvSpPr>
        <p:spPr>
          <a:xfrm>
            <a:off x="5090490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/>
          <p:cNvSpPr txBox="1"/>
          <p:nvPr/>
        </p:nvSpPr>
        <p:spPr>
          <a:xfrm>
            <a:off x="5026217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橢圓 24"/>
          <p:cNvSpPr/>
          <p:nvPr/>
        </p:nvSpPr>
        <p:spPr>
          <a:xfrm>
            <a:off x="4064474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/>
          <p:cNvSpPr txBox="1"/>
          <p:nvPr/>
        </p:nvSpPr>
        <p:spPr>
          <a:xfrm>
            <a:off x="4002954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橢圓 26"/>
          <p:cNvSpPr/>
          <p:nvPr/>
        </p:nvSpPr>
        <p:spPr>
          <a:xfrm>
            <a:off x="3053581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/>
          <p:cNvSpPr txBox="1"/>
          <p:nvPr/>
        </p:nvSpPr>
        <p:spPr>
          <a:xfrm>
            <a:off x="2989831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橢圓 30"/>
          <p:cNvSpPr/>
          <p:nvPr/>
        </p:nvSpPr>
        <p:spPr>
          <a:xfrm>
            <a:off x="4750734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橢圓 31"/>
          <p:cNvSpPr/>
          <p:nvPr/>
        </p:nvSpPr>
        <p:spPr>
          <a:xfrm>
            <a:off x="5442465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3" name="直線接點 32"/>
          <p:cNvCxnSpPr>
            <a:stCxn id="27" idx="4"/>
            <a:endCxn id="30" idx="0"/>
          </p:cNvCxnSpPr>
          <p:nvPr/>
        </p:nvCxnSpPr>
        <p:spPr>
          <a:xfrm flipH="1">
            <a:off x="2874474" y="4773332"/>
            <a:ext cx="323107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橢圓 33"/>
          <p:cNvSpPr/>
          <p:nvPr/>
        </p:nvSpPr>
        <p:spPr>
          <a:xfrm>
            <a:off x="3568312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橢圓 34"/>
          <p:cNvSpPr/>
          <p:nvPr/>
        </p:nvSpPr>
        <p:spPr>
          <a:xfrm>
            <a:off x="4338737" y="340990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6" name="直線接點 35"/>
          <p:cNvCxnSpPr>
            <a:stCxn id="18" idx="4"/>
            <a:endCxn id="32" idx="0"/>
          </p:cNvCxnSpPr>
          <p:nvPr/>
        </p:nvCxnSpPr>
        <p:spPr>
          <a:xfrm>
            <a:off x="5234490" y="4226992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/>
          <p:cNvCxnSpPr>
            <a:stCxn id="18" idx="4"/>
            <a:endCxn id="31" idx="0"/>
          </p:cNvCxnSpPr>
          <p:nvPr/>
        </p:nvCxnSpPr>
        <p:spPr>
          <a:xfrm flipH="1">
            <a:off x="4894734" y="4226992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/>
          <p:cNvCxnSpPr>
            <a:stCxn id="34" idx="4"/>
            <a:endCxn id="25" idx="0"/>
          </p:cNvCxnSpPr>
          <p:nvPr/>
        </p:nvCxnSpPr>
        <p:spPr>
          <a:xfrm>
            <a:off x="3712312" y="4226992"/>
            <a:ext cx="496162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>
            <a:stCxn id="34" idx="4"/>
            <a:endCxn id="27" idx="0"/>
          </p:cNvCxnSpPr>
          <p:nvPr/>
        </p:nvCxnSpPr>
        <p:spPr>
          <a:xfrm flipH="1">
            <a:off x="3197581" y="4226992"/>
            <a:ext cx="51473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/>
          <p:cNvCxnSpPr>
            <a:stCxn id="35" idx="4"/>
            <a:endCxn id="18" idx="0"/>
          </p:cNvCxnSpPr>
          <p:nvPr/>
        </p:nvCxnSpPr>
        <p:spPr>
          <a:xfrm>
            <a:off x="4482737" y="3697905"/>
            <a:ext cx="751753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>
            <a:stCxn id="35" idx="4"/>
            <a:endCxn id="34" idx="0"/>
          </p:cNvCxnSpPr>
          <p:nvPr/>
        </p:nvCxnSpPr>
        <p:spPr>
          <a:xfrm flipH="1">
            <a:off x="3712312" y="3697905"/>
            <a:ext cx="770425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字方塊 41"/>
          <p:cNvSpPr txBox="1"/>
          <p:nvPr/>
        </p:nvSpPr>
        <p:spPr>
          <a:xfrm>
            <a:off x="4285856" y="336061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3512500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4686984" y="443319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5387116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8" name="群組 7"/>
          <p:cNvGrpSpPr/>
          <p:nvPr/>
        </p:nvGrpSpPr>
        <p:grpSpPr>
          <a:xfrm>
            <a:off x="2666724" y="4956455"/>
            <a:ext cx="415499" cy="369332"/>
            <a:chOff x="2666724" y="4956455"/>
            <a:chExt cx="415499" cy="369332"/>
          </a:xfrm>
        </p:grpSpPr>
        <p:sp>
          <p:nvSpPr>
            <p:cNvPr id="30" name="橢圓 29"/>
            <p:cNvSpPr/>
            <p:nvPr/>
          </p:nvSpPr>
          <p:spPr>
            <a:xfrm>
              <a:off x="2730474" y="5005972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46" name="文字方塊 45"/>
            <p:cNvSpPr txBox="1"/>
            <p:nvPr/>
          </p:nvSpPr>
          <p:spPr>
            <a:xfrm>
              <a:off x="2666724" y="4956455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25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483560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二元樹轉成堆積</a:t>
            </a:r>
            <a:r>
              <a:rPr lang="en-US" altLang="zh-TW" dirty="0"/>
              <a:t>-</a:t>
            </a:r>
            <a:r>
              <a:rPr lang="zh-TW" altLang="en-US" dirty="0"/>
              <a:t>逐一插入法 </a:t>
            </a:r>
            <a:r>
              <a:rPr lang="en-US" altLang="zh-TW" dirty="0" smtClean="0"/>
              <a:t>(9/14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將二元樹轉成</a:t>
            </a:r>
            <a:r>
              <a:rPr lang="en-US" altLang="zh-TW" dirty="0" smtClean="0"/>
              <a:t>max heap</a:t>
            </a:r>
          </a:p>
          <a:p>
            <a:pPr lvl="1"/>
            <a:r>
              <a:rPr lang="zh-TW" altLang="en-US" dirty="0" smtClean="0">
                <a:solidFill>
                  <a:srgbClr val="0000FF"/>
                </a:solidFill>
              </a:rPr>
              <a:t>方法二：逐一插入法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36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1634774" y="2423544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u="sn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橢圓 17"/>
          <p:cNvSpPr/>
          <p:nvPr/>
        </p:nvSpPr>
        <p:spPr>
          <a:xfrm>
            <a:off x="5090490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/>
          <p:cNvSpPr txBox="1"/>
          <p:nvPr/>
        </p:nvSpPr>
        <p:spPr>
          <a:xfrm>
            <a:off x="5026217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橢圓 24"/>
          <p:cNvSpPr/>
          <p:nvPr/>
        </p:nvSpPr>
        <p:spPr>
          <a:xfrm>
            <a:off x="4064474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/>
          <p:cNvSpPr txBox="1"/>
          <p:nvPr/>
        </p:nvSpPr>
        <p:spPr>
          <a:xfrm>
            <a:off x="4002954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橢圓 26"/>
          <p:cNvSpPr/>
          <p:nvPr/>
        </p:nvSpPr>
        <p:spPr>
          <a:xfrm>
            <a:off x="3053581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/>
          <p:cNvSpPr txBox="1"/>
          <p:nvPr/>
        </p:nvSpPr>
        <p:spPr>
          <a:xfrm>
            <a:off x="2989831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橢圓 29"/>
          <p:cNvSpPr/>
          <p:nvPr/>
        </p:nvSpPr>
        <p:spPr>
          <a:xfrm>
            <a:off x="2730474" y="500597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4750734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橢圓 31"/>
          <p:cNvSpPr/>
          <p:nvPr/>
        </p:nvSpPr>
        <p:spPr>
          <a:xfrm>
            <a:off x="5442465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3" name="直線接點 32"/>
          <p:cNvCxnSpPr>
            <a:stCxn id="27" idx="4"/>
            <a:endCxn id="30" idx="0"/>
          </p:cNvCxnSpPr>
          <p:nvPr/>
        </p:nvCxnSpPr>
        <p:spPr>
          <a:xfrm flipH="1">
            <a:off x="2874474" y="4773332"/>
            <a:ext cx="323107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橢圓 33"/>
          <p:cNvSpPr/>
          <p:nvPr/>
        </p:nvSpPr>
        <p:spPr>
          <a:xfrm>
            <a:off x="3568312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橢圓 34"/>
          <p:cNvSpPr/>
          <p:nvPr/>
        </p:nvSpPr>
        <p:spPr>
          <a:xfrm>
            <a:off x="4338737" y="340990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6" name="直線接點 35"/>
          <p:cNvCxnSpPr>
            <a:stCxn id="18" idx="4"/>
            <a:endCxn id="32" idx="0"/>
          </p:cNvCxnSpPr>
          <p:nvPr/>
        </p:nvCxnSpPr>
        <p:spPr>
          <a:xfrm>
            <a:off x="5234490" y="4226992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/>
          <p:cNvCxnSpPr>
            <a:stCxn id="18" idx="4"/>
            <a:endCxn id="31" idx="0"/>
          </p:cNvCxnSpPr>
          <p:nvPr/>
        </p:nvCxnSpPr>
        <p:spPr>
          <a:xfrm flipH="1">
            <a:off x="4894734" y="4226992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/>
          <p:cNvCxnSpPr>
            <a:stCxn id="34" idx="4"/>
            <a:endCxn id="25" idx="0"/>
          </p:cNvCxnSpPr>
          <p:nvPr/>
        </p:nvCxnSpPr>
        <p:spPr>
          <a:xfrm>
            <a:off x="3712312" y="4226992"/>
            <a:ext cx="496162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>
            <a:stCxn id="34" idx="4"/>
            <a:endCxn id="27" idx="0"/>
          </p:cNvCxnSpPr>
          <p:nvPr/>
        </p:nvCxnSpPr>
        <p:spPr>
          <a:xfrm flipH="1">
            <a:off x="3197581" y="4226992"/>
            <a:ext cx="51473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/>
          <p:cNvCxnSpPr>
            <a:stCxn id="35" idx="4"/>
            <a:endCxn id="18" idx="0"/>
          </p:cNvCxnSpPr>
          <p:nvPr/>
        </p:nvCxnSpPr>
        <p:spPr>
          <a:xfrm>
            <a:off x="4482737" y="3697905"/>
            <a:ext cx="751753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>
            <a:stCxn id="35" idx="4"/>
            <a:endCxn id="34" idx="0"/>
          </p:cNvCxnSpPr>
          <p:nvPr/>
        </p:nvCxnSpPr>
        <p:spPr>
          <a:xfrm flipH="1">
            <a:off x="3712312" y="3697905"/>
            <a:ext cx="770425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字方塊 41"/>
          <p:cNvSpPr txBox="1"/>
          <p:nvPr/>
        </p:nvSpPr>
        <p:spPr>
          <a:xfrm>
            <a:off x="4285856" y="336061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3512500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4686984" y="443319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5387116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2666724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9" name="直線接點 48"/>
          <p:cNvCxnSpPr>
            <a:stCxn id="27" idx="4"/>
            <a:endCxn id="47" idx="0"/>
          </p:cNvCxnSpPr>
          <p:nvPr/>
        </p:nvCxnSpPr>
        <p:spPr>
          <a:xfrm>
            <a:off x="3197581" y="4773332"/>
            <a:ext cx="336888" cy="23404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群組 11"/>
          <p:cNvGrpSpPr/>
          <p:nvPr/>
        </p:nvGrpSpPr>
        <p:grpSpPr>
          <a:xfrm>
            <a:off x="3326719" y="4956455"/>
            <a:ext cx="415499" cy="369332"/>
            <a:chOff x="3326719" y="4956455"/>
            <a:chExt cx="415499" cy="369332"/>
          </a:xfrm>
        </p:grpSpPr>
        <p:sp>
          <p:nvSpPr>
            <p:cNvPr id="47" name="橢圓 46"/>
            <p:cNvSpPr/>
            <p:nvPr/>
          </p:nvSpPr>
          <p:spPr>
            <a:xfrm>
              <a:off x="3390469" y="5007374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1" name="文字方塊 50"/>
            <p:cNvSpPr txBox="1"/>
            <p:nvPr/>
          </p:nvSpPr>
          <p:spPr>
            <a:xfrm>
              <a:off x="3326719" y="4956455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66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54" name="弧形接點 53"/>
          <p:cNvCxnSpPr>
            <a:endCxn id="51" idx="1"/>
          </p:cNvCxnSpPr>
          <p:nvPr/>
        </p:nvCxnSpPr>
        <p:spPr>
          <a:xfrm rot="16200000" flipH="1">
            <a:off x="3086871" y="4901272"/>
            <a:ext cx="331385" cy="148312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弧形接點 54"/>
          <p:cNvCxnSpPr>
            <a:stCxn id="51" idx="0"/>
            <a:endCxn id="29" idx="3"/>
          </p:cNvCxnSpPr>
          <p:nvPr/>
        </p:nvCxnSpPr>
        <p:spPr>
          <a:xfrm rot="16200000" flipV="1">
            <a:off x="3302026" y="4724011"/>
            <a:ext cx="335749" cy="129139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926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二元樹轉成堆積</a:t>
            </a:r>
            <a:r>
              <a:rPr lang="en-US" altLang="zh-TW" dirty="0"/>
              <a:t>-</a:t>
            </a:r>
            <a:r>
              <a:rPr lang="zh-TW" altLang="en-US" dirty="0"/>
              <a:t>逐一插入法 </a:t>
            </a:r>
            <a:r>
              <a:rPr lang="en-US" altLang="zh-TW" dirty="0"/>
              <a:t>(</a:t>
            </a:r>
            <a:r>
              <a:rPr lang="en-US" altLang="zh-TW" dirty="0" smtClean="0"/>
              <a:t>10/14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將二元樹轉成</a:t>
            </a:r>
            <a:r>
              <a:rPr lang="en-US" altLang="zh-TW" dirty="0" smtClean="0"/>
              <a:t>max heap</a:t>
            </a:r>
          </a:p>
          <a:p>
            <a:pPr lvl="1"/>
            <a:r>
              <a:rPr lang="zh-TW" altLang="en-US" dirty="0" smtClean="0">
                <a:solidFill>
                  <a:srgbClr val="0000FF"/>
                </a:solidFill>
              </a:rPr>
              <a:t>方法二：逐一插入法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37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1634774" y="2423544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u="sn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橢圓 17"/>
          <p:cNvSpPr/>
          <p:nvPr/>
        </p:nvSpPr>
        <p:spPr>
          <a:xfrm>
            <a:off x="5090490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/>
          <p:cNvSpPr txBox="1"/>
          <p:nvPr/>
        </p:nvSpPr>
        <p:spPr>
          <a:xfrm>
            <a:off x="5026217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橢圓 24"/>
          <p:cNvSpPr/>
          <p:nvPr/>
        </p:nvSpPr>
        <p:spPr>
          <a:xfrm>
            <a:off x="4064474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/>
          <p:cNvSpPr txBox="1"/>
          <p:nvPr/>
        </p:nvSpPr>
        <p:spPr>
          <a:xfrm>
            <a:off x="4002954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橢圓 26"/>
          <p:cNvSpPr/>
          <p:nvPr/>
        </p:nvSpPr>
        <p:spPr>
          <a:xfrm>
            <a:off x="3053581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/>
          <p:cNvSpPr txBox="1"/>
          <p:nvPr/>
        </p:nvSpPr>
        <p:spPr>
          <a:xfrm>
            <a:off x="2989831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66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橢圓 29"/>
          <p:cNvSpPr/>
          <p:nvPr/>
        </p:nvSpPr>
        <p:spPr>
          <a:xfrm>
            <a:off x="2730474" y="500597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4750734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橢圓 31"/>
          <p:cNvSpPr/>
          <p:nvPr/>
        </p:nvSpPr>
        <p:spPr>
          <a:xfrm>
            <a:off x="5442465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3" name="直線接點 32"/>
          <p:cNvCxnSpPr>
            <a:stCxn id="27" idx="4"/>
            <a:endCxn id="30" idx="0"/>
          </p:cNvCxnSpPr>
          <p:nvPr/>
        </p:nvCxnSpPr>
        <p:spPr>
          <a:xfrm flipH="1">
            <a:off x="2874474" y="4773332"/>
            <a:ext cx="323107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橢圓 33"/>
          <p:cNvSpPr/>
          <p:nvPr/>
        </p:nvSpPr>
        <p:spPr>
          <a:xfrm>
            <a:off x="3568312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橢圓 34"/>
          <p:cNvSpPr/>
          <p:nvPr/>
        </p:nvSpPr>
        <p:spPr>
          <a:xfrm>
            <a:off x="4338737" y="340990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6" name="直線接點 35"/>
          <p:cNvCxnSpPr>
            <a:stCxn id="18" idx="4"/>
            <a:endCxn id="32" idx="0"/>
          </p:cNvCxnSpPr>
          <p:nvPr/>
        </p:nvCxnSpPr>
        <p:spPr>
          <a:xfrm>
            <a:off x="5234490" y="4226992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/>
          <p:cNvCxnSpPr>
            <a:stCxn id="18" idx="4"/>
            <a:endCxn id="31" idx="0"/>
          </p:cNvCxnSpPr>
          <p:nvPr/>
        </p:nvCxnSpPr>
        <p:spPr>
          <a:xfrm flipH="1">
            <a:off x="4894734" y="4226992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/>
          <p:cNvCxnSpPr>
            <a:stCxn id="34" idx="4"/>
            <a:endCxn id="25" idx="0"/>
          </p:cNvCxnSpPr>
          <p:nvPr/>
        </p:nvCxnSpPr>
        <p:spPr>
          <a:xfrm>
            <a:off x="3712312" y="4226992"/>
            <a:ext cx="496162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>
            <a:stCxn id="34" idx="4"/>
            <a:endCxn id="27" idx="0"/>
          </p:cNvCxnSpPr>
          <p:nvPr/>
        </p:nvCxnSpPr>
        <p:spPr>
          <a:xfrm flipH="1">
            <a:off x="3197581" y="4226992"/>
            <a:ext cx="51473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/>
          <p:cNvCxnSpPr>
            <a:stCxn id="35" idx="4"/>
            <a:endCxn id="18" idx="0"/>
          </p:cNvCxnSpPr>
          <p:nvPr/>
        </p:nvCxnSpPr>
        <p:spPr>
          <a:xfrm>
            <a:off x="4482737" y="3697905"/>
            <a:ext cx="751753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>
            <a:stCxn id="35" idx="4"/>
            <a:endCxn id="34" idx="0"/>
          </p:cNvCxnSpPr>
          <p:nvPr/>
        </p:nvCxnSpPr>
        <p:spPr>
          <a:xfrm flipH="1">
            <a:off x="3712312" y="3697905"/>
            <a:ext cx="770425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字方塊 41"/>
          <p:cNvSpPr txBox="1"/>
          <p:nvPr/>
        </p:nvSpPr>
        <p:spPr>
          <a:xfrm>
            <a:off x="4285856" y="336061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3512500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4686984" y="443319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5387116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2666724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橢圓 46"/>
          <p:cNvSpPr/>
          <p:nvPr/>
        </p:nvSpPr>
        <p:spPr>
          <a:xfrm>
            <a:off x="3390469" y="500737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9" name="直線接點 48"/>
          <p:cNvCxnSpPr>
            <a:stCxn id="27" idx="4"/>
            <a:endCxn id="47" idx="0"/>
          </p:cNvCxnSpPr>
          <p:nvPr/>
        </p:nvCxnSpPr>
        <p:spPr>
          <a:xfrm>
            <a:off x="3197581" y="4773332"/>
            <a:ext cx="336888" cy="23404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字方塊 50"/>
          <p:cNvSpPr txBox="1"/>
          <p:nvPr/>
        </p:nvSpPr>
        <p:spPr>
          <a:xfrm>
            <a:off x="3326719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4" name="弧形接點 53"/>
          <p:cNvCxnSpPr>
            <a:stCxn id="43" idx="1"/>
            <a:endCxn id="29" idx="0"/>
          </p:cNvCxnSpPr>
          <p:nvPr/>
        </p:nvCxnSpPr>
        <p:spPr>
          <a:xfrm rot="10800000" flipV="1">
            <a:off x="3197582" y="4074366"/>
            <a:ext cx="314919" cy="361674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弧形接點 54"/>
          <p:cNvCxnSpPr>
            <a:stCxn id="29" idx="3"/>
          </p:cNvCxnSpPr>
          <p:nvPr/>
        </p:nvCxnSpPr>
        <p:spPr>
          <a:xfrm flipV="1">
            <a:off x="3405330" y="4266237"/>
            <a:ext cx="303369" cy="354469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425572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二元樹轉成堆積</a:t>
            </a:r>
            <a:r>
              <a:rPr lang="en-US" altLang="zh-TW" dirty="0"/>
              <a:t>-</a:t>
            </a:r>
            <a:r>
              <a:rPr lang="zh-TW" altLang="en-US" dirty="0"/>
              <a:t>逐一插入法 </a:t>
            </a:r>
            <a:r>
              <a:rPr lang="en-US" altLang="zh-TW" dirty="0"/>
              <a:t>(</a:t>
            </a:r>
            <a:r>
              <a:rPr lang="en-US" altLang="zh-TW" dirty="0" smtClean="0"/>
              <a:t>11/14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將二元樹轉成</a:t>
            </a:r>
            <a:r>
              <a:rPr lang="en-US" altLang="zh-TW" dirty="0" smtClean="0"/>
              <a:t>max heap</a:t>
            </a:r>
          </a:p>
          <a:p>
            <a:pPr lvl="1"/>
            <a:r>
              <a:rPr lang="zh-TW" altLang="en-US" dirty="0" smtClean="0">
                <a:solidFill>
                  <a:srgbClr val="0000FF"/>
                </a:solidFill>
              </a:rPr>
              <a:t>方法二：逐一插入法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38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1634774" y="2423544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u="sn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橢圓 17"/>
          <p:cNvSpPr/>
          <p:nvPr/>
        </p:nvSpPr>
        <p:spPr>
          <a:xfrm>
            <a:off x="5090490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/>
          <p:cNvSpPr txBox="1"/>
          <p:nvPr/>
        </p:nvSpPr>
        <p:spPr>
          <a:xfrm>
            <a:off x="5026217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橢圓 24"/>
          <p:cNvSpPr/>
          <p:nvPr/>
        </p:nvSpPr>
        <p:spPr>
          <a:xfrm>
            <a:off x="4064474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/>
          <p:cNvSpPr txBox="1"/>
          <p:nvPr/>
        </p:nvSpPr>
        <p:spPr>
          <a:xfrm>
            <a:off x="4002954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橢圓 26"/>
          <p:cNvSpPr/>
          <p:nvPr/>
        </p:nvSpPr>
        <p:spPr>
          <a:xfrm>
            <a:off x="3053581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/>
          <p:cNvSpPr txBox="1"/>
          <p:nvPr/>
        </p:nvSpPr>
        <p:spPr>
          <a:xfrm>
            <a:off x="2989831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橢圓 29"/>
          <p:cNvSpPr/>
          <p:nvPr/>
        </p:nvSpPr>
        <p:spPr>
          <a:xfrm>
            <a:off x="2730474" y="500597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4750734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橢圓 31"/>
          <p:cNvSpPr/>
          <p:nvPr/>
        </p:nvSpPr>
        <p:spPr>
          <a:xfrm>
            <a:off x="5442465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3" name="直線接點 32"/>
          <p:cNvCxnSpPr>
            <a:stCxn id="27" idx="4"/>
            <a:endCxn id="30" idx="0"/>
          </p:cNvCxnSpPr>
          <p:nvPr/>
        </p:nvCxnSpPr>
        <p:spPr>
          <a:xfrm flipH="1">
            <a:off x="2874474" y="4773332"/>
            <a:ext cx="323107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橢圓 33"/>
          <p:cNvSpPr/>
          <p:nvPr/>
        </p:nvSpPr>
        <p:spPr>
          <a:xfrm>
            <a:off x="3568312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橢圓 34"/>
          <p:cNvSpPr/>
          <p:nvPr/>
        </p:nvSpPr>
        <p:spPr>
          <a:xfrm>
            <a:off x="4338737" y="340990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6" name="直線接點 35"/>
          <p:cNvCxnSpPr>
            <a:stCxn id="18" idx="4"/>
            <a:endCxn id="32" idx="0"/>
          </p:cNvCxnSpPr>
          <p:nvPr/>
        </p:nvCxnSpPr>
        <p:spPr>
          <a:xfrm>
            <a:off x="5234490" y="4226992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/>
          <p:cNvCxnSpPr>
            <a:stCxn id="18" idx="4"/>
            <a:endCxn id="31" idx="0"/>
          </p:cNvCxnSpPr>
          <p:nvPr/>
        </p:nvCxnSpPr>
        <p:spPr>
          <a:xfrm flipH="1">
            <a:off x="4894734" y="4226992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/>
          <p:cNvCxnSpPr>
            <a:stCxn id="34" idx="4"/>
            <a:endCxn id="25" idx="0"/>
          </p:cNvCxnSpPr>
          <p:nvPr/>
        </p:nvCxnSpPr>
        <p:spPr>
          <a:xfrm>
            <a:off x="3712312" y="4226992"/>
            <a:ext cx="496162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>
            <a:stCxn id="34" idx="4"/>
            <a:endCxn id="27" idx="0"/>
          </p:cNvCxnSpPr>
          <p:nvPr/>
        </p:nvCxnSpPr>
        <p:spPr>
          <a:xfrm flipH="1">
            <a:off x="3197581" y="4226992"/>
            <a:ext cx="51473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/>
          <p:cNvCxnSpPr>
            <a:stCxn id="35" idx="4"/>
            <a:endCxn id="18" idx="0"/>
          </p:cNvCxnSpPr>
          <p:nvPr/>
        </p:nvCxnSpPr>
        <p:spPr>
          <a:xfrm>
            <a:off x="4482737" y="3697905"/>
            <a:ext cx="751753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>
            <a:stCxn id="35" idx="4"/>
            <a:endCxn id="34" idx="0"/>
          </p:cNvCxnSpPr>
          <p:nvPr/>
        </p:nvCxnSpPr>
        <p:spPr>
          <a:xfrm flipH="1">
            <a:off x="3712312" y="3697905"/>
            <a:ext cx="770425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字方塊 41"/>
          <p:cNvSpPr txBox="1"/>
          <p:nvPr/>
        </p:nvSpPr>
        <p:spPr>
          <a:xfrm>
            <a:off x="4285856" y="336061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3512500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66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4686984" y="443319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5387116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2666724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橢圓 46"/>
          <p:cNvSpPr/>
          <p:nvPr/>
        </p:nvSpPr>
        <p:spPr>
          <a:xfrm>
            <a:off x="3390469" y="500737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9" name="直線接點 48"/>
          <p:cNvCxnSpPr>
            <a:stCxn id="27" idx="4"/>
            <a:endCxn id="47" idx="0"/>
          </p:cNvCxnSpPr>
          <p:nvPr/>
        </p:nvCxnSpPr>
        <p:spPr>
          <a:xfrm>
            <a:off x="3197581" y="4773332"/>
            <a:ext cx="336888" cy="23404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>
            <a:stCxn id="25" idx="4"/>
            <a:endCxn id="48" idx="0"/>
          </p:cNvCxnSpPr>
          <p:nvPr/>
        </p:nvCxnSpPr>
        <p:spPr>
          <a:xfrm flipH="1">
            <a:off x="3898412" y="4779117"/>
            <a:ext cx="310062" cy="22825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字方塊 50"/>
          <p:cNvSpPr txBox="1"/>
          <p:nvPr/>
        </p:nvSpPr>
        <p:spPr>
          <a:xfrm>
            <a:off x="3326719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13" name="群組 12"/>
          <p:cNvGrpSpPr/>
          <p:nvPr/>
        </p:nvGrpSpPr>
        <p:grpSpPr>
          <a:xfrm>
            <a:off x="3698261" y="4956455"/>
            <a:ext cx="415499" cy="369332"/>
            <a:chOff x="3698261" y="4956455"/>
            <a:chExt cx="415499" cy="369332"/>
          </a:xfrm>
        </p:grpSpPr>
        <p:sp>
          <p:nvSpPr>
            <p:cNvPr id="48" name="橢圓 47"/>
            <p:cNvSpPr/>
            <p:nvPr/>
          </p:nvSpPr>
          <p:spPr>
            <a:xfrm>
              <a:off x="3754412" y="5007374"/>
              <a:ext cx="288000" cy="288000"/>
            </a:xfrm>
            <a:prstGeom prst="ellipse">
              <a:avLst/>
            </a:prstGeom>
            <a:solidFill>
              <a:srgbClr val="E8F0F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52" name="文字方塊 51"/>
            <p:cNvSpPr txBox="1"/>
            <p:nvPr/>
          </p:nvSpPr>
          <p:spPr>
            <a:xfrm>
              <a:off x="3698261" y="4956455"/>
              <a:ext cx="4154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TW" b="1" dirty="0" smtClean="0">
                  <a:solidFill>
                    <a:srgbClr val="C0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73</a:t>
              </a:r>
              <a:endParaRPr lang="zh-TW" altLang="en-US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54" name="弧形接點 53"/>
          <p:cNvCxnSpPr>
            <a:stCxn id="26" idx="1"/>
            <a:endCxn id="52" idx="0"/>
          </p:cNvCxnSpPr>
          <p:nvPr/>
        </p:nvCxnSpPr>
        <p:spPr>
          <a:xfrm rot="10800000" flipV="1">
            <a:off x="3906012" y="4620705"/>
            <a:ext cx="96943" cy="335749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弧形接點 54"/>
          <p:cNvCxnSpPr>
            <a:stCxn id="52" idx="3"/>
          </p:cNvCxnSpPr>
          <p:nvPr/>
        </p:nvCxnSpPr>
        <p:spPr>
          <a:xfrm flipV="1">
            <a:off x="4113760" y="4830057"/>
            <a:ext cx="103334" cy="311064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233753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二元樹轉成堆積</a:t>
            </a:r>
            <a:r>
              <a:rPr lang="en-US" altLang="zh-TW" dirty="0"/>
              <a:t>-</a:t>
            </a:r>
            <a:r>
              <a:rPr lang="zh-TW" altLang="en-US" dirty="0"/>
              <a:t>逐一插入法 </a:t>
            </a:r>
            <a:r>
              <a:rPr lang="en-US" altLang="zh-TW" dirty="0"/>
              <a:t>(</a:t>
            </a:r>
            <a:r>
              <a:rPr lang="en-US" altLang="zh-TW" dirty="0" smtClean="0"/>
              <a:t>12/14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將二元樹轉成</a:t>
            </a:r>
            <a:r>
              <a:rPr lang="en-US" altLang="zh-TW" dirty="0" smtClean="0"/>
              <a:t>max heap</a:t>
            </a:r>
          </a:p>
          <a:p>
            <a:pPr lvl="1"/>
            <a:r>
              <a:rPr lang="zh-TW" altLang="en-US" dirty="0" smtClean="0">
                <a:solidFill>
                  <a:srgbClr val="0000FF"/>
                </a:solidFill>
              </a:rPr>
              <a:t>方法二：逐一插入法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39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1634774" y="2423544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u="sn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橢圓 17"/>
          <p:cNvSpPr/>
          <p:nvPr/>
        </p:nvSpPr>
        <p:spPr>
          <a:xfrm>
            <a:off x="5090490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/>
          <p:cNvSpPr txBox="1"/>
          <p:nvPr/>
        </p:nvSpPr>
        <p:spPr>
          <a:xfrm>
            <a:off x="5026217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橢圓 24"/>
          <p:cNvSpPr/>
          <p:nvPr/>
        </p:nvSpPr>
        <p:spPr>
          <a:xfrm>
            <a:off x="4064474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/>
          <p:cNvSpPr txBox="1"/>
          <p:nvPr/>
        </p:nvSpPr>
        <p:spPr>
          <a:xfrm>
            <a:off x="4002954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73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橢圓 26"/>
          <p:cNvSpPr/>
          <p:nvPr/>
        </p:nvSpPr>
        <p:spPr>
          <a:xfrm>
            <a:off x="3053581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/>
          <p:cNvSpPr txBox="1"/>
          <p:nvPr/>
        </p:nvSpPr>
        <p:spPr>
          <a:xfrm>
            <a:off x="2989831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橢圓 29"/>
          <p:cNvSpPr/>
          <p:nvPr/>
        </p:nvSpPr>
        <p:spPr>
          <a:xfrm>
            <a:off x="2730474" y="500597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4750734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橢圓 31"/>
          <p:cNvSpPr/>
          <p:nvPr/>
        </p:nvSpPr>
        <p:spPr>
          <a:xfrm>
            <a:off x="5442465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3" name="直線接點 32"/>
          <p:cNvCxnSpPr>
            <a:stCxn id="27" idx="4"/>
            <a:endCxn id="30" idx="0"/>
          </p:cNvCxnSpPr>
          <p:nvPr/>
        </p:nvCxnSpPr>
        <p:spPr>
          <a:xfrm flipH="1">
            <a:off x="2874474" y="4773332"/>
            <a:ext cx="323107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橢圓 33"/>
          <p:cNvSpPr/>
          <p:nvPr/>
        </p:nvSpPr>
        <p:spPr>
          <a:xfrm>
            <a:off x="3568312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橢圓 34"/>
          <p:cNvSpPr/>
          <p:nvPr/>
        </p:nvSpPr>
        <p:spPr>
          <a:xfrm>
            <a:off x="4338737" y="340990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6" name="直線接點 35"/>
          <p:cNvCxnSpPr>
            <a:stCxn id="18" idx="4"/>
            <a:endCxn id="32" idx="0"/>
          </p:cNvCxnSpPr>
          <p:nvPr/>
        </p:nvCxnSpPr>
        <p:spPr>
          <a:xfrm>
            <a:off x="5234490" y="4226992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/>
          <p:cNvCxnSpPr>
            <a:stCxn id="18" idx="4"/>
            <a:endCxn id="31" idx="0"/>
          </p:cNvCxnSpPr>
          <p:nvPr/>
        </p:nvCxnSpPr>
        <p:spPr>
          <a:xfrm flipH="1">
            <a:off x="4894734" y="4226992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/>
          <p:cNvCxnSpPr>
            <a:stCxn id="34" idx="4"/>
            <a:endCxn id="25" idx="0"/>
          </p:cNvCxnSpPr>
          <p:nvPr/>
        </p:nvCxnSpPr>
        <p:spPr>
          <a:xfrm>
            <a:off x="3712312" y="4226992"/>
            <a:ext cx="496162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>
            <a:stCxn id="34" idx="4"/>
            <a:endCxn id="27" idx="0"/>
          </p:cNvCxnSpPr>
          <p:nvPr/>
        </p:nvCxnSpPr>
        <p:spPr>
          <a:xfrm flipH="1">
            <a:off x="3197581" y="4226992"/>
            <a:ext cx="51473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/>
          <p:cNvCxnSpPr>
            <a:stCxn id="35" idx="4"/>
            <a:endCxn id="18" idx="0"/>
          </p:cNvCxnSpPr>
          <p:nvPr/>
        </p:nvCxnSpPr>
        <p:spPr>
          <a:xfrm>
            <a:off x="4482737" y="3697905"/>
            <a:ext cx="751753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>
            <a:stCxn id="35" idx="4"/>
            <a:endCxn id="34" idx="0"/>
          </p:cNvCxnSpPr>
          <p:nvPr/>
        </p:nvCxnSpPr>
        <p:spPr>
          <a:xfrm flipH="1">
            <a:off x="3712312" y="3697905"/>
            <a:ext cx="770425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字方塊 41"/>
          <p:cNvSpPr txBox="1"/>
          <p:nvPr/>
        </p:nvSpPr>
        <p:spPr>
          <a:xfrm>
            <a:off x="4285856" y="336061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3512500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66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4686984" y="443319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5387116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2666724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橢圓 46"/>
          <p:cNvSpPr/>
          <p:nvPr/>
        </p:nvSpPr>
        <p:spPr>
          <a:xfrm>
            <a:off x="3390469" y="500737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橢圓 47"/>
          <p:cNvSpPr/>
          <p:nvPr/>
        </p:nvSpPr>
        <p:spPr>
          <a:xfrm>
            <a:off x="3754412" y="500737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9" name="直線接點 48"/>
          <p:cNvCxnSpPr>
            <a:stCxn id="27" idx="4"/>
            <a:endCxn id="47" idx="0"/>
          </p:cNvCxnSpPr>
          <p:nvPr/>
        </p:nvCxnSpPr>
        <p:spPr>
          <a:xfrm>
            <a:off x="3197581" y="4773332"/>
            <a:ext cx="336888" cy="23404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>
            <a:stCxn id="25" idx="4"/>
            <a:endCxn id="48" idx="0"/>
          </p:cNvCxnSpPr>
          <p:nvPr/>
        </p:nvCxnSpPr>
        <p:spPr>
          <a:xfrm flipH="1">
            <a:off x="3898412" y="4779117"/>
            <a:ext cx="310062" cy="22825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字方塊 50"/>
          <p:cNvSpPr txBox="1"/>
          <p:nvPr/>
        </p:nvSpPr>
        <p:spPr>
          <a:xfrm>
            <a:off x="3326719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3698261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4" name="弧形接點 53"/>
          <p:cNvCxnSpPr>
            <a:endCxn id="26" idx="1"/>
          </p:cNvCxnSpPr>
          <p:nvPr/>
        </p:nvCxnSpPr>
        <p:spPr>
          <a:xfrm rot="16200000" flipH="1">
            <a:off x="3674989" y="4292740"/>
            <a:ext cx="351237" cy="304693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弧形接點 54"/>
          <p:cNvCxnSpPr>
            <a:stCxn id="26" idx="0"/>
            <a:endCxn id="43" idx="3"/>
          </p:cNvCxnSpPr>
          <p:nvPr/>
        </p:nvCxnSpPr>
        <p:spPr>
          <a:xfrm rot="16200000" flipV="1">
            <a:off x="3888515" y="4113850"/>
            <a:ext cx="361674" cy="282705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72847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二元樹轉成堆積</a:t>
            </a:r>
            <a:r>
              <a:rPr lang="en-US" altLang="zh-TW" dirty="0"/>
              <a:t>-</a:t>
            </a:r>
            <a:r>
              <a:rPr lang="zh-TW" altLang="en-US" dirty="0"/>
              <a:t>逐一插入法 </a:t>
            </a:r>
            <a:r>
              <a:rPr lang="en-US" altLang="zh-TW" dirty="0"/>
              <a:t>(</a:t>
            </a:r>
            <a:r>
              <a:rPr lang="en-US" altLang="zh-TW" dirty="0" smtClean="0"/>
              <a:t>13/14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將二元樹轉成</a:t>
            </a:r>
            <a:r>
              <a:rPr lang="en-US" altLang="zh-TW" dirty="0" smtClean="0"/>
              <a:t>max heap</a:t>
            </a:r>
          </a:p>
          <a:p>
            <a:pPr lvl="1"/>
            <a:r>
              <a:rPr lang="zh-TW" altLang="en-US" dirty="0" smtClean="0">
                <a:solidFill>
                  <a:srgbClr val="0000FF"/>
                </a:solidFill>
              </a:rPr>
              <a:t>方法二：逐一插入法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40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1634774" y="2423544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u="sn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橢圓 17"/>
          <p:cNvSpPr/>
          <p:nvPr/>
        </p:nvSpPr>
        <p:spPr>
          <a:xfrm>
            <a:off x="5090490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/>
          <p:cNvSpPr txBox="1"/>
          <p:nvPr/>
        </p:nvSpPr>
        <p:spPr>
          <a:xfrm>
            <a:off x="5026217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橢圓 24"/>
          <p:cNvSpPr/>
          <p:nvPr/>
        </p:nvSpPr>
        <p:spPr>
          <a:xfrm>
            <a:off x="4064474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/>
          <p:cNvSpPr txBox="1"/>
          <p:nvPr/>
        </p:nvSpPr>
        <p:spPr>
          <a:xfrm>
            <a:off x="4002954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66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橢圓 26"/>
          <p:cNvSpPr/>
          <p:nvPr/>
        </p:nvSpPr>
        <p:spPr>
          <a:xfrm>
            <a:off x="3053581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/>
          <p:cNvSpPr txBox="1"/>
          <p:nvPr/>
        </p:nvSpPr>
        <p:spPr>
          <a:xfrm>
            <a:off x="2989831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橢圓 29"/>
          <p:cNvSpPr/>
          <p:nvPr/>
        </p:nvSpPr>
        <p:spPr>
          <a:xfrm>
            <a:off x="2730474" y="500597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4750734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橢圓 31"/>
          <p:cNvSpPr/>
          <p:nvPr/>
        </p:nvSpPr>
        <p:spPr>
          <a:xfrm>
            <a:off x="5442465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3" name="直線接點 32"/>
          <p:cNvCxnSpPr>
            <a:stCxn id="27" idx="4"/>
            <a:endCxn id="30" idx="0"/>
          </p:cNvCxnSpPr>
          <p:nvPr/>
        </p:nvCxnSpPr>
        <p:spPr>
          <a:xfrm flipH="1">
            <a:off x="2874474" y="4773332"/>
            <a:ext cx="323107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橢圓 33"/>
          <p:cNvSpPr/>
          <p:nvPr/>
        </p:nvSpPr>
        <p:spPr>
          <a:xfrm>
            <a:off x="3568312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橢圓 34"/>
          <p:cNvSpPr/>
          <p:nvPr/>
        </p:nvSpPr>
        <p:spPr>
          <a:xfrm>
            <a:off x="4338737" y="340990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6" name="直線接點 35"/>
          <p:cNvCxnSpPr>
            <a:stCxn id="18" idx="4"/>
            <a:endCxn id="32" idx="0"/>
          </p:cNvCxnSpPr>
          <p:nvPr/>
        </p:nvCxnSpPr>
        <p:spPr>
          <a:xfrm>
            <a:off x="5234490" y="4226992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/>
          <p:cNvCxnSpPr>
            <a:stCxn id="18" idx="4"/>
            <a:endCxn id="31" idx="0"/>
          </p:cNvCxnSpPr>
          <p:nvPr/>
        </p:nvCxnSpPr>
        <p:spPr>
          <a:xfrm flipH="1">
            <a:off x="4894734" y="4226992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/>
          <p:cNvCxnSpPr>
            <a:stCxn id="34" idx="4"/>
            <a:endCxn id="25" idx="0"/>
          </p:cNvCxnSpPr>
          <p:nvPr/>
        </p:nvCxnSpPr>
        <p:spPr>
          <a:xfrm>
            <a:off x="3712312" y="4226992"/>
            <a:ext cx="496162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>
            <a:stCxn id="34" idx="4"/>
            <a:endCxn id="27" idx="0"/>
          </p:cNvCxnSpPr>
          <p:nvPr/>
        </p:nvCxnSpPr>
        <p:spPr>
          <a:xfrm flipH="1">
            <a:off x="3197581" y="4226992"/>
            <a:ext cx="51473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/>
          <p:cNvCxnSpPr>
            <a:stCxn id="35" idx="4"/>
            <a:endCxn id="18" idx="0"/>
          </p:cNvCxnSpPr>
          <p:nvPr/>
        </p:nvCxnSpPr>
        <p:spPr>
          <a:xfrm>
            <a:off x="4482737" y="3697905"/>
            <a:ext cx="751753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>
            <a:stCxn id="35" idx="4"/>
            <a:endCxn id="34" idx="0"/>
          </p:cNvCxnSpPr>
          <p:nvPr/>
        </p:nvCxnSpPr>
        <p:spPr>
          <a:xfrm flipH="1">
            <a:off x="3712312" y="3697905"/>
            <a:ext cx="770425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字方塊 41"/>
          <p:cNvSpPr txBox="1"/>
          <p:nvPr/>
        </p:nvSpPr>
        <p:spPr>
          <a:xfrm>
            <a:off x="4285856" y="336061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3512500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73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4686984" y="443319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5387116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2666724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橢圓 46"/>
          <p:cNvSpPr/>
          <p:nvPr/>
        </p:nvSpPr>
        <p:spPr>
          <a:xfrm>
            <a:off x="3390469" y="500737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橢圓 47"/>
          <p:cNvSpPr/>
          <p:nvPr/>
        </p:nvSpPr>
        <p:spPr>
          <a:xfrm>
            <a:off x="3754412" y="500737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9" name="直線接點 48"/>
          <p:cNvCxnSpPr>
            <a:stCxn id="27" idx="4"/>
            <a:endCxn id="47" idx="0"/>
          </p:cNvCxnSpPr>
          <p:nvPr/>
        </p:nvCxnSpPr>
        <p:spPr>
          <a:xfrm>
            <a:off x="3197581" y="4773332"/>
            <a:ext cx="336888" cy="23404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>
            <a:stCxn id="25" idx="4"/>
            <a:endCxn id="48" idx="0"/>
          </p:cNvCxnSpPr>
          <p:nvPr/>
        </p:nvCxnSpPr>
        <p:spPr>
          <a:xfrm flipH="1">
            <a:off x="3898412" y="4779117"/>
            <a:ext cx="310062" cy="22825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字方塊 50"/>
          <p:cNvSpPr txBox="1"/>
          <p:nvPr/>
        </p:nvSpPr>
        <p:spPr>
          <a:xfrm>
            <a:off x="3326719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3698261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54" name="弧形接點 53"/>
          <p:cNvCxnSpPr>
            <a:stCxn id="42" idx="1"/>
            <a:endCxn id="43" idx="0"/>
          </p:cNvCxnSpPr>
          <p:nvPr/>
        </p:nvCxnSpPr>
        <p:spPr>
          <a:xfrm rot="10800000" flipV="1">
            <a:off x="3720250" y="3545278"/>
            <a:ext cx="565606" cy="344421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弧形接點 54"/>
          <p:cNvCxnSpPr>
            <a:stCxn id="43" idx="3"/>
            <a:endCxn id="42" idx="2"/>
          </p:cNvCxnSpPr>
          <p:nvPr/>
        </p:nvCxnSpPr>
        <p:spPr>
          <a:xfrm flipV="1">
            <a:off x="3927999" y="3729945"/>
            <a:ext cx="565607" cy="344421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29615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二元樹轉成堆積</a:t>
            </a:r>
            <a:r>
              <a:rPr lang="en-US" altLang="zh-TW" dirty="0"/>
              <a:t>-</a:t>
            </a:r>
            <a:r>
              <a:rPr lang="zh-TW" altLang="en-US" dirty="0"/>
              <a:t>逐一插入法 </a:t>
            </a:r>
            <a:r>
              <a:rPr lang="en-US" altLang="zh-TW" dirty="0"/>
              <a:t>(</a:t>
            </a:r>
            <a:r>
              <a:rPr lang="en-US" altLang="zh-TW" dirty="0" smtClean="0"/>
              <a:t>14/14</a:t>
            </a:r>
            <a:r>
              <a:rPr lang="en-US" altLang="zh-TW" dirty="0"/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將二元樹轉成</a:t>
            </a:r>
            <a:r>
              <a:rPr lang="en-US" altLang="zh-TW" dirty="0" smtClean="0"/>
              <a:t>max heap</a:t>
            </a:r>
          </a:p>
          <a:p>
            <a:pPr lvl="1"/>
            <a:r>
              <a:rPr lang="zh-TW" altLang="en-US" dirty="0" smtClean="0">
                <a:solidFill>
                  <a:srgbClr val="0000FF"/>
                </a:solidFill>
              </a:rPr>
              <a:t>方法二：逐一插入法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41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1634774" y="2423544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u="sn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橢圓 17"/>
          <p:cNvSpPr/>
          <p:nvPr/>
        </p:nvSpPr>
        <p:spPr>
          <a:xfrm>
            <a:off x="5090490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文字方塊 18"/>
          <p:cNvSpPr txBox="1"/>
          <p:nvPr/>
        </p:nvSpPr>
        <p:spPr>
          <a:xfrm>
            <a:off x="5026217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橢圓 24"/>
          <p:cNvSpPr/>
          <p:nvPr/>
        </p:nvSpPr>
        <p:spPr>
          <a:xfrm>
            <a:off x="4064474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文字方塊 25"/>
          <p:cNvSpPr txBox="1"/>
          <p:nvPr/>
        </p:nvSpPr>
        <p:spPr>
          <a:xfrm>
            <a:off x="4002954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66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橢圓 26"/>
          <p:cNvSpPr/>
          <p:nvPr/>
        </p:nvSpPr>
        <p:spPr>
          <a:xfrm>
            <a:off x="3053581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9" name="文字方塊 28"/>
          <p:cNvSpPr txBox="1"/>
          <p:nvPr/>
        </p:nvSpPr>
        <p:spPr>
          <a:xfrm>
            <a:off x="2989831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橢圓 29"/>
          <p:cNvSpPr/>
          <p:nvPr/>
        </p:nvSpPr>
        <p:spPr>
          <a:xfrm>
            <a:off x="2730474" y="500597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4750734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橢圓 31"/>
          <p:cNvSpPr/>
          <p:nvPr/>
        </p:nvSpPr>
        <p:spPr>
          <a:xfrm>
            <a:off x="5442465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3" name="直線接點 32"/>
          <p:cNvCxnSpPr>
            <a:stCxn id="27" idx="4"/>
            <a:endCxn id="30" idx="0"/>
          </p:cNvCxnSpPr>
          <p:nvPr/>
        </p:nvCxnSpPr>
        <p:spPr>
          <a:xfrm flipH="1">
            <a:off x="2874474" y="4773332"/>
            <a:ext cx="323107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橢圓 33"/>
          <p:cNvSpPr/>
          <p:nvPr/>
        </p:nvSpPr>
        <p:spPr>
          <a:xfrm>
            <a:off x="3568312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5" name="橢圓 34"/>
          <p:cNvSpPr/>
          <p:nvPr/>
        </p:nvSpPr>
        <p:spPr>
          <a:xfrm>
            <a:off x="4338737" y="340990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6" name="直線接點 35"/>
          <p:cNvCxnSpPr>
            <a:stCxn id="18" idx="4"/>
            <a:endCxn id="32" idx="0"/>
          </p:cNvCxnSpPr>
          <p:nvPr/>
        </p:nvCxnSpPr>
        <p:spPr>
          <a:xfrm>
            <a:off x="5234490" y="4226992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線接點 36"/>
          <p:cNvCxnSpPr>
            <a:stCxn id="18" idx="4"/>
            <a:endCxn id="31" idx="0"/>
          </p:cNvCxnSpPr>
          <p:nvPr/>
        </p:nvCxnSpPr>
        <p:spPr>
          <a:xfrm flipH="1">
            <a:off x="4894734" y="4226992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線接點 37"/>
          <p:cNvCxnSpPr>
            <a:stCxn id="34" idx="4"/>
            <a:endCxn id="25" idx="0"/>
          </p:cNvCxnSpPr>
          <p:nvPr/>
        </p:nvCxnSpPr>
        <p:spPr>
          <a:xfrm>
            <a:off x="3712312" y="4226992"/>
            <a:ext cx="496162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線接點 38"/>
          <p:cNvCxnSpPr>
            <a:stCxn id="34" idx="4"/>
            <a:endCxn id="27" idx="0"/>
          </p:cNvCxnSpPr>
          <p:nvPr/>
        </p:nvCxnSpPr>
        <p:spPr>
          <a:xfrm flipH="1">
            <a:off x="3197581" y="4226992"/>
            <a:ext cx="51473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線接點 39"/>
          <p:cNvCxnSpPr>
            <a:stCxn id="35" idx="4"/>
            <a:endCxn id="18" idx="0"/>
          </p:cNvCxnSpPr>
          <p:nvPr/>
        </p:nvCxnSpPr>
        <p:spPr>
          <a:xfrm>
            <a:off x="4482737" y="3697905"/>
            <a:ext cx="751753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線接點 40"/>
          <p:cNvCxnSpPr>
            <a:stCxn id="35" idx="4"/>
            <a:endCxn id="34" idx="0"/>
          </p:cNvCxnSpPr>
          <p:nvPr/>
        </p:nvCxnSpPr>
        <p:spPr>
          <a:xfrm flipH="1">
            <a:off x="3712312" y="3697905"/>
            <a:ext cx="770425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字方塊 41"/>
          <p:cNvSpPr txBox="1"/>
          <p:nvPr/>
        </p:nvSpPr>
        <p:spPr>
          <a:xfrm>
            <a:off x="4285856" y="336061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73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3512500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4686984" y="443319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文字方塊 44"/>
          <p:cNvSpPr txBox="1"/>
          <p:nvPr/>
        </p:nvSpPr>
        <p:spPr>
          <a:xfrm>
            <a:off x="5387116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2666724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橢圓 46"/>
          <p:cNvSpPr/>
          <p:nvPr/>
        </p:nvSpPr>
        <p:spPr>
          <a:xfrm>
            <a:off x="3390469" y="500737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橢圓 47"/>
          <p:cNvSpPr/>
          <p:nvPr/>
        </p:nvSpPr>
        <p:spPr>
          <a:xfrm>
            <a:off x="3754412" y="500737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9" name="直線接點 48"/>
          <p:cNvCxnSpPr>
            <a:stCxn id="27" idx="4"/>
            <a:endCxn id="47" idx="0"/>
          </p:cNvCxnSpPr>
          <p:nvPr/>
        </p:nvCxnSpPr>
        <p:spPr>
          <a:xfrm>
            <a:off x="3197581" y="4773332"/>
            <a:ext cx="336888" cy="23404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>
            <a:stCxn id="25" idx="4"/>
            <a:endCxn id="48" idx="0"/>
          </p:cNvCxnSpPr>
          <p:nvPr/>
        </p:nvCxnSpPr>
        <p:spPr>
          <a:xfrm flipH="1">
            <a:off x="3898412" y="4779117"/>
            <a:ext cx="310062" cy="22825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字方塊 50"/>
          <p:cNvSpPr txBox="1"/>
          <p:nvPr/>
        </p:nvSpPr>
        <p:spPr>
          <a:xfrm>
            <a:off x="3326719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文字方塊 51"/>
          <p:cNvSpPr txBox="1"/>
          <p:nvPr/>
        </p:nvSpPr>
        <p:spPr>
          <a:xfrm>
            <a:off x="3698261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95177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內容版面配置區 2"/>
          <p:cNvSpPr>
            <a:spLocks noGrp="1"/>
          </p:cNvSpPr>
          <p:nvPr>
            <p:ph sz="quarter" idx="4294967295"/>
          </p:nvPr>
        </p:nvSpPr>
        <p:spPr>
          <a:xfrm>
            <a:off x="170980" y="1319014"/>
            <a:ext cx="8826061" cy="5098878"/>
          </a:xfrm>
          <a:prstGeom prst="rect">
            <a:avLst/>
          </a:prstGeom>
        </p:spPr>
        <p:txBody>
          <a:bodyPr/>
          <a:lstStyle/>
          <a:p>
            <a:r>
              <a:rPr lang="zh-TW" altLang="en-US" dirty="0" smtClean="0"/>
              <a:t>將二元樹轉成</a:t>
            </a:r>
            <a:r>
              <a:rPr lang="en-US" altLang="zh-TW" dirty="0" smtClean="0"/>
              <a:t>max heap</a:t>
            </a:r>
          </a:p>
          <a:p>
            <a:pPr lvl="1"/>
            <a:endParaRPr lang="zh-TW" alt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二元樹轉</a:t>
            </a:r>
            <a:r>
              <a:rPr lang="zh-TW" altLang="en-US" dirty="0" smtClean="0"/>
              <a:t>成最大堆積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(c) 2026 Spring, C.-W. Lee</a:t>
            </a:r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42</a:t>
            </a:fld>
            <a:endParaRPr lang="en-US" dirty="0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/>
          </p:nvPr>
        </p:nvGraphicFramePr>
        <p:xfrm>
          <a:off x="1634774" y="2423544"/>
          <a:ext cx="6096000" cy="39624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38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67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41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39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u="sng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72</a:t>
                      </a:r>
                      <a:endParaRPr lang="zh-TW" altLang="en-US" sz="2000" u="sng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37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66</a:t>
                      </a:r>
                      <a:endParaRPr lang="zh-TW" altLang="en-US" sz="2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TW" sz="2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73</a:t>
                      </a:r>
                      <a:endParaRPr lang="zh-TW" altLang="en-US" sz="2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8" name="橢圓 7"/>
          <p:cNvSpPr/>
          <p:nvPr/>
        </p:nvSpPr>
        <p:spPr>
          <a:xfrm>
            <a:off x="8363918" y="386336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文字方塊 8"/>
          <p:cNvSpPr txBox="1"/>
          <p:nvPr/>
        </p:nvSpPr>
        <p:spPr>
          <a:xfrm>
            <a:off x="8299645" y="3814071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橢圓 9"/>
          <p:cNvSpPr/>
          <p:nvPr/>
        </p:nvSpPr>
        <p:spPr>
          <a:xfrm>
            <a:off x="7337902" y="441548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/>
          <p:cNvSpPr txBox="1"/>
          <p:nvPr/>
        </p:nvSpPr>
        <p:spPr>
          <a:xfrm>
            <a:off x="7276382" y="4360411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66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橢圓 11"/>
          <p:cNvSpPr/>
          <p:nvPr/>
        </p:nvSpPr>
        <p:spPr>
          <a:xfrm>
            <a:off x="6327009" y="440970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6263259" y="4360411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橢圓 13"/>
          <p:cNvSpPr/>
          <p:nvPr/>
        </p:nvSpPr>
        <p:spPr>
          <a:xfrm>
            <a:off x="6003902" y="493034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8024162" y="440970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6" name="橢圓 15"/>
          <p:cNvSpPr/>
          <p:nvPr/>
        </p:nvSpPr>
        <p:spPr>
          <a:xfrm>
            <a:off x="8715893" y="441548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7" name="直線接點 16"/>
          <p:cNvCxnSpPr>
            <a:stCxn id="12" idx="4"/>
            <a:endCxn id="14" idx="0"/>
          </p:cNvCxnSpPr>
          <p:nvPr/>
        </p:nvCxnSpPr>
        <p:spPr>
          <a:xfrm flipH="1">
            <a:off x="6147902" y="4697703"/>
            <a:ext cx="323107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橢圓 17"/>
          <p:cNvSpPr/>
          <p:nvPr/>
        </p:nvSpPr>
        <p:spPr>
          <a:xfrm>
            <a:off x="6841740" y="386336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9" name="橢圓 18"/>
          <p:cNvSpPr/>
          <p:nvPr/>
        </p:nvSpPr>
        <p:spPr>
          <a:xfrm>
            <a:off x="7612165" y="333427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0" name="直線接點 19"/>
          <p:cNvCxnSpPr>
            <a:stCxn id="8" idx="4"/>
            <a:endCxn id="16" idx="0"/>
          </p:cNvCxnSpPr>
          <p:nvPr/>
        </p:nvCxnSpPr>
        <p:spPr>
          <a:xfrm>
            <a:off x="8507918" y="4151363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8" idx="4"/>
            <a:endCxn id="15" idx="0"/>
          </p:cNvCxnSpPr>
          <p:nvPr/>
        </p:nvCxnSpPr>
        <p:spPr>
          <a:xfrm flipH="1">
            <a:off x="8168162" y="4151363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18" idx="4"/>
            <a:endCxn id="10" idx="0"/>
          </p:cNvCxnSpPr>
          <p:nvPr/>
        </p:nvCxnSpPr>
        <p:spPr>
          <a:xfrm>
            <a:off x="6985740" y="4151363"/>
            <a:ext cx="496162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18" idx="4"/>
            <a:endCxn id="12" idx="0"/>
          </p:cNvCxnSpPr>
          <p:nvPr/>
        </p:nvCxnSpPr>
        <p:spPr>
          <a:xfrm flipH="1">
            <a:off x="6471009" y="4151363"/>
            <a:ext cx="51473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>
            <a:stCxn id="19" idx="4"/>
            <a:endCxn id="8" idx="0"/>
          </p:cNvCxnSpPr>
          <p:nvPr/>
        </p:nvCxnSpPr>
        <p:spPr>
          <a:xfrm>
            <a:off x="7756165" y="3622276"/>
            <a:ext cx="751753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線接點 24"/>
          <p:cNvCxnSpPr>
            <a:stCxn id="19" idx="4"/>
            <a:endCxn id="18" idx="0"/>
          </p:cNvCxnSpPr>
          <p:nvPr/>
        </p:nvCxnSpPr>
        <p:spPr>
          <a:xfrm flipH="1">
            <a:off x="6985740" y="3622276"/>
            <a:ext cx="770425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文字方塊 25"/>
          <p:cNvSpPr txBox="1"/>
          <p:nvPr/>
        </p:nvSpPr>
        <p:spPr>
          <a:xfrm>
            <a:off x="7559284" y="328498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6785928" y="3814071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7960412" y="435757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8660544" y="4360411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文字方塊 29"/>
          <p:cNvSpPr txBox="1"/>
          <p:nvPr/>
        </p:nvSpPr>
        <p:spPr>
          <a:xfrm>
            <a:off x="5940152" y="488082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橢圓 30"/>
          <p:cNvSpPr/>
          <p:nvPr/>
        </p:nvSpPr>
        <p:spPr>
          <a:xfrm>
            <a:off x="6663897" y="493174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2" name="橢圓 31"/>
          <p:cNvSpPr/>
          <p:nvPr/>
        </p:nvSpPr>
        <p:spPr>
          <a:xfrm>
            <a:off x="7027840" y="493174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3" name="直線接點 32"/>
          <p:cNvCxnSpPr>
            <a:stCxn id="12" idx="4"/>
            <a:endCxn id="31" idx="0"/>
          </p:cNvCxnSpPr>
          <p:nvPr/>
        </p:nvCxnSpPr>
        <p:spPr>
          <a:xfrm>
            <a:off x="6471009" y="4697703"/>
            <a:ext cx="336888" cy="23404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線接點 33"/>
          <p:cNvCxnSpPr>
            <a:stCxn id="10" idx="4"/>
            <a:endCxn id="32" idx="0"/>
          </p:cNvCxnSpPr>
          <p:nvPr/>
        </p:nvCxnSpPr>
        <p:spPr>
          <a:xfrm flipH="1">
            <a:off x="7171840" y="4703488"/>
            <a:ext cx="310062" cy="22825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文字方塊 34"/>
          <p:cNvSpPr txBox="1"/>
          <p:nvPr/>
        </p:nvSpPr>
        <p:spPr>
          <a:xfrm>
            <a:off x="6600147" y="488082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6971689" y="488082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橢圓 36"/>
          <p:cNvSpPr/>
          <p:nvPr/>
        </p:nvSpPr>
        <p:spPr>
          <a:xfrm>
            <a:off x="5444051" y="386336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8" name="文字方塊 37"/>
          <p:cNvSpPr txBox="1"/>
          <p:nvPr/>
        </p:nvSpPr>
        <p:spPr>
          <a:xfrm>
            <a:off x="5379778" y="3814071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橢圓 38"/>
          <p:cNvSpPr/>
          <p:nvPr/>
        </p:nvSpPr>
        <p:spPr>
          <a:xfrm>
            <a:off x="4418035" y="441548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文字方塊 39"/>
          <p:cNvSpPr txBox="1"/>
          <p:nvPr/>
        </p:nvSpPr>
        <p:spPr>
          <a:xfrm>
            <a:off x="4356515" y="4360411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橢圓 40"/>
          <p:cNvSpPr/>
          <p:nvPr/>
        </p:nvSpPr>
        <p:spPr>
          <a:xfrm>
            <a:off x="3407142" y="440970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2" name="文字方塊 41"/>
          <p:cNvSpPr txBox="1"/>
          <p:nvPr/>
        </p:nvSpPr>
        <p:spPr>
          <a:xfrm>
            <a:off x="3343392" y="4360411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66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橢圓 42"/>
          <p:cNvSpPr/>
          <p:nvPr/>
        </p:nvSpPr>
        <p:spPr>
          <a:xfrm>
            <a:off x="3084035" y="493034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4" name="橢圓 43"/>
          <p:cNvSpPr/>
          <p:nvPr/>
        </p:nvSpPr>
        <p:spPr>
          <a:xfrm>
            <a:off x="5104295" y="440970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橢圓 44"/>
          <p:cNvSpPr/>
          <p:nvPr/>
        </p:nvSpPr>
        <p:spPr>
          <a:xfrm>
            <a:off x="5796026" y="441548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6" name="直線接點 45"/>
          <p:cNvCxnSpPr>
            <a:stCxn id="41" idx="4"/>
            <a:endCxn id="43" idx="0"/>
          </p:cNvCxnSpPr>
          <p:nvPr/>
        </p:nvCxnSpPr>
        <p:spPr>
          <a:xfrm flipH="1">
            <a:off x="3228035" y="4697703"/>
            <a:ext cx="323107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橢圓 46"/>
          <p:cNvSpPr/>
          <p:nvPr/>
        </p:nvSpPr>
        <p:spPr>
          <a:xfrm>
            <a:off x="3921873" y="386336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橢圓 47"/>
          <p:cNvSpPr/>
          <p:nvPr/>
        </p:nvSpPr>
        <p:spPr>
          <a:xfrm>
            <a:off x="4692298" y="333427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9" name="直線接點 48"/>
          <p:cNvCxnSpPr>
            <a:stCxn id="37" idx="4"/>
            <a:endCxn id="45" idx="0"/>
          </p:cNvCxnSpPr>
          <p:nvPr/>
        </p:nvCxnSpPr>
        <p:spPr>
          <a:xfrm>
            <a:off x="5588051" y="4151363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線接點 49"/>
          <p:cNvCxnSpPr>
            <a:stCxn id="37" idx="4"/>
            <a:endCxn id="44" idx="0"/>
          </p:cNvCxnSpPr>
          <p:nvPr/>
        </p:nvCxnSpPr>
        <p:spPr>
          <a:xfrm flipH="1">
            <a:off x="5248295" y="4151363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直線接點 50"/>
          <p:cNvCxnSpPr>
            <a:stCxn id="47" idx="4"/>
            <a:endCxn id="39" idx="0"/>
          </p:cNvCxnSpPr>
          <p:nvPr/>
        </p:nvCxnSpPr>
        <p:spPr>
          <a:xfrm>
            <a:off x="4065873" y="4151363"/>
            <a:ext cx="496162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直線接點 51"/>
          <p:cNvCxnSpPr>
            <a:stCxn id="47" idx="4"/>
            <a:endCxn id="41" idx="0"/>
          </p:cNvCxnSpPr>
          <p:nvPr/>
        </p:nvCxnSpPr>
        <p:spPr>
          <a:xfrm flipH="1">
            <a:off x="3551142" y="4151363"/>
            <a:ext cx="51473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線接點 52"/>
          <p:cNvCxnSpPr>
            <a:stCxn id="48" idx="4"/>
            <a:endCxn id="37" idx="0"/>
          </p:cNvCxnSpPr>
          <p:nvPr/>
        </p:nvCxnSpPr>
        <p:spPr>
          <a:xfrm>
            <a:off x="4836298" y="3622276"/>
            <a:ext cx="751753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線接點 53"/>
          <p:cNvCxnSpPr>
            <a:stCxn id="48" idx="4"/>
            <a:endCxn id="47" idx="0"/>
          </p:cNvCxnSpPr>
          <p:nvPr/>
        </p:nvCxnSpPr>
        <p:spPr>
          <a:xfrm flipH="1">
            <a:off x="4065873" y="3622276"/>
            <a:ext cx="770425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文字方塊 54"/>
          <p:cNvSpPr txBox="1"/>
          <p:nvPr/>
        </p:nvSpPr>
        <p:spPr>
          <a:xfrm>
            <a:off x="4639417" y="328498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文字方塊 55"/>
          <p:cNvSpPr txBox="1"/>
          <p:nvPr/>
        </p:nvSpPr>
        <p:spPr>
          <a:xfrm>
            <a:off x="3866061" y="3814071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文字方塊 56"/>
          <p:cNvSpPr txBox="1"/>
          <p:nvPr/>
        </p:nvSpPr>
        <p:spPr>
          <a:xfrm>
            <a:off x="5040545" y="435757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" name="文字方塊 57"/>
          <p:cNvSpPr txBox="1"/>
          <p:nvPr/>
        </p:nvSpPr>
        <p:spPr>
          <a:xfrm>
            <a:off x="5740677" y="4360411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9" name="文字方塊 58"/>
          <p:cNvSpPr txBox="1"/>
          <p:nvPr/>
        </p:nvSpPr>
        <p:spPr>
          <a:xfrm>
            <a:off x="3020285" y="488082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0" name="橢圓 59"/>
          <p:cNvSpPr/>
          <p:nvPr/>
        </p:nvSpPr>
        <p:spPr>
          <a:xfrm>
            <a:off x="3744030" y="493174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1" name="橢圓 60"/>
          <p:cNvSpPr/>
          <p:nvPr/>
        </p:nvSpPr>
        <p:spPr>
          <a:xfrm>
            <a:off x="4107973" y="493174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2" name="直線接點 61"/>
          <p:cNvCxnSpPr>
            <a:stCxn id="41" idx="4"/>
            <a:endCxn id="60" idx="0"/>
          </p:cNvCxnSpPr>
          <p:nvPr/>
        </p:nvCxnSpPr>
        <p:spPr>
          <a:xfrm>
            <a:off x="3551142" y="4697703"/>
            <a:ext cx="336888" cy="23404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線接點 62"/>
          <p:cNvCxnSpPr>
            <a:stCxn id="39" idx="4"/>
            <a:endCxn id="61" idx="0"/>
          </p:cNvCxnSpPr>
          <p:nvPr/>
        </p:nvCxnSpPr>
        <p:spPr>
          <a:xfrm flipH="1">
            <a:off x="4251973" y="4703488"/>
            <a:ext cx="310062" cy="22825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4" name="文字方塊 63"/>
          <p:cNvSpPr txBox="1"/>
          <p:nvPr/>
        </p:nvSpPr>
        <p:spPr>
          <a:xfrm>
            <a:off x="3680280" y="488082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4051822" y="488082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6399490" y="5668357"/>
            <a:ext cx="249299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方法二：逐一插入法</a:t>
            </a:r>
          </a:p>
        </p:txBody>
      </p:sp>
      <p:sp>
        <p:nvSpPr>
          <p:cNvPr id="67" name="矩形 66"/>
          <p:cNvSpPr/>
          <p:nvPr/>
        </p:nvSpPr>
        <p:spPr>
          <a:xfrm>
            <a:off x="3447162" y="5668357"/>
            <a:ext cx="249299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方法一：往下調整</a:t>
            </a:r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法</a:t>
            </a:r>
            <a:endParaRPr lang="en-US" altLang="zh-TW" sz="2000" b="1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r"/>
            <a:r>
              <a:rPr lang="en-US" altLang="zh-TW" sz="2000" b="1" dirty="0" smtClean="0">
                <a:latin typeface="+mj-lt"/>
                <a:ea typeface="標楷體" panose="03000509000000000000" pitchFamily="65" charset="-120"/>
              </a:rPr>
              <a:t>(</a:t>
            </a:r>
            <a:r>
              <a:rPr lang="zh-TW" altLang="en-US" sz="2000" b="1" dirty="0" smtClean="0">
                <a:latin typeface="+mj-lt"/>
                <a:ea typeface="標楷體" panose="03000509000000000000" pitchFamily="65" charset="-120"/>
              </a:rPr>
              <a:t>由下而上</a:t>
            </a:r>
            <a:r>
              <a:rPr lang="en-US" altLang="zh-TW" sz="2000" b="1" dirty="0" smtClean="0">
                <a:latin typeface="+mj-lt"/>
                <a:ea typeface="標楷體" panose="03000509000000000000" pitchFamily="65" charset="-120"/>
              </a:rPr>
              <a:t>)</a:t>
            </a:r>
            <a:endParaRPr lang="zh-TW" altLang="en-US" sz="2000" b="1" dirty="0"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69" name="橢圓 68"/>
          <p:cNvSpPr/>
          <p:nvPr/>
        </p:nvSpPr>
        <p:spPr>
          <a:xfrm>
            <a:off x="1505254" y="441548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0" name="文字方塊 69"/>
          <p:cNvSpPr txBox="1"/>
          <p:nvPr/>
        </p:nvSpPr>
        <p:spPr>
          <a:xfrm>
            <a:off x="1452360" y="4360411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66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橢圓 70"/>
          <p:cNvSpPr/>
          <p:nvPr/>
        </p:nvSpPr>
        <p:spPr>
          <a:xfrm>
            <a:off x="494361" y="440970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2" name="文字方塊 71"/>
          <p:cNvSpPr txBox="1"/>
          <p:nvPr/>
        </p:nvSpPr>
        <p:spPr>
          <a:xfrm>
            <a:off x="430611" y="4360411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橢圓 72"/>
          <p:cNvSpPr/>
          <p:nvPr/>
        </p:nvSpPr>
        <p:spPr>
          <a:xfrm>
            <a:off x="171254" y="493034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4" name="橢圓 73"/>
          <p:cNvSpPr/>
          <p:nvPr/>
        </p:nvSpPr>
        <p:spPr>
          <a:xfrm>
            <a:off x="2191514" y="440970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5" name="橢圓 74"/>
          <p:cNvSpPr/>
          <p:nvPr/>
        </p:nvSpPr>
        <p:spPr>
          <a:xfrm>
            <a:off x="2883245" y="441548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6" name="直線接點 75"/>
          <p:cNvCxnSpPr>
            <a:stCxn id="71" idx="4"/>
            <a:endCxn id="73" idx="0"/>
          </p:cNvCxnSpPr>
          <p:nvPr/>
        </p:nvCxnSpPr>
        <p:spPr>
          <a:xfrm flipH="1">
            <a:off x="315254" y="4697703"/>
            <a:ext cx="323107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橢圓 76"/>
          <p:cNvSpPr/>
          <p:nvPr/>
        </p:nvSpPr>
        <p:spPr>
          <a:xfrm>
            <a:off x="1009092" y="386336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8" name="橢圓 77"/>
          <p:cNvSpPr/>
          <p:nvPr/>
        </p:nvSpPr>
        <p:spPr>
          <a:xfrm>
            <a:off x="2531270" y="386336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9" name="橢圓 78"/>
          <p:cNvSpPr/>
          <p:nvPr/>
        </p:nvSpPr>
        <p:spPr>
          <a:xfrm>
            <a:off x="1779517" y="333427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80" name="直線接點 79"/>
          <p:cNvCxnSpPr>
            <a:stCxn id="78" idx="4"/>
            <a:endCxn id="75" idx="0"/>
          </p:cNvCxnSpPr>
          <p:nvPr/>
        </p:nvCxnSpPr>
        <p:spPr>
          <a:xfrm>
            <a:off x="2675270" y="4151363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直線接點 80"/>
          <p:cNvCxnSpPr>
            <a:stCxn id="78" idx="4"/>
            <a:endCxn id="74" idx="0"/>
          </p:cNvCxnSpPr>
          <p:nvPr/>
        </p:nvCxnSpPr>
        <p:spPr>
          <a:xfrm flipH="1">
            <a:off x="2335514" y="4151363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直線接點 81"/>
          <p:cNvCxnSpPr>
            <a:stCxn id="77" idx="4"/>
            <a:endCxn id="69" idx="0"/>
          </p:cNvCxnSpPr>
          <p:nvPr/>
        </p:nvCxnSpPr>
        <p:spPr>
          <a:xfrm>
            <a:off x="1153092" y="4151363"/>
            <a:ext cx="496162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直線接點 82"/>
          <p:cNvCxnSpPr>
            <a:stCxn id="77" idx="4"/>
            <a:endCxn id="71" idx="0"/>
          </p:cNvCxnSpPr>
          <p:nvPr/>
        </p:nvCxnSpPr>
        <p:spPr>
          <a:xfrm flipH="1">
            <a:off x="638361" y="4151363"/>
            <a:ext cx="51473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/>
          <p:cNvCxnSpPr>
            <a:stCxn id="79" idx="4"/>
            <a:endCxn id="78" idx="0"/>
          </p:cNvCxnSpPr>
          <p:nvPr/>
        </p:nvCxnSpPr>
        <p:spPr>
          <a:xfrm>
            <a:off x="1923517" y="3622276"/>
            <a:ext cx="751753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直線接點 84"/>
          <p:cNvCxnSpPr>
            <a:stCxn id="79" idx="4"/>
            <a:endCxn id="77" idx="0"/>
          </p:cNvCxnSpPr>
          <p:nvPr/>
        </p:nvCxnSpPr>
        <p:spPr>
          <a:xfrm flipH="1">
            <a:off x="1153092" y="3622276"/>
            <a:ext cx="770425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文字方塊 85"/>
          <p:cNvSpPr txBox="1"/>
          <p:nvPr/>
        </p:nvSpPr>
        <p:spPr>
          <a:xfrm>
            <a:off x="1726636" y="328498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文字方塊 86"/>
          <p:cNvSpPr txBox="1"/>
          <p:nvPr/>
        </p:nvSpPr>
        <p:spPr>
          <a:xfrm>
            <a:off x="953280" y="3814071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文字方塊 87"/>
          <p:cNvSpPr txBox="1"/>
          <p:nvPr/>
        </p:nvSpPr>
        <p:spPr>
          <a:xfrm>
            <a:off x="2475623" y="380544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9" name="文字方塊 88"/>
          <p:cNvSpPr txBox="1"/>
          <p:nvPr/>
        </p:nvSpPr>
        <p:spPr>
          <a:xfrm>
            <a:off x="2127764" y="435757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0" name="文字方塊 89"/>
          <p:cNvSpPr txBox="1"/>
          <p:nvPr/>
        </p:nvSpPr>
        <p:spPr>
          <a:xfrm>
            <a:off x="2827896" y="4360411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文字方塊 90"/>
          <p:cNvSpPr txBox="1"/>
          <p:nvPr/>
        </p:nvSpPr>
        <p:spPr>
          <a:xfrm>
            <a:off x="107504" y="488082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橢圓 91"/>
          <p:cNvSpPr/>
          <p:nvPr/>
        </p:nvSpPr>
        <p:spPr>
          <a:xfrm>
            <a:off x="831249" y="493174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3" name="橢圓 92"/>
          <p:cNvSpPr/>
          <p:nvPr/>
        </p:nvSpPr>
        <p:spPr>
          <a:xfrm>
            <a:off x="1195192" y="493174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4" name="直線接點 93"/>
          <p:cNvCxnSpPr>
            <a:stCxn id="71" idx="4"/>
            <a:endCxn id="92" idx="0"/>
          </p:cNvCxnSpPr>
          <p:nvPr/>
        </p:nvCxnSpPr>
        <p:spPr>
          <a:xfrm>
            <a:off x="638361" y="4697703"/>
            <a:ext cx="336888" cy="23404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直線接點 94"/>
          <p:cNvCxnSpPr>
            <a:stCxn id="69" idx="4"/>
            <a:endCxn id="93" idx="0"/>
          </p:cNvCxnSpPr>
          <p:nvPr/>
        </p:nvCxnSpPr>
        <p:spPr>
          <a:xfrm flipH="1">
            <a:off x="1339192" y="4703488"/>
            <a:ext cx="310062" cy="22825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文字方塊 95"/>
          <p:cNvSpPr txBox="1"/>
          <p:nvPr/>
        </p:nvSpPr>
        <p:spPr>
          <a:xfrm>
            <a:off x="767499" y="488082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文字方塊 96"/>
          <p:cNvSpPr txBox="1"/>
          <p:nvPr/>
        </p:nvSpPr>
        <p:spPr>
          <a:xfrm>
            <a:off x="1139041" y="488082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8" name="矩形 97"/>
          <p:cNvSpPr/>
          <p:nvPr/>
        </p:nvSpPr>
        <p:spPr>
          <a:xfrm>
            <a:off x="334906" y="5668357"/>
            <a:ext cx="2492990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2000" b="1" dirty="0">
                <a:latin typeface="標楷體" panose="03000509000000000000" pitchFamily="65" charset="-120"/>
                <a:ea typeface="標楷體" panose="03000509000000000000" pitchFamily="65" charset="-120"/>
              </a:rPr>
              <a:t>方法一：往下調整</a:t>
            </a:r>
            <a:r>
              <a:rPr lang="zh-TW" altLang="en-US" sz="2000" b="1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法</a:t>
            </a:r>
            <a:endParaRPr lang="en-US" altLang="zh-TW" sz="2000" b="1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r"/>
            <a:r>
              <a:rPr lang="en-US" altLang="zh-TW" sz="2000" b="1" dirty="0" smtClean="0">
                <a:latin typeface="+mj-lt"/>
                <a:ea typeface="標楷體" panose="03000509000000000000" pitchFamily="65" charset="-120"/>
              </a:rPr>
              <a:t>(</a:t>
            </a:r>
            <a:r>
              <a:rPr lang="zh-TW" altLang="en-US" sz="2000" b="1" dirty="0" smtClean="0">
                <a:latin typeface="+mj-lt"/>
                <a:ea typeface="標楷體" panose="03000509000000000000" pitchFamily="65" charset="-120"/>
              </a:rPr>
              <a:t>由上而下</a:t>
            </a:r>
            <a:r>
              <a:rPr lang="en-US" altLang="zh-TW" sz="2000" b="1" dirty="0" smtClean="0">
                <a:latin typeface="+mj-lt"/>
                <a:ea typeface="標楷體" panose="03000509000000000000" pitchFamily="65" charset="-120"/>
              </a:rPr>
              <a:t>)</a:t>
            </a:r>
            <a:endParaRPr lang="zh-TW" altLang="en-US" sz="2000" b="1" dirty="0">
              <a:latin typeface="+mj-lt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78510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Heap</a:t>
            </a:r>
            <a:r>
              <a:rPr lang="zh-TW" altLang="en-US" dirty="0" smtClean="0"/>
              <a:t>的加入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先依照完整二元樹特性加入，再調整為合法的</a:t>
            </a:r>
            <a:r>
              <a:rPr lang="en-US" altLang="zh-TW" dirty="0" smtClean="0"/>
              <a:t>heap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43</a:t>
            </a:fld>
            <a:endParaRPr lang="en-US" altLang="zh-TW" dirty="0"/>
          </a:p>
        </p:txBody>
      </p:sp>
      <p:sp>
        <p:nvSpPr>
          <p:cNvPr id="7" name="橢圓 6"/>
          <p:cNvSpPr/>
          <p:nvPr/>
        </p:nvSpPr>
        <p:spPr>
          <a:xfrm>
            <a:off x="5090490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5026217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橢圓 8"/>
          <p:cNvSpPr/>
          <p:nvPr/>
        </p:nvSpPr>
        <p:spPr>
          <a:xfrm>
            <a:off x="4064474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4002954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66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橢圓 10"/>
          <p:cNvSpPr/>
          <p:nvPr/>
        </p:nvSpPr>
        <p:spPr>
          <a:xfrm>
            <a:off x="3053581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2989831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橢圓 12"/>
          <p:cNvSpPr/>
          <p:nvPr/>
        </p:nvSpPr>
        <p:spPr>
          <a:xfrm>
            <a:off x="2730474" y="500597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4750734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5442465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接點 15"/>
          <p:cNvCxnSpPr>
            <a:stCxn id="11" idx="4"/>
            <a:endCxn id="13" idx="0"/>
          </p:cNvCxnSpPr>
          <p:nvPr/>
        </p:nvCxnSpPr>
        <p:spPr>
          <a:xfrm flipH="1">
            <a:off x="2874474" y="4773332"/>
            <a:ext cx="323107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橢圓 16"/>
          <p:cNvSpPr/>
          <p:nvPr/>
        </p:nvSpPr>
        <p:spPr>
          <a:xfrm>
            <a:off x="3568312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/>
          <p:cNvSpPr/>
          <p:nvPr/>
        </p:nvSpPr>
        <p:spPr>
          <a:xfrm>
            <a:off x="4338737" y="340990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" name="直線接點 18"/>
          <p:cNvCxnSpPr>
            <a:stCxn id="7" idx="4"/>
            <a:endCxn id="15" idx="0"/>
          </p:cNvCxnSpPr>
          <p:nvPr/>
        </p:nvCxnSpPr>
        <p:spPr>
          <a:xfrm>
            <a:off x="5234490" y="4226992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7" idx="4"/>
            <a:endCxn id="14" idx="0"/>
          </p:cNvCxnSpPr>
          <p:nvPr/>
        </p:nvCxnSpPr>
        <p:spPr>
          <a:xfrm flipH="1">
            <a:off x="4894734" y="4226992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7" idx="4"/>
            <a:endCxn id="9" idx="0"/>
          </p:cNvCxnSpPr>
          <p:nvPr/>
        </p:nvCxnSpPr>
        <p:spPr>
          <a:xfrm>
            <a:off x="3712312" y="4226992"/>
            <a:ext cx="496162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17" idx="4"/>
            <a:endCxn id="11" idx="0"/>
          </p:cNvCxnSpPr>
          <p:nvPr/>
        </p:nvCxnSpPr>
        <p:spPr>
          <a:xfrm flipH="1">
            <a:off x="3197581" y="4226992"/>
            <a:ext cx="51473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18" idx="4"/>
            <a:endCxn id="7" idx="0"/>
          </p:cNvCxnSpPr>
          <p:nvPr/>
        </p:nvCxnSpPr>
        <p:spPr>
          <a:xfrm>
            <a:off x="4482737" y="3697905"/>
            <a:ext cx="751753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>
            <a:stCxn id="18" idx="4"/>
            <a:endCxn id="17" idx="0"/>
          </p:cNvCxnSpPr>
          <p:nvPr/>
        </p:nvCxnSpPr>
        <p:spPr>
          <a:xfrm flipH="1">
            <a:off x="3712312" y="3697905"/>
            <a:ext cx="770425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字方塊 24"/>
          <p:cNvSpPr txBox="1"/>
          <p:nvPr/>
        </p:nvSpPr>
        <p:spPr>
          <a:xfrm>
            <a:off x="4285856" y="336061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512500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4686984" y="443319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5387116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2666724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橢圓 29"/>
          <p:cNvSpPr/>
          <p:nvPr/>
        </p:nvSpPr>
        <p:spPr>
          <a:xfrm>
            <a:off x="3390469" y="500737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3754412" y="500737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2" name="直線接點 31"/>
          <p:cNvCxnSpPr>
            <a:stCxn id="11" idx="4"/>
            <a:endCxn id="30" idx="0"/>
          </p:cNvCxnSpPr>
          <p:nvPr/>
        </p:nvCxnSpPr>
        <p:spPr>
          <a:xfrm>
            <a:off x="3197581" y="4773332"/>
            <a:ext cx="336888" cy="23404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9" idx="4"/>
            <a:endCxn id="31" idx="0"/>
          </p:cNvCxnSpPr>
          <p:nvPr/>
        </p:nvCxnSpPr>
        <p:spPr>
          <a:xfrm flipH="1">
            <a:off x="3898412" y="4779117"/>
            <a:ext cx="310062" cy="22825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/>
          <p:cNvSpPr txBox="1"/>
          <p:nvPr/>
        </p:nvSpPr>
        <p:spPr>
          <a:xfrm>
            <a:off x="3326719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3698261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2006870" y="2912553"/>
            <a:ext cx="9829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加入</a:t>
            </a:r>
            <a:r>
              <a:rPr lang="en-US" altLang="zh-TW" sz="2000" b="1" dirty="0" smtClean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30</a:t>
            </a:r>
            <a:endParaRPr lang="zh-TW" altLang="en-US" b="1" dirty="0">
              <a:solidFill>
                <a:srgbClr val="C00000"/>
              </a:solidFill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38" name="橢圓 37"/>
          <p:cNvSpPr/>
          <p:nvPr/>
        </p:nvSpPr>
        <p:spPr>
          <a:xfrm>
            <a:off x="4188603" y="500737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文字方塊 38"/>
          <p:cNvSpPr txBox="1"/>
          <p:nvPr/>
        </p:nvSpPr>
        <p:spPr>
          <a:xfrm>
            <a:off x="4139952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0" name="直線接點 39"/>
          <p:cNvCxnSpPr>
            <a:stCxn id="9" idx="4"/>
            <a:endCxn id="38" idx="0"/>
          </p:cNvCxnSpPr>
          <p:nvPr/>
        </p:nvCxnSpPr>
        <p:spPr>
          <a:xfrm>
            <a:off x="4208474" y="4779117"/>
            <a:ext cx="124129" cy="22825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字方塊 45"/>
          <p:cNvSpPr txBox="1"/>
          <p:nvPr/>
        </p:nvSpPr>
        <p:spPr>
          <a:xfrm>
            <a:off x="6084168" y="2912553"/>
            <a:ext cx="9829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加入</a:t>
            </a:r>
            <a:r>
              <a:rPr lang="en-US" altLang="zh-TW" sz="2000" b="1" dirty="0" smtClean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80</a:t>
            </a:r>
            <a:endParaRPr lang="zh-TW" altLang="en-US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47" name="橢圓 46"/>
          <p:cNvSpPr/>
          <p:nvPr/>
        </p:nvSpPr>
        <p:spPr>
          <a:xfrm>
            <a:off x="4644040" y="500597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文字方塊 47"/>
          <p:cNvSpPr txBox="1"/>
          <p:nvPr/>
        </p:nvSpPr>
        <p:spPr>
          <a:xfrm>
            <a:off x="4581643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9" name="直線接點 48"/>
          <p:cNvCxnSpPr>
            <a:stCxn id="14" idx="4"/>
            <a:endCxn id="47" idx="0"/>
          </p:cNvCxnSpPr>
          <p:nvPr/>
        </p:nvCxnSpPr>
        <p:spPr>
          <a:xfrm flipH="1">
            <a:off x="4788040" y="4773332"/>
            <a:ext cx="106694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弧形接點 51"/>
          <p:cNvCxnSpPr>
            <a:stCxn id="27" idx="1"/>
            <a:endCxn id="48" idx="0"/>
          </p:cNvCxnSpPr>
          <p:nvPr/>
        </p:nvCxnSpPr>
        <p:spPr>
          <a:xfrm rot="10800000" flipH="1" flipV="1">
            <a:off x="4686983" y="4617865"/>
            <a:ext cx="102409" cy="338590"/>
          </a:xfrm>
          <a:prstGeom prst="curvedConnector4">
            <a:avLst>
              <a:gd name="adj1" fmla="val -223223"/>
              <a:gd name="adj2" fmla="val 77270"/>
            </a:avLst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弧形接點 52"/>
          <p:cNvCxnSpPr>
            <a:stCxn id="48" idx="3"/>
            <a:endCxn id="27" idx="2"/>
          </p:cNvCxnSpPr>
          <p:nvPr/>
        </p:nvCxnSpPr>
        <p:spPr>
          <a:xfrm flipH="1" flipV="1">
            <a:off x="4894734" y="4802531"/>
            <a:ext cx="102408" cy="338590"/>
          </a:xfrm>
          <a:prstGeom prst="curvedConnector4">
            <a:avLst>
              <a:gd name="adj1" fmla="val -223225"/>
              <a:gd name="adj2" fmla="val 77270"/>
            </a:avLst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弧形接點 57"/>
          <p:cNvCxnSpPr>
            <a:stCxn id="8" idx="1"/>
            <a:endCxn id="27" idx="0"/>
          </p:cNvCxnSpPr>
          <p:nvPr/>
        </p:nvCxnSpPr>
        <p:spPr>
          <a:xfrm rot="10800000" flipV="1">
            <a:off x="4894735" y="4074365"/>
            <a:ext cx="131483" cy="358833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弧形接點 58"/>
          <p:cNvCxnSpPr>
            <a:stCxn id="27" idx="3"/>
            <a:endCxn id="8" idx="2"/>
          </p:cNvCxnSpPr>
          <p:nvPr/>
        </p:nvCxnSpPr>
        <p:spPr>
          <a:xfrm flipV="1">
            <a:off x="5102483" y="4259032"/>
            <a:ext cx="131484" cy="358833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弧形接點 63"/>
          <p:cNvCxnSpPr>
            <a:stCxn id="25" idx="2"/>
            <a:endCxn id="8" idx="1"/>
          </p:cNvCxnSpPr>
          <p:nvPr/>
        </p:nvCxnSpPr>
        <p:spPr>
          <a:xfrm rot="16200000" flipH="1">
            <a:off x="4587701" y="3635849"/>
            <a:ext cx="344421" cy="532611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弧形接點 64"/>
          <p:cNvCxnSpPr>
            <a:stCxn id="8" idx="0"/>
            <a:endCxn id="25" idx="3"/>
          </p:cNvCxnSpPr>
          <p:nvPr/>
        </p:nvCxnSpPr>
        <p:spPr>
          <a:xfrm rot="16200000" flipV="1">
            <a:off x="4795451" y="3451184"/>
            <a:ext cx="344421" cy="532612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31045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9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38" grpId="0" animBg="1"/>
      <p:bldP spid="39" grpId="0"/>
      <p:bldP spid="46" grpId="0"/>
      <p:bldP spid="47" grpId="0" animBg="1"/>
      <p:bldP spid="48" grpId="0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Heap</a:t>
            </a:r>
            <a:r>
              <a:rPr lang="zh-TW" altLang="en-US" dirty="0" smtClean="0"/>
              <a:t>的刪除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將完整二元樹最後一節點取代被刪除的節點，再調整為合法的</a:t>
            </a:r>
            <a:r>
              <a:rPr lang="en-US" altLang="zh-TW" dirty="0" smtClean="0"/>
              <a:t>heap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44</a:t>
            </a:fld>
            <a:endParaRPr lang="en-US" altLang="zh-TW" dirty="0"/>
          </a:p>
        </p:txBody>
      </p:sp>
      <p:sp>
        <p:nvSpPr>
          <p:cNvPr id="7" name="橢圓 6"/>
          <p:cNvSpPr/>
          <p:nvPr/>
        </p:nvSpPr>
        <p:spPr>
          <a:xfrm>
            <a:off x="5090490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文字方塊 7"/>
          <p:cNvSpPr txBox="1"/>
          <p:nvPr/>
        </p:nvSpPr>
        <p:spPr>
          <a:xfrm>
            <a:off x="5026217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73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橢圓 8"/>
          <p:cNvSpPr/>
          <p:nvPr/>
        </p:nvSpPr>
        <p:spPr>
          <a:xfrm>
            <a:off x="4064474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0" name="文字方塊 9"/>
          <p:cNvSpPr txBox="1"/>
          <p:nvPr/>
        </p:nvSpPr>
        <p:spPr>
          <a:xfrm>
            <a:off x="4002954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66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橢圓 10"/>
          <p:cNvSpPr/>
          <p:nvPr/>
        </p:nvSpPr>
        <p:spPr>
          <a:xfrm>
            <a:off x="3053581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文字方塊 11"/>
          <p:cNvSpPr txBox="1"/>
          <p:nvPr/>
        </p:nvSpPr>
        <p:spPr>
          <a:xfrm>
            <a:off x="2989831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橢圓 12"/>
          <p:cNvSpPr/>
          <p:nvPr/>
        </p:nvSpPr>
        <p:spPr>
          <a:xfrm>
            <a:off x="2730474" y="500597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4" name="橢圓 13"/>
          <p:cNvSpPr/>
          <p:nvPr/>
        </p:nvSpPr>
        <p:spPr>
          <a:xfrm>
            <a:off x="4750734" y="4485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5" name="橢圓 14"/>
          <p:cNvSpPr/>
          <p:nvPr/>
        </p:nvSpPr>
        <p:spPr>
          <a:xfrm>
            <a:off x="5442465" y="449111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接點 15"/>
          <p:cNvCxnSpPr>
            <a:stCxn id="11" idx="4"/>
            <a:endCxn id="13" idx="0"/>
          </p:cNvCxnSpPr>
          <p:nvPr/>
        </p:nvCxnSpPr>
        <p:spPr>
          <a:xfrm flipH="1">
            <a:off x="2874474" y="4773332"/>
            <a:ext cx="323107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橢圓 16"/>
          <p:cNvSpPr/>
          <p:nvPr/>
        </p:nvSpPr>
        <p:spPr>
          <a:xfrm>
            <a:off x="3568312" y="39389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橢圓 17"/>
          <p:cNvSpPr/>
          <p:nvPr/>
        </p:nvSpPr>
        <p:spPr>
          <a:xfrm>
            <a:off x="4338737" y="3409905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9" name="直線接點 18"/>
          <p:cNvCxnSpPr>
            <a:stCxn id="7" idx="4"/>
            <a:endCxn id="15" idx="0"/>
          </p:cNvCxnSpPr>
          <p:nvPr/>
        </p:nvCxnSpPr>
        <p:spPr>
          <a:xfrm>
            <a:off x="5234490" y="4226992"/>
            <a:ext cx="351975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7" idx="4"/>
            <a:endCxn id="14" idx="0"/>
          </p:cNvCxnSpPr>
          <p:nvPr/>
        </p:nvCxnSpPr>
        <p:spPr>
          <a:xfrm flipH="1">
            <a:off x="4894734" y="4226992"/>
            <a:ext cx="339756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線接點 20"/>
          <p:cNvCxnSpPr>
            <a:stCxn id="17" idx="4"/>
            <a:endCxn id="9" idx="0"/>
          </p:cNvCxnSpPr>
          <p:nvPr/>
        </p:nvCxnSpPr>
        <p:spPr>
          <a:xfrm>
            <a:off x="3712312" y="4226992"/>
            <a:ext cx="496162" cy="26412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線接點 21"/>
          <p:cNvCxnSpPr>
            <a:stCxn id="17" idx="4"/>
            <a:endCxn id="11" idx="0"/>
          </p:cNvCxnSpPr>
          <p:nvPr/>
        </p:nvCxnSpPr>
        <p:spPr>
          <a:xfrm flipH="1">
            <a:off x="3197581" y="4226992"/>
            <a:ext cx="514731" cy="2583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接點 22"/>
          <p:cNvCxnSpPr>
            <a:stCxn id="18" idx="4"/>
            <a:endCxn id="7" idx="0"/>
          </p:cNvCxnSpPr>
          <p:nvPr/>
        </p:nvCxnSpPr>
        <p:spPr>
          <a:xfrm>
            <a:off x="4482737" y="3697905"/>
            <a:ext cx="751753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線接點 23"/>
          <p:cNvCxnSpPr>
            <a:stCxn id="18" idx="4"/>
            <a:endCxn id="17" idx="0"/>
          </p:cNvCxnSpPr>
          <p:nvPr/>
        </p:nvCxnSpPr>
        <p:spPr>
          <a:xfrm flipH="1">
            <a:off x="3712312" y="3697905"/>
            <a:ext cx="770425" cy="24108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字方塊 24"/>
          <p:cNvSpPr txBox="1"/>
          <p:nvPr/>
        </p:nvSpPr>
        <p:spPr>
          <a:xfrm>
            <a:off x="4285856" y="336061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字方塊 25"/>
          <p:cNvSpPr txBox="1"/>
          <p:nvPr/>
        </p:nvSpPr>
        <p:spPr>
          <a:xfrm>
            <a:off x="3512500" y="3889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文字方塊 26"/>
          <p:cNvSpPr txBox="1"/>
          <p:nvPr/>
        </p:nvSpPr>
        <p:spPr>
          <a:xfrm>
            <a:off x="4686984" y="443319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u="sng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72</a:t>
            </a:r>
            <a:endParaRPr lang="zh-TW" alt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文字方塊 27"/>
          <p:cNvSpPr txBox="1"/>
          <p:nvPr/>
        </p:nvSpPr>
        <p:spPr>
          <a:xfrm>
            <a:off x="5387116" y="44360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文字方塊 28"/>
          <p:cNvSpPr txBox="1"/>
          <p:nvPr/>
        </p:nvSpPr>
        <p:spPr>
          <a:xfrm>
            <a:off x="2666724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橢圓 29"/>
          <p:cNvSpPr/>
          <p:nvPr/>
        </p:nvSpPr>
        <p:spPr>
          <a:xfrm>
            <a:off x="3390469" y="500737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3754412" y="500737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2" name="直線接點 31"/>
          <p:cNvCxnSpPr>
            <a:stCxn id="11" idx="4"/>
            <a:endCxn id="30" idx="0"/>
          </p:cNvCxnSpPr>
          <p:nvPr/>
        </p:nvCxnSpPr>
        <p:spPr>
          <a:xfrm>
            <a:off x="3197581" y="4773332"/>
            <a:ext cx="336888" cy="23404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9" idx="4"/>
            <a:endCxn id="31" idx="0"/>
          </p:cNvCxnSpPr>
          <p:nvPr/>
        </p:nvCxnSpPr>
        <p:spPr>
          <a:xfrm flipH="1">
            <a:off x="3898412" y="4779117"/>
            <a:ext cx="310062" cy="22825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文字方塊 33"/>
          <p:cNvSpPr txBox="1"/>
          <p:nvPr/>
        </p:nvSpPr>
        <p:spPr>
          <a:xfrm>
            <a:off x="3326719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38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3698261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39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2006870" y="2912553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刪除</a:t>
            </a:r>
            <a:r>
              <a:rPr lang="en-US" altLang="zh-TW" sz="2000" b="1" dirty="0" smtClean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67</a:t>
            </a:r>
            <a:endParaRPr lang="zh-TW" altLang="en-US" b="1" dirty="0">
              <a:solidFill>
                <a:srgbClr val="C00000"/>
              </a:solidFill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38" name="橢圓 37"/>
          <p:cNvSpPr/>
          <p:nvPr/>
        </p:nvSpPr>
        <p:spPr>
          <a:xfrm>
            <a:off x="4188603" y="500737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9" name="文字方塊 38"/>
          <p:cNvSpPr txBox="1"/>
          <p:nvPr/>
        </p:nvSpPr>
        <p:spPr>
          <a:xfrm>
            <a:off x="4139952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0" name="直線接點 39"/>
          <p:cNvCxnSpPr>
            <a:stCxn id="9" idx="4"/>
            <a:endCxn id="38" idx="0"/>
          </p:cNvCxnSpPr>
          <p:nvPr/>
        </p:nvCxnSpPr>
        <p:spPr>
          <a:xfrm>
            <a:off x="4208474" y="4779117"/>
            <a:ext cx="124129" cy="228257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文字方塊 45"/>
          <p:cNvSpPr txBox="1"/>
          <p:nvPr/>
        </p:nvSpPr>
        <p:spPr>
          <a:xfrm>
            <a:off x="6084168" y="2912553"/>
            <a:ext cx="95410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000" b="1" dirty="0" smtClean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刪除</a:t>
            </a:r>
            <a:r>
              <a:rPr lang="en-US" altLang="zh-TW" sz="2000" b="1" dirty="0" smtClean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73</a:t>
            </a:r>
            <a:endParaRPr lang="zh-TW" altLang="en-US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47" name="橢圓 46"/>
          <p:cNvSpPr/>
          <p:nvPr/>
        </p:nvSpPr>
        <p:spPr>
          <a:xfrm>
            <a:off x="4644040" y="500597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文字方塊 47"/>
          <p:cNvSpPr txBox="1"/>
          <p:nvPr/>
        </p:nvSpPr>
        <p:spPr>
          <a:xfrm>
            <a:off x="4581643" y="495645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67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9" name="直線接點 48"/>
          <p:cNvCxnSpPr>
            <a:stCxn id="14" idx="4"/>
            <a:endCxn id="47" idx="0"/>
          </p:cNvCxnSpPr>
          <p:nvPr/>
        </p:nvCxnSpPr>
        <p:spPr>
          <a:xfrm flipH="1">
            <a:off x="4788040" y="4773332"/>
            <a:ext cx="106694" cy="23264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弧形接點 63"/>
          <p:cNvCxnSpPr>
            <a:stCxn id="8" idx="1"/>
            <a:endCxn id="27" idx="0"/>
          </p:cNvCxnSpPr>
          <p:nvPr/>
        </p:nvCxnSpPr>
        <p:spPr>
          <a:xfrm rot="10800000" flipV="1">
            <a:off x="4894735" y="4074365"/>
            <a:ext cx="131483" cy="358833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弧形接點 64"/>
          <p:cNvCxnSpPr>
            <a:stCxn id="27" idx="3"/>
            <a:endCxn id="51" idx="2"/>
          </p:cNvCxnSpPr>
          <p:nvPr/>
        </p:nvCxnSpPr>
        <p:spPr>
          <a:xfrm flipV="1">
            <a:off x="5102483" y="4259826"/>
            <a:ext cx="147359" cy="358039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橢圓 49"/>
          <p:cNvSpPr/>
          <p:nvPr/>
        </p:nvSpPr>
        <p:spPr>
          <a:xfrm>
            <a:off x="5090743" y="394141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1" name="文字方塊 50"/>
          <p:cNvSpPr txBox="1"/>
          <p:nvPr/>
        </p:nvSpPr>
        <p:spPr>
          <a:xfrm>
            <a:off x="5042092" y="389049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endParaRPr lang="zh-TW" alt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47353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1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5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2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8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2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2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36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0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2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4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1000"/>
                            </p:stCondLst>
                            <p:childTnLst>
                              <p:par>
                                <p:cTn id="4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36" grpId="0"/>
      <p:bldP spid="38" grpId="0" animBg="1"/>
      <p:bldP spid="39" grpId="0"/>
      <p:bldP spid="46" grpId="0"/>
      <p:bldP spid="47" grpId="0" animBg="1"/>
      <p:bldP spid="48" grpId="0"/>
      <p:bldP spid="50" grpId="0" animBg="1"/>
      <p:bldP spid="51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7" name="群組 86"/>
          <p:cNvGrpSpPr/>
          <p:nvPr/>
        </p:nvGrpSpPr>
        <p:grpSpPr>
          <a:xfrm>
            <a:off x="899592" y="3717032"/>
            <a:ext cx="7303712" cy="2325937"/>
            <a:chOff x="899592" y="3717032"/>
            <a:chExt cx="7303712" cy="2325937"/>
          </a:xfrm>
        </p:grpSpPr>
        <p:sp>
          <p:nvSpPr>
            <p:cNvPr id="75" name="圓角矩形 74"/>
            <p:cNvSpPr/>
            <p:nvPr/>
          </p:nvSpPr>
          <p:spPr>
            <a:xfrm>
              <a:off x="2241736" y="5782760"/>
              <a:ext cx="4968552" cy="144016"/>
            </a:xfrm>
            <a:prstGeom prst="round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6" name="圓角矩形 75"/>
            <p:cNvSpPr/>
            <p:nvPr/>
          </p:nvSpPr>
          <p:spPr>
            <a:xfrm>
              <a:off x="2241736" y="5151350"/>
              <a:ext cx="4968552" cy="144016"/>
            </a:xfrm>
            <a:prstGeom prst="round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7" name="圓角矩形 76"/>
            <p:cNvSpPr/>
            <p:nvPr/>
          </p:nvSpPr>
          <p:spPr>
            <a:xfrm>
              <a:off x="2239359" y="4492864"/>
              <a:ext cx="4968552" cy="144016"/>
            </a:xfrm>
            <a:prstGeom prst="round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8" name="圓角矩形 77"/>
            <p:cNvSpPr/>
            <p:nvPr/>
          </p:nvSpPr>
          <p:spPr>
            <a:xfrm>
              <a:off x="2239359" y="3852409"/>
              <a:ext cx="4968552" cy="144016"/>
            </a:xfrm>
            <a:prstGeom prst="roundRect">
              <a:avLst/>
            </a:prstGeom>
            <a:solidFill>
              <a:srgbClr val="FFFF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79" name="文字方塊 78"/>
            <p:cNvSpPr txBox="1"/>
            <p:nvPr/>
          </p:nvSpPr>
          <p:spPr>
            <a:xfrm>
              <a:off x="910366" y="3719841"/>
              <a:ext cx="97494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+mj-lt"/>
                </a:rPr>
                <a:t>Level 1</a:t>
              </a:r>
              <a:endParaRPr lang="zh-TW" altLang="en-US" sz="2000" b="1" dirty="0">
                <a:latin typeface="+mj-lt"/>
              </a:endParaRPr>
            </a:p>
          </p:txBody>
        </p:sp>
        <p:sp>
          <p:nvSpPr>
            <p:cNvPr id="80" name="文字方塊 79"/>
            <p:cNvSpPr txBox="1"/>
            <p:nvPr/>
          </p:nvSpPr>
          <p:spPr>
            <a:xfrm>
              <a:off x="899704" y="4356465"/>
              <a:ext cx="97494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+mj-lt"/>
                </a:rPr>
                <a:t>Level 2</a:t>
              </a:r>
              <a:endParaRPr lang="zh-TW" altLang="en-US" sz="2000" b="1" dirty="0">
                <a:latin typeface="+mj-lt"/>
              </a:endParaRPr>
            </a:p>
          </p:txBody>
        </p:sp>
        <p:sp>
          <p:nvSpPr>
            <p:cNvPr id="81" name="文字方塊 80"/>
            <p:cNvSpPr txBox="1"/>
            <p:nvPr/>
          </p:nvSpPr>
          <p:spPr>
            <a:xfrm>
              <a:off x="910254" y="5010715"/>
              <a:ext cx="97494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+mj-lt"/>
                </a:rPr>
                <a:t>Level 3</a:t>
              </a:r>
              <a:endParaRPr lang="zh-TW" altLang="en-US" sz="2000" b="1" dirty="0">
                <a:latin typeface="+mj-lt"/>
              </a:endParaRPr>
            </a:p>
          </p:txBody>
        </p:sp>
        <p:sp>
          <p:nvSpPr>
            <p:cNvPr id="82" name="文字方塊 81"/>
            <p:cNvSpPr txBox="1"/>
            <p:nvPr/>
          </p:nvSpPr>
          <p:spPr>
            <a:xfrm>
              <a:off x="899592" y="5642859"/>
              <a:ext cx="974947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latin typeface="+mj-lt"/>
                </a:rPr>
                <a:t>Level 4</a:t>
              </a:r>
              <a:endParaRPr lang="zh-TW" altLang="en-US" sz="2000" b="1" dirty="0">
                <a:latin typeface="+mj-lt"/>
              </a:endParaRPr>
            </a:p>
          </p:txBody>
        </p:sp>
        <p:sp>
          <p:nvSpPr>
            <p:cNvPr id="83" name="文字方塊 82"/>
            <p:cNvSpPr txBox="1"/>
            <p:nvPr/>
          </p:nvSpPr>
          <p:spPr>
            <a:xfrm>
              <a:off x="7559620" y="3717032"/>
              <a:ext cx="61106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solidFill>
                    <a:srgbClr val="0000FF"/>
                  </a:solidFill>
                  <a:latin typeface="+mj-lt"/>
                </a:rPr>
                <a:t>min</a:t>
              </a:r>
              <a:endParaRPr lang="zh-TW" altLang="en-US" sz="2000" b="1" dirty="0">
                <a:solidFill>
                  <a:srgbClr val="0000FF"/>
                </a:solidFill>
                <a:latin typeface="+mj-lt"/>
              </a:endParaRPr>
            </a:p>
          </p:txBody>
        </p:sp>
        <p:sp>
          <p:nvSpPr>
            <p:cNvPr id="84" name="文字方塊 83"/>
            <p:cNvSpPr txBox="1"/>
            <p:nvPr/>
          </p:nvSpPr>
          <p:spPr>
            <a:xfrm>
              <a:off x="7548958" y="4353656"/>
              <a:ext cx="6543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solidFill>
                    <a:srgbClr val="C00000"/>
                  </a:solidFill>
                  <a:latin typeface="+mj-lt"/>
                </a:rPr>
                <a:t>max</a:t>
              </a:r>
              <a:endParaRPr lang="zh-TW" altLang="en-US" sz="2000" b="1" dirty="0">
                <a:solidFill>
                  <a:srgbClr val="C00000"/>
                </a:solidFill>
                <a:latin typeface="+mj-lt"/>
              </a:endParaRPr>
            </a:p>
          </p:txBody>
        </p:sp>
        <p:sp>
          <p:nvSpPr>
            <p:cNvPr id="85" name="文字方塊 84"/>
            <p:cNvSpPr txBox="1"/>
            <p:nvPr/>
          </p:nvSpPr>
          <p:spPr>
            <a:xfrm>
              <a:off x="7559508" y="5007906"/>
              <a:ext cx="61106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solidFill>
                    <a:srgbClr val="0000FF"/>
                  </a:solidFill>
                  <a:latin typeface="+mj-lt"/>
                </a:rPr>
                <a:t>min</a:t>
              </a:r>
              <a:endParaRPr lang="zh-TW" altLang="en-US" sz="2000" b="1" dirty="0">
                <a:solidFill>
                  <a:srgbClr val="0000FF"/>
                </a:solidFill>
                <a:latin typeface="+mj-lt"/>
              </a:endParaRPr>
            </a:p>
          </p:txBody>
        </p:sp>
        <p:sp>
          <p:nvSpPr>
            <p:cNvPr id="86" name="文字方塊 85"/>
            <p:cNvSpPr txBox="1"/>
            <p:nvPr/>
          </p:nvSpPr>
          <p:spPr>
            <a:xfrm>
              <a:off x="7548846" y="5640050"/>
              <a:ext cx="654346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2000" b="1" dirty="0" smtClean="0">
                  <a:solidFill>
                    <a:srgbClr val="C00000"/>
                  </a:solidFill>
                  <a:latin typeface="+mj-lt"/>
                </a:rPr>
                <a:t>max</a:t>
              </a:r>
              <a:endParaRPr lang="zh-TW" altLang="en-US" sz="2000" b="1" dirty="0">
                <a:solidFill>
                  <a:srgbClr val="C00000"/>
                </a:solidFill>
                <a:latin typeface="+mj-lt"/>
              </a:endParaRPr>
            </a:p>
          </p:txBody>
        </p:sp>
      </p:grp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min-max heap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包含</a:t>
            </a:r>
            <a:r>
              <a:rPr lang="en-US" altLang="zh-TW" dirty="0" smtClean="0"/>
              <a:t>min-heap</a:t>
            </a:r>
            <a:r>
              <a:rPr lang="zh-TW" altLang="en-US" dirty="0" smtClean="0"/>
              <a:t>與</a:t>
            </a:r>
            <a:r>
              <a:rPr lang="en-US" altLang="zh-TW" dirty="0" smtClean="0"/>
              <a:t>max-heap</a:t>
            </a:r>
            <a:r>
              <a:rPr lang="zh-TW" altLang="en-US" dirty="0" smtClean="0"/>
              <a:t>兩種</a:t>
            </a:r>
            <a:r>
              <a:rPr lang="en-US" altLang="zh-TW" dirty="0" smtClean="0"/>
              <a:t>heap</a:t>
            </a:r>
            <a:r>
              <a:rPr lang="zh-TW" altLang="en-US" dirty="0" smtClean="0"/>
              <a:t>的特徵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min-heap </a:t>
            </a:r>
            <a:r>
              <a:rPr lang="zh-TW" altLang="en-US" dirty="0" smtClean="0"/>
              <a:t>與 </a:t>
            </a:r>
            <a:r>
              <a:rPr lang="en-US" altLang="zh-TW" dirty="0" smtClean="0"/>
              <a:t>max heap</a:t>
            </a:r>
            <a:r>
              <a:rPr lang="zh-TW" altLang="en-US" dirty="0" smtClean="0"/>
              <a:t> 交互構成</a:t>
            </a:r>
            <a:endParaRPr lang="en-US" altLang="zh-TW" dirty="0" smtClean="0"/>
          </a:p>
          <a:p>
            <a:pPr lvl="2"/>
            <a:r>
              <a:rPr lang="zh-TW" altLang="en-US" dirty="0" smtClean="0"/>
              <a:t>在</a:t>
            </a:r>
            <a:r>
              <a:rPr lang="en-US" altLang="zh-TW" dirty="0" smtClean="0">
                <a:solidFill>
                  <a:srgbClr val="0000FF"/>
                </a:solidFill>
              </a:rPr>
              <a:t>min</a:t>
            </a:r>
            <a:r>
              <a:rPr lang="zh-TW" altLang="en-US" dirty="0" smtClean="0"/>
              <a:t>層的節點要比子節點</a:t>
            </a:r>
            <a:r>
              <a:rPr lang="zh-TW" altLang="en-US" dirty="0" smtClean="0">
                <a:solidFill>
                  <a:srgbClr val="0000FF"/>
                </a:solidFill>
              </a:rPr>
              <a:t>小</a:t>
            </a:r>
            <a:r>
              <a:rPr lang="zh-TW" altLang="en-US" dirty="0" smtClean="0"/>
              <a:t>，在</a:t>
            </a:r>
            <a:r>
              <a:rPr lang="en-US" altLang="zh-TW" dirty="0" smtClean="0">
                <a:solidFill>
                  <a:srgbClr val="C00000"/>
                </a:solidFill>
              </a:rPr>
              <a:t>max</a:t>
            </a:r>
            <a:r>
              <a:rPr lang="zh-TW" altLang="en-US" dirty="0" smtClean="0"/>
              <a:t>層的節點要比子節點</a:t>
            </a:r>
            <a:r>
              <a:rPr lang="zh-TW" altLang="en-US" dirty="0" smtClean="0">
                <a:solidFill>
                  <a:srgbClr val="C00000"/>
                </a:solidFill>
              </a:rPr>
              <a:t>大</a:t>
            </a:r>
            <a:endParaRPr lang="en-US" altLang="zh-TW" dirty="0" smtClean="0">
              <a:solidFill>
                <a:srgbClr val="C00000"/>
              </a:solidFill>
            </a:endParaRPr>
          </a:p>
          <a:p>
            <a:pPr lvl="2"/>
            <a:r>
              <a:rPr lang="en-US" altLang="zh-TW" dirty="0" smtClean="0">
                <a:solidFill>
                  <a:srgbClr val="0000FF"/>
                </a:solidFill>
              </a:rPr>
              <a:t>min-heap</a:t>
            </a:r>
            <a:r>
              <a:rPr lang="zh-TW" altLang="en-US" dirty="0" smtClean="0"/>
              <a:t>的部分，仍需符合</a:t>
            </a:r>
            <a:r>
              <a:rPr lang="en-US" altLang="zh-TW" dirty="0" smtClean="0">
                <a:solidFill>
                  <a:srgbClr val="0000FF"/>
                </a:solidFill>
              </a:rPr>
              <a:t>min-heap</a:t>
            </a:r>
            <a:r>
              <a:rPr lang="zh-TW" altLang="en-US" dirty="0" smtClean="0"/>
              <a:t>的特性</a:t>
            </a:r>
            <a:endParaRPr lang="en-US" altLang="zh-TW" dirty="0" smtClean="0"/>
          </a:p>
          <a:p>
            <a:pPr lvl="2"/>
            <a:r>
              <a:rPr lang="en-US" altLang="zh-TW" dirty="0" smtClean="0">
                <a:solidFill>
                  <a:srgbClr val="C00000"/>
                </a:solidFill>
              </a:rPr>
              <a:t>max-heap</a:t>
            </a:r>
            <a:r>
              <a:rPr lang="zh-TW" altLang="en-US" dirty="0" smtClean="0"/>
              <a:t>的部分，仍需符合</a:t>
            </a:r>
            <a:r>
              <a:rPr lang="en-US" altLang="zh-TW" dirty="0" smtClean="0">
                <a:solidFill>
                  <a:srgbClr val="C00000"/>
                </a:solidFill>
              </a:rPr>
              <a:t>max-heap</a:t>
            </a:r>
            <a:r>
              <a:rPr lang="zh-TW" altLang="en-US" dirty="0" smtClean="0"/>
              <a:t>的特性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45</a:t>
            </a:fld>
            <a:endParaRPr lang="en-US" altLang="zh-TW" dirty="0"/>
          </a:p>
        </p:txBody>
      </p:sp>
      <p:sp>
        <p:nvSpPr>
          <p:cNvPr id="7" name="橢圓 6"/>
          <p:cNvSpPr/>
          <p:nvPr/>
        </p:nvSpPr>
        <p:spPr>
          <a:xfrm>
            <a:off x="2675304" y="5081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橢圓 8"/>
          <p:cNvSpPr/>
          <p:nvPr/>
        </p:nvSpPr>
        <p:spPr>
          <a:xfrm>
            <a:off x="2352197" y="570880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0" name="直線接點 9"/>
          <p:cNvCxnSpPr>
            <a:stCxn id="7" idx="4"/>
            <a:endCxn id="9" idx="0"/>
          </p:cNvCxnSpPr>
          <p:nvPr/>
        </p:nvCxnSpPr>
        <p:spPr>
          <a:xfrm flipH="1">
            <a:off x="2496197" y="5369332"/>
            <a:ext cx="323107" cy="33947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/>
          <p:cNvSpPr/>
          <p:nvPr/>
        </p:nvSpPr>
        <p:spPr>
          <a:xfrm>
            <a:off x="3012192" y="571020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3" name="直線接點 12"/>
          <p:cNvCxnSpPr>
            <a:stCxn id="7" idx="4"/>
            <a:endCxn id="12" idx="0"/>
          </p:cNvCxnSpPr>
          <p:nvPr/>
        </p:nvCxnSpPr>
        <p:spPr>
          <a:xfrm>
            <a:off x="2819304" y="5369332"/>
            <a:ext cx="336888" cy="3408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橢圓 14"/>
          <p:cNvSpPr/>
          <p:nvPr/>
        </p:nvSpPr>
        <p:spPr>
          <a:xfrm>
            <a:off x="3932995" y="5081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3609888" y="570880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8" name="直線接點 17"/>
          <p:cNvCxnSpPr>
            <a:stCxn id="15" idx="4"/>
            <a:endCxn id="17" idx="0"/>
          </p:cNvCxnSpPr>
          <p:nvPr/>
        </p:nvCxnSpPr>
        <p:spPr>
          <a:xfrm flipH="1">
            <a:off x="3753888" y="5369332"/>
            <a:ext cx="323107" cy="33947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橢圓 19"/>
          <p:cNvSpPr/>
          <p:nvPr/>
        </p:nvSpPr>
        <p:spPr>
          <a:xfrm>
            <a:off x="4269883" y="571020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1" name="直線接點 20"/>
          <p:cNvCxnSpPr>
            <a:stCxn id="15" idx="4"/>
            <a:endCxn id="20" idx="0"/>
          </p:cNvCxnSpPr>
          <p:nvPr/>
        </p:nvCxnSpPr>
        <p:spPr>
          <a:xfrm>
            <a:off x="4076995" y="5369332"/>
            <a:ext cx="336888" cy="3408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橢圓 38"/>
          <p:cNvSpPr/>
          <p:nvPr/>
        </p:nvSpPr>
        <p:spPr>
          <a:xfrm>
            <a:off x="3306013" y="443326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0" name="文字方塊 39"/>
          <p:cNvSpPr txBox="1"/>
          <p:nvPr/>
        </p:nvSpPr>
        <p:spPr>
          <a:xfrm>
            <a:off x="3236908" y="4384112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1" name="直線接點 40"/>
          <p:cNvCxnSpPr>
            <a:stCxn id="39" idx="4"/>
            <a:endCxn id="7" idx="0"/>
          </p:cNvCxnSpPr>
          <p:nvPr/>
        </p:nvCxnSpPr>
        <p:spPr>
          <a:xfrm flipH="1">
            <a:off x="2819304" y="4721260"/>
            <a:ext cx="630709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線接點 43"/>
          <p:cNvCxnSpPr>
            <a:stCxn id="39" idx="4"/>
            <a:endCxn id="15" idx="0"/>
          </p:cNvCxnSpPr>
          <p:nvPr/>
        </p:nvCxnSpPr>
        <p:spPr>
          <a:xfrm>
            <a:off x="3450013" y="4721260"/>
            <a:ext cx="626982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橢圓 46"/>
          <p:cNvSpPr/>
          <p:nvPr/>
        </p:nvSpPr>
        <p:spPr>
          <a:xfrm>
            <a:off x="5206617" y="5081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橢圓 47"/>
          <p:cNvSpPr/>
          <p:nvPr/>
        </p:nvSpPr>
        <p:spPr>
          <a:xfrm>
            <a:off x="4883510" y="570880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9" name="直線接點 48"/>
          <p:cNvCxnSpPr>
            <a:stCxn id="47" idx="4"/>
            <a:endCxn id="48" idx="0"/>
          </p:cNvCxnSpPr>
          <p:nvPr/>
        </p:nvCxnSpPr>
        <p:spPr>
          <a:xfrm flipH="1">
            <a:off x="5027510" y="5369332"/>
            <a:ext cx="323107" cy="33947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橢圓 49"/>
          <p:cNvSpPr/>
          <p:nvPr/>
        </p:nvSpPr>
        <p:spPr>
          <a:xfrm>
            <a:off x="5543505" y="571020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1" name="直線接點 50"/>
          <p:cNvCxnSpPr>
            <a:stCxn id="47" idx="4"/>
            <a:endCxn id="50" idx="0"/>
          </p:cNvCxnSpPr>
          <p:nvPr/>
        </p:nvCxnSpPr>
        <p:spPr>
          <a:xfrm>
            <a:off x="5350617" y="5369332"/>
            <a:ext cx="336888" cy="3408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橢圓 51"/>
          <p:cNvSpPr/>
          <p:nvPr/>
        </p:nvSpPr>
        <p:spPr>
          <a:xfrm>
            <a:off x="6464308" y="508133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3" name="橢圓 52"/>
          <p:cNvSpPr/>
          <p:nvPr/>
        </p:nvSpPr>
        <p:spPr>
          <a:xfrm>
            <a:off x="6141201" y="570880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4" name="直線接點 53"/>
          <p:cNvCxnSpPr>
            <a:stCxn id="52" idx="4"/>
            <a:endCxn id="53" idx="0"/>
          </p:cNvCxnSpPr>
          <p:nvPr/>
        </p:nvCxnSpPr>
        <p:spPr>
          <a:xfrm flipH="1">
            <a:off x="6285201" y="5369332"/>
            <a:ext cx="323107" cy="33947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橢圓 54"/>
          <p:cNvSpPr/>
          <p:nvPr/>
        </p:nvSpPr>
        <p:spPr>
          <a:xfrm>
            <a:off x="6801196" y="571020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6" name="直線接點 55"/>
          <p:cNvCxnSpPr>
            <a:stCxn id="52" idx="4"/>
            <a:endCxn id="55" idx="0"/>
          </p:cNvCxnSpPr>
          <p:nvPr/>
        </p:nvCxnSpPr>
        <p:spPr>
          <a:xfrm>
            <a:off x="6608308" y="5369332"/>
            <a:ext cx="336888" cy="3408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橢圓 56"/>
          <p:cNvSpPr/>
          <p:nvPr/>
        </p:nvSpPr>
        <p:spPr>
          <a:xfrm>
            <a:off x="5837326" y="443326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8" name="直線接點 57"/>
          <p:cNvCxnSpPr>
            <a:stCxn id="57" idx="4"/>
            <a:endCxn id="47" idx="0"/>
          </p:cNvCxnSpPr>
          <p:nvPr/>
        </p:nvCxnSpPr>
        <p:spPr>
          <a:xfrm flipH="1">
            <a:off x="5350617" y="4721260"/>
            <a:ext cx="630709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線接點 58"/>
          <p:cNvCxnSpPr>
            <a:stCxn id="57" idx="4"/>
            <a:endCxn id="52" idx="0"/>
          </p:cNvCxnSpPr>
          <p:nvPr/>
        </p:nvCxnSpPr>
        <p:spPr>
          <a:xfrm>
            <a:off x="5981326" y="4721260"/>
            <a:ext cx="626982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橢圓 59"/>
          <p:cNvSpPr/>
          <p:nvPr/>
        </p:nvSpPr>
        <p:spPr>
          <a:xfrm>
            <a:off x="4579635" y="377589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1" name="直線接點 60"/>
          <p:cNvCxnSpPr>
            <a:stCxn id="60" idx="4"/>
            <a:endCxn id="39" idx="0"/>
          </p:cNvCxnSpPr>
          <p:nvPr/>
        </p:nvCxnSpPr>
        <p:spPr>
          <a:xfrm flipH="1">
            <a:off x="3450013" y="4063896"/>
            <a:ext cx="1273622" cy="36936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直線接點 63"/>
          <p:cNvCxnSpPr>
            <a:stCxn id="60" idx="4"/>
            <a:endCxn id="57" idx="0"/>
          </p:cNvCxnSpPr>
          <p:nvPr/>
        </p:nvCxnSpPr>
        <p:spPr>
          <a:xfrm>
            <a:off x="4723635" y="4063896"/>
            <a:ext cx="1257691" cy="36936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文字方塊 66"/>
          <p:cNvSpPr txBox="1"/>
          <p:nvPr/>
        </p:nvSpPr>
        <p:spPr>
          <a:xfrm>
            <a:off x="2616910" y="503403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8" name="文字方塊 67"/>
          <p:cNvSpPr txBox="1"/>
          <p:nvPr/>
        </p:nvSpPr>
        <p:spPr>
          <a:xfrm>
            <a:off x="2293803" y="5661281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文字方塊 68"/>
          <p:cNvSpPr txBox="1"/>
          <p:nvPr/>
        </p:nvSpPr>
        <p:spPr>
          <a:xfrm>
            <a:off x="2953798" y="5661281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0" name="文字方塊 69"/>
          <p:cNvSpPr txBox="1"/>
          <p:nvPr/>
        </p:nvSpPr>
        <p:spPr>
          <a:xfrm>
            <a:off x="3873343" y="503403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1" name="文字方塊 70"/>
          <p:cNvSpPr txBox="1"/>
          <p:nvPr/>
        </p:nvSpPr>
        <p:spPr>
          <a:xfrm>
            <a:off x="3550236" y="5661281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2" name="文字方塊 71"/>
          <p:cNvSpPr txBox="1"/>
          <p:nvPr/>
        </p:nvSpPr>
        <p:spPr>
          <a:xfrm>
            <a:off x="4210231" y="5661281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5136705" y="502696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文字方塊 10"/>
          <p:cNvSpPr txBox="1"/>
          <p:nvPr/>
        </p:nvSpPr>
        <p:spPr>
          <a:xfrm>
            <a:off x="4813598" y="565420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24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5473593" y="565420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35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6400558" y="503526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6077451" y="566250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6737446" y="566250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33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文字方塊 72"/>
          <p:cNvSpPr txBox="1"/>
          <p:nvPr/>
        </p:nvSpPr>
        <p:spPr>
          <a:xfrm>
            <a:off x="5760360" y="439509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4" name="文字方塊 73"/>
          <p:cNvSpPr txBox="1"/>
          <p:nvPr/>
        </p:nvSpPr>
        <p:spPr>
          <a:xfrm>
            <a:off x="4509330" y="373871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88505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vertical)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2000" fill="hold"/>
                                        <p:tgtEl>
                                          <p:spTgt spid="40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8" dur="2000" fill="hold"/>
                                        <p:tgtEl>
                                          <p:spTgt spid="73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19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0" dur="2000" fill="hold"/>
                                        <p:tgtEl>
                                          <p:spTgt spid="68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2" dur="2000" fill="hold"/>
                                        <p:tgtEl>
                                          <p:spTgt spid="6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23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4" dur="2000" fill="hold"/>
                                        <p:tgtEl>
                                          <p:spTgt spid="7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25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6" dur="2000" fill="hold"/>
                                        <p:tgtEl>
                                          <p:spTgt spid="7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27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28" dur="2000" fill="hold"/>
                                        <p:tgtEl>
                                          <p:spTgt spid="11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29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0" dur="2000" fill="hold"/>
                                        <p:tgtEl>
                                          <p:spTgt spid="14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31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2" dur="2000" fill="hold"/>
                                        <p:tgtEl>
                                          <p:spTgt spid="19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4" dur="2000" fill="hold"/>
                                        <p:tgtEl>
                                          <p:spTgt spid="22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68" grpId="0"/>
      <p:bldP spid="69" grpId="0"/>
      <p:bldP spid="71" grpId="0"/>
      <p:bldP spid="72" grpId="0"/>
      <p:bldP spid="11" grpId="0"/>
      <p:bldP spid="14" grpId="0"/>
      <p:bldP spid="19" grpId="0"/>
      <p:bldP spid="22" grpId="0"/>
      <p:bldP spid="73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min-max heap</a:t>
            </a:r>
            <a:r>
              <a:rPr lang="zh-TW" altLang="en-US" dirty="0" smtClean="0"/>
              <a:t>的加入 </a:t>
            </a:r>
            <a:r>
              <a:rPr lang="en-US" altLang="zh-TW" dirty="0" smtClean="0"/>
              <a:t>(1/4)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加入</a:t>
            </a:r>
            <a:r>
              <a:rPr lang="en-US" altLang="zh-TW" dirty="0" smtClean="0">
                <a:solidFill>
                  <a:srgbClr val="0000FF"/>
                </a:solidFill>
              </a:rPr>
              <a:t>5</a:t>
            </a:r>
          </a:p>
          <a:p>
            <a:pPr lvl="1"/>
            <a:r>
              <a:rPr lang="zh-TW" altLang="en-US" dirty="0"/>
              <a:t>依照完整二元樹特性</a:t>
            </a:r>
            <a:r>
              <a:rPr lang="zh-TW" altLang="en-US" dirty="0" smtClean="0"/>
              <a:t>加入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調整為合法的</a:t>
            </a:r>
            <a:r>
              <a:rPr lang="en-US" altLang="zh-TW" dirty="0" smtClean="0"/>
              <a:t>min-max</a:t>
            </a:r>
            <a:r>
              <a:rPr lang="zh-TW" altLang="en-US" dirty="0"/>
              <a:t> </a:t>
            </a:r>
            <a:r>
              <a:rPr lang="en-US" altLang="zh-TW" dirty="0" smtClean="0"/>
              <a:t>hea</a:t>
            </a:r>
            <a:r>
              <a:rPr lang="en-US" altLang="zh-TW" dirty="0"/>
              <a:t>p</a:t>
            </a:r>
            <a:endParaRPr lang="en-US" altLang="zh-TW" dirty="0" smtClean="0"/>
          </a:p>
          <a:p>
            <a:pPr lvl="1"/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46</a:t>
            </a:fld>
            <a:endParaRPr lang="en-US" altLang="zh-TW" dirty="0"/>
          </a:p>
        </p:txBody>
      </p:sp>
      <p:sp>
        <p:nvSpPr>
          <p:cNvPr id="7" name="橢圓 6"/>
          <p:cNvSpPr/>
          <p:nvPr/>
        </p:nvSpPr>
        <p:spPr>
          <a:xfrm>
            <a:off x="2675304" y="421723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2352197" y="484470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直線接點 8"/>
          <p:cNvCxnSpPr>
            <a:stCxn id="7" idx="4"/>
            <a:endCxn id="8" idx="0"/>
          </p:cNvCxnSpPr>
          <p:nvPr/>
        </p:nvCxnSpPr>
        <p:spPr>
          <a:xfrm flipH="1">
            <a:off x="2496197" y="4505236"/>
            <a:ext cx="323107" cy="33947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橢圓 9"/>
          <p:cNvSpPr/>
          <p:nvPr/>
        </p:nvSpPr>
        <p:spPr>
          <a:xfrm>
            <a:off x="3012192" y="484610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" name="直線接點 10"/>
          <p:cNvCxnSpPr>
            <a:stCxn id="7" idx="4"/>
            <a:endCxn id="10" idx="0"/>
          </p:cNvCxnSpPr>
          <p:nvPr/>
        </p:nvCxnSpPr>
        <p:spPr>
          <a:xfrm>
            <a:off x="2819304" y="4505236"/>
            <a:ext cx="336888" cy="3408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/>
          <p:cNvSpPr/>
          <p:nvPr/>
        </p:nvSpPr>
        <p:spPr>
          <a:xfrm>
            <a:off x="3932995" y="421723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3609888" y="484470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" name="直線接點 13"/>
          <p:cNvCxnSpPr>
            <a:stCxn id="12" idx="4"/>
            <a:endCxn id="13" idx="0"/>
          </p:cNvCxnSpPr>
          <p:nvPr/>
        </p:nvCxnSpPr>
        <p:spPr>
          <a:xfrm flipH="1">
            <a:off x="3753888" y="4505236"/>
            <a:ext cx="323107" cy="33947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橢圓 14"/>
          <p:cNvSpPr/>
          <p:nvPr/>
        </p:nvSpPr>
        <p:spPr>
          <a:xfrm>
            <a:off x="4269883" y="484610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接點 15"/>
          <p:cNvCxnSpPr>
            <a:stCxn id="12" idx="4"/>
            <a:endCxn id="15" idx="0"/>
          </p:cNvCxnSpPr>
          <p:nvPr/>
        </p:nvCxnSpPr>
        <p:spPr>
          <a:xfrm>
            <a:off x="4076995" y="4505236"/>
            <a:ext cx="336888" cy="3408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橢圓 16"/>
          <p:cNvSpPr/>
          <p:nvPr/>
        </p:nvSpPr>
        <p:spPr>
          <a:xfrm>
            <a:off x="3306013" y="356916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3236908" y="352001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直線接點 18"/>
          <p:cNvCxnSpPr>
            <a:stCxn id="17" idx="4"/>
            <a:endCxn id="7" idx="0"/>
          </p:cNvCxnSpPr>
          <p:nvPr/>
        </p:nvCxnSpPr>
        <p:spPr>
          <a:xfrm flipH="1">
            <a:off x="2819304" y="3857164"/>
            <a:ext cx="630709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7" idx="4"/>
            <a:endCxn id="12" idx="0"/>
          </p:cNvCxnSpPr>
          <p:nvPr/>
        </p:nvCxnSpPr>
        <p:spPr>
          <a:xfrm>
            <a:off x="3450013" y="3857164"/>
            <a:ext cx="626982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橢圓 20"/>
          <p:cNvSpPr/>
          <p:nvPr/>
        </p:nvSpPr>
        <p:spPr>
          <a:xfrm>
            <a:off x="5206617" y="421723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橢圓 21"/>
          <p:cNvSpPr/>
          <p:nvPr/>
        </p:nvSpPr>
        <p:spPr>
          <a:xfrm>
            <a:off x="4883510" y="484470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3" name="直線接點 22"/>
          <p:cNvCxnSpPr>
            <a:stCxn id="21" idx="4"/>
            <a:endCxn id="22" idx="0"/>
          </p:cNvCxnSpPr>
          <p:nvPr/>
        </p:nvCxnSpPr>
        <p:spPr>
          <a:xfrm flipH="1">
            <a:off x="5027510" y="4505236"/>
            <a:ext cx="323107" cy="33947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橢圓 25"/>
          <p:cNvSpPr/>
          <p:nvPr/>
        </p:nvSpPr>
        <p:spPr>
          <a:xfrm>
            <a:off x="6464308" y="421723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5837326" y="356916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2" name="直線接點 31"/>
          <p:cNvCxnSpPr>
            <a:stCxn id="31" idx="4"/>
            <a:endCxn id="21" idx="0"/>
          </p:cNvCxnSpPr>
          <p:nvPr/>
        </p:nvCxnSpPr>
        <p:spPr>
          <a:xfrm flipH="1">
            <a:off x="5350617" y="3857164"/>
            <a:ext cx="630709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31" idx="4"/>
            <a:endCxn id="26" idx="0"/>
          </p:cNvCxnSpPr>
          <p:nvPr/>
        </p:nvCxnSpPr>
        <p:spPr>
          <a:xfrm>
            <a:off x="5981326" y="3857164"/>
            <a:ext cx="626982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橢圓 33"/>
          <p:cNvSpPr/>
          <p:nvPr/>
        </p:nvSpPr>
        <p:spPr>
          <a:xfrm>
            <a:off x="4579635" y="291180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5" name="直線接點 34"/>
          <p:cNvCxnSpPr>
            <a:stCxn id="34" idx="4"/>
            <a:endCxn id="17" idx="0"/>
          </p:cNvCxnSpPr>
          <p:nvPr/>
        </p:nvCxnSpPr>
        <p:spPr>
          <a:xfrm flipH="1">
            <a:off x="3450013" y="3199800"/>
            <a:ext cx="1273622" cy="36936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接點 35"/>
          <p:cNvCxnSpPr>
            <a:stCxn id="34" idx="4"/>
            <a:endCxn id="31" idx="0"/>
          </p:cNvCxnSpPr>
          <p:nvPr/>
        </p:nvCxnSpPr>
        <p:spPr>
          <a:xfrm>
            <a:off x="4723635" y="3199800"/>
            <a:ext cx="1257691" cy="36936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字方塊 36"/>
          <p:cNvSpPr txBox="1"/>
          <p:nvPr/>
        </p:nvSpPr>
        <p:spPr>
          <a:xfrm>
            <a:off x="2616910" y="41699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2293803" y="479718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2953798" y="479718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3873343" y="41699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3550236" y="479718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4210231" y="479718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5136705" y="416286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4871306" y="4790109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6400558" y="417116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字方塊 47"/>
          <p:cNvSpPr txBox="1"/>
          <p:nvPr/>
        </p:nvSpPr>
        <p:spPr>
          <a:xfrm>
            <a:off x="5760360" y="353099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4509330" y="287461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7559620" y="2852936"/>
            <a:ext cx="6110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0000FF"/>
                </a:solidFill>
                <a:latin typeface="+mj-lt"/>
              </a:rPr>
              <a:t>min</a:t>
            </a:r>
            <a:endParaRPr lang="zh-TW" altLang="en-US" sz="2000" b="1" dirty="0">
              <a:solidFill>
                <a:srgbClr val="0000FF"/>
              </a:solidFill>
              <a:latin typeface="+mj-lt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7548958" y="3489560"/>
            <a:ext cx="6543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+mj-lt"/>
              </a:rPr>
              <a:t>max</a:t>
            </a:r>
            <a:endParaRPr lang="zh-TW" altLang="en-US" sz="2000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7559508" y="4143810"/>
            <a:ext cx="6110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0000FF"/>
                </a:solidFill>
                <a:latin typeface="+mj-lt"/>
              </a:rPr>
              <a:t>min</a:t>
            </a:r>
            <a:endParaRPr lang="zh-TW" altLang="en-US" sz="2000" b="1" dirty="0">
              <a:solidFill>
                <a:srgbClr val="0000FF"/>
              </a:solidFill>
              <a:latin typeface="+mj-lt"/>
            </a:endParaRPr>
          </a:p>
        </p:txBody>
      </p:sp>
      <p:sp>
        <p:nvSpPr>
          <p:cNvPr id="67" name="文字方塊 66"/>
          <p:cNvSpPr txBox="1"/>
          <p:nvPr/>
        </p:nvSpPr>
        <p:spPr>
          <a:xfrm>
            <a:off x="7548846" y="4775954"/>
            <a:ext cx="6543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+mj-lt"/>
              </a:rPr>
              <a:t>max</a:t>
            </a:r>
            <a:endParaRPr lang="zh-TW" altLang="en-US" sz="2000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68" name="圓角矩形 67"/>
          <p:cNvSpPr/>
          <p:nvPr/>
        </p:nvSpPr>
        <p:spPr>
          <a:xfrm>
            <a:off x="5136705" y="4143810"/>
            <a:ext cx="415499" cy="437318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9" name="弧形接點 68"/>
          <p:cNvCxnSpPr>
            <a:stCxn id="43" idx="1"/>
            <a:endCxn id="44" idx="0"/>
          </p:cNvCxnSpPr>
          <p:nvPr/>
        </p:nvCxnSpPr>
        <p:spPr>
          <a:xfrm rot="10800000" flipV="1">
            <a:off x="5021347" y="4347529"/>
            <a:ext cx="115358" cy="442579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弧形接點 69"/>
          <p:cNvCxnSpPr>
            <a:stCxn id="44" idx="3"/>
            <a:endCxn id="43" idx="2"/>
          </p:cNvCxnSpPr>
          <p:nvPr/>
        </p:nvCxnSpPr>
        <p:spPr>
          <a:xfrm flipV="1">
            <a:off x="5171388" y="4532196"/>
            <a:ext cx="173067" cy="442579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360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44" grpId="0"/>
      <p:bldP spid="68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min-max heap</a:t>
            </a:r>
            <a:r>
              <a:rPr lang="zh-TW" altLang="en-US" dirty="0" smtClean="0"/>
              <a:t>的加入 </a:t>
            </a:r>
            <a:r>
              <a:rPr lang="en-US" altLang="zh-TW" dirty="0" smtClean="0"/>
              <a:t>(2/4)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加入</a:t>
            </a:r>
            <a:r>
              <a:rPr lang="en-US" altLang="zh-TW" dirty="0" smtClean="0">
                <a:solidFill>
                  <a:srgbClr val="0000FF"/>
                </a:solidFill>
              </a:rPr>
              <a:t>5</a:t>
            </a:r>
          </a:p>
          <a:p>
            <a:pPr lvl="1"/>
            <a:r>
              <a:rPr lang="zh-TW" altLang="en-US" dirty="0"/>
              <a:t>依照完整二元樹特性</a:t>
            </a:r>
            <a:r>
              <a:rPr lang="zh-TW" altLang="en-US" dirty="0" smtClean="0"/>
              <a:t>加入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調整為合法的</a:t>
            </a:r>
            <a:r>
              <a:rPr lang="en-US" altLang="zh-TW" dirty="0" smtClean="0"/>
              <a:t>min-max</a:t>
            </a:r>
            <a:r>
              <a:rPr lang="zh-TW" altLang="en-US" dirty="0"/>
              <a:t> </a:t>
            </a:r>
            <a:r>
              <a:rPr lang="en-US" altLang="zh-TW" dirty="0" smtClean="0"/>
              <a:t>hea</a:t>
            </a:r>
            <a:r>
              <a:rPr lang="en-US" altLang="zh-TW" dirty="0"/>
              <a:t>p</a:t>
            </a:r>
            <a:endParaRPr lang="en-US" altLang="zh-TW" dirty="0" smtClean="0"/>
          </a:p>
          <a:p>
            <a:pPr lvl="1"/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47</a:t>
            </a:fld>
            <a:endParaRPr lang="en-US" altLang="zh-TW" dirty="0"/>
          </a:p>
        </p:txBody>
      </p:sp>
      <p:sp>
        <p:nvSpPr>
          <p:cNvPr id="7" name="橢圓 6"/>
          <p:cNvSpPr/>
          <p:nvPr/>
        </p:nvSpPr>
        <p:spPr>
          <a:xfrm>
            <a:off x="2675304" y="421723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2352197" y="484470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直線接點 8"/>
          <p:cNvCxnSpPr>
            <a:stCxn id="7" idx="4"/>
            <a:endCxn id="8" idx="0"/>
          </p:cNvCxnSpPr>
          <p:nvPr/>
        </p:nvCxnSpPr>
        <p:spPr>
          <a:xfrm flipH="1">
            <a:off x="2496197" y="4505236"/>
            <a:ext cx="323107" cy="33947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橢圓 9"/>
          <p:cNvSpPr/>
          <p:nvPr/>
        </p:nvSpPr>
        <p:spPr>
          <a:xfrm>
            <a:off x="3012192" y="484610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" name="直線接點 10"/>
          <p:cNvCxnSpPr>
            <a:stCxn id="7" idx="4"/>
            <a:endCxn id="10" idx="0"/>
          </p:cNvCxnSpPr>
          <p:nvPr/>
        </p:nvCxnSpPr>
        <p:spPr>
          <a:xfrm>
            <a:off x="2819304" y="4505236"/>
            <a:ext cx="336888" cy="3408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/>
          <p:cNvSpPr/>
          <p:nvPr/>
        </p:nvSpPr>
        <p:spPr>
          <a:xfrm>
            <a:off x="3932995" y="421723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3609888" y="484470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" name="直線接點 13"/>
          <p:cNvCxnSpPr>
            <a:stCxn id="12" idx="4"/>
            <a:endCxn id="13" idx="0"/>
          </p:cNvCxnSpPr>
          <p:nvPr/>
        </p:nvCxnSpPr>
        <p:spPr>
          <a:xfrm flipH="1">
            <a:off x="3753888" y="4505236"/>
            <a:ext cx="323107" cy="33947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橢圓 14"/>
          <p:cNvSpPr/>
          <p:nvPr/>
        </p:nvSpPr>
        <p:spPr>
          <a:xfrm>
            <a:off x="4269883" y="484610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接點 15"/>
          <p:cNvCxnSpPr>
            <a:stCxn id="12" idx="4"/>
            <a:endCxn id="15" idx="0"/>
          </p:cNvCxnSpPr>
          <p:nvPr/>
        </p:nvCxnSpPr>
        <p:spPr>
          <a:xfrm>
            <a:off x="4076995" y="4505236"/>
            <a:ext cx="336888" cy="3408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橢圓 16"/>
          <p:cNvSpPr/>
          <p:nvPr/>
        </p:nvSpPr>
        <p:spPr>
          <a:xfrm>
            <a:off x="3306013" y="356916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3236908" y="352001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直線接點 18"/>
          <p:cNvCxnSpPr>
            <a:stCxn id="17" idx="4"/>
            <a:endCxn id="7" idx="0"/>
          </p:cNvCxnSpPr>
          <p:nvPr/>
        </p:nvCxnSpPr>
        <p:spPr>
          <a:xfrm flipH="1">
            <a:off x="2819304" y="3857164"/>
            <a:ext cx="630709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7" idx="4"/>
            <a:endCxn id="12" idx="0"/>
          </p:cNvCxnSpPr>
          <p:nvPr/>
        </p:nvCxnSpPr>
        <p:spPr>
          <a:xfrm>
            <a:off x="3450013" y="3857164"/>
            <a:ext cx="626982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橢圓 20"/>
          <p:cNvSpPr/>
          <p:nvPr/>
        </p:nvSpPr>
        <p:spPr>
          <a:xfrm>
            <a:off x="5206617" y="421723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橢圓 21"/>
          <p:cNvSpPr/>
          <p:nvPr/>
        </p:nvSpPr>
        <p:spPr>
          <a:xfrm>
            <a:off x="4883510" y="484470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3" name="直線接點 22"/>
          <p:cNvCxnSpPr>
            <a:stCxn id="21" idx="4"/>
            <a:endCxn id="22" idx="0"/>
          </p:cNvCxnSpPr>
          <p:nvPr/>
        </p:nvCxnSpPr>
        <p:spPr>
          <a:xfrm flipH="1">
            <a:off x="5027510" y="4505236"/>
            <a:ext cx="323107" cy="33947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橢圓 25"/>
          <p:cNvSpPr/>
          <p:nvPr/>
        </p:nvSpPr>
        <p:spPr>
          <a:xfrm>
            <a:off x="6464308" y="421723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5837326" y="356916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2" name="直線接點 31"/>
          <p:cNvCxnSpPr>
            <a:stCxn id="31" idx="4"/>
            <a:endCxn id="21" idx="0"/>
          </p:cNvCxnSpPr>
          <p:nvPr/>
        </p:nvCxnSpPr>
        <p:spPr>
          <a:xfrm flipH="1">
            <a:off x="5350617" y="3857164"/>
            <a:ext cx="630709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31" idx="4"/>
            <a:endCxn id="26" idx="0"/>
          </p:cNvCxnSpPr>
          <p:nvPr/>
        </p:nvCxnSpPr>
        <p:spPr>
          <a:xfrm>
            <a:off x="5981326" y="3857164"/>
            <a:ext cx="626982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橢圓 33"/>
          <p:cNvSpPr/>
          <p:nvPr/>
        </p:nvSpPr>
        <p:spPr>
          <a:xfrm>
            <a:off x="4579635" y="291180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5" name="直線接點 34"/>
          <p:cNvCxnSpPr>
            <a:stCxn id="34" idx="4"/>
            <a:endCxn id="17" idx="0"/>
          </p:cNvCxnSpPr>
          <p:nvPr/>
        </p:nvCxnSpPr>
        <p:spPr>
          <a:xfrm flipH="1">
            <a:off x="3450013" y="3199800"/>
            <a:ext cx="1273622" cy="36936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接點 35"/>
          <p:cNvCxnSpPr>
            <a:stCxn id="34" idx="4"/>
            <a:endCxn id="31" idx="0"/>
          </p:cNvCxnSpPr>
          <p:nvPr/>
        </p:nvCxnSpPr>
        <p:spPr>
          <a:xfrm>
            <a:off x="4723635" y="3199800"/>
            <a:ext cx="1257691" cy="36936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字方塊 36"/>
          <p:cNvSpPr txBox="1"/>
          <p:nvPr/>
        </p:nvSpPr>
        <p:spPr>
          <a:xfrm>
            <a:off x="2616910" y="41699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2293803" y="479718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2953798" y="479718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3873343" y="41699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3550236" y="479718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4210231" y="479718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5194413" y="416286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4813598" y="479010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6400558" y="417116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字方塊 47"/>
          <p:cNvSpPr txBox="1"/>
          <p:nvPr/>
        </p:nvSpPr>
        <p:spPr>
          <a:xfrm>
            <a:off x="5760360" y="353099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4509330" y="287461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7559620" y="2852936"/>
            <a:ext cx="6110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0000FF"/>
                </a:solidFill>
                <a:latin typeface="+mj-lt"/>
              </a:rPr>
              <a:t>min</a:t>
            </a:r>
            <a:endParaRPr lang="zh-TW" altLang="en-US" sz="2000" b="1" dirty="0">
              <a:solidFill>
                <a:srgbClr val="0000FF"/>
              </a:solidFill>
              <a:latin typeface="+mj-lt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7548958" y="3489560"/>
            <a:ext cx="6543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+mj-lt"/>
              </a:rPr>
              <a:t>max</a:t>
            </a:r>
            <a:endParaRPr lang="zh-TW" altLang="en-US" sz="2000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7559508" y="4143810"/>
            <a:ext cx="6110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0000FF"/>
                </a:solidFill>
                <a:latin typeface="+mj-lt"/>
              </a:rPr>
              <a:t>min</a:t>
            </a:r>
            <a:endParaRPr lang="zh-TW" altLang="en-US" sz="2000" b="1" dirty="0">
              <a:solidFill>
                <a:srgbClr val="0000FF"/>
              </a:solidFill>
              <a:latin typeface="+mj-lt"/>
            </a:endParaRPr>
          </a:p>
        </p:txBody>
      </p:sp>
      <p:sp>
        <p:nvSpPr>
          <p:cNvPr id="67" name="文字方塊 66"/>
          <p:cNvSpPr txBox="1"/>
          <p:nvPr/>
        </p:nvSpPr>
        <p:spPr>
          <a:xfrm>
            <a:off x="7548846" y="4775954"/>
            <a:ext cx="6543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+mj-lt"/>
              </a:rPr>
              <a:t>max</a:t>
            </a:r>
            <a:endParaRPr lang="zh-TW" altLang="en-US" sz="2000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68" name="圓角矩形 67"/>
          <p:cNvSpPr/>
          <p:nvPr/>
        </p:nvSpPr>
        <p:spPr>
          <a:xfrm>
            <a:off x="4521241" y="2834332"/>
            <a:ext cx="415499" cy="437318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9" name="弧形接點 68"/>
          <p:cNvCxnSpPr>
            <a:stCxn id="49" idx="2"/>
            <a:endCxn id="43" idx="1"/>
          </p:cNvCxnSpPr>
          <p:nvPr/>
        </p:nvCxnSpPr>
        <p:spPr>
          <a:xfrm rot="16200000" flipH="1">
            <a:off x="4403954" y="3557071"/>
            <a:ext cx="1103584" cy="477333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弧形接點 69"/>
          <p:cNvCxnSpPr>
            <a:stCxn id="43" idx="0"/>
            <a:endCxn id="49" idx="3"/>
          </p:cNvCxnSpPr>
          <p:nvPr/>
        </p:nvCxnSpPr>
        <p:spPr>
          <a:xfrm rot="16200000" flipV="1">
            <a:off x="4582850" y="3401259"/>
            <a:ext cx="1103584" cy="419625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71289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min-max heap</a:t>
            </a:r>
            <a:r>
              <a:rPr lang="zh-TW" altLang="en-US" dirty="0" smtClean="0"/>
              <a:t>的加入 </a:t>
            </a:r>
            <a:r>
              <a:rPr lang="en-US" altLang="zh-TW" dirty="0" smtClean="0"/>
              <a:t>(3/4)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加入</a:t>
            </a:r>
            <a:r>
              <a:rPr lang="en-US" altLang="zh-TW" dirty="0" smtClean="0">
                <a:solidFill>
                  <a:srgbClr val="0000FF"/>
                </a:solidFill>
              </a:rPr>
              <a:t>50</a:t>
            </a:r>
          </a:p>
          <a:p>
            <a:pPr lvl="1"/>
            <a:r>
              <a:rPr lang="zh-TW" altLang="en-US" dirty="0"/>
              <a:t>依照完整二元樹特性</a:t>
            </a:r>
            <a:r>
              <a:rPr lang="zh-TW" altLang="en-US" dirty="0" smtClean="0"/>
              <a:t>加入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調整為合法的</a:t>
            </a:r>
            <a:r>
              <a:rPr lang="en-US" altLang="zh-TW" dirty="0" smtClean="0"/>
              <a:t>min-max</a:t>
            </a:r>
            <a:r>
              <a:rPr lang="zh-TW" altLang="en-US" dirty="0"/>
              <a:t> </a:t>
            </a:r>
            <a:r>
              <a:rPr lang="en-US" altLang="zh-TW" dirty="0" smtClean="0"/>
              <a:t>hea</a:t>
            </a:r>
            <a:r>
              <a:rPr lang="en-US" altLang="zh-TW" dirty="0"/>
              <a:t>p</a:t>
            </a:r>
            <a:endParaRPr lang="en-US" altLang="zh-TW" dirty="0" smtClean="0"/>
          </a:p>
          <a:p>
            <a:pPr lvl="1"/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48</a:t>
            </a:fld>
            <a:endParaRPr lang="en-US" altLang="zh-TW" dirty="0"/>
          </a:p>
        </p:txBody>
      </p:sp>
      <p:sp>
        <p:nvSpPr>
          <p:cNvPr id="7" name="橢圓 6"/>
          <p:cNvSpPr/>
          <p:nvPr/>
        </p:nvSpPr>
        <p:spPr>
          <a:xfrm>
            <a:off x="2675304" y="421723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2352197" y="484470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直線接點 8"/>
          <p:cNvCxnSpPr>
            <a:stCxn id="7" idx="4"/>
            <a:endCxn id="8" idx="0"/>
          </p:cNvCxnSpPr>
          <p:nvPr/>
        </p:nvCxnSpPr>
        <p:spPr>
          <a:xfrm flipH="1">
            <a:off x="2496197" y="4505236"/>
            <a:ext cx="323107" cy="33947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橢圓 9"/>
          <p:cNvSpPr/>
          <p:nvPr/>
        </p:nvSpPr>
        <p:spPr>
          <a:xfrm>
            <a:off x="3012192" y="484610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" name="直線接點 10"/>
          <p:cNvCxnSpPr>
            <a:stCxn id="7" idx="4"/>
            <a:endCxn id="10" idx="0"/>
          </p:cNvCxnSpPr>
          <p:nvPr/>
        </p:nvCxnSpPr>
        <p:spPr>
          <a:xfrm>
            <a:off x="2819304" y="4505236"/>
            <a:ext cx="336888" cy="3408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/>
          <p:cNvSpPr/>
          <p:nvPr/>
        </p:nvSpPr>
        <p:spPr>
          <a:xfrm>
            <a:off x="3932995" y="421723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3609888" y="484470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" name="直線接點 13"/>
          <p:cNvCxnSpPr>
            <a:stCxn id="12" idx="4"/>
            <a:endCxn id="13" idx="0"/>
          </p:cNvCxnSpPr>
          <p:nvPr/>
        </p:nvCxnSpPr>
        <p:spPr>
          <a:xfrm flipH="1">
            <a:off x="3753888" y="4505236"/>
            <a:ext cx="323107" cy="33947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橢圓 14"/>
          <p:cNvSpPr/>
          <p:nvPr/>
        </p:nvSpPr>
        <p:spPr>
          <a:xfrm>
            <a:off x="4269883" y="484610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接點 15"/>
          <p:cNvCxnSpPr>
            <a:stCxn id="12" idx="4"/>
            <a:endCxn id="15" idx="0"/>
          </p:cNvCxnSpPr>
          <p:nvPr/>
        </p:nvCxnSpPr>
        <p:spPr>
          <a:xfrm>
            <a:off x="4076995" y="4505236"/>
            <a:ext cx="336888" cy="3408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橢圓 16"/>
          <p:cNvSpPr/>
          <p:nvPr/>
        </p:nvSpPr>
        <p:spPr>
          <a:xfrm>
            <a:off x="3306013" y="356916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3236908" y="352001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直線接點 18"/>
          <p:cNvCxnSpPr>
            <a:stCxn id="17" idx="4"/>
            <a:endCxn id="7" idx="0"/>
          </p:cNvCxnSpPr>
          <p:nvPr/>
        </p:nvCxnSpPr>
        <p:spPr>
          <a:xfrm flipH="1">
            <a:off x="2819304" y="3857164"/>
            <a:ext cx="630709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7" idx="4"/>
            <a:endCxn id="12" idx="0"/>
          </p:cNvCxnSpPr>
          <p:nvPr/>
        </p:nvCxnSpPr>
        <p:spPr>
          <a:xfrm>
            <a:off x="3450013" y="3857164"/>
            <a:ext cx="626982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橢圓 20"/>
          <p:cNvSpPr/>
          <p:nvPr/>
        </p:nvSpPr>
        <p:spPr>
          <a:xfrm>
            <a:off x="5206617" y="421723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橢圓 21"/>
          <p:cNvSpPr/>
          <p:nvPr/>
        </p:nvSpPr>
        <p:spPr>
          <a:xfrm>
            <a:off x="4883510" y="484470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3" name="直線接點 22"/>
          <p:cNvCxnSpPr>
            <a:stCxn id="21" idx="4"/>
            <a:endCxn id="22" idx="0"/>
          </p:cNvCxnSpPr>
          <p:nvPr/>
        </p:nvCxnSpPr>
        <p:spPr>
          <a:xfrm flipH="1">
            <a:off x="5027510" y="4505236"/>
            <a:ext cx="323107" cy="33947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橢圓 25"/>
          <p:cNvSpPr/>
          <p:nvPr/>
        </p:nvSpPr>
        <p:spPr>
          <a:xfrm>
            <a:off x="6464308" y="421723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5837326" y="356916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2" name="直線接點 31"/>
          <p:cNvCxnSpPr>
            <a:stCxn id="31" idx="4"/>
            <a:endCxn id="21" idx="0"/>
          </p:cNvCxnSpPr>
          <p:nvPr/>
        </p:nvCxnSpPr>
        <p:spPr>
          <a:xfrm flipH="1">
            <a:off x="5350617" y="3857164"/>
            <a:ext cx="630709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31" idx="4"/>
            <a:endCxn id="26" idx="0"/>
          </p:cNvCxnSpPr>
          <p:nvPr/>
        </p:nvCxnSpPr>
        <p:spPr>
          <a:xfrm>
            <a:off x="5981326" y="3857164"/>
            <a:ext cx="626982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橢圓 33"/>
          <p:cNvSpPr/>
          <p:nvPr/>
        </p:nvSpPr>
        <p:spPr>
          <a:xfrm>
            <a:off x="4579635" y="291180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5" name="直線接點 34"/>
          <p:cNvCxnSpPr>
            <a:stCxn id="34" idx="4"/>
            <a:endCxn id="17" idx="0"/>
          </p:cNvCxnSpPr>
          <p:nvPr/>
        </p:nvCxnSpPr>
        <p:spPr>
          <a:xfrm flipH="1">
            <a:off x="3450013" y="3199800"/>
            <a:ext cx="1273622" cy="36936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接點 35"/>
          <p:cNvCxnSpPr>
            <a:stCxn id="34" idx="4"/>
            <a:endCxn id="31" idx="0"/>
          </p:cNvCxnSpPr>
          <p:nvPr/>
        </p:nvCxnSpPr>
        <p:spPr>
          <a:xfrm>
            <a:off x="4723635" y="3199800"/>
            <a:ext cx="1257691" cy="36936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字方塊 36"/>
          <p:cNvSpPr txBox="1"/>
          <p:nvPr/>
        </p:nvSpPr>
        <p:spPr>
          <a:xfrm>
            <a:off x="2616910" y="41699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2293803" y="479718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2953798" y="479718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3873343" y="41699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3550236" y="479718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4210231" y="479718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5136705" y="416286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4813598" y="479010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6400558" y="417116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字方塊 47"/>
          <p:cNvSpPr txBox="1"/>
          <p:nvPr/>
        </p:nvSpPr>
        <p:spPr>
          <a:xfrm>
            <a:off x="5767641" y="353012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4567038" y="287461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7559620" y="2852936"/>
            <a:ext cx="6110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0000FF"/>
                </a:solidFill>
                <a:latin typeface="+mj-lt"/>
              </a:rPr>
              <a:t>min</a:t>
            </a:r>
            <a:endParaRPr lang="zh-TW" altLang="en-US" sz="2000" b="1" dirty="0">
              <a:solidFill>
                <a:srgbClr val="0000FF"/>
              </a:solidFill>
              <a:latin typeface="+mj-lt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7548958" y="3489560"/>
            <a:ext cx="6543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+mj-lt"/>
              </a:rPr>
              <a:t>max</a:t>
            </a:r>
            <a:endParaRPr lang="zh-TW" altLang="en-US" sz="2000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7559508" y="4143810"/>
            <a:ext cx="6110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0000FF"/>
                </a:solidFill>
                <a:latin typeface="+mj-lt"/>
              </a:rPr>
              <a:t>min</a:t>
            </a:r>
            <a:endParaRPr lang="zh-TW" altLang="en-US" sz="2000" b="1" dirty="0">
              <a:solidFill>
                <a:srgbClr val="0000FF"/>
              </a:solidFill>
              <a:latin typeface="+mj-lt"/>
            </a:endParaRPr>
          </a:p>
        </p:txBody>
      </p:sp>
      <p:sp>
        <p:nvSpPr>
          <p:cNvPr id="67" name="文字方塊 66"/>
          <p:cNvSpPr txBox="1"/>
          <p:nvPr/>
        </p:nvSpPr>
        <p:spPr>
          <a:xfrm>
            <a:off x="7548846" y="4775954"/>
            <a:ext cx="6543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+mj-lt"/>
              </a:rPr>
              <a:t>max</a:t>
            </a:r>
            <a:endParaRPr lang="zh-TW" altLang="en-US" sz="2000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68" name="圓角矩形 67"/>
          <p:cNvSpPr/>
          <p:nvPr/>
        </p:nvSpPr>
        <p:spPr>
          <a:xfrm>
            <a:off x="5774294" y="3502806"/>
            <a:ext cx="415499" cy="437318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0" name="弧形接點 69"/>
          <p:cNvCxnSpPr>
            <a:stCxn id="50" idx="6"/>
            <a:endCxn id="31" idx="5"/>
          </p:cNvCxnSpPr>
          <p:nvPr/>
        </p:nvCxnSpPr>
        <p:spPr>
          <a:xfrm flipV="1">
            <a:off x="5879080" y="3814987"/>
            <a:ext cx="204069" cy="1197814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橢圓 49"/>
          <p:cNvSpPr/>
          <p:nvPr/>
        </p:nvSpPr>
        <p:spPr>
          <a:xfrm>
            <a:off x="5591080" y="486880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1" name="直線接點 50"/>
          <p:cNvCxnSpPr>
            <a:stCxn id="21" idx="4"/>
            <a:endCxn id="50" idx="0"/>
          </p:cNvCxnSpPr>
          <p:nvPr/>
        </p:nvCxnSpPr>
        <p:spPr>
          <a:xfrm>
            <a:off x="5350617" y="4505236"/>
            <a:ext cx="384463" cy="36356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字方塊 51"/>
          <p:cNvSpPr txBox="1"/>
          <p:nvPr/>
        </p:nvSpPr>
        <p:spPr>
          <a:xfrm>
            <a:off x="5528260" y="481044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圓角矩形 52"/>
          <p:cNvSpPr/>
          <p:nvPr/>
        </p:nvSpPr>
        <p:spPr>
          <a:xfrm>
            <a:off x="5136705" y="4138954"/>
            <a:ext cx="415499" cy="437318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69" name="弧形接點 68"/>
          <p:cNvCxnSpPr>
            <a:stCxn id="31" idx="2"/>
            <a:endCxn id="50" idx="1"/>
          </p:cNvCxnSpPr>
          <p:nvPr/>
        </p:nvCxnSpPr>
        <p:spPr>
          <a:xfrm rot="10800000" flipV="1">
            <a:off x="5633258" y="3713164"/>
            <a:ext cx="204069" cy="1197814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63759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1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" grpId="0" animBg="1"/>
      <p:bldP spid="53" grpId="0" animBg="1"/>
      <p:bldP spid="53" grpId="1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min-max heap</a:t>
            </a:r>
            <a:r>
              <a:rPr lang="zh-TW" altLang="en-US" dirty="0" smtClean="0"/>
              <a:t>的加入 </a:t>
            </a:r>
            <a:r>
              <a:rPr lang="en-US" altLang="zh-TW" dirty="0" smtClean="0"/>
              <a:t>(4/4)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加入</a:t>
            </a:r>
            <a:r>
              <a:rPr lang="en-US" altLang="zh-TW" dirty="0" smtClean="0">
                <a:solidFill>
                  <a:srgbClr val="0000FF"/>
                </a:solidFill>
              </a:rPr>
              <a:t>50</a:t>
            </a:r>
          </a:p>
          <a:p>
            <a:pPr lvl="1"/>
            <a:r>
              <a:rPr lang="zh-TW" altLang="en-US" dirty="0"/>
              <a:t>依照完整二元樹特性</a:t>
            </a:r>
            <a:r>
              <a:rPr lang="zh-TW" altLang="en-US" dirty="0" smtClean="0"/>
              <a:t>加入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調整為合法的</a:t>
            </a:r>
            <a:r>
              <a:rPr lang="en-US" altLang="zh-TW" dirty="0" smtClean="0"/>
              <a:t>min-max</a:t>
            </a:r>
            <a:r>
              <a:rPr lang="zh-TW" altLang="en-US" dirty="0"/>
              <a:t> </a:t>
            </a:r>
            <a:r>
              <a:rPr lang="en-US" altLang="zh-TW" dirty="0" smtClean="0"/>
              <a:t>hea</a:t>
            </a:r>
            <a:r>
              <a:rPr lang="en-US" altLang="zh-TW" dirty="0"/>
              <a:t>p</a:t>
            </a:r>
            <a:endParaRPr lang="en-US" altLang="zh-TW" dirty="0" smtClean="0"/>
          </a:p>
          <a:p>
            <a:pPr lvl="1"/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49</a:t>
            </a:fld>
            <a:endParaRPr lang="en-US" altLang="zh-TW" dirty="0"/>
          </a:p>
        </p:txBody>
      </p:sp>
      <p:sp>
        <p:nvSpPr>
          <p:cNvPr id="7" name="橢圓 6"/>
          <p:cNvSpPr/>
          <p:nvPr/>
        </p:nvSpPr>
        <p:spPr>
          <a:xfrm>
            <a:off x="2675304" y="421723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2352197" y="484470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直線接點 8"/>
          <p:cNvCxnSpPr>
            <a:stCxn id="7" idx="4"/>
            <a:endCxn id="8" idx="0"/>
          </p:cNvCxnSpPr>
          <p:nvPr/>
        </p:nvCxnSpPr>
        <p:spPr>
          <a:xfrm flipH="1">
            <a:off x="2496197" y="4505236"/>
            <a:ext cx="323107" cy="33947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橢圓 9"/>
          <p:cNvSpPr/>
          <p:nvPr/>
        </p:nvSpPr>
        <p:spPr>
          <a:xfrm>
            <a:off x="3012192" y="484610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" name="直線接點 10"/>
          <p:cNvCxnSpPr>
            <a:stCxn id="7" idx="4"/>
            <a:endCxn id="10" idx="0"/>
          </p:cNvCxnSpPr>
          <p:nvPr/>
        </p:nvCxnSpPr>
        <p:spPr>
          <a:xfrm>
            <a:off x="2819304" y="4505236"/>
            <a:ext cx="336888" cy="3408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/>
          <p:cNvSpPr/>
          <p:nvPr/>
        </p:nvSpPr>
        <p:spPr>
          <a:xfrm>
            <a:off x="3932995" y="421723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3609888" y="484470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" name="直線接點 13"/>
          <p:cNvCxnSpPr>
            <a:stCxn id="12" idx="4"/>
            <a:endCxn id="13" idx="0"/>
          </p:cNvCxnSpPr>
          <p:nvPr/>
        </p:nvCxnSpPr>
        <p:spPr>
          <a:xfrm flipH="1">
            <a:off x="3753888" y="4505236"/>
            <a:ext cx="323107" cy="33947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橢圓 14"/>
          <p:cNvSpPr/>
          <p:nvPr/>
        </p:nvSpPr>
        <p:spPr>
          <a:xfrm>
            <a:off x="4269883" y="484610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接點 15"/>
          <p:cNvCxnSpPr>
            <a:stCxn id="12" idx="4"/>
            <a:endCxn id="15" idx="0"/>
          </p:cNvCxnSpPr>
          <p:nvPr/>
        </p:nvCxnSpPr>
        <p:spPr>
          <a:xfrm>
            <a:off x="4076995" y="4505236"/>
            <a:ext cx="336888" cy="3408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橢圓 16"/>
          <p:cNvSpPr/>
          <p:nvPr/>
        </p:nvSpPr>
        <p:spPr>
          <a:xfrm>
            <a:off x="3306013" y="356916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3236908" y="352001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直線接點 18"/>
          <p:cNvCxnSpPr>
            <a:stCxn id="17" idx="4"/>
            <a:endCxn id="7" idx="0"/>
          </p:cNvCxnSpPr>
          <p:nvPr/>
        </p:nvCxnSpPr>
        <p:spPr>
          <a:xfrm flipH="1">
            <a:off x="2819304" y="3857164"/>
            <a:ext cx="630709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7" idx="4"/>
            <a:endCxn id="12" idx="0"/>
          </p:cNvCxnSpPr>
          <p:nvPr/>
        </p:nvCxnSpPr>
        <p:spPr>
          <a:xfrm>
            <a:off x="3450013" y="3857164"/>
            <a:ext cx="626982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橢圓 20"/>
          <p:cNvSpPr/>
          <p:nvPr/>
        </p:nvSpPr>
        <p:spPr>
          <a:xfrm>
            <a:off x="5206617" y="421723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橢圓 21"/>
          <p:cNvSpPr/>
          <p:nvPr/>
        </p:nvSpPr>
        <p:spPr>
          <a:xfrm>
            <a:off x="4883510" y="484470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3" name="直線接點 22"/>
          <p:cNvCxnSpPr>
            <a:stCxn id="21" idx="4"/>
            <a:endCxn id="22" idx="0"/>
          </p:cNvCxnSpPr>
          <p:nvPr/>
        </p:nvCxnSpPr>
        <p:spPr>
          <a:xfrm flipH="1">
            <a:off x="5027510" y="4505236"/>
            <a:ext cx="323107" cy="33947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橢圓 25"/>
          <p:cNvSpPr/>
          <p:nvPr/>
        </p:nvSpPr>
        <p:spPr>
          <a:xfrm>
            <a:off x="6464308" y="421723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5837326" y="356916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2" name="直線接點 31"/>
          <p:cNvCxnSpPr>
            <a:stCxn id="31" idx="4"/>
            <a:endCxn id="21" idx="0"/>
          </p:cNvCxnSpPr>
          <p:nvPr/>
        </p:nvCxnSpPr>
        <p:spPr>
          <a:xfrm flipH="1">
            <a:off x="5350617" y="3857164"/>
            <a:ext cx="630709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31" idx="4"/>
            <a:endCxn id="26" idx="0"/>
          </p:cNvCxnSpPr>
          <p:nvPr/>
        </p:nvCxnSpPr>
        <p:spPr>
          <a:xfrm>
            <a:off x="5981326" y="3857164"/>
            <a:ext cx="626982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橢圓 33"/>
          <p:cNvSpPr/>
          <p:nvPr/>
        </p:nvSpPr>
        <p:spPr>
          <a:xfrm>
            <a:off x="4579635" y="291180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5" name="直線接點 34"/>
          <p:cNvCxnSpPr>
            <a:stCxn id="34" idx="4"/>
            <a:endCxn id="17" idx="0"/>
          </p:cNvCxnSpPr>
          <p:nvPr/>
        </p:nvCxnSpPr>
        <p:spPr>
          <a:xfrm flipH="1">
            <a:off x="3450013" y="3199800"/>
            <a:ext cx="1273622" cy="36936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接點 35"/>
          <p:cNvCxnSpPr>
            <a:stCxn id="34" idx="4"/>
            <a:endCxn id="31" idx="0"/>
          </p:cNvCxnSpPr>
          <p:nvPr/>
        </p:nvCxnSpPr>
        <p:spPr>
          <a:xfrm>
            <a:off x="4723635" y="3199800"/>
            <a:ext cx="1257691" cy="36936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字方塊 36"/>
          <p:cNvSpPr txBox="1"/>
          <p:nvPr/>
        </p:nvSpPr>
        <p:spPr>
          <a:xfrm>
            <a:off x="2616910" y="41699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2293803" y="479718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2953798" y="479718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3873343" y="41699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3550236" y="479718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4210231" y="479718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5136705" y="416286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4813598" y="479010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6400558" y="417116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字方塊 47"/>
          <p:cNvSpPr txBox="1"/>
          <p:nvPr/>
        </p:nvSpPr>
        <p:spPr>
          <a:xfrm>
            <a:off x="5767641" y="353012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4567038" y="287461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7559620" y="2852936"/>
            <a:ext cx="6110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0000FF"/>
                </a:solidFill>
                <a:latin typeface="+mj-lt"/>
              </a:rPr>
              <a:t>min</a:t>
            </a:r>
            <a:endParaRPr lang="zh-TW" altLang="en-US" sz="2000" b="1" dirty="0">
              <a:solidFill>
                <a:srgbClr val="0000FF"/>
              </a:solidFill>
              <a:latin typeface="+mj-lt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7548958" y="3489560"/>
            <a:ext cx="6543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+mj-lt"/>
              </a:rPr>
              <a:t>max</a:t>
            </a:r>
            <a:endParaRPr lang="zh-TW" altLang="en-US" sz="2000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7559508" y="4143810"/>
            <a:ext cx="6110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0000FF"/>
                </a:solidFill>
                <a:latin typeface="+mj-lt"/>
              </a:rPr>
              <a:t>min</a:t>
            </a:r>
            <a:endParaRPr lang="zh-TW" altLang="en-US" sz="2000" b="1" dirty="0">
              <a:solidFill>
                <a:srgbClr val="0000FF"/>
              </a:solidFill>
              <a:latin typeface="+mj-lt"/>
            </a:endParaRPr>
          </a:p>
        </p:txBody>
      </p:sp>
      <p:sp>
        <p:nvSpPr>
          <p:cNvPr id="67" name="文字方塊 66"/>
          <p:cNvSpPr txBox="1"/>
          <p:nvPr/>
        </p:nvSpPr>
        <p:spPr>
          <a:xfrm>
            <a:off x="7548846" y="4775954"/>
            <a:ext cx="6543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+mj-lt"/>
              </a:rPr>
              <a:t>max</a:t>
            </a:r>
            <a:endParaRPr lang="zh-TW" altLang="en-US" sz="2000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0" name="橢圓 49"/>
          <p:cNvSpPr/>
          <p:nvPr/>
        </p:nvSpPr>
        <p:spPr>
          <a:xfrm>
            <a:off x="5591080" y="486880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1" name="直線接點 50"/>
          <p:cNvCxnSpPr>
            <a:stCxn id="21" idx="4"/>
            <a:endCxn id="50" idx="0"/>
          </p:cNvCxnSpPr>
          <p:nvPr/>
        </p:nvCxnSpPr>
        <p:spPr>
          <a:xfrm>
            <a:off x="5350617" y="4505236"/>
            <a:ext cx="384463" cy="36356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字方塊 51"/>
          <p:cNvSpPr txBox="1"/>
          <p:nvPr/>
        </p:nvSpPr>
        <p:spPr>
          <a:xfrm>
            <a:off x="5528261" y="481044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609343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min-max heap</a:t>
            </a:r>
            <a:r>
              <a:rPr lang="zh-TW" altLang="en-US" dirty="0" smtClean="0"/>
              <a:t>的刪除 </a:t>
            </a:r>
            <a:r>
              <a:rPr lang="en-US" altLang="zh-TW" dirty="0" smtClean="0"/>
              <a:t>(1/3)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刪除</a:t>
            </a:r>
            <a:r>
              <a:rPr lang="en-US" altLang="zh-TW" dirty="0" smtClean="0">
                <a:solidFill>
                  <a:srgbClr val="0000FF"/>
                </a:solidFill>
              </a:rPr>
              <a:t>45</a:t>
            </a:r>
          </a:p>
          <a:p>
            <a:pPr lvl="1"/>
            <a:r>
              <a:rPr lang="zh-TW" altLang="en-US" dirty="0" smtClean="0"/>
              <a:t>刪除節點為最後一個節點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直接刪除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50</a:t>
            </a:fld>
            <a:endParaRPr lang="en-US" altLang="zh-TW" dirty="0"/>
          </a:p>
        </p:txBody>
      </p:sp>
      <p:sp>
        <p:nvSpPr>
          <p:cNvPr id="7" name="橢圓 6"/>
          <p:cNvSpPr/>
          <p:nvPr/>
        </p:nvSpPr>
        <p:spPr>
          <a:xfrm>
            <a:off x="2675304" y="421723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2352197" y="484470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直線接點 8"/>
          <p:cNvCxnSpPr>
            <a:stCxn id="7" idx="4"/>
            <a:endCxn id="8" idx="0"/>
          </p:cNvCxnSpPr>
          <p:nvPr/>
        </p:nvCxnSpPr>
        <p:spPr>
          <a:xfrm flipH="1">
            <a:off x="2496197" y="4505236"/>
            <a:ext cx="323107" cy="33947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橢圓 9"/>
          <p:cNvSpPr/>
          <p:nvPr/>
        </p:nvSpPr>
        <p:spPr>
          <a:xfrm>
            <a:off x="3012192" y="484610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" name="直線接點 10"/>
          <p:cNvCxnSpPr>
            <a:stCxn id="7" idx="4"/>
            <a:endCxn id="10" idx="0"/>
          </p:cNvCxnSpPr>
          <p:nvPr/>
        </p:nvCxnSpPr>
        <p:spPr>
          <a:xfrm>
            <a:off x="2819304" y="4505236"/>
            <a:ext cx="336888" cy="3408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/>
          <p:cNvSpPr/>
          <p:nvPr/>
        </p:nvSpPr>
        <p:spPr>
          <a:xfrm>
            <a:off x="3932995" y="421723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3609888" y="484470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" name="直線接點 13"/>
          <p:cNvCxnSpPr>
            <a:stCxn id="12" idx="4"/>
            <a:endCxn id="13" idx="0"/>
          </p:cNvCxnSpPr>
          <p:nvPr/>
        </p:nvCxnSpPr>
        <p:spPr>
          <a:xfrm flipH="1">
            <a:off x="3753888" y="4505236"/>
            <a:ext cx="323107" cy="33947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橢圓 14"/>
          <p:cNvSpPr/>
          <p:nvPr/>
        </p:nvSpPr>
        <p:spPr>
          <a:xfrm>
            <a:off x="4269883" y="484610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接點 15"/>
          <p:cNvCxnSpPr>
            <a:stCxn id="12" idx="4"/>
            <a:endCxn id="15" idx="0"/>
          </p:cNvCxnSpPr>
          <p:nvPr/>
        </p:nvCxnSpPr>
        <p:spPr>
          <a:xfrm>
            <a:off x="4076995" y="4505236"/>
            <a:ext cx="336888" cy="3408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橢圓 16"/>
          <p:cNvSpPr/>
          <p:nvPr/>
        </p:nvSpPr>
        <p:spPr>
          <a:xfrm>
            <a:off x="3306013" y="356916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3236908" y="352001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直線接點 18"/>
          <p:cNvCxnSpPr>
            <a:stCxn id="17" idx="4"/>
            <a:endCxn id="7" idx="0"/>
          </p:cNvCxnSpPr>
          <p:nvPr/>
        </p:nvCxnSpPr>
        <p:spPr>
          <a:xfrm flipH="1">
            <a:off x="2819304" y="3857164"/>
            <a:ext cx="630709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7" idx="4"/>
            <a:endCxn id="12" idx="0"/>
          </p:cNvCxnSpPr>
          <p:nvPr/>
        </p:nvCxnSpPr>
        <p:spPr>
          <a:xfrm>
            <a:off x="3450013" y="3857164"/>
            <a:ext cx="626982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橢圓 20"/>
          <p:cNvSpPr/>
          <p:nvPr/>
        </p:nvSpPr>
        <p:spPr>
          <a:xfrm>
            <a:off x="5206617" y="421723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橢圓 21"/>
          <p:cNvSpPr/>
          <p:nvPr/>
        </p:nvSpPr>
        <p:spPr>
          <a:xfrm>
            <a:off x="4883510" y="484470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3" name="直線接點 22"/>
          <p:cNvCxnSpPr>
            <a:stCxn id="21" idx="4"/>
            <a:endCxn id="22" idx="0"/>
          </p:cNvCxnSpPr>
          <p:nvPr/>
        </p:nvCxnSpPr>
        <p:spPr>
          <a:xfrm flipH="1">
            <a:off x="5027510" y="4505236"/>
            <a:ext cx="323107" cy="33947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橢圓 25"/>
          <p:cNvSpPr/>
          <p:nvPr/>
        </p:nvSpPr>
        <p:spPr>
          <a:xfrm>
            <a:off x="6464308" y="421723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5837326" y="356916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2" name="直線接點 31"/>
          <p:cNvCxnSpPr>
            <a:stCxn id="31" idx="4"/>
            <a:endCxn id="21" idx="0"/>
          </p:cNvCxnSpPr>
          <p:nvPr/>
        </p:nvCxnSpPr>
        <p:spPr>
          <a:xfrm flipH="1">
            <a:off x="5350617" y="3857164"/>
            <a:ext cx="630709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31" idx="4"/>
            <a:endCxn id="26" idx="0"/>
          </p:cNvCxnSpPr>
          <p:nvPr/>
        </p:nvCxnSpPr>
        <p:spPr>
          <a:xfrm>
            <a:off x="5981326" y="3857164"/>
            <a:ext cx="626982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橢圓 33"/>
          <p:cNvSpPr/>
          <p:nvPr/>
        </p:nvSpPr>
        <p:spPr>
          <a:xfrm>
            <a:off x="4579635" y="291180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5" name="直線接點 34"/>
          <p:cNvCxnSpPr>
            <a:stCxn id="34" idx="4"/>
            <a:endCxn id="17" idx="0"/>
          </p:cNvCxnSpPr>
          <p:nvPr/>
        </p:nvCxnSpPr>
        <p:spPr>
          <a:xfrm flipH="1">
            <a:off x="3450013" y="3199800"/>
            <a:ext cx="1273622" cy="36936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接點 35"/>
          <p:cNvCxnSpPr>
            <a:stCxn id="34" idx="4"/>
            <a:endCxn id="31" idx="0"/>
          </p:cNvCxnSpPr>
          <p:nvPr/>
        </p:nvCxnSpPr>
        <p:spPr>
          <a:xfrm>
            <a:off x="4723635" y="3199800"/>
            <a:ext cx="1257691" cy="36936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字方塊 36"/>
          <p:cNvSpPr txBox="1"/>
          <p:nvPr/>
        </p:nvSpPr>
        <p:spPr>
          <a:xfrm>
            <a:off x="2616910" y="41699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2293803" y="479718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2953798" y="479718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3873343" y="41699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3550236" y="479718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4210231" y="479718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5136705" y="416286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4813598" y="479010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6400558" y="417116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字方塊 47"/>
          <p:cNvSpPr txBox="1"/>
          <p:nvPr/>
        </p:nvSpPr>
        <p:spPr>
          <a:xfrm>
            <a:off x="5767641" y="353012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4567038" y="287461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7559620" y="2852936"/>
            <a:ext cx="6110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0000FF"/>
                </a:solidFill>
                <a:latin typeface="+mj-lt"/>
              </a:rPr>
              <a:t>min</a:t>
            </a:r>
            <a:endParaRPr lang="zh-TW" altLang="en-US" sz="2000" b="1" dirty="0">
              <a:solidFill>
                <a:srgbClr val="0000FF"/>
              </a:solidFill>
              <a:latin typeface="+mj-lt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7548958" y="3489560"/>
            <a:ext cx="6543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+mj-lt"/>
              </a:rPr>
              <a:t>max</a:t>
            </a:r>
            <a:endParaRPr lang="zh-TW" altLang="en-US" sz="2000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7559508" y="4143810"/>
            <a:ext cx="6110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0000FF"/>
                </a:solidFill>
                <a:latin typeface="+mj-lt"/>
              </a:rPr>
              <a:t>min</a:t>
            </a:r>
            <a:endParaRPr lang="zh-TW" altLang="en-US" sz="2000" b="1" dirty="0">
              <a:solidFill>
                <a:srgbClr val="0000FF"/>
              </a:solidFill>
              <a:latin typeface="+mj-lt"/>
            </a:endParaRPr>
          </a:p>
        </p:txBody>
      </p:sp>
      <p:sp>
        <p:nvSpPr>
          <p:cNvPr id="67" name="文字方塊 66"/>
          <p:cNvSpPr txBox="1"/>
          <p:nvPr/>
        </p:nvSpPr>
        <p:spPr>
          <a:xfrm>
            <a:off x="7548846" y="4775954"/>
            <a:ext cx="6543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+mj-lt"/>
              </a:rPr>
              <a:t>max</a:t>
            </a:r>
            <a:endParaRPr lang="zh-TW" altLang="en-US" sz="2000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0" name="橢圓 49"/>
          <p:cNvSpPr/>
          <p:nvPr/>
        </p:nvSpPr>
        <p:spPr>
          <a:xfrm>
            <a:off x="5591080" y="4868801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1" name="直線接點 50"/>
          <p:cNvCxnSpPr>
            <a:stCxn id="21" idx="4"/>
            <a:endCxn id="50" idx="0"/>
          </p:cNvCxnSpPr>
          <p:nvPr/>
        </p:nvCxnSpPr>
        <p:spPr>
          <a:xfrm>
            <a:off x="5350617" y="4505236"/>
            <a:ext cx="384463" cy="36356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文字方塊 51"/>
          <p:cNvSpPr txBox="1"/>
          <p:nvPr/>
        </p:nvSpPr>
        <p:spPr>
          <a:xfrm>
            <a:off x="5528261" y="481044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893405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0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2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min-max heap</a:t>
            </a:r>
            <a:r>
              <a:rPr lang="zh-TW" altLang="en-US" dirty="0" smtClean="0"/>
              <a:t>的刪除 </a:t>
            </a:r>
            <a:r>
              <a:rPr lang="en-US" altLang="zh-TW" dirty="0" smtClean="0"/>
              <a:t>(2/3)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刪除</a:t>
            </a:r>
            <a:r>
              <a:rPr lang="en-US" altLang="zh-TW" dirty="0" smtClean="0">
                <a:solidFill>
                  <a:srgbClr val="0000FF"/>
                </a:solidFill>
              </a:rPr>
              <a:t>40</a:t>
            </a:r>
          </a:p>
          <a:p>
            <a:pPr lvl="1"/>
            <a:r>
              <a:rPr lang="zh-TW" altLang="en-US" dirty="0" smtClean="0"/>
              <a:t>刪除節點</a:t>
            </a:r>
            <a:r>
              <a:rPr lang="zh-TW" altLang="en-US" dirty="0"/>
              <a:t>非</a:t>
            </a:r>
            <a:r>
              <a:rPr lang="zh-TW" altLang="en-US" dirty="0" smtClean="0"/>
              <a:t>最後一個節點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以最後一個節點取代被刪除的節點</a:t>
            </a:r>
            <a:endParaRPr lang="en-US" altLang="zh-TW" dirty="0" smtClean="0"/>
          </a:p>
          <a:p>
            <a:pPr lvl="1"/>
            <a:r>
              <a:rPr lang="zh-TW" altLang="en-US" dirty="0"/>
              <a:t>調整為合法的</a:t>
            </a:r>
            <a:r>
              <a:rPr lang="en-US" altLang="zh-TW" dirty="0"/>
              <a:t>min-max</a:t>
            </a:r>
            <a:r>
              <a:rPr lang="zh-TW" altLang="en-US" dirty="0"/>
              <a:t> </a:t>
            </a:r>
            <a:r>
              <a:rPr lang="en-US" altLang="zh-TW" dirty="0"/>
              <a:t>heap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51</a:t>
            </a:fld>
            <a:endParaRPr lang="en-US" altLang="zh-TW" dirty="0"/>
          </a:p>
        </p:txBody>
      </p:sp>
      <p:sp>
        <p:nvSpPr>
          <p:cNvPr id="7" name="橢圓 6"/>
          <p:cNvSpPr/>
          <p:nvPr/>
        </p:nvSpPr>
        <p:spPr>
          <a:xfrm>
            <a:off x="2675304" y="421723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2352197" y="484470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直線接點 8"/>
          <p:cNvCxnSpPr>
            <a:stCxn id="7" idx="4"/>
            <a:endCxn id="8" idx="0"/>
          </p:cNvCxnSpPr>
          <p:nvPr/>
        </p:nvCxnSpPr>
        <p:spPr>
          <a:xfrm flipH="1">
            <a:off x="2496197" y="4505236"/>
            <a:ext cx="323107" cy="33947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橢圓 9"/>
          <p:cNvSpPr/>
          <p:nvPr/>
        </p:nvSpPr>
        <p:spPr>
          <a:xfrm>
            <a:off x="3012192" y="484610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" name="直線接點 10"/>
          <p:cNvCxnSpPr>
            <a:stCxn id="7" idx="4"/>
            <a:endCxn id="10" idx="0"/>
          </p:cNvCxnSpPr>
          <p:nvPr/>
        </p:nvCxnSpPr>
        <p:spPr>
          <a:xfrm>
            <a:off x="2819304" y="4505236"/>
            <a:ext cx="336888" cy="3408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/>
          <p:cNvSpPr/>
          <p:nvPr/>
        </p:nvSpPr>
        <p:spPr>
          <a:xfrm>
            <a:off x="3932995" y="421723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3609888" y="484470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" name="直線接點 13"/>
          <p:cNvCxnSpPr>
            <a:stCxn id="12" idx="4"/>
            <a:endCxn id="13" idx="0"/>
          </p:cNvCxnSpPr>
          <p:nvPr/>
        </p:nvCxnSpPr>
        <p:spPr>
          <a:xfrm flipH="1">
            <a:off x="3753888" y="4505236"/>
            <a:ext cx="323107" cy="33947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橢圓 14"/>
          <p:cNvSpPr/>
          <p:nvPr/>
        </p:nvSpPr>
        <p:spPr>
          <a:xfrm>
            <a:off x="4269883" y="484610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接點 15"/>
          <p:cNvCxnSpPr>
            <a:stCxn id="12" idx="4"/>
            <a:endCxn id="15" idx="0"/>
          </p:cNvCxnSpPr>
          <p:nvPr/>
        </p:nvCxnSpPr>
        <p:spPr>
          <a:xfrm>
            <a:off x="4076995" y="4505236"/>
            <a:ext cx="336888" cy="3408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橢圓 16"/>
          <p:cNvSpPr/>
          <p:nvPr/>
        </p:nvSpPr>
        <p:spPr>
          <a:xfrm>
            <a:off x="3306013" y="356916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3236908" y="352001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直線接點 18"/>
          <p:cNvCxnSpPr>
            <a:stCxn id="17" idx="4"/>
            <a:endCxn id="7" idx="0"/>
          </p:cNvCxnSpPr>
          <p:nvPr/>
        </p:nvCxnSpPr>
        <p:spPr>
          <a:xfrm flipH="1">
            <a:off x="2819304" y="3857164"/>
            <a:ext cx="630709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7" idx="4"/>
            <a:endCxn id="12" idx="0"/>
          </p:cNvCxnSpPr>
          <p:nvPr/>
        </p:nvCxnSpPr>
        <p:spPr>
          <a:xfrm>
            <a:off x="3450013" y="3857164"/>
            <a:ext cx="626982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橢圓 20"/>
          <p:cNvSpPr/>
          <p:nvPr/>
        </p:nvSpPr>
        <p:spPr>
          <a:xfrm>
            <a:off x="5206617" y="421723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橢圓 21"/>
          <p:cNvSpPr/>
          <p:nvPr/>
        </p:nvSpPr>
        <p:spPr>
          <a:xfrm>
            <a:off x="4883510" y="484470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3" name="直線接點 22"/>
          <p:cNvCxnSpPr>
            <a:stCxn id="21" idx="4"/>
            <a:endCxn id="22" idx="0"/>
          </p:cNvCxnSpPr>
          <p:nvPr/>
        </p:nvCxnSpPr>
        <p:spPr>
          <a:xfrm flipH="1">
            <a:off x="5027510" y="4505236"/>
            <a:ext cx="323107" cy="33947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橢圓 25"/>
          <p:cNvSpPr/>
          <p:nvPr/>
        </p:nvSpPr>
        <p:spPr>
          <a:xfrm>
            <a:off x="6464308" y="421723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5837326" y="356916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2" name="直線接點 31"/>
          <p:cNvCxnSpPr>
            <a:stCxn id="31" idx="4"/>
            <a:endCxn id="21" idx="0"/>
          </p:cNvCxnSpPr>
          <p:nvPr/>
        </p:nvCxnSpPr>
        <p:spPr>
          <a:xfrm flipH="1">
            <a:off x="5350617" y="3857164"/>
            <a:ext cx="630709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31" idx="4"/>
            <a:endCxn id="26" idx="0"/>
          </p:cNvCxnSpPr>
          <p:nvPr/>
        </p:nvCxnSpPr>
        <p:spPr>
          <a:xfrm>
            <a:off x="5981326" y="3857164"/>
            <a:ext cx="626982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橢圓 33"/>
          <p:cNvSpPr/>
          <p:nvPr/>
        </p:nvSpPr>
        <p:spPr>
          <a:xfrm>
            <a:off x="4579635" y="291180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5" name="直線接點 34"/>
          <p:cNvCxnSpPr>
            <a:stCxn id="34" idx="4"/>
            <a:endCxn id="17" idx="0"/>
          </p:cNvCxnSpPr>
          <p:nvPr/>
        </p:nvCxnSpPr>
        <p:spPr>
          <a:xfrm flipH="1">
            <a:off x="3450013" y="3199800"/>
            <a:ext cx="1273622" cy="36936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接點 35"/>
          <p:cNvCxnSpPr>
            <a:stCxn id="34" idx="4"/>
            <a:endCxn id="31" idx="0"/>
          </p:cNvCxnSpPr>
          <p:nvPr/>
        </p:nvCxnSpPr>
        <p:spPr>
          <a:xfrm>
            <a:off x="4723635" y="3199800"/>
            <a:ext cx="1257691" cy="36936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字方塊 36"/>
          <p:cNvSpPr txBox="1"/>
          <p:nvPr/>
        </p:nvSpPr>
        <p:spPr>
          <a:xfrm>
            <a:off x="2616910" y="41699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2293803" y="479718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2953798" y="479718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3873343" y="41699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3550236" y="479718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4210231" y="479718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5136705" y="416286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文字方塊 43"/>
          <p:cNvSpPr txBox="1"/>
          <p:nvPr/>
        </p:nvSpPr>
        <p:spPr>
          <a:xfrm>
            <a:off x="4813598" y="4790109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6400558" y="417116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字方塊 47"/>
          <p:cNvSpPr txBox="1"/>
          <p:nvPr/>
        </p:nvSpPr>
        <p:spPr>
          <a:xfrm>
            <a:off x="5767641" y="353012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4567038" y="287461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7559620" y="2852936"/>
            <a:ext cx="6110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0000FF"/>
                </a:solidFill>
                <a:latin typeface="+mj-lt"/>
              </a:rPr>
              <a:t>min</a:t>
            </a:r>
            <a:endParaRPr lang="zh-TW" altLang="en-US" sz="2000" b="1" dirty="0">
              <a:solidFill>
                <a:srgbClr val="0000FF"/>
              </a:solidFill>
              <a:latin typeface="+mj-lt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7548958" y="3489560"/>
            <a:ext cx="6543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+mj-lt"/>
              </a:rPr>
              <a:t>max</a:t>
            </a:r>
            <a:endParaRPr lang="zh-TW" altLang="en-US" sz="2000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7559508" y="4143810"/>
            <a:ext cx="6110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0000FF"/>
                </a:solidFill>
                <a:latin typeface="+mj-lt"/>
              </a:rPr>
              <a:t>min</a:t>
            </a:r>
            <a:endParaRPr lang="zh-TW" altLang="en-US" sz="2000" b="1" dirty="0">
              <a:solidFill>
                <a:srgbClr val="0000FF"/>
              </a:solidFill>
              <a:latin typeface="+mj-lt"/>
            </a:endParaRPr>
          </a:p>
        </p:txBody>
      </p:sp>
      <p:sp>
        <p:nvSpPr>
          <p:cNvPr id="67" name="文字方塊 66"/>
          <p:cNvSpPr txBox="1"/>
          <p:nvPr/>
        </p:nvSpPr>
        <p:spPr>
          <a:xfrm>
            <a:off x="7548846" y="4775954"/>
            <a:ext cx="6543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+mj-lt"/>
              </a:rPr>
              <a:t>max</a:t>
            </a:r>
            <a:endParaRPr lang="zh-TW" altLang="en-US" sz="2000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3" name="橢圓 52"/>
          <p:cNvSpPr/>
          <p:nvPr/>
        </p:nvSpPr>
        <p:spPr>
          <a:xfrm>
            <a:off x="3307664" y="356147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4" name="文字方塊 53"/>
          <p:cNvSpPr txBox="1"/>
          <p:nvPr/>
        </p:nvSpPr>
        <p:spPr>
          <a:xfrm>
            <a:off x="3238338" y="3518763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圓角矩形 54"/>
          <p:cNvSpPr/>
          <p:nvPr/>
        </p:nvSpPr>
        <p:spPr>
          <a:xfrm>
            <a:off x="2598900" y="4151527"/>
            <a:ext cx="415499" cy="437318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6" name="弧形接點 55"/>
          <p:cNvCxnSpPr>
            <a:stCxn id="37" idx="3"/>
            <a:endCxn id="18" idx="2"/>
          </p:cNvCxnSpPr>
          <p:nvPr/>
        </p:nvCxnSpPr>
        <p:spPr>
          <a:xfrm flipV="1">
            <a:off x="3032409" y="3889348"/>
            <a:ext cx="412249" cy="465258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弧形接點 56"/>
          <p:cNvCxnSpPr>
            <a:stCxn id="54" idx="1"/>
            <a:endCxn id="55" idx="0"/>
          </p:cNvCxnSpPr>
          <p:nvPr/>
        </p:nvCxnSpPr>
        <p:spPr>
          <a:xfrm rot="10800000" flipV="1">
            <a:off x="2806650" y="3703429"/>
            <a:ext cx="431688" cy="448098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6522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0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3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500"/>
                            </p:stCondLst>
                            <p:childTnLst>
                              <p:par>
                                <p:cTn id="3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/>
      <p:bldP spid="22" grpId="0" animBg="1"/>
      <p:bldP spid="44" grpId="0"/>
      <p:bldP spid="53" grpId="0" animBg="1"/>
      <p:bldP spid="54" grpId="0"/>
      <p:bldP spid="55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/>
              <a:t>min-max heap</a:t>
            </a:r>
            <a:r>
              <a:rPr lang="zh-TW" altLang="en-US" dirty="0" smtClean="0"/>
              <a:t>的刪除 </a:t>
            </a:r>
            <a:r>
              <a:rPr lang="en-US" altLang="zh-TW" dirty="0" smtClean="0"/>
              <a:t>(3/3)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刪除</a:t>
            </a:r>
            <a:r>
              <a:rPr lang="en-US" altLang="zh-TW" dirty="0" smtClean="0">
                <a:solidFill>
                  <a:srgbClr val="0000FF"/>
                </a:solidFill>
              </a:rPr>
              <a:t>40</a:t>
            </a:r>
          </a:p>
          <a:p>
            <a:pPr lvl="1"/>
            <a:r>
              <a:rPr lang="zh-TW" altLang="en-US" dirty="0" smtClean="0"/>
              <a:t>刪除節點</a:t>
            </a:r>
            <a:r>
              <a:rPr lang="zh-TW" altLang="en-US" dirty="0"/>
              <a:t>非</a:t>
            </a:r>
            <a:r>
              <a:rPr lang="zh-TW" altLang="en-US" dirty="0" smtClean="0"/>
              <a:t>最後一個節點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以最後一個節點取代被刪除的節點</a:t>
            </a:r>
            <a:endParaRPr lang="en-US" altLang="zh-TW" dirty="0" smtClean="0"/>
          </a:p>
          <a:p>
            <a:pPr lvl="1"/>
            <a:r>
              <a:rPr lang="zh-TW" altLang="en-US" dirty="0"/>
              <a:t>調整為合法的</a:t>
            </a:r>
            <a:r>
              <a:rPr lang="en-US" altLang="zh-TW" dirty="0"/>
              <a:t>min-max</a:t>
            </a:r>
            <a:r>
              <a:rPr lang="zh-TW" altLang="en-US" dirty="0"/>
              <a:t> </a:t>
            </a:r>
            <a:r>
              <a:rPr lang="en-US" altLang="zh-TW" dirty="0"/>
              <a:t>heap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52</a:t>
            </a:fld>
            <a:endParaRPr lang="en-US" altLang="zh-TW" dirty="0"/>
          </a:p>
        </p:txBody>
      </p:sp>
      <p:sp>
        <p:nvSpPr>
          <p:cNvPr id="7" name="橢圓 6"/>
          <p:cNvSpPr/>
          <p:nvPr/>
        </p:nvSpPr>
        <p:spPr>
          <a:xfrm>
            <a:off x="2675304" y="421723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2352197" y="484470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直線接點 8"/>
          <p:cNvCxnSpPr>
            <a:stCxn id="7" idx="4"/>
            <a:endCxn id="8" idx="0"/>
          </p:cNvCxnSpPr>
          <p:nvPr/>
        </p:nvCxnSpPr>
        <p:spPr>
          <a:xfrm flipH="1">
            <a:off x="2496197" y="4505236"/>
            <a:ext cx="323107" cy="33947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橢圓 9"/>
          <p:cNvSpPr/>
          <p:nvPr/>
        </p:nvSpPr>
        <p:spPr>
          <a:xfrm>
            <a:off x="3012192" y="484610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" name="直線接點 10"/>
          <p:cNvCxnSpPr>
            <a:stCxn id="7" idx="4"/>
            <a:endCxn id="10" idx="0"/>
          </p:cNvCxnSpPr>
          <p:nvPr/>
        </p:nvCxnSpPr>
        <p:spPr>
          <a:xfrm>
            <a:off x="2819304" y="4505236"/>
            <a:ext cx="336888" cy="3408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/>
          <p:cNvSpPr/>
          <p:nvPr/>
        </p:nvSpPr>
        <p:spPr>
          <a:xfrm>
            <a:off x="3932995" y="421723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3609888" y="484470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" name="直線接點 13"/>
          <p:cNvCxnSpPr>
            <a:stCxn id="12" idx="4"/>
            <a:endCxn id="13" idx="0"/>
          </p:cNvCxnSpPr>
          <p:nvPr/>
        </p:nvCxnSpPr>
        <p:spPr>
          <a:xfrm flipH="1">
            <a:off x="3753888" y="4505236"/>
            <a:ext cx="323107" cy="33947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橢圓 14"/>
          <p:cNvSpPr/>
          <p:nvPr/>
        </p:nvSpPr>
        <p:spPr>
          <a:xfrm>
            <a:off x="4269883" y="4846108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接點 15"/>
          <p:cNvCxnSpPr>
            <a:stCxn id="12" idx="4"/>
            <a:endCxn id="15" idx="0"/>
          </p:cNvCxnSpPr>
          <p:nvPr/>
        </p:nvCxnSpPr>
        <p:spPr>
          <a:xfrm>
            <a:off x="4076995" y="4505236"/>
            <a:ext cx="336888" cy="3408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橢圓 16"/>
          <p:cNvSpPr/>
          <p:nvPr/>
        </p:nvSpPr>
        <p:spPr>
          <a:xfrm>
            <a:off x="3306013" y="356916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3239795" y="3526524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</a:p>
        </p:txBody>
      </p:sp>
      <p:cxnSp>
        <p:nvCxnSpPr>
          <p:cNvPr id="19" name="直線接點 18"/>
          <p:cNvCxnSpPr>
            <a:stCxn id="17" idx="4"/>
            <a:endCxn id="7" idx="0"/>
          </p:cNvCxnSpPr>
          <p:nvPr/>
        </p:nvCxnSpPr>
        <p:spPr>
          <a:xfrm flipH="1">
            <a:off x="2819304" y="3857164"/>
            <a:ext cx="630709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7" idx="4"/>
            <a:endCxn id="12" idx="0"/>
          </p:cNvCxnSpPr>
          <p:nvPr/>
        </p:nvCxnSpPr>
        <p:spPr>
          <a:xfrm>
            <a:off x="3450013" y="3857164"/>
            <a:ext cx="626982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橢圓 20"/>
          <p:cNvSpPr/>
          <p:nvPr/>
        </p:nvSpPr>
        <p:spPr>
          <a:xfrm>
            <a:off x="5206617" y="421723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6" name="橢圓 25"/>
          <p:cNvSpPr/>
          <p:nvPr/>
        </p:nvSpPr>
        <p:spPr>
          <a:xfrm>
            <a:off x="6464308" y="421723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31" name="橢圓 30"/>
          <p:cNvSpPr/>
          <p:nvPr/>
        </p:nvSpPr>
        <p:spPr>
          <a:xfrm>
            <a:off x="5837326" y="356916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2" name="直線接點 31"/>
          <p:cNvCxnSpPr>
            <a:stCxn id="31" idx="4"/>
            <a:endCxn id="21" idx="0"/>
          </p:cNvCxnSpPr>
          <p:nvPr/>
        </p:nvCxnSpPr>
        <p:spPr>
          <a:xfrm flipH="1">
            <a:off x="5350617" y="3857164"/>
            <a:ext cx="630709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線接點 32"/>
          <p:cNvCxnSpPr>
            <a:stCxn id="31" idx="4"/>
            <a:endCxn id="26" idx="0"/>
          </p:cNvCxnSpPr>
          <p:nvPr/>
        </p:nvCxnSpPr>
        <p:spPr>
          <a:xfrm>
            <a:off x="5981326" y="3857164"/>
            <a:ext cx="626982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橢圓 33"/>
          <p:cNvSpPr/>
          <p:nvPr/>
        </p:nvSpPr>
        <p:spPr>
          <a:xfrm>
            <a:off x="4579635" y="291180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5" name="直線接點 34"/>
          <p:cNvCxnSpPr>
            <a:stCxn id="34" idx="4"/>
            <a:endCxn id="17" idx="0"/>
          </p:cNvCxnSpPr>
          <p:nvPr/>
        </p:nvCxnSpPr>
        <p:spPr>
          <a:xfrm flipH="1">
            <a:off x="3450013" y="3199800"/>
            <a:ext cx="1273622" cy="36936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線接點 35"/>
          <p:cNvCxnSpPr>
            <a:stCxn id="34" idx="4"/>
            <a:endCxn id="31" idx="0"/>
          </p:cNvCxnSpPr>
          <p:nvPr/>
        </p:nvCxnSpPr>
        <p:spPr>
          <a:xfrm>
            <a:off x="4723635" y="3199800"/>
            <a:ext cx="1257691" cy="36936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文字方塊 36"/>
          <p:cNvSpPr txBox="1"/>
          <p:nvPr/>
        </p:nvSpPr>
        <p:spPr>
          <a:xfrm>
            <a:off x="2616910" y="41699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2293803" y="479718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2953798" y="479718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3873343" y="41699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文字方塊 40"/>
          <p:cNvSpPr txBox="1"/>
          <p:nvPr/>
        </p:nvSpPr>
        <p:spPr>
          <a:xfrm>
            <a:off x="3550630" y="479718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34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文字方塊 41"/>
          <p:cNvSpPr txBox="1"/>
          <p:nvPr/>
        </p:nvSpPr>
        <p:spPr>
          <a:xfrm>
            <a:off x="4210231" y="479718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31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3" name="文字方塊 42"/>
          <p:cNvSpPr txBox="1"/>
          <p:nvPr/>
        </p:nvSpPr>
        <p:spPr>
          <a:xfrm>
            <a:off x="5136705" y="416286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文字方塊 45"/>
          <p:cNvSpPr txBox="1"/>
          <p:nvPr/>
        </p:nvSpPr>
        <p:spPr>
          <a:xfrm>
            <a:off x="6400558" y="417116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8" name="文字方塊 47"/>
          <p:cNvSpPr txBox="1"/>
          <p:nvPr/>
        </p:nvSpPr>
        <p:spPr>
          <a:xfrm>
            <a:off x="5767641" y="353012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9" name="文字方塊 48"/>
          <p:cNvSpPr txBox="1"/>
          <p:nvPr/>
        </p:nvSpPr>
        <p:spPr>
          <a:xfrm>
            <a:off x="4567038" y="2874614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文字方塊 63"/>
          <p:cNvSpPr txBox="1"/>
          <p:nvPr/>
        </p:nvSpPr>
        <p:spPr>
          <a:xfrm>
            <a:off x="7559620" y="2852936"/>
            <a:ext cx="6110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0000FF"/>
                </a:solidFill>
                <a:latin typeface="+mj-lt"/>
              </a:rPr>
              <a:t>min</a:t>
            </a:r>
            <a:endParaRPr lang="zh-TW" altLang="en-US" sz="2000" b="1" dirty="0">
              <a:solidFill>
                <a:srgbClr val="0000FF"/>
              </a:solidFill>
              <a:latin typeface="+mj-lt"/>
            </a:endParaRPr>
          </a:p>
        </p:txBody>
      </p:sp>
      <p:sp>
        <p:nvSpPr>
          <p:cNvPr id="65" name="文字方塊 64"/>
          <p:cNvSpPr txBox="1"/>
          <p:nvPr/>
        </p:nvSpPr>
        <p:spPr>
          <a:xfrm>
            <a:off x="7548958" y="3489560"/>
            <a:ext cx="6543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+mj-lt"/>
              </a:rPr>
              <a:t>max</a:t>
            </a:r>
            <a:endParaRPr lang="zh-TW" altLang="en-US" sz="2000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66" name="文字方塊 65"/>
          <p:cNvSpPr txBox="1"/>
          <p:nvPr/>
        </p:nvSpPr>
        <p:spPr>
          <a:xfrm>
            <a:off x="7559508" y="4143810"/>
            <a:ext cx="61106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0000FF"/>
                </a:solidFill>
                <a:latin typeface="+mj-lt"/>
              </a:rPr>
              <a:t>min</a:t>
            </a:r>
            <a:endParaRPr lang="zh-TW" altLang="en-US" sz="2000" b="1" dirty="0">
              <a:solidFill>
                <a:srgbClr val="0000FF"/>
              </a:solidFill>
              <a:latin typeface="+mj-lt"/>
            </a:endParaRPr>
          </a:p>
        </p:txBody>
      </p:sp>
      <p:sp>
        <p:nvSpPr>
          <p:cNvPr id="67" name="文字方塊 66"/>
          <p:cNvSpPr txBox="1"/>
          <p:nvPr/>
        </p:nvSpPr>
        <p:spPr>
          <a:xfrm>
            <a:off x="7548846" y="4775954"/>
            <a:ext cx="65434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2000" b="1" dirty="0" smtClean="0">
                <a:solidFill>
                  <a:srgbClr val="C00000"/>
                </a:solidFill>
                <a:latin typeface="+mj-lt"/>
              </a:rPr>
              <a:t>max</a:t>
            </a:r>
            <a:endParaRPr lang="zh-TW" altLang="en-US" sz="2000" b="1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5" name="圓角矩形 54"/>
          <p:cNvSpPr/>
          <p:nvPr/>
        </p:nvSpPr>
        <p:spPr>
          <a:xfrm>
            <a:off x="3233174" y="3479574"/>
            <a:ext cx="415499" cy="437318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6" name="弧形接點 55"/>
          <p:cNvCxnSpPr>
            <a:stCxn id="13" idx="7"/>
            <a:endCxn id="17" idx="6"/>
          </p:cNvCxnSpPr>
          <p:nvPr/>
        </p:nvCxnSpPr>
        <p:spPr>
          <a:xfrm rot="16200000" flipV="1">
            <a:off x="3138003" y="4169175"/>
            <a:ext cx="1173719" cy="261698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弧形接點 56"/>
          <p:cNvCxnSpPr>
            <a:stCxn id="17" idx="3"/>
            <a:endCxn id="13" idx="2"/>
          </p:cNvCxnSpPr>
          <p:nvPr/>
        </p:nvCxnSpPr>
        <p:spPr>
          <a:xfrm rot="16200000" flipH="1">
            <a:off x="2892180" y="4270997"/>
            <a:ext cx="1173719" cy="261698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0190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deap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包含</a:t>
            </a:r>
            <a:r>
              <a:rPr lang="en-US" altLang="zh-TW" dirty="0"/>
              <a:t>min-heap</a:t>
            </a:r>
            <a:r>
              <a:rPr lang="zh-TW" altLang="en-US" dirty="0"/>
              <a:t>與</a:t>
            </a:r>
            <a:r>
              <a:rPr lang="en-US" altLang="zh-TW" dirty="0"/>
              <a:t>max-heap</a:t>
            </a:r>
            <a:r>
              <a:rPr lang="zh-TW" altLang="en-US" dirty="0"/>
              <a:t>兩種</a:t>
            </a:r>
            <a:r>
              <a:rPr lang="en-US" altLang="zh-TW" dirty="0"/>
              <a:t>heap</a:t>
            </a:r>
            <a:r>
              <a:rPr lang="zh-TW" altLang="en-US" dirty="0"/>
              <a:t>的</a:t>
            </a:r>
            <a:r>
              <a:rPr lang="zh-TW" altLang="en-US" dirty="0" smtClean="0"/>
              <a:t>特徵</a:t>
            </a:r>
            <a:endParaRPr lang="en-US" altLang="zh-TW" dirty="0" smtClean="0"/>
          </a:p>
          <a:p>
            <a:pPr lvl="1"/>
            <a:r>
              <a:rPr lang="zh-TW" altLang="en-US" dirty="0" smtClean="0">
                <a:solidFill>
                  <a:srgbClr val="C00000"/>
                </a:solidFill>
              </a:rPr>
              <a:t>樹根</a:t>
            </a:r>
            <a:r>
              <a:rPr lang="zh-TW" altLang="en-US" dirty="0" smtClean="0"/>
              <a:t>不儲存任何資料，為一</a:t>
            </a:r>
            <a:r>
              <a:rPr lang="zh-TW" altLang="en-US" dirty="0" smtClean="0">
                <a:solidFill>
                  <a:srgbClr val="C00000"/>
                </a:solidFill>
              </a:rPr>
              <a:t>空節點</a:t>
            </a:r>
            <a:endParaRPr lang="en-US" altLang="zh-TW" dirty="0" smtClean="0">
              <a:solidFill>
                <a:srgbClr val="C00000"/>
              </a:solidFill>
            </a:endParaRPr>
          </a:p>
          <a:p>
            <a:pPr lvl="1"/>
            <a:r>
              <a:rPr lang="zh-TW" altLang="en-US" dirty="0">
                <a:solidFill>
                  <a:srgbClr val="0000FF"/>
                </a:solidFill>
              </a:rPr>
              <a:t>左</a:t>
            </a:r>
            <a:r>
              <a:rPr lang="zh-TW" altLang="en-US" dirty="0"/>
              <a:t>子</a:t>
            </a:r>
            <a:r>
              <a:rPr lang="zh-TW" altLang="en-US" dirty="0" smtClean="0"/>
              <a:t>樹為</a:t>
            </a:r>
            <a:r>
              <a:rPr lang="en-US" altLang="zh-TW" dirty="0" smtClean="0">
                <a:solidFill>
                  <a:srgbClr val="0000FF"/>
                </a:solidFill>
              </a:rPr>
              <a:t>min</a:t>
            </a:r>
            <a:r>
              <a:rPr lang="en-US" altLang="zh-TW" dirty="0" smtClean="0"/>
              <a:t>-heap</a:t>
            </a:r>
            <a:r>
              <a:rPr lang="zh-TW" altLang="en-US" dirty="0" smtClean="0"/>
              <a:t>、</a:t>
            </a:r>
            <a:r>
              <a:rPr lang="zh-TW" altLang="en-US" dirty="0" smtClean="0">
                <a:solidFill>
                  <a:srgbClr val="C00000"/>
                </a:solidFill>
              </a:rPr>
              <a:t>右</a:t>
            </a:r>
            <a:r>
              <a:rPr lang="zh-TW" altLang="en-US" dirty="0" smtClean="0"/>
              <a:t>子樹為</a:t>
            </a:r>
            <a:r>
              <a:rPr lang="en-US" altLang="zh-TW" dirty="0" smtClean="0">
                <a:solidFill>
                  <a:srgbClr val="C00000"/>
                </a:solidFill>
              </a:rPr>
              <a:t>max</a:t>
            </a:r>
            <a:r>
              <a:rPr lang="en-US" altLang="zh-TW" dirty="0" smtClean="0"/>
              <a:t>-heap</a:t>
            </a:r>
          </a:p>
          <a:p>
            <a:pPr lvl="1"/>
            <a:r>
              <a:rPr lang="zh-TW" altLang="en-US" dirty="0" smtClean="0"/>
              <a:t>左右子樹相對應的位置，</a:t>
            </a:r>
            <a:r>
              <a:rPr lang="zh-TW" altLang="en-US" dirty="0" smtClean="0">
                <a:solidFill>
                  <a:srgbClr val="C00000"/>
                </a:solidFill>
              </a:rPr>
              <a:t>左子樹 </a:t>
            </a:r>
            <a:r>
              <a:rPr lang="en-US" altLang="zh-TW" dirty="0" smtClean="0">
                <a:solidFill>
                  <a:srgbClr val="C00000"/>
                </a:solidFill>
              </a:rPr>
              <a:t>&lt;</a:t>
            </a:r>
            <a:r>
              <a:rPr lang="zh-TW" altLang="en-US" dirty="0" smtClean="0">
                <a:solidFill>
                  <a:srgbClr val="C00000"/>
                </a:solidFill>
              </a:rPr>
              <a:t> 右子樹</a:t>
            </a:r>
            <a:endParaRPr lang="zh-TW" altLang="en-US" dirty="0">
              <a:solidFill>
                <a:srgbClr val="C00000"/>
              </a:solidFill>
            </a:endParaRP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53</a:t>
            </a:fld>
            <a:endParaRPr lang="en-US" altLang="zh-TW" dirty="0"/>
          </a:p>
        </p:txBody>
      </p:sp>
      <p:sp>
        <p:nvSpPr>
          <p:cNvPr id="7" name="橢圓 6"/>
          <p:cNvSpPr/>
          <p:nvPr/>
        </p:nvSpPr>
        <p:spPr>
          <a:xfrm>
            <a:off x="2635994" y="49504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2312887" y="557796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直線接點 8"/>
          <p:cNvCxnSpPr>
            <a:stCxn id="7" idx="4"/>
            <a:endCxn id="8" idx="0"/>
          </p:cNvCxnSpPr>
          <p:nvPr/>
        </p:nvCxnSpPr>
        <p:spPr>
          <a:xfrm flipH="1">
            <a:off x="2456887" y="5238492"/>
            <a:ext cx="323107" cy="33947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橢圓 9"/>
          <p:cNvSpPr/>
          <p:nvPr/>
        </p:nvSpPr>
        <p:spPr>
          <a:xfrm>
            <a:off x="2972882" y="557936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" name="直線接點 10"/>
          <p:cNvCxnSpPr>
            <a:stCxn id="7" idx="4"/>
            <a:endCxn id="10" idx="0"/>
          </p:cNvCxnSpPr>
          <p:nvPr/>
        </p:nvCxnSpPr>
        <p:spPr>
          <a:xfrm>
            <a:off x="2779994" y="5238492"/>
            <a:ext cx="336888" cy="3408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/>
          <p:cNvSpPr/>
          <p:nvPr/>
        </p:nvSpPr>
        <p:spPr>
          <a:xfrm>
            <a:off x="3893685" y="49504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3570578" y="557796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" name="直線接點 13"/>
          <p:cNvCxnSpPr>
            <a:stCxn id="12" idx="4"/>
            <a:endCxn id="13" idx="0"/>
          </p:cNvCxnSpPr>
          <p:nvPr/>
        </p:nvCxnSpPr>
        <p:spPr>
          <a:xfrm flipH="1">
            <a:off x="3714578" y="5238492"/>
            <a:ext cx="323107" cy="33947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橢圓 14"/>
          <p:cNvSpPr/>
          <p:nvPr/>
        </p:nvSpPr>
        <p:spPr>
          <a:xfrm>
            <a:off x="4230573" y="557936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接點 15"/>
          <p:cNvCxnSpPr>
            <a:stCxn id="12" idx="4"/>
            <a:endCxn id="15" idx="0"/>
          </p:cNvCxnSpPr>
          <p:nvPr/>
        </p:nvCxnSpPr>
        <p:spPr>
          <a:xfrm>
            <a:off x="4037685" y="5238492"/>
            <a:ext cx="336888" cy="3408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橢圓 16"/>
          <p:cNvSpPr/>
          <p:nvPr/>
        </p:nvSpPr>
        <p:spPr>
          <a:xfrm>
            <a:off x="3266703" y="430242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3255306" y="425327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直線接點 18"/>
          <p:cNvCxnSpPr>
            <a:stCxn id="17" idx="4"/>
            <a:endCxn id="7" idx="0"/>
          </p:cNvCxnSpPr>
          <p:nvPr/>
        </p:nvCxnSpPr>
        <p:spPr>
          <a:xfrm flipH="1">
            <a:off x="2779994" y="4590420"/>
            <a:ext cx="630709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7" idx="4"/>
            <a:endCxn id="12" idx="0"/>
          </p:cNvCxnSpPr>
          <p:nvPr/>
        </p:nvCxnSpPr>
        <p:spPr>
          <a:xfrm>
            <a:off x="3410703" y="4590420"/>
            <a:ext cx="626982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橢圓 20"/>
          <p:cNvSpPr/>
          <p:nvPr/>
        </p:nvSpPr>
        <p:spPr>
          <a:xfrm>
            <a:off x="5167307" y="49504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橢圓 21"/>
          <p:cNvSpPr/>
          <p:nvPr/>
        </p:nvSpPr>
        <p:spPr>
          <a:xfrm>
            <a:off x="4844200" y="557796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3" name="直線接點 22"/>
          <p:cNvCxnSpPr>
            <a:stCxn id="21" idx="4"/>
            <a:endCxn id="22" idx="0"/>
          </p:cNvCxnSpPr>
          <p:nvPr/>
        </p:nvCxnSpPr>
        <p:spPr>
          <a:xfrm flipH="1">
            <a:off x="4988200" y="5238492"/>
            <a:ext cx="323107" cy="33947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橢圓 23"/>
          <p:cNvSpPr/>
          <p:nvPr/>
        </p:nvSpPr>
        <p:spPr>
          <a:xfrm>
            <a:off x="6424998" y="49504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橢圓 24"/>
          <p:cNvSpPr/>
          <p:nvPr/>
        </p:nvSpPr>
        <p:spPr>
          <a:xfrm>
            <a:off x="5798016" y="430242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6" name="直線接點 25"/>
          <p:cNvCxnSpPr>
            <a:stCxn id="25" idx="4"/>
            <a:endCxn id="21" idx="0"/>
          </p:cNvCxnSpPr>
          <p:nvPr/>
        </p:nvCxnSpPr>
        <p:spPr>
          <a:xfrm flipH="1">
            <a:off x="5311307" y="4590420"/>
            <a:ext cx="630709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>
            <a:stCxn id="25" idx="4"/>
            <a:endCxn id="24" idx="0"/>
          </p:cNvCxnSpPr>
          <p:nvPr/>
        </p:nvCxnSpPr>
        <p:spPr>
          <a:xfrm>
            <a:off x="5942016" y="4590420"/>
            <a:ext cx="626982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橢圓 27"/>
          <p:cNvSpPr/>
          <p:nvPr/>
        </p:nvSpPr>
        <p:spPr>
          <a:xfrm>
            <a:off x="4540325" y="364505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9" name="直線接點 28"/>
          <p:cNvCxnSpPr>
            <a:stCxn id="28" idx="4"/>
            <a:endCxn id="17" idx="0"/>
          </p:cNvCxnSpPr>
          <p:nvPr/>
        </p:nvCxnSpPr>
        <p:spPr>
          <a:xfrm flipH="1">
            <a:off x="3410703" y="3933056"/>
            <a:ext cx="1273622" cy="36936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/>
          <p:cNvCxnSpPr>
            <a:stCxn id="28" idx="4"/>
            <a:endCxn id="25" idx="0"/>
          </p:cNvCxnSpPr>
          <p:nvPr/>
        </p:nvCxnSpPr>
        <p:spPr>
          <a:xfrm>
            <a:off x="4684325" y="3933056"/>
            <a:ext cx="1257691" cy="36936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2577600" y="490319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2254493" y="5530441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2914488" y="5530441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3834033" y="490319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3510926" y="5530441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4170921" y="5530441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5097395" y="489612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4774288" y="552336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6361248" y="490442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5726820" y="426175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35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2" name="橢圓 41"/>
          <p:cNvSpPr/>
          <p:nvPr/>
        </p:nvSpPr>
        <p:spPr>
          <a:xfrm>
            <a:off x="5551770" y="560205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3" name="直線接點 42"/>
          <p:cNvCxnSpPr>
            <a:stCxn id="21" idx="4"/>
            <a:endCxn id="42" idx="0"/>
          </p:cNvCxnSpPr>
          <p:nvPr/>
        </p:nvCxnSpPr>
        <p:spPr>
          <a:xfrm>
            <a:off x="5311307" y="5238492"/>
            <a:ext cx="384463" cy="36356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文字方塊 43"/>
          <p:cNvSpPr txBox="1"/>
          <p:nvPr/>
        </p:nvSpPr>
        <p:spPr>
          <a:xfrm>
            <a:off x="5488951" y="5543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圓角矩形圖說文字 44"/>
          <p:cNvSpPr/>
          <p:nvPr/>
        </p:nvSpPr>
        <p:spPr>
          <a:xfrm>
            <a:off x="5016070" y="2955453"/>
            <a:ext cx="1046435" cy="520899"/>
          </a:xfrm>
          <a:prstGeom prst="wedgeRoundRectCallout">
            <a:avLst>
              <a:gd name="adj1" fmla="val -66556"/>
              <a:gd name="adj2" fmla="val 83474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000" b="1" dirty="0" smtClean="0">
                <a:solidFill>
                  <a:schemeClr val="tx1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空節點</a:t>
            </a:r>
            <a:endParaRPr lang="zh-TW" altLang="en-US" b="1" dirty="0">
              <a:solidFill>
                <a:schemeClr val="tx1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46" name="圓角矩形 45"/>
          <p:cNvSpPr/>
          <p:nvPr/>
        </p:nvSpPr>
        <p:spPr>
          <a:xfrm>
            <a:off x="2181316" y="4166452"/>
            <a:ext cx="2462692" cy="1872340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7" name="圓角矩形 46"/>
          <p:cNvSpPr/>
          <p:nvPr/>
        </p:nvSpPr>
        <p:spPr>
          <a:xfrm>
            <a:off x="4726601" y="4151692"/>
            <a:ext cx="2462692" cy="1872340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8" name="圓角矩形圖說文字 47"/>
          <p:cNvSpPr/>
          <p:nvPr/>
        </p:nvSpPr>
        <p:spPr>
          <a:xfrm>
            <a:off x="7236296" y="3411512"/>
            <a:ext cx="1368152" cy="520899"/>
          </a:xfrm>
          <a:prstGeom prst="wedgeRoundRectCallout">
            <a:avLst>
              <a:gd name="adj1" fmla="val -57524"/>
              <a:gd name="adj2" fmla="val 9770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 smtClean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max-heap</a:t>
            </a:r>
            <a:endParaRPr lang="zh-TW" altLang="en-US" b="1" dirty="0">
              <a:solidFill>
                <a:srgbClr val="C00000"/>
              </a:solidFill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49" name="圓角矩形圖說文字 48"/>
          <p:cNvSpPr/>
          <p:nvPr/>
        </p:nvSpPr>
        <p:spPr>
          <a:xfrm>
            <a:off x="755576" y="3411511"/>
            <a:ext cx="1293591" cy="520899"/>
          </a:xfrm>
          <a:prstGeom prst="wedgeRoundRectCallout">
            <a:avLst>
              <a:gd name="adj1" fmla="val 65266"/>
              <a:gd name="adj2" fmla="val 10007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 smtClean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min-heap</a:t>
            </a:r>
            <a:endParaRPr lang="zh-TW" altLang="en-US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  <p:cxnSp>
        <p:nvCxnSpPr>
          <p:cNvPr id="51" name="直線單箭頭接點 50"/>
          <p:cNvCxnSpPr>
            <a:stCxn id="17" idx="6"/>
            <a:endCxn id="25" idx="2"/>
          </p:cNvCxnSpPr>
          <p:nvPr/>
        </p:nvCxnSpPr>
        <p:spPr>
          <a:xfrm>
            <a:off x="3554703" y="4446420"/>
            <a:ext cx="2243313" cy="0"/>
          </a:xfrm>
          <a:prstGeom prst="straightConnector1">
            <a:avLst/>
          </a:prstGeom>
          <a:ln w="28575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肘形接點 58"/>
          <p:cNvCxnSpPr>
            <a:stCxn id="31" idx="0"/>
            <a:endCxn id="37" idx="0"/>
          </p:cNvCxnSpPr>
          <p:nvPr/>
        </p:nvCxnSpPr>
        <p:spPr>
          <a:xfrm rot="5400000" flipH="1" flipV="1">
            <a:off x="4041709" y="3639761"/>
            <a:ext cx="7076" cy="2519795"/>
          </a:xfrm>
          <a:prstGeom prst="bentConnector3">
            <a:avLst>
              <a:gd name="adj1" fmla="val 2370153"/>
            </a:avLst>
          </a:prstGeom>
          <a:ln w="28575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肘形接點 60"/>
          <p:cNvCxnSpPr>
            <a:stCxn id="34" idx="2"/>
            <a:endCxn id="39" idx="2"/>
          </p:cNvCxnSpPr>
          <p:nvPr/>
        </p:nvCxnSpPr>
        <p:spPr>
          <a:xfrm rot="16200000" flipH="1">
            <a:off x="5304778" y="4009532"/>
            <a:ext cx="1224" cy="2527215"/>
          </a:xfrm>
          <a:prstGeom prst="bentConnector3">
            <a:avLst>
              <a:gd name="adj1" fmla="val 12719281"/>
            </a:avLst>
          </a:prstGeom>
          <a:ln w="28575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肘形接點 64"/>
          <p:cNvCxnSpPr>
            <a:stCxn id="8" idx="4"/>
            <a:endCxn id="22" idx="4"/>
          </p:cNvCxnSpPr>
          <p:nvPr/>
        </p:nvCxnSpPr>
        <p:spPr>
          <a:xfrm rot="16200000" flipH="1">
            <a:off x="3722543" y="4600305"/>
            <a:ext cx="12700" cy="2531313"/>
          </a:xfrm>
          <a:prstGeom prst="bentConnector3">
            <a:avLst>
              <a:gd name="adj1" fmla="val 3113512"/>
            </a:avLst>
          </a:prstGeom>
          <a:ln w="28575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肘形接點 67"/>
          <p:cNvCxnSpPr>
            <a:stCxn id="10" idx="4"/>
            <a:endCxn id="42" idx="4"/>
          </p:cNvCxnSpPr>
          <p:nvPr/>
        </p:nvCxnSpPr>
        <p:spPr>
          <a:xfrm rot="16200000" flipH="1">
            <a:off x="4394980" y="4589266"/>
            <a:ext cx="22693" cy="2578888"/>
          </a:xfrm>
          <a:prstGeom prst="bentConnector3">
            <a:avLst>
              <a:gd name="adj1" fmla="val 1978593"/>
            </a:avLst>
          </a:prstGeom>
          <a:ln w="28575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肘形接點 71"/>
          <p:cNvCxnSpPr/>
          <p:nvPr/>
        </p:nvCxnSpPr>
        <p:spPr>
          <a:xfrm rot="5400000" flipH="1" flipV="1">
            <a:off x="4782771" y="4166227"/>
            <a:ext cx="627470" cy="2772000"/>
          </a:xfrm>
          <a:prstGeom prst="bentConnector3">
            <a:avLst>
              <a:gd name="adj1" fmla="val -36432"/>
            </a:avLst>
          </a:prstGeom>
          <a:ln w="28575"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肘形接點 72"/>
          <p:cNvCxnSpPr/>
          <p:nvPr/>
        </p:nvCxnSpPr>
        <p:spPr>
          <a:xfrm rot="5400000" flipH="1" flipV="1">
            <a:off x="5171876" y="4432327"/>
            <a:ext cx="684000" cy="2268000"/>
          </a:xfrm>
          <a:prstGeom prst="bentConnector3">
            <a:avLst>
              <a:gd name="adj1" fmla="val -39477"/>
            </a:avLst>
          </a:prstGeom>
          <a:ln w="28575"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95401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2000"/>
                            </p:stCondLst>
                            <p:childTnLst>
                              <p:par>
                                <p:cTn id="3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2000"/>
                            </p:stCondLst>
                            <p:childTnLst>
                              <p:par>
                                <p:cTn id="5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5" grpId="0" animBg="1"/>
      <p:bldP spid="46" grpId="0" animBg="1"/>
      <p:bldP spid="47" grpId="0" animBg="1"/>
      <p:bldP spid="48" grpId="0" animBg="1"/>
      <p:bldP spid="4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deap</a:t>
            </a:r>
            <a:r>
              <a:rPr lang="zh-TW" altLang="en-US" dirty="0" smtClean="0"/>
              <a:t>的加入 </a:t>
            </a:r>
            <a:r>
              <a:rPr lang="en-US" altLang="zh-TW" dirty="0" smtClean="0"/>
              <a:t>(1/5)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加入</a:t>
            </a:r>
            <a:r>
              <a:rPr lang="en-US" altLang="zh-TW" dirty="0" smtClean="0">
                <a:solidFill>
                  <a:srgbClr val="0000FF"/>
                </a:solidFill>
              </a:rPr>
              <a:t>25</a:t>
            </a:r>
            <a:endParaRPr lang="en-US" altLang="zh-TW" dirty="0">
              <a:solidFill>
                <a:srgbClr val="0000FF"/>
              </a:solidFill>
            </a:endParaRPr>
          </a:p>
          <a:p>
            <a:pPr lvl="1"/>
            <a:r>
              <a:rPr lang="zh-TW" altLang="en-US" dirty="0"/>
              <a:t>依照完整二元樹特性加入</a:t>
            </a:r>
            <a:endParaRPr lang="en-US" altLang="zh-TW" dirty="0"/>
          </a:p>
          <a:p>
            <a:pPr lvl="1"/>
            <a:r>
              <a:rPr lang="zh-TW" altLang="en-US" dirty="0"/>
              <a:t>調整為合法</a:t>
            </a:r>
            <a:r>
              <a:rPr lang="zh-TW" altLang="en-US" dirty="0" smtClean="0"/>
              <a:t>的</a:t>
            </a:r>
            <a:r>
              <a:rPr lang="en-US" altLang="zh-TW" dirty="0" err="1" smtClean="0"/>
              <a:t>deap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54</a:t>
            </a:fld>
            <a:endParaRPr lang="en-US" altLang="zh-TW" dirty="0"/>
          </a:p>
        </p:txBody>
      </p:sp>
      <p:sp>
        <p:nvSpPr>
          <p:cNvPr id="7" name="橢圓 6"/>
          <p:cNvSpPr/>
          <p:nvPr/>
        </p:nvSpPr>
        <p:spPr>
          <a:xfrm>
            <a:off x="2635994" y="49504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3893685" y="49504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3266703" y="430242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3255306" y="425327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直線接點 18"/>
          <p:cNvCxnSpPr>
            <a:stCxn id="17" idx="4"/>
            <a:endCxn id="7" idx="0"/>
          </p:cNvCxnSpPr>
          <p:nvPr/>
        </p:nvCxnSpPr>
        <p:spPr>
          <a:xfrm flipH="1">
            <a:off x="2779994" y="4590420"/>
            <a:ext cx="630709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7" idx="4"/>
            <a:endCxn id="12" idx="0"/>
          </p:cNvCxnSpPr>
          <p:nvPr/>
        </p:nvCxnSpPr>
        <p:spPr>
          <a:xfrm>
            <a:off x="3410703" y="4590420"/>
            <a:ext cx="626982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橢圓 20"/>
          <p:cNvSpPr/>
          <p:nvPr/>
        </p:nvSpPr>
        <p:spPr>
          <a:xfrm>
            <a:off x="5167307" y="49504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橢圓 24"/>
          <p:cNvSpPr/>
          <p:nvPr/>
        </p:nvSpPr>
        <p:spPr>
          <a:xfrm>
            <a:off x="5798016" y="430242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6" name="直線接點 25"/>
          <p:cNvCxnSpPr>
            <a:stCxn id="25" idx="4"/>
            <a:endCxn id="21" idx="0"/>
          </p:cNvCxnSpPr>
          <p:nvPr/>
        </p:nvCxnSpPr>
        <p:spPr>
          <a:xfrm flipH="1">
            <a:off x="5311307" y="4590420"/>
            <a:ext cx="630709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橢圓 27"/>
          <p:cNvSpPr/>
          <p:nvPr/>
        </p:nvSpPr>
        <p:spPr>
          <a:xfrm>
            <a:off x="4540325" y="364505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9" name="直線接點 28"/>
          <p:cNvCxnSpPr>
            <a:stCxn id="28" idx="4"/>
            <a:endCxn id="17" idx="0"/>
          </p:cNvCxnSpPr>
          <p:nvPr/>
        </p:nvCxnSpPr>
        <p:spPr>
          <a:xfrm flipH="1">
            <a:off x="3410703" y="3933056"/>
            <a:ext cx="1273622" cy="36936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/>
          <p:cNvCxnSpPr>
            <a:stCxn id="28" idx="4"/>
            <a:endCxn id="25" idx="0"/>
          </p:cNvCxnSpPr>
          <p:nvPr/>
        </p:nvCxnSpPr>
        <p:spPr>
          <a:xfrm>
            <a:off x="4684325" y="3933056"/>
            <a:ext cx="1257691" cy="36936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2577600" y="490319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3834033" y="490319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5097395" y="489612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5726820" y="426175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圓角矩形圖說文字 49"/>
          <p:cNvSpPr/>
          <p:nvPr/>
        </p:nvSpPr>
        <p:spPr>
          <a:xfrm>
            <a:off x="6248111" y="3528606"/>
            <a:ext cx="1368152" cy="520899"/>
          </a:xfrm>
          <a:prstGeom prst="wedgeRoundRectCallout">
            <a:avLst>
              <a:gd name="adj1" fmla="val -57524"/>
              <a:gd name="adj2" fmla="val 9770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 smtClean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max-heap</a:t>
            </a:r>
            <a:endParaRPr lang="zh-TW" altLang="en-US" b="1" dirty="0">
              <a:solidFill>
                <a:srgbClr val="C00000"/>
              </a:solidFill>
              <a:latin typeface="+mj-lt"/>
              <a:ea typeface="標楷體" panose="03000509000000000000" pitchFamily="65" charset="-120"/>
            </a:endParaRPr>
          </a:p>
        </p:txBody>
      </p:sp>
      <p:cxnSp>
        <p:nvCxnSpPr>
          <p:cNvPr id="52" name="肘形接點 51"/>
          <p:cNvCxnSpPr>
            <a:stCxn id="7" idx="4"/>
            <a:endCxn id="21" idx="4"/>
          </p:cNvCxnSpPr>
          <p:nvPr/>
        </p:nvCxnSpPr>
        <p:spPr>
          <a:xfrm rot="16200000" flipH="1">
            <a:off x="4045650" y="3972835"/>
            <a:ext cx="12700" cy="2531313"/>
          </a:xfrm>
          <a:prstGeom prst="bentConnector3">
            <a:avLst>
              <a:gd name="adj1" fmla="val 1800000"/>
            </a:avLst>
          </a:prstGeom>
          <a:ln w="28575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圓角矩形圖說文字 54"/>
          <p:cNvSpPr/>
          <p:nvPr/>
        </p:nvSpPr>
        <p:spPr>
          <a:xfrm>
            <a:off x="1721412" y="3528605"/>
            <a:ext cx="1293591" cy="520899"/>
          </a:xfrm>
          <a:prstGeom prst="wedgeRoundRectCallout">
            <a:avLst>
              <a:gd name="adj1" fmla="val 65266"/>
              <a:gd name="adj2" fmla="val 10007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 smtClean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min-heap</a:t>
            </a:r>
            <a:endParaRPr lang="zh-TW" altLang="en-US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468076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37" grpId="0"/>
      <p:bldP spid="50" grpId="0" animBg="1"/>
      <p:bldP spid="5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deap</a:t>
            </a:r>
            <a:r>
              <a:rPr lang="zh-TW" altLang="en-US" dirty="0" smtClean="0"/>
              <a:t>的加入 </a:t>
            </a:r>
            <a:r>
              <a:rPr lang="en-US" altLang="zh-TW" dirty="0" smtClean="0"/>
              <a:t>(2/5)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加入</a:t>
            </a:r>
            <a:r>
              <a:rPr lang="en-US" altLang="zh-TW" dirty="0" smtClean="0">
                <a:solidFill>
                  <a:srgbClr val="0000FF"/>
                </a:solidFill>
              </a:rPr>
              <a:t>17</a:t>
            </a:r>
            <a:endParaRPr lang="en-US" altLang="zh-TW" dirty="0">
              <a:solidFill>
                <a:srgbClr val="0000FF"/>
              </a:solidFill>
            </a:endParaRPr>
          </a:p>
          <a:p>
            <a:pPr lvl="1"/>
            <a:r>
              <a:rPr lang="zh-TW" altLang="en-US" dirty="0"/>
              <a:t>依照完整二元樹特性加入</a:t>
            </a:r>
            <a:endParaRPr lang="en-US" altLang="zh-TW" dirty="0"/>
          </a:p>
          <a:p>
            <a:pPr lvl="1"/>
            <a:r>
              <a:rPr lang="zh-TW" altLang="en-US" dirty="0"/>
              <a:t>調整為合法</a:t>
            </a:r>
            <a:r>
              <a:rPr lang="zh-TW" altLang="en-US" dirty="0" smtClean="0"/>
              <a:t>的</a:t>
            </a:r>
            <a:r>
              <a:rPr lang="en-US" altLang="zh-TW" dirty="0" err="1" smtClean="0"/>
              <a:t>deap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55</a:t>
            </a:fld>
            <a:endParaRPr lang="en-US" altLang="zh-TW" dirty="0"/>
          </a:p>
        </p:txBody>
      </p:sp>
      <p:sp>
        <p:nvSpPr>
          <p:cNvPr id="7" name="橢圓 6"/>
          <p:cNvSpPr/>
          <p:nvPr/>
        </p:nvSpPr>
        <p:spPr>
          <a:xfrm>
            <a:off x="2635994" y="49504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2" name="橢圓 11"/>
          <p:cNvSpPr/>
          <p:nvPr/>
        </p:nvSpPr>
        <p:spPr>
          <a:xfrm>
            <a:off x="3893685" y="49504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3266703" y="430242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3255306" y="425327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直線接點 18"/>
          <p:cNvCxnSpPr>
            <a:stCxn id="17" idx="4"/>
            <a:endCxn id="7" idx="0"/>
          </p:cNvCxnSpPr>
          <p:nvPr/>
        </p:nvCxnSpPr>
        <p:spPr>
          <a:xfrm flipH="1">
            <a:off x="2779994" y="4590420"/>
            <a:ext cx="630709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7" idx="4"/>
            <a:endCxn id="12" idx="0"/>
          </p:cNvCxnSpPr>
          <p:nvPr/>
        </p:nvCxnSpPr>
        <p:spPr>
          <a:xfrm>
            <a:off x="3410703" y="4590420"/>
            <a:ext cx="626982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橢圓 20"/>
          <p:cNvSpPr/>
          <p:nvPr/>
        </p:nvSpPr>
        <p:spPr>
          <a:xfrm>
            <a:off x="5167307" y="49504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橢圓 23"/>
          <p:cNvSpPr/>
          <p:nvPr/>
        </p:nvSpPr>
        <p:spPr>
          <a:xfrm>
            <a:off x="6424998" y="49504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橢圓 24"/>
          <p:cNvSpPr/>
          <p:nvPr/>
        </p:nvSpPr>
        <p:spPr>
          <a:xfrm>
            <a:off x="5798016" y="430242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6" name="直線接點 25"/>
          <p:cNvCxnSpPr>
            <a:stCxn id="25" idx="4"/>
            <a:endCxn id="21" idx="0"/>
          </p:cNvCxnSpPr>
          <p:nvPr/>
        </p:nvCxnSpPr>
        <p:spPr>
          <a:xfrm flipH="1">
            <a:off x="5311307" y="4590420"/>
            <a:ext cx="630709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>
            <a:stCxn id="25" idx="4"/>
            <a:endCxn id="24" idx="0"/>
          </p:cNvCxnSpPr>
          <p:nvPr/>
        </p:nvCxnSpPr>
        <p:spPr>
          <a:xfrm>
            <a:off x="5942016" y="4590420"/>
            <a:ext cx="626982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橢圓 27"/>
          <p:cNvSpPr/>
          <p:nvPr/>
        </p:nvSpPr>
        <p:spPr>
          <a:xfrm>
            <a:off x="4540325" y="364505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9" name="直線接點 28"/>
          <p:cNvCxnSpPr>
            <a:stCxn id="28" idx="4"/>
            <a:endCxn id="17" idx="0"/>
          </p:cNvCxnSpPr>
          <p:nvPr/>
        </p:nvCxnSpPr>
        <p:spPr>
          <a:xfrm flipH="1">
            <a:off x="3410703" y="3933056"/>
            <a:ext cx="1273622" cy="36936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/>
          <p:cNvCxnSpPr>
            <a:stCxn id="28" idx="4"/>
            <a:endCxn id="25" idx="0"/>
          </p:cNvCxnSpPr>
          <p:nvPr/>
        </p:nvCxnSpPr>
        <p:spPr>
          <a:xfrm>
            <a:off x="4684325" y="3933056"/>
            <a:ext cx="1257691" cy="36936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2577600" y="490319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3834033" y="490319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5097395" y="489612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6361248" y="490442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5726820" y="426175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圓角矩形圖說文字 43"/>
          <p:cNvSpPr/>
          <p:nvPr/>
        </p:nvSpPr>
        <p:spPr>
          <a:xfrm>
            <a:off x="6248111" y="3528606"/>
            <a:ext cx="1368152" cy="520899"/>
          </a:xfrm>
          <a:prstGeom prst="wedgeRoundRectCallout">
            <a:avLst>
              <a:gd name="adj1" fmla="val -57524"/>
              <a:gd name="adj2" fmla="val 9770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 smtClean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max-heap</a:t>
            </a:r>
            <a:endParaRPr lang="zh-TW" altLang="en-US" b="1" dirty="0">
              <a:solidFill>
                <a:srgbClr val="C00000"/>
              </a:solidFill>
              <a:latin typeface="+mj-lt"/>
              <a:ea typeface="標楷體" panose="03000509000000000000" pitchFamily="65" charset="-120"/>
            </a:endParaRPr>
          </a:p>
        </p:txBody>
      </p:sp>
      <p:cxnSp>
        <p:nvCxnSpPr>
          <p:cNvPr id="46" name="肘形接點 45"/>
          <p:cNvCxnSpPr>
            <a:stCxn id="12" idx="4"/>
            <a:endCxn id="24" idx="4"/>
          </p:cNvCxnSpPr>
          <p:nvPr/>
        </p:nvCxnSpPr>
        <p:spPr>
          <a:xfrm rot="16200000" flipH="1">
            <a:off x="5303341" y="3972835"/>
            <a:ext cx="12700" cy="2531313"/>
          </a:xfrm>
          <a:prstGeom prst="bentConnector3">
            <a:avLst>
              <a:gd name="adj1" fmla="val 1800000"/>
            </a:avLst>
          </a:prstGeom>
          <a:ln w="28575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圓角矩形圖說文字 49"/>
          <p:cNvSpPr/>
          <p:nvPr/>
        </p:nvSpPr>
        <p:spPr>
          <a:xfrm>
            <a:off x="1721412" y="3528605"/>
            <a:ext cx="1293591" cy="520899"/>
          </a:xfrm>
          <a:prstGeom prst="wedgeRoundRectCallout">
            <a:avLst>
              <a:gd name="adj1" fmla="val 65266"/>
              <a:gd name="adj2" fmla="val 10007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 smtClean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min-heap</a:t>
            </a:r>
            <a:endParaRPr lang="zh-TW" altLang="en-US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91609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39" grpId="0"/>
      <p:bldP spid="44" grpId="0" animBg="1"/>
      <p:bldP spid="50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deap</a:t>
            </a:r>
            <a:r>
              <a:rPr lang="zh-TW" altLang="en-US" dirty="0" smtClean="0"/>
              <a:t>的加入 </a:t>
            </a:r>
            <a:r>
              <a:rPr lang="en-US" altLang="zh-TW" dirty="0" smtClean="0"/>
              <a:t>(3/5)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加入</a:t>
            </a:r>
            <a:r>
              <a:rPr lang="en-US" altLang="zh-TW" dirty="0" smtClean="0">
                <a:solidFill>
                  <a:srgbClr val="0000FF"/>
                </a:solidFill>
              </a:rPr>
              <a:t>40</a:t>
            </a:r>
            <a:endParaRPr lang="en-US" altLang="zh-TW" dirty="0">
              <a:solidFill>
                <a:srgbClr val="0000FF"/>
              </a:solidFill>
            </a:endParaRPr>
          </a:p>
          <a:p>
            <a:pPr lvl="1"/>
            <a:r>
              <a:rPr lang="zh-TW" altLang="en-US" dirty="0"/>
              <a:t>依照完整二元樹特性加入</a:t>
            </a:r>
            <a:endParaRPr lang="en-US" altLang="zh-TW" dirty="0"/>
          </a:p>
          <a:p>
            <a:pPr lvl="1"/>
            <a:r>
              <a:rPr lang="zh-TW" altLang="en-US" dirty="0"/>
              <a:t>調整為合法</a:t>
            </a:r>
            <a:r>
              <a:rPr lang="zh-TW" altLang="en-US" dirty="0" smtClean="0"/>
              <a:t>的</a:t>
            </a:r>
            <a:r>
              <a:rPr lang="en-US" altLang="zh-TW" dirty="0" err="1" smtClean="0"/>
              <a:t>deap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56</a:t>
            </a:fld>
            <a:endParaRPr lang="en-US" altLang="zh-TW" dirty="0"/>
          </a:p>
        </p:txBody>
      </p:sp>
      <p:sp>
        <p:nvSpPr>
          <p:cNvPr id="7" name="橢圓 6"/>
          <p:cNvSpPr/>
          <p:nvPr/>
        </p:nvSpPr>
        <p:spPr>
          <a:xfrm>
            <a:off x="2635994" y="49504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2312887" y="557796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直線接點 8"/>
          <p:cNvCxnSpPr>
            <a:stCxn id="7" idx="4"/>
            <a:endCxn id="8" idx="0"/>
          </p:cNvCxnSpPr>
          <p:nvPr/>
        </p:nvCxnSpPr>
        <p:spPr>
          <a:xfrm flipH="1">
            <a:off x="2456887" y="5238492"/>
            <a:ext cx="323107" cy="33947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/>
          <p:cNvSpPr/>
          <p:nvPr/>
        </p:nvSpPr>
        <p:spPr>
          <a:xfrm>
            <a:off x="3893685" y="49504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3266703" y="430242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3255306" y="425327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直線接點 18"/>
          <p:cNvCxnSpPr>
            <a:stCxn id="17" idx="4"/>
            <a:endCxn id="7" idx="0"/>
          </p:cNvCxnSpPr>
          <p:nvPr/>
        </p:nvCxnSpPr>
        <p:spPr>
          <a:xfrm flipH="1">
            <a:off x="2779994" y="4590420"/>
            <a:ext cx="630709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7" idx="4"/>
            <a:endCxn id="12" idx="0"/>
          </p:cNvCxnSpPr>
          <p:nvPr/>
        </p:nvCxnSpPr>
        <p:spPr>
          <a:xfrm>
            <a:off x="3410703" y="4590420"/>
            <a:ext cx="626982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橢圓 20"/>
          <p:cNvSpPr/>
          <p:nvPr/>
        </p:nvSpPr>
        <p:spPr>
          <a:xfrm>
            <a:off x="5167307" y="49504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橢圓 23"/>
          <p:cNvSpPr/>
          <p:nvPr/>
        </p:nvSpPr>
        <p:spPr>
          <a:xfrm>
            <a:off x="6424998" y="49504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橢圓 24"/>
          <p:cNvSpPr/>
          <p:nvPr/>
        </p:nvSpPr>
        <p:spPr>
          <a:xfrm>
            <a:off x="5798016" y="430242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6" name="直線接點 25"/>
          <p:cNvCxnSpPr>
            <a:stCxn id="25" idx="4"/>
            <a:endCxn id="21" idx="0"/>
          </p:cNvCxnSpPr>
          <p:nvPr/>
        </p:nvCxnSpPr>
        <p:spPr>
          <a:xfrm flipH="1">
            <a:off x="5311307" y="4590420"/>
            <a:ext cx="630709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>
            <a:stCxn id="25" idx="4"/>
            <a:endCxn id="24" idx="0"/>
          </p:cNvCxnSpPr>
          <p:nvPr/>
        </p:nvCxnSpPr>
        <p:spPr>
          <a:xfrm>
            <a:off x="5942016" y="4590420"/>
            <a:ext cx="626982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橢圓 27"/>
          <p:cNvSpPr/>
          <p:nvPr/>
        </p:nvSpPr>
        <p:spPr>
          <a:xfrm>
            <a:off x="4540325" y="364505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9" name="直線接點 28"/>
          <p:cNvCxnSpPr>
            <a:stCxn id="28" idx="4"/>
            <a:endCxn id="17" idx="0"/>
          </p:cNvCxnSpPr>
          <p:nvPr/>
        </p:nvCxnSpPr>
        <p:spPr>
          <a:xfrm flipH="1">
            <a:off x="3410703" y="3933056"/>
            <a:ext cx="1273622" cy="36936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/>
          <p:cNvCxnSpPr>
            <a:stCxn id="28" idx="4"/>
            <a:endCxn id="25" idx="0"/>
          </p:cNvCxnSpPr>
          <p:nvPr/>
        </p:nvCxnSpPr>
        <p:spPr>
          <a:xfrm>
            <a:off x="4684325" y="3933056"/>
            <a:ext cx="1257691" cy="36936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2577600" y="490319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2254493" y="5530441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3834033" y="490319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5097395" y="489612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6361248" y="490442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5726820" y="426175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圓角矩形圖說文字 43"/>
          <p:cNvSpPr/>
          <p:nvPr/>
        </p:nvSpPr>
        <p:spPr>
          <a:xfrm>
            <a:off x="6248111" y="3528606"/>
            <a:ext cx="1368152" cy="520899"/>
          </a:xfrm>
          <a:prstGeom prst="wedgeRoundRectCallout">
            <a:avLst>
              <a:gd name="adj1" fmla="val -57524"/>
              <a:gd name="adj2" fmla="val 9770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 smtClean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max-heap</a:t>
            </a:r>
            <a:endParaRPr lang="zh-TW" altLang="en-US" b="1" dirty="0">
              <a:solidFill>
                <a:srgbClr val="C00000"/>
              </a:solidFill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45" name="圓角矩形圖說文字 44"/>
          <p:cNvSpPr/>
          <p:nvPr/>
        </p:nvSpPr>
        <p:spPr>
          <a:xfrm>
            <a:off x="1721412" y="3528605"/>
            <a:ext cx="1293591" cy="520899"/>
          </a:xfrm>
          <a:prstGeom prst="wedgeRoundRectCallout">
            <a:avLst>
              <a:gd name="adj1" fmla="val 65266"/>
              <a:gd name="adj2" fmla="val 10007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 smtClean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min-heap</a:t>
            </a:r>
            <a:endParaRPr lang="zh-TW" altLang="en-US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  <p:cxnSp>
        <p:nvCxnSpPr>
          <p:cNvPr id="46" name="肘形接點 45"/>
          <p:cNvCxnSpPr>
            <a:stCxn id="8" idx="4"/>
            <a:endCxn id="21" idx="4"/>
          </p:cNvCxnSpPr>
          <p:nvPr/>
        </p:nvCxnSpPr>
        <p:spPr>
          <a:xfrm rot="5400000" flipH="1" flipV="1">
            <a:off x="3570362" y="4125017"/>
            <a:ext cx="627470" cy="2854420"/>
          </a:xfrm>
          <a:prstGeom prst="bentConnector3">
            <a:avLst>
              <a:gd name="adj1" fmla="val -36432"/>
            </a:avLst>
          </a:prstGeom>
          <a:ln w="28575"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4090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2" grpId="0"/>
      <p:bldP spid="44" grpId="0" animBg="1"/>
      <p:bldP spid="4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deap</a:t>
            </a:r>
            <a:r>
              <a:rPr lang="zh-TW" altLang="en-US" dirty="0" smtClean="0"/>
              <a:t>的加入 </a:t>
            </a:r>
            <a:r>
              <a:rPr lang="en-US" altLang="zh-TW" dirty="0" smtClean="0"/>
              <a:t>(4/5)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加入</a:t>
            </a:r>
            <a:r>
              <a:rPr lang="en-US" altLang="zh-TW" dirty="0" smtClean="0">
                <a:solidFill>
                  <a:srgbClr val="0000FF"/>
                </a:solidFill>
              </a:rPr>
              <a:t>40</a:t>
            </a:r>
            <a:endParaRPr lang="en-US" altLang="zh-TW" dirty="0">
              <a:solidFill>
                <a:srgbClr val="0000FF"/>
              </a:solidFill>
            </a:endParaRPr>
          </a:p>
          <a:p>
            <a:pPr lvl="1"/>
            <a:r>
              <a:rPr lang="zh-TW" altLang="en-US" dirty="0"/>
              <a:t>依照完整二元樹特性加入</a:t>
            </a:r>
            <a:endParaRPr lang="en-US" altLang="zh-TW" dirty="0"/>
          </a:p>
          <a:p>
            <a:pPr lvl="1"/>
            <a:r>
              <a:rPr lang="zh-TW" altLang="en-US" dirty="0"/>
              <a:t>調整為合法</a:t>
            </a:r>
            <a:r>
              <a:rPr lang="zh-TW" altLang="en-US" dirty="0" smtClean="0"/>
              <a:t>的</a:t>
            </a:r>
            <a:r>
              <a:rPr lang="en-US" altLang="zh-TW" dirty="0" err="1" smtClean="0"/>
              <a:t>deap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57</a:t>
            </a:fld>
            <a:endParaRPr lang="en-US" altLang="zh-TW" dirty="0"/>
          </a:p>
        </p:txBody>
      </p:sp>
      <p:sp>
        <p:nvSpPr>
          <p:cNvPr id="7" name="橢圓 6"/>
          <p:cNvSpPr/>
          <p:nvPr/>
        </p:nvSpPr>
        <p:spPr>
          <a:xfrm>
            <a:off x="2635994" y="49504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2312887" y="557796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直線接點 8"/>
          <p:cNvCxnSpPr>
            <a:stCxn id="7" idx="4"/>
            <a:endCxn id="8" idx="0"/>
          </p:cNvCxnSpPr>
          <p:nvPr/>
        </p:nvCxnSpPr>
        <p:spPr>
          <a:xfrm flipH="1">
            <a:off x="2456887" y="5238492"/>
            <a:ext cx="323107" cy="33947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/>
          <p:cNvSpPr/>
          <p:nvPr/>
        </p:nvSpPr>
        <p:spPr>
          <a:xfrm>
            <a:off x="3893685" y="49504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3266703" y="430242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3255306" y="425327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直線接點 18"/>
          <p:cNvCxnSpPr>
            <a:stCxn id="17" idx="4"/>
            <a:endCxn id="7" idx="0"/>
          </p:cNvCxnSpPr>
          <p:nvPr/>
        </p:nvCxnSpPr>
        <p:spPr>
          <a:xfrm flipH="1">
            <a:off x="2779994" y="4590420"/>
            <a:ext cx="630709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7" idx="4"/>
            <a:endCxn id="12" idx="0"/>
          </p:cNvCxnSpPr>
          <p:nvPr/>
        </p:nvCxnSpPr>
        <p:spPr>
          <a:xfrm>
            <a:off x="3410703" y="4590420"/>
            <a:ext cx="626982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橢圓 20"/>
          <p:cNvSpPr/>
          <p:nvPr/>
        </p:nvSpPr>
        <p:spPr>
          <a:xfrm>
            <a:off x="5167307" y="49504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橢圓 23"/>
          <p:cNvSpPr/>
          <p:nvPr/>
        </p:nvSpPr>
        <p:spPr>
          <a:xfrm>
            <a:off x="6424998" y="49504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橢圓 24"/>
          <p:cNvSpPr/>
          <p:nvPr/>
        </p:nvSpPr>
        <p:spPr>
          <a:xfrm>
            <a:off x="5798016" y="430242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6" name="直線接點 25"/>
          <p:cNvCxnSpPr>
            <a:stCxn id="25" idx="4"/>
            <a:endCxn id="21" idx="0"/>
          </p:cNvCxnSpPr>
          <p:nvPr/>
        </p:nvCxnSpPr>
        <p:spPr>
          <a:xfrm flipH="1">
            <a:off x="5311307" y="4590420"/>
            <a:ext cx="630709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>
            <a:stCxn id="25" idx="4"/>
            <a:endCxn id="24" idx="0"/>
          </p:cNvCxnSpPr>
          <p:nvPr/>
        </p:nvCxnSpPr>
        <p:spPr>
          <a:xfrm>
            <a:off x="5942016" y="4590420"/>
            <a:ext cx="626982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橢圓 27"/>
          <p:cNvSpPr/>
          <p:nvPr/>
        </p:nvSpPr>
        <p:spPr>
          <a:xfrm>
            <a:off x="4540325" y="364505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9" name="直線接點 28"/>
          <p:cNvCxnSpPr>
            <a:stCxn id="28" idx="4"/>
            <a:endCxn id="17" idx="0"/>
          </p:cNvCxnSpPr>
          <p:nvPr/>
        </p:nvCxnSpPr>
        <p:spPr>
          <a:xfrm flipH="1">
            <a:off x="3410703" y="3933056"/>
            <a:ext cx="1273622" cy="36936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/>
          <p:cNvCxnSpPr>
            <a:stCxn id="28" idx="4"/>
            <a:endCxn id="25" idx="0"/>
          </p:cNvCxnSpPr>
          <p:nvPr/>
        </p:nvCxnSpPr>
        <p:spPr>
          <a:xfrm>
            <a:off x="4684325" y="3933056"/>
            <a:ext cx="1257691" cy="36936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2577600" y="490319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2254493" y="5530441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3834033" y="490319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5097395" y="489612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6361248" y="490442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5726820" y="426175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圓角矩形圖說文字 43"/>
          <p:cNvSpPr/>
          <p:nvPr/>
        </p:nvSpPr>
        <p:spPr>
          <a:xfrm>
            <a:off x="6248111" y="3528606"/>
            <a:ext cx="1368152" cy="520899"/>
          </a:xfrm>
          <a:prstGeom prst="wedgeRoundRectCallout">
            <a:avLst>
              <a:gd name="adj1" fmla="val -57524"/>
              <a:gd name="adj2" fmla="val 9770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 smtClean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max-heap</a:t>
            </a:r>
            <a:endParaRPr lang="zh-TW" altLang="en-US" b="1" dirty="0">
              <a:solidFill>
                <a:srgbClr val="C00000"/>
              </a:solidFill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45" name="圓角矩形圖說文字 44"/>
          <p:cNvSpPr/>
          <p:nvPr/>
        </p:nvSpPr>
        <p:spPr>
          <a:xfrm>
            <a:off x="1721412" y="3528605"/>
            <a:ext cx="1293591" cy="520899"/>
          </a:xfrm>
          <a:prstGeom prst="wedgeRoundRectCallout">
            <a:avLst>
              <a:gd name="adj1" fmla="val 65266"/>
              <a:gd name="adj2" fmla="val 10007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 smtClean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min-heap</a:t>
            </a:r>
            <a:endParaRPr lang="zh-TW" altLang="en-US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33" name="圓角矩形 32"/>
          <p:cNvSpPr/>
          <p:nvPr/>
        </p:nvSpPr>
        <p:spPr>
          <a:xfrm>
            <a:off x="5737262" y="4227761"/>
            <a:ext cx="415499" cy="437318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35" name="弧形接點 34"/>
          <p:cNvCxnSpPr>
            <a:stCxn id="37" idx="3"/>
            <a:endCxn id="40" idx="2"/>
          </p:cNvCxnSpPr>
          <p:nvPr/>
        </p:nvCxnSpPr>
        <p:spPr>
          <a:xfrm flipV="1">
            <a:off x="5512894" y="4631086"/>
            <a:ext cx="421676" cy="449700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弧形接點 35"/>
          <p:cNvCxnSpPr>
            <a:stCxn id="40" idx="1"/>
            <a:endCxn id="37" idx="0"/>
          </p:cNvCxnSpPr>
          <p:nvPr/>
        </p:nvCxnSpPr>
        <p:spPr>
          <a:xfrm rot="10800000" flipV="1">
            <a:off x="5305146" y="4446420"/>
            <a:ext cx="421675" cy="449700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37591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3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deap</a:t>
            </a:r>
            <a:r>
              <a:rPr lang="zh-TW" altLang="en-US" dirty="0" smtClean="0"/>
              <a:t>的加入 </a:t>
            </a:r>
            <a:r>
              <a:rPr lang="en-US" altLang="zh-TW" dirty="0" smtClean="0"/>
              <a:t>(5/5)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加入</a:t>
            </a:r>
            <a:r>
              <a:rPr lang="en-US" altLang="zh-TW" dirty="0" smtClean="0">
                <a:solidFill>
                  <a:srgbClr val="0000FF"/>
                </a:solidFill>
              </a:rPr>
              <a:t>40</a:t>
            </a:r>
            <a:endParaRPr lang="en-US" altLang="zh-TW" dirty="0">
              <a:solidFill>
                <a:srgbClr val="0000FF"/>
              </a:solidFill>
            </a:endParaRPr>
          </a:p>
          <a:p>
            <a:pPr lvl="1"/>
            <a:r>
              <a:rPr lang="zh-TW" altLang="en-US" dirty="0"/>
              <a:t>依照完整二元樹特性加入</a:t>
            </a:r>
            <a:endParaRPr lang="en-US" altLang="zh-TW" dirty="0"/>
          </a:p>
          <a:p>
            <a:pPr lvl="1"/>
            <a:r>
              <a:rPr lang="zh-TW" altLang="en-US" dirty="0"/>
              <a:t>調整為合法</a:t>
            </a:r>
            <a:r>
              <a:rPr lang="zh-TW" altLang="en-US" dirty="0" smtClean="0"/>
              <a:t>的</a:t>
            </a:r>
            <a:r>
              <a:rPr lang="en-US" altLang="zh-TW" dirty="0" err="1" smtClean="0"/>
              <a:t>deap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58</a:t>
            </a:fld>
            <a:endParaRPr lang="en-US" altLang="zh-TW" dirty="0"/>
          </a:p>
        </p:txBody>
      </p:sp>
      <p:sp>
        <p:nvSpPr>
          <p:cNvPr id="7" name="橢圓 6"/>
          <p:cNvSpPr/>
          <p:nvPr/>
        </p:nvSpPr>
        <p:spPr>
          <a:xfrm>
            <a:off x="2635994" y="49504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2312887" y="557796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直線接點 8"/>
          <p:cNvCxnSpPr>
            <a:stCxn id="7" idx="4"/>
            <a:endCxn id="8" idx="0"/>
          </p:cNvCxnSpPr>
          <p:nvPr/>
        </p:nvCxnSpPr>
        <p:spPr>
          <a:xfrm flipH="1">
            <a:off x="2456887" y="5238492"/>
            <a:ext cx="323107" cy="33947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/>
          <p:cNvSpPr/>
          <p:nvPr/>
        </p:nvSpPr>
        <p:spPr>
          <a:xfrm>
            <a:off x="3893685" y="49504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" name="橢圓 16"/>
          <p:cNvSpPr/>
          <p:nvPr/>
        </p:nvSpPr>
        <p:spPr>
          <a:xfrm>
            <a:off x="3266703" y="430242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3255306" y="425327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直線接點 18"/>
          <p:cNvCxnSpPr>
            <a:stCxn id="17" idx="4"/>
            <a:endCxn id="7" idx="0"/>
          </p:cNvCxnSpPr>
          <p:nvPr/>
        </p:nvCxnSpPr>
        <p:spPr>
          <a:xfrm flipH="1">
            <a:off x="2779994" y="4590420"/>
            <a:ext cx="630709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7" idx="4"/>
            <a:endCxn id="12" idx="0"/>
          </p:cNvCxnSpPr>
          <p:nvPr/>
        </p:nvCxnSpPr>
        <p:spPr>
          <a:xfrm>
            <a:off x="3410703" y="4590420"/>
            <a:ext cx="626982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橢圓 20"/>
          <p:cNvSpPr/>
          <p:nvPr/>
        </p:nvSpPr>
        <p:spPr>
          <a:xfrm>
            <a:off x="5167307" y="49504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橢圓 23"/>
          <p:cNvSpPr/>
          <p:nvPr/>
        </p:nvSpPr>
        <p:spPr>
          <a:xfrm>
            <a:off x="6424998" y="49504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橢圓 24"/>
          <p:cNvSpPr/>
          <p:nvPr/>
        </p:nvSpPr>
        <p:spPr>
          <a:xfrm>
            <a:off x="5798016" y="430242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6" name="直線接點 25"/>
          <p:cNvCxnSpPr>
            <a:stCxn id="25" idx="4"/>
            <a:endCxn id="21" idx="0"/>
          </p:cNvCxnSpPr>
          <p:nvPr/>
        </p:nvCxnSpPr>
        <p:spPr>
          <a:xfrm flipH="1">
            <a:off x="5311307" y="4590420"/>
            <a:ext cx="630709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>
            <a:stCxn id="25" idx="4"/>
            <a:endCxn id="24" idx="0"/>
          </p:cNvCxnSpPr>
          <p:nvPr/>
        </p:nvCxnSpPr>
        <p:spPr>
          <a:xfrm>
            <a:off x="5942016" y="4590420"/>
            <a:ext cx="626982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橢圓 27"/>
          <p:cNvSpPr/>
          <p:nvPr/>
        </p:nvSpPr>
        <p:spPr>
          <a:xfrm>
            <a:off x="4540325" y="364505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9" name="直線接點 28"/>
          <p:cNvCxnSpPr>
            <a:stCxn id="28" idx="4"/>
            <a:endCxn id="17" idx="0"/>
          </p:cNvCxnSpPr>
          <p:nvPr/>
        </p:nvCxnSpPr>
        <p:spPr>
          <a:xfrm flipH="1">
            <a:off x="3410703" y="3933056"/>
            <a:ext cx="1273622" cy="36936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/>
          <p:cNvCxnSpPr>
            <a:stCxn id="28" idx="4"/>
            <a:endCxn id="25" idx="0"/>
          </p:cNvCxnSpPr>
          <p:nvPr/>
        </p:nvCxnSpPr>
        <p:spPr>
          <a:xfrm>
            <a:off x="4684325" y="3933056"/>
            <a:ext cx="1257691" cy="36936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2577600" y="490319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2254493" y="5530441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3834033" y="490319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5097395" y="489612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6361248" y="490442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5726820" y="426175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圓角矩形圖說文字 43"/>
          <p:cNvSpPr/>
          <p:nvPr/>
        </p:nvSpPr>
        <p:spPr>
          <a:xfrm>
            <a:off x="6248111" y="3528606"/>
            <a:ext cx="1368152" cy="520899"/>
          </a:xfrm>
          <a:prstGeom prst="wedgeRoundRectCallout">
            <a:avLst>
              <a:gd name="adj1" fmla="val -57524"/>
              <a:gd name="adj2" fmla="val 9770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 smtClean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max-heap</a:t>
            </a:r>
            <a:endParaRPr lang="zh-TW" altLang="en-US" b="1" dirty="0">
              <a:solidFill>
                <a:srgbClr val="C00000"/>
              </a:solidFill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45" name="圓角矩形圖說文字 44"/>
          <p:cNvSpPr/>
          <p:nvPr/>
        </p:nvSpPr>
        <p:spPr>
          <a:xfrm>
            <a:off x="1721412" y="3528605"/>
            <a:ext cx="1293591" cy="520899"/>
          </a:xfrm>
          <a:prstGeom prst="wedgeRoundRectCallout">
            <a:avLst>
              <a:gd name="adj1" fmla="val 65266"/>
              <a:gd name="adj2" fmla="val 10007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 smtClean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min-heap</a:t>
            </a:r>
            <a:endParaRPr lang="zh-TW" altLang="en-US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031531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deap</a:t>
            </a:r>
            <a:r>
              <a:rPr lang="zh-TW" altLang="en-US" dirty="0" smtClean="0"/>
              <a:t>的刪除 </a:t>
            </a:r>
            <a:r>
              <a:rPr lang="en-US" altLang="zh-TW" dirty="0" smtClean="0"/>
              <a:t>(1/4)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 smtClean="0"/>
              <a:t>刪除</a:t>
            </a:r>
            <a:r>
              <a:rPr lang="en-US" altLang="zh-TW" dirty="0" smtClean="0">
                <a:solidFill>
                  <a:srgbClr val="0000FF"/>
                </a:solidFill>
              </a:rPr>
              <a:t>29</a:t>
            </a:r>
            <a:endParaRPr lang="en-US" altLang="zh-TW" dirty="0">
              <a:solidFill>
                <a:srgbClr val="0000FF"/>
              </a:solidFill>
            </a:endParaRPr>
          </a:p>
          <a:p>
            <a:pPr lvl="1"/>
            <a:r>
              <a:rPr lang="zh-TW" altLang="en-US" dirty="0"/>
              <a:t>刪除節點為最後一個節點</a:t>
            </a:r>
            <a:endParaRPr lang="en-US" altLang="zh-TW" dirty="0"/>
          </a:p>
          <a:p>
            <a:pPr lvl="1"/>
            <a:r>
              <a:rPr lang="zh-TW" altLang="en-US" dirty="0"/>
              <a:t>直接</a:t>
            </a:r>
            <a:r>
              <a:rPr lang="zh-TW" altLang="en-US" dirty="0" smtClean="0"/>
              <a:t>刪除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59</a:t>
            </a:fld>
            <a:endParaRPr lang="en-US" altLang="zh-TW" dirty="0"/>
          </a:p>
        </p:txBody>
      </p:sp>
      <p:sp>
        <p:nvSpPr>
          <p:cNvPr id="7" name="橢圓 6"/>
          <p:cNvSpPr/>
          <p:nvPr/>
        </p:nvSpPr>
        <p:spPr>
          <a:xfrm>
            <a:off x="2635994" y="49504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2312887" y="557796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直線接點 8"/>
          <p:cNvCxnSpPr>
            <a:stCxn id="7" idx="4"/>
            <a:endCxn id="8" idx="0"/>
          </p:cNvCxnSpPr>
          <p:nvPr/>
        </p:nvCxnSpPr>
        <p:spPr>
          <a:xfrm flipH="1">
            <a:off x="2456887" y="5238492"/>
            <a:ext cx="323107" cy="33947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橢圓 9"/>
          <p:cNvSpPr/>
          <p:nvPr/>
        </p:nvSpPr>
        <p:spPr>
          <a:xfrm>
            <a:off x="2972882" y="557936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" name="直線接點 10"/>
          <p:cNvCxnSpPr>
            <a:stCxn id="7" idx="4"/>
            <a:endCxn id="10" idx="0"/>
          </p:cNvCxnSpPr>
          <p:nvPr/>
        </p:nvCxnSpPr>
        <p:spPr>
          <a:xfrm>
            <a:off x="2779994" y="5238492"/>
            <a:ext cx="336888" cy="3408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/>
          <p:cNvSpPr/>
          <p:nvPr/>
        </p:nvSpPr>
        <p:spPr>
          <a:xfrm>
            <a:off x="3893685" y="49504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3570578" y="557796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" name="直線接點 13"/>
          <p:cNvCxnSpPr>
            <a:stCxn id="12" idx="4"/>
            <a:endCxn id="13" idx="0"/>
          </p:cNvCxnSpPr>
          <p:nvPr/>
        </p:nvCxnSpPr>
        <p:spPr>
          <a:xfrm flipH="1">
            <a:off x="3714578" y="5238492"/>
            <a:ext cx="323107" cy="33947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橢圓 14"/>
          <p:cNvSpPr/>
          <p:nvPr/>
        </p:nvSpPr>
        <p:spPr>
          <a:xfrm>
            <a:off x="4230573" y="557936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接點 15"/>
          <p:cNvCxnSpPr>
            <a:stCxn id="12" idx="4"/>
            <a:endCxn id="15" idx="0"/>
          </p:cNvCxnSpPr>
          <p:nvPr/>
        </p:nvCxnSpPr>
        <p:spPr>
          <a:xfrm>
            <a:off x="4037685" y="5238492"/>
            <a:ext cx="336888" cy="3408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橢圓 16"/>
          <p:cNvSpPr/>
          <p:nvPr/>
        </p:nvSpPr>
        <p:spPr>
          <a:xfrm>
            <a:off x="3266703" y="430242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3255306" y="425327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直線接點 18"/>
          <p:cNvCxnSpPr>
            <a:stCxn id="17" idx="4"/>
            <a:endCxn id="7" idx="0"/>
          </p:cNvCxnSpPr>
          <p:nvPr/>
        </p:nvCxnSpPr>
        <p:spPr>
          <a:xfrm flipH="1">
            <a:off x="2779994" y="4590420"/>
            <a:ext cx="630709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7" idx="4"/>
            <a:endCxn id="12" idx="0"/>
          </p:cNvCxnSpPr>
          <p:nvPr/>
        </p:nvCxnSpPr>
        <p:spPr>
          <a:xfrm>
            <a:off x="3410703" y="4590420"/>
            <a:ext cx="626982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橢圓 20"/>
          <p:cNvSpPr/>
          <p:nvPr/>
        </p:nvSpPr>
        <p:spPr>
          <a:xfrm>
            <a:off x="5167307" y="49504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橢圓 21"/>
          <p:cNvSpPr/>
          <p:nvPr/>
        </p:nvSpPr>
        <p:spPr>
          <a:xfrm>
            <a:off x="4844200" y="557796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3" name="直線接點 22"/>
          <p:cNvCxnSpPr>
            <a:stCxn id="21" idx="4"/>
            <a:endCxn id="22" idx="0"/>
          </p:cNvCxnSpPr>
          <p:nvPr/>
        </p:nvCxnSpPr>
        <p:spPr>
          <a:xfrm flipH="1">
            <a:off x="4988200" y="5238492"/>
            <a:ext cx="323107" cy="33947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橢圓 23"/>
          <p:cNvSpPr/>
          <p:nvPr/>
        </p:nvSpPr>
        <p:spPr>
          <a:xfrm>
            <a:off x="6424998" y="49504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橢圓 24"/>
          <p:cNvSpPr/>
          <p:nvPr/>
        </p:nvSpPr>
        <p:spPr>
          <a:xfrm>
            <a:off x="5798016" y="430242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6" name="直線接點 25"/>
          <p:cNvCxnSpPr>
            <a:stCxn id="25" idx="4"/>
            <a:endCxn id="21" idx="0"/>
          </p:cNvCxnSpPr>
          <p:nvPr/>
        </p:nvCxnSpPr>
        <p:spPr>
          <a:xfrm flipH="1">
            <a:off x="5311307" y="4590420"/>
            <a:ext cx="630709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>
            <a:stCxn id="25" idx="4"/>
            <a:endCxn id="24" idx="0"/>
          </p:cNvCxnSpPr>
          <p:nvPr/>
        </p:nvCxnSpPr>
        <p:spPr>
          <a:xfrm>
            <a:off x="5942016" y="4590420"/>
            <a:ext cx="626982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橢圓 27"/>
          <p:cNvSpPr/>
          <p:nvPr/>
        </p:nvSpPr>
        <p:spPr>
          <a:xfrm>
            <a:off x="4540325" y="364505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9" name="直線接點 28"/>
          <p:cNvCxnSpPr>
            <a:stCxn id="28" idx="4"/>
            <a:endCxn id="17" idx="0"/>
          </p:cNvCxnSpPr>
          <p:nvPr/>
        </p:nvCxnSpPr>
        <p:spPr>
          <a:xfrm flipH="1">
            <a:off x="3410703" y="3933056"/>
            <a:ext cx="1273622" cy="36936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/>
          <p:cNvCxnSpPr>
            <a:stCxn id="28" idx="4"/>
            <a:endCxn id="25" idx="0"/>
          </p:cNvCxnSpPr>
          <p:nvPr/>
        </p:nvCxnSpPr>
        <p:spPr>
          <a:xfrm>
            <a:off x="4684325" y="3933056"/>
            <a:ext cx="1257691" cy="36936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2577600" y="490319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2254493" y="5530441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2914488" y="5530441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3834033" y="490319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3510926" y="5530441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4170921" y="5530441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5097395" y="489612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4774288" y="552336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6361248" y="490442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5726820" y="426175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35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橢圓 40"/>
          <p:cNvSpPr/>
          <p:nvPr/>
        </p:nvSpPr>
        <p:spPr>
          <a:xfrm>
            <a:off x="5551770" y="5602057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42" name="直線接點 41"/>
          <p:cNvCxnSpPr>
            <a:stCxn id="21" idx="4"/>
            <a:endCxn id="41" idx="0"/>
          </p:cNvCxnSpPr>
          <p:nvPr/>
        </p:nvCxnSpPr>
        <p:spPr>
          <a:xfrm>
            <a:off x="5311307" y="5238492"/>
            <a:ext cx="384463" cy="363565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字方塊 42"/>
          <p:cNvSpPr txBox="1"/>
          <p:nvPr/>
        </p:nvSpPr>
        <p:spPr>
          <a:xfrm>
            <a:off x="5488951" y="554370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028592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2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" grpId="0" animBg="1"/>
      <p:bldP spid="43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deap</a:t>
            </a:r>
            <a:r>
              <a:rPr lang="zh-TW" altLang="en-US" dirty="0" smtClean="0"/>
              <a:t>的刪除 </a:t>
            </a:r>
            <a:r>
              <a:rPr lang="en-US" altLang="zh-TW" dirty="0" smtClean="0"/>
              <a:t>(2/4)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9161" y="1264229"/>
            <a:ext cx="8928100" cy="5327303"/>
          </a:xfrm>
        </p:spPr>
        <p:txBody>
          <a:bodyPr/>
          <a:lstStyle/>
          <a:p>
            <a:r>
              <a:rPr lang="zh-TW" altLang="en-US" dirty="0" smtClean="0"/>
              <a:t>刪除</a:t>
            </a:r>
            <a:r>
              <a:rPr lang="en-US" altLang="zh-TW" dirty="0" smtClean="0">
                <a:solidFill>
                  <a:srgbClr val="0000FF"/>
                </a:solidFill>
              </a:rPr>
              <a:t>21</a:t>
            </a:r>
            <a:endParaRPr lang="en-US" altLang="zh-TW" dirty="0">
              <a:solidFill>
                <a:srgbClr val="0000FF"/>
              </a:solidFill>
            </a:endParaRPr>
          </a:p>
          <a:p>
            <a:pPr lvl="1"/>
            <a:r>
              <a:rPr lang="zh-TW" altLang="en-US" dirty="0"/>
              <a:t>刪除節點非最後一個節點</a:t>
            </a:r>
            <a:endParaRPr lang="en-US" altLang="zh-TW" dirty="0"/>
          </a:p>
          <a:p>
            <a:pPr lvl="1"/>
            <a:r>
              <a:rPr lang="zh-TW" altLang="en-US" dirty="0"/>
              <a:t>以最後一個節點取代被刪除的節點</a:t>
            </a:r>
            <a:endParaRPr lang="en-US" altLang="zh-TW" dirty="0"/>
          </a:p>
          <a:p>
            <a:pPr lvl="1"/>
            <a:r>
              <a:rPr lang="zh-TW" altLang="en-US" dirty="0"/>
              <a:t>調整為合法</a:t>
            </a:r>
            <a:r>
              <a:rPr lang="zh-TW" altLang="en-US" dirty="0" smtClean="0"/>
              <a:t>的</a:t>
            </a:r>
            <a:r>
              <a:rPr lang="en-US" altLang="zh-TW" dirty="0" err="1" smtClean="0"/>
              <a:t>deap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60</a:t>
            </a:fld>
            <a:endParaRPr lang="en-US" altLang="zh-TW" dirty="0"/>
          </a:p>
        </p:txBody>
      </p:sp>
      <p:sp>
        <p:nvSpPr>
          <p:cNvPr id="7" name="橢圓 6"/>
          <p:cNvSpPr/>
          <p:nvPr/>
        </p:nvSpPr>
        <p:spPr>
          <a:xfrm>
            <a:off x="2635994" y="49504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2312887" y="557796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直線接點 8"/>
          <p:cNvCxnSpPr>
            <a:stCxn id="7" idx="4"/>
            <a:endCxn id="8" idx="0"/>
          </p:cNvCxnSpPr>
          <p:nvPr/>
        </p:nvCxnSpPr>
        <p:spPr>
          <a:xfrm flipH="1">
            <a:off x="2456887" y="5238492"/>
            <a:ext cx="323107" cy="33947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橢圓 9"/>
          <p:cNvSpPr/>
          <p:nvPr/>
        </p:nvSpPr>
        <p:spPr>
          <a:xfrm>
            <a:off x="2972882" y="557936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" name="直線接點 10"/>
          <p:cNvCxnSpPr>
            <a:stCxn id="7" idx="4"/>
            <a:endCxn id="10" idx="0"/>
          </p:cNvCxnSpPr>
          <p:nvPr/>
        </p:nvCxnSpPr>
        <p:spPr>
          <a:xfrm>
            <a:off x="2779994" y="5238492"/>
            <a:ext cx="336888" cy="3408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/>
          <p:cNvSpPr/>
          <p:nvPr/>
        </p:nvSpPr>
        <p:spPr>
          <a:xfrm>
            <a:off x="3893685" y="49504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3570578" y="557796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" name="直線接點 13"/>
          <p:cNvCxnSpPr>
            <a:stCxn id="12" idx="4"/>
            <a:endCxn id="13" idx="0"/>
          </p:cNvCxnSpPr>
          <p:nvPr/>
        </p:nvCxnSpPr>
        <p:spPr>
          <a:xfrm flipH="1">
            <a:off x="3714578" y="5238492"/>
            <a:ext cx="323107" cy="33947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橢圓 14"/>
          <p:cNvSpPr/>
          <p:nvPr/>
        </p:nvSpPr>
        <p:spPr>
          <a:xfrm>
            <a:off x="4230573" y="557936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接點 15"/>
          <p:cNvCxnSpPr>
            <a:stCxn id="12" idx="4"/>
            <a:endCxn id="15" idx="0"/>
          </p:cNvCxnSpPr>
          <p:nvPr/>
        </p:nvCxnSpPr>
        <p:spPr>
          <a:xfrm>
            <a:off x="4037685" y="5238492"/>
            <a:ext cx="336888" cy="3408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橢圓 16"/>
          <p:cNvSpPr/>
          <p:nvPr/>
        </p:nvSpPr>
        <p:spPr>
          <a:xfrm>
            <a:off x="3266703" y="430242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3255306" y="425327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直線接點 18"/>
          <p:cNvCxnSpPr>
            <a:stCxn id="17" idx="4"/>
            <a:endCxn id="7" idx="0"/>
          </p:cNvCxnSpPr>
          <p:nvPr/>
        </p:nvCxnSpPr>
        <p:spPr>
          <a:xfrm flipH="1">
            <a:off x="2779994" y="4590420"/>
            <a:ext cx="630709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7" idx="4"/>
            <a:endCxn id="12" idx="0"/>
          </p:cNvCxnSpPr>
          <p:nvPr/>
        </p:nvCxnSpPr>
        <p:spPr>
          <a:xfrm>
            <a:off x="3410703" y="4590420"/>
            <a:ext cx="626982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橢圓 20"/>
          <p:cNvSpPr/>
          <p:nvPr/>
        </p:nvSpPr>
        <p:spPr>
          <a:xfrm>
            <a:off x="5167307" y="49504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2" name="橢圓 21"/>
          <p:cNvSpPr/>
          <p:nvPr/>
        </p:nvSpPr>
        <p:spPr>
          <a:xfrm>
            <a:off x="4844200" y="557796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3" name="直線接點 22"/>
          <p:cNvCxnSpPr>
            <a:stCxn id="21" idx="4"/>
            <a:endCxn id="22" idx="0"/>
          </p:cNvCxnSpPr>
          <p:nvPr/>
        </p:nvCxnSpPr>
        <p:spPr>
          <a:xfrm flipH="1">
            <a:off x="4988200" y="5238492"/>
            <a:ext cx="323107" cy="33947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橢圓 23"/>
          <p:cNvSpPr/>
          <p:nvPr/>
        </p:nvSpPr>
        <p:spPr>
          <a:xfrm>
            <a:off x="6424998" y="49504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橢圓 24"/>
          <p:cNvSpPr/>
          <p:nvPr/>
        </p:nvSpPr>
        <p:spPr>
          <a:xfrm>
            <a:off x="5798016" y="430242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6" name="直線接點 25"/>
          <p:cNvCxnSpPr>
            <a:stCxn id="25" idx="4"/>
            <a:endCxn id="21" idx="0"/>
          </p:cNvCxnSpPr>
          <p:nvPr/>
        </p:nvCxnSpPr>
        <p:spPr>
          <a:xfrm flipH="1">
            <a:off x="5311307" y="4590420"/>
            <a:ext cx="630709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>
            <a:stCxn id="25" idx="4"/>
            <a:endCxn id="24" idx="0"/>
          </p:cNvCxnSpPr>
          <p:nvPr/>
        </p:nvCxnSpPr>
        <p:spPr>
          <a:xfrm>
            <a:off x="5942016" y="4590420"/>
            <a:ext cx="626982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橢圓 27"/>
          <p:cNvSpPr/>
          <p:nvPr/>
        </p:nvSpPr>
        <p:spPr>
          <a:xfrm>
            <a:off x="4540325" y="364505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9" name="直線接點 28"/>
          <p:cNvCxnSpPr>
            <a:stCxn id="28" idx="4"/>
            <a:endCxn id="17" idx="0"/>
          </p:cNvCxnSpPr>
          <p:nvPr/>
        </p:nvCxnSpPr>
        <p:spPr>
          <a:xfrm flipH="1">
            <a:off x="3410703" y="3933056"/>
            <a:ext cx="1273622" cy="36936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/>
          <p:cNvCxnSpPr>
            <a:stCxn id="28" idx="4"/>
            <a:endCxn id="25" idx="0"/>
          </p:cNvCxnSpPr>
          <p:nvPr/>
        </p:nvCxnSpPr>
        <p:spPr>
          <a:xfrm>
            <a:off x="4684325" y="3933056"/>
            <a:ext cx="1257691" cy="36936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2577600" y="490319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2254493" y="5530441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2914488" y="5530441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3834033" y="490319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21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3510926" y="5530441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4170921" y="5530441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5097395" y="489612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文字方塊 37"/>
          <p:cNvSpPr txBox="1"/>
          <p:nvPr/>
        </p:nvSpPr>
        <p:spPr>
          <a:xfrm>
            <a:off x="4774288" y="552336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6361248" y="490442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5726820" y="426175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35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橢圓 43"/>
          <p:cNvSpPr/>
          <p:nvPr/>
        </p:nvSpPr>
        <p:spPr>
          <a:xfrm>
            <a:off x="3892686" y="495338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45" name="文字方塊 44"/>
          <p:cNvSpPr txBox="1"/>
          <p:nvPr/>
        </p:nvSpPr>
        <p:spPr>
          <a:xfrm>
            <a:off x="3822774" y="4898785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圓角矩形圖說文字 45"/>
          <p:cNvSpPr/>
          <p:nvPr/>
        </p:nvSpPr>
        <p:spPr>
          <a:xfrm>
            <a:off x="6248111" y="3528606"/>
            <a:ext cx="1368152" cy="520899"/>
          </a:xfrm>
          <a:prstGeom prst="wedgeRoundRectCallout">
            <a:avLst>
              <a:gd name="adj1" fmla="val -57524"/>
              <a:gd name="adj2" fmla="val 9770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 smtClean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max-heap</a:t>
            </a:r>
            <a:endParaRPr lang="zh-TW" altLang="en-US" b="1" dirty="0">
              <a:solidFill>
                <a:srgbClr val="C00000"/>
              </a:solidFill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47" name="圓角矩形圖說文字 46"/>
          <p:cNvSpPr/>
          <p:nvPr/>
        </p:nvSpPr>
        <p:spPr>
          <a:xfrm>
            <a:off x="1721412" y="3528605"/>
            <a:ext cx="1293591" cy="520899"/>
          </a:xfrm>
          <a:prstGeom prst="wedgeRoundRectCallout">
            <a:avLst>
              <a:gd name="adj1" fmla="val 65266"/>
              <a:gd name="adj2" fmla="val 10007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 smtClean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min-heap</a:t>
            </a:r>
            <a:endParaRPr lang="zh-TW" altLang="en-US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  <p:cxnSp>
        <p:nvCxnSpPr>
          <p:cNvPr id="48" name="肘形接點 47"/>
          <p:cNvCxnSpPr>
            <a:stCxn id="12" idx="4"/>
            <a:endCxn id="24" idx="4"/>
          </p:cNvCxnSpPr>
          <p:nvPr/>
        </p:nvCxnSpPr>
        <p:spPr>
          <a:xfrm rot="16200000" flipH="1">
            <a:off x="5303341" y="3972835"/>
            <a:ext cx="12700" cy="2531313"/>
          </a:xfrm>
          <a:prstGeom prst="bentConnector3">
            <a:avLst>
              <a:gd name="adj1" fmla="val 1800000"/>
            </a:avLst>
          </a:prstGeom>
          <a:ln w="28575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6055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22" grpId="0" animBg="1"/>
      <p:bldP spid="34" grpId="0"/>
      <p:bldP spid="38" grpId="0"/>
      <p:bldP spid="44" grpId="0" animBg="1"/>
      <p:bldP spid="45" grpId="0"/>
      <p:bldP spid="46" grpId="0" animBg="1"/>
      <p:bldP spid="47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deap</a:t>
            </a:r>
            <a:r>
              <a:rPr lang="zh-TW" altLang="en-US" dirty="0" smtClean="0"/>
              <a:t>的刪除 </a:t>
            </a:r>
            <a:r>
              <a:rPr lang="en-US" altLang="zh-TW" dirty="0" smtClean="0"/>
              <a:t>(3/4)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9161" y="1264229"/>
            <a:ext cx="8928100" cy="5327303"/>
          </a:xfrm>
        </p:spPr>
        <p:txBody>
          <a:bodyPr/>
          <a:lstStyle/>
          <a:p>
            <a:r>
              <a:rPr lang="zh-TW" altLang="en-US" dirty="0" smtClean="0"/>
              <a:t>刪除</a:t>
            </a:r>
            <a:r>
              <a:rPr lang="en-US" altLang="zh-TW" dirty="0" smtClean="0">
                <a:solidFill>
                  <a:srgbClr val="0000FF"/>
                </a:solidFill>
              </a:rPr>
              <a:t>12</a:t>
            </a:r>
            <a:endParaRPr lang="en-US" altLang="zh-TW" dirty="0">
              <a:solidFill>
                <a:srgbClr val="0000FF"/>
              </a:solidFill>
            </a:endParaRPr>
          </a:p>
          <a:p>
            <a:pPr lvl="1"/>
            <a:r>
              <a:rPr lang="zh-TW" altLang="en-US" dirty="0"/>
              <a:t>刪除節點非最後一個節點</a:t>
            </a:r>
            <a:endParaRPr lang="en-US" altLang="zh-TW" dirty="0"/>
          </a:p>
          <a:p>
            <a:pPr lvl="1"/>
            <a:r>
              <a:rPr lang="zh-TW" altLang="en-US" dirty="0"/>
              <a:t>以最後一個節點取代被刪除的節點</a:t>
            </a:r>
            <a:endParaRPr lang="en-US" altLang="zh-TW" dirty="0"/>
          </a:p>
          <a:p>
            <a:pPr lvl="1"/>
            <a:r>
              <a:rPr lang="zh-TW" altLang="en-US" dirty="0"/>
              <a:t>調整為合法</a:t>
            </a:r>
            <a:r>
              <a:rPr lang="zh-TW" altLang="en-US" dirty="0" smtClean="0"/>
              <a:t>的</a:t>
            </a:r>
            <a:r>
              <a:rPr lang="en-US" altLang="zh-TW" dirty="0" err="1" smtClean="0"/>
              <a:t>deap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61</a:t>
            </a:fld>
            <a:endParaRPr lang="en-US" altLang="zh-TW" dirty="0"/>
          </a:p>
        </p:txBody>
      </p:sp>
      <p:sp>
        <p:nvSpPr>
          <p:cNvPr id="7" name="橢圓 6"/>
          <p:cNvSpPr/>
          <p:nvPr/>
        </p:nvSpPr>
        <p:spPr>
          <a:xfrm>
            <a:off x="2635994" y="49504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2312887" y="557796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直線接點 8"/>
          <p:cNvCxnSpPr>
            <a:stCxn id="7" idx="4"/>
            <a:endCxn id="8" idx="0"/>
          </p:cNvCxnSpPr>
          <p:nvPr/>
        </p:nvCxnSpPr>
        <p:spPr>
          <a:xfrm flipH="1">
            <a:off x="2456887" y="5238492"/>
            <a:ext cx="323107" cy="33947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橢圓 9"/>
          <p:cNvSpPr/>
          <p:nvPr/>
        </p:nvSpPr>
        <p:spPr>
          <a:xfrm>
            <a:off x="2972882" y="557936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" name="直線接點 10"/>
          <p:cNvCxnSpPr>
            <a:stCxn id="7" idx="4"/>
            <a:endCxn id="10" idx="0"/>
          </p:cNvCxnSpPr>
          <p:nvPr/>
        </p:nvCxnSpPr>
        <p:spPr>
          <a:xfrm>
            <a:off x="2779994" y="5238492"/>
            <a:ext cx="336888" cy="3408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/>
          <p:cNvSpPr/>
          <p:nvPr/>
        </p:nvSpPr>
        <p:spPr>
          <a:xfrm>
            <a:off x="3893685" y="49504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3570578" y="557796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" name="直線接點 13"/>
          <p:cNvCxnSpPr>
            <a:stCxn id="12" idx="4"/>
            <a:endCxn id="13" idx="0"/>
          </p:cNvCxnSpPr>
          <p:nvPr/>
        </p:nvCxnSpPr>
        <p:spPr>
          <a:xfrm flipH="1">
            <a:off x="3714578" y="5238492"/>
            <a:ext cx="323107" cy="33947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橢圓 14"/>
          <p:cNvSpPr/>
          <p:nvPr/>
        </p:nvSpPr>
        <p:spPr>
          <a:xfrm>
            <a:off x="4230573" y="557936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6" name="直線接點 15"/>
          <p:cNvCxnSpPr>
            <a:stCxn id="12" idx="4"/>
            <a:endCxn id="15" idx="0"/>
          </p:cNvCxnSpPr>
          <p:nvPr/>
        </p:nvCxnSpPr>
        <p:spPr>
          <a:xfrm>
            <a:off x="4037685" y="5238492"/>
            <a:ext cx="336888" cy="3408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橢圓 16"/>
          <p:cNvSpPr/>
          <p:nvPr/>
        </p:nvSpPr>
        <p:spPr>
          <a:xfrm>
            <a:off x="3266703" y="430242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3255306" y="425327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直線接點 18"/>
          <p:cNvCxnSpPr>
            <a:stCxn id="17" idx="4"/>
            <a:endCxn id="7" idx="0"/>
          </p:cNvCxnSpPr>
          <p:nvPr/>
        </p:nvCxnSpPr>
        <p:spPr>
          <a:xfrm flipH="1">
            <a:off x="2779994" y="4590420"/>
            <a:ext cx="630709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7" idx="4"/>
            <a:endCxn id="12" idx="0"/>
          </p:cNvCxnSpPr>
          <p:nvPr/>
        </p:nvCxnSpPr>
        <p:spPr>
          <a:xfrm>
            <a:off x="3410703" y="4590420"/>
            <a:ext cx="626982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橢圓 20"/>
          <p:cNvSpPr/>
          <p:nvPr/>
        </p:nvSpPr>
        <p:spPr>
          <a:xfrm>
            <a:off x="5167307" y="49504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橢圓 23"/>
          <p:cNvSpPr/>
          <p:nvPr/>
        </p:nvSpPr>
        <p:spPr>
          <a:xfrm>
            <a:off x="6424998" y="49504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橢圓 24"/>
          <p:cNvSpPr/>
          <p:nvPr/>
        </p:nvSpPr>
        <p:spPr>
          <a:xfrm>
            <a:off x="5798016" y="430242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6" name="直線接點 25"/>
          <p:cNvCxnSpPr>
            <a:stCxn id="25" idx="4"/>
            <a:endCxn id="21" idx="0"/>
          </p:cNvCxnSpPr>
          <p:nvPr/>
        </p:nvCxnSpPr>
        <p:spPr>
          <a:xfrm flipH="1">
            <a:off x="5311307" y="4590420"/>
            <a:ext cx="630709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>
            <a:stCxn id="25" idx="4"/>
            <a:endCxn id="24" idx="0"/>
          </p:cNvCxnSpPr>
          <p:nvPr/>
        </p:nvCxnSpPr>
        <p:spPr>
          <a:xfrm>
            <a:off x="5942016" y="4590420"/>
            <a:ext cx="626982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橢圓 27"/>
          <p:cNvSpPr/>
          <p:nvPr/>
        </p:nvSpPr>
        <p:spPr>
          <a:xfrm>
            <a:off x="4540325" y="364505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9" name="直線接點 28"/>
          <p:cNvCxnSpPr>
            <a:stCxn id="28" idx="4"/>
            <a:endCxn id="17" idx="0"/>
          </p:cNvCxnSpPr>
          <p:nvPr/>
        </p:nvCxnSpPr>
        <p:spPr>
          <a:xfrm flipH="1">
            <a:off x="3410703" y="3933056"/>
            <a:ext cx="1273622" cy="36936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/>
          <p:cNvCxnSpPr>
            <a:stCxn id="28" idx="4"/>
            <a:endCxn id="25" idx="0"/>
          </p:cNvCxnSpPr>
          <p:nvPr/>
        </p:nvCxnSpPr>
        <p:spPr>
          <a:xfrm>
            <a:off x="4684325" y="3933056"/>
            <a:ext cx="1257691" cy="36936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2577600" y="490319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2254493" y="5530441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2914488" y="5530441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3834033" y="490319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3510926" y="5530441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6" name="文字方塊 35"/>
          <p:cNvSpPr txBox="1"/>
          <p:nvPr/>
        </p:nvSpPr>
        <p:spPr>
          <a:xfrm>
            <a:off x="4170921" y="5530441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5097395" y="489612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6361248" y="490442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5726820" y="426175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35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圓角矩形圖說文字 45"/>
          <p:cNvSpPr/>
          <p:nvPr/>
        </p:nvSpPr>
        <p:spPr>
          <a:xfrm>
            <a:off x="6248111" y="3528606"/>
            <a:ext cx="1368152" cy="520899"/>
          </a:xfrm>
          <a:prstGeom prst="wedgeRoundRectCallout">
            <a:avLst>
              <a:gd name="adj1" fmla="val -57524"/>
              <a:gd name="adj2" fmla="val 9770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 smtClean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max-heap</a:t>
            </a:r>
            <a:endParaRPr lang="zh-TW" altLang="en-US" b="1" dirty="0">
              <a:solidFill>
                <a:srgbClr val="C00000"/>
              </a:solidFill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47" name="圓角矩形圖說文字 46"/>
          <p:cNvSpPr/>
          <p:nvPr/>
        </p:nvSpPr>
        <p:spPr>
          <a:xfrm>
            <a:off x="1721412" y="3528605"/>
            <a:ext cx="1293591" cy="520899"/>
          </a:xfrm>
          <a:prstGeom prst="wedgeRoundRectCallout">
            <a:avLst>
              <a:gd name="adj1" fmla="val 65266"/>
              <a:gd name="adj2" fmla="val 10007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 smtClean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min-heap</a:t>
            </a:r>
            <a:endParaRPr lang="zh-TW" altLang="en-US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49" name="橢圓 48"/>
          <p:cNvSpPr/>
          <p:nvPr/>
        </p:nvSpPr>
        <p:spPr>
          <a:xfrm>
            <a:off x="2632946" y="4944563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50" name="文字方塊 49"/>
          <p:cNvSpPr txBox="1"/>
          <p:nvPr/>
        </p:nvSpPr>
        <p:spPr>
          <a:xfrm>
            <a:off x="2573294" y="489564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1" name="圓角矩形 50"/>
          <p:cNvSpPr/>
          <p:nvPr/>
        </p:nvSpPr>
        <p:spPr>
          <a:xfrm>
            <a:off x="2569194" y="4860591"/>
            <a:ext cx="415499" cy="437318"/>
          </a:xfrm>
          <a:prstGeom prst="roundRect">
            <a:avLst/>
          </a:prstGeom>
          <a:noFill/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52" name="弧形接點 51"/>
          <p:cNvCxnSpPr>
            <a:stCxn id="33" idx="0"/>
            <a:endCxn id="50" idx="3"/>
          </p:cNvCxnSpPr>
          <p:nvPr/>
        </p:nvCxnSpPr>
        <p:spPr>
          <a:xfrm rot="16200000" flipV="1">
            <a:off x="2830449" y="5238651"/>
            <a:ext cx="450135" cy="133445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弧形接點 52"/>
          <p:cNvCxnSpPr>
            <a:stCxn id="7" idx="4"/>
            <a:endCxn id="33" idx="1"/>
          </p:cNvCxnSpPr>
          <p:nvPr/>
        </p:nvCxnSpPr>
        <p:spPr>
          <a:xfrm rot="16200000" flipH="1">
            <a:off x="2608934" y="5409552"/>
            <a:ext cx="476615" cy="134494"/>
          </a:xfrm>
          <a:prstGeom prst="curvedConnector2">
            <a:avLst/>
          </a:prstGeom>
          <a:ln w="28575">
            <a:solidFill>
              <a:srgbClr val="FF9933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67462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22" presetClass="exit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22" presetClass="exit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22" presetClass="exit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up)">
                                      <p:cBhvr>
                                        <p:cTn id="1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9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15" grpId="0" animBg="1"/>
      <p:bldP spid="31" grpId="0"/>
      <p:bldP spid="36" grpId="0"/>
      <p:bldP spid="46" grpId="0" animBg="1"/>
      <p:bldP spid="47" grpId="0" animBg="1"/>
      <p:bldP spid="49" grpId="0" animBg="1"/>
      <p:bldP spid="50" grpId="0"/>
      <p:bldP spid="51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err="1" smtClean="0"/>
              <a:t>deap</a:t>
            </a:r>
            <a:r>
              <a:rPr lang="zh-TW" altLang="en-US" dirty="0" smtClean="0"/>
              <a:t>的刪除 </a:t>
            </a:r>
            <a:r>
              <a:rPr lang="en-US" altLang="zh-TW" dirty="0" smtClean="0"/>
              <a:t>(4/4)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219161" y="1264229"/>
            <a:ext cx="8928100" cy="5327303"/>
          </a:xfrm>
        </p:spPr>
        <p:txBody>
          <a:bodyPr/>
          <a:lstStyle/>
          <a:p>
            <a:r>
              <a:rPr lang="zh-TW" altLang="en-US" dirty="0" smtClean="0"/>
              <a:t>刪除</a:t>
            </a:r>
            <a:r>
              <a:rPr lang="en-US" altLang="zh-TW" dirty="0" smtClean="0">
                <a:solidFill>
                  <a:srgbClr val="0000FF"/>
                </a:solidFill>
              </a:rPr>
              <a:t>12</a:t>
            </a:r>
            <a:endParaRPr lang="en-US" altLang="zh-TW" dirty="0">
              <a:solidFill>
                <a:srgbClr val="0000FF"/>
              </a:solidFill>
            </a:endParaRPr>
          </a:p>
          <a:p>
            <a:pPr lvl="1"/>
            <a:r>
              <a:rPr lang="zh-TW" altLang="en-US" dirty="0"/>
              <a:t>刪除節點非最後一個節點</a:t>
            </a:r>
            <a:endParaRPr lang="en-US" altLang="zh-TW" dirty="0"/>
          </a:p>
          <a:p>
            <a:pPr lvl="1"/>
            <a:r>
              <a:rPr lang="zh-TW" altLang="en-US" dirty="0"/>
              <a:t>以最後一個節點取代被刪除的節點</a:t>
            </a:r>
            <a:endParaRPr lang="en-US" altLang="zh-TW" dirty="0"/>
          </a:p>
          <a:p>
            <a:pPr lvl="1"/>
            <a:r>
              <a:rPr lang="zh-TW" altLang="en-US" dirty="0"/>
              <a:t>調整為合法</a:t>
            </a:r>
            <a:r>
              <a:rPr lang="zh-TW" altLang="en-US" dirty="0" smtClean="0"/>
              <a:t>的</a:t>
            </a:r>
            <a:r>
              <a:rPr lang="en-US" altLang="zh-TW" dirty="0" err="1" smtClean="0"/>
              <a:t>deap</a:t>
            </a:r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altLang="zh-TW" smtClean="0"/>
              <a:t>2026/03/25</a:t>
            </a:r>
            <a:endParaRPr lang="en-US" altLang="zh-TW" dirty="0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altLang="zh-TW" smtClean="0"/>
              <a:t>(c) 2026 Spring, C.-W. Lee</a:t>
            </a:r>
            <a:endParaRPr lang="en-US" altLang="zh-TW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3F35E6-A8E7-488D-BD9F-ED9A7F7FA10F}" type="slidenum">
              <a:rPr lang="en-US" altLang="zh-TW" smtClean="0"/>
              <a:pPr/>
              <a:t>62</a:t>
            </a:fld>
            <a:endParaRPr lang="en-US" altLang="zh-TW" dirty="0"/>
          </a:p>
        </p:txBody>
      </p:sp>
      <p:sp>
        <p:nvSpPr>
          <p:cNvPr id="7" name="橢圓 6"/>
          <p:cNvSpPr/>
          <p:nvPr/>
        </p:nvSpPr>
        <p:spPr>
          <a:xfrm>
            <a:off x="2635994" y="49504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橢圓 7"/>
          <p:cNvSpPr/>
          <p:nvPr/>
        </p:nvSpPr>
        <p:spPr>
          <a:xfrm>
            <a:off x="2312887" y="557796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9" name="直線接點 8"/>
          <p:cNvCxnSpPr>
            <a:stCxn id="7" idx="4"/>
            <a:endCxn id="8" idx="0"/>
          </p:cNvCxnSpPr>
          <p:nvPr/>
        </p:nvCxnSpPr>
        <p:spPr>
          <a:xfrm flipH="1">
            <a:off x="2456887" y="5238492"/>
            <a:ext cx="323107" cy="33947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橢圓 9"/>
          <p:cNvSpPr/>
          <p:nvPr/>
        </p:nvSpPr>
        <p:spPr>
          <a:xfrm>
            <a:off x="2972882" y="5579364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1" name="直線接點 10"/>
          <p:cNvCxnSpPr>
            <a:stCxn id="7" idx="4"/>
            <a:endCxn id="10" idx="0"/>
          </p:cNvCxnSpPr>
          <p:nvPr/>
        </p:nvCxnSpPr>
        <p:spPr>
          <a:xfrm>
            <a:off x="2779994" y="5238492"/>
            <a:ext cx="336888" cy="3408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橢圓 11"/>
          <p:cNvSpPr/>
          <p:nvPr/>
        </p:nvSpPr>
        <p:spPr>
          <a:xfrm>
            <a:off x="3893685" y="49504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橢圓 12"/>
          <p:cNvSpPr/>
          <p:nvPr/>
        </p:nvSpPr>
        <p:spPr>
          <a:xfrm>
            <a:off x="3570578" y="557796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14" name="直線接點 13"/>
          <p:cNvCxnSpPr>
            <a:stCxn id="12" idx="4"/>
            <a:endCxn id="13" idx="0"/>
          </p:cNvCxnSpPr>
          <p:nvPr/>
        </p:nvCxnSpPr>
        <p:spPr>
          <a:xfrm flipH="1">
            <a:off x="3714578" y="5238492"/>
            <a:ext cx="323107" cy="339470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橢圓 16"/>
          <p:cNvSpPr/>
          <p:nvPr/>
        </p:nvSpPr>
        <p:spPr>
          <a:xfrm>
            <a:off x="3266703" y="430242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8" name="文字方塊 17"/>
          <p:cNvSpPr txBox="1"/>
          <p:nvPr/>
        </p:nvSpPr>
        <p:spPr>
          <a:xfrm>
            <a:off x="3255306" y="4253272"/>
            <a:ext cx="3000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9" name="直線接點 18"/>
          <p:cNvCxnSpPr>
            <a:stCxn id="17" idx="4"/>
            <a:endCxn id="7" idx="0"/>
          </p:cNvCxnSpPr>
          <p:nvPr/>
        </p:nvCxnSpPr>
        <p:spPr>
          <a:xfrm flipH="1">
            <a:off x="2779994" y="4590420"/>
            <a:ext cx="630709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線接點 19"/>
          <p:cNvCxnSpPr>
            <a:stCxn id="17" idx="4"/>
            <a:endCxn id="12" idx="0"/>
          </p:cNvCxnSpPr>
          <p:nvPr/>
        </p:nvCxnSpPr>
        <p:spPr>
          <a:xfrm>
            <a:off x="3410703" y="4590420"/>
            <a:ext cx="626982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橢圓 20"/>
          <p:cNvSpPr/>
          <p:nvPr/>
        </p:nvSpPr>
        <p:spPr>
          <a:xfrm>
            <a:off x="5167307" y="49504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4" name="橢圓 23"/>
          <p:cNvSpPr/>
          <p:nvPr/>
        </p:nvSpPr>
        <p:spPr>
          <a:xfrm>
            <a:off x="6424998" y="4950492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5" name="橢圓 24"/>
          <p:cNvSpPr/>
          <p:nvPr/>
        </p:nvSpPr>
        <p:spPr>
          <a:xfrm>
            <a:off x="5798016" y="4302420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6" name="直線接點 25"/>
          <p:cNvCxnSpPr>
            <a:stCxn id="25" idx="4"/>
            <a:endCxn id="21" idx="0"/>
          </p:cNvCxnSpPr>
          <p:nvPr/>
        </p:nvCxnSpPr>
        <p:spPr>
          <a:xfrm flipH="1">
            <a:off x="5311307" y="4590420"/>
            <a:ext cx="630709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直線接點 26"/>
          <p:cNvCxnSpPr>
            <a:stCxn id="25" idx="4"/>
            <a:endCxn id="24" idx="0"/>
          </p:cNvCxnSpPr>
          <p:nvPr/>
        </p:nvCxnSpPr>
        <p:spPr>
          <a:xfrm>
            <a:off x="5942016" y="4590420"/>
            <a:ext cx="626982" cy="360072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橢圓 27"/>
          <p:cNvSpPr/>
          <p:nvPr/>
        </p:nvSpPr>
        <p:spPr>
          <a:xfrm>
            <a:off x="4540325" y="3645056"/>
            <a:ext cx="288000" cy="288000"/>
          </a:xfrm>
          <a:prstGeom prst="ellipse">
            <a:avLst/>
          </a:prstGeom>
          <a:solidFill>
            <a:srgbClr val="E8F0F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29" name="直線接點 28"/>
          <p:cNvCxnSpPr>
            <a:stCxn id="28" idx="4"/>
            <a:endCxn id="17" idx="0"/>
          </p:cNvCxnSpPr>
          <p:nvPr/>
        </p:nvCxnSpPr>
        <p:spPr>
          <a:xfrm flipH="1">
            <a:off x="3410703" y="3933056"/>
            <a:ext cx="1273622" cy="36936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線接點 29"/>
          <p:cNvCxnSpPr>
            <a:stCxn id="28" idx="4"/>
            <a:endCxn id="25" idx="0"/>
          </p:cNvCxnSpPr>
          <p:nvPr/>
        </p:nvCxnSpPr>
        <p:spPr>
          <a:xfrm>
            <a:off x="4684325" y="3933056"/>
            <a:ext cx="1257691" cy="369364"/>
          </a:xfrm>
          <a:prstGeom prst="line">
            <a:avLst/>
          </a:prstGeom>
          <a:ln w="28575"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字方塊 30"/>
          <p:cNvSpPr txBox="1"/>
          <p:nvPr/>
        </p:nvSpPr>
        <p:spPr>
          <a:xfrm>
            <a:off x="2577600" y="490319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" name="文字方塊 31"/>
          <p:cNvSpPr txBox="1"/>
          <p:nvPr/>
        </p:nvSpPr>
        <p:spPr>
          <a:xfrm>
            <a:off x="2254493" y="5530441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文字方塊 32"/>
          <p:cNvSpPr txBox="1"/>
          <p:nvPr/>
        </p:nvSpPr>
        <p:spPr>
          <a:xfrm>
            <a:off x="2914488" y="5530441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文字方塊 33"/>
          <p:cNvSpPr txBox="1"/>
          <p:nvPr/>
        </p:nvSpPr>
        <p:spPr>
          <a:xfrm>
            <a:off x="3834033" y="490319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文字方塊 34"/>
          <p:cNvSpPr txBox="1"/>
          <p:nvPr/>
        </p:nvSpPr>
        <p:spPr>
          <a:xfrm>
            <a:off x="3510926" y="5530441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25</a:t>
            </a:r>
            <a:endParaRPr lang="zh-TW" altLang="en-US" b="1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文字方塊 36"/>
          <p:cNvSpPr txBox="1"/>
          <p:nvPr/>
        </p:nvSpPr>
        <p:spPr>
          <a:xfrm>
            <a:off x="5105420" y="4909826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30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9" name="文字方塊 38"/>
          <p:cNvSpPr txBox="1"/>
          <p:nvPr/>
        </p:nvSpPr>
        <p:spPr>
          <a:xfrm>
            <a:off x="6361248" y="4904420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32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" name="文字方塊 39"/>
          <p:cNvSpPr txBox="1"/>
          <p:nvPr/>
        </p:nvSpPr>
        <p:spPr>
          <a:xfrm>
            <a:off x="5726820" y="4261754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b="1" dirty="0" smtClean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35</a:t>
            </a:r>
            <a:endParaRPr lang="zh-TW" alt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圓角矩形圖說文字 45"/>
          <p:cNvSpPr/>
          <p:nvPr/>
        </p:nvSpPr>
        <p:spPr>
          <a:xfrm>
            <a:off x="6248111" y="3528606"/>
            <a:ext cx="1368152" cy="520899"/>
          </a:xfrm>
          <a:prstGeom prst="wedgeRoundRectCallout">
            <a:avLst>
              <a:gd name="adj1" fmla="val -57524"/>
              <a:gd name="adj2" fmla="val 97707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 smtClean="0">
                <a:solidFill>
                  <a:srgbClr val="C00000"/>
                </a:solidFill>
                <a:latin typeface="+mj-lt"/>
                <a:ea typeface="標楷體" panose="03000509000000000000" pitchFamily="65" charset="-120"/>
              </a:rPr>
              <a:t>max-heap</a:t>
            </a:r>
            <a:endParaRPr lang="zh-TW" altLang="en-US" b="1" dirty="0">
              <a:solidFill>
                <a:srgbClr val="C00000"/>
              </a:solidFill>
              <a:latin typeface="+mj-lt"/>
              <a:ea typeface="標楷體" panose="03000509000000000000" pitchFamily="65" charset="-120"/>
            </a:endParaRPr>
          </a:p>
        </p:txBody>
      </p:sp>
      <p:sp>
        <p:nvSpPr>
          <p:cNvPr id="47" name="圓角矩形圖說文字 46"/>
          <p:cNvSpPr/>
          <p:nvPr/>
        </p:nvSpPr>
        <p:spPr>
          <a:xfrm>
            <a:off x="1721412" y="3528605"/>
            <a:ext cx="1293591" cy="520899"/>
          </a:xfrm>
          <a:prstGeom prst="wedgeRoundRectCallout">
            <a:avLst>
              <a:gd name="adj1" fmla="val 65266"/>
              <a:gd name="adj2" fmla="val 10007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000" b="1" dirty="0" smtClean="0">
                <a:solidFill>
                  <a:srgbClr val="0000FF"/>
                </a:solidFill>
                <a:latin typeface="+mj-lt"/>
                <a:ea typeface="標楷體" panose="03000509000000000000" pitchFamily="65" charset="-120"/>
              </a:rPr>
              <a:t>min-heap</a:t>
            </a:r>
            <a:endParaRPr lang="zh-TW" altLang="en-US" b="1" dirty="0">
              <a:solidFill>
                <a:srgbClr val="0000FF"/>
              </a:solidFill>
              <a:latin typeface="+mj-lt"/>
              <a:ea typeface="標楷體" panose="03000509000000000000" pitchFamily="65" charset="-120"/>
            </a:endParaRPr>
          </a:p>
        </p:txBody>
      </p:sp>
      <p:cxnSp>
        <p:nvCxnSpPr>
          <p:cNvPr id="48" name="肘形接點 47"/>
          <p:cNvCxnSpPr>
            <a:stCxn id="7" idx="4"/>
            <a:endCxn id="21" idx="4"/>
          </p:cNvCxnSpPr>
          <p:nvPr/>
        </p:nvCxnSpPr>
        <p:spPr>
          <a:xfrm rot="16200000" flipH="1">
            <a:off x="4045650" y="3972835"/>
            <a:ext cx="12700" cy="2531313"/>
          </a:xfrm>
          <a:prstGeom prst="bentConnector3">
            <a:avLst>
              <a:gd name="adj1" fmla="val 1800000"/>
            </a:avLst>
          </a:prstGeom>
          <a:ln w="28575">
            <a:solidFill>
              <a:srgbClr val="FFC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肘形接點 53"/>
          <p:cNvCxnSpPr>
            <a:stCxn id="10" idx="4"/>
            <a:endCxn id="21" idx="5"/>
          </p:cNvCxnSpPr>
          <p:nvPr/>
        </p:nvCxnSpPr>
        <p:spPr>
          <a:xfrm rot="5400000" flipH="1" flipV="1">
            <a:off x="3929481" y="4383716"/>
            <a:ext cx="671049" cy="2296248"/>
          </a:xfrm>
          <a:prstGeom prst="bentConnector3">
            <a:avLst>
              <a:gd name="adj1" fmla="val -34066"/>
            </a:avLst>
          </a:prstGeom>
          <a:ln w="28575"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11942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NCKU3">
  <a:themeElements>
    <a:clrScheme name="NCKU3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NCKU3">
      <a:majorFont>
        <a:latin typeface="Times New Roman"/>
        <a:ea typeface="新細明體"/>
        <a:cs typeface=""/>
      </a:majorFont>
      <a:minorFont>
        <a:latin typeface="Times New Roman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NCKU3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NCKU3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NCKU3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簡報1" id="{1D2088C2-DF28-403B-A142-ABEFFB73DCD1}" vid="{F9685623-F412-4155-8B4F-1E431000369C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NTTU</Template>
  <TotalTime>14344</TotalTime>
  <Words>3437</Words>
  <Application>Microsoft Office PowerPoint</Application>
  <PresentationFormat>如螢幕大小 (4:3)</PresentationFormat>
  <Paragraphs>1258</Paragraphs>
  <Slides>62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62</vt:i4>
      </vt:variant>
    </vt:vector>
  </HeadingPairs>
  <TitlesOfParts>
    <vt:vector size="73" baseType="lpstr">
      <vt:lpstr>新細明體</vt:lpstr>
      <vt:lpstr>標楷體</vt:lpstr>
      <vt:lpstr>Angsana New</vt:lpstr>
      <vt:lpstr>Arial</vt:lpstr>
      <vt:lpstr>Calibri</vt:lpstr>
      <vt:lpstr>Cambria Math</vt:lpstr>
      <vt:lpstr>Monotype Corsiva</vt:lpstr>
      <vt:lpstr>Nirmala UI</vt:lpstr>
      <vt:lpstr>Symbol</vt:lpstr>
      <vt:lpstr>Times New Roman</vt:lpstr>
      <vt:lpstr>NCKU3</vt:lpstr>
      <vt:lpstr>DATA STRUCTURES 資料結構</vt:lpstr>
      <vt:lpstr>堆積 Heap</vt:lpstr>
      <vt:lpstr>完整二元樹性質 (1/4)</vt:lpstr>
      <vt:lpstr>完整二元樹性質(2/4)</vt:lpstr>
      <vt:lpstr>完整二元樹性質(3/4)</vt:lpstr>
      <vt:lpstr>完整二元樹性質(4/4)</vt:lpstr>
      <vt:lpstr>堆積表示法 (1/2)</vt:lpstr>
      <vt:lpstr>堆積表示法 (2/2)</vt:lpstr>
      <vt:lpstr>二元樹轉成堆積- 由上而下往下調整法 (1/10)</vt:lpstr>
      <vt:lpstr>二元樹轉成堆積- 由上而下往下調整法 (2/10)</vt:lpstr>
      <vt:lpstr>二元樹轉成堆積- 由上而下往下調整法 (3/10)</vt:lpstr>
      <vt:lpstr>二元樹轉成堆積- 由上而下往下調整法 (4/10)</vt:lpstr>
      <vt:lpstr>二元樹轉成堆積- 由上而下往下調整法 (5/10)</vt:lpstr>
      <vt:lpstr>二元樹轉成堆積- 由上而下往下調整法 (6/10)</vt:lpstr>
      <vt:lpstr>二元樹轉成堆積- 由上而下往下調整法 (7/10)</vt:lpstr>
      <vt:lpstr>二元樹轉成堆積- 由上而下往下調整法 (8/10)</vt:lpstr>
      <vt:lpstr>二元樹轉成堆積- 由上而下往下調整法 (9/10)</vt:lpstr>
      <vt:lpstr>二元樹轉成堆積- 由上而下往下調整法 (10/10)</vt:lpstr>
      <vt:lpstr>二元樹轉成堆積- 由下而上往下調整法 (1/9)</vt:lpstr>
      <vt:lpstr>二元樹轉成堆積- 由下而上往下調整法 (2/9)</vt:lpstr>
      <vt:lpstr>二元樹轉成堆積- 由下而上往下調整法 (3/9)</vt:lpstr>
      <vt:lpstr>二元樹轉成堆積- 由下而上往下調整法 (4/9)</vt:lpstr>
      <vt:lpstr>二元樹轉成堆積- 由下而上往下調整法 (5/9)</vt:lpstr>
      <vt:lpstr>二元樹轉成堆積- 由下而上往下調整法 (6/9)</vt:lpstr>
      <vt:lpstr>二元樹轉成堆積- 由下而上往下調整法 (7/9)</vt:lpstr>
      <vt:lpstr>二元樹轉成堆積- 由下而上往下調整法 (8/9)</vt:lpstr>
      <vt:lpstr>二元樹轉成堆積- 由下而上往下調整法 (9/9)</vt:lpstr>
      <vt:lpstr>二元樹轉成堆積-逐一插入法 (1/14)</vt:lpstr>
      <vt:lpstr>二元樹轉成堆積-逐一插入法 (2/14)</vt:lpstr>
      <vt:lpstr>二元樹轉成堆積-逐一插入法 (3/14)</vt:lpstr>
      <vt:lpstr>二元樹轉成堆積-逐一插入法 (4/14)</vt:lpstr>
      <vt:lpstr>二元樹轉成堆積-逐一插入法 (5/14)</vt:lpstr>
      <vt:lpstr>二元樹轉成堆積-逐一插入法 (6/14)</vt:lpstr>
      <vt:lpstr>二元樹轉成堆積-逐一插入法 (7/14)</vt:lpstr>
      <vt:lpstr>二元樹轉成堆積-逐一插入法 (8/14)</vt:lpstr>
      <vt:lpstr>二元樹轉成堆積-逐一插入法 (9/14)</vt:lpstr>
      <vt:lpstr>二元樹轉成堆積-逐一插入法 (10/14)</vt:lpstr>
      <vt:lpstr>二元樹轉成堆積-逐一插入法 (11/14)</vt:lpstr>
      <vt:lpstr>二元樹轉成堆積-逐一插入法 (12/14)</vt:lpstr>
      <vt:lpstr>二元樹轉成堆積-逐一插入法 (13/14)</vt:lpstr>
      <vt:lpstr>二元樹轉成堆積-逐一插入法 (14/14)</vt:lpstr>
      <vt:lpstr>二元樹轉成最大堆積</vt:lpstr>
      <vt:lpstr>Heap的加入</vt:lpstr>
      <vt:lpstr>Heap的刪除</vt:lpstr>
      <vt:lpstr>min-max heap</vt:lpstr>
      <vt:lpstr>min-max heap的加入 (1/4)</vt:lpstr>
      <vt:lpstr>min-max heap的加入 (2/4)</vt:lpstr>
      <vt:lpstr>min-max heap的加入 (3/4)</vt:lpstr>
      <vt:lpstr>min-max heap的加入 (4/4)</vt:lpstr>
      <vt:lpstr>min-max heap的刪除 (1/3)</vt:lpstr>
      <vt:lpstr>min-max heap的刪除 (2/3)</vt:lpstr>
      <vt:lpstr>min-max heap的刪除 (3/3)</vt:lpstr>
      <vt:lpstr>deap</vt:lpstr>
      <vt:lpstr>deap的加入 (1/5)</vt:lpstr>
      <vt:lpstr>deap的加入 (2/5)</vt:lpstr>
      <vt:lpstr>deap的加入 (3/5)</vt:lpstr>
      <vt:lpstr>deap的加入 (4/5)</vt:lpstr>
      <vt:lpstr>deap的加入 (5/5)</vt:lpstr>
      <vt:lpstr>deap的刪除 (1/4)</vt:lpstr>
      <vt:lpstr>deap的刪除 (2/4)</vt:lpstr>
      <vt:lpstr>deap的刪除 (3/4)</vt:lpstr>
      <vt:lpstr>deap的刪除 (4/4)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資料結構 Data Structure</dc:title>
  <dc:creator>C.-W. Lee</dc:creator>
  <cp:lastModifiedBy>admin</cp:lastModifiedBy>
  <cp:revision>93</cp:revision>
  <cp:lastPrinted>2022-09-24T09:12:24Z</cp:lastPrinted>
  <dcterms:created xsi:type="dcterms:W3CDTF">2018-01-10T03:26:15Z</dcterms:created>
  <dcterms:modified xsi:type="dcterms:W3CDTF">2026-01-27T06:32:09Z</dcterms:modified>
</cp:coreProperties>
</file>