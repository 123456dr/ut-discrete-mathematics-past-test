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2026/5/15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2026/06/03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STRUCTURES</a:t>
            </a:r>
            <a:br>
              <a:rPr lang="en-US" altLang="zh-TW" dirty="0"/>
            </a:br>
            <a:r>
              <a:rPr lang="zh-TW" altLang="en-US" dirty="0"/>
              <a:t>資料結構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Array (1/7)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定義：設</a:t>
            </a:r>
            <a:r>
              <a:rPr lang="en-US" altLang="zh-TW" i="1" dirty="0">
                <a:solidFill>
                  <a:srgbClr val="0000FF"/>
                </a:solidFill>
              </a:rPr>
              <a:t>S</a:t>
            </a:r>
            <a:r>
              <a:rPr lang="zh-TW" altLang="en-US" dirty="0">
                <a:solidFill>
                  <a:srgbClr val="0000FF"/>
                </a:solidFill>
              </a:rPr>
              <a:t>是一個字串，其長度為</a:t>
            </a:r>
            <a:r>
              <a:rPr lang="en-US" altLang="zh-TW" dirty="0">
                <a:solidFill>
                  <a:srgbClr val="0000FF"/>
                </a:solidFill>
              </a:rPr>
              <a:t>length(</a:t>
            </a:r>
            <a:r>
              <a:rPr lang="en-US" altLang="zh-TW" i="1" dirty="0">
                <a:solidFill>
                  <a:srgbClr val="0000FF"/>
                </a:solidFill>
              </a:rPr>
              <a:t>S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r>
              <a:rPr lang="zh-TW" altLang="en-US" dirty="0">
                <a:solidFill>
                  <a:srgbClr val="0000FF"/>
                </a:solidFill>
              </a:rPr>
              <a:t>，在</a:t>
            </a:r>
            <a:r>
              <a:rPr lang="en-US" altLang="zh-TW" i="1" dirty="0">
                <a:solidFill>
                  <a:srgbClr val="0000FF"/>
                </a:solidFill>
              </a:rPr>
              <a:t>S</a:t>
            </a:r>
            <a:r>
              <a:rPr lang="zh-TW" altLang="en-US" dirty="0">
                <a:solidFill>
                  <a:srgbClr val="0000FF"/>
                </a:solidFill>
              </a:rPr>
              <a:t>中第</a:t>
            </a:r>
            <a:r>
              <a:rPr lang="en-US" altLang="zh-TW" i="1" dirty="0" err="1">
                <a:solidFill>
                  <a:srgbClr val="0000FF"/>
                </a:solidFill>
              </a:rPr>
              <a:t>i</a:t>
            </a:r>
            <a:r>
              <a:rPr lang="zh-TW" altLang="en-US" dirty="0">
                <a:solidFill>
                  <a:srgbClr val="0000FF"/>
                </a:solidFill>
              </a:rPr>
              <a:t>個字元是</a:t>
            </a:r>
            <a:r>
              <a:rPr lang="en-US" altLang="zh-TW" i="1" dirty="0">
                <a:solidFill>
                  <a:srgbClr val="0000FF"/>
                </a:solidFill>
              </a:rPr>
              <a:t>S</a:t>
            </a:r>
            <a:r>
              <a:rPr lang="en-US" altLang="zh-TW" dirty="0">
                <a:solidFill>
                  <a:srgbClr val="0000FF"/>
                </a:solidFill>
              </a:rPr>
              <a:t>[</a:t>
            </a:r>
            <a:r>
              <a:rPr lang="en-US" altLang="zh-TW" i="1" dirty="0" err="1">
                <a:solidFill>
                  <a:srgbClr val="0000FF"/>
                </a:solidFill>
              </a:rPr>
              <a:t>i</a:t>
            </a:r>
            <a:r>
              <a:rPr lang="en-US" altLang="zh-TW" dirty="0">
                <a:solidFill>
                  <a:srgbClr val="0000FF"/>
                </a:solidFill>
              </a:rPr>
              <a:t>]</a:t>
            </a:r>
            <a:r>
              <a:rPr lang="zh-TW" altLang="en-US" dirty="0">
                <a:solidFill>
                  <a:srgbClr val="0000FF"/>
                </a:solidFill>
              </a:rPr>
              <a:t>，</a:t>
            </a:r>
            <a:r>
              <a:rPr lang="en-US" altLang="zh-TW" i="1" dirty="0">
                <a:solidFill>
                  <a:srgbClr val="0000FF"/>
                </a:solidFill>
              </a:rPr>
              <a:t>S</a:t>
            </a:r>
            <a:r>
              <a:rPr lang="en-US" altLang="zh-TW" dirty="0">
                <a:solidFill>
                  <a:srgbClr val="0000FF"/>
                </a:solidFill>
              </a:rPr>
              <a:t>[</a:t>
            </a:r>
            <a:r>
              <a:rPr lang="en-US" altLang="zh-TW" i="1" dirty="0" err="1">
                <a:solidFill>
                  <a:srgbClr val="0000FF"/>
                </a:solidFill>
              </a:rPr>
              <a:t>i</a:t>
            </a:r>
            <a:r>
              <a:rPr lang="en-US" altLang="zh-TW" dirty="0">
                <a:solidFill>
                  <a:srgbClr val="0000FF"/>
                </a:solidFill>
              </a:rPr>
              <a:t>..</a:t>
            </a:r>
            <a:r>
              <a:rPr lang="en-US" altLang="zh-TW" i="1" dirty="0">
                <a:solidFill>
                  <a:srgbClr val="0000FF"/>
                </a:solidFill>
              </a:rPr>
              <a:t>j</a:t>
            </a:r>
            <a:r>
              <a:rPr lang="en-US" altLang="zh-TW" dirty="0">
                <a:solidFill>
                  <a:srgbClr val="0000FF"/>
                </a:solidFill>
              </a:rPr>
              <a:t>]</a:t>
            </a:r>
            <a:r>
              <a:rPr lang="zh-TW" altLang="en-US" dirty="0">
                <a:solidFill>
                  <a:srgbClr val="0000FF"/>
                </a:solidFill>
              </a:rPr>
              <a:t>是在</a:t>
            </a:r>
            <a:r>
              <a:rPr lang="en-US" altLang="zh-TW" i="1" dirty="0">
                <a:solidFill>
                  <a:srgbClr val="0000FF"/>
                </a:solidFill>
              </a:rPr>
              <a:t>S</a:t>
            </a:r>
            <a:r>
              <a:rPr lang="zh-TW" altLang="en-US" dirty="0">
                <a:solidFill>
                  <a:srgbClr val="0000FF"/>
                </a:solidFill>
              </a:rPr>
              <a:t>中從</a:t>
            </a:r>
            <a:r>
              <a:rPr lang="en-US" altLang="zh-TW" i="1" dirty="0">
                <a:solidFill>
                  <a:srgbClr val="0000FF"/>
                </a:solidFill>
              </a:rPr>
              <a:t>S</a:t>
            </a:r>
            <a:r>
              <a:rPr lang="en-US" altLang="zh-TW" dirty="0">
                <a:solidFill>
                  <a:srgbClr val="0000FF"/>
                </a:solidFill>
              </a:rPr>
              <a:t>[</a:t>
            </a:r>
            <a:r>
              <a:rPr lang="en-US" altLang="zh-TW" i="1" dirty="0" err="1">
                <a:solidFill>
                  <a:srgbClr val="0000FF"/>
                </a:solidFill>
              </a:rPr>
              <a:t>i</a:t>
            </a:r>
            <a:r>
              <a:rPr lang="en-US" altLang="zh-TW" dirty="0">
                <a:solidFill>
                  <a:srgbClr val="0000FF"/>
                </a:solidFill>
              </a:rPr>
              <a:t>]</a:t>
            </a:r>
            <a:r>
              <a:rPr lang="zh-TW" altLang="en-US" dirty="0">
                <a:solidFill>
                  <a:srgbClr val="0000FF"/>
                </a:solidFill>
              </a:rPr>
              <a:t>到</a:t>
            </a:r>
            <a:r>
              <a:rPr lang="en-US" altLang="zh-TW" i="1" dirty="0">
                <a:solidFill>
                  <a:srgbClr val="0000FF"/>
                </a:solidFill>
              </a:rPr>
              <a:t>S</a:t>
            </a:r>
            <a:r>
              <a:rPr lang="en-US" altLang="zh-TW" dirty="0">
                <a:solidFill>
                  <a:srgbClr val="0000FF"/>
                </a:solidFill>
              </a:rPr>
              <a:t>[</a:t>
            </a:r>
            <a:r>
              <a:rPr lang="en-US" altLang="zh-TW" i="1" dirty="0">
                <a:solidFill>
                  <a:srgbClr val="0000FF"/>
                </a:solidFill>
              </a:rPr>
              <a:t>j</a:t>
            </a:r>
            <a:r>
              <a:rPr lang="en-US" altLang="zh-TW" dirty="0">
                <a:solidFill>
                  <a:srgbClr val="0000FF"/>
                </a:solidFill>
              </a:rPr>
              <a:t>]</a:t>
            </a:r>
            <a:r>
              <a:rPr lang="zh-TW" altLang="en-US" dirty="0">
                <a:solidFill>
                  <a:srgbClr val="0000FF"/>
                </a:solidFill>
              </a:rPr>
              <a:t>的子字串，</a:t>
            </a:r>
            <a:r>
              <a:rPr lang="en-US" altLang="zh-TW" dirty="0">
                <a:solidFill>
                  <a:srgbClr val="0000FF"/>
                </a:solidFill>
              </a:rPr>
              <a:t>1 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 </a:t>
            </a:r>
            <a:r>
              <a:rPr lang="en-US" altLang="zh-TW" i="1" dirty="0" err="1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  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  length(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。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的後綴陣列的元素是從第</a:t>
            </a:r>
            <a:r>
              <a:rPr lang="en-US" altLang="zh-TW" i="1" dirty="0" err="1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個字元開始的後綴，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1  </a:t>
            </a:r>
            <a:r>
              <a:rPr lang="en-US" altLang="zh-TW" i="1" dirty="0" err="1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  length(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，表示為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suffix(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en-US" altLang="zh-TW" i="1" dirty="0" err="1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，即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suffix(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en-US" altLang="zh-TW" i="1" dirty="0" err="1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) = 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[</a:t>
            </a:r>
            <a:r>
              <a:rPr lang="en-US" altLang="zh-TW" i="1" dirty="0" err="1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..length(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)]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19672" y="2839223"/>
          <a:ext cx="609600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3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4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5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6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7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8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15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153065" y="323284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374311" y="3915205"/>
            <a:ext cx="1582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length(</a:t>
            </a:r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) = 8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374311" y="4316902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[1] = a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374311" y="4717012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[2] = a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374311" y="5117122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[3] = b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374311" y="5517232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[4] = a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851920" y="4316902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[5] = a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851920" y="4717012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[6] = a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51920" y="5117122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[7] = a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851920" y="5517232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[8] = b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343957" y="4316902"/>
            <a:ext cx="19399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[1..6] = </a:t>
            </a:r>
            <a:r>
              <a:rPr lang="en-US" altLang="zh-TW" sz="2000" b="1" dirty="0" err="1">
                <a:latin typeface="+mj-lt"/>
              </a:rPr>
              <a:t>aabaaa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343957" y="4717012"/>
            <a:ext cx="168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[2..5] = </a:t>
            </a:r>
            <a:r>
              <a:rPr lang="en-US" altLang="zh-TW" sz="2000" b="1" dirty="0" err="1">
                <a:latin typeface="+mj-lt"/>
              </a:rPr>
              <a:t>abaa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343957" y="5117122"/>
            <a:ext cx="1954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[3..8] = </a:t>
            </a:r>
            <a:r>
              <a:rPr lang="en-US" altLang="zh-TW" sz="2000" b="1" dirty="0" err="1">
                <a:latin typeface="+mj-lt"/>
              </a:rPr>
              <a:t>baaaab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343957" y="5517232"/>
            <a:ext cx="1540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r>
              <a:rPr lang="en-US" altLang="zh-TW" sz="2000" b="1" dirty="0">
                <a:latin typeface="+mj-lt"/>
              </a:rPr>
              <a:t>[4..6] = </a:t>
            </a:r>
            <a:r>
              <a:rPr lang="en-US" altLang="zh-TW" sz="2000" b="1" dirty="0" err="1">
                <a:latin typeface="+mj-lt"/>
              </a:rPr>
              <a:t>aaa</a:t>
            </a:r>
            <a:endParaRPr lang="zh-TW" altLang="en-US" sz="2000" b="1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698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Array (2/7)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3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06159" y="1268760"/>
          <a:ext cx="609600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3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4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5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6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7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8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15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39552" y="166237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endParaRPr lang="zh-TW" altLang="en-US" sz="2000" b="1" i="1" dirty="0">
              <a:latin typeface="+mj-lt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335486" y="2347146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5573486" y="2861620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811486" y="3376791"/>
          <a:ext cx="228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049486" y="3896776"/>
          <a:ext cx="3048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287486" y="4419857"/>
          <a:ext cx="3810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525486" y="4939068"/>
          <a:ext cx="457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763486" y="5461762"/>
          <a:ext cx="533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006159" y="5983682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7308304" y="233101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Suffix(8)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308304" y="285293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Suffix(7)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308304" y="337485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Suffix(6)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308304" y="389290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Suffix(5)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312843" y="441792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Suffix(4)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312843" y="493984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Suffix(3)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312843" y="546176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Suffix(2)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312843" y="597981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Suffix(1)</a:t>
            </a:r>
            <a:endParaRPr lang="zh-TW" alt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6644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Array (3/7)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後綴陣列</a:t>
            </a:r>
            <a:r>
              <a:rPr lang="en-US" altLang="zh-TW" dirty="0">
                <a:solidFill>
                  <a:srgbClr val="0000FF"/>
                </a:solidFill>
              </a:rPr>
              <a:t>SA</a:t>
            </a:r>
          </a:p>
          <a:p>
            <a:pPr lvl="1"/>
            <a:r>
              <a:rPr lang="zh-TW" altLang="en-US" dirty="0"/>
              <a:t>一個儲存了</a:t>
            </a:r>
            <a:r>
              <a:rPr lang="en-US" altLang="zh-TW" dirty="0"/>
              <a:t>1, 2, …, </a:t>
            </a:r>
            <a:r>
              <a:rPr lang="en-US" altLang="zh-TW" i="1" dirty="0"/>
              <a:t>n</a:t>
            </a:r>
            <a:r>
              <a:rPr lang="zh-TW" altLang="en-US" dirty="0"/>
              <a:t> 的一個排列的整數陣列</a:t>
            </a:r>
            <a:endParaRPr lang="en-US" altLang="zh-TW" dirty="0"/>
          </a:p>
          <a:p>
            <a:pPr lvl="2"/>
            <a:r>
              <a:rPr lang="en-US" altLang="zh-TW" dirty="0"/>
              <a:t>suffix(SA[</a:t>
            </a:r>
            <a:r>
              <a:rPr lang="en-US" altLang="zh-TW" i="1" dirty="0" err="1"/>
              <a:t>i</a:t>
            </a:r>
            <a:r>
              <a:rPr lang="en-US" altLang="zh-TW" dirty="0"/>
              <a:t>]) &lt; suffix(SA[</a:t>
            </a:r>
            <a:r>
              <a:rPr lang="en-US" altLang="zh-TW" i="1" dirty="0" err="1"/>
              <a:t>i</a:t>
            </a:r>
            <a:r>
              <a:rPr lang="en-US" altLang="zh-TW" dirty="0"/>
              <a:t> + 1]), 1 </a:t>
            </a:r>
            <a:r>
              <a:rPr lang="en-US" altLang="zh-TW" dirty="0">
                <a:sym typeface="Symbol" panose="05050102010706020507" pitchFamily="18" charset="2"/>
              </a:rPr>
              <a:t> </a:t>
            </a:r>
            <a:r>
              <a:rPr lang="en-US" altLang="zh-TW" i="1" dirty="0" err="1">
                <a:sym typeface="Symbol" panose="05050102010706020507" pitchFamily="18" charset="2"/>
              </a:rPr>
              <a:t>i</a:t>
            </a:r>
            <a:r>
              <a:rPr lang="en-US" altLang="zh-TW" dirty="0">
                <a:sym typeface="Symbol" panose="05050102010706020507" pitchFamily="18" charset="2"/>
              </a:rPr>
              <a:t> &lt;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zh-TW" altLang="en-US" dirty="0">
                <a:sym typeface="Symbol" panose="05050102010706020507" pitchFamily="18" charset="2"/>
              </a:rPr>
              <a:t>。</a:t>
            </a:r>
            <a:endParaRPr lang="en-US" altLang="zh-TW" dirty="0">
              <a:sym typeface="Symbol" panose="05050102010706020507" pitchFamily="18" charset="2"/>
            </a:endParaRPr>
          </a:p>
          <a:p>
            <a:pPr lvl="1"/>
            <a:r>
              <a:rPr lang="zh-TW" altLang="en-US" dirty="0">
                <a:sym typeface="Symbol" panose="05050102010706020507" pitchFamily="18" charset="2"/>
              </a:rPr>
              <a:t>字串</a:t>
            </a:r>
            <a:r>
              <a:rPr lang="en-US" altLang="zh-TW" i="1" dirty="0">
                <a:sym typeface="Symbol" panose="05050102010706020507" pitchFamily="18" charset="2"/>
              </a:rPr>
              <a:t>S</a:t>
            </a:r>
            <a:r>
              <a:rPr lang="zh-TW" altLang="en-US" dirty="0">
                <a:sym typeface="Symbol" panose="05050102010706020507" pitchFamily="18" charset="2"/>
              </a:rPr>
              <a:t>的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zh-TW" altLang="en-US" dirty="0">
                <a:sym typeface="Symbol" panose="05050102010706020507" pitchFamily="18" charset="2"/>
              </a:rPr>
              <a:t>個後綴按</a:t>
            </a:r>
            <a:r>
              <a:rPr lang="zh-TW" altLang="en-US" dirty="0">
                <a:solidFill>
                  <a:srgbClr val="C00000"/>
                </a:solidFill>
                <a:sym typeface="Symbol" panose="05050102010706020507" pitchFamily="18" charset="2"/>
              </a:rPr>
              <a:t>字典順序排</a:t>
            </a:r>
            <a:r>
              <a:rPr lang="zh-TW" altLang="en-US" dirty="0">
                <a:sym typeface="Symbol" panose="05050102010706020507" pitchFamily="18" charset="2"/>
              </a:rPr>
              <a:t>序</a:t>
            </a:r>
            <a:endParaRPr lang="en-US" altLang="zh-TW" dirty="0">
              <a:sym typeface="Symbol" panose="05050102010706020507" pitchFamily="18" charset="2"/>
            </a:endParaRPr>
          </a:p>
          <a:p>
            <a:pPr lvl="2"/>
            <a:r>
              <a:rPr lang="en-US" altLang="zh-TW" dirty="0">
                <a:sym typeface="Symbol" panose="05050102010706020507" pitchFamily="18" charset="2"/>
              </a:rPr>
              <a:t>SA[</a:t>
            </a:r>
            <a:r>
              <a:rPr lang="en-US" altLang="zh-TW" i="1" dirty="0" err="1">
                <a:sym typeface="Symbol" panose="05050102010706020507" pitchFamily="18" charset="2"/>
              </a:rPr>
              <a:t>i</a:t>
            </a:r>
            <a:r>
              <a:rPr lang="en-US" altLang="zh-TW" dirty="0">
                <a:sym typeface="Symbol" panose="05050102010706020507" pitchFamily="18" charset="2"/>
              </a:rPr>
              <a:t>]</a:t>
            </a:r>
            <a:r>
              <a:rPr lang="zh-TW" altLang="en-US" dirty="0">
                <a:sym typeface="Symbol" panose="05050102010706020507" pitchFamily="18" charset="2"/>
              </a:rPr>
              <a:t>儲存第</a:t>
            </a:r>
            <a:r>
              <a:rPr lang="en-US" altLang="zh-TW" i="1" dirty="0" err="1">
                <a:sym typeface="Symbol" panose="05050102010706020507" pitchFamily="18" charset="2"/>
              </a:rPr>
              <a:t>i</a:t>
            </a:r>
            <a:r>
              <a:rPr lang="zh-TW" altLang="en-US" dirty="0">
                <a:sym typeface="Symbol" panose="05050102010706020507" pitchFamily="18" charset="2"/>
              </a:rPr>
              <a:t>個後綴的開始位置</a:t>
            </a:r>
            <a:endParaRPr lang="en-US" altLang="zh-TW" dirty="0">
              <a:sym typeface="Symbol" panose="05050102010706020507" pitchFamily="18" charset="2"/>
            </a:endParaRPr>
          </a:p>
          <a:p>
            <a:pPr lvl="1"/>
            <a:r>
              <a:rPr lang="en-US" altLang="zh-TW" dirty="0">
                <a:sym typeface="Symbol" panose="05050102010706020507" pitchFamily="18" charset="2"/>
              </a:rPr>
              <a:t>SA</a:t>
            </a:r>
            <a:r>
              <a:rPr lang="zh-TW" altLang="en-US" dirty="0">
                <a:sym typeface="Symbol" panose="05050102010706020507" pitchFamily="18" charset="2"/>
              </a:rPr>
              <a:t>表示按字典順序排列</a:t>
            </a:r>
            <a:endParaRPr lang="en-US" altLang="zh-TW" dirty="0">
              <a:sym typeface="Symbol" panose="05050102010706020507" pitchFamily="18" charset="2"/>
            </a:endParaRPr>
          </a:p>
          <a:p>
            <a:pPr lvl="2"/>
            <a:r>
              <a:rPr lang="zh-TW" altLang="en-US" dirty="0">
                <a:sym typeface="Symbol" panose="05050102010706020507" pitchFamily="18" charset="2"/>
              </a:rPr>
              <a:t>排第幾的是誰？</a:t>
            </a:r>
            <a:endParaRPr lang="en-US" altLang="zh-TW" dirty="0">
              <a:sym typeface="Symbol" panose="05050102010706020507" pitchFamily="18" charset="2"/>
            </a:endParaRPr>
          </a:p>
          <a:p>
            <a:pPr lvl="2"/>
            <a:r>
              <a:rPr lang="zh-TW" altLang="en-US" dirty="0">
                <a:sym typeface="Symbol" panose="05050102010706020507" pitchFamily="18" charset="2"/>
              </a:rPr>
              <a:t>哪一個是第</a:t>
            </a:r>
            <a:r>
              <a:rPr lang="en-US" altLang="zh-TW" i="1" dirty="0" err="1">
                <a:sym typeface="Symbol" panose="05050102010706020507" pitchFamily="18" charset="2"/>
              </a:rPr>
              <a:t>i</a:t>
            </a:r>
            <a:r>
              <a:rPr lang="zh-TW" altLang="en-US" dirty="0">
                <a:sym typeface="Symbol" panose="05050102010706020507" pitchFamily="18" charset="2"/>
              </a:rPr>
              <a:t>個後綴</a:t>
            </a:r>
            <a:endParaRPr lang="en-US" altLang="zh-TW" dirty="0">
              <a:sym typeface="Symbol" panose="05050102010706020507" pitchFamily="18" charset="2"/>
            </a:endParaRPr>
          </a:p>
          <a:p>
            <a:endParaRPr lang="en-US" altLang="zh-TW" dirty="0">
              <a:sym typeface="Symbol" panose="05050102010706020507" pitchFamily="18" charset="2"/>
            </a:endParaRPr>
          </a:p>
          <a:p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名次陣列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Rank</a:t>
            </a:r>
          </a:p>
          <a:p>
            <a:pPr lvl="1"/>
            <a:r>
              <a:rPr lang="zh-TW" altLang="en-US" dirty="0">
                <a:sym typeface="Symbol" panose="05050102010706020507" pitchFamily="18" charset="2"/>
              </a:rPr>
              <a:t>與</a:t>
            </a:r>
            <a:r>
              <a:rPr lang="en-US" altLang="zh-TW" dirty="0">
                <a:sym typeface="Symbol" panose="05050102010706020507" pitchFamily="18" charset="2"/>
              </a:rPr>
              <a:t>SA</a:t>
            </a:r>
            <a:r>
              <a:rPr lang="zh-TW" altLang="en-US" dirty="0">
                <a:sym typeface="Symbol" panose="05050102010706020507" pitchFamily="18" charset="2"/>
              </a:rPr>
              <a:t>對應的整數陣列</a:t>
            </a:r>
            <a:endParaRPr lang="en-US" altLang="zh-TW" dirty="0">
              <a:sym typeface="Symbol" panose="05050102010706020507" pitchFamily="18" charset="2"/>
            </a:endParaRPr>
          </a:p>
          <a:p>
            <a:pPr lvl="2"/>
            <a:r>
              <a:rPr lang="en-US" altLang="zh-TW" dirty="0">
                <a:sym typeface="Symbol" panose="05050102010706020507" pitchFamily="18" charset="2"/>
              </a:rPr>
              <a:t>SA[</a:t>
            </a:r>
            <a:r>
              <a:rPr lang="en-US" altLang="zh-TW" i="1" dirty="0" err="1">
                <a:sym typeface="Symbol" panose="05050102010706020507" pitchFamily="18" charset="2"/>
              </a:rPr>
              <a:t>i</a:t>
            </a:r>
            <a:r>
              <a:rPr lang="en-US" altLang="zh-TW" dirty="0">
                <a:sym typeface="Symbol" panose="05050102010706020507" pitchFamily="18" charset="2"/>
              </a:rPr>
              <a:t>] = </a:t>
            </a:r>
            <a:r>
              <a:rPr lang="en-US" altLang="zh-TW" i="1" dirty="0">
                <a:sym typeface="Symbol" panose="05050102010706020507" pitchFamily="18" charset="2"/>
              </a:rPr>
              <a:t>j</a:t>
            </a:r>
            <a:r>
              <a:rPr lang="en-US" altLang="zh-TW" dirty="0">
                <a:sym typeface="Symbol" panose="05050102010706020507" pitchFamily="18" charset="2"/>
              </a:rPr>
              <a:t>, then Rank[</a:t>
            </a:r>
            <a:r>
              <a:rPr lang="en-US" altLang="zh-TW" i="1" dirty="0">
                <a:sym typeface="Symbol" panose="05050102010706020507" pitchFamily="18" charset="2"/>
              </a:rPr>
              <a:t>j</a:t>
            </a:r>
            <a:r>
              <a:rPr lang="en-US" altLang="zh-TW" dirty="0">
                <a:sym typeface="Symbol" panose="05050102010706020507" pitchFamily="18" charset="2"/>
              </a:rPr>
              <a:t>] = </a:t>
            </a:r>
            <a:r>
              <a:rPr lang="en-US" altLang="zh-TW" i="1" dirty="0" err="1">
                <a:sym typeface="Symbol" panose="05050102010706020507" pitchFamily="18" charset="2"/>
              </a:rPr>
              <a:t>i</a:t>
            </a:r>
            <a:endParaRPr lang="en-US" altLang="zh-TW" i="1" dirty="0">
              <a:sym typeface="Symbol" panose="05050102010706020507" pitchFamily="18" charset="2"/>
            </a:endParaRPr>
          </a:p>
          <a:p>
            <a:pPr lvl="1"/>
            <a:r>
              <a:rPr lang="zh-TW" altLang="en-US" dirty="0"/>
              <a:t>表示後綴的所在位置</a:t>
            </a:r>
            <a:endParaRPr lang="en-US" altLang="zh-TW" dirty="0"/>
          </a:p>
          <a:p>
            <a:pPr lvl="2"/>
            <a:r>
              <a:rPr lang="zh-TW" altLang="en-US" dirty="0"/>
              <a:t>你排第幾？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8870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Array (4/7)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44296" y="1268760"/>
          <a:ext cx="609600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4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6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8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1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2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3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5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7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15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077689" y="166237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endParaRPr lang="zh-TW" altLang="en-US" sz="2000" b="1" i="1" dirty="0">
              <a:latin typeface="+mj-lt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539623" y="5476576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539623" y="4433964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539623" y="3385038"/>
          <a:ext cx="228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539623" y="2867028"/>
          <a:ext cx="3048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539623" y="2334499"/>
          <a:ext cx="3810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539623" y="5990710"/>
          <a:ext cx="457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539623" y="4962442"/>
          <a:ext cx="533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539623" y="3897640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285601" y="2331016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SA[1] = 4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85601" y="2852936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SA[2] = 5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85601" y="3374856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SA[3] = 6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85601" y="3892906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SA[4] = 1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90140" y="4417922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SA[5] = 7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90140" y="4939842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SA[6] = 2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90140" y="5461762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SA[7] = 8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90140" y="5979812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SA[8] = 3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54627" y="1269055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Rank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723043" y="233101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Suffix(4)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723043" y="285293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Suffix(5)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723043" y="337485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Suffix(6)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723043" y="389290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Suffix(1)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727582" y="441792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Suffix(7)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727582" y="493984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Suffix(2)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727582" y="546176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Suffix(8)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727582" y="597981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Suffix(3)</a:t>
            </a:r>
            <a:endParaRPr lang="zh-TW" alt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75704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Array (5/7)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44296" y="1268760"/>
          <a:ext cx="609600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4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6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8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1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2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3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5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7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15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077689" y="166237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endParaRPr lang="zh-TW" altLang="en-US" sz="2000" b="1" i="1" dirty="0">
              <a:latin typeface="+mj-lt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873623" y="2347146"/>
          <a:ext cx="76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111623" y="2861620"/>
          <a:ext cx="152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349623" y="3376791"/>
          <a:ext cx="228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587623" y="3896776"/>
          <a:ext cx="3048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825623" y="4419857"/>
          <a:ext cx="3810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3063623" y="4939068"/>
          <a:ext cx="4572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301623" y="5461762"/>
          <a:ext cx="5334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544296" y="5983682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285601" y="2331016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SA[7] = 8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85601" y="2852936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SA[5] = 7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85601" y="3374856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SA[3] = 6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85601" y="3892906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SA[2] = 5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90140" y="4417922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SA[1] = 4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90140" y="4939842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SA[8] = 3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90140" y="5461762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SA[6] = 2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90140" y="5979812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SA[4] = 1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54627" y="1269055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Rank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723043" y="233101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Suffix(8)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723043" y="285293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Suffix(7)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723043" y="337485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Suffix(6)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723043" y="389290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Suffix(5)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727582" y="441792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Suffix(4)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727582" y="493984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Suffix(3)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727582" y="546176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Suffix(2)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727582" y="5979812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Suffix(1)</a:t>
            </a:r>
            <a:endParaRPr lang="zh-TW" alt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3641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Array (6/7)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7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89567" y="1268760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7227" y="126489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endParaRPr lang="zh-TW" altLang="en-US" sz="2000" b="1" i="1" dirty="0">
              <a:latin typeface="+mj-lt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289567" y="2060848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395536" y="2056978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Rank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550573" y="2056978"/>
            <a:ext cx="1269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length = 1</a:t>
            </a:r>
            <a:endParaRPr lang="zh-TW" altLang="en-US" sz="2000" b="1" dirty="0">
              <a:latin typeface="+mj-lt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289567" y="2852936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2  1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  </a:t>
                      </a:r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289567" y="3645024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4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3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7550573" y="3641154"/>
            <a:ext cx="1269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length = 2</a:t>
            </a:r>
            <a:endParaRPr lang="zh-TW" altLang="en-US" sz="2000" b="1" dirty="0">
              <a:latin typeface="+mj-lt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289567" y="4437112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1  4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2  1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4  1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1  3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  </a:t>
                      </a:r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3  </a:t>
                      </a:r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289567" y="5229200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4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6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8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3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5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7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7550573" y="5225330"/>
            <a:ext cx="1269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length = 4</a:t>
            </a:r>
            <a:endParaRPr lang="zh-TW" altLang="en-US" sz="2000" b="1" dirty="0">
              <a:latin typeface="+mj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289567" y="6021288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4  2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6  3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8  5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1  7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  </a:t>
                      </a:r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3  </a:t>
                      </a:r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5  </a:t>
                      </a:r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7  </a:t>
                      </a:r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395536" y="3641154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Rank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95536" y="5225330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Rank</a:t>
            </a:r>
            <a:endParaRPr lang="zh-TW" altLang="en-US" sz="2000" b="1" dirty="0">
              <a:latin typeface="+mj-lt"/>
            </a:endParaRPr>
          </a:p>
        </p:txBody>
      </p:sp>
      <p:cxnSp>
        <p:nvCxnSpPr>
          <p:cNvPr id="38" name="直線接點 37"/>
          <p:cNvCxnSpPr/>
          <p:nvPr/>
        </p:nvCxnSpPr>
        <p:spPr>
          <a:xfrm flipV="1">
            <a:off x="1670644" y="2455710"/>
            <a:ext cx="0" cy="3912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 flipV="1">
            <a:off x="1670644" y="2455710"/>
            <a:ext cx="762153" cy="3912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3194950" y="2455710"/>
            <a:ext cx="0" cy="3912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3194950" y="2455710"/>
            <a:ext cx="761541" cy="3912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 flipV="1">
            <a:off x="4718032" y="2455710"/>
            <a:ext cx="0" cy="3912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 flipV="1">
            <a:off x="4718032" y="2455710"/>
            <a:ext cx="762153" cy="3912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H="1">
            <a:off x="6242338" y="2455710"/>
            <a:ext cx="761541" cy="3912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6242338" y="2455710"/>
            <a:ext cx="0" cy="3912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/>
          <p:nvPr/>
        </p:nvCxnSpPr>
        <p:spPr>
          <a:xfrm flipV="1">
            <a:off x="2432797" y="2455710"/>
            <a:ext cx="0" cy="39122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 flipV="1">
            <a:off x="2432797" y="2455710"/>
            <a:ext cx="762153" cy="39122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3956491" y="2455710"/>
            <a:ext cx="0" cy="39122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 flipV="1">
            <a:off x="3956491" y="2455710"/>
            <a:ext cx="761541" cy="39122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5480185" y="2455710"/>
            <a:ext cx="762153" cy="39122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flipV="1">
            <a:off x="5480185" y="2455710"/>
            <a:ext cx="0" cy="39122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V="1">
            <a:off x="7003879" y="2455710"/>
            <a:ext cx="0" cy="39122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接點 118"/>
          <p:cNvCxnSpPr/>
          <p:nvPr/>
        </p:nvCxnSpPr>
        <p:spPr>
          <a:xfrm flipV="1">
            <a:off x="1670644" y="4040232"/>
            <a:ext cx="0" cy="39365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/>
          <p:cNvCxnSpPr/>
          <p:nvPr/>
        </p:nvCxnSpPr>
        <p:spPr>
          <a:xfrm flipV="1">
            <a:off x="1670644" y="4040232"/>
            <a:ext cx="1524306" cy="39365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接點 124"/>
          <p:cNvCxnSpPr/>
          <p:nvPr/>
        </p:nvCxnSpPr>
        <p:spPr>
          <a:xfrm flipV="1">
            <a:off x="3194950" y="4040232"/>
            <a:ext cx="0" cy="39365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3194950" y="4040232"/>
            <a:ext cx="1523082" cy="39365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 flipV="1">
            <a:off x="4718032" y="4040232"/>
            <a:ext cx="0" cy="39365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接點 133"/>
          <p:cNvCxnSpPr/>
          <p:nvPr/>
        </p:nvCxnSpPr>
        <p:spPr>
          <a:xfrm flipV="1">
            <a:off x="4718032" y="4040232"/>
            <a:ext cx="1524306" cy="39365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接點 136"/>
          <p:cNvCxnSpPr/>
          <p:nvPr/>
        </p:nvCxnSpPr>
        <p:spPr>
          <a:xfrm flipV="1">
            <a:off x="2432797" y="4040232"/>
            <a:ext cx="0" cy="39365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接點 139"/>
          <p:cNvCxnSpPr/>
          <p:nvPr/>
        </p:nvCxnSpPr>
        <p:spPr>
          <a:xfrm flipV="1">
            <a:off x="2432797" y="4040232"/>
            <a:ext cx="1523694" cy="39365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/>
          <p:cNvCxnSpPr/>
          <p:nvPr/>
        </p:nvCxnSpPr>
        <p:spPr>
          <a:xfrm flipV="1">
            <a:off x="3956491" y="4040232"/>
            <a:ext cx="0" cy="39365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 flipV="1">
            <a:off x="3956491" y="4040232"/>
            <a:ext cx="1523694" cy="39365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/>
          <p:cNvCxnSpPr/>
          <p:nvPr/>
        </p:nvCxnSpPr>
        <p:spPr>
          <a:xfrm flipV="1">
            <a:off x="5480185" y="4040232"/>
            <a:ext cx="0" cy="39365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接點 151"/>
          <p:cNvCxnSpPr/>
          <p:nvPr/>
        </p:nvCxnSpPr>
        <p:spPr>
          <a:xfrm flipV="1">
            <a:off x="5480185" y="4040232"/>
            <a:ext cx="1523694" cy="39365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接點 154"/>
          <p:cNvCxnSpPr/>
          <p:nvPr/>
        </p:nvCxnSpPr>
        <p:spPr>
          <a:xfrm flipV="1">
            <a:off x="6242338" y="4040232"/>
            <a:ext cx="0" cy="39365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接點 157"/>
          <p:cNvCxnSpPr/>
          <p:nvPr/>
        </p:nvCxnSpPr>
        <p:spPr>
          <a:xfrm flipV="1">
            <a:off x="7003879" y="4040232"/>
            <a:ext cx="0" cy="39365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接點 176"/>
          <p:cNvCxnSpPr/>
          <p:nvPr/>
        </p:nvCxnSpPr>
        <p:spPr>
          <a:xfrm flipV="1">
            <a:off x="1670644" y="5624408"/>
            <a:ext cx="0" cy="39197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接點 179"/>
          <p:cNvCxnSpPr/>
          <p:nvPr/>
        </p:nvCxnSpPr>
        <p:spPr>
          <a:xfrm flipV="1">
            <a:off x="1670644" y="5624408"/>
            <a:ext cx="3047388" cy="39197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接點 182"/>
          <p:cNvCxnSpPr/>
          <p:nvPr/>
        </p:nvCxnSpPr>
        <p:spPr>
          <a:xfrm flipV="1">
            <a:off x="3194950" y="5624408"/>
            <a:ext cx="0" cy="39197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接點 185"/>
          <p:cNvCxnSpPr/>
          <p:nvPr/>
        </p:nvCxnSpPr>
        <p:spPr>
          <a:xfrm flipV="1">
            <a:off x="3194950" y="5624408"/>
            <a:ext cx="3047388" cy="39197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線接點 188"/>
          <p:cNvCxnSpPr/>
          <p:nvPr/>
        </p:nvCxnSpPr>
        <p:spPr>
          <a:xfrm flipV="1">
            <a:off x="6242338" y="5624408"/>
            <a:ext cx="0" cy="39197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接點 191"/>
          <p:cNvCxnSpPr/>
          <p:nvPr/>
        </p:nvCxnSpPr>
        <p:spPr>
          <a:xfrm flipV="1">
            <a:off x="7003879" y="5624408"/>
            <a:ext cx="0" cy="39197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接點 194"/>
          <p:cNvCxnSpPr/>
          <p:nvPr/>
        </p:nvCxnSpPr>
        <p:spPr>
          <a:xfrm flipV="1">
            <a:off x="5480185" y="5624408"/>
            <a:ext cx="0" cy="39197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接點 197"/>
          <p:cNvCxnSpPr/>
          <p:nvPr/>
        </p:nvCxnSpPr>
        <p:spPr>
          <a:xfrm flipV="1">
            <a:off x="2432797" y="5624408"/>
            <a:ext cx="0" cy="39197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線接點 200"/>
          <p:cNvCxnSpPr/>
          <p:nvPr/>
        </p:nvCxnSpPr>
        <p:spPr>
          <a:xfrm flipV="1">
            <a:off x="2432797" y="5624408"/>
            <a:ext cx="3047388" cy="39197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線接點 207"/>
          <p:cNvCxnSpPr/>
          <p:nvPr/>
        </p:nvCxnSpPr>
        <p:spPr>
          <a:xfrm flipV="1">
            <a:off x="3956491" y="5624408"/>
            <a:ext cx="0" cy="39197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接點 211"/>
          <p:cNvCxnSpPr/>
          <p:nvPr/>
        </p:nvCxnSpPr>
        <p:spPr>
          <a:xfrm flipV="1">
            <a:off x="3956491" y="5624408"/>
            <a:ext cx="3047388" cy="39197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線接點 214"/>
          <p:cNvCxnSpPr/>
          <p:nvPr/>
        </p:nvCxnSpPr>
        <p:spPr>
          <a:xfrm flipV="1">
            <a:off x="4718032" y="5624408"/>
            <a:ext cx="0" cy="39197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文字方塊 220"/>
          <p:cNvSpPr txBox="1"/>
          <p:nvPr/>
        </p:nvSpPr>
        <p:spPr>
          <a:xfrm>
            <a:off x="3681415" y="6266844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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2" name="文字方塊 221"/>
          <p:cNvSpPr txBox="1"/>
          <p:nvPr/>
        </p:nvSpPr>
        <p:spPr>
          <a:xfrm>
            <a:off x="4437505" y="6266843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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3" name="文字方塊 222"/>
          <p:cNvSpPr txBox="1"/>
          <p:nvPr/>
        </p:nvSpPr>
        <p:spPr>
          <a:xfrm>
            <a:off x="5205109" y="6266842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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4" name="文字方塊 223"/>
          <p:cNvSpPr txBox="1"/>
          <p:nvPr/>
        </p:nvSpPr>
        <p:spPr>
          <a:xfrm>
            <a:off x="1395568" y="6265745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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5" name="文字方塊 224"/>
          <p:cNvSpPr txBox="1"/>
          <p:nvPr/>
        </p:nvSpPr>
        <p:spPr>
          <a:xfrm>
            <a:off x="5972713" y="6267026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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6" name="文字方塊 225"/>
          <p:cNvSpPr txBox="1"/>
          <p:nvPr/>
        </p:nvSpPr>
        <p:spPr>
          <a:xfrm>
            <a:off x="2155480" y="6265744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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7" name="文字方塊 226"/>
          <p:cNvSpPr txBox="1"/>
          <p:nvPr/>
        </p:nvSpPr>
        <p:spPr>
          <a:xfrm>
            <a:off x="6719530" y="6260313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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8" name="文字方塊 227"/>
          <p:cNvSpPr txBox="1"/>
          <p:nvPr/>
        </p:nvSpPr>
        <p:spPr>
          <a:xfrm>
            <a:off x="2902297" y="6266842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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92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0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0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5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00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4500"/>
                            </p:stCondLst>
                            <p:childTnLst>
                              <p:par>
                                <p:cTn id="1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500"/>
                            </p:stCondLst>
                            <p:childTnLst>
                              <p:par>
                                <p:cTn id="1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6000"/>
                            </p:stCondLst>
                            <p:childTnLst>
                              <p:par>
                                <p:cTn id="1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6500"/>
                            </p:stCondLst>
                            <p:childTnLst>
                              <p:par>
                                <p:cTn id="1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00"/>
                            </p:stCondLst>
                            <p:childTnLst>
                              <p:par>
                                <p:cTn id="1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500"/>
                            </p:stCondLst>
                            <p:childTnLst>
                              <p:par>
                                <p:cTn id="1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500"/>
                            </p:stCondLst>
                            <p:childTnLst>
                              <p:par>
                                <p:cTn id="1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3000"/>
                            </p:stCondLst>
                            <p:childTnLst>
                              <p:par>
                                <p:cTn id="2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3500"/>
                            </p:stCondLst>
                            <p:childTnLst>
                              <p:par>
                                <p:cTn id="2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4000"/>
                            </p:stCondLst>
                            <p:childTnLst>
                              <p:par>
                                <p:cTn id="2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500"/>
                            </p:stCondLst>
                            <p:childTnLst>
                              <p:par>
                                <p:cTn id="2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0"/>
                            </p:stCondLst>
                            <p:childTnLst>
                              <p:par>
                                <p:cTn id="2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1000"/>
                            </p:stCondLst>
                            <p:childTnLst>
                              <p:par>
                                <p:cTn id="2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1500"/>
                            </p:stCondLst>
                            <p:childTnLst>
                              <p:par>
                                <p:cTn id="2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000"/>
                            </p:stCondLst>
                            <p:childTnLst>
                              <p:par>
                                <p:cTn id="2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500"/>
                            </p:stCondLst>
                            <p:childTnLst>
                              <p:par>
                                <p:cTn id="2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3000"/>
                            </p:stCondLst>
                            <p:childTnLst>
                              <p:par>
                                <p:cTn id="2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3500"/>
                            </p:stCondLst>
                            <p:childTnLst>
                              <p:par>
                                <p:cTn id="2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7" grpId="0"/>
      <p:bldP spid="19" grpId="0"/>
      <p:bldP spid="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Array (7/7)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8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89567" y="2492896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7227" y="248902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endParaRPr lang="zh-TW" altLang="en-US" sz="2000" b="1" i="1" dirty="0">
              <a:latin typeface="+mj-lt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289567" y="4328904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4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6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8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3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5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7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395536" y="4325034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Rank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550573" y="4325034"/>
            <a:ext cx="1269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length = 8</a:t>
            </a:r>
            <a:endParaRPr lang="zh-TW" altLang="en-US" sz="2000" b="1" dirty="0">
              <a:latin typeface="+mj-lt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289567" y="3318567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3892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560014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244483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98747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325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4  1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6  2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8  3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1  5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2  7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3  </a:t>
                      </a:r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5  </a:t>
                      </a:r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7  </a:t>
                      </a:r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221" name="文字方塊 220"/>
          <p:cNvSpPr txBox="1"/>
          <p:nvPr/>
        </p:nvSpPr>
        <p:spPr>
          <a:xfrm>
            <a:off x="3681415" y="3564123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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2" name="文字方塊 221"/>
          <p:cNvSpPr txBox="1"/>
          <p:nvPr/>
        </p:nvSpPr>
        <p:spPr>
          <a:xfrm>
            <a:off x="4437505" y="3564122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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3" name="文字方塊 222"/>
          <p:cNvSpPr txBox="1"/>
          <p:nvPr/>
        </p:nvSpPr>
        <p:spPr>
          <a:xfrm>
            <a:off x="5205109" y="3564121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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4" name="文字方塊 223"/>
          <p:cNvSpPr txBox="1"/>
          <p:nvPr/>
        </p:nvSpPr>
        <p:spPr>
          <a:xfrm>
            <a:off x="1395568" y="3563024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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5" name="文字方塊 224"/>
          <p:cNvSpPr txBox="1"/>
          <p:nvPr/>
        </p:nvSpPr>
        <p:spPr>
          <a:xfrm>
            <a:off x="5972713" y="3564305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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6" name="文字方塊 225"/>
          <p:cNvSpPr txBox="1"/>
          <p:nvPr/>
        </p:nvSpPr>
        <p:spPr>
          <a:xfrm>
            <a:off x="2155480" y="3563023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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7" name="文字方塊 226"/>
          <p:cNvSpPr txBox="1"/>
          <p:nvPr/>
        </p:nvSpPr>
        <p:spPr>
          <a:xfrm>
            <a:off x="6719530" y="3557592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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8" name="文字方塊 227"/>
          <p:cNvSpPr txBox="1"/>
          <p:nvPr/>
        </p:nvSpPr>
        <p:spPr>
          <a:xfrm>
            <a:off x="2902297" y="3564121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00000"/>
                </a:solidFill>
                <a:sym typeface="Wingdings" panose="05000000000000000000" pitchFamily="2" charset="2"/>
              </a:rPr>
              <a:t>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178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Quiz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2026/06/03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9</a:t>
            </a:fld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72724" y="2492896"/>
          <a:ext cx="6899676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973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849020222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869530460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094021649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099509981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802664108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1644157486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959569482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3872985138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334251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c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c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a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+mj-lt"/>
                        </a:rPr>
                        <a:t>b</a:t>
                      </a:r>
                      <a:endParaRPr lang="zh-TW" altLang="en-US" sz="2000" b="1" dirty="0"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80383" y="248902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+mj-lt"/>
              </a:rPr>
              <a:t>S</a:t>
            </a:r>
            <a:endParaRPr lang="zh-TW" altLang="en-US" sz="2000" b="1" i="1" dirty="0">
              <a:latin typeface="+mj-lt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23528" y="4314994"/>
            <a:ext cx="784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Rank</a:t>
            </a:r>
            <a:endParaRPr lang="zh-TW" altLang="en-US" sz="2000" b="1" dirty="0">
              <a:latin typeface="+mj-lt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94435" y="3408965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+mj-lt"/>
              </a:rPr>
              <a:t>SA</a:t>
            </a:r>
            <a:endParaRPr lang="zh-TW" altLang="en-US" sz="2000" b="1" dirty="0">
              <a:latin typeface="+mj-lt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272724" y="3412835"/>
          <a:ext cx="6899676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973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849020222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869530460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094021649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099509981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802664108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1644157486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959569482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3872985138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334251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272724" y="4314994"/>
          <a:ext cx="6899676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973">
                  <a:extLst>
                    <a:ext uri="{9D8B030D-6E8A-4147-A177-3AD203B41FA5}">
                      <a16:colId xmlns:a16="http://schemas.microsoft.com/office/drawing/2014/main" val="3409545918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3202078661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1068475317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849020222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869530460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094021649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099509981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802664108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1644157486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959569482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3872985138"/>
                    </a:ext>
                  </a:extLst>
                </a:gridCol>
                <a:gridCol w="574973">
                  <a:extLst>
                    <a:ext uri="{9D8B030D-6E8A-4147-A177-3AD203B41FA5}">
                      <a16:colId xmlns:a16="http://schemas.microsoft.com/office/drawing/2014/main" val="2334251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+mj-lt"/>
                        </a:rPr>
                        <a:t>?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4387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368801"/>
      </p:ext>
    </p:extLst>
  </p:cSld>
  <p:clrMapOvr>
    <a:masterClrMapping/>
  </p:clrMapOvr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14367</TotalTime>
  <Words>1038</Words>
  <Application>Microsoft Office PowerPoint</Application>
  <PresentationFormat>如螢幕大小 (4:3)</PresentationFormat>
  <Paragraphs>429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Arial</vt:lpstr>
      <vt:lpstr>Calibri</vt:lpstr>
      <vt:lpstr>Monotype Corsiva</vt:lpstr>
      <vt:lpstr>Symbol</vt:lpstr>
      <vt:lpstr>Times New Roman</vt:lpstr>
      <vt:lpstr>Wingdings</vt:lpstr>
      <vt:lpstr>NCKU3</vt:lpstr>
      <vt:lpstr>DATA STRUCTURES 資料結構</vt:lpstr>
      <vt:lpstr>Suffix Array (1/7)</vt:lpstr>
      <vt:lpstr>Suffix Array (2/7)</vt:lpstr>
      <vt:lpstr>Suffix Array (3/7)</vt:lpstr>
      <vt:lpstr>Suffix Array (4/7)</vt:lpstr>
      <vt:lpstr>Suffix Array (5/7)</vt:lpstr>
      <vt:lpstr>Suffix Array (6/7)</vt:lpstr>
      <vt:lpstr>Suffix Array (7/7)</vt:lpstr>
      <vt:lpstr>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107</cp:revision>
  <cp:lastPrinted>2026-05-15T11:55:25Z</cp:lastPrinted>
  <dcterms:created xsi:type="dcterms:W3CDTF">2018-01-10T03:26:15Z</dcterms:created>
  <dcterms:modified xsi:type="dcterms:W3CDTF">2026-05-15T11:57:04Z</dcterms:modified>
</cp:coreProperties>
</file>