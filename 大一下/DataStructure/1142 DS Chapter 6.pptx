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7"/>
  </p:notesMasterIdLst>
  <p:sldIdLst>
    <p:sldId id="365" r:id="rId2"/>
    <p:sldId id="366" r:id="rId3"/>
    <p:sldId id="367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78" r:id="rId15"/>
    <p:sldId id="379" r:id="rId16"/>
    <p:sldId id="380" r:id="rId17"/>
    <p:sldId id="381" r:id="rId18"/>
    <p:sldId id="382" r:id="rId19"/>
    <p:sldId id="383" r:id="rId20"/>
    <p:sldId id="384" r:id="rId21"/>
    <p:sldId id="385" r:id="rId22"/>
    <p:sldId id="386" r:id="rId23"/>
    <p:sldId id="387" r:id="rId24"/>
    <p:sldId id="388" r:id="rId25"/>
    <p:sldId id="389" r:id="rId26"/>
    <p:sldId id="390" r:id="rId27"/>
    <p:sldId id="391" r:id="rId28"/>
    <p:sldId id="392" r:id="rId29"/>
    <p:sldId id="393" r:id="rId30"/>
    <p:sldId id="394" r:id="rId31"/>
    <p:sldId id="395" r:id="rId32"/>
    <p:sldId id="396" r:id="rId33"/>
    <p:sldId id="397" r:id="rId34"/>
    <p:sldId id="398" r:id="rId35"/>
    <p:sldId id="399" r:id="rId36"/>
  </p:sldIdLst>
  <p:sldSz cx="9144000" cy="6858000" type="screen4x3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DCDDE"/>
    <a:srgbClr val="E8E8EF"/>
    <a:srgbClr val="FFFFCC"/>
    <a:srgbClr val="820000"/>
    <a:srgbClr val="700000"/>
    <a:srgbClr val="9E0000"/>
    <a:srgbClr val="323232"/>
    <a:srgbClr val="333399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0932" autoAdjust="0"/>
  </p:normalViewPr>
  <p:slideViewPr>
    <p:cSldViewPr>
      <p:cViewPr varScale="1">
        <p:scale>
          <a:sx n="86" d="100"/>
          <a:sy n="86" d="100"/>
        </p:scale>
        <p:origin x="133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r">
              <a:defRPr sz="1200"/>
            </a:lvl1pPr>
          </a:lstStyle>
          <a:p>
            <a:fld id="{7F921807-99F1-4DF0-94D7-7548FA810751}" type="datetimeFigureOut">
              <a:rPr lang="zh-TW" altLang="en-US" smtClean="0"/>
              <a:pPr/>
              <a:t>2026/3/11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42" tIns="45921" rIns="91842" bIns="45921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3"/>
          </a:xfrm>
          <a:prstGeom prst="rect">
            <a:avLst/>
          </a:prstGeom>
        </p:spPr>
        <p:txBody>
          <a:bodyPr vert="horz" lIns="91842" tIns="45921" rIns="91842" bIns="45921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r">
              <a:defRPr sz="1200"/>
            </a:lvl1pPr>
          </a:lstStyle>
          <a:p>
            <a:fld id="{6C24E503-88D4-45A6-8EBB-14391082A01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12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1220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1464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6875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2545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3233" y="225653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2483768" y="4530498"/>
            <a:ext cx="6552728" cy="1676400"/>
          </a:xfrm>
        </p:spPr>
        <p:txBody>
          <a:bodyPr/>
          <a:lstStyle>
            <a:lvl1pPr marL="0" indent="0" algn="ctr">
              <a:buFontTx/>
              <a:buNone/>
              <a:defRPr b="1"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2026/03/11</a:t>
            </a:r>
            <a:endParaRPr lang="en-US" altLang="zh-TW"/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924896" y="2394158"/>
            <a:ext cx="6111600" cy="1860612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3233" y="425477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4300993" y="6581001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 smtClean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12" name="Picture 2" descr="C:\Users\admin\Dropbox\世暘&amp;莉淳\相片\DSC_9359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92" y="2382770"/>
            <a:ext cx="2812457" cy="1872000"/>
          </a:xfrm>
          <a:prstGeom prst="rect">
            <a:avLst/>
          </a:prstGeom>
          <a:noFill/>
        </p:spPr>
      </p:pic>
      <p:pic>
        <p:nvPicPr>
          <p:cNvPr id="20" name="圖片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458" y="1161633"/>
            <a:ext cx="3566038" cy="108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0"/>
            <a:ext cx="6861448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950" y="1268760"/>
            <a:ext cx="8928100" cy="532730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2026/03/11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3F35E6-A8E7-488D-BD9F-ED9A7F7FA10F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2026/03/11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183EC-7050-45EB-9E88-B86B53D28D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0795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2026/03/11</a:t>
            </a: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B32F3C-BFB5-4433-80F2-31E4E599C271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2026/03/11</a:t>
            </a:r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71ADB-DDEF-4830-B9BC-5050A26247A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2026/03/11</a:t>
            </a: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8238B-CE9D-4BC3-843E-48DE31256F2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2026/03/11</a:t>
            </a: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989FA-7C75-4428-B4F8-334FD772112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2026/03/11</a:t>
            </a: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4ED4DE-EAF4-4F9D-92A9-54CDF4DC460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2026/03/11</a:t>
            </a: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BED88-20FD-46BD-AA27-41E91F90C6D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2026/03/11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5973D2-4DDA-41F5-8DAD-51687E6176F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04025" y="0"/>
            <a:ext cx="2232025" cy="659606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07950" y="0"/>
            <a:ext cx="6543675" cy="659606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2026/03/11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BEB42-A2EB-4830-8F53-FDF4A3AEB5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86816" y="0"/>
            <a:ext cx="6861448" cy="114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040" y="1250328"/>
            <a:ext cx="8940456" cy="53457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en-US" altLang="zh-TW" smtClean="0"/>
              <a:t>2026/03/11</a:t>
            </a:r>
            <a:endParaRPr lang="en-US" altLang="zh-TW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97650"/>
            <a:ext cx="28956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+mn-lt"/>
                <a:cs typeface="Angsana New" pitchFamily="18" charset="-34"/>
              </a:defRPr>
            </a:lvl1pPr>
          </a:lstStyle>
          <a:p>
            <a:fld id="{88815D73-EF14-4780-98ED-F121D5ADB135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16" name="矩形 15"/>
          <p:cNvSpPr/>
          <p:nvPr userDrawn="1"/>
        </p:nvSpPr>
        <p:spPr>
          <a:xfrm>
            <a:off x="0" y="1160664"/>
            <a:ext cx="9144000" cy="72000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4343620" y="935059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 smtClean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43" y="18248"/>
            <a:ext cx="2133600" cy="64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+mj-lt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5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DATA</a:t>
            </a:r>
            <a:r>
              <a:rPr lang="zh-TW" altLang="en-US" dirty="0" smtClean="0"/>
              <a:t> </a:t>
            </a:r>
            <a:r>
              <a:rPr lang="en-US" altLang="zh-TW" dirty="0" smtClean="0"/>
              <a:t>STRUCTURES</a:t>
            </a:r>
            <a:br>
              <a:rPr lang="en-US" altLang="zh-TW" dirty="0" smtClean="0"/>
            </a:br>
            <a:r>
              <a:rPr lang="zh-TW" altLang="en-US" dirty="0" smtClean="0"/>
              <a:t>資料結構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dirty="0"/>
              <a:t>Chia-Wei Lee </a:t>
            </a:r>
            <a:r>
              <a:rPr lang="zh-TW" altLang="en-US" dirty="0"/>
              <a:t>李佳衛</a:t>
            </a:r>
          </a:p>
          <a:p>
            <a:pPr algn="r"/>
            <a:r>
              <a:rPr lang="en-US" altLang="zh-TW" dirty="0"/>
              <a:t>cwlee@utaipei.edu.tw</a:t>
            </a:r>
          </a:p>
          <a:p>
            <a:pPr algn="r"/>
            <a:r>
              <a:rPr lang="en-US" altLang="zh-TW" dirty="0"/>
              <a:t>Department of Computer Science</a:t>
            </a:r>
          </a:p>
          <a:p>
            <a:pPr algn="r"/>
            <a:r>
              <a:rPr lang="en-US" altLang="zh-TW" dirty="0"/>
              <a:t>University of Taipei</a:t>
            </a:r>
          </a:p>
        </p:txBody>
      </p:sp>
    </p:spTree>
    <p:extLst>
      <p:ext uri="{BB962C8B-B14F-4D97-AF65-F5344CB8AC3E}">
        <p14:creationId xmlns:p14="http://schemas.microsoft.com/office/powerpoint/2010/main" val="1714987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樹狀結構專有名詞 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278636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節點</a:t>
            </a:r>
            <a:r>
              <a:rPr lang="en-US" altLang="zh-TW" dirty="0" smtClean="0"/>
              <a:t>(vertex/node)</a:t>
            </a:r>
            <a:r>
              <a:rPr lang="zh-TW" altLang="en-US" dirty="0" smtClean="0"/>
              <a:t>與邊</a:t>
            </a:r>
            <a:r>
              <a:rPr lang="en-US" altLang="zh-TW" dirty="0" smtClean="0"/>
              <a:t>(edge)</a:t>
            </a:r>
          </a:p>
          <a:p>
            <a:r>
              <a:rPr lang="zh-TW" altLang="en-US" dirty="0" smtClean="0"/>
              <a:t>祖先</a:t>
            </a:r>
            <a:r>
              <a:rPr lang="en-US" altLang="zh-TW" dirty="0" smtClean="0"/>
              <a:t>(ancestor)</a:t>
            </a:r>
            <a:r>
              <a:rPr lang="zh-TW" altLang="en-US" dirty="0" smtClean="0"/>
              <a:t>節點與子孫</a:t>
            </a:r>
            <a:r>
              <a:rPr lang="en-US" altLang="zh-TW" dirty="0" smtClean="0"/>
              <a:t>(descendant)</a:t>
            </a:r>
            <a:r>
              <a:rPr lang="zh-TW" altLang="en-US" dirty="0" smtClean="0"/>
              <a:t>節點</a:t>
            </a:r>
            <a:endParaRPr lang="en-US" altLang="zh-TW" dirty="0" smtClean="0"/>
          </a:p>
          <a:p>
            <a:r>
              <a:rPr lang="zh-TW" altLang="en-US" dirty="0"/>
              <a:t>父節點</a:t>
            </a:r>
            <a:r>
              <a:rPr lang="en-US" altLang="zh-TW" dirty="0"/>
              <a:t>(parent </a:t>
            </a:r>
            <a:r>
              <a:rPr lang="en-US" altLang="zh-TW" dirty="0" smtClean="0"/>
              <a:t>node)</a:t>
            </a:r>
            <a:r>
              <a:rPr lang="zh-TW" altLang="en-US" dirty="0" smtClean="0"/>
              <a:t>與子</a:t>
            </a:r>
            <a:r>
              <a:rPr lang="zh-TW" altLang="en-US" dirty="0"/>
              <a:t>節點</a:t>
            </a:r>
            <a:r>
              <a:rPr lang="en-US" altLang="zh-TW" dirty="0"/>
              <a:t>(</a:t>
            </a:r>
            <a:r>
              <a:rPr lang="en-US" altLang="zh-TW" dirty="0" smtClean="0"/>
              <a:t>children </a:t>
            </a:r>
            <a:r>
              <a:rPr lang="en-US" altLang="zh-TW" dirty="0"/>
              <a:t>node)</a:t>
            </a:r>
          </a:p>
          <a:p>
            <a:r>
              <a:rPr lang="zh-TW" altLang="en-US" dirty="0"/>
              <a:t>兄弟節點</a:t>
            </a:r>
            <a:r>
              <a:rPr lang="en-US" altLang="zh-TW" dirty="0"/>
              <a:t>(sibling)</a:t>
            </a:r>
          </a:p>
          <a:p>
            <a:r>
              <a:rPr lang="zh-TW" altLang="en-US" dirty="0"/>
              <a:t>非終端節點</a:t>
            </a:r>
            <a:r>
              <a:rPr lang="en-US" altLang="zh-TW" dirty="0"/>
              <a:t>(non-terminal node</a:t>
            </a:r>
            <a:r>
              <a:rPr lang="en-US" altLang="zh-TW" dirty="0" smtClean="0"/>
              <a:t>)</a:t>
            </a:r>
            <a:r>
              <a:rPr lang="zh-TW" altLang="en-US" dirty="0" smtClean="0"/>
              <a:t>：</a:t>
            </a:r>
            <a:r>
              <a:rPr lang="zh-TW" altLang="en-US" dirty="0">
                <a:solidFill>
                  <a:srgbClr val="C00000"/>
                </a:solidFill>
              </a:rPr>
              <a:t>有</a:t>
            </a:r>
            <a:r>
              <a:rPr lang="zh-TW" altLang="en-US" dirty="0" smtClean="0">
                <a:solidFill>
                  <a:srgbClr val="C00000"/>
                </a:solidFill>
              </a:rPr>
              <a:t>子節點</a:t>
            </a:r>
            <a:r>
              <a:rPr lang="zh-TW" altLang="en-US" dirty="0" smtClean="0"/>
              <a:t>的</a:t>
            </a:r>
            <a:r>
              <a:rPr lang="zh-TW" altLang="en-US" dirty="0"/>
              <a:t>節點</a:t>
            </a:r>
            <a:endParaRPr lang="en-US" altLang="zh-TW" dirty="0"/>
          </a:p>
          <a:p>
            <a:pPr lvl="1"/>
            <a:r>
              <a:rPr lang="zh-TW" altLang="en-US" dirty="0"/>
              <a:t>內部節點</a:t>
            </a:r>
            <a:r>
              <a:rPr lang="en-US" altLang="zh-TW" dirty="0"/>
              <a:t>(internal node)</a:t>
            </a:r>
          </a:p>
          <a:p>
            <a:r>
              <a:rPr lang="zh-TW" altLang="en-US" dirty="0"/>
              <a:t>終端節點</a:t>
            </a:r>
            <a:r>
              <a:rPr lang="en-US" altLang="zh-TW" dirty="0"/>
              <a:t>(terminal node</a:t>
            </a:r>
            <a:r>
              <a:rPr lang="en-US" altLang="zh-TW" dirty="0" smtClean="0"/>
              <a:t>)</a:t>
            </a:r>
            <a:r>
              <a:rPr lang="zh-TW" altLang="en-US" dirty="0" smtClean="0"/>
              <a:t>：</a:t>
            </a:r>
            <a:r>
              <a:rPr lang="zh-TW" altLang="en-US" dirty="0">
                <a:solidFill>
                  <a:srgbClr val="C00000"/>
                </a:solidFill>
              </a:rPr>
              <a:t>無</a:t>
            </a:r>
            <a:r>
              <a:rPr lang="zh-TW" altLang="en-US" dirty="0" smtClean="0">
                <a:solidFill>
                  <a:srgbClr val="C00000"/>
                </a:solidFill>
              </a:rPr>
              <a:t>子節點</a:t>
            </a:r>
            <a:r>
              <a:rPr lang="zh-TW" altLang="en-US" dirty="0" smtClean="0"/>
              <a:t>的</a:t>
            </a:r>
            <a:r>
              <a:rPr lang="zh-TW" altLang="en-US" dirty="0"/>
              <a:t>節點</a:t>
            </a:r>
            <a:endParaRPr lang="en-US" altLang="zh-TW" dirty="0"/>
          </a:p>
          <a:p>
            <a:pPr lvl="1"/>
            <a:r>
              <a:rPr lang="zh-TW" altLang="en-US" dirty="0" smtClean="0"/>
              <a:t>樹葉節點</a:t>
            </a:r>
            <a:r>
              <a:rPr lang="en-US" altLang="zh-TW" dirty="0" smtClean="0"/>
              <a:t>(leaf node)</a:t>
            </a:r>
          </a:p>
          <a:p>
            <a:pPr lvl="1"/>
            <a:r>
              <a:rPr lang="zh-TW" altLang="en-US" dirty="0" smtClean="0"/>
              <a:t>外部</a:t>
            </a:r>
            <a:r>
              <a:rPr lang="zh-TW" altLang="en-US" dirty="0"/>
              <a:t>節點</a:t>
            </a:r>
            <a:r>
              <a:rPr lang="en-US" altLang="zh-TW" dirty="0"/>
              <a:t>(external node)</a:t>
            </a:r>
          </a:p>
          <a:p>
            <a:r>
              <a:rPr lang="zh-TW" altLang="en-US" dirty="0" smtClean="0"/>
              <a:t>分支度</a:t>
            </a:r>
            <a:r>
              <a:rPr lang="en-US" altLang="zh-TW" dirty="0" smtClean="0"/>
              <a:t>(degree)</a:t>
            </a:r>
            <a:r>
              <a:rPr lang="zh-TW" altLang="en-US" dirty="0" smtClean="0"/>
              <a:t>：擁有子節點</a:t>
            </a:r>
            <a:r>
              <a:rPr lang="zh-TW" altLang="en-US" dirty="0"/>
              <a:t>數</a:t>
            </a:r>
            <a:endParaRPr lang="en-US" altLang="zh-TW" dirty="0" smtClean="0"/>
          </a:p>
          <a:p>
            <a:r>
              <a:rPr lang="zh-TW" altLang="en-US" dirty="0">
                <a:solidFill>
                  <a:srgbClr val="9900CC"/>
                </a:solidFill>
              </a:rPr>
              <a:t>樹根</a:t>
            </a:r>
            <a:r>
              <a:rPr lang="en-US" altLang="zh-TW" dirty="0">
                <a:solidFill>
                  <a:srgbClr val="9900CC"/>
                </a:solidFill>
              </a:rPr>
              <a:t>(root)</a:t>
            </a:r>
            <a:r>
              <a:rPr lang="zh-TW" altLang="en-US" dirty="0"/>
              <a:t>、子樹</a:t>
            </a:r>
            <a:r>
              <a:rPr lang="en-US" altLang="zh-TW" dirty="0"/>
              <a:t>(subtree)</a:t>
            </a:r>
          </a:p>
          <a:p>
            <a:r>
              <a:rPr lang="zh-TW" altLang="en-US" dirty="0" smtClean="0"/>
              <a:t>階</a:t>
            </a:r>
            <a:r>
              <a:rPr lang="zh-TW" altLang="en-US" dirty="0"/>
              <a:t>度</a:t>
            </a:r>
            <a:r>
              <a:rPr lang="en-US" altLang="zh-TW" dirty="0"/>
              <a:t>(level)</a:t>
            </a:r>
          </a:p>
          <a:p>
            <a:r>
              <a:rPr lang="zh-TW" altLang="en-US" dirty="0">
                <a:solidFill>
                  <a:srgbClr val="C00000"/>
                </a:solidFill>
              </a:rPr>
              <a:t>高度</a:t>
            </a:r>
            <a:r>
              <a:rPr lang="en-US" altLang="zh-TW" dirty="0">
                <a:solidFill>
                  <a:srgbClr val="C00000"/>
                </a:solidFill>
              </a:rPr>
              <a:t>(height</a:t>
            </a:r>
            <a:r>
              <a:rPr lang="en-US" altLang="zh-TW" dirty="0" smtClean="0">
                <a:solidFill>
                  <a:srgbClr val="C00000"/>
                </a:solidFill>
              </a:rPr>
              <a:t>)</a:t>
            </a:r>
            <a:r>
              <a:rPr lang="zh-TW" altLang="en-US" dirty="0" smtClean="0"/>
              <a:t>：至</a:t>
            </a:r>
            <a:r>
              <a:rPr lang="zh-TW" altLang="en-US" dirty="0" smtClean="0">
                <a:solidFill>
                  <a:srgbClr val="C00000"/>
                </a:solidFill>
              </a:rPr>
              <a:t>樹葉節點</a:t>
            </a:r>
            <a:r>
              <a:rPr lang="zh-TW" altLang="en-US" dirty="0" smtClean="0"/>
              <a:t>的</a:t>
            </a:r>
            <a:r>
              <a:rPr lang="zh-TW" altLang="en-US" dirty="0" smtClean="0">
                <a:solidFill>
                  <a:srgbClr val="C00000"/>
                </a:solidFill>
              </a:rPr>
              <a:t>最長</a:t>
            </a:r>
            <a:r>
              <a:rPr lang="zh-TW" altLang="en-US" dirty="0" smtClean="0"/>
              <a:t>路徑</a:t>
            </a:r>
            <a:endParaRPr lang="en-US" altLang="zh-TW" dirty="0" smtClean="0"/>
          </a:p>
          <a:p>
            <a:r>
              <a:rPr lang="zh-TW" altLang="en-US" dirty="0" smtClean="0">
                <a:solidFill>
                  <a:srgbClr val="0000FF"/>
                </a:solidFill>
              </a:rPr>
              <a:t>深度</a:t>
            </a:r>
            <a:r>
              <a:rPr lang="en-US" altLang="zh-TW" dirty="0" smtClean="0">
                <a:solidFill>
                  <a:srgbClr val="0000FF"/>
                </a:solidFill>
              </a:rPr>
              <a:t>(depth)</a:t>
            </a:r>
            <a:r>
              <a:rPr lang="zh-TW" altLang="en-US" dirty="0" smtClean="0"/>
              <a:t>：至</a:t>
            </a:r>
            <a:r>
              <a:rPr lang="zh-TW" altLang="en-US" dirty="0" smtClean="0">
                <a:solidFill>
                  <a:srgbClr val="C00000"/>
                </a:solidFill>
              </a:rPr>
              <a:t>樹根</a:t>
            </a:r>
            <a:r>
              <a:rPr lang="zh-TW" altLang="en-US" dirty="0" smtClean="0"/>
              <a:t>的路徑長度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17" name="群組 16"/>
          <p:cNvGrpSpPr/>
          <p:nvPr/>
        </p:nvGrpSpPr>
        <p:grpSpPr>
          <a:xfrm>
            <a:off x="5328299" y="3833426"/>
            <a:ext cx="3708197" cy="369332"/>
            <a:chOff x="5328299" y="3833426"/>
            <a:chExt cx="3708197" cy="369332"/>
          </a:xfrm>
        </p:grpSpPr>
        <p:sp>
          <p:nvSpPr>
            <p:cNvPr id="59" name="圓角矩形 58"/>
            <p:cNvSpPr/>
            <p:nvPr/>
          </p:nvSpPr>
          <p:spPr>
            <a:xfrm>
              <a:off x="5328299" y="3968193"/>
              <a:ext cx="2889849" cy="1511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文字方塊 59"/>
            <p:cNvSpPr txBox="1"/>
            <p:nvPr/>
          </p:nvSpPr>
          <p:spPr>
            <a:xfrm>
              <a:off x="8229865" y="3833426"/>
              <a:ext cx="8066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level 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5322210" y="4583924"/>
            <a:ext cx="3714286" cy="369332"/>
            <a:chOff x="5322210" y="4583924"/>
            <a:chExt cx="3714286" cy="369332"/>
          </a:xfrm>
        </p:grpSpPr>
        <p:sp>
          <p:nvSpPr>
            <p:cNvPr id="58" name="圓角矩形 57"/>
            <p:cNvSpPr/>
            <p:nvPr/>
          </p:nvSpPr>
          <p:spPr>
            <a:xfrm>
              <a:off x="5322210" y="4693033"/>
              <a:ext cx="2889849" cy="1511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8229865" y="4583924"/>
              <a:ext cx="8066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level 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5340016" y="5331937"/>
            <a:ext cx="3696480" cy="369332"/>
            <a:chOff x="5340016" y="5331937"/>
            <a:chExt cx="3696480" cy="369332"/>
          </a:xfrm>
        </p:grpSpPr>
        <p:sp>
          <p:nvSpPr>
            <p:cNvPr id="56" name="圓角矩形 55"/>
            <p:cNvSpPr/>
            <p:nvPr/>
          </p:nvSpPr>
          <p:spPr>
            <a:xfrm>
              <a:off x="5340016" y="5441046"/>
              <a:ext cx="2889849" cy="1511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8229865" y="5331937"/>
              <a:ext cx="8066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level 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5340016" y="6084004"/>
            <a:ext cx="3696480" cy="369332"/>
            <a:chOff x="5340016" y="6084004"/>
            <a:chExt cx="3696480" cy="369332"/>
          </a:xfrm>
        </p:grpSpPr>
        <p:sp>
          <p:nvSpPr>
            <p:cNvPr id="57" name="圓角矩形 56"/>
            <p:cNvSpPr/>
            <p:nvPr/>
          </p:nvSpPr>
          <p:spPr>
            <a:xfrm>
              <a:off x="5340016" y="6193113"/>
              <a:ext cx="2889849" cy="1511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8229865" y="6084004"/>
              <a:ext cx="8066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level 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橢圓 6"/>
          <p:cNvSpPr/>
          <p:nvPr/>
        </p:nvSpPr>
        <p:spPr>
          <a:xfrm>
            <a:off x="6707706" y="389975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6707706" y="462459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6707706" y="537221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6707706" y="612271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7148106" y="612271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6273510" y="612271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5773178" y="462459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6061178" y="537221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5485178" y="537221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7624982" y="462459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接點 17"/>
          <p:cNvCxnSpPr>
            <a:stCxn id="7" idx="4"/>
            <a:endCxn id="8" idx="0"/>
          </p:cNvCxnSpPr>
          <p:nvPr/>
        </p:nvCxnSpPr>
        <p:spPr>
          <a:xfrm>
            <a:off x="6851706" y="4187751"/>
            <a:ext cx="0" cy="43684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7" idx="3"/>
            <a:endCxn id="13" idx="7"/>
          </p:cNvCxnSpPr>
          <p:nvPr/>
        </p:nvCxnSpPr>
        <p:spPr>
          <a:xfrm flipH="1">
            <a:off x="6019001" y="4145574"/>
            <a:ext cx="730882" cy="52119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7" idx="5"/>
            <a:endCxn id="16" idx="1"/>
          </p:cNvCxnSpPr>
          <p:nvPr/>
        </p:nvCxnSpPr>
        <p:spPr>
          <a:xfrm>
            <a:off x="6953529" y="4145574"/>
            <a:ext cx="713630" cy="52119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8" idx="4"/>
            <a:endCxn id="9" idx="0"/>
          </p:cNvCxnSpPr>
          <p:nvPr/>
        </p:nvCxnSpPr>
        <p:spPr>
          <a:xfrm>
            <a:off x="6851706" y="4912591"/>
            <a:ext cx="0" cy="4596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13" idx="4"/>
            <a:endCxn id="15" idx="0"/>
          </p:cNvCxnSpPr>
          <p:nvPr/>
        </p:nvCxnSpPr>
        <p:spPr>
          <a:xfrm flipH="1">
            <a:off x="5629178" y="4912591"/>
            <a:ext cx="288000" cy="4596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>
            <a:stCxn id="13" idx="4"/>
            <a:endCxn id="14" idx="0"/>
          </p:cNvCxnSpPr>
          <p:nvPr/>
        </p:nvCxnSpPr>
        <p:spPr>
          <a:xfrm>
            <a:off x="5917178" y="4912591"/>
            <a:ext cx="288000" cy="4596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/>
          <p:cNvCxnSpPr>
            <a:stCxn id="9" idx="4"/>
            <a:endCxn id="10" idx="0"/>
          </p:cNvCxnSpPr>
          <p:nvPr/>
        </p:nvCxnSpPr>
        <p:spPr>
          <a:xfrm>
            <a:off x="6851706" y="5660216"/>
            <a:ext cx="0" cy="46249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>
            <a:stCxn id="9" idx="5"/>
            <a:endCxn id="11" idx="0"/>
          </p:cNvCxnSpPr>
          <p:nvPr/>
        </p:nvCxnSpPr>
        <p:spPr>
          <a:xfrm>
            <a:off x="6953529" y="5618039"/>
            <a:ext cx="338577" cy="50467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>
            <a:stCxn id="9" idx="3"/>
            <a:endCxn id="12" idx="0"/>
          </p:cNvCxnSpPr>
          <p:nvPr/>
        </p:nvCxnSpPr>
        <p:spPr>
          <a:xfrm flipH="1">
            <a:off x="6417510" y="5618039"/>
            <a:ext cx="332373" cy="50467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字方塊 45"/>
          <p:cNvSpPr txBox="1"/>
          <p:nvPr/>
        </p:nvSpPr>
        <p:spPr>
          <a:xfrm>
            <a:off x="6704250" y="383320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5766422" y="458392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6710908" y="455823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7609599" y="456667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5479164" y="5297046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6074373" y="5305672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6709950" y="528225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6261057" y="607341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6726465" y="6076067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7184965" y="6056167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293844" y="511852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0</a:t>
            </a:r>
            <a:endParaRPr lang="zh-TW" alt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5884019" y="512217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0</a:t>
            </a:r>
            <a:endParaRPr lang="zh-TW" alt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6102249" y="587037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0</a:t>
            </a:r>
            <a:endParaRPr lang="zh-TW" alt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6984120" y="586984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0</a:t>
            </a:r>
            <a:endParaRPr lang="zh-TW" alt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6515102" y="586738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0</a:t>
            </a:r>
            <a:endParaRPr lang="zh-TW" alt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7421139" y="437376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0</a:t>
            </a:r>
            <a:endParaRPr lang="zh-TW" alt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5598919" y="435767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1</a:t>
            </a:r>
            <a:endParaRPr lang="zh-TW" alt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6532939" y="512217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1</a:t>
            </a:r>
            <a:endParaRPr lang="zh-TW" alt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6535100" y="436132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2</a:t>
            </a:r>
            <a:endParaRPr lang="zh-TW" alt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6532878" y="361323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3</a:t>
            </a:r>
            <a:endParaRPr lang="zh-TW" alt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5" name="圓角矩形圖說文字 24"/>
          <p:cNvSpPr/>
          <p:nvPr/>
        </p:nvSpPr>
        <p:spPr>
          <a:xfrm>
            <a:off x="6896148" y="2569469"/>
            <a:ext cx="1362887" cy="748238"/>
          </a:xfrm>
          <a:prstGeom prst="wedgeRoundRectCallout">
            <a:avLst>
              <a:gd name="adj1" fmla="val -61633"/>
              <a:gd name="adj2" fmla="val 9946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樹的高度</a:t>
            </a:r>
            <a:endParaRPr lang="en-US" altLang="zh-TW" sz="2000" b="1" dirty="0" smtClean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最大高</a:t>
            </a:r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度</a:t>
            </a:r>
            <a:endParaRPr lang="zh-TW" altLang="en-US" b="1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5640486" y="551819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</a:rPr>
              <a:t>2</a:t>
            </a:r>
            <a:endParaRPr lang="zh-TW" altLang="en-US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6230661" y="552184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</a:rPr>
              <a:t>2</a:t>
            </a:r>
            <a:endParaRPr lang="zh-TW" altLang="en-US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6448891" y="627005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</a:rPr>
              <a:t>3</a:t>
            </a:r>
            <a:endParaRPr lang="zh-TW" altLang="en-US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7330762" y="626952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</a:rPr>
              <a:t>3</a:t>
            </a:r>
            <a:endParaRPr lang="zh-TW" altLang="en-US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6861744" y="626706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</a:rPr>
              <a:t>3</a:t>
            </a:r>
            <a:endParaRPr lang="zh-TW" altLang="en-US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78" name="文字方塊 77"/>
          <p:cNvSpPr txBox="1"/>
          <p:nvPr/>
        </p:nvSpPr>
        <p:spPr>
          <a:xfrm>
            <a:off x="7767781" y="477344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</a:rPr>
              <a:t>1</a:t>
            </a:r>
            <a:endParaRPr lang="zh-TW" altLang="en-US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5945561" y="47573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</a:rPr>
              <a:t>1</a:t>
            </a:r>
            <a:endParaRPr lang="zh-TW" altLang="en-US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6879581" y="552184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</a:rPr>
              <a:t>2</a:t>
            </a:r>
            <a:endParaRPr lang="zh-TW" altLang="en-US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6881742" y="476100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</a:rPr>
              <a:t>1</a:t>
            </a:r>
            <a:endParaRPr lang="zh-TW" altLang="en-US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6879520" y="401291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  <a:latin typeface="+mj-lt"/>
              </a:rPr>
              <a:t>0</a:t>
            </a:r>
            <a:endParaRPr lang="zh-TW" altLang="en-US" b="1" dirty="0">
              <a:solidFill>
                <a:srgbClr val="0000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95959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25" grpId="0" animBg="1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樹狀結構專有名詞 </a:t>
            </a:r>
            <a:r>
              <a:rPr lang="en-US" altLang="zh-TW" dirty="0" smtClean="0"/>
              <a:t>(2/2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森林</a:t>
            </a:r>
            <a:r>
              <a:rPr lang="en-US" altLang="zh-TW" dirty="0" smtClean="0"/>
              <a:t>(forest)</a:t>
            </a:r>
          </a:p>
          <a:p>
            <a:pPr lvl="1"/>
            <a:r>
              <a:rPr lang="zh-TW" altLang="en-US" dirty="0" smtClean="0"/>
              <a:t>由</a:t>
            </a:r>
            <a:r>
              <a:rPr lang="en-US" altLang="zh-TW" i="1" dirty="0" smtClean="0"/>
              <a:t>n</a:t>
            </a:r>
            <a:r>
              <a:rPr lang="zh-TW" altLang="en-US" dirty="0" smtClean="0"/>
              <a:t>個互斥樹</a:t>
            </a:r>
            <a:r>
              <a:rPr lang="en-US" altLang="zh-TW" dirty="0" smtClean="0"/>
              <a:t>(disjoint trees)</a:t>
            </a:r>
            <a:r>
              <a:rPr lang="zh-TW" altLang="en-US" dirty="0" smtClean="0"/>
              <a:t>所組合而成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將樹根移除即形成樹</a:t>
            </a:r>
            <a:r>
              <a:rPr lang="zh-TW" altLang="en-US" dirty="0"/>
              <a:t>林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6" name="橢圓 65"/>
          <p:cNvSpPr/>
          <p:nvPr/>
        </p:nvSpPr>
        <p:spPr>
          <a:xfrm>
            <a:off x="4180585" y="355240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橢圓 66"/>
          <p:cNvSpPr/>
          <p:nvPr/>
        </p:nvSpPr>
        <p:spPr>
          <a:xfrm>
            <a:off x="4180585" y="430003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橢圓 67"/>
          <p:cNvSpPr/>
          <p:nvPr/>
        </p:nvSpPr>
        <p:spPr>
          <a:xfrm>
            <a:off x="4180585" y="50505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橢圓 68"/>
          <p:cNvSpPr/>
          <p:nvPr/>
        </p:nvSpPr>
        <p:spPr>
          <a:xfrm>
            <a:off x="4620985" y="50505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橢圓 69"/>
          <p:cNvSpPr/>
          <p:nvPr/>
        </p:nvSpPr>
        <p:spPr>
          <a:xfrm>
            <a:off x="3746389" y="50505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橢圓 70"/>
          <p:cNvSpPr/>
          <p:nvPr/>
        </p:nvSpPr>
        <p:spPr>
          <a:xfrm>
            <a:off x="3246057" y="355240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橢圓 71"/>
          <p:cNvSpPr/>
          <p:nvPr/>
        </p:nvSpPr>
        <p:spPr>
          <a:xfrm>
            <a:off x="3534057" y="430003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橢圓 72"/>
          <p:cNvSpPr/>
          <p:nvPr/>
        </p:nvSpPr>
        <p:spPr>
          <a:xfrm>
            <a:off x="2958057" y="430003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橢圓 73"/>
          <p:cNvSpPr/>
          <p:nvPr/>
        </p:nvSpPr>
        <p:spPr>
          <a:xfrm>
            <a:off x="5097861" y="355240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5" name="直線接點 74"/>
          <p:cNvCxnSpPr>
            <a:stCxn id="65" idx="4"/>
            <a:endCxn id="66" idx="0"/>
          </p:cNvCxnSpPr>
          <p:nvPr/>
        </p:nvCxnSpPr>
        <p:spPr>
          <a:xfrm>
            <a:off x="4324585" y="3115568"/>
            <a:ext cx="0" cy="43684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>
            <a:stCxn id="65" idx="3"/>
            <a:endCxn id="71" idx="7"/>
          </p:cNvCxnSpPr>
          <p:nvPr/>
        </p:nvCxnSpPr>
        <p:spPr>
          <a:xfrm flipH="1">
            <a:off x="3491880" y="3073391"/>
            <a:ext cx="730882" cy="52119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>
            <a:stCxn id="65" idx="5"/>
            <a:endCxn id="74" idx="1"/>
          </p:cNvCxnSpPr>
          <p:nvPr/>
        </p:nvCxnSpPr>
        <p:spPr>
          <a:xfrm>
            <a:off x="4426408" y="3073391"/>
            <a:ext cx="713630" cy="52119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>
            <a:stCxn id="66" idx="4"/>
            <a:endCxn id="67" idx="0"/>
          </p:cNvCxnSpPr>
          <p:nvPr/>
        </p:nvCxnSpPr>
        <p:spPr>
          <a:xfrm>
            <a:off x="4324585" y="3840408"/>
            <a:ext cx="0" cy="4596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>
            <a:stCxn id="71" idx="4"/>
            <a:endCxn id="73" idx="0"/>
          </p:cNvCxnSpPr>
          <p:nvPr/>
        </p:nvCxnSpPr>
        <p:spPr>
          <a:xfrm flipH="1">
            <a:off x="3102057" y="3840408"/>
            <a:ext cx="288000" cy="4596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>
            <a:stCxn id="71" idx="4"/>
            <a:endCxn id="72" idx="0"/>
          </p:cNvCxnSpPr>
          <p:nvPr/>
        </p:nvCxnSpPr>
        <p:spPr>
          <a:xfrm>
            <a:off x="3390057" y="3840408"/>
            <a:ext cx="288000" cy="4596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>
            <a:stCxn id="67" idx="4"/>
            <a:endCxn id="68" idx="0"/>
          </p:cNvCxnSpPr>
          <p:nvPr/>
        </p:nvCxnSpPr>
        <p:spPr>
          <a:xfrm>
            <a:off x="4324585" y="4588033"/>
            <a:ext cx="0" cy="46249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>
            <a:stCxn id="67" idx="5"/>
            <a:endCxn id="69" idx="0"/>
          </p:cNvCxnSpPr>
          <p:nvPr/>
        </p:nvCxnSpPr>
        <p:spPr>
          <a:xfrm>
            <a:off x="4426408" y="4545856"/>
            <a:ext cx="338577" cy="50467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>
            <a:stCxn id="67" idx="3"/>
            <a:endCxn id="70" idx="0"/>
          </p:cNvCxnSpPr>
          <p:nvPr/>
        </p:nvCxnSpPr>
        <p:spPr>
          <a:xfrm flipH="1">
            <a:off x="3890389" y="4545856"/>
            <a:ext cx="332373" cy="50467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群組 46"/>
          <p:cNvGrpSpPr/>
          <p:nvPr/>
        </p:nvGrpSpPr>
        <p:grpSpPr>
          <a:xfrm>
            <a:off x="4177129" y="2761024"/>
            <a:ext cx="300082" cy="369332"/>
            <a:chOff x="4177129" y="2180529"/>
            <a:chExt cx="300082" cy="369332"/>
          </a:xfrm>
        </p:grpSpPr>
        <p:sp>
          <p:nvSpPr>
            <p:cNvPr id="65" name="橢圓 64"/>
            <p:cNvSpPr/>
            <p:nvPr/>
          </p:nvSpPr>
          <p:spPr>
            <a:xfrm>
              <a:off x="4180585" y="224707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文字方塊 83"/>
            <p:cNvSpPr txBox="1"/>
            <p:nvPr/>
          </p:nvSpPr>
          <p:spPr>
            <a:xfrm>
              <a:off x="4177129" y="218052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" name="文字方塊 84"/>
          <p:cNvSpPr txBox="1"/>
          <p:nvPr/>
        </p:nvSpPr>
        <p:spPr>
          <a:xfrm>
            <a:off x="3239301" y="351174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4183787" y="3486047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5082478" y="34944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2952043" y="4224863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3547252" y="4233489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4182829" y="421007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字方塊 90"/>
          <p:cNvSpPr txBox="1"/>
          <p:nvPr/>
        </p:nvSpPr>
        <p:spPr>
          <a:xfrm>
            <a:off x="3733936" y="50012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字方塊 91"/>
          <p:cNvSpPr txBox="1"/>
          <p:nvPr/>
        </p:nvSpPr>
        <p:spPr>
          <a:xfrm>
            <a:off x="4199344" y="5003884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文字方塊 92"/>
          <p:cNvSpPr txBox="1"/>
          <p:nvPr/>
        </p:nvSpPr>
        <p:spPr>
          <a:xfrm>
            <a:off x="4657844" y="4983984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422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樹的表示方法 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4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2411776" y="328671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2411776" y="403434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2411776" y="47848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2852176" y="47848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1977580" y="47848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1477248" y="328671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1765248" y="403434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1189248" y="403434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3329052" y="328671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26" idx="4"/>
            <a:endCxn id="7" idx="0"/>
          </p:cNvCxnSpPr>
          <p:nvPr/>
        </p:nvCxnSpPr>
        <p:spPr>
          <a:xfrm>
            <a:off x="2555776" y="2849876"/>
            <a:ext cx="0" cy="43684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26" idx="3"/>
            <a:endCxn id="12" idx="7"/>
          </p:cNvCxnSpPr>
          <p:nvPr/>
        </p:nvCxnSpPr>
        <p:spPr>
          <a:xfrm flipH="1">
            <a:off x="1723071" y="2807699"/>
            <a:ext cx="730882" cy="52119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26" idx="5"/>
            <a:endCxn id="15" idx="1"/>
          </p:cNvCxnSpPr>
          <p:nvPr/>
        </p:nvCxnSpPr>
        <p:spPr>
          <a:xfrm>
            <a:off x="2657599" y="2807699"/>
            <a:ext cx="713630" cy="52119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7" idx="4"/>
            <a:endCxn id="8" idx="0"/>
          </p:cNvCxnSpPr>
          <p:nvPr/>
        </p:nvCxnSpPr>
        <p:spPr>
          <a:xfrm>
            <a:off x="2555776" y="3574716"/>
            <a:ext cx="0" cy="4596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2" idx="4"/>
            <a:endCxn id="14" idx="0"/>
          </p:cNvCxnSpPr>
          <p:nvPr/>
        </p:nvCxnSpPr>
        <p:spPr>
          <a:xfrm flipH="1">
            <a:off x="1333248" y="3574716"/>
            <a:ext cx="288000" cy="4596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2" idx="4"/>
            <a:endCxn id="13" idx="0"/>
          </p:cNvCxnSpPr>
          <p:nvPr/>
        </p:nvCxnSpPr>
        <p:spPr>
          <a:xfrm>
            <a:off x="1621248" y="3574716"/>
            <a:ext cx="288000" cy="4596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8" idx="4"/>
            <a:endCxn id="9" idx="0"/>
          </p:cNvCxnSpPr>
          <p:nvPr/>
        </p:nvCxnSpPr>
        <p:spPr>
          <a:xfrm>
            <a:off x="2555776" y="4322341"/>
            <a:ext cx="0" cy="46249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8" idx="5"/>
            <a:endCxn id="10" idx="0"/>
          </p:cNvCxnSpPr>
          <p:nvPr/>
        </p:nvCxnSpPr>
        <p:spPr>
          <a:xfrm>
            <a:off x="2657599" y="4280164"/>
            <a:ext cx="338577" cy="50467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8" idx="3"/>
            <a:endCxn id="11" idx="0"/>
          </p:cNvCxnSpPr>
          <p:nvPr/>
        </p:nvCxnSpPr>
        <p:spPr>
          <a:xfrm flipH="1">
            <a:off x="2121580" y="4280164"/>
            <a:ext cx="332373" cy="50467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群組 24"/>
          <p:cNvGrpSpPr/>
          <p:nvPr/>
        </p:nvGrpSpPr>
        <p:grpSpPr>
          <a:xfrm>
            <a:off x="2408320" y="2495332"/>
            <a:ext cx="300082" cy="369332"/>
            <a:chOff x="4177129" y="2180529"/>
            <a:chExt cx="300082" cy="369332"/>
          </a:xfrm>
        </p:grpSpPr>
        <p:sp>
          <p:nvSpPr>
            <p:cNvPr id="26" name="橢圓 25"/>
            <p:cNvSpPr/>
            <p:nvPr/>
          </p:nvSpPr>
          <p:spPr>
            <a:xfrm>
              <a:off x="4180585" y="224707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4177129" y="218052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文字方塊 27"/>
          <p:cNvSpPr txBox="1"/>
          <p:nvPr/>
        </p:nvSpPr>
        <p:spPr>
          <a:xfrm>
            <a:off x="1470492" y="324605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414978" y="3220355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3313669" y="32287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1183234" y="395917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1778443" y="3967797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2414020" y="394438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1965127" y="47355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2430535" y="4738192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2889035" y="4718292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5148064" y="2722275"/>
            <a:ext cx="26581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smtClean="0">
                <a:latin typeface="+mj-lt"/>
              </a:rPr>
              <a:t>a</a:t>
            </a:r>
            <a:r>
              <a:rPr lang="en-US" altLang="zh-TW" sz="2000" b="1" dirty="0" smtClean="0">
                <a:latin typeface="+mj-lt"/>
              </a:rPr>
              <a:t>(</a:t>
            </a:r>
            <a:r>
              <a:rPr lang="en-US" altLang="zh-TW" sz="2000" b="1" i="1" dirty="0" smtClean="0">
                <a:latin typeface="+mj-lt"/>
              </a:rPr>
              <a:t>b</a:t>
            </a:r>
            <a:r>
              <a:rPr lang="en-US" altLang="zh-TW" sz="2000" b="1" dirty="0" smtClean="0">
                <a:latin typeface="+mj-lt"/>
              </a:rPr>
              <a:t>(</a:t>
            </a:r>
            <a:r>
              <a:rPr lang="en-US" altLang="zh-TW" sz="2000" b="1" i="1" dirty="0" smtClean="0">
                <a:latin typeface="+mj-lt"/>
              </a:rPr>
              <a:t>e</a:t>
            </a:r>
            <a:r>
              <a:rPr lang="en-US" altLang="zh-TW" sz="2000" b="1" dirty="0" smtClean="0">
                <a:latin typeface="+mj-lt"/>
              </a:rPr>
              <a:t>, </a:t>
            </a:r>
            <a:r>
              <a:rPr lang="en-US" altLang="zh-TW" sz="2000" b="1" i="1" dirty="0" smtClean="0">
                <a:latin typeface="+mj-lt"/>
              </a:rPr>
              <a:t>f</a:t>
            </a:r>
            <a:r>
              <a:rPr lang="en-US" altLang="zh-TW" sz="2000" b="1" dirty="0" smtClean="0">
                <a:latin typeface="+mj-lt"/>
              </a:rPr>
              <a:t>), </a:t>
            </a:r>
            <a:r>
              <a:rPr lang="en-US" altLang="zh-TW" sz="2000" b="1" i="1" dirty="0" smtClean="0">
                <a:latin typeface="+mj-lt"/>
              </a:rPr>
              <a:t>c</a:t>
            </a:r>
            <a:r>
              <a:rPr lang="en-US" altLang="zh-TW" sz="2000" b="1" dirty="0" smtClean="0">
                <a:latin typeface="+mj-lt"/>
              </a:rPr>
              <a:t>(</a:t>
            </a:r>
            <a:r>
              <a:rPr lang="en-US" altLang="zh-TW" sz="2000" b="1" i="1" dirty="0" smtClean="0">
                <a:latin typeface="+mj-lt"/>
              </a:rPr>
              <a:t>g</a:t>
            </a:r>
            <a:r>
              <a:rPr lang="en-US" altLang="zh-TW" sz="2000" b="1" dirty="0" smtClean="0">
                <a:latin typeface="+mj-lt"/>
              </a:rPr>
              <a:t>(</a:t>
            </a:r>
            <a:r>
              <a:rPr lang="en-US" altLang="zh-TW" sz="2000" b="1" i="1" dirty="0" smtClean="0">
                <a:latin typeface="+mj-lt"/>
              </a:rPr>
              <a:t>h</a:t>
            </a:r>
            <a:r>
              <a:rPr lang="en-US" altLang="zh-TW" sz="2000" b="1" dirty="0" smtClean="0">
                <a:latin typeface="+mj-lt"/>
              </a:rPr>
              <a:t>, </a:t>
            </a:r>
            <a:r>
              <a:rPr lang="en-US" altLang="zh-TW" sz="2000" b="1" i="1" dirty="0" err="1" smtClean="0">
                <a:latin typeface="+mj-lt"/>
              </a:rPr>
              <a:t>i</a:t>
            </a:r>
            <a:r>
              <a:rPr lang="en-US" altLang="zh-TW" sz="2000" b="1" dirty="0" smtClean="0">
                <a:latin typeface="+mj-lt"/>
              </a:rPr>
              <a:t>, </a:t>
            </a:r>
            <a:r>
              <a:rPr lang="en-US" altLang="zh-TW" sz="2000" b="1" i="1" dirty="0" smtClean="0">
                <a:latin typeface="+mj-lt"/>
              </a:rPr>
              <a:t>j</a:t>
            </a:r>
            <a:r>
              <a:rPr lang="en-US" altLang="zh-TW" sz="2000" b="1" dirty="0" smtClean="0">
                <a:latin typeface="+mj-lt"/>
              </a:rPr>
              <a:t>)), </a:t>
            </a:r>
            <a:r>
              <a:rPr lang="en-US" altLang="zh-TW" sz="2000" b="1" i="1" dirty="0" smtClean="0">
                <a:latin typeface="+mj-lt"/>
              </a:rPr>
              <a:t>d</a:t>
            </a:r>
            <a:r>
              <a:rPr lang="en-US" altLang="zh-TW" sz="2000" b="1" dirty="0" smtClean="0">
                <a:latin typeface="+mj-lt"/>
              </a:rPr>
              <a:t>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689225" y="2467411"/>
            <a:ext cx="11095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smtClean="0">
                <a:latin typeface="+mj-lt"/>
              </a:rPr>
              <a:t>a</a:t>
            </a:r>
            <a:r>
              <a:rPr lang="en-US" altLang="zh-TW" sz="2000" b="1" dirty="0" smtClean="0">
                <a:latin typeface="+mj-lt"/>
              </a:rPr>
              <a:t>(</a:t>
            </a:r>
            <a:r>
              <a:rPr lang="en-US" altLang="zh-TW" sz="2000" b="1" i="1" dirty="0" smtClean="0">
                <a:latin typeface="+mj-lt"/>
              </a:rPr>
              <a:t>b</a:t>
            </a:r>
            <a:r>
              <a:rPr lang="en-US" altLang="zh-TW" sz="2000" b="1" dirty="0" smtClean="0">
                <a:latin typeface="+mj-lt"/>
              </a:rPr>
              <a:t>, </a:t>
            </a:r>
            <a:r>
              <a:rPr lang="en-US" altLang="zh-TW" sz="2000" b="1" i="1" dirty="0" smtClean="0">
                <a:latin typeface="+mj-lt"/>
              </a:rPr>
              <a:t>c</a:t>
            </a:r>
            <a:r>
              <a:rPr lang="en-US" altLang="zh-TW" sz="2000" b="1" dirty="0" smtClean="0">
                <a:latin typeface="+mj-lt"/>
              </a:rPr>
              <a:t>, </a:t>
            </a:r>
            <a:r>
              <a:rPr lang="en-US" altLang="zh-TW" sz="2000" b="1" i="1" dirty="0" smtClean="0">
                <a:latin typeface="+mj-lt"/>
              </a:rPr>
              <a:t>d</a:t>
            </a:r>
            <a:r>
              <a:rPr lang="en-US" altLang="zh-TW" sz="2000" b="1" dirty="0" smtClean="0">
                <a:latin typeface="+mj-lt"/>
              </a:rPr>
              <a:t>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640094" y="3206337"/>
            <a:ext cx="8098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smtClean="0">
                <a:latin typeface="+mj-lt"/>
              </a:rPr>
              <a:t>b</a:t>
            </a:r>
            <a:r>
              <a:rPr lang="en-US" altLang="zh-TW" sz="2000" b="1" dirty="0" smtClean="0">
                <a:latin typeface="+mj-lt"/>
              </a:rPr>
              <a:t>(</a:t>
            </a:r>
            <a:r>
              <a:rPr lang="en-US" altLang="zh-TW" sz="2000" b="1" i="1" dirty="0" smtClean="0">
                <a:latin typeface="+mj-lt"/>
              </a:rPr>
              <a:t>e</a:t>
            </a:r>
            <a:r>
              <a:rPr lang="en-US" altLang="zh-TW" sz="2000" b="1" dirty="0" smtClean="0">
                <a:latin typeface="+mj-lt"/>
              </a:rPr>
              <a:t>, </a:t>
            </a:r>
            <a:r>
              <a:rPr lang="en-US" altLang="zh-TW" sz="2000" b="1" i="1" dirty="0" smtClean="0">
                <a:latin typeface="+mj-lt"/>
              </a:rPr>
              <a:t>f</a:t>
            </a:r>
            <a:r>
              <a:rPr lang="en-US" altLang="zh-TW" sz="2000" b="1" dirty="0" smtClean="0">
                <a:latin typeface="+mj-lt"/>
              </a:rPr>
              <a:t>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2686929" y="3937019"/>
            <a:ext cx="1023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smtClean="0">
                <a:latin typeface="+mj-lt"/>
              </a:rPr>
              <a:t>g</a:t>
            </a:r>
            <a:r>
              <a:rPr lang="en-US" altLang="zh-TW" sz="2000" b="1" dirty="0" smtClean="0">
                <a:latin typeface="+mj-lt"/>
              </a:rPr>
              <a:t>(</a:t>
            </a:r>
            <a:r>
              <a:rPr lang="en-US" altLang="zh-TW" sz="2000" b="1" i="1" dirty="0" smtClean="0">
                <a:latin typeface="+mj-lt"/>
              </a:rPr>
              <a:t>h</a:t>
            </a:r>
            <a:r>
              <a:rPr lang="en-US" altLang="zh-TW" sz="2000" b="1" dirty="0" smtClean="0">
                <a:latin typeface="+mj-lt"/>
              </a:rPr>
              <a:t>, </a:t>
            </a:r>
            <a:r>
              <a:rPr lang="en-US" altLang="zh-TW" sz="2000" b="1" i="1" dirty="0" err="1" smtClean="0">
                <a:latin typeface="+mj-lt"/>
              </a:rPr>
              <a:t>i</a:t>
            </a:r>
            <a:r>
              <a:rPr lang="en-US" altLang="zh-TW" sz="2000" b="1" dirty="0" smtClean="0">
                <a:latin typeface="+mj-lt"/>
              </a:rPr>
              <a:t>, </a:t>
            </a:r>
            <a:r>
              <a:rPr lang="en-US" altLang="zh-TW" sz="2000" b="1" i="1" dirty="0" smtClean="0">
                <a:latin typeface="+mj-lt"/>
              </a:rPr>
              <a:t>j</a:t>
            </a:r>
            <a:r>
              <a:rPr lang="en-US" altLang="zh-TW" sz="2000" b="1" dirty="0" smtClean="0">
                <a:latin typeface="+mj-lt"/>
              </a:rPr>
              <a:t>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2654211" y="3195382"/>
            <a:ext cx="5966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smtClean="0">
                <a:latin typeface="+mj-lt"/>
              </a:rPr>
              <a:t>c</a:t>
            </a:r>
            <a:r>
              <a:rPr lang="en-US" altLang="zh-TW" sz="2000" b="1" dirty="0" smtClean="0">
                <a:latin typeface="+mj-lt"/>
              </a:rPr>
              <a:t>(</a:t>
            </a:r>
            <a:r>
              <a:rPr lang="en-US" altLang="zh-TW" sz="2000" b="1" i="1" dirty="0" smtClean="0">
                <a:latin typeface="+mj-lt"/>
              </a:rPr>
              <a:t>g</a:t>
            </a:r>
            <a:r>
              <a:rPr lang="en-US" altLang="zh-TW" sz="2000" b="1" dirty="0" smtClean="0">
                <a:latin typeface="+mj-lt"/>
              </a:rPr>
              <a:t>)</a:t>
            </a:r>
            <a:endParaRPr lang="zh-TW" altLang="en-US" sz="2000" b="1" dirty="0">
              <a:latin typeface="+mj-lt"/>
            </a:endParaRPr>
          </a:p>
        </p:txBody>
      </p:sp>
      <p:graphicFrame>
        <p:nvGraphicFramePr>
          <p:cNvPr id="50" name="表格 49"/>
          <p:cNvGraphicFramePr>
            <a:graphicFrameLocks noGrp="1"/>
          </p:cNvGraphicFramePr>
          <p:nvPr>
            <p:extLst/>
          </p:nvPr>
        </p:nvGraphicFramePr>
        <p:xfrm>
          <a:off x="4784926" y="3740304"/>
          <a:ext cx="3384376" cy="3708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846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6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data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9900CC"/>
                          </a:solidFill>
                        </a:rPr>
                        <a:t>link 1</a:t>
                      </a:r>
                      <a:endParaRPr lang="zh-TW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9900CC"/>
                          </a:solidFill>
                        </a:rPr>
                        <a:t>link 2</a:t>
                      </a:r>
                      <a:endParaRPr lang="zh-TW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9900CC"/>
                          </a:solidFill>
                        </a:rPr>
                        <a:t>link 3</a:t>
                      </a:r>
                      <a:endParaRPr lang="zh-TW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4184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1" grpId="0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樹的表示方法 </a:t>
            </a:r>
            <a:r>
              <a:rPr lang="en-US" altLang="zh-TW" dirty="0" smtClean="0"/>
              <a:t>(2/2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5</a:t>
            </a:fld>
            <a:endParaRPr lang="en-US" altLang="zh-TW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3131840" y="1618000"/>
          <a:ext cx="3384376" cy="3708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846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6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data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9900CC"/>
                          </a:solidFill>
                        </a:rPr>
                        <a:t>link 1</a:t>
                      </a:r>
                      <a:endParaRPr lang="zh-TW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9900CC"/>
                          </a:solidFill>
                        </a:rPr>
                        <a:t>link 2</a:t>
                      </a:r>
                      <a:endParaRPr lang="zh-TW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9900CC"/>
                          </a:solidFill>
                        </a:rPr>
                        <a:t>link 3</a:t>
                      </a:r>
                      <a:endParaRPr lang="zh-TW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4211960" y="2564904"/>
          <a:ext cx="1224136" cy="3708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06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/>
                        <a:t>a</a:t>
                      </a:r>
                      <a:endParaRPr lang="zh-TW" alt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rgbClr val="9900CC"/>
                          </a:solidFill>
                        </a:rPr>
                        <a:t>b</a:t>
                      </a:r>
                      <a:endParaRPr lang="zh-TW" altLang="en-US" i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rgbClr val="9900CC"/>
                          </a:solidFill>
                        </a:rPr>
                        <a:t>c</a:t>
                      </a:r>
                      <a:endParaRPr lang="zh-TW" altLang="en-US" i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rgbClr val="9900CC"/>
                          </a:solidFill>
                        </a:rPr>
                        <a:t>d</a:t>
                      </a:r>
                      <a:endParaRPr lang="zh-TW" altLang="en-US" i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/>
          </p:nvPr>
        </p:nvGraphicFramePr>
        <p:xfrm>
          <a:off x="2843808" y="5577226"/>
          <a:ext cx="1224136" cy="3708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06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/>
                        <a:t>h</a:t>
                      </a:r>
                      <a:endParaRPr lang="zh-TW" alt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4211960" y="5577226"/>
          <a:ext cx="1224136" cy="3708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06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err="1" smtClean="0"/>
                        <a:t>i</a:t>
                      </a:r>
                      <a:endParaRPr lang="zh-TW" alt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5580112" y="5577226"/>
          <a:ext cx="1224136" cy="3708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06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/>
                        <a:t>j</a:t>
                      </a:r>
                      <a:endParaRPr lang="zh-TW" alt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/>
          </p:nvPr>
        </p:nvGraphicFramePr>
        <p:xfrm>
          <a:off x="4211960" y="4571926"/>
          <a:ext cx="1224136" cy="3708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06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/>
                        <a:t>g</a:t>
                      </a:r>
                      <a:endParaRPr lang="zh-TW" alt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rgbClr val="9900CC"/>
                          </a:solidFill>
                        </a:rPr>
                        <a:t>h</a:t>
                      </a:r>
                      <a:endParaRPr lang="zh-TW" altLang="en-US" i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err="1" smtClean="0">
                          <a:solidFill>
                            <a:srgbClr val="9900CC"/>
                          </a:solidFill>
                        </a:rPr>
                        <a:t>i</a:t>
                      </a:r>
                      <a:endParaRPr lang="zh-TW" altLang="en-US" i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rgbClr val="9900CC"/>
                          </a:solidFill>
                        </a:rPr>
                        <a:t>j</a:t>
                      </a:r>
                      <a:endParaRPr lang="zh-TW" altLang="en-US" i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4211960" y="3570204"/>
          <a:ext cx="1224136" cy="3708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06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/>
                        <a:t>c</a:t>
                      </a:r>
                      <a:endParaRPr lang="zh-TW" alt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rgbClr val="9900CC"/>
                          </a:solidFill>
                        </a:rPr>
                        <a:t>g</a:t>
                      </a:r>
                      <a:endParaRPr lang="zh-TW" altLang="en-US" i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>
            <p:extLst/>
          </p:nvPr>
        </p:nvGraphicFramePr>
        <p:xfrm>
          <a:off x="251520" y="4571926"/>
          <a:ext cx="1224136" cy="3708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06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/>
                        <a:t>e</a:t>
                      </a:r>
                      <a:endParaRPr lang="zh-TW" alt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i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i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i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/>
          </p:nvPr>
        </p:nvGraphicFramePr>
        <p:xfrm>
          <a:off x="1691680" y="4571926"/>
          <a:ext cx="1224136" cy="3708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06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/>
                        <a:t>f</a:t>
                      </a:r>
                      <a:endParaRPr lang="zh-TW" alt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i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i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i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/>
          </p:nvPr>
        </p:nvGraphicFramePr>
        <p:xfrm>
          <a:off x="979056" y="3570204"/>
          <a:ext cx="1224136" cy="3708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06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/>
                        <a:t>b</a:t>
                      </a:r>
                      <a:endParaRPr lang="zh-TW" alt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rgbClr val="9900CC"/>
                          </a:solidFill>
                        </a:rPr>
                        <a:t>e</a:t>
                      </a:r>
                      <a:endParaRPr lang="zh-TW" altLang="en-US" i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>
                          <a:solidFill>
                            <a:srgbClr val="9900CC"/>
                          </a:solidFill>
                        </a:rPr>
                        <a:t>f</a:t>
                      </a:r>
                      <a:endParaRPr lang="zh-TW" altLang="en-US" i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/>
          </p:nvPr>
        </p:nvGraphicFramePr>
        <p:xfrm>
          <a:off x="7444864" y="3570204"/>
          <a:ext cx="1224136" cy="3708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06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 smtClean="0"/>
                        <a:t>d</a:t>
                      </a:r>
                      <a:endParaRPr lang="zh-TW" alt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i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i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i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2" name="直線單箭頭接點 21"/>
          <p:cNvCxnSpPr>
            <a:stCxn id="8" idx="2"/>
            <a:endCxn id="16" idx="0"/>
          </p:cNvCxnSpPr>
          <p:nvPr/>
        </p:nvCxnSpPr>
        <p:spPr>
          <a:xfrm>
            <a:off x="4824028" y="2935744"/>
            <a:ext cx="0" cy="63446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8" idx="2"/>
            <a:endCxn id="19" idx="0"/>
          </p:cNvCxnSpPr>
          <p:nvPr/>
        </p:nvCxnSpPr>
        <p:spPr>
          <a:xfrm flipH="1">
            <a:off x="1591124" y="2935744"/>
            <a:ext cx="3232904" cy="63446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8" idx="2"/>
            <a:endCxn id="20" idx="0"/>
          </p:cNvCxnSpPr>
          <p:nvPr/>
        </p:nvCxnSpPr>
        <p:spPr>
          <a:xfrm>
            <a:off x="4824028" y="2935744"/>
            <a:ext cx="3232904" cy="63446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stCxn id="16" idx="2"/>
            <a:endCxn id="15" idx="0"/>
          </p:cNvCxnSpPr>
          <p:nvPr/>
        </p:nvCxnSpPr>
        <p:spPr>
          <a:xfrm>
            <a:off x="4824028" y="3941044"/>
            <a:ext cx="0" cy="63088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>
            <a:stCxn id="15" idx="2"/>
            <a:endCxn id="13" idx="0"/>
          </p:cNvCxnSpPr>
          <p:nvPr/>
        </p:nvCxnSpPr>
        <p:spPr>
          <a:xfrm>
            <a:off x="4824028" y="4942766"/>
            <a:ext cx="0" cy="63446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>
            <a:stCxn id="15" idx="2"/>
            <a:endCxn id="14" idx="0"/>
          </p:cNvCxnSpPr>
          <p:nvPr/>
        </p:nvCxnSpPr>
        <p:spPr>
          <a:xfrm>
            <a:off x="4824028" y="4942766"/>
            <a:ext cx="1368152" cy="63446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>
            <a:stCxn id="15" idx="2"/>
            <a:endCxn id="12" idx="0"/>
          </p:cNvCxnSpPr>
          <p:nvPr/>
        </p:nvCxnSpPr>
        <p:spPr>
          <a:xfrm flipH="1">
            <a:off x="3455876" y="4942766"/>
            <a:ext cx="1368152" cy="63446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>
            <a:stCxn id="19" idx="2"/>
            <a:endCxn id="17" idx="0"/>
          </p:cNvCxnSpPr>
          <p:nvPr/>
        </p:nvCxnSpPr>
        <p:spPr>
          <a:xfrm flipH="1">
            <a:off x="863588" y="3941044"/>
            <a:ext cx="727536" cy="63088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stCxn id="19" idx="2"/>
            <a:endCxn id="18" idx="0"/>
          </p:cNvCxnSpPr>
          <p:nvPr/>
        </p:nvCxnSpPr>
        <p:spPr>
          <a:xfrm>
            <a:off x="1591124" y="3941044"/>
            <a:ext cx="712624" cy="63088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0" name="圖片 1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01" y="1271053"/>
            <a:ext cx="1985110" cy="2152529"/>
          </a:xfrm>
          <a:prstGeom prst="rect">
            <a:avLst/>
          </a:prstGeom>
        </p:spPr>
      </p:pic>
      <p:sp>
        <p:nvSpPr>
          <p:cNvPr id="111" name="文字方塊 110"/>
          <p:cNvSpPr txBox="1"/>
          <p:nvPr/>
        </p:nvSpPr>
        <p:spPr>
          <a:xfrm>
            <a:off x="6012160" y="2115468"/>
            <a:ext cx="28680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  <a:ea typeface="標楷體" panose="03000509000000000000" pitchFamily="65" charset="-120"/>
              </a:rPr>
              <a:t>10</a:t>
            </a:r>
            <a:r>
              <a:rPr lang="zh-TW" altLang="en-US" sz="2000" b="1" dirty="0" smtClean="0">
                <a:latin typeface="+mj-lt"/>
                <a:ea typeface="標楷體" panose="03000509000000000000" pitchFamily="65" charset="-120"/>
              </a:rPr>
              <a:t>個節點</a:t>
            </a:r>
            <a:endParaRPr lang="en-US" altLang="zh-TW" sz="2000" b="1" dirty="0" smtClean="0">
              <a:latin typeface="+mj-lt"/>
              <a:ea typeface="標楷體" panose="03000509000000000000" pitchFamily="65" charset="-120"/>
            </a:endParaRPr>
          </a:p>
          <a:p>
            <a:r>
              <a:rPr lang="zh-TW" altLang="en-US" sz="2000" b="1" dirty="0" smtClean="0">
                <a:latin typeface="+mj-lt"/>
                <a:ea typeface="標楷體" panose="03000509000000000000" pitchFamily="65" charset="-120"/>
              </a:rPr>
              <a:t>分支度：</a:t>
            </a:r>
            <a:r>
              <a:rPr lang="en-US" altLang="zh-TW" sz="2000" b="1" dirty="0" smtClean="0">
                <a:latin typeface="+mj-lt"/>
                <a:ea typeface="標楷體" panose="03000509000000000000" pitchFamily="65" charset="-120"/>
              </a:rPr>
              <a:t>3</a:t>
            </a:r>
          </a:p>
          <a:p>
            <a:r>
              <a:rPr lang="zh-TW" altLang="en-US" sz="2000" b="1" dirty="0" smtClean="0">
                <a:latin typeface="+mj-lt"/>
                <a:ea typeface="標楷體" panose="03000509000000000000" pitchFamily="65" charset="-120"/>
              </a:rPr>
              <a:t>共需要 </a:t>
            </a:r>
            <a:r>
              <a:rPr lang="en-US" altLang="zh-TW" sz="2000" b="1" dirty="0" smtClean="0">
                <a:latin typeface="+mj-lt"/>
                <a:ea typeface="標楷體" panose="03000509000000000000" pitchFamily="65" charset="-120"/>
              </a:rPr>
              <a:t>10 </a:t>
            </a:r>
            <a:r>
              <a:rPr lang="en-US" altLang="zh-TW" sz="2000" b="1" dirty="0" smtClean="0">
                <a:latin typeface="+mj-lt"/>
                <a:ea typeface="標楷體" panose="03000509000000000000" pitchFamily="65" charset="-120"/>
                <a:sym typeface="Symbol" panose="05050102010706020507" pitchFamily="18" charset="2"/>
              </a:rPr>
              <a:t> 3</a:t>
            </a:r>
            <a:r>
              <a:rPr lang="zh-TW" altLang="en-US" sz="2000" b="1" dirty="0" smtClean="0">
                <a:latin typeface="+mj-lt"/>
                <a:ea typeface="標楷體" panose="03000509000000000000" pitchFamily="65" charset="-120"/>
                <a:sym typeface="Symbol" panose="05050102010706020507" pitchFamily="18" charset="2"/>
              </a:rPr>
              <a:t>個</a:t>
            </a:r>
            <a:r>
              <a:rPr lang="en-US" altLang="zh-TW" sz="2000" b="1" dirty="0" smtClean="0">
                <a:latin typeface="+mj-lt"/>
                <a:ea typeface="標楷體" panose="03000509000000000000" pitchFamily="65" charset="-120"/>
                <a:sym typeface="Symbol" panose="05050102010706020507" pitchFamily="18" charset="2"/>
              </a:rPr>
              <a:t>link</a:t>
            </a:r>
            <a:r>
              <a:rPr lang="zh-TW" altLang="en-US" sz="2000" b="1" dirty="0" smtClean="0">
                <a:latin typeface="+mj-lt"/>
                <a:ea typeface="標楷體" panose="03000509000000000000" pitchFamily="65" charset="-120"/>
                <a:sym typeface="Symbol" panose="05050102010706020507" pitchFamily="18" charset="2"/>
              </a:rPr>
              <a:t>欄位</a:t>
            </a:r>
            <a:endParaRPr lang="zh-TW" altLang="en-US" sz="2000" b="1" dirty="0"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112" name="文字方塊 111"/>
          <p:cNvSpPr txBox="1"/>
          <p:nvPr/>
        </p:nvSpPr>
        <p:spPr>
          <a:xfrm>
            <a:off x="6012160" y="4239152"/>
            <a:ext cx="2754280" cy="1015663"/>
          </a:xfrm>
          <a:prstGeom prst="rect">
            <a:avLst/>
          </a:prstGeom>
          <a:solidFill>
            <a:srgbClr val="FFFFCC"/>
          </a:solidFill>
          <a:ln>
            <a:solidFill>
              <a:srgbClr val="BBE0E3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i="1" dirty="0" smtClean="0">
                <a:latin typeface="+mj-lt"/>
                <a:ea typeface="標楷體" panose="03000509000000000000" pitchFamily="65" charset="-120"/>
              </a:rPr>
              <a:t>n</a:t>
            </a:r>
            <a:r>
              <a:rPr lang="zh-TW" altLang="en-US" sz="2000" b="1" dirty="0" smtClean="0">
                <a:latin typeface="+mj-lt"/>
                <a:ea typeface="標楷體" panose="03000509000000000000" pitchFamily="65" charset="-120"/>
              </a:rPr>
              <a:t>個節點</a:t>
            </a:r>
            <a:endParaRPr lang="en-US" altLang="zh-TW" sz="2000" b="1" dirty="0" smtClean="0">
              <a:latin typeface="+mj-lt"/>
              <a:ea typeface="標楷體" panose="03000509000000000000" pitchFamily="65" charset="-120"/>
            </a:endParaRPr>
          </a:p>
          <a:p>
            <a:r>
              <a:rPr lang="zh-TW" altLang="en-US" sz="2000" b="1" dirty="0" smtClean="0">
                <a:latin typeface="+mj-lt"/>
                <a:ea typeface="標楷體" panose="03000509000000000000" pitchFamily="65" charset="-120"/>
              </a:rPr>
              <a:t>分支度：</a:t>
            </a:r>
            <a:r>
              <a:rPr lang="en-US" altLang="zh-TW" sz="2000" b="1" i="1" dirty="0" smtClean="0">
                <a:latin typeface="+mj-lt"/>
                <a:ea typeface="標楷體" panose="03000509000000000000" pitchFamily="65" charset="-120"/>
              </a:rPr>
              <a:t>k</a:t>
            </a:r>
          </a:p>
          <a:p>
            <a:r>
              <a:rPr lang="zh-TW" altLang="en-US" sz="2000" b="1" dirty="0" smtClean="0">
                <a:latin typeface="+mj-lt"/>
                <a:ea typeface="標楷體" panose="03000509000000000000" pitchFamily="65" charset="-120"/>
              </a:rPr>
              <a:t>共需要 </a:t>
            </a:r>
            <a:r>
              <a:rPr lang="en-US" altLang="zh-TW" sz="2000" b="1" i="1" dirty="0" smtClean="0">
                <a:latin typeface="+mj-lt"/>
                <a:ea typeface="標楷體" panose="03000509000000000000" pitchFamily="65" charset="-120"/>
              </a:rPr>
              <a:t>n</a:t>
            </a:r>
            <a:r>
              <a:rPr lang="en-US" altLang="zh-TW" sz="2000" b="1" dirty="0" smtClean="0"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2000" b="1" dirty="0" smtClean="0">
                <a:latin typeface="+mj-lt"/>
                <a:ea typeface="標楷體" panose="03000509000000000000" pitchFamily="65" charset="-120"/>
                <a:sym typeface="Symbol" panose="05050102010706020507" pitchFamily="18" charset="2"/>
              </a:rPr>
              <a:t> </a:t>
            </a:r>
            <a:r>
              <a:rPr lang="en-US" altLang="zh-TW" sz="2000" b="1" i="1" dirty="0" smtClean="0">
                <a:latin typeface="+mj-lt"/>
                <a:ea typeface="標楷體" panose="03000509000000000000" pitchFamily="65" charset="-120"/>
                <a:sym typeface="Symbol" panose="05050102010706020507" pitchFamily="18" charset="2"/>
              </a:rPr>
              <a:t>k</a:t>
            </a:r>
            <a:r>
              <a:rPr lang="zh-TW" altLang="en-US" sz="2000" b="1" dirty="0" smtClean="0">
                <a:latin typeface="+mj-lt"/>
                <a:ea typeface="標楷體" panose="03000509000000000000" pitchFamily="65" charset="-120"/>
                <a:sym typeface="Symbol" panose="05050102010706020507" pitchFamily="18" charset="2"/>
              </a:rPr>
              <a:t>個</a:t>
            </a:r>
            <a:r>
              <a:rPr lang="en-US" altLang="zh-TW" sz="2000" b="1" dirty="0" smtClean="0">
                <a:latin typeface="+mj-lt"/>
                <a:ea typeface="標楷體" panose="03000509000000000000" pitchFamily="65" charset="-120"/>
                <a:sym typeface="Symbol" panose="05050102010706020507" pitchFamily="18" charset="2"/>
              </a:rPr>
              <a:t>link</a:t>
            </a:r>
            <a:r>
              <a:rPr lang="zh-TW" altLang="en-US" sz="2000" b="1" dirty="0" smtClean="0">
                <a:latin typeface="+mj-lt"/>
                <a:ea typeface="標楷體" panose="03000509000000000000" pitchFamily="65" charset="-120"/>
                <a:sym typeface="Symbol" panose="05050102010706020507" pitchFamily="18" charset="2"/>
              </a:rPr>
              <a:t>欄位</a:t>
            </a:r>
            <a:endParaRPr lang="zh-TW" altLang="en-US" sz="2000" b="1" dirty="0">
              <a:latin typeface="+mj-lt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9902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  <p:bldP spid="1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二元樹 </a:t>
            </a:r>
            <a:r>
              <a:rPr lang="en-US" altLang="zh-TW" dirty="0" smtClean="0"/>
              <a:t>binary tree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定義：二元樹是由節點所組成的有限集合，這個集合不是</a:t>
            </a:r>
            <a:r>
              <a:rPr lang="zh-TW" altLang="en-US" dirty="0" smtClean="0">
                <a:solidFill>
                  <a:srgbClr val="0000FF"/>
                </a:solidFill>
              </a:rPr>
              <a:t>空集合</a:t>
            </a:r>
            <a:r>
              <a:rPr lang="zh-TW" altLang="en-US" dirty="0" smtClean="0"/>
              <a:t>，就是由</a:t>
            </a:r>
            <a:r>
              <a:rPr lang="zh-TW" altLang="en-US" dirty="0" smtClean="0">
                <a:solidFill>
                  <a:srgbClr val="C00000"/>
                </a:solidFill>
              </a:rPr>
              <a:t>樹根</a:t>
            </a:r>
            <a:r>
              <a:rPr lang="en-US" altLang="zh-TW" dirty="0" smtClean="0">
                <a:solidFill>
                  <a:srgbClr val="C00000"/>
                </a:solidFill>
              </a:rPr>
              <a:t>(root)</a:t>
            </a:r>
            <a:r>
              <a:rPr lang="zh-TW" altLang="en-US" dirty="0" smtClean="0"/>
              <a:t>、</a:t>
            </a:r>
            <a:r>
              <a:rPr lang="zh-TW" altLang="en-US" dirty="0" smtClean="0">
                <a:solidFill>
                  <a:srgbClr val="C00000"/>
                </a:solidFill>
              </a:rPr>
              <a:t>左子樹</a:t>
            </a:r>
            <a:r>
              <a:rPr lang="en-US" altLang="zh-TW" dirty="0" smtClean="0">
                <a:solidFill>
                  <a:srgbClr val="C00000"/>
                </a:solidFill>
              </a:rPr>
              <a:t>(left subtree)</a:t>
            </a:r>
            <a:r>
              <a:rPr lang="zh-TW" altLang="en-US" dirty="0" smtClean="0"/>
              <a:t>和</a:t>
            </a:r>
            <a:r>
              <a:rPr lang="zh-TW" altLang="en-US" dirty="0" smtClean="0">
                <a:solidFill>
                  <a:srgbClr val="C00000"/>
                </a:solidFill>
              </a:rPr>
              <a:t>右子樹</a:t>
            </a:r>
            <a:r>
              <a:rPr lang="en-US" altLang="zh-TW" dirty="0" smtClean="0">
                <a:solidFill>
                  <a:srgbClr val="C00000"/>
                </a:solidFill>
              </a:rPr>
              <a:t>(right subtree)</a:t>
            </a:r>
            <a:r>
              <a:rPr lang="zh-TW" altLang="en-US" dirty="0" smtClean="0"/>
              <a:t>所組成。</a:t>
            </a:r>
            <a:endParaRPr lang="en-US" altLang="zh-TW" dirty="0" smtClean="0"/>
          </a:p>
          <a:p>
            <a:pPr lvl="1"/>
            <a:r>
              <a:rPr lang="en-US" altLang="zh-TW" dirty="0" smtClean="0">
                <a:solidFill>
                  <a:srgbClr val="0000FF"/>
                </a:solidFill>
              </a:rPr>
              <a:t>Binary tree </a:t>
            </a:r>
            <a:r>
              <a:rPr lang="en-US" altLang="zh-TW" i="1" dirty="0" smtClean="0">
                <a:solidFill>
                  <a:srgbClr val="0000FF"/>
                </a:solidFill>
              </a:rPr>
              <a:t>T</a:t>
            </a:r>
            <a:r>
              <a:rPr lang="en-US" altLang="zh-TW" dirty="0" smtClean="0">
                <a:solidFill>
                  <a:srgbClr val="0000FF"/>
                </a:solidFill>
              </a:rPr>
              <a:t> = {root, left subtree, right subtree}</a:t>
            </a:r>
          </a:p>
          <a:p>
            <a:pPr lvl="1"/>
            <a:r>
              <a:rPr lang="zh-TW" altLang="en-US" dirty="0" smtClean="0"/>
              <a:t>若一棵樹的內部節點</a:t>
            </a:r>
            <a:r>
              <a:rPr lang="zh-TW" altLang="en-US" dirty="0" smtClean="0">
                <a:solidFill>
                  <a:srgbClr val="C00000"/>
                </a:solidFill>
              </a:rPr>
              <a:t>最多只有兩個子節點</a:t>
            </a:r>
            <a:r>
              <a:rPr lang="zh-TW" altLang="en-US" dirty="0" smtClean="0"/>
              <a:t>，則稱此樹為二元樹。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8" name="群組 7"/>
          <p:cNvGrpSpPr/>
          <p:nvPr/>
        </p:nvGrpSpPr>
        <p:grpSpPr>
          <a:xfrm>
            <a:off x="179512" y="2926822"/>
            <a:ext cx="3933627" cy="3297061"/>
            <a:chOff x="2559000" y="2351149"/>
            <a:chExt cx="3933627" cy="3297061"/>
          </a:xfrm>
        </p:grpSpPr>
        <p:sp>
          <p:nvSpPr>
            <p:cNvPr id="7" name="橢圓 6"/>
            <p:cNvSpPr/>
            <p:nvPr/>
          </p:nvSpPr>
          <p:spPr>
            <a:xfrm>
              <a:off x="4447285" y="235114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3435123" y="307598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3723123" y="382361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3147123" y="382361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5442195" y="307598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" name="直線接點 17"/>
            <p:cNvCxnSpPr>
              <a:stCxn id="7" idx="3"/>
              <a:endCxn id="13" idx="7"/>
            </p:cNvCxnSpPr>
            <p:nvPr/>
          </p:nvCxnSpPr>
          <p:spPr>
            <a:xfrm flipH="1">
              <a:off x="3680946" y="2596972"/>
              <a:ext cx="808516" cy="52119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>
              <a:stCxn id="7" idx="5"/>
              <a:endCxn id="16" idx="1"/>
            </p:cNvCxnSpPr>
            <p:nvPr/>
          </p:nvCxnSpPr>
          <p:spPr>
            <a:xfrm>
              <a:off x="4693108" y="2596972"/>
              <a:ext cx="791264" cy="52119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>
              <a:stCxn id="13" idx="4"/>
              <a:endCxn id="15" idx="0"/>
            </p:cNvCxnSpPr>
            <p:nvPr/>
          </p:nvCxnSpPr>
          <p:spPr>
            <a:xfrm flipH="1">
              <a:off x="3291123" y="3363989"/>
              <a:ext cx="288000" cy="4596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>
              <a:stCxn id="13" idx="4"/>
              <a:endCxn id="14" idx="0"/>
            </p:cNvCxnSpPr>
            <p:nvPr/>
          </p:nvCxnSpPr>
          <p:spPr>
            <a:xfrm>
              <a:off x="3579123" y="3363989"/>
              <a:ext cx="288000" cy="4596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橢圓 35"/>
            <p:cNvSpPr/>
            <p:nvPr/>
          </p:nvSpPr>
          <p:spPr>
            <a:xfrm>
              <a:off x="2847000" y="461231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橢圓 36"/>
            <p:cNvSpPr/>
            <p:nvPr/>
          </p:nvSpPr>
          <p:spPr>
            <a:xfrm>
              <a:off x="3135000" y="535993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橢圓 37"/>
            <p:cNvSpPr/>
            <p:nvPr/>
          </p:nvSpPr>
          <p:spPr>
            <a:xfrm>
              <a:off x="2559000" y="535993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9" name="直線接點 38"/>
            <p:cNvCxnSpPr>
              <a:stCxn id="36" idx="4"/>
              <a:endCxn id="38" idx="0"/>
            </p:cNvCxnSpPr>
            <p:nvPr/>
          </p:nvCxnSpPr>
          <p:spPr>
            <a:xfrm flipH="1">
              <a:off x="2703000" y="4900311"/>
              <a:ext cx="288000" cy="4596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/>
            <p:cNvCxnSpPr>
              <a:stCxn id="36" idx="4"/>
              <a:endCxn id="37" idx="0"/>
            </p:cNvCxnSpPr>
            <p:nvPr/>
          </p:nvCxnSpPr>
          <p:spPr>
            <a:xfrm>
              <a:off x="2991000" y="4900311"/>
              <a:ext cx="288000" cy="4596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橢圓 40"/>
            <p:cNvSpPr/>
            <p:nvPr/>
          </p:nvSpPr>
          <p:spPr>
            <a:xfrm>
              <a:off x="3450852" y="461231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2" name="直線接點 41"/>
            <p:cNvCxnSpPr>
              <a:stCxn id="15" idx="4"/>
              <a:endCxn id="41" idx="0"/>
            </p:cNvCxnSpPr>
            <p:nvPr/>
          </p:nvCxnSpPr>
          <p:spPr>
            <a:xfrm>
              <a:off x="3291123" y="4111614"/>
              <a:ext cx="303729" cy="50069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接點 44"/>
            <p:cNvCxnSpPr>
              <a:stCxn id="15" idx="4"/>
              <a:endCxn id="36" idx="0"/>
            </p:cNvCxnSpPr>
            <p:nvPr/>
          </p:nvCxnSpPr>
          <p:spPr>
            <a:xfrm flipH="1">
              <a:off x="2991000" y="4111614"/>
              <a:ext cx="300123" cy="50069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橢圓 47"/>
            <p:cNvSpPr/>
            <p:nvPr/>
          </p:nvSpPr>
          <p:spPr>
            <a:xfrm>
              <a:off x="3758387" y="5360210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9" name="直線接點 48"/>
            <p:cNvCxnSpPr>
              <a:stCxn id="41" idx="4"/>
              <a:endCxn id="48" idx="0"/>
            </p:cNvCxnSpPr>
            <p:nvPr/>
          </p:nvCxnSpPr>
          <p:spPr>
            <a:xfrm>
              <a:off x="3594852" y="4900311"/>
              <a:ext cx="307535" cy="459899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橢圓 51"/>
            <p:cNvSpPr/>
            <p:nvPr/>
          </p:nvSpPr>
          <p:spPr>
            <a:xfrm>
              <a:off x="4994274" y="382361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橢圓 52"/>
            <p:cNvSpPr/>
            <p:nvPr/>
          </p:nvSpPr>
          <p:spPr>
            <a:xfrm>
              <a:off x="4694151" y="461231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橢圓 53"/>
            <p:cNvSpPr/>
            <p:nvPr/>
          </p:nvSpPr>
          <p:spPr>
            <a:xfrm>
              <a:off x="5042533" y="535993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橢圓 54"/>
            <p:cNvSpPr/>
            <p:nvPr/>
          </p:nvSpPr>
          <p:spPr>
            <a:xfrm>
              <a:off x="4406151" y="535993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6" name="直線接點 55"/>
            <p:cNvCxnSpPr>
              <a:stCxn id="53" idx="4"/>
              <a:endCxn id="55" idx="0"/>
            </p:cNvCxnSpPr>
            <p:nvPr/>
          </p:nvCxnSpPr>
          <p:spPr>
            <a:xfrm flipH="1">
              <a:off x="4550151" y="4900311"/>
              <a:ext cx="288000" cy="4596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接點 56"/>
            <p:cNvCxnSpPr>
              <a:stCxn id="58" idx="4"/>
              <a:endCxn id="54" idx="0"/>
            </p:cNvCxnSpPr>
            <p:nvPr/>
          </p:nvCxnSpPr>
          <p:spPr>
            <a:xfrm flipH="1">
              <a:off x="5186533" y="4900311"/>
              <a:ext cx="255470" cy="4596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橢圓 57"/>
            <p:cNvSpPr/>
            <p:nvPr/>
          </p:nvSpPr>
          <p:spPr>
            <a:xfrm>
              <a:off x="5298003" y="461231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9" name="直線接點 58"/>
            <p:cNvCxnSpPr>
              <a:stCxn id="52" idx="4"/>
              <a:endCxn id="58" idx="0"/>
            </p:cNvCxnSpPr>
            <p:nvPr/>
          </p:nvCxnSpPr>
          <p:spPr>
            <a:xfrm>
              <a:off x="5138274" y="4111614"/>
              <a:ext cx="303729" cy="50069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接點 59"/>
            <p:cNvCxnSpPr>
              <a:stCxn id="52" idx="4"/>
              <a:endCxn id="53" idx="0"/>
            </p:cNvCxnSpPr>
            <p:nvPr/>
          </p:nvCxnSpPr>
          <p:spPr>
            <a:xfrm flipH="1">
              <a:off x="4838151" y="4111614"/>
              <a:ext cx="300123" cy="50069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橢圓 60"/>
            <p:cNvSpPr/>
            <p:nvPr/>
          </p:nvSpPr>
          <p:spPr>
            <a:xfrm>
              <a:off x="5605538" y="5360210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2" name="直線接點 61"/>
            <p:cNvCxnSpPr>
              <a:stCxn id="58" idx="4"/>
              <a:endCxn id="61" idx="0"/>
            </p:cNvCxnSpPr>
            <p:nvPr/>
          </p:nvCxnSpPr>
          <p:spPr>
            <a:xfrm>
              <a:off x="5442003" y="4900311"/>
              <a:ext cx="307535" cy="459899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接點 62"/>
            <p:cNvCxnSpPr>
              <a:stCxn id="16" idx="4"/>
              <a:endCxn id="52" idx="0"/>
            </p:cNvCxnSpPr>
            <p:nvPr/>
          </p:nvCxnSpPr>
          <p:spPr>
            <a:xfrm flipH="1">
              <a:off x="5138274" y="3363989"/>
              <a:ext cx="447921" cy="4596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橢圓 66"/>
            <p:cNvSpPr/>
            <p:nvPr/>
          </p:nvSpPr>
          <p:spPr>
            <a:xfrm>
              <a:off x="5651390" y="461231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8" name="直線接點 67"/>
            <p:cNvCxnSpPr>
              <a:stCxn id="69" idx="4"/>
              <a:endCxn id="67" idx="0"/>
            </p:cNvCxnSpPr>
            <p:nvPr/>
          </p:nvCxnSpPr>
          <p:spPr>
            <a:xfrm flipH="1">
              <a:off x="5795390" y="4111614"/>
              <a:ext cx="265237" cy="50069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橢圓 68"/>
            <p:cNvSpPr/>
            <p:nvPr/>
          </p:nvSpPr>
          <p:spPr>
            <a:xfrm>
              <a:off x="5916627" y="382361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橢圓 69"/>
            <p:cNvSpPr/>
            <p:nvPr/>
          </p:nvSpPr>
          <p:spPr>
            <a:xfrm>
              <a:off x="6204627" y="461231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1" name="直線接點 70"/>
            <p:cNvCxnSpPr>
              <a:stCxn id="69" idx="4"/>
              <a:endCxn id="70" idx="0"/>
            </p:cNvCxnSpPr>
            <p:nvPr/>
          </p:nvCxnSpPr>
          <p:spPr>
            <a:xfrm>
              <a:off x="6060627" y="4111614"/>
              <a:ext cx="288000" cy="50069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接點 75"/>
            <p:cNvCxnSpPr>
              <a:stCxn id="16" idx="4"/>
              <a:endCxn id="69" idx="0"/>
            </p:cNvCxnSpPr>
            <p:nvPr/>
          </p:nvCxnSpPr>
          <p:spPr>
            <a:xfrm>
              <a:off x="5586195" y="3363989"/>
              <a:ext cx="474432" cy="4596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群組 8"/>
          <p:cNvGrpSpPr/>
          <p:nvPr/>
        </p:nvGrpSpPr>
        <p:grpSpPr>
          <a:xfrm>
            <a:off x="6458662" y="2926822"/>
            <a:ext cx="2433818" cy="2612192"/>
            <a:chOff x="6496030" y="2932347"/>
            <a:chExt cx="2433818" cy="2612192"/>
          </a:xfrm>
        </p:grpSpPr>
        <p:sp>
          <p:nvSpPr>
            <p:cNvPr id="46" name="橢圓 45"/>
            <p:cNvSpPr/>
            <p:nvPr/>
          </p:nvSpPr>
          <p:spPr>
            <a:xfrm>
              <a:off x="7724572" y="372373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橢圓 46"/>
            <p:cNvSpPr/>
            <p:nvPr/>
          </p:nvSpPr>
          <p:spPr>
            <a:xfrm>
              <a:off x="7724572" y="447135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橢圓 49"/>
            <p:cNvSpPr/>
            <p:nvPr/>
          </p:nvSpPr>
          <p:spPr>
            <a:xfrm>
              <a:off x="7724572" y="522185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橢圓 50"/>
            <p:cNvSpPr/>
            <p:nvPr/>
          </p:nvSpPr>
          <p:spPr>
            <a:xfrm>
              <a:off x="8164972" y="522185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7290376" y="522185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橢圓 64"/>
            <p:cNvSpPr/>
            <p:nvPr/>
          </p:nvSpPr>
          <p:spPr>
            <a:xfrm>
              <a:off x="6790044" y="372373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橢圓 65"/>
            <p:cNvSpPr/>
            <p:nvPr/>
          </p:nvSpPr>
          <p:spPr>
            <a:xfrm>
              <a:off x="7078044" y="447135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橢圓 71"/>
            <p:cNvSpPr/>
            <p:nvPr/>
          </p:nvSpPr>
          <p:spPr>
            <a:xfrm>
              <a:off x="6502044" y="447135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橢圓 72"/>
            <p:cNvSpPr/>
            <p:nvPr/>
          </p:nvSpPr>
          <p:spPr>
            <a:xfrm>
              <a:off x="8641848" y="372373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4" name="直線接點 73"/>
            <p:cNvCxnSpPr>
              <a:stCxn id="85" idx="4"/>
              <a:endCxn id="46" idx="0"/>
            </p:cNvCxnSpPr>
            <p:nvPr/>
          </p:nvCxnSpPr>
          <p:spPr>
            <a:xfrm>
              <a:off x="7868572" y="3286891"/>
              <a:ext cx="0" cy="43684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接點 74"/>
            <p:cNvCxnSpPr>
              <a:stCxn id="85" idx="3"/>
              <a:endCxn id="65" idx="7"/>
            </p:cNvCxnSpPr>
            <p:nvPr/>
          </p:nvCxnSpPr>
          <p:spPr>
            <a:xfrm flipH="1">
              <a:off x="7035867" y="3244714"/>
              <a:ext cx="730882" cy="52119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接點 76"/>
            <p:cNvCxnSpPr>
              <a:stCxn id="85" idx="5"/>
              <a:endCxn id="73" idx="1"/>
            </p:cNvCxnSpPr>
            <p:nvPr/>
          </p:nvCxnSpPr>
          <p:spPr>
            <a:xfrm>
              <a:off x="7970395" y="3244714"/>
              <a:ext cx="713630" cy="52119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線接點 77"/>
            <p:cNvCxnSpPr>
              <a:stCxn id="46" idx="4"/>
              <a:endCxn id="47" idx="0"/>
            </p:cNvCxnSpPr>
            <p:nvPr/>
          </p:nvCxnSpPr>
          <p:spPr>
            <a:xfrm>
              <a:off x="7868572" y="4011731"/>
              <a:ext cx="0" cy="45962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接點 78"/>
            <p:cNvCxnSpPr>
              <a:stCxn id="65" idx="4"/>
              <a:endCxn id="72" idx="0"/>
            </p:cNvCxnSpPr>
            <p:nvPr/>
          </p:nvCxnSpPr>
          <p:spPr>
            <a:xfrm flipH="1">
              <a:off x="6646044" y="4011731"/>
              <a:ext cx="288000" cy="45962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接點 79"/>
            <p:cNvCxnSpPr>
              <a:stCxn id="65" idx="4"/>
              <a:endCxn id="66" idx="0"/>
            </p:cNvCxnSpPr>
            <p:nvPr/>
          </p:nvCxnSpPr>
          <p:spPr>
            <a:xfrm>
              <a:off x="6934044" y="4011731"/>
              <a:ext cx="288000" cy="45962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線接點 80"/>
            <p:cNvCxnSpPr>
              <a:stCxn id="47" idx="4"/>
              <a:endCxn id="50" idx="0"/>
            </p:cNvCxnSpPr>
            <p:nvPr/>
          </p:nvCxnSpPr>
          <p:spPr>
            <a:xfrm>
              <a:off x="7868572" y="4759356"/>
              <a:ext cx="0" cy="46249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接點 81"/>
            <p:cNvCxnSpPr>
              <a:stCxn id="47" idx="5"/>
              <a:endCxn id="51" idx="0"/>
            </p:cNvCxnSpPr>
            <p:nvPr/>
          </p:nvCxnSpPr>
          <p:spPr>
            <a:xfrm>
              <a:off x="7970395" y="4717179"/>
              <a:ext cx="338577" cy="504672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接點 82"/>
            <p:cNvCxnSpPr>
              <a:stCxn id="47" idx="3"/>
              <a:endCxn id="64" idx="0"/>
            </p:cNvCxnSpPr>
            <p:nvPr/>
          </p:nvCxnSpPr>
          <p:spPr>
            <a:xfrm flipH="1">
              <a:off x="7434376" y="4717179"/>
              <a:ext cx="332373" cy="504672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群組 83"/>
            <p:cNvGrpSpPr/>
            <p:nvPr/>
          </p:nvGrpSpPr>
          <p:grpSpPr>
            <a:xfrm>
              <a:off x="7721116" y="2932347"/>
              <a:ext cx="300082" cy="369332"/>
              <a:chOff x="4177129" y="2180529"/>
              <a:chExt cx="300082" cy="369332"/>
            </a:xfrm>
          </p:grpSpPr>
          <p:sp>
            <p:nvSpPr>
              <p:cNvPr id="85" name="橢圓 84"/>
              <p:cNvSpPr/>
              <p:nvPr/>
            </p:nvSpPr>
            <p:spPr>
              <a:xfrm>
                <a:off x="4180585" y="2247073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6" name="文字方塊 85"/>
              <p:cNvSpPr txBox="1"/>
              <p:nvPr/>
            </p:nvSpPr>
            <p:spPr>
              <a:xfrm>
                <a:off x="4177129" y="218052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7" name="文字方塊 86"/>
            <p:cNvSpPr txBox="1"/>
            <p:nvPr/>
          </p:nvSpPr>
          <p:spPr>
            <a:xfrm>
              <a:off x="6783288" y="368306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文字方塊 87"/>
            <p:cNvSpPr txBox="1"/>
            <p:nvPr/>
          </p:nvSpPr>
          <p:spPr>
            <a:xfrm>
              <a:off x="7727774" y="3657370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文字方塊 88"/>
            <p:cNvSpPr txBox="1"/>
            <p:nvPr/>
          </p:nvSpPr>
          <p:spPr>
            <a:xfrm>
              <a:off x="8626465" y="366581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文字方塊 89"/>
            <p:cNvSpPr txBox="1"/>
            <p:nvPr/>
          </p:nvSpPr>
          <p:spPr>
            <a:xfrm>
              <a:off x="6496030" y="4396186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文字方塊 90"/>
            <p:cNvSpPr txBox="1"/>
            <p:nvPr/>
          </p:nvSpPr>
          <p:spPr>
            <a:xfrm>
              <a:off x="7091239" y="4404812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文字方塊 91"/>
            <p:cNvSpPr txBox="1"/>
            <p:nvPr/>
          </p:nvSpPr>
          <p:spPr>
            <a:xfrm>
              <a:off x="7726816" y="438139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文字方塊 92"/>
            <p:cNvSpPr txBox="1"/>
            <p:nvPr/>
          </p:nvSpPr>
          <p:spPr>
            <a:xfrm>
              <a:off x="7277923" y="517255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文字方塊 93"/>
            <p:cNvSpPr txBox="1"/>
            <p:nvPr/>
          </p:nvSpPr>
          <p:spPr>
            <a:xfrm>
              <a:off x="7743331" y="5175207"/>
              <a:ext cx="2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文字方塊 94"/>
            <p:cNvSpPr txBox="1"/>
            <p:nvPr/>
          </p:nvSpPr>
          <p:spPr>
            <a:xfrm>
              <a:off x="8201831" y="5155307"/>
              <a:ext cx="2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文字方塊 9"/>
          <p:cNvSpPr txBox="1"/>
          <p:nvPr/>
        </p:nvSpPr>
        <p:spPr>
          <a:xfrm>
            <a:off x="1693609" y="6341258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二元樹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6" name="文字方塊 95"/>
          <p:cNvSpPr txBox="1"/>
          <p:nvPr/>
        </p:nvSpPr>
        <p:spPr>
          <a:xfrm>
            <a:off x="7362309" y="6341258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一般樹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491880" y="2961851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節點數可為</a:t>
            </a:r>
            <a:r>
              <a:rPr lang="en-US" altLang="zh-TW" sz="2000" b="1" dirty="0" smtClean="0">
                <a:latin typeface="+mj-lt"/>
                <a:ea typeface="標楷體" panose="03000509000000000000" pitchFamily="65" charset="-120"/>
              </a:rPr>
              <a:t>0</a:t>
            </a:r>
            <a:endParaRPr lang="zh-TW" altLang="en-US" sz="2000" b="1" dirty="0"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97" name="文字方塊 96"/>
          <p:cNvSpPr txBox="1"/>
          <p:nvPr/>
        </p:nvSpPr>
        <p:spPr>
          <a:xfrm>
            <a:off x="5326478" y="2961851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至少一節點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8" name="文字方塊 97"/>
          <p:cNvSpPr txBox="1"/>
          <p:nvPr/>
        </p:nvSpPr>
        <p:spPr>
          <a:xfrm>
            <a:off x="3502582" y="3361478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有排序關係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5337180" y="3361478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無排序關係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3530882" y="3766543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分支度至多</a:t>
            </a:r>
            <a:r>
              <a:rPr lang="en-US" altLang="zh-TW" sz="2000" b="1" dirty="0" smtClean="0">
                <a:latin typeface="+mj-lt"/>
                <a:ea typeface="標楷體" panose="03000509000000000000" pitchFamily="65" charset="-120"/>
              </a:rPr>
              <a:t>2</a:t>
            </a:r>
            <a:endParaRPr lang="zh-TW" altLang="en-US" sz="2000" b="1" dirty="0"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101" name="文字方塊 100"/>
          <p:cNvSpPr txBox="1"/>
          <p:nvPr/>
        </p:nvSpPr>
        <p:spPr>
          <a:xfrm>
            <a:off x="5341345" y="3766543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無限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制</a:t>
            </a:r>
          </a:p>
        </p:txBody>
      </p:sp>
    </p:spTree>
    <p:extLst>
      <p:ext uri="{BB962C8B-B14F-4D97-AF65-F5344CB8AC3E}">
        <p14:creationId xmlns:p14="http://schemas.microsoft.com/office/powerpoint/2010/main" val="631447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6" grpId="0"/>
      <p:bldP spid="11" grpId="0"/>
      <p:bldP spid="97" grpId="0"/>
      <p:bldP spid="98" grpId="0"/>
      <p:bldP spid="99" grpId="0"/>
      <p:bldP spid="100" grpId="0"/>
      <p:bldP spid="10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二元樹的種類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7</a:t>
            </a:fld>
            <a:endParaRPr lang="en-US" altLang="zh-TW" dirty="0"/>
          </a:p>
        </p:txBody>
      </p:sp>
      <p:grpSp>
        <p:nvGrpSpPr>
          <p:cNvPr id="250" name="群組 249"/>
          <p:cNvGrpSpPr/>
          <p:nvPr/>
        </p:nvGrpSpPr>
        <p:grpSpPr>
          <a:xfrm>
            <a:off x="5160247" y="3645024"/>
            <a:ext cx="3824636" cy="2261667"/>
            <a:chOff x="5160247" y="3933056"/>
            <a:chExt cx="3824636" cy="2261667"/>
          </a:xfrm>
        </p:grpSpPr>
        <p:sp>
          <p:nvSpPr>
            <p:cNvPr id="49" name="橢圓 48"/>
            <p:cNvSpPr/>
            <p:nvPr/>
          </p:nvSpPr>
          <p:spPr>
            <a:xfrm>
              <a:off x="7668328" y="586605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橢圓 49"/>
            <p:cNvSpPr/>
            <p:nvPr/>
          </p:nvSpPr>
          <p:spPr>
            <a:xfrm>
              <a:off x="7088886" y="586605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2" name="直線接點 61"/>
            <p:cNvCxnSpPr>
              <a:stCxn id="91" idx="4"/>
              <a:endCxn id="49" idx="0"/>
            </p:cNvCxnSpPr>
            <p:nvPr/>
          </p:nvCxnSpPr>
          <p:spPr>
            <a:xfrm>
              <a:off x="7524328" y="5545072"/>
              <a:ext cx="288000" cy="32098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接點 62"/>
            <p:cNvCxnSpPr>
              <a:stCxn id="91" idx="4"/>
              <a:endCxn id="50" idx="0"/>
            </p:cNvCxnSpPr>
            <p:nvPr/>
          </p:nvCxnSpPr>
          <p:spPr>
            <a:xfrm flipH="1">
              <a:off x="7232886" y="5545072"/>
              <a:ext cx="291442" cy="32098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橢圓 90"/>
            <p:cNvSpPr/>
            <p:nvPr/>
          </p:nvSpPr>
          <p:spPr>
            <a:xfrm>
              <a:off x="7380328" y="525707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橢圓 95"/>
            <p:cNvSpPr/>
            <p:nvPr/>
          </p:nvSpPr>
          <p:spPr>
            <a:xfrm>
              <a:off x="8632195" y="586605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7" name="橢圓 96"/>
            <p:cNvSpPr/>
            <p:nvPr/>
          </p:nvSpPr>
          <p:spPr>
            <a:xfrm>
              <a:off x="8052753" y="586605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8" name="直線接點 97"/>
            <p:cNvCxnSpPr>
              <a:stCxn id="100" idx="4"/>
              <a:endCxn id="96" idx="0"/>
            </p:cNvCxnSpPr>
            <p:nvPr/>
          </p:nvCxnSpPr>
          <p:spPr>
            <a:xfrm>
              <a:off x="8488195" y="5545072"/>
              <a:ext cx="288000" cy="32098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接點 98"/>
            <p:cNvCxnSpPr>
              <a:stCxn id="100" idx="4"/>
              <a:endCxn id="97" idx="0"/>
            </p:cNvCxnSpPr>
            <p:nvPr/>
          </p:nvCxnSpPr>
          <p:spPr>
            <a:xfrm flipH="1">
              <a:off x="8196753" y="5545072"/>
              <a:ext cx="291442" cy="32098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橢圓 99"/>
            <p:cNvSpPr/>
            <p:nvPr/>
          </p:nvSpPr>
          <p:spPr>
            <a:xfrm>
              <a:off x="8344195" y="525707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1" name="橢圓 100"/>
            <p:cNvSpPr/>
            <p:nvPr/>
          </p:nvSpPr>
          <p:spPr>
            <a:xfrm>
              <a:off x="5743097" y="586605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2" name="橢圓 101"/>
            <p:cNvSpPr/>
            <p:nvPr/>
          </p:nvSpPr>
          <p:spPr>
            <a:xfrm>
              <a:off x="5163655" y="586605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3" name="直線接點 102"/>
            <p:cNvCxnSpPr>
              <a:stCxn id="105" idx="4"/>
              <a:endCxn id="101" idx="0"/>
            </p:cNvCxnSpPr>
            <p:nvPr/>
          </p:nvCxnSpPr>
          <p:spPr>
            <a:xfrm>
              <a:off x="5599097" y="5545072"/>
              <a:ext cx="288000" cy="32098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線接點 103"/>
            <p:cNvCxnSpPr>
              <a:stCxn id="105" idx="4"/>
              <a:endCxn id="102" idx="0"/>
            </p:cNvCxnSpPr>
            <p:nvPr/>
          </p:nvCxnSpPr>
          <p:spPr>
            <a:xfrm flipH="1">
              <a:off x="5307655" y="5545072"/>
              <a:ext cx="291442" cy="32098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橢圓 104"/>
            <p:cNvSpPr/>
            <p:nvPr/>
          </p:nvSpPr>
          <p:spPr>
            <a:xfrm>
              <a:off x="5455097" y="525707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6" name="橢圓 105"/>
            <p:cNvSpPr/>
            <p:nvPr/>
          </p:nvSpPr>
          <p:spPr>
            <a:xfrm>
              <a:off x="6706964" y="586605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7" name="橢圓 106"/>
            <p:cNvSpPr/>
            <p:nvPr/>
          </p:nvSpPr>
          <p:spPr>
            <a:xfrm>
              <a:off x="6127522" y="586605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8" name="直線接點 107"/>
            <p:cNvCxnSpPr>
              <a:stCxn id="110" idx="4"/>
              <a:endCxn id="106" idx="0"/>
            </p:cNvCxnSpPr>
            <p:nvPr/>
          </p:nvCxnSpPr>
          <p:spPr>
            <a:xfrm>
              <a:off x="6562964" y="5545072"/>
              <a:ext cx="288000" cy="32098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線接點 108"/>
            <p:cNvCxnSpPr>
              <a:stCxn id="110" idx="4"/>
              <a:endCxn id="107" idx="0"/>
            </p:cNvCxnSpPr>
            <p:nvPr/>
          </p:nvCxnSpPr>
          <p:spPr>
            <a:xfrm flipH="1">
              <a:off x="6271522" y="5545072"/>
              <a:ext cx="291442" cy="32098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橢圓 109"/>
            <p:cNvSpPr/>
            <p:nvPr/>
          </p:nvSpPr>
          <p:spPr>
            <a:xfrm>
              <a:off x="6418964" y="525707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1" name="橢圓 110"/>
            <p:cNvSpPr/>
            <p:nvPr/>
          </p:nvSpPr>
          <p:spPr>
            <a:xfrm>
              <a:off x="5944468" y="462176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2" name="橢圓 111"/>
            <p:cNvSpPr/>
            <p:nvPr/>
          </p:nvSpPr>
          <p:spPr>
            <a:xfrm>
              <a:off x="7827300" y="462176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3" name="橢圓 112"/>
            <p:cNvSpPr/>
            <p:nvPr/>
          </p:nvSpPr>
          <p:spPr>
            <a:xfrm>
              <a:off x="6850964" y="397372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14" name="直線接點 113"/>
            <p:cNvCxnSpPr>
              <a:stCxn id="111" idx="4"/>
              <a:endCxn id="105" idx="7"/>
            </p:cNvCxnSpPr>
            <p:nvPr/>
          </p:nvCxnSpPr>
          <p:spPr>
            <a:xfrm flipH="1">
              <a:off x="5700920" y="4909762"/>
              <a:ext cx="387548" cy="38948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接點 116"/>
            <p:cNvCxnSpPr>
              <a:stCxn id="111" idx="4"/>
              <a:endCxn id="110" idx="1"/>
            </p:cNvCxnSpPr>
            <p:nvPr/>
          </p:nvCxnSpPr>
          <p:spPr>
            <a:xfrm>
              <a:off x="6088468" y="4909762"/>
              <a:ext cx="372673" cy="38948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線接點 119"/>
            <p:cNvCxnSpPr>
              <a:stCxn id="112" idx="4"/>
              <a:endCxn id="91" idx="7"/>
            </p:cNvCxnSpPr>
            <p:nvPr/>
          </p:nvCxnSpPr>
          <p:spPr>
            <a:xfrm flipH="1">
              <a:off x="7626151" y="4909762"/>
              <a:ext cx="345149" cy="38948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接點 122"/>
            <p:cNvCxnSpPr>
              <a:stCxn id="112" idx="4"/>
              <a:endCxn id="100" idx="1"/>
            </p:cNvCxnSpPr>
            <p:nvPr/>
          </p:nvCxnSpPr>
          <p:spPr>
            <a:xfrm>
              <a:off x="7971300" y="4909762"/>
              <a:ext cx="415072" cy="38948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線接點 125"/>
            <p:cNvCxnSpPr>
              <a:stCxn id="113" idx="4"/>
              <a:endCxn id="111" idx="7"/>
            </p:cNvCxnSpPr>
            <p:nvPr/>
          </p:nvCxnSpPr>
          <p:spPr>
            <a:xfrm flipH="1">
              <a:off x="6190291" y="4261722"/>
              <a:ext cx="804673" cy="40221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線接點 128"/>
            <p:cNvCxnSpPr>
              <a:stCxn id="113" idx="4"/>
              <a:endCxn id="112" idx="1"/>
            </p:cNvCxnSpPr>
            <p:nvPr/>
          </p:nvCxnSpPr>
          <p:spPr>
            <a:xfrm>
              <a:off x="6994964" y="4261722"/>
              <a:ext cx="874513" cy="40221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文字方塊 66"/>
            <p:cNvSpPr txBox="1"/>
            <p:nvPr/>
          </p:nvSpPr>
          <p:spPr>
            <a:xfrm>
              <a:off x="6844923" y="393305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" name="文字方塊 131"/>
            <p:cNvSpPr txBox="1"/>
            <p:nvPr/>
          </p:nvSpPr>
          <p:spPr>
            <a:xfrm>
              <a:off x="5934285" y="457323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文字方塊 132"/>
            <p:cNvSpPr txBox="1"/>
            <p:nvPr/>
          </p:nvSpPr>
          <p:spPr>
            <a:xfrm>
              <a:off x="7831093" y="458260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文字方塊 133"/>
            <p:cNvSpPr txBox="1"/>
            <p:nvPr/>
          </p:nvSpPr>
          <p:spPr>
            <a:xfrm>
              <a:off x="5446657" y="521640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文字方塊 134"/>
            <p:cNvSpPr txBox="1"/>
            <p:nvPr/>
          </p:nvSpPr>
          <p:spPr>
            <a:xfrm>
              <a:off x="6409118" y="521448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文字方塊 135"/>
            <p:cNvSpPr txBox="1"/>
            <p:nvPr/>
          </p:nvSpPr>
          <p:spPr>
            <a:xfrm>
              <a:off x="7371688" y="520872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" name="文字方塊 136"/>
            <p:cNvSpPr txBox="1"/>
            <p:nvPr/>
          </p:nvSpPr>
          <p:spPr>
            <a:xfrm>
              <a:off x="8335555" y="522659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8" name="文字方塊 137"/>
            <p:cNvSpPr txBox="1"/>
            <p:nvPr/>
          </p:nvSpPr>
          <p:spPr>
            <a:xfrm>
              <a:off x="5160247" y="58253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文字方塊 138"/>
            <p:cNvSpPr txBox="1"/>
            <p:nvPr/>
          </p:nvSpPr>
          <p:spPr>
            <a:xfrm>
              <a:off x="5733518" y="582442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文字方塊 139"/>
            <p:cNvSpPr txBox="1"/>
            <p:nvPr/>
          </p:nvSpPr>
          <p:spPr>
            <a:xfrm>
              <a:off x="6065634" y="582442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" name="文字方塊 140"/>
            <p:cNvSpPr txBox="1"/>
            <p:nvPr/>
          </p:nvSpPr>
          <p:spPr>
            <a:xfrm>
              <a:off x="6653138" y="5824425"/>
              <a:ext cx="402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" name="文字方塊 141"/>
            <p:cNvSpPr txBox="1"/>
            <p:nvPr/>
          </p:nvSpPr>
          <p:spPr>
            <a:xfrm>
              <a:off x="7022301" y="582442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" name="文字方塊 142"/>
            <p:cNvSpPr txBox="1"/>
            <p:nvPr/>
          </p:nvSpPr>
          <p:spPr>
            <a:xfrm>
              <a:off x="7608021" y="582494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" name="文字方塊 143"/>
            <p:cNvSpPr txBox="1"/>
            <p:nvPr/>
          </p:nvSpPr>
          <p:spPr>
            <a:xfrm>
              <a:off x="7991023" y="582494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5" name="文字方塊 144"/>
            <p:cNvSpPr txBox="1"/>
            <p:nvPr/>
          </p:nvSpPr>
          <p:spPr>
            <a:xfrm>
              <a:off x="8569385" y="582442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9" name="群組 248"/>
          <p:cNvGrpSpPr/>
          <p:nvPr/>
        </p:nvGrpSpPr>
        <p:grpSpPr>
          <a:xfrm>
            <a:off x="536330" y="3645024"/>
            <a:ext cx="3475390" cy="2261667"/>
            <a:chOff x="536330" y="3933056"/>
            <a:chExt cx="3475390" cy="2261667"/>
          </a:xfrm>
        </p:grpSpPr>
        <p:sp>
          <p:nvSpPr>
            <p:cNvPr id="150" name="橢圓 149"/>
            <p:cNvSpPr/>
            <p:nvPr/>
          </p:nvSpPr>
          <p:spPr>
            <a:xfrm>
              <a:off x="2756411" y="525707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5" name="橢圓 154"/>
            <p:cNvSpPr/>
            <p:nvPr/>
          </p:nvSpPr>
          <p:spPr>
            <a:xfrm>
              <a:off x="3720278" y="525707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6" name="橢圓 155"/>
            <p:cNvSpPr/>
            <p:nvPr/>
          </p:nvSpPr>
          <p:spPr>
            <a:xfrm>
              <a:off x="1119180" y="586605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7" name="橢圓 156"/>
            <p:cNvSpPr/>
            <p:nvPr/>
          </p:nvSpPr>
          <p:spPr>
            <a:xfrm>
              <a:off x="539738" y="586605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58" name="直線接點 157"/>
            <p:cNvCxnSpPr>
              <a:stCxn id="160" idx="4"/>
              <a:endCxn id="156" idx="0"/>
            </p:cNvCxnSpPr>
            <p:nvPr/>
          </p:nvCxnSpPr>
          <p:spPr>
            <a:xfrm>
              <a:off x="975180" y="5545072"/>
              <a:ext cx="288000" cy="32098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線接點 158"/>
            <p:cNvCxnSpPr>
              <a:stCxn id="160" idx="4"/>
              <a:endCxn id="157" idx="0"/>
            </p:cNvCxnSpPr>
            <p:nvPr/>
          </p:nvCxnSpPr>
          <p:spPr>
            <a:xfrm flipH="1">
              <a:off x="683738" y="5545072"/>
              <a:ext cx="291442" cy="32098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橢圓 159"/>
            <p:cNvSpPr/>
            <p:nvPr/>
          </p:nvSpPr>
          <p:spPr>
            <a:xfrm>
              <a:off x="831180" y="525707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5" name="橢圓 164"/>
            <p:cNvSpPr/>
            <p:nvPr/>
          </p:nvSpPr>
          <p:spPr>
            <a:xfrm>
              <a:off x="1795047" y="525707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6" name="橢圓 165"/>
            <p:cNvSpPr/>
            <p:nvPr/>
          </p:nvSpPr>
          <p:spPr>
            <a:xfrm>
              <a:off x="1320551" y="462176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7" name="橢圓 166"/>
            <p:cNvSpPr/>
            <p:nvPr/>
          </p:nvSpPr>
          <p:spPr>
            <a:xfrm>
              <a:off x="3203383" y="462176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8" name="橢圓 167"/>
            <p:cNvSpPr/>
            <p:nvPr/>
          </p:nvSpPr>
          <p:spPr>
            <a:xfrm>
              <a:off x="2227047" y="397372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69" name="直線接點 168"/>
            <p:cNvCxnSpPr>
              <a:stCxn id="166" idx="4"/>
              <a:endCxn id="160" idx="7"/>
            </p:cNvCxnSpPr>
            <p:nvPr/>
          </p:nvCxnSpPr>
          <p:spPr>
            <a:xfrm flipH="1">
              <a:off x="1077003" y="4909762"/>
              <a:ext cx="387548" cy="38948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線接點 169"/>
            <p:cNvCxnSpPr>
              <a:stCxn id="166" idx="4"/>
              <a:endCxn id="165" idx="1"/>
            </p:cNvCxnSpPr>
            <p:nvPr/>
          </p:nvCxnSpPr>
          <p:spPr>
            <a:xfrm>
              <a:off x="1464551" y="4909762"/>
              <a:ext cx="372673" cy="38948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線接點 170"/>
            <p:cNvCxnSpPr>
              <a:stCxn id="167" idx="4"/>
              <a:endCxn id="150" idx="7"/>
            </p:cNvCxnSpPr>
            <p:nvPr/>
          </p:nvCxnSpPr>
          <p:spPr>
            <a:xfrm flipH="1">
              <a:off x="3002234" y="4909762"/>
              <a:ext cx="345149" cy="38948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線接點 171"/>
            <p:cNvCxnSpPr>
              <a:stCxn id="167" idx="4"/>
              <a:endCxn id="155" idx="1"/>
            </p:cNvCxnSpPr>
            <p:nvPr/>
          </p:nvCxnSpPr>
          <p:spPr>
            <a:xfrm>
              <a:off x="3347383" y="4909762"/>
              <a:ext cx="415072" cy="38948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線接點 172"/>
            <p:cNvCxnSpPr>
              <a:stCxn id="168" idx="4"/>
              <a:endCxn id="166" idx="7"/>
            </p:cNvCxnSpPr>
            <p:nvPr/>
          </p:nvCxnSpPr>
          <p:spPr>
            <a:xfrm flipH="1">
              <a:off x="1566374" y="4261722"/>
              <a:ext cx="804673" cy="40221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線接點 173"/>
            <p:cNvCxnSpPr>
              <a:stCxn id="168" idx="4"/>
              <a:endCxn id="167" idx="1"/>
            </p:cNvCxnSpPr>
            <p:nvPr/>
          </p:nvCxnSpPr>
          <p:spPr>
            <a:xfrm>
              <a:off x="2371047" y="4261722"/>
              <a:ext cx="874513" cy="40221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文字方塊 174"/>
            <p:cNvSpPr txBox="1"/>
            <p:nvPr/>
          </p:nvSpPr>
          <p:spPr>
            <a:xfrm>
              <a:off x="2221006" y="393305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" name="文字方塊 175"/>
            <p:cNvSpPr txBox="1"/>
            <p:nvPr/>
          </p:nvSpPr>
          <p:spPr>
            <a:xfrm>
              <a:off x="1310368" y="457323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" name="文字方塊 176"/>
            <p:cNvSpPr txBox="1"/>
            <p:nvPr/>
          </p:nvSpPr>
          <p:spPr>
            <a:xfrm>
              <a:off x="3207176" y="458260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文字方塊 177"/>
            <p:cNvSpPr txBox="1"/>
            <p:nvPr/>
          </p:nvSpPr>
          <p:spPr>
            <a:xfrm>
              <a:off x="822740" y="521640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9" name="文字方塊 178"/>
            <p:cNvSpPr txBox="1"/>
            <p:nvPr/>
          </p:nvSpPr>
          <p:spPr>
            <a:xfrm>
              <a:off x="1785201" y="521448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0" name="文字方塊 179"/>
            <p:cNvSpPr txBox="1"/>
            <p:nvPr/>
          </p:nvSpPr>
          <p:spPr>
            <a:xfrm>
              <a:off x="2747771" y="520872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1" name="文字方塊 180"/>
            <p:cNvSpPr txBox="1"/>
            <p:nvPr/>
          </p:nvSpPr>
          <p:spPr>
            <a:xfrm>
              <a:off x="3711638" y="522659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2" name="文字方塊 181"/>
            <p:cNvSpPr txBox="1"/>
            <p:nvPr/>
          </p:nvSpPr>
          <p:spPr>
            <a:xfrm>
              <a:off x="536330" y="58253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3" name="文字方塊 182"/>
            <p:cNvSpPr txBox="1"/>
            <p:nvPr/>
          </p:nvSpPr>
          <p:spPr>
            <a:xfrm>
              <a:off x="1109601" y="582442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21" name="直線接點 220"/>
          <p:cNvCxnSpPr>
            <a:stCxn id="222" idx="7"/>
            <a:endCxn id="223" idx="3"/>
          </p:cNvCxnSpPr>
          <p:nvPr/>
        </p:nvCxnSpPr>
        <p:spPr>
          <a:xfrm flipH="1">
            <a:off x="781057" y="1948961"/>
            <a:ext cx="785317" cy="92486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橢圓 221"/>
          <p:cNvSpPr/>
          <p:nvPr/>
        </p:nvSpPr>
        <p:spPr>
          <a:xfrm>
            <a:off x="1320551" y="190678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3" name="橢圓 222"/>
          <p:cNvSpPr/>
          <p:nvPr/>
        </p:nvSpPr>
        <p:spPr>
          <a:xfrm>
            <a:off x="738880" y="262799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8" name="直線接點 227"/>
          <p:cNvCxnSpPr>
            <a:stCxn id="229" idx="1"/>
            <a:endCxn id="230" idx="5"/>
          </p:cNvCxnSpPr>
          <p:nvPr/>
        </p:nvCxnSpPr>
        <p:spPr>
          <a:xfrm>
            <a:off x="2569082" y="1948961"/>
            <a:ext cx="838610" cy="92486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橢圓 228"/>
          <p:cNvSpPr/>
          <p:nvPr/>
        </p:nvSpPr>
        <p:spPr>
          <a:xfrm>
            <a:off x="2526905" y="190678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0" name="橢圓 229"/>
          <p:cNvSpPr/>
          <p:nvPr/>
        </p:nvSpPr>
        <p:spPr>
          <a:xfrm>
            <a:off x="3161869" y="262799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4" name="文字方塊 233"/>
          <p:cNvSpPr txBox="1"/>
          <p:nvPr/>
        </p:nvSpPr>
        <p:spPr>
          <a:xfrm>
            <a:off x="1290522" y="185994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文字方塊 234"/>
          <p:cNvSpPr txBox="1"/>
          <p:nvPr/>
        </p:nvSpPr>
        <p:spPr>
          <a:xfrm>
            <a:off x="2493556" y="1856932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6" name="文字方塊 235"/>
          <p:cNvSpPr txBox="1"/>
          <p:nvPr/>
        </p:nvSpPr>
        <p:spPr>
          <a:xfrm>
            <a:off x="713369" y="258153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7" name="文字方塊 236"/>
          <p:cNvSpPr txBox="1"/>
          <p:nvPr/>
        </p:nvSpPr>
        <p:spPr>
          <a:xfrm>
            <a:off x="3131840" y="259221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8" name="群組 247"/>
          <p:cNvGrpSpPr/>
          <p:nvPr/>
        </p:nvGrpSpPr>
        <p:grpSpPr>
          <a:xfrm>
            <a:off x="4190897" y="1499670"/>
            <a:ext cx="1178112" cy="1994096"/>
            <a:chOff x="4932040" y="1471666"/>
            <a:chExt cx="1178112" cy="1994096"/>
          </a:xfrm>
        </p:grpSpPr>
        <p:cxnSp>
          <p:nvCxnSpPr>
            <p:cNvPr id="211" name="直線接點 210"/>
            <p:cNvCxnSpPr>
              <a:stCxn id="214" idx="7"/>
              <a:endCxn id="215" idx="3"/>
            </p:cNvCxnSpPr>
            <p:nvPr/>
          </p:nvCxnSpPr>
          <p:spPr>
            <a:xfrm flipH="1">
              <a:off x="4986743" y="1570149"/>
              <a:ext cx="1069150" cy="181562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橢圓 211"/>
            <p:cNvSpPr/>
            <p:nvPr/>
          </p:nvSpPr>
          <p:spPr>
            <a:xfrm>
              <a:off x="5236027" y="257216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3" name="橢圓 212"/>
            <p:cNvSpPr/>
            <p:nvPr/>
          </p:nvSpPr>
          <p:spPr>
            <a:xfrm>
              <a:off x="5524396" y="205249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4" name="橢圓 213"/>
            <p:cNvSpPr/>
            <p:nvPr/>
          </p:nvSpPr>
          <p:spPr>
            <a:xfrm>
              <a:off x="5810070" y="152797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5" name="橢圓 214"/>
            <p:cNvSpPr/>
            <p:nvPr/>
          </p:nvSpPr>
          <p:spPr>
            <a:xfrm>
              <a:off x="4944566" y="313995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8" name="文字方塊 237"/>
            <p:cNvSpPr txBox="1"/>
            <p:nvPr/>
          </p:nvSpPr>
          <p:spPr>
            <a:xfrm>
              <a:off x="5810070" y="147166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0" name="文字方塊 239"/>
            <p:cNvSpPr txBox="1"/>
            <p:nvPr/>
          </p:nvSpPr>
          <p:spPr>
            <a:xfrm>
              <a:off x="5518355" y="201432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2" name="文字方塊 241"/>
            <p:cNvSpPr txBox="1"/>
            <p:nvPr/>
          </p:nvSpPr>
          <p:spPr>
            <a:xfrm>
              <a:off x="5237361" y="253149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4" name="文字方塊 243"/>
            <p:cNvSpPr txBox="1"/>
            <p:nvPr/>
          </p:nvSpPr>
          <p:spPr>
            <a:xfrm>
              <a:off x="4932040" y="309643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7" name="群組 246"/>
          <p:cNvGrpSpPr/>
          <p:nvPr/>
        </p:nvGrpSpPr>
        <p:grpSpPr>
          <a:xfrm>
            <a:off x="7668344" y="1504062"/>
            <a:ext cx="1169497" cy="1983379"/>
            <a:chOff x="6943421" y="1480581"/>
            <a:chExt cx="1169497" cy="1983379"/>
          </a:xfrm>
        </p:grpSpPr>
        <p:cxnSp>
          <p:nvCxnSpPr>
            <p:cNvPr id="194" name="直線接點 193"/>
            <p:cNvCxnSpPr>
              <a:stCxn id="190" idx="1"/>
              <a:endCxn id="193" idx="5"/>
            </p:cNvCxnSpPr>
            <p:nvPr/>
          </p:nvCxnSpPr>
          <p:spPr>
            <a:xfrm>
              <a:off x="6997680" y="1568094"/>
              <a:ext cx="1073061" cy="181768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橢圓 199"/>
            <p:cNvSpPr/>
            <p:nvPr/>
          </p:nvSpPr>
          <p:spPr>
            <a:xfrm>
              <a:off x="7532695" y="257216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2" name="橢圓 191"/>
            <p:cNvSpPr/>
            <p:nvPr/>
          </p:nvSpPr>
          <p:spPr>
            <a:xfrm>
              <a:off x="7243503" y="205078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0" name="橢圓 189"/>
            <p:cNvSpPr/>
            <p:nvPr/>
          </p:nvSpPr>
          <p:spPr>
            <a:xfrm>
              <a:off x="6955503" y="152591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3" name="橢圓 192"/>
            <p:cNvSpPr/>
            <p:nvPr/>
          </p:nvSpPr>
          <p:spPr>
            <a:xfrm>
              <a:off x="7824918" y="313995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9" name="文字方塊 238"/>
            <p:cNvSpPr txBox="1"/>
            <p:nvPr/>
          </p:nvSpPr>
          <p:spPr>
            <a:xfrm>
              <a:off x="6943421" y="148058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1" name="文字方塊 240"/>
            <p:cNvSpPr txBox="1"/>
            <p:nvPr/>
          </p:nvSpPr>
          <p:spPr>
            <a:xfrm>
              <a:off x="7248513" y="201545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3" name="文字方塊 242"/>
            <p:cNvSpPr txBox="1"/>
            <p:nvPr/>
          </p:nvSpPr>
          <p:spPr>
            <a:xfrm>
              <a:off x="7526654" y="252307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5" name="文字方塊 244"/>
            <p:cNvSpPr txBox="1"/>
            <p:nvPr/>
          </p:nvSpPr>
          <p:spPr>
            <a:xfrm>
              <a:off x="7812836" y="309462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文字方塊 245"/>
              <p:cNvSpPr txBox="1"/>
              <p:nvPr/>
            </p:nvSpPr>
            <p:spPr>
              <a:xfrm>
                <a:off x="1792351" y="2103614"/>
                <a:ext cx="525785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4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zh-TW" altLang="en-US" sz="4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46" name="文字方塊 2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2351" y="2103614"/>
                <a:ext cx="525785" cy="61555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1" name="文字方塊 250"/>
          <p:cNvSpPr txBox="1"/>
          <p:nvPr/>
        </p:nvSpPr>
        <p:spPr>
          <a:xfrm>
            <a:off x="4536338" y="2662626"/>
            <a:ext cx="18872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左</a:t>
            </a:r>
            <a:r>
              <a:rPr lang="zh-TW" altLang="en-US" sz="2000" b="1" dirty="0" smtClean="0">
                <a:latin typeface="+mj-lt"/>
                <a:ea typeface="標楷體" panose="03000509000000000000" pitchFamily="65" charset="-120"/>
              </a:rPr>
              <a:t>斜樹</a:t>
            </a:r>
            <a:endParaRPr lang="en-US" altLang="zh-TW" sz="2000" b="1" dirty="0" smtClean="0">
              <a:latin typeface="+mj-lt"/>
              <a:ea typeface="標楷體" panose="03000509000000000000" pitchFamily="65" charset="-120"/>
            </a:endParaRPr>
          </a:p>
          <a:p>
            <a:pPr algn="ctr"/>
            <a:r>
              <a:rPr lang="en-US" altLang="zh-TW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left</a:t>
            </a:r>
            <a:r>
              <a:rPr lang="en-US" altLang="zh-TW" sz="2000" b="1" dirty="0" smtClean="0">
                <a:latin typeface="+mj-lt"/>
                <a:ea typeface="標楷體" panose="03000509000000000000" pitchFamily="65" charset="-120"/>
              </a:rPr>
              <a:t> skewed tree</a:t>
            </a:r>
            <a:endParaRPr lang="zh-TW" altLang="en-US" sz="2000" b="1" dirty="0"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252" name="文字方塊 251"/>
          <p:cNvSpPr txBox="1"/>
          <p:nvPr/>
        </p:nvSpPr>
        <p:spPr>
          <a:xfrm>
            <a:off x="6467423" y="2664137"/>
            <a:ext cx="20731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右</a:t>
            </a:r>
            <a:r>
              <a:rPr lang="zh-TW" altLang="en-US" sz="2000" b="1" dirty="0" smtClean="0">
                <a:latin typeface="+mj-lt"/>
                <a:ea typeface="標楷體" panose="03000509000000000000" pitchFamily="65" charset="-120"/>
              </a:rPr>
              <a:t>斜樹</a:t>
            </a:r>
            <a:endParaRPr lang="en-US" altLang="zh-TW" sz="2000" b="1" dirty="0" smtClean="0">
              <a:latin typeface="+mj-lt"/>
              <a:ea typeface="標楷體" panose="03000509000000000000" pitchFamily="65" charset="-120"/>
            </a:endParaRPr>
          </a:p>
          <a:p>
            <a:pPr algn="ctr"/>
            <a:r>
              <a:rPr lang="en-US" altLang="zh-TW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right </a:t>
            </a:r>
            <a:r>
              <a:rPr lang="en-US" altLang="zh-TW" sz="2000" b="1" dirty="0" smtClean="0">
                <a:latin typeface="+mj-lt"/>
                <a:ea typeface="標楷體" panose="03000509000000000000" pitchFamily="65" charset="-120"/>
              </a:rPr>
              <a:t>skewed tree</a:t>
            </a:r>
            <a:endParaRPr lang="zh-TW" altLang="en-US" sz="2000" b="1" dirty="0"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253" name="文字方塊 252"/>
          <p:cNvSpPr txBox="1"/>
          <p:nvPr/>
        </p:nvSpPr>
        <p:spPr>
          <a:xfrm>
            <a:off x="5974165" y="5892350"/>
            <a:ext cx="21499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滿枝</a:t>
            </a:r>
            <a:r>
              <a:rPr lang="en-US" altLang="zh-TW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(</a:t>
            </a:r>
            <a:r>
              <a:rPr lang="zh-TW" altLang="en-US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完滿</a:t>
            </a:r>
            <a:r>
              <a:rPr lang="en-US" altLang="zh-TW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)</a:t>
            </a:r>
            <a:r>
              <a:rPr lang="zh-TW" altLang="en-US" sz="2000" b="1" dirty="0" smtClean="0">
                <a:latin typeface="+mj-lt"/>
                <a:ea typeface="標楷體" panose="03000509000000000000" pitchFamily="65" charset="-120"/>
              </a:rPr>
              <a:t>二元樹</a:t>
            </a:r>
            <a:endParaRPr lang="en-US" altLang="zh-TW" sz="2000" b="1" dirty="0" smtClean="0">
              <a:latin typeface="+mj-lt"/>
              <a:ea typeface="標楷體" panose="03000509000000000000" pitchFamily="65" charset="-120"/>
            </a:endParaRPr>
          </a:p>
          <a:p>
            <a:pPr algn="ctr"/>
            <a:r>
              <a:rPr lang="en-US" altLang="zh-TW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fully</a:t>
            </a:r>
            <a:r>
              <a:rPr lang="en-US" altLang="zh-TW" sz="2000" b="1" dirty="0" smtClean="0">
                <a:latin typeface="+mj-lt"/>
                <a:ea typeface="標楷體" panose="03000509000000000000" pitchFamily="65" charset="-120"/>
              </a:rPr>
              <a:t> binary tree</a:t>
            </a:r>
            <a:endParaRPr lang="zh-TW" altLang="en-US" sz="2000" b="1" dirty="0"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254" name="文字方塊 253"/>
          <p:cNvSpPr txBox="1"/>
          <p:nvPr/>
        </p:nvSpPr>
        <p:spPr>
          <a:xfrm>
            <a:off x="1187455" y="5834811"/>
            <a:ext cx="24418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完整</a:t>
            </a:r>
            <a:r>
              <a:rPr lang="zh-TW" altLang="en-US" sz="2000" b="1" dirty="0" smtClean="0">
                <a:latin typeface="+mj-lt"/>
                <a:ea typeface="標楷體" panose="03000509000000000000" pitchFamily="65" charset="-120"/>
              </a:rPr>
              <a:t>二元樹</a:t>
            </a:r>
            <a:endParaRPr lang="en-US" altLang="zh-TW" sz="2000" b="1" dirty="0" smtClean="0">
              <a:latin typeface="+mj-lt"/>
              <a:ea typeface="標楷體" panose="03000509000000000000" pitchFamily="65" charset="-120"/>
            </a:endParaRPr>
          </a:p>
          <a:p>
            <a:pPr algn="ctr"/>
            <a:r>
              <a:rPr lang="en-US" altLang="zh-TW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complete</a:t>
            </a:r>
            <a:r>
              <a:rPr lang="en-US" altLang="zh-TW" sz="2000" b="1" dirty="0" smtClean="0">
                <a:latin typeface="+mj-lt"/>
                <a:ea typeface="標楷體" panose="03000509000000000000" pitchFamily="65" charset="-120"/>
              </a:rPr>
              <a:t> binary tree</a:t>
            </a:r>
            <a:endParaRPr lang="zh-TW" altLang="en-US" sz="2000" b="1" dirty="0">
              <a:latin typeface="+mj-lt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9713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" grpId="0"/>
      <p:bldP spid="251" grpId="0"/>
      <p:bldP spid="252" grpId="0"/>
      <p:bldP spid="253" grpId="0"/>
      <p:bldP spid="25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第</a:t>
            </a:r>
            <a:r>
              <a:rPr lang="en-US" altLang="zh-TW" i="1" dirty="0" err="1" smtClean="0">
                <a:solidFill>
                  <a:srgbClr val="C00000"/>
                </a:solidFill>
              </a:rPr>
              <a:t>i</a:t>
            </a:r>
            <a:r>
              <a:rPr lang="zh-TW" altLang="en-US" dirty="0" smtClean="0"/>
              <a:t>階的點數</a:t>
            </a:r>
            <a:r>
              <a:rPr lang="zh-TW" altLang="en-US" dirty="0" smtClean="0">
                <a:solidFill>
                  <a:srgbClr val="0000FF"/>
                </a:solidFill>
              </a:rPr>
              <a:t>最多</a:t>
            </a:r>
            <a:r>
              <a:rPr lang="zh-TW" altLang="en-US" dirty="0" smtClean="0"/>
              <a:t>為</a:t>
            </a:r>
            <a:r>
              <a:rPr lang="en-US" altLang="zh-TW" dirty="0" smtClean="0">
                <a:solidFill>
                  <a:srgbClr val="C00000"/>
                </a:solidFill>
              </a:rPr>
              <a:t>2</a:t>
            </a:r>
            <a:r>
              <a:rPr lang="en-US" altLang="zh-TW" i="1" baseline="30000" dirty="0" smtClean="0">
                <a:solidFill>
                  <a:srgbClr val="C00000"/>
                </a:solidFill>
              </a:rPr>
              <a:t>i</a:t>
            </a:r>
            <a:r>
              <a:rPr lang="en-US" altLang="zh-TW" baseline="30000" dirty="0" smtClean="0">
                <a:solidFill>
                  <a:srgbClr val="C00000"/>
                </a:solidFill>
              </a:rPr>
              <a:t>–1</a:t>
            </a:r>
            <a:r>
              <a:rPr lang="zh-TW" altLang="en-US" dirty="0" smtClean="0"/>
              <a:t>個</a:t>
            </a:r>
            <a:endParaRPr lang="zh-TW" altLang="en-US" dirty="0"/>
          </a:p>
        </p:txBody>
      </p:sp>
      <p:sp>
        <p:nvSpPr>
          <p:cNvPr id="44" name="圓角矩形 43"/>
          <p:cNvSpPr/>
          <p:nvPr/>
        </p:nvSpPr>
        <p:spPr>
          <a:xfrm>
            <a:off x="2422659" y="2419844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圓角矩形 44"/>
          <p:cNvSpPr/>
          <p:nvPr/>
        </p:nvSpPr>
        <p:spPr>
          <a:xfrm>
            <a:off x="2422659" y="3151769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圓角矩形 45"/>
          <p:cNvSpPr/>
          <p:nvPr/>
        </p:nvSpPr>
        <p:spPr>
          <a:xfrm>
            <a:off x="2422659" y="3901576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圓角矩形 46"/>
          <p:cNvSpPr/>
          <p:nvPr/>
        </p:nvSpPr>
        <p:spPr>
          <a:xfrm>
            <a:off x="2422659" y="4696802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圓角矩形 47"/>
          <p:cNvSpPr/>
          <p:nvPr/>
        </p:nvSpPr>
        <p:spPr>
          <a:xfrm>
            <a:off x="2424418" y="5428652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二元樹性質 </a:t>
            </a:r>
            <a:r>
              <a:rPr lang="en-US" altLang="zh-TW" dirty="0" smtClean="0"/>
              <a:t>(1/5)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4447285" y="235114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3435123" y="307598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3723123" y="382361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3147123" y="382361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442195" y="307598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7" idx="3"/>
            <a:endCxn id="8" idx="7"/>
          </p:cNvCxnSpPr>
          <p:nvPr/>
        </p:nvCxnSpPr>
        <p:spPr>
          <a:xfrm flipH="1">
            <a:off x="3680946" y="2596972"/>
            <a:ext cx="808516" cy="52119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7" idx="5"/>
            <a:endCxn id="11" idx="1"/>
          </p:cNvCxnSpPr>
          <p:nvPr/>
        </p:nvCxnSpPr>
        <p:spPr>
          <a:xfrm>
            <a:off x="4693108" y="2596972"/>
            <a:ext cx="791264" cy="52119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8" idx="4"/>
            <a:endCxn id="10" idx="0"/>
          </p:cNvCxnSpPr>
          <p:nvPr/>
        </p:nvCxnSpPr>
        <p:spPr>
          <a:xfrm flipH="1">
            <a:off x="3291123" y="3363989"/>
            <a:ext cx="288000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8" idx="4"/>
            <a:endCxn id="9" idx="0"/>
          </p:cNvCxnSpPr>
          <p:nvPr/>
        </p:nvCxnSpPr>
        <p:spPr>
          <a:xfrm>
            <a:off x="3579123" y="3363989"/>
            <a:ext cx="288000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橢圓 15"/>
          <p:cNvSpPr/>
          <p:nvPr/>
        </p:nvSpPr>
        <p:spPr>
          <a:xfrm>
            <a:off x="2847000" y="461231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3135000" y="53599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2559000" y="53599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/>
          <p:cNvCxnSpPr>
            <a:stCxn id="16" idx="4"/>
            <a:endCxn id="18" idx="0"/>
          </p:cNvCxnSpPr>
          <p:nvPr/>
        </p:nvCxnSpPr>
        <p:spPr>
          <a:xfrm flipH="1">
            <a:off x="2703000" y="4900311"/>
            <a:ext cx="288000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6" idx="4"/>
            <a:endCxn id="17" idx="0"/>
          </p:cNvCxnSpPr>
          <p:nvPr/>
        </p:nvCxnSpPr>
        <p:spPr>
          <a:xfrm>
            <a:off x="2991000" y="4900311"/>
            <a:ext cx="288000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/>
          <p:cNvSpPr/>
          <p:nvPr/>
        </p:nvSpPr>
        <p:spPr>
          <a:xfrm>
            <a:off x="3450852" y="461231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接點 21"/>
          <p:cNvCxnSpPr>
            <a:stCxn id="10" idx="4"/>
            <a:endCxn id="21" idx="0"/>
          </p:cNvCxnSpPr>
          <p:nvPr/>
        </p:nvCxnSpPr>
        <p:spPr>
          <a:xfrm>
            <a:off x="3291123" y="4111614"/>
            <a:ext cx="303729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0" idx="4"/>
            <a:endCxn id="16" idx="0"/>
          </p:cNvCxnSpPr>
          <p:nvPr/>
        </p:nvCxnSpPr>
        <p:spPr>
          <a:xfrm flipH="1">
            <a:off x="2991000" y="4111614"/>
            <a:ext cx="300123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橢圓 23"/>
          <p:cNvSpPr/>
          <p:nvPr/>
        </p:nvSpPr>
        <p:spPr>
          <a:xfrm>
            <a:off x="3758387" y="536021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接點 24"/>
          <p:cNvCxnSpPr>
            <a:stCxn id="21" idx="4"/>
            <a:endCxn id="24" idx="0"/>
          </p:cNvCxnSpPr>
          <p:nvPr/>
        </p:nvCxnSpPr>
        <p:spPr>
          <a:xfrm>
            <a:off x="3594852" y="4900311"/>
            <a:ext cx="307535" cy="45989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4994274" y="382361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/>
          <p:cNvSpPr/>
          <p:nvPr/>
        </p:nvSpPr>
        <p:spPr>
          <a:xfrm>
            <a:off x="4694151" y="461231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/>
          <p:cNvSpPr/>
          <p:nvPr/>
        </p:nvSpPr>
        <p:spPr>
          <a:xfrm>
            <a:off x="5042533" y="53599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/>
          <p:cNvSpPr/>
          <p:nvPr/>
        </p:nvSpPr>
        <p:spPr>
          <a:xfrm>
            <a:off x="4406151" y="53599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0" name="直線接點 29"/>
          <p:cNvCxnSpPr>
            <a:stCxn id="27" idx="4"/>
            <a:endCxn id="29" idx="0"/>
          </p:cNvCxnSpPr>
          <p:nvPr/>
        </p:nvCxnSpPr>
        <p:spPr>
          <a:xfrm flipH="1">
            <a:off x="4550151" y="4900311"/>
            <a:ext cx="288000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32" idx="4"/>
            <a:endCxn id="28" idx="0"/>
          </p:cNvCxnSpPr>
          <p:nvPr/>
        </p:nvCxnSpPr>
        <p:spPr>
          <a:xfrm flipH="1">
            <a:off x="5186533" y="4900311"/>
            <a:ext cx="255470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橢圓 31"/>
          <p:cNvSpPr/>
          <p:nvPr/>
        </p:nvSpPr>
        <p:spPr>
          <a:xfrm>
            <a:off x="5298003" y="461231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直線接點 32"/>
          <p:cNvCxnSpPr>
            <a:stCxn id="26" idx="4"/>
            <a:endCxn id="32" idx="0"/>
          </p:cNvCxnSpPr>
          <p:nvPr/>
        </p:nvCxnSpPr>
        <p:spPr>
          <a:xfrm>
            <a:off x="5138274" y="4111614"/>
            <a:ext cx="303729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>
            <a:stCxn id="26" idx="4"/>
            <a:endCxn id="27" idx="0"/>
          </p:cNvCxnSpPr>
          <p:nvPr/>
        </p:nvCxnSpPr>
        <p:spPr>
          <a:xfrm flipH="1">
            <a:off x="4838151" y="4111614"/>
            <a:ext cx="300123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橢圓 34"/>
          <p:cNvSpPr/>
          <p:nvPr/>
        </p:nvSpPr>
        <p:spPr>
          <a:xfrm>
            <a:off x="5605538" y="536021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6" name="直線接點 35"/>
          <p:cNvCxnSpPr>
            <a:stCxn id="32" idx="4"/>
            <a:endCxn id="35" idx="0"/>
          </p:cNvCxnSpPr>
          <p:nvPr/>
        </p:nvCxnSpPr>
        <p:spPr>
          <a:xfrm>
            <a:off x="5442003" y="4900311"/>
            <a:ext cx="307535" cy="45989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/>
          <p:cNvCxnSpPr>
            <a:stCxn id="11" idx="4"/>
            <a:endCxn id="26" idx="0"/>
          </p:cNvCxnSpPr>
          <p:nvPr/>
        </p:nvCxnSpPr>
        <p:spPr>
          <a:xfrm flipH="1">
            <a:off x="5138274" y="3363989"/>
            <a:ext cx="447921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橢圓 37"/>
          <p:cNvSpPr/>
          <p:nvPr/>
        </p:nvSpPr>
        <p:spPr>
          <a:xfrm>
            <a:off x="5651390" y="461231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9" name="直線接點 38"/>
          <p:cNvCxnSpPr>
            <a:stCxn id="40" idx="4"/>
            <a:endCxn id="38" idx="0"/>
          </p:cNvCxnSpPr>
          <p:nvPr/>
        </p:nvCxnSpPr>
        <p:spPr>
          <a:xfrm flipH="1">
            <a:off x="5795390" y="4111614"/>
            <a:ext cx="265237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橢圓 39"/>
          <p:cNvSpPr/>
          <p:nvPr/>
        </p:nvSpPr>
        <p:spPr>
          <a:xfrm>
            <a:off x="5916627" y="382361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橢圓 40"/>
          <p:cNvSpPr/>
          <p:nvPr/>
        </p:nvSpPr>
        <p:spPr>
          <a:xfrm>
            <a:off x="6204627" y="461231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2" name="直線接點 41"/>
          <p:cNvCxnSpPr>
            <a:stCxn id="40" idx="4"/>
            <a:endCxn id="41" idx="0"/>
          </p:cNvCxnSpPr>
          <p:nvPr/>
        </p:nvCxnSpPr>
        <p:spPr>
          <a:xfrm>
            <a:off x="6060627" y="4111614"/>
            <a:ext cx="288000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>
            <a:stCxn id="11" idx="4"/>
            <a:endCxn id="40" idx="0"/>
          </p:cNvCxnSpPr>
          <p:nvPr/>
        </p:nvCxnSpPr>
        <p:spPr>
          <a:xfrm>
            <a:off x="5586195" y="3363989"/>
            <a:ext cx="474432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1598776" y="5320747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1597017" y="4588897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1597017" y="3793671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1597017" y="3043864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1597017" y="2311939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6786433" y="2273041"/>
            <a:ext cx="133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1–1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r>
              <a:rPr lang="en-US" altLang="zh-TW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1598776" y="1869116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</a:t>
            </a:r>
            <a:r>
              <a:rPr lang="en-US" altLang="zh-TW" b="1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6788192" y="1830218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i="1" baseline="30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b="1" baseline="30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6788192" y="3035323"/>
            <a:ext cx="133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2–1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r>
              <a:rPr lang="en-US" altLang="zh-TW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6786433" y="3782948"/>
            <a:ext cx="133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3–1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r>
              <a:rPr lang="en-US" altLang="zh-TW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6786433" y="4571645"/>
            <a:ext cx="133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4–1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r>
              <a:rPr lang="en-US" altLang="zh-TW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6786433" y="5320747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5–1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r>
              <a:rPr lang="en-US" altLang="zh-TW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16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215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  <p:bldP spid="47" grpId="0" animBg="1"/>
      <p:bldP spid="48" grpId="0" animBg="1"/>
      <p:bldP spid="49" grpId="0"/>
      <p:bldP spid="50" grpId="0"/>
      <p:bldP spid="51" grpId="0"/>
      <p:bldP spid="52" grpId="0"/>
      <p:bldP spid="53" grpId="0"/>
      <p:bldP spid="54" grpId="0"/>
      <p:bldP spid="57" grpId="0"/>
      <p:bldP spid="58" grpId="0"/>
      <p:bldP spid="59" grpId="0"/>
      <p:bldP spid="6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二元樹</a:t>
            </a:r>
            <a:r>
              <a:rPr lang="zh-TW" altLang="en-US" dirty="0" smtClean="0"/>
              <a:t>性質 </a:t>
            </a:r>
            <a:r>
              <a:rPr lang="en-US" altLang="zh-TW" dirty="0" smtClean="0"/>
              <a:t>(2/5)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階度為</a:t>
            </a:r>
            <a:r>
              <a:rPr lang="en-US" altLang="zh-TW" i="1" dirty="0" smtClean="0">
                <a:solidFill>
                  <a:srgbClr val="C00000"/>
                </a:solidFill>
              </a:rPr>
              <a:t>k</a:t>
            </a:r>
            <a:r>
              <a:rPr lang="zh-TW" altLang="en-US" dirty="0" smtClean="0"/>
              <a:t>的二元樹，總點數</a:t>
            </a:r>
            <a:r>
              <a:rPr lang="zh-TW" altLang="en-US" dirty="0" smtClean="0">
                <a:solidFill>
                  <a:srgbClr val="0000FF"/>
                </a:solidFill>
              </a:rPr>
              <a:t>最多</a:t>
            </a:r>
            <a:r>
              <a:rPr lang="zh-TW" altLang="en-US" dirty="0" smtClean="0"/>
              <a:t>為</a:t>
            </a:r>
            <a:r>
              <a:rPr lang="en-US" altLang="zh-TW" dirty="0" smtClean="0">
                <a:solidFill>
                  <a:srgbClr val="C00000"/>
                </a:solidFill>
              </a:rPr>
              <a:t>2</a:t>
            </a:r>
            <a:r>
              <a:rPr lang="en-US" altLang="zh-TW" i="1" baseline="30000" dirty="0" smtClean="0">
                <a:solidFill>
                  <a:srgbClr val="C00000"/>
                </a:solidFill>
              </a:rPr>
              <a:t>k</a:t>
            </a:r>
            <a:r>
              <a:rPr lang="en-US" altLang="zh-TW" dirty="0" smtClean="0">
                <a:solidFill>
                  <a:srgbClr val="C00000"/>
                </a:solidFill>
              </a:rPr>
              <a:t> – 1</a:t>
            </a:r>
            <a:r>
              <a:rPr lang="zh-TW" altLang="en-US" dirty="0" smtClean="0"/>
              <a:t>個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圓角矩形 6"/>
          <p:cNvSpPr/>
          <p:nvPr/>
        </p:nvSpPr>
        <p:spPr>
          <a:xfrm>
            <a:off x="2422659" y="2419844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 7"/>
          <p:cNvSpPr/>
          <p:nvPr/>
        </p:nvSpPr>
        <p:spPr>
          <a:xfrm>
            <a:off x="2422659" y="3151769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 8"/>
          <p:cNvSpPr/>
          <p:nvPr/>
        </p:nvSpPr>
        <p:spPr>
          <a:xfrm>
            <a:off x="2422659" y="3901576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>
            <a:off x="2422659" y="4696802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 10"/>
          <p:cNvSpPr/>
          <p:nvPr/>
        </p:nvSpPr>
        <p:spPr>
          <a:xfrm>
            <a:off x="2424418" y="5428652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4447285" y="235114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3435123" y="307598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3723123" y="382361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3147123" y="382361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5442195" y="307598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/>
          <p:cNvCxnSpPr>
            <a:stCxn id="12" idx="3"/>
            <a:endCxn id="13" idx="7"/>
          </p:cNvCxnSpPr>
          <p:nvPr/>
        </p:nvCxnSpPr>
        <p:spPr>
          <a:xfrm flipH="1">
            <a:off x="3680946" y="2596972"/>
            <a:ext cx="808516" cy="52119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2" idx="5"/>
            <a:endCxn id="16" idx="1"/>
          </p:cNvCxnSpPr>
          <p:nvPr/>
        </p:nvCxnSpPr>
        <p:spPr>
          <a:xfrm>
            <a:off x="4693108" y="2596972"/>
            <a:ext cx="791264" cy="52119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15" idx="0"/>
          </p:cNvCxnSpPr>
          <p:nvPr/>
        </p:nvCxnSpPr>
        <p:spPr>
          <a:xfrm flipH="1">
            <a:off x="3291123" y="3363989"/>
            <a:ext cx="288000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3" idx="4"/>
            <a:endCxn id="14" idx="0"/>
          </p:cNvCxnSpPr>
          <p:nvPr/>
        </p:nvCxnSpPr>
        <p:spPr>
          <a:xfrm>
            <a:off x="3579123" y="3363989"/>
            <a:ext cx="288000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/>
          <p:cNvSpPr/>
          <p:nvPr/>
        </p:nvSpPr>
        <p:spPr>
          <a:xfrm>
            <a:off x="2847000" y="461231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3135000" y="53599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2559000" y="53599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接點 23"/>
          <p:cNvCxnSpPr>
            <a:stCxn id="21" idx="4"/>
            <a:endCxn id="23" idx="0"/>
          </p:cNvCxnSpPr>
          <p:nvPr/>
        </p:nvCxnSpPr>
        <p:spPr>
          <a:xfrm flipH="1">
            <a:off x="2703000" y="4900311"/>
            <a:ext cx="288000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21" idx="4"/>
            <a:endCxn id="22" idx="0"/>
          </p:cNvCxnSpPr>
          <p:nvPr/>
        </p:nvCxnSpPr>
        <p:spPr>
          <a:xfrm>
            <a:off x="2991000" y="4900311"/>
            <a:ext cx="288000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3450852" y="461231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7" name="直線接點 26"/>
          <p:cNvCxnSpPr>
            <a:stCxn id="15" idx="4"/>
            <a:endCxn id="26" idx="0"/>
          </p:cNvCxnSpPr>
          <p:nvPr/>
        </p:nvCxnSpPr>
        <p:spPr>
          <a:xfrm>
            <a:off x="3291123" y="4111614"/>
            <a:ext cx="303729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15" idx="4"/>
            <a:endCxn id="21" idx="0"/>
          </p:cNvCxnSpPr>
          <p:nvPr/>
        </p:nvCxnSpPr>
        <p:spPr>
          <a:xfrm flipH="1">
            <a:off x="2991000" y="4111614"/>
            <a:ext cx="300123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橢圓 28"/>
          <p:cNvSpPr/>
          <p:nvPr/>
        </p:nvSpPr>
        <p:spPr>
          <a:xfrm>
            <a:off x="3758387" y="536021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0" name="直線接點 29"/>
          <p:cNvCxnSpPr>
            <a:stCxn id="26" idx="4"/>
            <a:endCxn id="29" idx="0"/>
          </p:cNvCxnSpPr>
          <p:nvPr/>
        </p:nvCxnSpPr>
        <p:spPr>
          <a:xfrm>
            <a:off x="3594852" y="4900311"/>
            <a:ext cx="307535" cy="45989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橢圓 30"/>
          <p:cNvSpPr/>
          <p:nvPr/>
        </p:nvSpPr>
        <p:spPr>
          <a:xfrm>
            <a:off x="4994274" y="382361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4694151" y="461231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橢圓 32"/>
          <p:cNvSpPr/>
          <p:nvPr/>
        </p:nvSpPr>
        <p:spPr>
          <a:xfrm>
            <a:off x="5042533" y="53599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4406151" y="53599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5" name="直線接點 34"/>
          <p:cNvCxnSpPr>
            <a:stCxn id="32" idx="4"/>
            <a:endCxn id="34" idx="0"/>
          </p:cNvCxnSpPr>
          <p:nvPr/>
        </p:nvCxnSpPr>
        <p:spPr>
          <a:xfrm flipH="1">
            <a:off x="4550151" y="4900311"/>
            <a:ext cx="288000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stCxn id="37" idx="4"/>
            <a:endCxn id="33" idx="0"/>
          </p:cNvCxnSpPr>
          <p:nvPr/>
        </p:nvCxnSpPr>
        <p:spPr>
          <a:xfrm flipH="1">
            <a:off x="5186533" y="4900311"/>
            <a:ext cx="255470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橢圓 36"/>
          <p:cNvSpPr/>
          <p:nvPr/>
        </p:nvSpPr>
        <p:spPr>
          <a:xfrm>
            <a:off x="5298003" y="461231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8" name="直線接點 37"/>
          <p:cNvCxnSpPr>
            <a:stCxn id="31" idx="4"/>
            <a:endCxn id="37" idx="0"/>
          </p:cNvCxnSpPr>
          <p:nvPr/>
        </p:nvCxnSpPr>
        <p:spPr>
          <a:xfrm>
            <a:off x="5138274" y="4111614"/>
            <a:ext cx="303729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>
            <a:stCxn id="31" idx="4"/>
            <a:endCxn id="32" idx="0"/>
          </p:cNvCxnSpPr>
          <p:nvPr/>
        </p:nvCxnSpPr>
        <p:spPr>
          <a:xfrm flipH="1">
            <a:off x="4838151" y="4111614"/>
            <a:ext cx="300123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橢圓 39"/>
          <p:cNvSpPr/>
          <p:nvPr/>
        </p:nvSpPr>
        <p:spPr>
          <a:xfrm>
            <a:off x="5605538" y="536021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直線接點 40"/>
          <p:cNvCxnSpPr>
            <a:stCxn id="37" idx="4"/>
            <a:endCxn id="40" idx="0"/>
          </p:cNvCxnSpPr>
          <p:nvPr/>
        </p:nvCxnSpPr>
        <p:spPr>
          <a:xfrm>
            <a:off x="5442003" y="4900311"/>
            <a:ext cx="307535" cy="45989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16" idx="4"/>
            <a:endCxn id="31" idx="0"/>
          </p:cNvCxnSpPr>
          <p:nvPr/>
        </p:nvCxnSpPr>
        <p:spPr>
          <a:xfrm flipH="1">
            <a:off x="5138274" y="3363989"/>
            <a:ext cx="447921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橢圓 42"/>
          <p:cNvSpPr/>
          <p:nvPr/>
        </p:nvSpPr>
        <p:spPr>
          <a:xfrm>
            <a:off x="5651390" y="461231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4" name="直線接點 43"/>
          <p:cNvCxnSpPr>
            <a:stCxn id="45" idx="4"/>
            <a:endCxn id="43" idx="0"/>
          </p:cNvCxnSpPr>
          <p:nvPr/>
        </p:nvCxnSpPr>
        <p:spPr>
          <a:xfrm flipH="1">
            <a:off x="5795390" y="4111614"/>
            <a:ext cx="265237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橢圓 44"/>
          <p:cNvSpPr/>
          <p:nvPr/>
        </p:nvSpPr>
        <p:spPr>
          <a:xfrm>
            <a:off x="5916627" y="382361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橢圓 45"/>
          <p:cNvSpPr/>
          <p:nvPr/>
        </p:nvSpPr>
        <p:spPr>
          <a:xfrm>
            <a:off x="6204627" y="461231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7" name="直線接點 46"/>
          <p:cNvCxnSpPr>
            <a:stCxn id="45" idx="4"/>
            <a:endCxn id="46" idx="0"/>
          </p:cNvCxnSpPr>
          <p:nvPr/>
        </p:nvCxnSpPr>
        <p:spPr>
          <a:xfrm>
            <a:off x="6060627" y="4111614"/>
            <a:ext cx="288000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>
            <a:stCxn id="16" idx="4"/>
            <a:endCxn id="45" idx="0"/>
          </p:cNvCxnSpPr>
          <p:nvPr/>
        </p:nvCxnSpPr>
        <p:spPr>
          <a:xfrm>
            <a:off x="5586195" y="3363989"/>
            <a:ext cx="474432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1598776" y="5320747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1597017" y="4588897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1597017" y="3793671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1597017" y="3043864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1597017" y="2311939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6786433" y="2273041"/>
            <a:ext cx="133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1–1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r>
              <a:rPr lang="en-US" altLang="zh-TW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1598776" y="1869116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</a:t>
            </a:r>
            <a:r>
              <a:rPr lang="en-US" altLang="zh-TW" b="1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6788192" y="1830218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i="1" baseline="30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b="1" baseline="30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6788192" y="3035323"/>
            <a:ext cx="133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2–1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r>
              <a:rPr lang="en-US" altLang="zh-TW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6786433" y="3782948"/>
            <a:ext cx="133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3–1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r>
              <a:rPr lang="en-US" altLang="zh-TW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6786433" y="4571645"/>
            <a:ext cx="133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4–1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r>
              <a:rPr lang="en-US" altLang="zh-TW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6786433" y="5320747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5–1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r>
              <a:rPr lang="en-US" altLang="zh-TW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16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/>
              <p:cNvSpPr txBox="1"/>
              <p:nvPr/>
            </p:nvSpPr>
            <p:spPr>
              <a:xfrm>
                <a:off x="2267744" y="5661248"/>
                <a:ext cx="5003614" cy="9700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000" b="1" i="1" smtClean="0">
                              <a:latin typeface="Cambria Math"/>
                            </a:rPr>
                            <m:t>𝒊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altLang="zh-TW" sz="2000" b="1" i="1" smtClean="0">
                              <a:latin typeface="Cambria Math"/>
                            </a:rPr>
                            <m:t>𝒌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𝒊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𝟏</m:t>
                              </m:r>
                            </m:sup>
                          </m:sSup>
                        </m:e>
                      </m:nary>
                      <m:r>
                        <a:rPr lang="en-US" altLang="zh-TW" sz="2000" b="1" i="1" smtClean="0">
                          <a:latin typeface="Cambria Math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/>
                        </a:rPr>
                        <m:t>𝟏</m:t>
                      </m:r>
                      <m:r>
                        <a:rPr lang="en-US" altLang="zh-TW" sz="2000" b="1" i="1" smtClean="0">
                          <a:latin typeface="Cambria Math"/>
                        </a:rPr>
                        <m:t>+</m:t>
                      </m:r>
                      <m:r>
                        <a:rPr lang="en-US" altLang="zh-TW" sz="2000" b="1" i="1" smtClean="0">
                          <a:latin typeface="Cambria Math"/>
                        </a:rPr>
                        <m:t>𝟐</m:t>
                      </m:r>
                      <m:r>
                        <a:rPr lang="en-US" altLang="zh-TW" sz="2000" b="1" i="1" smtClean="0">
                          <a:latin typeface="Cambria Math"/>
                        </a:rPr>
                        <m:t>+</m:t>
                      </m:r>
                      <m:r>
                        <a:rPr lang="en-US" altLang="zh-TW" sz="2000" b="1" i="1" smtClean="0">
                          <a:latin typeface="Cambria Math"/>
                        </a:rPr>
                        <m:t>𝟒</m:t>
                      </m:r>
                      <m:r>
                        <a:rPr lang="en-US" altLang="zh-TW" sz="2000" b="1" i="1" smtClean="0">
                          <a:latin typeface="Cambria Math"/>
                        </a:rPr>
                        <m:t>+…+ </m:t>
                      </m:r>
                      <m:sSup>
                        <m:sSup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/>
                            </a:rPr>
                            <m:t>𝒌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𝟏</m:t>
                          </m:r>
                        </m:sup>
                      </m:sSup>
                      <m:r>
                        <a:rPr lang="en-US" altLang="zh-TW" sz="2000" b="1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/>
                            </a:rPr>
                            <m:t>𝒌</m:t>
                          </m:r>
                        </m:sup>
                      </m:sSup>
                      <m:r>
                        <a:rPr lang="en-US" altLang="zh-TW" sz="2000" b="1" i="1" smtClean="0">
                          <a:latin typeface="Cambria Math"/>
                        </a:rPr>
                        <m:t>−</m:t>
                      </m:r>
                      <m:r>
                        <a:rPr lang="en-US" altLang="zh-TW" sz="2000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61" name="文字方塊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744" y="5661248"/>
                <a:ext cx="5003614" cy="97000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3257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二元樹</a:t>
            </a:r>
            <a:r>
              <a:rPr lang="zh-TW" altLang="en-US" dirty="0" smtClean="0"/>
              <a:t>性質 </a:t>
            </a:r>
            <a:r>
              <a:rPr lang="en-US" altLang="zh-TW" dirty="0" smtClean="0"/>
              <a:t>(3/5)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>
                <a:solidFill>
                  <a:srgbClr val="0000FF"/>
                </a:solidFill>
              </a:rPr>
              <a:t>完滿二元樹</a:t>
            </a:r>
            <a:r>
              <a:rPr lang="en-US" altLang="zh-TW" dirty="0" smtClean="0">
                <a:solidFill>
                  <a:srgbClr val="0000FF"/>
                </a:solidFill>
              </a:rPr>
              <a:t>(full binary tree)</a:t>
            </a:r>
            <a:r>
              <a:rPr lang="zh-TW" altLang="en-US" dirty="0" smtClean="0"/>
              <a:t>：階度為</a:t>
            </a:r>
            <a:r>
              <a:rPr lang="en-US" altLang="zh-TW" i="1" dirty="0" smtClean="0">
                <a:solidFill>
                  <a:srgbClr val="C00000"/>
                </a:solidFill>
              </a:rPr>
              <a:t>k</a:t>
            </a:r>
            <a:r>
              <a:rPr lang="zh-TW" altLang="en-US" dirty="0" smtClean="0"/>
              <a:t>，總點數為</a:t>
            </a:r>
            <a:r>
              <a:rPr lang="en-US" altLang="zh-TW" dirty="0" smtClean="0">
                <a:solidFill>
                  <a:srgbClr val="C00000"/>
                </a:solidFill>
              </a:rPr>
              <a:t>2</a:t>
            </a:r>
            <a:r>
              <a:rPr lang="en-US" altLang="zh-TW" i="1" baseline="30000" dirty="0" smtClean="0">
                <a:solidFill>
                  <a:srgbClr val="C00000"/>
                </a:solidFill>
              </a:rPr>
              <a:t>k</a:t>
            </a:r>
            <a:r>
              <a:rPr lang="en-US" altLang="zh-TW" dirty="0" smtClean="0">
                <a:solidFill>
                  <a:srgbClr val="C00000"/>
                </a:solidFill>
              </a:rPr>
              <a:t> – 1</a:t>
            </a:r>
            <a:r>
              <a:rPr lang="zh-TW" altLang="en-US" dirty="0" smtClean="0"/>
              <a:t>的二元樹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4378277" y="235114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3262603" y="307598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3705871" y="382361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2767579" y="382361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442195" y="307598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7" idx="3"/>
            <a:endCxn id="8" idx="7"/>
          </p:cNvCxnSpPr>
          <p:nvPr/>
        </p:nvCxnSpPr>
        <p:spPr>
          <a:xfrm flipH="1">
            <a:off x="3508426" y="2596972"/>
            <a:ext cx="912028" cy="52119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7" idx="5"/>
            <a:endCxn id="11" idx="1"/>
          </p:cNvCxnSpPr>
          <p:nvPr/>
        </p:nvCxnSpPr>
        <p:spPr>
          <a:xfrm>
            <a:off x="4624100" y="2596972"/>
            <a:ext cx="860272" cy="52119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8" idx="4"/>
            <a:endCxn id="10" idx="0"/>
          </p:cNvCxnSpPr>
          <p:nvPr/>
        </p:nvCxnSpPr>
        <p:spPr>
          <a:xfrm flipH="1">
            <a:off x="2911579" y="3363989"/>
            <a:ext cx="495024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8" idx="4"/>
            <a:endCxn id="9" idx="0"/>
          </p:cNvCxnSpPr>
          <p:nvPr/>
        </p:nvCxnSpPr>
        <p:spPr>
          <a:xfrm>
            <a:off x="3406603" y="3363989"/>
            <a:ext cx="443268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橢圓 15"/>
          <p:cNvSpPr/>
          <p:nvPr/>
        </p:nvSpPr>
        <p:spPr>
          <a:xfrm>
            <a:off x="2467456" y="461231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3071308" y="461231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接點 17"/>
          <p:cNvCxnSpPr>
            <a:stCxn id="10" idx="4"/>
            <a:endCxn id="17" idx="0"/>
          </p:cNvCxnSpPr>
          <p:nvPr/>
        </p:nvCxnSpPr>
        <p:spPr>
          <a:xfrm>
            <a:off x="2911579" y="4111614"/>
            <a:ext cx="303729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0" idx="4"/>
            <a:endCxn id="16" idx="0"/>
          </p:cNvCxnSpPr>
          <p:nvPr/>
        </p:nvCxnSpPr>
        <p:spPr>
          <a:xfrm flipH="1">
            <a:off x="2611456" y="4111614"/>
            <a:ext cx="300123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/>
          <p:cNvSpPr/>
          <p:nvPr/>
        </p:nvSpPr>
        <p:spPr>
          <a:xfrm>
            <a:off x="4994274" y="382361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4694151" y="461231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5298003" y="461231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/>
          <p:cNvCxnSpPr>
            <a:stCxn id="20" idx="4"/>
            <a:endCxn id="22" idx="0"/>
          </p:cNvCxnSpPr>
          <p:nvPr/>
        </p:nvCxnSpPr>
        <p:spPr>
          <a:xfrm>
            <a:off x="5138274" y="4111614"/>
            <a:ext cx="303729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20" idx="4"/>
            <a:endCxn id="21" idx="0"/>
          </p:cNvCxnSpPr>
          <p:nvPr/>
        </p:nvCxnSpPr>
        <p:spPr>
          <a:xfrm flipH="1">
            <a:off x="4838151" y="4111614"/>
            <a:ext cx="300123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1" idx="4"/>
            <a:endCxn id="20" idx="0"/>
          </p:cNvCxnSpPr>
          <p:nvPr/>
        </p:nvCxnSpPr>
        <p:spPr>
          <a:xfrm flipH="1">
            <a:off x="5138274" y="3363989"/>
            <a:ext cx="447921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5651390" y="461231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7" name="直線接點 26"/>
          <p:cNvCxnSpPr>
            <a:stCxn id="28" idx="4"/>
            <a:endCxn id="26" idx="0"/>
          </p:cNvCxnSpPr>
          <p:nvPr/>
        </p:nvCxnSpPr>
        <p:spPr>
          <a:xfrm flipH="1">
            <a:off x="5795390" y="4111614"/>
            <a:ext cx="265237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橢圓 27"/>
          <p:cNvSpPr/>
          <p:nvPr/>
        </p:nvSpPr>
        <p:spPr>
          <a:xfrm>
            <a:off x="5916627" y="382361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/>
          <p:cNvSpPr/>
          <p:nvPr/>
        </p:nvSpPr>
        <p:spPr>
          <a:xfrm>
            <a:off x="6204627" y="461231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0" name="直線接點 29"/>
          <p:cNvCxnSpPr>
            <a:stCxn id="28" idx="4"/>
            <a:endCxn id="29" idx="0"/>
          </p:cNvCxnSpPr>
          <p:nvPr/>
        </p:nvCxnSpPr>
        <p:spPr>
          <a:xfrm>
            <a:off x="6060627" y="4111614"/>
            <a:ext cx="288000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11" idx="4"/>
            <a:endCxn id="28" idx="0"/>
          </p:cNvCxnSpPr>
          <p:nvPr/>
        </p:nvCxnSpPr>
        <p:spPr>
          <a:xfrm>
            <a:off x="5586195" y="3363989"/>
            <a:ext cx="474432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橢圓 31"/>
          <p:cNvSpPr/>
          <p:nvPr/>
        </p:nvSpPr>
        <p:spPr>
          <a:xfrm>
            <a:off x="3414471" y="461231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橢圓 32"/>
          <p:cNvSpPr/>
          <p:nvPr/>
        </p:nvSpPr>
        <p:spPr>
          <a:xfrm>
            <a:off x="4018323" y="461231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4" name="直線接點 33"/>
          <p:cNvCxnSpPr>
            <a:stCxn id="9" idx="4"/>
            <a:endCxn id="33" idx="0"/>
          </p:cNvCxnSpPr>
          <p:nvPr/>
        </p:nvCxnSpPr>
        <p:spPr>
          <a:xfrm>
            <a:off x="3849871" y="4111614"/>
            <a:ext cx="312452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>
            <a:stCxn id="9" idx="4"/>
            <a:endCxn id="32" idx="0"/>
          </p:cNvCxnSpPr>
          <p:nvPr/>
        </p:nvCxnSpPr>
        <p:spPr>
          <a:xfrm flipH="1">
            <a:off x="3558471" y="4111614"/>
            <a:ext cx="291400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3388593" y="5304985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階度：</a:t>
            </a:r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</a:p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總點數：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 = 2</a:t>
            </a:r>
            <a:r>
              <a:rPr lang="en-US" altLang="zh-TW" sz="2000" b="1" baseline="30000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– 1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984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二元樹</a:t>
            </a:r>
            <a:r>
              <a:rPr lang="zh-TW" altLang="en-US" dirty="0" smtClean="0"/>
              <a:t>性質 </a:t>
            </a:r>
            <a:r>
              <a:rPr lang="en-US" altLang="zh-TW" dirty="0" smtClean="0"/>
              <a:t>(4/5)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階度為</a:t>
            </a:r>
            <a:r>
              <a:rPr lang="en-US" altLang="zh-TW" i="1" dirty="0" smtClean="0">
                <a:solidFill>
                  <a:srgbClr val="C00000"/>
                </a:solidFill>
              </a:rPr>
              <a:t>k</a:t>
            </a:r>
            <a:r>
              <a:rPr lang="zh-TW" altLang="en-US" dirty="0" smtClean="0"/>
              <a:t>的二元樹，總點數</a:t>
            </a:r>
            <a:r>
              <a:rPr lang="zh-TW" altLang="en-US" dirty="0" smtClean="0">
                <a:solidFill>
                  <a:srgbClr val="0000FF"/>
                </a:solidFill>
              </a:rPr>
              <a:t>最少</a:t>
            </a:r>
            <a:r>
              <a:rPr lang="zh-TW" altLang="en-US" dirty="0" smtClean="0"/>
              <a:t>為</a:t>
            </a:r>
            <a:r>
              <a:rPr lang="en-US" altLang="zh-TW" i="1" dirty="0" smtClean="0">
                <a:solidFill>
                  <a:srgbClr val="C00000"/>
                </a:solidFill>
              </a:rPr>
              <a:t>k</a:t>
            </a:r>
            <a:r>
              <a:rPr lang="zh-TW" altLang="en-US" dirty="0" smtClean="0"/>
              <a:t>個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圓角矩形 6"/>
          <p:cNvSpPr/>
          <p:nvPr/>
        </p:nvSpPr>
        <p:spPr>
          <a:xfrm>
            <a:off x="2422659" y="2419844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 7"/>
          <p:cNvSpPr/>
          <p:nvPr/>
        </p:nvSpPr>
        <p:spPr>
          <a:xfrm>
            <a:off x="2422659" y="3151769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 8"/>
          <p:cNvSpPr/>
          <p:nvPr/>
        </p:nvSpPr>
        <p:spPr>
          <a:xfrm>
            <a:off x="2422659" y="3901576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>
            <a:off x="2422659" y="4696802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 10"/>
          <p:cNvSpPr/>
          <p:nvPr/>
        </p:nvSpPr>
        <p:spPr>
          <a:xfrm>
            <a:off x="2424418" y="5428652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6" name="群組 25"/>
          <p:cNvGrpSpPr/>
          <p:nvPr/>
        </p:nvGrpSpPr>
        <p:grpSpPr>
          <a:xfrm>
            <a:off x="2618573" y="2351149"/>
            <a:ext cx="897190" cy="3296787"/>
            <a:chOff x="2618573" y="2351149"/>
            <a:chExt cx="897190" cy="3296787"/>
          </a:xfrm>
        </p:grpSpPr>
        <p:sp>
          <p:nvSpPr>
            <p:cNvPr id="12" name="橢圓 11"/>
            <p:cNvSpPr/>
            <p:nvPr/>
          </p:nvSpPr>
          <p:spPr>
            <a:xfrm>
              <a:off x="2618573" y="235114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3130427" y="307598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" name="直線接點 13"/>
            <p:cNvCxnSpPr>
              <a:stCxn id="12" idx="4"/>
              <a:endCxn id="13" idx="0"/>
            </p:cNvCxnSpPr>
            <p:nvPr/>
          </p:nvCxnSpPr>
          <p:spPr>
            <a:xfrm>
              <a:off x="2762573" y="2639149"/>
              <a:ext cx="511854" cy="4368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橢圓 14"/>
            <p:cNvSpPr/>
            <p:nvPr/>
          </p:nvSpPr>
          <p:spPr>
            <a:xfrm>
              <a:off x="2786018" y="382361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2739391" y="535993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7" name="直線接點 16"/>
            <p:cNvCxnSpPr>
              <a:stCxn id="18" idx="4"/>
              <a:endCxn id="16" idx="0"/>
            </p:cNvCxnSpPr>
            <p:nvPr/>
          </p:nvCxnSpPr>
          <p:spPr>
            <a:xfrm flipH="1">
              <a:off x="2883391" y="4900311"/>
              <a:ext cx="488372" cy="4596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橢圓 17"/>
            <p:cNvSpPr/>
            <p:nvPr/>
          </p:nvSpPr>
          <p:spPr>
            <a:xfrm>
              <a:off x="3227763" y="461231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9" name="直線接點 18"/>
            <p:cNvCxnSpPr>
              <a:stCxn id="15" idx="4"/>
              <a:endCxn id="18" idx="0"/>
            </p:cNvCxnSpPr>
            <p:nvPr/>
          </p:nvCxnSpPr>
          <p:spPr>
            <a:xfrm>
              <a:off x="2930018" y="4111614"/>
              <a:ext cx="441745" cy="50069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>
              <a:stCxn id="13" idx="4"/>
              <a:endCxn id="15" idx="0"/>
            </p:cNvCxnSpPr>
            <p:nvPr/>
          </p:nvCxnSpPr>
          <p:spPr>
            <a:xfrm flipH="1">
              <a:off x="2930018" y="3363989"/>
              <a:ext cx="344409" cy="4596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文字方塊 20"/>
          <p:cNvSpPr txBox="1"/>
          <p:nvPr/>
        </p:nvSpPr>
        <p:spPr>
          <a:xfrm>
            <a:off x="1598776" y="5320747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597017" y="4588897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1597017" y="3793671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1597017" y="3043864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1597017" y="2311939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" name="群組 26"/>
          <p:cNvGrpSpPr/>
          <p:nvPr/>
        </p:nvGrpSpPr>
        <p:grpSpPr>
          <a:xfrm>
            <a:off x="3773764" y="2351149"/>
            <a:ext cx="1079510" cy="3298264"/>
            <a:chOff x="3773764" y="2351149"/>
            <a:chExt cx="1079510" cy="3298264"/>
          </a:xfrm>
        </p:grpSpPr>
        <p:sp>
          <p:nvSpPr>
            <p:cNvPr id="28" name="橢圓 27"/>
            <p:cNvSpPr/>
            <p:nvPr/>
          </p:nvSpPr>
          <p:spPr>
            <a:xfrm>
              <a:off x="4565274" y="235114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橢圓 28"/>
            <p:cNvSpPr/>
            <p:nvPr/>
          </p:nvSpPr>
          <p:spPr>
            <a:xfrm>
              <a:off x="4339689" y="307598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橢圓 29"/>
            <p:cNvSpPr/>
            <p:nvPr/>
          </p:nvSpPr>
          <p:spPr>
            <a:xfrm>
              <a:off x="4161044" y="383313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橢圓 30"/>
            <p:cNvSpPr/>
            <p:nvPr/>
          </p:nvSpPr>
          <p:spPr>
            <a:xfrm>
              <a:off x="3947274" y="461231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橢圓 31"/>
            <p:cNvSpPr/>
            <p:nvPr/>
          </p:nvSpPr>
          <p:spPr>
            <a:xfrm>
              <a:off x="3773764" y="536141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3" name="直線接點 32"/>
            <p:cNvCxnSpPr>
              <a:stCxn id="28" idx="4"/>
              <a:endCxn id="29" idx="0"/>
            </p:cNvCxnSpPr>
            <p:nvPr/>
          </p:nvCxnSpPr>
          <p:spPr>
            <a:xfrm flipH="1">
              <a:off x="4483689" y="2639149"/>
              <a:ext cx="225585" cy="4368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>
              <a:stCxn id="29" idx="4"/>
              <a:endCxn id="30" idx="0"/>
            </p:cNvCxnSpPr>
            <p:nvPr/>
          </p:nvCxnSpPr>
          <p:spPr>
            <a:xfrm flipH="1">
              <a:off x="4305044" y="3363989"/>
              <a:ext cx="178645" cy="46914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接點 38"/>
            <p:cNvCxnSpPr>
              <a:stCxn id="30" idx="4"/>
              <a:endCxn id="31" idx="0"/>
            </p:cNvCxnSpPr>
            <p:nvPr/>
          </p:nvCxnSpPr>
          <p:spPr>
            <a:xfrm flipH="1">
              <a:off x="4091274" y="4121133"/>
              <a:ext cx="213770" cy="491178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/>
            <p:cNvCxnSpPr>
              <a:stCxn id="31" idx="4"/>
              <a:endCxn id="32" idx="0"/>
            </p:cNvCxnSpPr>
            <p:nvPr/>
          </p:nvCxnSpPr>
          <p:spPr>
            <a:xfrm flipH="1">
              <a:off x="3917764" y="4900311"/>
              <a:ext cx="173510" cy="461102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群組 33"/>
          <p:cNvGrpSpPr/>
          <p:nvPr/>
        </p:nvGrpSpPr>
        <p:grpSpPr>
          <a:xfrm>
            <a:off x="5121685" y="2351149"/>
            <a:ext cx="1083674" cy="3298264"/>
            <a:chOff x="5121685" y="2351149"/>
            <a:chExt cx="1083674" cy="3298264"/>
          </a:xfrm>
        </p:grpSpPr>
        <p:sp>
          <p:nvSpPr>
            <p:cNvPr id="50" name="橢圓 49"/>
            <p:cNvSpPr/>
            <p:nvPr/>
          </p:nvSpPr>
          <p:spPr>
            <a:xfrm>
              <a:off x="5121685" y="235114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橢圓 50"/>
            <p:cNvSpPr/>
            <p:nvPr/>
          </p:nvSpPr>
          <p:spPr>
            <a:xfrm>
              <a:off x="5318774" y="307598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橢圓 51"/>
            <p:cNvSpPr/>
            <p:nvPr/>
          </p:nvSpPr>
          <p:spPr>
            <a:xfrm>
              <a:off x="5511047" y="383313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橢圓 52"/>
            <p:cNvSpPr/>
            <p:nvPr/>
          </p:nvSpPr>
          <p:spPr>
            <a:xfrm>
              <a:off x="5719951" y="461231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橢圓 53"/>
            <p:cNvSpPr/>
            <p:nvPr/>
          </p:nvSpPr>
          <p:spPr>
            <a:xfrm>
              <a:off x="5917359" y="536141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5" name="直線接點 54"/>
            <p:cNvCxnSpPr>
              <a:stCxn id="50" idx="4"/>
              <a:endCxn id="51" idx="0"/>
            </p:cNvCxnSpPr>
            <p:nvPr/>
          </p:nvCxnSpPr>
          <p:spPr>
            <a:xfrm>
              <a:off x="5265685" y="2639149"/>
              <a:ext cx="197089" cy="4368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接點 55"/>
            <p:cNvCxnSpPr>
              <a:stCxn id="51" idx="4"/>
              <a:endCxn id="52" idx="0"/>
            </p:cNvCxnSpPr>
            <p:nvPr/>
          </p:nvCxnSpPr>
          <p:spPr>
            <a:xfrm>
              <a:off x="5462774" y="3363989"/>
              <a:ext cx="192273" cy="46914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接點 56"/>
            <p:cNvCxnSpPr>
              <a:stCxn id="52" idx="4"/>
              <a:endCxn id="53" idx="0"/>
            </p:cNvCxnSpPr>
            <p:nvPr/>
          </p:nvCxnSpPr>
          <p:spPr>
            <a:xfrm>
              <a:off x="5655047" y="4121133"/>
              <a:ext cx="208904" cy="491178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接點 57"/>
            <p:cNvCxnSpPr>
              <a:stCxn id="53" idx="4"/>
              <a:endCxn id="54" idx="0"/>
            </p:cNvCxnSpPr>
            <p:nvPr/>
          </p:nvCxnSpPr>
          <p:spPr>
            <a:xfrm>
              <a:off x="5863951" y="4900311"/>
              <a:ext cx="197408" cy="461102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文字方塊 58"/>
          <p:cNvSpPr txBox="1"/>
          <p:nvPr/>
        </p:nvSpPr>
        <p:spPr>
          <a:xfrm>
            <a:off x="3885682" y="5961982"/>
            <a:ext cx="23024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歪斜樹 </a:t>
            </a:r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skewed tree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448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圓角矩形 42"/>
          <p:cNvSpPr/>
          <p:nvPr/>
        </p:nvSpPr>
        <p:spPr>
          <a:xfrm>
            <a:off x="1775709" y="2419844"/>
            <a:ext cx="5688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圓角矩形 43"/>
          <p:cNvSpPr/>
          <p:nvPr/>
        </p:nvSpPr>
        <p:spPr>
          <a:xfrm>
            <a:off x="1775709" y="3151769"/>
            <a:ext cx="5688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圓角矩形 44"/>
          <p:cNvSpPr/>
          <p:nvPr/>
        </p:nvSpPr>
        <p:spPr>
          <a:xfrm>
            <a:off x="1775709" y="3901576"/>
            <a:ext cx="5688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圓角矩形 45"/>
          <p:cNvSpPr/>
          <p:nvPr/>
        </p:nvSpPr>
        <p:spPr>
          <a:xfrm>
            <a:off x="1775709" y="4696802"/>
            <a:ext cx="5688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二元樹</a:t>
            </a:r>
            <a:r>
              <a:rPr lang="zh-TW" altLang="en-US" dirty="0" smtClean="0"/>
              <a:t>性質 </a:t>
            </a:r>
            <a:r>
              <a:rPr lang="en-US" altLang="zh-TW" dirty="0" smtClean="0"/>
              <a:t>(5/5)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170980" y="1319014"/>
                <a:ext cx="8826061" cy="5098878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zh-TW" altLang="en-US" dirty="0" smtClean="0"/>
                  <a:t>總點數為</a:t>
                </a:r>
                <a:r>
                  <a:rPr lang="en-US" altLang="zh-TW" i="1" dirty="0" smtClean="0">
                    <a:solidFill>
                      <a:srgbClr val="C00000"/>
                    </a:solidFill>
                  </a:rPr>
                  <a:t>n</a:t>
                </a:r>
                <a:r>
                  <a:rPr lang="zh-TW" altLang="en-US" dirty="0" smtClean="0"/>
                  <a:t>的二元樹，樹高</a:t>
                </a:r>
                <a:r>
                  <a:rPr lang="zh-TW" altLang="en-US" dirty="0" smtClean="0">
                    <a:solidFill>
                      <a:srgbClr val="0000FF"/>
                    </a:solidFill>
                  </a:rPr>
                  <a:t>最多</a:t>
                </a:r>
                <a:r>
                  <a:rPr lang="zh-TW" altLang="en-US" dirty="0" smtClean="0"/>
                  <a:t>為</a:t>
                </a:r>
                <a:r>
                  <a:rPr lang="en-US" altLang="zh-TW" i="1" dirty="0" smtClean="0">
                    <a:solidFill>
                      <a:srgbClr val="C00000"/>
                    </a:solidFill>
                  </a:rPr>
                  <a:t>n</a:t>
                </a:r>
                <a:r>
                  <a:rPr lang="zh-TW" altLang="en-US" dirty="0" smtClean="0"/>
                  <a:t>，</a:t>
                </a:r>
                <a:r>
                  <a:rPr lang="zh-TW" altLang="en-US" dirty="0" smtClean="0">
                    <a:solidFill>
                      <a:srgbClr val="0000FF"/>
                    </a:solidFill>
                  </a:rPr>
                  <a:t>最少</a:t>
                </a:r>
                <a:r>
                  <a:rPr lang="zh-TW" altLang="en-US" dirty="0" smtClean="0"/>
                  <a:t>為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TW" alt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1" i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𝐥𝐠</m:t>
                        </m:r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𝒏</m:t>
                        </m:r>
                      </m:e>
                    </m:d>
                    <m:r>
                      <a:rPr lang="en-US" altLang="zh-TW" b="1" i="1" smtClean="0">
                        <a:solidFill>
                          <a:srgbClr val="C00000"/>
                        </a:solidFill>
                        <a:latin typeface="Cambria Math"/>
                      </a:rPr>
                      <m:t>+</m:t>
                    </m:r>
                    <m:r>
                      <a:rPr lang="en-US" altLang="zh-TW" b="1" i="1" smtClean="0">
                        <a:solidFill>
                          <a:srgbClr val="C00000"/>
                        </a:solidFill>
                        <a:latin typeface="Cambria Math"/>
                      </a:rPr>
                      <m:t>𝟏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 rotWithShape="1">
                <a:blip r:embed="rId2"/>
                <a:stretch>
                  <a:fillRect l="-5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  <p:grpSp>
        <p:nvGrpSpPr>
          <p:cNvPr id="53" name="群組 52"/>
          <p:cNvGrpSpPr/>
          <p:nvPr/>
        </p:nvGrpSpPr>
        <p:grpSpPr>
          <a:xfrm>
            <a:off x="3286926" y="2351149"/>
            <a:ext cx="4025171" cy="2549162"/>
            <a:chOff x="3286926" y="2351149"/>
            <a:chExt cx="4025171" cy="2549162"/>
          </a:xfrm>
        </p:grpSpPr>
        <p:sp>
          <p:nvSpPr>
            <p:cNvPr id="7" name="橢圓 6"/>
            <p:cNvSpPr/>
            <p:nvPr/>
          </p:nvSpPr>
          <p:spPr>
            <a:xfrm>
              <a:off x="5197747" y="235114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4082073" y="307598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4525341" y="382361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3587049" y="382361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橢圓 10"/>
            <p:cNvSpPr/>
            <p:nvPr/>
          </p:nvSpPr>
          <p:spPr>
            <a:xfrm>
              <a:off x="6261665" y="307598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" name="直線接點 11"/>
            <p:cNvCxnSpPr>
              <a:stCxn id="7" idx="3"/>
              <a:endCxn id="8" idx="7"/>
            </p:cNvCxnSpPr>
            <p:nvPr/>
          </p:nvCxnSpPr>
          <p:spPr>
            <a:xfrm flipH="1">
              <a:off x="4327896" y="2596972"/>
              <a:ext cx="912028" cy="52119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>
              <a:stCxn id="7" idx="5"/>
              <a:endCxn id="11" idx="1"/>
            </p:cNvCxnSpPr>
            <p:nvPr/>
          </p:nvCxnSpPr>
          <p:spPr>
            <a:xfrm>
              <a:off x="5443570" y="2596972"/>
              <a:ext cx="860272" cy="52119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>
              <a:stCxn id="8" idx="4"/>
              <a:endCxn id="10" idx="0"/>
            </p:cNvCxnSpPr>
            <p:nvPr/>
          </p:nvCxnSpPr>
          <p:spPr>
            <a:xfrm flipH="1">
              <a:off x="3731049" y="3363989"/>
              <a:ext cx="495024" cy="4596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/>
            <p:cNvCxnSpPr>
              <a:stCxn id="8" idx="4"/>
              <a:endCxn id="9" idx="0"/>
            </p:cNvCxnSpPr>
            <p:nvPr/>
          </p:nvCxnSpPr>
          <p:spPr>
            <a:xfrm>
              <a:off x="4226073" y="3363989"/>
              <a:ext cx="443268" cy="4596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橢圓 15"/>
            <p:cNvSpPr/>
            <p:nvPr/>
          </p:nvSpPr>
          <p:spPr>
            <a:xfrm>
              <a:off x="3286926" y="461231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3890778" y="461231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" name="直線接點 17"/>
            <p:cNvCxnSpPr>
              <a:stCxn id="10" idx="4"/>
              <a:endCxn id="17" idx="0"/>
            </p:cNvCxnSpPr>
            <p:nvPr/>
          </p:nvCxnSpPr>
          <p:spPr>
            <a:xfrm>
              <a:off x="3731049" y="4111614"/>
              <a:ext cx="303729" cy="50069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>
              <a:stCxn id="10" idx="4"/>
              <a:endCxn id="16" idx="0"/>
            </p:cNvCxnSpPr>
            <p:nvPr/>
          </p:nvCxnSpPr>
          <p:spPr>
            <a:xfrm flipH="1">
              <a:off x="3430926" y="4111614"/>
              <a:ext cx="300123" cy="50069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橢圓 19"/>
            <p:cNvSpPr/>
            <p:nvPr/>
          </p:nvSpPr>
          <p:spPr>
            <a:xfrm>
              <a:off x="5813744" y="382361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5513621" y="461231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6117473" y="461231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3" name="直線接點 22"/>
            <p:cNvCxnSpPr>
              <a:stCxn id="20" idx="4"/>
              <a:endCxn id="22" idx="0"/>
            </p:cNvCxnSpPr>
            <p:nvPr/>
          </p:nvCxnSpPr>
          <p:spPr>
            <a:xfrm>
              <a:off x="5957744" y="4111614"/>
              <a:ext cx="303729" cy="50069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>
              <a:stCxn id="20" idx="4"/>
              <a:endCxn id="21" idx="0"/>
            </p:cNvCxnSpPr>
            <p:nvPr/>
          </p:nvCxnSpPr>
          <p:spPr>
            <a:xfrm flipH="1">
              <a:off x="5657621" y="4111614"/>
              <a:ext cx="300123" cy="50069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>
              <a:stCxn id="11" idx="4"/>
              <a:endCxn id="20" idx="0"/>
            </p:cNvCxnSpPr>
            <p:nvPr/>
          </p:nvCxnSpPr>
          <p:spPr>
            <a:xfrm flipH="1">
              <a:off x="5957744" y="3363989"/>
              <a:ext cx="447921" cy="4596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橢圓 25"/>
            <p:cNvSpPr/>
            <p:nvPr/>
          </p:nvSpPr>
          <p:spPr>
            <a:xfrm>
              <a:off x="6470860" y="461231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7" name="直線接點 26"/>
            <p:cNvCxnSpPr>
              <a:stCxn id="28" idx="4"/>
              <a:endCxn id="26" idx="0"/>
            </p:cNvCxnSpPr>
            <p:nvPr/>
          </p:nvCxnSpPr>
          <p:spPr>
            <a:xfrm flipH="1">
              <a:off x="6614860" y="4111614"/>
              <a:ext cx="265237" cy="50069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橢圓 27"/>
            <p:cNvSpPr/>
            <p:nvPr/>
          </p:nvSpPr>
          <p:spPr>
            <a:xfrm>
              <a:off x="6736097" y="382361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橢圓 28"/>
            <p:cNvSpPr/>
            <p:nvPr/>
          </p:nvSpPr>
          <p:spPr>
            <a:xfrm>
              <a:off x="7024097" y="461231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0" name="直線接點 29"/>
            <p:cNvCxnSpPr>
              <a:stCxn id="28" idx="4"/>
              <a:endCxn id="29" idx="0"/>
            </p:cNvCxnSpPr>
            <p:nvPr/>
          </p:nvCxnSpPr>
          <p:spPr>
            <a:xfrm>
              <a:off x="6880097" y="4111614"/>
              <a:ext cx="288000" cy="50069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>
              <a:stCxn id="11" idx="4"/>
              <a:endCxn id="28" idx="0"/>
            </p:cNvCxnSpPr>
            <p:nvPr/>
          </p:nvCxnSpPr>
          <p:spPr>
            <a:xfrm>
              <a:off x="6405665" y="3363989"/>
              <a:ext cx="474432" cy="4596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橢圓 31"/>
            <p:cNvSpPr/>
            <p:nvPr/>
          </p:nvSpPr>
          <p:spPr>
            <a:xfrm>
              <a:off x="4233941" y="461231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橢圓 32"/>
            <p:cNvSpPr/>
            <p:nvPr/>
          </p:nvSpPr>
          <p:spPr>
            <a:xfrm>
              <a:off x="4837793" y="461231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4" name="直線接點 33"/>
            <p:cNvCxnSpPr>
              <a:stCxn id="9" idx="4"/>
              <a:endCxn id="33" idx="0"/>
            </p:cNvCxnSpPr>
            <p:nvPr/>
          </p:nvCxnSpPr>
          <p:spPr>
            <a:xfrm>
              <a:off x="4669341" y="4111614"/>
              <a:ext cx="312452" cy="50069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>
              <a:stCxn id="9" idx="4"/>
              <a:endCxn id="32" idx="0"/>
            </p:cNvCxnSpPr>
            <p:nvPr/>
          </p:nvCxnSpPr>
          <p:spPr>
            <a:xfrm flipH="1">
              <a:off x="4377941" y="4111614"/>
              <a:ext cx="291400" cy="50069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橢圓 35"/>
          <p:cNvSpPr/>
          <p:nvPr/>
        </p:nvSpPr>
        <p:spPr>
          <a:xfrm>
            <a:off x="2529415" y="235114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2303830" y="307598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橢圓 37"/>
          <p:cNvSpPr/>
          <p:nvPr/>
        </p:nvSpPr>
        <p:spPr>
          <a:xfrm>
            <a:off x="2125185" y="383313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橢圓 38"/>
          <p:cNvSpPr/>
          <p:nvPr/>
        </p:nvSpPr>
        <p:spPr>
          <a:xfrm>
            <a:off x="1911415" y="461231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0" name="直線接點 39"/>
          <p:cNvCxnSpPr>
            <a:stCxn id="36" idx="4"/>
            <a:endCxn id="37" idx="0"/>
          </p:cNvCxnSpPr>
          <p:nvPr/>
        </p:nvCxnSpPr>
        <p:spPr>
          <a:xfrm flipH="1">
            <a:off x="2447830" y="2639149"/>
            <a:ext cx="225585" cy="4368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37" idx="4"/>
            <a:endCxn id="38" idx="0"/>
          </p:cNvCxnSpPr>
          <p:nvPr/>
        </p:nvCxnSpPr>
        <p:spPr>
          <a:xfrm flipH="1">
            <a:off x="2269185" y="3363989"/>
            <a:ext cx="178645" cy="46914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38" idx="4"/>
            <a:endCxn id="39" idx="0"/>
          </p:cNvCxnSpPr>
          <p:nvPr/>
        </p:nvCxnSpPr>
        <p:spPr>
          <a:xfrm flipH="1">
            <a:off x="2055415" y="4121133"/>
            <a:ext cx="213770" cy="491178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/>
          <p:cNvSpPr txBox="1"/>
          <p:nvPr/>
        </p:nvSpPr>
        <p:spPr>
          <a:xfrm>
            <a:off x="950067" y="4588897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950067" y="3793671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950067" y="3043864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950067" y="2311939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1891786" y="5220111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最多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4252662" y="5220111"/>
            <a:ext cx="24064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最少</a:t>
            </a:r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每一階都排滿</a:t>
            </a:r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067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正規二元樹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>
                <a:solidFill>
                  <a:srgbClr val="0000FF"/>
                </a:solidFill>
              </a:rPr>
              <a:t>正規二元樹</a:t>
            </a:r>
            <a:r>
              <a:rPr lang="en-US" altLang="zh-TW" dirty="0" smtClean="0">
                <a:solidFill>
                  <a:srgbClr val="0000FF"/>
                </a:solidFill>
              </a:rPr>
              <a:t>(formal binary tree)</a:t>
            </a:r>
            <a:r>
              <a:rPr lang="zh-TW" altLang="en-US" dirty="0" smtClean="0"/>
              <a:t>：一棵樹所有內部節點都正好有</a:t>
            </a:r>
            <a:r>
              <a:rPr lang="zh-TW" altLang="en-US" dirty="0" smtClean="0">
                <a:solidFill>
                  <a:srgbClr val="C00000"/>
                </a:solidFill>
              </a:rPr>
              <a:t>兩個</a:t>
            </a:r>
            <a:r>
              <a:rPr lang="zh-TW" altLang="en-US" dirty="0" smtClean="0"/>
              <a:t>子節點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zh-TW" altLang="en-US" dirty="0" smtClean="0"/>
              <a:t>正規二元樹性質：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外部節點數 </a:t>
            </a:r>
            <a:r>
              <a:rPr lang="en-US" altLang="zh-TW" dirty="0" smtClean="0"/>
              <a:t>= </a:t>
            </a:r>
            <a:r>
              <a:rPr lang="zh-TW" altLang="en-US" dirty="0" smtClean="0"/>
              <a:t>內部節點數 </a:t>
            </a:r>
            <a:r>
              <a:rPr lang="en-US" altLang="zh-TW" dirty="0" smtClean="0"/>
              <a:t>+</a:t>
            </a:r>
            <a:r>
              <a:rPr lang="zh-TW" altLang="en-US" dirty="0" smtClean="0"/>
              <a:t> </a:t>
            </a:r>
            <a:r>
              <a:rPr lang="en-US" altLang="zh-TW" dirty="0" smtClean="0"/>
              <a:t>1</a:t>
            </a:r>
          </a:p>
          <a:p>
            <a:r>
              <a:rPr lang="zh-TW" altLang="en-US" dirty="0" smtClean="0"/>
              <a:t>單淘汰制的賽程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9" name="橢圓 18"/>
          <p:cNvSpPr/>
          <p:nvPr/>
        </p:nvSpPr>
        <p:spPr>
          <a:xfrm>
            <a:off x="3850438" y="2066491"/>
            <a:ext cx="288000" cy="2880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2734764" y="2791331"/>
            <a:ext cx="288000" cy="2880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3178032" y="353895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2239740" y="3538956"/>
            <a:ext cx="288000" cy="2880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4914356" y="279133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接點 23"/>
          <p:cNvCxnSpPr>
            <a:stCxn id="19" idx="3"/>
            <a:endCxn id="20" idx="7"/>
          </p:cNvCxnSpPr>
          <p:nvPr/>
        </p:nvCxnSpPr>
        <p:spPr>
          <a:xfrm flipH="1">
            <a:off x="2980587" y="2312314"/>
            <a:ext cx="912028" cy="52119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9" idx="5"/>
            <a:endCxn id="23" idx="1"/>
          </p:cNvCxnSpPr>
          <p:nvPr/>
        </p:nvCxnSpPr>
        <p:spPr>
          <a:xfrm>
            <a:off x="4096261" y="2312314"/>
            <a:ext cx="860272" cy="52119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20" idx="4"/>
            <a:endCxn id="22" idx="0"/>
          </p:cNvCxnSpPr>
          <p:nvPr/>
        </p:nvCxnSpPr>
        <p:spPr>
          <a:xfrm flipH="1">
            <a:off x="2383740" y="3079331"/>
            <a:ext cx="495024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20" idx="4"/>
            <a:endCxn id="21" idx="0"/>
          </p:cNvCxnSpPr>
          <p:nvPr/>
        </p:nvCxnSpPr>
        <p:spPr>
          <a:xfrm>
            <a:off x="2878764" y="3079331"/>
            <a:ext cx="443268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橢圓 27"/>
          <p:cNvSpPr/>
          <p:nvPr/>
        </p:nvSpPr>
        <p:spPr>
          <a:xfrm>
            <a:off x="1939617" y="432765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/>
          <p:cNvSpPr/>
          <p:nvPr/>
        </p:nvSpPr>
        <p:spPr>
          <a:xfrm>
            <a:off x="2543469" y="432765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0" name="直線接點 29"/>
          <p:cNvCxnSpPr>
            <a:stCxn id="22" idx="4"/>
            <a:endCxn id="29" idx="0"/>
          </p:cNvCxnSpPr>
          <p:nvPr/>
        </p:nvCxnSpPr>
        <p:spPr>
          <a:xfrm>
            <a:off x="2383740" y="3826956"/>
            <a:ext cx="303729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22" idx="4"/>
            <a:endCxn id="28" idx="0"/>
          </p:cNvCxnSpPr>
          <p:nvPr/>
        </p:nvCxnSpPr>
        <p:spPr>
          <a:xfrm flipH="1">
            <a:off x="2083617" y="3826956"/>
            <a:ext cx="300123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群組 6"/>
          <p:cNvGrpSpPr/>
          <p:nvPr/>
        </p:nvGrpSpPr>
        <p:grpSpPr>
          <a:xfrm>
            <a:off x="6047289" y="2009902"/>
            <a:ext cx="2225154" cy="400110"/>
            <a:chOff x="6047289" y="2009902"/>
            <a:chExt cx="2225154" cy="400110"/>
          </a:xfrm>
        </p:grpSpPr>
        <p:sp>
          <p:nvSpPr>
            <p:cNvPr id="32" name="橢圓 31"/>
            <p:cNvSpPr/>
            <p:nvPr/>
          </p:nvSpPr>
          <p:spPr>
            <a:xfrm>
              <a:off x="6047289" y="2065957"/>
              <a:ext cx="288000" cy="2880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文字方塊 33"/>
            <p:cNvSpPr txBox="1"/>
            <p:nvPr/>
          </p:nvSpPr>
          <p:spPr>
            <a:xfrm>
              <a:off x="6420654" y="2009902"/>
              <a:ext cx="18517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內部節點數：</a:t>
              </a:r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3</a:t>
              </a:r>
              <a:endPara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群組 7"/>
          <p:cNvGrpSpPr/>
          <p:nvPr/>
        </p:nvGrpSpPr>
        <p:grpSpPr>
          <a:xfrm>
            <a:off x="6047289" y="2735276"/>
            <a:ext cx="2225154" cy="400110"/>
            <a:chOff x="6047289" y="2735276"/>
            <a:chExt cx="2225154" cy="400110"/>
          </a:xfrm>
        </p:grpSpPr>
        <p:sp>
          <p:nvSpPr>
            <p:cNvPr id="33" name="橢圓 32"/>
            <p:cNvSpPr/>
            <p:nvPr/>
          </p:nvSpPr>
          <p:spPr>
            <a:xfrm>
              <a:off x="6047289" y="279133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6420654" y="2735276"/>
              <a:ext cx="18517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外部節點數：</a:t>
              </a:r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4</a:t>
              </a:r>
              <a:endPara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36" name="文字方塊 35"/>
          <p:cNvSpPr txBox="1"/>
          <p:nvPr/>
        </p:nvSpPr>
        <p:spPr>
          <a:xfrm>
            <a:off x="3814661" y="3607048"/>
            <a:ext cx="5362365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總點數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總邊數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</a:p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總邊數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內部節點數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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2</a:t>
            </a:r>
          </a:p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總點數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=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內部節點數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+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 外部節點數</a:t>
            </a:r>
            <a:endParaRPr lang="en-US" altLang="zh-TW" sz="2000" b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Symbol"/>
            </a:endParaRPr>
          </a:p>
          <a:p>
            <a:endParaRPr lang="en-US" altLang="zh-TW" sz="2000" b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外部節點數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總點數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–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內部節點數</a:t>
            </a:r>
            <a:endParaRPr lang="en-US" altLang="zh-TW" sz="2000" b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          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總邊數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– 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內部節點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</a:t>
            </a:r>
            <a:endParaRPr lang="en-US" altLang="zh-TW" sz="2000" b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           =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內部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節點數 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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+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– 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內部節點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</a:t>
            </a:r>
            <a:endParaRPr lang="en-US" altLang="zh-TW" sz="2000" b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                    =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內部節點數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+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1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Symbol"/>
            </a:endParaRPr>
          </a:p>
        </p:txBody>
      </p:sp>
      <p:sp>
        <p:nvSpPr>
          <p:cNvPr id="37" name="圓角矩形圖說文字 36"/>
          <p:cNvSpPr/>
          <p:nvPr/>
        </p:nvSpPr>
        <p:spPr>
          <a:xfrm>
            <a:off x="159593" y="3538955"/>
            <a:ext cx="1306898" cy="497683"/>
          </a:xfrm>
          <a:prstGeom prst="wedgeRoundRectCallout">
            <a:avLst>
              <a:gd name="adj1" fmla="val 82919"/>
              <a:gd name="adj2" fmla="val 121296"/>
              <a:gd name="adj3" fmla="val 16667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球員</a:t>
            </a:r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8" name="圓角矩形圖說文字 37"/>
          <p:cNvSpPr/>
          <p:nvPr/>
        </p:nvSpPr>
        <p:spPr>
          <a:xfrm>
            <a:off x="926780" y="2009902"/>
            <a:ext cx="1306898" cy="497683"/>
          </a:xfrm>
          <a:prstGeom prst="wedgeRoundRectCallout">
            <a:avLst>
              <a:gd name="adj1" fmla="val 82919"/>
              <a:gd name="adj2" fmla="val 121296"/>
              <a:gd name="adj3" fmla="val 16667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比賽場次</a:t>
            </a:r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61338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完整二元樹性質 </a:t>
            </a:r>
            <a:r>
              <a:rPr lang="en-US" altLang="zh-TW" dirty="0" smtClean="0"/>
              <a:t>(1/4)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>
                <a:solidFill>
                  <a:srgbClr val="0000FF"/>
                </a:solidFill>
              </a:rPr>
              <a:t>完整二元樹</a:t>
            </a:r>
            <a:r>
              <a:rPr lang="en-US" altLang="zh-TW" dirty="0" smtClean="0">
                <a:solidFill>
                  <a:srgbClr val="0000FF"/>
                </a:solidFill>
              </a:rPr>
              <a:t>(complete binary tree)</a:t>
            </a:r>
            <a:r>
              <a:rPr lang="zh-TW" altLang="en-US" dirty="0" smtClean="0"/>
              <a:t>：由上而下逐階排列，第</a:t>
            </a:r>
            <a:r>
              <a:rPr lang="en-US" altLang="zh-TW" i="1" dirty="0" smtClean="0"/>
              <a:t>k</a:t>
            </a:r>
            <a:r>
              <a:rPr lang="zh-TW" altLang="en-US" dirty="0" smtClean="0"/>
              <a:t>階滿了才能排到</a:t>
            </a:r>
            <a:r>
              <a:rPr lang="en-US" altLang="zh-TW" i="1" dirty="0" smtClean="0"/>
              <a:t>k</a:t>
            </a:r>
            <a:r>
              <a:rPr lang="en-US" altLang="zh-TW" dirty="0" smtClean="0"/>
              <a:t> + 1</a:t>
            </a:r>
            <a:r>
              <a:rPr lang="zh-TW" altLang="en-US" dirty="0" smtClean="0"/>
              <a:t>階，每一階的點都是往左靠。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圓角矩形 6"/>
          <p:cNvSpPr/>
          <p:nvPr/>
        </p:nvSpPr>
        <p:spPr>
          <a:xfrm>
            <a:off x="2457163" y="2833892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 7"/>
          <p:cNvSpPr/>
          <p:nvPr/>
        </p:nvSpPr>
        <p:spPr>
          <a:xfrm>
            <a:off x="2457163" y="3565817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 8"/>
          <p:cNvSpPr/>
          <p:nvPr/>
        </p:nvSpPr>
        <p:spPr>
          <a:xfrm>
            <a:off x="2457163" y="4315624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>
            <a:off x="2457163" y="5110850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4637057" y="276519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3521383" y="349003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3964651" y="42376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3026359" y="42376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5700975" y="349003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1" idx="3"/>
            <a:endCxn id="12" idx="7"/>
          </p:cNvCxnSpPr>
          <p:nvPr/>
        </p:nvCxnSpPr>
        <p:spPr>
          <a:xfrm flipH="1">
            <a:off x="3767206" y="3011020"/>
            <a:ext cx="912028" cy="52119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1" idx="5"/>
            <a:endCxn id="15" idx="1"/>
          </p:cNvCxnSpPr>
          <p:nvPr/>
        </p:nvCxnSpPr>
        <p:spPr>
          <a:xfrm>
            <a:off x="4882880" y="3011020"/>
            <a:ext cx="860272" cy="52119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2" idx="4"/>
            <a:endCxn id="14" idx="0"/>
          </p:cNvCxnSpPr>
          <p:nvPr/>
        </p:nvCxnSpPr>
        <p:spPr>
          <a:xfrm flipH="1">
            <a:off x="3170359" y="3778037"/>
            <a:ext cx="495024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2" idx="4"/>
            <a:endCxn id="13" idx="0"/>
          </p:cNvCxnSpPr>
          <p:nvPr/>
        </p:nvCxnSpPr>
        <p:spPr>
          <a:xfrm>
            <a:off x="3665383" y="3778037"/>
            <a:ext cx="443268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/>
          <p:cNvSpPr/>
          <p:nvPr/>
        </p:nvSpPr>
        <p:spPr>
          <a:xfrm>
            <a:off x="2726236" y="502635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3330088" y="502635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接點 21"/>
          <p:cNvCxnSpPr>
            <a:stCxn id="14" idx="4"/>
            <a:endCxn id="21" idx="0"/>
          </p:cNvCxnSpPr>
          <p:nvPr/>
        </p:nvCxnSpPr>
        <p:spPr>
          <a:xfrm>
            <a:off x="3170359" y="4525662"/>
            <a:ext cx="303729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4" idx="4"/>
            <a:endCxn id="20" idx="0"/>
          </p:cNvCxnSpPr>
          <p:nvPr/>
        </p:nvCxnSpPr>
        <p:spPr>
          <a:xfrm flipH="1">
            <a:off x="2870236" y="4525662"/>
            <a:ext cx="300123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橢圓 23"/>
          <p:cNvSpPr/>
          <p:nvPr/>
        </p:nvSpPr>
        <p:spPr>
          <a:xfrm>
            <a:off x="5253054" y="42376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接點 24"/>
          <p:cNvCxnSpPr>
            <a:stCxn id="15" idx="4"/>
            <a:endCxn id="24" idx="0"/>
          </p:cNvCxnSpPr>
          <p:nvPr/>
        </p:nvCxnSpPr>
        <p:spPr>
          <a:xfrm flipH="1">
            <a:off x="5397054" y="3778037"/>
            <a:ext cx="447921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6175407" y="42376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7" name="直線接點 26"/>
          <p:cNvCxnSpPr>
            <a:stCxn id="15" idx="4"/>
            <a:endCxn id="26" idx="0"/>
          </p:cNvCxnSpPr>
          <p:nvPr/>
        </p:nvCxnSpPr>
        <p:spPr>
          <a:xfrm>
            <a:off x="5844975" y="3778037"/>
            <a:ext cx="474432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橢圓 27"/>
          <p:cNvSpPr/>
          <p:nvPr/>
        </p:nvSpPr>
        <p:spPr>
          <a:xfrm>
            <a:off x="3673251" y="502635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接點 28"/>
          <p:cNvCxnSpPr>
            <a:stCxn id="13" idx="4"/>
            <a:endCxn id="28" idx="0"/>
          </p:cNvCxnSpPr>
          <p:nvPr/>
        </p:nvCxnSpPr>
        <p:spPr>
          <a:xfrm flipH="1">
            <a:off x="3817251" y="4525662"/>
            <a:ext cx="291400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1631521" y="5002945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1631521" y="4207719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1631521" y="3457912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1631521" y="2725987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4639642" y="272598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521712" y="34387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692349" y="344404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3028923" y="418760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3949984" y="41865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5237472" y="41865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169366" y="417974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2719280" y="49856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3328111" y="49758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611184" y="497586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600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完整二元樹</a:t>
            </a:r>
            <a:r>
              <a:rPr lang="zh-TW" altLang="en-US" dirty="0" smtClean="0"/>
              <a:t>性質 </a:t>
            </a:r>
            <a:r>
              <a:rPr lang="en-US" altLang="zh-TW" dirty="0" smtClean="0"/>
              <a:t>(2/4)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編號性質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編號為</a:t>
            </a:r>
            <a:r>
              <a:rPr lang="en-US" altLang="zh-TW" i="1" dirty="0" err="1" smtClean="0">
                <a:solidFill>
                  <a:srgbClr val="C00000"/>
                </a:solidFill>
              </a:rPr>
              <a:t>i</a:t>
            </a:r>
            <a:r>
              <a:rPr lang="zh-TW" altLang="en-US" dirty="0" smtClean="0"/>
              <a:t>的節點，</a:t>
            </a:r>
            <a:r>
              <a:rPr lang="zh-TW" altLang="en-US" dirty="0" smtClean="0">
                <a:solidFill>
                  <a:srgbClr val="C00000"/>
                </a:solidFill>
              </a:rPr>
              <a:t>左</a:t>
            </a:r>
            <a:r>
              <a:rPr lang="zh-TW" altLang="en-US" dirty="0" smtClean="0"/>
              <a:t>子節點編號為</a:t>
            </a:r>
            <a:r>
              <a:rPr lang="en-US" altLang="zh-TW" dirty="0" smtClean="0">
                <a:solidFill>
                  <a:srgbClr val="C00000"/>
                </a:solidFill>
              </a:rPr>
              <a:t>2</a:t>
            </a:r>
            <a:r>
              <a:rPr lang="en-US" altLang="zh-TW" i="1" dirty="0" smtClean="0">
                <a:solidFill>
                  <a:srgbClr val="C00000"/>
                </a:solidFill>
              </a:rPr>
              <a:t>i</a:t>
            </a:r>
            <a:r>
              <a:rPr lang="zh-TW" altLang="en-US" dirty="0" smtClean="0"/>
              <a:t>，</a:t>
            </a:r>
            <a:r>
              <a:rPr lang="zh-TW" altLang="en-US" dirty="0" smtClean="0">
                <a:solidFill>
                  <a:srgbClr val="C00000"/>
                </a:solidFill>
              </a:rPr>
              <a:t>右</a:t>
            </a:r>
            <a:r>
              <a:rPr lang="zh-TW" altLang="en-US" dirty="0" smtClean="0"/>
              <a:t>子節點編號為</a:t>
            </a:r>
            <a:r>
              <a:rPr lang="en-US" altLang="zh-TW" dirty="0" smtClean="0">
                <a:solidFill>
                  <a:srgbClr val="C00000"/>
                </a:solidFill>
              </a:rPr>
              <a:t>2</a:t>
            </a:r>
            <a:r>
              <a:rPr lang="en-US" altLang="zh-TW" i="1" dirty="0" smtClean="0">
                <a:solidFill>
                  <a:srgbClr val="C00000"/>
                </a:solidFill>
              </a:rPr>
              <a:t>i</a:t>
            </a:r>
            <a:r>
              <a:rPr lang="en-US" altLang="zh-TW" dirty="0" smtClean="0">
                <a:solidFill>
                  <a:srgbClr val="C00000"/>
                </a:solidFill>
              </a:rPr>
              <a:t> + 1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注意：樹根編號由</a:t>
            </a:r>
            <a:r>
              <a:rPr lang="en-US" altLang="zh-TW" dirty="0" smtClean="0">
                <a:solidFill>
                  <a:srgbClr val="0000FF"/>
                </a:solidFill>
              </a:rPr>
              <a:t>0</a:t>
            </a:r>
            <a:r>
              <a:rPr lang="zh-TW" altLang="en-US" dirty="0" smtClean="0">
                <a:solidFill>
                  <a:srgbClr val="0000FF"/>
                </a:solidFill>
              </a:rPr>
              <a:t>開始或由</a:t>
            </a:r>
            <a:r>
              <a:rPr lang="en-US" altLang="zh-TW" dirty="0" smtClean="0">
                <a:solidFill>
                  <a:srgbClr val="0000FF"/>
                </a:solidFill>
              </a:rPr>
              <a:t>1</a:t>
            </a:r>
            <a:r>
              <a:rPr lang="zh-TW" altLang="en-US" dirty="0" smtClean="0">
                <a:solidFill>
                  <a:srgbClr val="0000FF"/>
                </a:solidFill>
              </a:rPr>
              <a:t>開始，計算方式會有差異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圓角矩形 6"/>
          <p:cNvSpPr/>
          <p:nvPr/>
        </p:nvSpPr>
        <p:spPr>
          <a:xfrm>
            <a:off x="2457163" y="2833892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 7"/>
          <p:cNvSpPr/>
          <p:nvPr/>
        </p:nvSpPr>
        <p:spPr>
          <a:xfrm>
            <a:off x="2457163" y="3565817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 8"/>
          <p:cNvSpPr/>
          <p:nvPr/>
        </p:nvSpPr>
        <p:spPr>
          <a:xfrm>
            <a:off x="2457163" y="4315624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>
            <a:off x="2457163" y="5110850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4637057" y="276519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3521383" y="349003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3964651" y="42376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3026359" y="42376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5700975" y="349003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1" idx="3"/>
            <a:endCxn id="12" idx="7"/>
          </p:cNvCxnSpPr>
          <p:nvPr/>
        </p:nvCxnSpPr>
        <p:spPr>
          <a:xfrm flipH="1">
            <a:off x="3767206" y="3011020"/>
            <a:ext cx="912028" cy="52119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1" idx="5"/>
            <a:endCxn id="15" idx="1"/>
          </p:cNvCxnSpPr>
          <p:nvPr/>
        </p:nvCxnSpPr>
        <p:spPr>
          <a:xfrm>
            <a:off x="4882880" y="3011020"/>
            <a:ext cx="860272" cy="52119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2" idx="4"/>
            <a:endCxn id="14" idx="0"/>
          </p:cNvCxnSpPr>
          <p:nvPr/>
        </p:nvCxnSpPr>
        <p:spPr>
          <a:xfrm flipH="1">
            <a:off x="3170359" y="3778037"/>
            <a:ext cx="495024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2" idx="4"/>
            <a:endCxn id="13" idx="0"/>
          </p:cNvCxnSpPr>
          <p:nvPr/>
        </p:nvCxnSpPr>
        <p:spPr>
          <a:xfrm>
            <a:off x="3665383" y="3778037"/>
            <a:ext cx="443268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/>
          <p:cNvSpPr/>
          <p:nvPr/>
        </p:nvSpPr>
        <p:spPr>
          <a:xfrm>
            <a:off x="2726236" y="502635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3330088" y="502635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接點 21"/>
          <p:cNvCxnSpPr>
            <a:stCxn id="14" idx="4"/>
            <a:endCxn id="21" idx="0"/>
          </p:cNvCxnSpPr>
          <p:nvPr/>
        </p:nvCxnSpPr>
        <p:spPr>
          <a:xfrm>
            <a:off x="3170359" y="4525662"/>
            <a:ext cx="303729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4" idx="4"/>
            <a:endCxn id="20" idx="0"/>
          </p:cNvCxnSpPr>
          <p:nvPr/>
        </p:nvCxnSpPr>
        <p:spPr>
          <a:xfrm flipH="1">
            <a:off x="2870236" y="4525662"/>
            <a:ext cx="300123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橢圓 23"/>
          <p:cNvSpPr/>
          <p:nvPr/>
        </p:nvSpPr>
        <p:spPr>
          <a:xfrm>
            <a:off x="5253054" y="42376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接點 24"/>
          <p:cNvCxnSpPr>
            <a:stCxn id="15" idx="4"/>
            <a:endCxn id="24" idx="0"/>
          </p:cNvCxnSpPr>
          <p:nvPr/>
        </p:nvCxnSpPr>
        <p:spPr>
          <a:xfrm flipH="1">
            <a:off x="5397054" y="3778037"/>
            <a:ext cx="447921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6175407" y="42376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7" name="直線接點 26"/>
          <p:cNvCxnSpPr>
            <a:stCxn id="15" idx="4"/>
            <a:endCxn id="26" idx="0"/>
          </p:cNvCxnSpPr>
          <p:nvPr/>
        </p:nvCxnSpPr>
        <p:spPr>
          <a:xfrm>
            <a:off x="5844975" y="3778037"/>
            <a:ext cx="474432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橢圓 27"/>
          <p:cNvSpPr/>
          <p:nvPr/>
        </p:nvSpPr>
        <p:spPr>
          <a:xfrm>
            <a:off x="3673251" y="502635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接點 28"/>
          <p:cNvCxnSpPr>
            <a:stCxn id="13" idx="4"/>
            <a:endCxn id="28" idx="0"/>
          </p:cNvCxnSpPr>
          <p:nvPr/>
        </p:nvCxnSpPr>
        <p:spPr>
          <a:xfrm flipH="1">
            <a:off x="3817251" y="4525662"/>
            <a:ext cx="291400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1631521" y="5002945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1631521" y="4207719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1631521" y="3457912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1631521" y="2725987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4639642" y="272598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521712" y="34387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692349" y="344404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3028923" y="418760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3949984" y="41865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5237472" y="41865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169366" y="417974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2719280" y="49856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3328111" y="49758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600956" y="497586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圓角矩形圖說文字 43"/>
          <p:cNvSpPr/>
          <p:nvPr/>
        </p:nvSpPr>
        <p:spPr>
          <a:xfrm>
            <a:off x="3521383" y="5538786"/>
            <a:ext cx="1666565" cy="585969"/>
          </a:xfrm>
          <a:prstGeom prst="wedgeRoundRectCallout">
            <a:avLst>
              <a:gd name="adj1" fmla="val 58250"/>
              <a:gd name="adj2" fmla="val -217840"/>
              <a:gd name="adj3" fmla="val 16667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左子節點編號</a:t>
            </a:r>
            <a:endParaRPr lang="en-US" altLang="zh-TW" b="1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 </a:t>
            </a:r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 </a:t>
            </a:r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3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5" name="圓角矩形圖說文字 44"/>
          <p:cNvSpPr/>
          <p:nvPr/>
        </p:nvSpPr>
        <p:spPr>
          <a:xfrm>
            <a:off x="6891472" y="2555514"/>
            <a:ext cx="1306898" cy="497683"/>
          </a:xfrm>
          <a:prstGeom prst="wedgeRoundRectCallout">
            <a:avLst>
              <a:gd name="adj1" fmla="val -117090"/>
              <a:gd name="adj2" fmla="val 144485"/>
              <a:gd name="adj3" fmla="val 16667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編號 </a:t>
            </a:r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6" name="圓角矩形圖說文字 45"/>
          <p:cNvSpPr/>
          <p:nvPr/>
        </p:nvSpPr>
        <p:spPr>
          <a:xfrm>
            <a:off x="6597329" y="5538786"/>
            <a:ext cx="1666565" cy="585969"/>
          </a:xfrm>
          <a:prstGeom prst="wedgeRoundRectCallout">
            <a:avLst>
              <a:gd name="adj1" fmla="val -64425"/>
              <a:gd name="adj2" fmla="val -216368"/>
              <a:gd name="adj3" fmla="val 16667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右子節點編號</a:t>
            </a:r>
            <a:endParaRPr lang="en-US" altLang="zh-TW" b="1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 </a:t>
            </a:r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 </a:t>
            </a:r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3</a:t>
            </a:r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 + 1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7" name="圓角矩形圖說文字 46"/>
          <p:cNvSpPr/>
          <p:nvPr/>
        </p:nvSpPr>
        <p:spPr>
          <a:xfrm>
            <a:off x="764199" y="5831770"/>
            <a:ext cx="1666565" cy="585969"/>
          </a:xfrm>
          <a:prstGeom prst="wedgeRoundRectCallout">
            <a:avLst>
              <a:gd name="adj1" fmla="val 70155"/>
              <a:gd name="adj2" fmla="val -135399"/>
              <a:gd name="adj3" fmla="val 16667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左子節點編號</a:t>
            </a:r>
            <a:endParaRPr lang="en-US" altLang="zh-TW" b="1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 </a:t>
            </a:r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 </a:t>
            </a:r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8</a:t>
            </a:r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 &gt; 10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1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  <p:bldP spid="4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完整二元樹</a:t>
            </a:r>
            <a:r>
              <a:rPr lang="zh-TW" altLang="en-US" dirty="0" smtClean="0"/>
              <a:t>性質 </a:t>
            </a:r>
            <a:r>
              <a:rPr lang="en-US" altLang="zh-TW" dirty="0" smtClean="0"/>
              <a:t>(3/4)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170980" y="1319014"/>
                <a:ext cx="8826061" cy="5098878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zh-TW" altLang="en-US" dirty="0" smtClean="0"/>
                  <a:t>編號性質</a:t>
                </a:r>
                <a:endParaRPr lang="en-US" altLang="zh-TW" dirty="0" smtClean="0"/>
              </a:p>
              <a:p>
                <a:pPr lvl="1"/>
                <a:r>
                  <a:rPr lang="zh-TW" altLang="en-US" dirty="0" smtClean="0"/>
                  <a:t>編號為</a:t>
                </a:r>
                <a:r>
                  <a:rPr lang="en-US" altLang="zh-TW" i="1" dirty="0" err="1" smtClean="0">
                    <a:solidFill>
                      <a:srgbClr val="C00000"/>
                    </a:solidFill>
                  </a:rPr>
                  <a:t>i</a:t>
                </a:r>
                <a:r>
                  <a:rPr lang="zh-TW" altLang="en-US" dirty="0" smtClean="0"/>
                  <a:t>的節點，父節點編號為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TW" alt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zh-TW" altLang="en-US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𝒊</m:t>
                            </m:r>
                          </m:num>
                          <m:den>
                            <m: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endParaRPr lang="en-US" altLang="zh-TW" dirty="0" smtClean="0">
                  <a:solidFill>
                    <a:srgbClr val="C00000"/>
                  </a:solidFill>
                </a:endParaRPr>
              </a:p>
              <a:p>
                <a:pPr lvl="1"/>
                <a:r>
                  <a:rPr lang="zh-TW" altLang="en-US" dirty="0">
                    <a:solidFill>
                      <a:srgbClr val="0000FF"/>
                    </a:solidFill>
                  </a:rPr>
                  <a:t>注意：樹根編號由</a:t>
                </a:r>
                <a:r>
                  <a:rPr lang="en-US" altLang="zh-TW" dirty="0">
                    <a:solidFill>
                      <a:srgbClr val="0000FF"/>
                    </a:solidFill>
                  </a:rPr>
                  <a:t>0</a:t>
                </a:r>
                <a:r>
                  <a:rPr lang="zh-TW" altLang="en-US" dirty="0">
                    <a:solidFill>
                      <a:srgbClr val="0000FF"/>
                    </a:solidFill>
                  </a:rPr>
                  <a:t>開始或由</a:t>
                </a:r>
                <a:r>
                  <a:rPr lang="en-US" altLang="zh-TW" dirty="0">
                    <a:solidFill>
                      <a:srgbClr val="0000FF"/>
                    </a:solidFill>
                  </a:rPr>
                  <a:t>1</a:t>
                </a:r>
                <a:r>
                  <a:rPr lang="zh-TW" altLang="en-US" dirty="0">
                    <a:solidFill>
                      <a:srgbClr val="0000FF"/>
                    </a:solidFill>
                  </a:rPr>
                  <a:t>開始，計算方式會有差異</a:t>
                </a:r>
                <a:endParaRPr lang="zh-TW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170980" y="1319014"/>
                <a:ext cx="8826061" cy="5098878"/>
              </a:xfrm>
              <a:prstGeom prst="rect">
                <a:avLst/>
              </a:prstGeom>
              <a:blipFill rotWithShape="0">
                <a:blip r:embed="rId2"/>
                <a:stretch>
                  <a:fillRect t="-19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圓角矩形 6"/>
          <p:cNvSpPr/>
          <p:nvPr/>
        </p:nvSpPr>
        <p:spPr>
          <a:xfrm>
            <a:off x="2457163" y="2833892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 7"/>
          <p:cNvSpPr/>
          <p:nvPr/>
        </p:nvSpPr>
        <p:spPr>
          <a:xfrm>
            <a:off x="2457163" y="3565817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 8"/>
          <p:cNvSpPr/>
          <p:nvPr/>
        </p:nvSpPr>
        <p:spPr>
          <a:xfrm>
            <a:off x="2457163" y="4315624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>
            <a:off x="2457163" y="5110850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4637057" y="276519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3521383" y="349003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3964651" y="42376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3026359" y="42376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5700975" y="349003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1" idx="3"/>
            <a:endCxn id="12" idx="7"/>
          </p:cNvCxnSpPr>
          <p:nvPr/>
        </p:nvCxnSpPr>
        <p:spPr>
          <a:xfrm flipH="1">
            <a:off x="3767206" y="3011020"/>
            <a:ext cx="912028" cy="52119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1" idx="5"/>
            <a:endCxn id="15" idx="1"/>
          </p:cNvCxnSpPr>
          <p:nvPr/>
        </p:nvCxnSpPr>
        <p:spPr>
          <a:xfrm>
            <a:off x="4882880" y="3011020"/>
            <a:ext cx="860272" cy="52119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2" idx="4"/>
            <a:endCxn id="14" idx="0"/>
          </p:cNvCxnSpPr>
          <p:nvPr/>
        </p:nvCxnSpPr>
        <p:spPr>
          <a:xfrm flipH="1">
            <a:off x="3170359" y="3778037"/>
            <a:ext cx="495024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2" idx="4"/>
            <a:endCxn id="13" idx="0"/>
          </p:cNvCxnSpPr>
          <p:nvPr/>
        </p:nvCxnSpPr>
        <p:spPr>
          <a:xfrm>
            <a:off x="3665383" y="3778037"/>
            <a:ext cx="443268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/>
          <p:cNvSpPr/>
          <p:nvPr/>
        </p:nvSpPr>
        <p:spPr>
          <a:xfrm>
            <a:off x="2726236" y="502635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3330088" y="502635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接點 21"/>
          <p:cNvCxnSpPr>
            <a:stCxn id="14" idx="4"/>
            <a:endCxn id="21" idx="0"/>
          </p:cNvCxnSpPr>
          <p:nvPr/>
        </p:nvCxnSpPr>
        <p:spPr>
          <a:xfrm>
            <a:off x="3170359" y="4525662"/>
            <a:ext cx="303729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4" idx="4"/>
            <a:endCxn id="20" idx="0"/>
          </p:cNvCxnSpPr>
          <p:nvPr/>
        </p:nvCxnSpPr>
        <p:spPr>
          <a:xfrm flipH="1">
            <a:off x="2870236" y="4525662"/>
            <a:ext cx="300123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橢圓 23"/>
          <p:cNvSpPr/>
          <p:nvPr/>
        </p:nvSpPr>
        <p:spPr>
          <a:xfrm>
            <a:off x="5253054" y="42376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接點 24"/>
          <p:cNvCxnSpPr>
            <a:stCxn id="15" idx="4"/>
            <a:endCxn id="24" idx="0"/>
          </p:cNvCxnSpPr>
          <p:nvPr/>
        </p:nvCxnSpPr>
        <p:spPr>
          <a:xfrm flipH="1">
            <a:off x="5397054" y="3778037"/>
            <a:ext cx="447921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6175407" y="42376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7" name="直線接點 26"/>
          <p:cNvCxnSpPr>
            <a:stCxn id="15" idx="4"/>
            <a:endCxn id="26" idx="0"/>
          </p:cNvCxnSpPr>
          <p:nvPr/>
        </p:nvCxnSpPr>
        <p:spPr>
          <a:xfrm>
            <a:off x="5844975" y="3778037"/>
            <a:ext cx="474432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橢圓 27"/>
          <p:cNvSpPr/>
          <p:nvPr/>
        </p:nvSpPr>
        <p:spPr>
          <a:xfrm>
            <a:off x="3673251" y="502635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接點 28"/>
          <p:cNvCxnSpPr>
            <a:stCxn id="13" idx="4"/>
            <a:endCxn id="28" idx="0"/>
          </p:cNvCxnSpPr>
          <p:nvPr/>
        </p:nvCxnSpPr>
        <p:spPr>
          <a:xfrm flipH="1">
            <a:off x="3817251" y="4525662"/>
            <a:ext cx="291400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1631521" y="5002945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1631521" y="4207719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1631521" y="3457912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1631521" y="2725987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4639642" y="272598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521712" y="34387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692349" y="344404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3010389" y="418760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3949984" y="41865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5237472" y="41865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169366" y="417974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2719280" y="49856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3328111" y="49758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620236" y="497586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圓角矩形圖說文字 44"/>
          <p:cNvSpPr/>
          <p:nvPr/>
        </p:nvSpPr>
        <p:spPr>
          <a:xfrm>
            <a:off x="7268869" y="5123435"/>
            <a:ext cx="1306898" cy="497683"/>
          </a:xfrm>
          <a:prstGeom prst="wedgeRoundRectCallout">
            <a:avLst>
              <a:gd name="adj1" fmla="val -114441"/>
              <a:gd name="adj2" fmla="val -161234"/>
              <a:gd name="adj3" fmla="val 16667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編號 </a:t>
            </a:r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圓角矩形圖說文字 45"/>
              <p:cNvSpPr/>
              <p:nvPr/>
            </p:nvSpPr>
            <p:spPr>
              <a:xfrm>
                <a:off x="7175695" y="2427611"/>
                <a:ext cx="1666565" cy="675172"/>
              </a:xfrm>
              <a:prstGeom prst="wedgeRoundRectCallout">
                <a:avLst>
                  <a:gd name="adj1" fmla="val -120663"/>
                  <a:gd name="adj2" fmla="val 105356"/>
                  <a:gd name="adj3" fmla="val 16667"/>
                </a:avLst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父節點編號</a:t>
                </a:r>
                <a:endParaRPr lang="en-US" altLang="zh-TW" b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altLang="zh-TW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altLang="zh-TW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𝟕</m:t>
                              </m:r>
                            </m:num>
                            <m:den>
                              <m:r>
                                <a:rPr lang="en-US" altLang="zh-TW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" name="圓角矩形圖說文字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695" y="2427611"/>
                <a:ext cx="1666565" cy="675172"/>
              </a:xfrm>
              <a:prstGeom prst="wedgeRoundRectCallout">
                <a:avLst>
                  <a:gd name="adj1" fmla="val -120663"/>
                  <a:gd name="adj2" fmla="val 105356"/>
                  <a:gd name="adj3" fmla="val 16667"/>
                </a:avLst>
              </a:prstGeom>
              <a:blipFill rotWithShape="0">
                <a:blip r:embed="rId3"/>
                <a:stretch>
                  <a:fillRect t="-11236" b="-23034"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36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完整二元樹</a:t>
            </a:r>
            <a:r>
              <a:rPr lang="zh-TW" altLang="en-US" dirty="0" smtClean="0"/>
              <a:t>性質 </a:t>
            </a:r>
            <a:r>
              <a:rPr lang="en-US" altLang="zh-TW" dirty="0" smtClean="0"/>
              <a:t>(4/4)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170980" y="1319014"/>
                <a:ext cx="8826061" cy="5098878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zh-TW" altLang="en-US" dirty="0"/>
                  <a:t>總點數為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n</a:t>
                </a:r>
                <a:r>
                  <a:rPr lang="zh-TW" altLang="en-US" dirty="0" smtClean="0"/>
                  <a:t>的完整二元</a:t>
                </a:r>
                <a:r>
                  <a:rPr lang="zh-TW" altLang="en-US" dirty="0"/>
                  <a:t>樹，樹</a:t>
                </a:r>
                <a:r>
                  <a:rPr lang="zh-TW" altLang="en-US" dirty="0" smtClean="0"/>
                  <a:t>高為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TW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>
                            <a:solidFill>
                              <a:srgbClr val="C00000"/>
                            </a:solidFill>
                            <a:latin typeface="Cambria Math"/>
                          </a:rPr>
                          <m:t>𝐥𝐠</m:t>
                        </m:r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𝒏</m:t>
                        </m:r>
                      </m:e>
                    </m:d>
                    <m:r>
                      <a:rPr lang="en-US" altLang="zh-TW" i="1">
                        <a:solidFill>
                          <a:srgbClr val="C00000"/>
                        </a:solidFill>
                        <a:latin typeface="Cambria Math"/>
                      </a:rPr>
                      <m:t>+</m:t>
                    </m:r>
                    <m:r>
                      <a:rPr lang="en-US" altLang="zh-TW" i="1">
                        <a:solidFill>
                          <a:srgbClr val="C00000"/>
                        </a:solidFill>
                        <a:latin typeface="Cambria Math"/>
                      </a:rPr>
                      <m:t>𝟏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 rotWithShape="1">
                <a:blip r:embed="rId2"/>
                <a:stretch>
                  <a:fillRect l="-5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5279636" y="370627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5595000" y="370627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5975501" y="370627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6299491" y="370627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6659892" y="370627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6983882" y="370627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7355757" y="370627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7679747" y="370627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5438849" y="318563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6130580" y="319141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6816840" y="318563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7508571" y="319141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接點 19"/>
          <p:cNvCxnSpPr>
            <a:stCxn id="16" idx="4"/>
            <a:endCxn id="7" idx="0"/>
          </p:cNvCxnSpPr>
          <p:nvPr/>
        </p:nvCxnSpPr>
        <p:spPr>
          <a:xfrm flipH="1">
            <a:off x="5423636" y="3473630"/>
            <a:ext cx="159213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/>
          <p:cNvSpPr/>
          <p:nvPr/>
        </p:nvSpPr>
        <p:spPr>
          <a:xfrm>
            <a:off x="5781060" y="263929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7156596" y="263929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6456599" y="211020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/>
          <p:cNvCxnSpPr>
            <a:stCxn id="16" idx="4"/>
            <a:endCxn id="9" idx="0"/>
          </p:cNvCxnSpPr>
          <p:nvPr/>
        </p:nvCxnSpPr>
        <p:spPr>
          <a:xfrm>
            <a:off x="5582849" y="3473630"/>
            <a:ext cx="156151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>
            <a:stCxn id="17" idx="4"/>
            <a:endCxn id="10" idx="0"/>
          </p:cNvCxnSpPr>
          <p:nvPr/>
        </p:nvCxnSpPr>
        <p:spPr>
          <a:xfrm flipH="1">
            <a:off x="6119501" y="3479415"/>
            <a:ext cx="155079" cy="22685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>
            <a:stCxn id="17" idx="4"/>
            <a:endCxn id="11" idx="0"/>
          </p:cNvCxnSpPr>
          <p:nvPr/>
        </p:nvCxnSpPr>
        <p:spPr>
          <a:xfrm>
            <a:off x="6274580" y="3479415"/>
            <a:ext cx="168911" cy="22685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>
            <a:stCxn id="18" idx="4"/>
            <a:endCxn id="12" idx="0"/>
          </p:cNvCxnSpPr>
          <p:nvPr/>
        </p:nvCxnSpPr>
        <p:spPr>
          <a:xfrm flipH="1">
            <a:off x="6803892" y="3473630"/>
            <a:ext cx="156948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>
            <a:stCxn id="18" idx="4"/>
            <a:endCxn id="13" idx="0"/>
          </p:cNvCxnSpPr>
          <p:nvPr/>
        </p:nvCxnSpPr>
        <p:spPr>
          <a:xfrm>
            <a:off x="6960840" y="3473630"/>
            <a:ext cx="167042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19" idx="4"/>
            <a:endCxn id="14" idx="0"/>
          </p:cNvCxnSpPr>
          <p:nvPr/>
        </p:nvCxnSpPr>
        <p:spPr>
          <a:xfrm flipH="1">
            <a:off x="7499757" y="3479415"/>
            <a:ext cx="152814" cy="22685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>
            <a:stCxn id="19" idx="4"/>
            <a:endCxn id="15" idx="0"/>
          </p:cNvCxnSpPr>
          <p:nvPr/>
        </p:nvCxnSpPr>
        <p:spPr>
          <a:xfrm>
            <a:off x="7652571" y="3479415"/>
            <a:ext cx="171176" cy="22685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>
            <a:stCxn id="22" idx="4"/>
            <a:endCxn id="19" idx="0"/>
          </p:cNvCxnSpPr>
          <p:nvPr/>
        </p:nvCxnSpPr>
        <p:spPr>
          <a:xfrm>
            <a:off x="7300596" y="2927290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>
            <a:stCxn id="22" idx="4"/>
            <a:endCxn id="18" idx="0"/>
          </p:cNvCxnSpPr>
          <p:nvPr/>
        </p:nvCxnSpPr>
        <p:spPr>
          <a:xfrm flipH="1">
            <a:off x="6960840" y="2927290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>
            <a:stCxn id="21" idx="4"/>
            <a:endCxn id="17" idx="0"/>
          </p:cNvCxnSpPr>
          <p:nvPr/>
        </p:nvCxnSpPr>
        <p:spPr>
          <a:xfrm>
            <a:off x="5925060" y="2927290"/>
            <a:ext cx="349520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>
            <a:stCxn id="21" idx="4"/>
            <a:endCxn id="16" idx="0"/>
          </p:cNvCxnSpPr>
          <p:nvPr/>
        </p:nvCxnSpPr>
        <p:spPr>
          <a:xfrm flipH="1">
            <a:off x="5582849" y="2927290"/>
            <a:ext cx="34221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>
            <a:stCxn id="23" idx="4"/>
            <a:endCxn id="22" idx="0"/>
          </p:cNvCxnSpPr>
          <p:nvPr/>
        </p:nvCxnSpPr>
        <p:spPr>
          <a:xfrm>
            <a:off x="6600599" y="2398203"/>
            <a:ext cx="699997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/>
          <p:cNvCxnSpPr>
            <a:stCxn id="23" idx="4"/>
            <a:endCxn id="21" idx="0"/>
          </p:cNvCxnSpPr>
          <p:nvPr/>
        </p:nvCxnSpPr>
        <p:spPr>
          <a:xfrm flipH="1">
            <a:off x="5925060" y="2398203"/>
            <a:ext cx="675539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橢圓 64"/>
          <p:cNvSpPr/>
          <p:nvPr/>
        </p:nvSpPr>
        <p:spPr>
          <a:xfrm>
            <a:off x="1182060" y="370627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橢圓 72"/>
          <p:cNvSpPr/>
          <p:nvPr/>
        </p:nvSpPr>
        <p:spPr>
          <a:xfrm>
            <a:off x="1341273" y="318563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橢圓 73"/>
          <p:cNvSpPr/>
          <p:nvPr/>
        </p:nvSpPr>
        <p:spPr>
          <a:xfrm>
            <a:off x="2033004" y="319141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橢圓 74"/>
          <p:cNvSpPr/>
          <p:nvPr/>
        </p:nvSpPr>
        <p:spPr>
          <a:xfrm>
            <a:off x="2719264" y="318563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橢圓 75"/>
          <p:cNvSpPr/>
          <p:nvPr/>
        </p:nvSpPr>
        <p:spPr>
          <a:xfrm>
            <a:off x="3410995" y="319141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7" name="直線接點 76"/>
          <p:cNvCxnSpPr>
            <a:stCxn id="73" idx="4"/>
            <a:endCxn id="65" idx="0"/>
          </p:cNvCxnSpPr>
          <p:nvPr/>
        </p:nvCxnSpPr>
        <p:spPr>
          <a:xfrm flipH="1">
            <a:off x="1326060" y="3473630"/>
            <a:ext cx="159213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橢圓 77"/>
          <p:cNvSpPr/>
          <p:nvPr/>
        </p:nvSpPr>
        <p:spPr>
          <a:xfrm>
            <a:off x="1683484" y="263929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橢圓 78"/>
          <p:cNvSpPr/>
          <p:nvPr/>
        </p:nvSpPr>
        <p:spPr>
          <a:xfrm>
            <a:off x="3059020" y="263929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橢圓 79"/>
          <p:cNvSpPr/>
          <p:nvPr/>
        </p:nvSpPr>
        <p:spPr>
          <a:xfrm>
            <a:off x="2359023" y="211020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8" name="直線接點 87"/>
          <p:cNvCxnSpPr>
            <a:stCxn id="79" idx="4"/>
            <a:endCxn id="76" idx="0"/>
          </p:cNvCxnSpPr>
          <p:nvPr/>
        </p:nvCxnSpPr>
        <p:spPr>
          <a:xfrm>
            <a:off x="3203020" y="2927290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>
            <a:stCxn id="79" idx="4"/>
            <a:endCxn id="75" idx="0"/>
          </p:cNvCxnSpPr>
          <p:nvPr/>
        </p:nvCxnSpPr>
        <p:spPr>
          <a:xfrm flipH="1">
            <a:off x="2863264" y="2927290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>
            <a:stCxn id="78" idx="4"/>
            <a:endCxn id="74" idx="0"/>
          </p:cNvCxnSpPr>
          <p:nvPr/>
        </p:nvCxnSpPr>
        <p:spPr>
          <a:xfrm>
            <a:off x="1827484" y="2927290"/>
            <a:ext cx="349520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/>
          <p:cNvCxnSpPr>
            <a:stCxn id="78" idx="4"/>
            <a:endCxn id="73" idx="0"/>
          </p:cNvCxnSpPr>
          <p:nvPr/>
        </p:nvCxnSpPr>
        <p:spPr>
          <a:xfrm flipH="1">
            <a:off x="1485273" y="2927290"/>
            <a:ext cx="34221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/>
          <p:cNvCxnSpPr>
            <a:stCxn id="80" idx="4"/>
            <a:endCxn id="79" idx="0"/>
          </p:cNvCxnSpPr>
          <p:nvPr/>
        </p:nvCxnSpPr>
        <p:spPr>
          <a:xfrm>
            <a:off x="2503023" y="2398203"/>
            <a:ext cx="699997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/>
          <p:cNvCxnSpPr>
            <a:stCxn id="80" idx="4"/>
            <a:endCxn id="78" idx="0"/>
          </p:cNvCxnSpPr>
          <p:nvPr/>
        </p:nvCxnSpPr>
        <p:spPr>
          <a:xfrm flipH="1">
            <a:off x="1827484" y="2398203"/>
            <a:ext cx="675539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群組 7"/>
          <p:cNvGrpSpPr/>
          <p:nvPr/>
        </p:nvGrpSpPr>
        <p:grpSpPr>
          <a:xfrm>
            <a:off x="3928509" y="2110203"/>
            <a:ext cx="970950" cy="1889825"/>
            <a:chOff x="3928509" y="2110203"/>
            <a:chExt cx="970950" cy="1889825"/>
          </a:xfrm>
        </p:grpSpPr>
        <p:cxnSp>
          <p:nvCxnSpPr>
            <p:cNvPr id="95" name="直線接點 94"/>
            <p:cNvCxnSpPr/>
            <p:nvPr/>
          </p:nvCxnSpPr>
          <p:spPr>
            <a:xfrm>
              <a:off x="4107459" y="2110203"/>
              <a:ext cx="792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接點 95"/>
            <p:cNvCxnSpPr/>
            <p:nvPr/>
          </p:nvCxnSpPr>
          <p:spPr>
            <a:xfrm>
              <a:off x="4608306" y="3988126"/>
              <a:ext cx="252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線單箭頭接點 97"/>
            <p:cNvCxnSpPr/>
            <p:nvPr/>
          </p:nvCxnSpPr>
          <p:spPr>
            <a:xfrm flipH="1">
              <a:off x="4245475" y="2110203"/>
              <a:ext cx="539" cy="1368000"/>
            </a:xfrm>
            <a:prstGeom prst="straightConnector1">
              <a:avLst/>
            </a:prstGeom>
            <a:ln w="28575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/>
            <p:cNvCxnSpPr/>
            <p:nvPr/>
          </p:nvCxnSpPr>
          <p:spPr>
            <a:xfrm flipH="1">
              <a:off x="4725663" y="2115961"/>
              <a:ext cx="539" cy="1884067"/>
            </a:xfrm>
            <a:prstGeom prst="straightConnector1">
              <a:avLst/>
            </a:prstGeom>
            <a:ln w="28575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線接點 103"/>
            <p:cNvCxnSpPr/>
            <p:nvPr/>
          </p:nvCxnSpPr>
          <p:spPr>
            <a:xfrm>
              <a:off x="4107059" y="3479415"/>
              <a:ext cx="252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字方塊 104"/>
            <p:cNvSpPr txBox="1"/>
            <p:nvPr/>
          </p:nvSpPr>
          <p:spPr>
            <a:xfrm>
              <a:off x="3928509" y="2639290"/>
              <a:ext cx="65915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– 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文字方塊 105"/>
            <p:cNvSpPr txBox="1"/>
            <p:nvPr/>
          </p:nvSpPr>
          <p:spPr>
            <a:xfrm>
              <a:off x="4577351" y="2927290"/>
              <a:ext cx="30008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7" name="文字方塊 106"/>
          <p:cNvSpPr txBox="1"/>
          <p:nvPr/>
        </p:nvSpPr>
        <p:spPr>
          <a:xfrm>
            <a:off x="6084510" y="4167689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點數最多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8" name="文字方塊 107"/>
          <p:cNvSpPr txBox="1"/>
          <p:nvPr/>
        </p:nvSpPr>
        <p:spPr>
          <a:xfrm>
            <a:off x="1908997" y="4167689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點數最少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字方塊 108"/>
              <p:cNvSpPr txBox="1"/>
              <p:nvPr/>
            </p:nvSpPr>
            <p:spPr>
              <a:xfrm>
                <a:off x="3203020" y="4671211"/>
                <a:ext cx="2842253" cy="3797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1" i="1" smtClean="0"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altLang="zh-TW" b="1" i="1" smtClean="0">
                              <a:latin typeface="Cambria Math"/>
                            </a:rPr>
                            <m:t>𝒌</m:t>
                          </m:r>
                          <m:r>
                            <a:rPr lang="en-US" altLang="zh-TW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altLang="zh-TW" b="1" i="1" smtClean="0">
                              <a:latin typeface="Cambria Math"/>
                            </a:rPr>
                            <m:t>𝟏</m:t>
                          </m:r>
                        </m:sup>
                      </m:sSup>
                      <m:r>
                        <a:rPr lang="en-US" altLang="zh-TW" b="1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a:rPr lang="en-US" altLang="zh-TW" b="1" i="1" smtClean="0">
                          <a:latin typeface="Cambria Math"/>
                        </a:rPr>
                        <m:t>𝒏</m:t>
                      </m:r>
                      <m:r>
                        <a:rPr lang="en-US" altLang="zh-TW" b="1" i="1" smtClean="0">
                          <a:latin typeface="Cambria Math"/>
                        </a:rPr>
                        <m:t> ≤ </m:t>
                      </m:r>
                      <m:sSup>
                        <m:sSup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𝒌</m:t>
                          </m:r>
                        </m:sup>
                      </m:sSup>
                      <m:r>
                        <a:rPr lang="en-US" altLang="zh-TW" b="1" i="1" smtClean="0">
                          <a:latin typeface="Cambria Math"/>
                          <a:ea typeface="Cambria Math"/>
                        </a:rPr>
                        <m:t>−</m:t>
                      </m:r>
                      <m:r>
                        <a:rPr lang="en-US" altLang="zh-TW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altLang="zh-TW" b="1" i="0" smtClean="0">
                          <a:latin typeface="Cambria Math"/>
                          <a:ea typeface="Cambria Math"/>
                        </a:rPr>
                        <m:t>&lt; </m:t>
                      </m:r>
                      <m:sSup>
                        <m:sSup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𝒌</m:t>
                          </m:r>
                        </m:sup>
                      </m:sSup>
                    </m:oMath>
                  </m:oMathPara>
                </a14:m>
                <a:endParaRPr lang="en-US" altLang="zh-TW" b="1" dirty="0" smtClean="0">
                  <a:ea typeface="Cambria Math"/>
                </a:endParaRPr>
              </a:p>
            </p:txBody>
          </p:sp>
        </mc:Choice>
        <mc:Fallback xmlns="">
          <p:sp>
            <p:nvSpPr>
              <p:cNvPr id="109" name="文字方塊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020" y="4671211"/>
                <a:ext cx="2842253" cy="37978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字方塊 109"/>
              <p:cNvSpPr txBox="1"/>
              <p:nvPr/>
            </p:nvSpPr>
            <p:spPr>
              <a:xfrm>
                <a:off x="3249862" y="5045481"/>
                <a:ext cx="2757934" cy="404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TW" b="1" i="0" smtClean="0">
                              <a:latin typeface="Cambria Math"/>
                            </a:rPr>
                            <m:t>𝐥𝐠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𝒌</m:t>
                                  </m:r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𝟏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b="1" i="1" smtClean="0">
                          <a:latin typeface="Cambria Math"/>
                          <a:ea typeface="Cambria Math"/>
                        </a:rPr>
                        <m:t>≤</m:t>
                      </m:r>
                      <m:func>
                        <m:func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uncPr>
                        <m:fName>
                          <m:r>
                            <a:rPr lang="en-US" altLang="zh-TW" b="1" i="0" smtClean="0">
                              <a:latin typeface="Cambria Math"/>
                              <a:ea typeface="Cambria Math"/>
                            </a:rPr>
                            <m:t>𝐥𝐠</m:t>
                          </m:r>
                        </m:fName>
                        <m:e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func>
                      <m:r>
                        <a:rPr lang="en-US" altLang="zh-TW" b="1" i="1" smtClean="0"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en-US" altLang="zh-TW" b="1" i="0" smtClean="0">
                          <a:latin typeface="Cambria Math"/>
                          <a:ea typeface="Cambria Math"/>
                        </a:rPr>
                        <m:t>𝐥𝐠</m:t>
                      </m:r>
                      <m:r>
                        <a:rPr lang="en-US" altLang="zh-TW" b="1" i="1" smtClean="0">
                          <a:latin typeface="Cambria Math"/>
                          <a:ea typeface="Cambria Math"/>
                        </a:rPr>
                        <m:t>⁡(</m:t>
                      </m:r>
                      <m:sSup>
                        <m:sSup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𝒌</m:t>
                          </m:r>
                        </m:sup>
                      </m:sSup>
                      <m:r>
                        <a:rPr lang="en-US" altLang="zh-TW" b="1" i="1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10" name="文字方塊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862" y="5045481"/>
                <a:ext cx="2757934" cy="404983"/>
              </a:xfrm>
              <a:prstGeom prst="rect">
                <a:avLst/>
              </a:prstGeom>
              <a:blipFill rotWithShape="0">
                <a:blip r:embed="rId4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字方塊 110"/>
              <p:cNvSpPr txBox="1"/>
              <p:nvPr/>
            </p:nvSpPr>
            <p:spPr>
              <a:xfrm>
                <a:off x="3501478" y="5461966"/>
                <a:ext cx="19848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/>
                        </a:rPr>
                        <m:t>𝒌</m:t>
                      </m:r>
                      <m:r>
                        <a:rPr lang="en-US" altLang="zh-TW" b="1" i="1" smtClean="0">
                          <a:latin typeface="Cambria Math"/>
                        </a:rPr>
                        <m:t>−</m:t>
                      </m:r>
                      <m:r>
                        <a:rPr lang="en-US" altLang="zh-TW" b="1" i="1" smtClean="0">
                          <a:latin typeface="Cambria Math"/>
                        </a:rPr>
                        <m:t>𝟏</m:t>
                      </m:r>
                      <m:r>
                        <a:rPr lang="en-US" altLang="zh-TW" b="1" i="1" smtClean="0">
                          <a:latin typeface="Cambria Math"/>
                        </a:rPr>
                        <m:t> ≤</m:t>
                      </m:r>
                      <m:func>
                        <m:func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uncPr>
                        <m:fName>
                          <m:r>
                            <a:rPr lang="en-US" altLang="zh-TW" b="1" i="0" smtClean="0">
                              <a:latin typeface="Cambria Math"/>
                              <a:ea typeface="Cambria Math"/>
                            </a:rPr>
                            <m:t>𝐥𝐠</m:t>
                          </m:r>
                        </m:fName>
                        <m:e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func>
                      <m:r>
                        <a:rPr lang="en-US" altLang="zh-TW" b="1" i="1" smtClean="0"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en-US" altLang="zh-TW" b="1" i="1" smtClean="0">
                          <a:latin typeface="Cambria Math"/>
                          <a:ea typeface="Cambria Math"/>
                        </a:rPr>
                        <m:t>𝒌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11" name="文字方塊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1478" y="5461966"/>
                <a:ext cx="1984839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字方塊 111"/>
              <p:cNvSpPr txBox="1"/>
              <p:nvPr/>
            </p:nvSpPr>
            <p:spPr>
              <a:xfrm>
                <a:off x="3501478" y="5831298"/>
                <a:ext cx="16526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TW" alt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TW" b="1" i="0" smtClean="0">
                                  <a:latin typeface="Cambria Math"/>
                                </a:rPr>
                                <m:t>𝐥𝐠</m:t>
                              </m:r>
                            </m:fName>
                            <m:e>
                              <m:r>
                                <a:rPr lang="en-US" altLang="zh-TW" b="1" i="1" smtClean="0">
                                  <a:latin typeface="Cambria Math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  <m:r>
                        <a:rPr lang="en-US" altLang="zh-TW" b="1" i="1" smtClean="0">
                          <a:latin typeface="Cambria Math"/>
                        </a:rPr>
                        <m:t>=</m:t>
                      </m:r>
                      <m:r>
                        <a:rPr lang="en-US" altLang="zh-TW" b="1" i="1" smtClean="0">
                          <a:latin typeface="Cambria Math"/>
                        </a:rPr>
                        <m:t>𝒌</m:t>
                      </m:r>
                      <m:r>
                        <a:rPr lang="en-US" altLang="zh-TW" b="1" i="1" smtClean="0">
                          <a:latin typeface="Cambria Math"/>
                        </a:rPr>
                        <m:t>−</m:t>
                      </m:r>
                      <m:r>
                        <a:rPr lang="en-US" altLang="zh-TW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12" name="文字方塊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1478" y="5831298"/>
                <a:ext cx="1652697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112"/>
              <p:cNvSpPr txBox="1"/>
              <p:nvPr/>
            </p:nvSpPr>
            <p:spPr>
              <a:xfrm>
                <a:off x="3502050" y="6186583"/>
                <a:ext cx="16526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/>
                        </a:rPr>
                        <m:t>𝒌</m:t>
                      </m:r>
                      <m:r>
                        <a:rPr lang="en-US" altLang="zh-TW" b="1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TW" b="1" i="0" smtClean="0">
                                  <a:latin typeface="Cambria Math"/>
                                </a:rPr>
                                <m:t>𝐥𝐠</m:t>
                              </m:r>
                            </m:fName>
                            <m:e>
                              <m:r>
                                <a:rPr lang="en-US" altLang="zh-TW" b="1" i="1" smtClean="0">
                                  <a:latin typeface="Cambria Math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  <m:r>
                        <a:rPr lang="en-US" altLang="zh-TW" b="1" i="1" smtClean="0">
                          <a:latin typeface="Cambria Math"/>
                        </a:rPr>
                        <m:t>+</m:t>
                      </m:r>
                      <m:r>
                        <a:rPr lang="en-US" altLang="zh-TW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13" name="文字方塊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050" y="6186583"/>
                <a:ext cx="1652697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圓角矩形圖說文字 113"/>
              <p:cNvSpPr/>
              <p:nvPr/>
            </p:nvSpPr>
            <p:spPr>
              <a:xfrm>
                <a:off x="184046" y="5397790"/>
                <a:ext cx="1992958" cy="618174"/>
              </a:xfrm>
              <a:prstGeom prst="wedgeRoundRectCallout">
                <a:avLst>
                  <a:gd name="adj1" fmla="val 8308"/>
                  <a:gd name="adj2" fmla="val -272916"/>
                  <a:gd name="adj3" fmla="val 16667"/>
                </a:avLst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總點數 </a:t>
                </a:r>
                <a:r>
                  <a:rPr lang="en-US" altLang="zh-TW" b="1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8</a:t>
                </a:r>
              </a:p>
              <a:p>
                <a:pPr algn="ctr"/>
                <a:r>
                  <a:rPr lang="zh-TW" altLang="en-US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高度為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TW" alt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1" i="0" smtClean="0">
                            <a:solidFill>
                              <a:schemeClr val="tx1"/>
                            </a:solidFill>
                            <a:latin typeface="Cambria Math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𝐥𝐠</m:t>
                        </m:r>
                        <m:r>
                          <a:rPr lang="en-US" altLang="zh-TW" b="1" i="1" smtClean="0">
                            <a:solidFill>
                              <a:schemeClr val="tx1"/>
                            </a:solidFill>
                            <a:latin typeface="Cambria Math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b="1" i="1" smtClean="0">
                            <a:solidFill>
                              <a:srgbClr val="0000FF"/>
                            </a:solidFill>
                            <a:latin typeface="Cambria Math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𝟖</m:t>
                        </m:r>
                      </m:e>
                    </m:d>
                    <m:r>
                      <a:rPr lang="en-US" altLang="zh-TW" b="1" i="1" smtClean="0">
                        <a:solidFill>
                          <a:schemeClr val="tx1"/>
                        </a:solidFill>
                        <a:latin typeface="Cambria Math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b="1" i="1" smtClean="0">
                        <a:solidFill>
                          <a:schemeClr val="tx1"/>
                        </a:solidFill>
                        <a:latin typeface="Cambria Math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4" name="圓角矩形圖說文字 1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46" y="5397790"/>
                <a:ext cx="1992958" cy="618174"/>
              </a:xfrm>
              <a:prstGeom prst="wedgeRoundRectCallout">
                <a:avLst>
                  <a:gd name="adj1" fmla="val 8308"/>
                  <a:gd name="adj2" fmla="val -272916"/>
                  <a:gd name="adj3" fmla="val 16667"/>
                </a:avLst>
              </a:prstGeom>
              <a:blipFill rotWithShape="1">
                <a:blip r:embed="rId8"/>
                <a:stretch>
                  <a:fillRect b="-4776"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圓角矩形圖說文字 114"/>
              <p:cNvSpPr/>
              <p:nvPr/>
            </p:nvSpPr>
            <p:spPr>
              <a:xfrm>
                <a:off x="6803892" y="5397790"/>
                <a:ext cx="2106603" cy="618174"/>
              </a:xfrm>
              <a:prstGeom prst="wedgeRoundRectCallout">
                <a:avLst>
                  <a:gd name="adj1" fmla="val -29037"/>
                  <a:gd name="adj2" fmla="val -258962"/>
                  <a:gd name="adj3" fmla="val 16667"/>
                </a:avLst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總點數 </a:t>
                </a:r>
                <a:r>
                  <a:rPr lang="en-US" altLang="zh-TW" b="1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15</a:t>
                </a:r>
              </a:p>
              <a:p>
                <a:pPr algn="ctr"/>
                <a:r>
                  <a:rPr lang="zh-TW" altLang="en-US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高度為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TW" alt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1" i="0" smtClean="0">
                            <a:solidFill>
                              <a:schemeClr val="tx1"/>
                            </a:solidFill>
                            <a:latin typeface="Cambria Math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𝐥𝐠</m:t>
                        </m:r>
                        <m:r>
                          <a:rPr lang="en-US" altLang="zh-TW" b="1" i="1" smtClean="0">
                            <a:solidFill>
                              <a:schemeClr val="tx1"/>
                            </a:solidFill>
                            <a:latin typeface="Cambria Math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b="1" i="1" smtClean="0">
                            <a:solidFill>
                              <a:srgbClr val="0000FF"/>
                            </a:solidFill>
                            <a:latin typeface="Cambria Math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𝟏𝟓</m:t>
                        </m:r>
                      </m:e>
                    </m:d>
                    <m:r>
                      <a:rPr lang="en-US" altLang="zh-TW" b="1" i="1" smtClean="0">
                        <a:solidFill>
                          <a:schemeClr val="tx1"/>
                        </a:solidFill>
                        <a:latin typeface="Cambria Math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b="1" i="1" smtClean="0">
                        <a:solidFill>
                          <a:schemeClr val="tx1"/>
                        </a:solidFill>
                        <a:latin typeface="Cambria Math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5" name="圓角矩形圖說文字 1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3892" y="5397790"/>
                <a:ext cx="2106603" cy="618174"/>
              </a:xfrm>
              <a:prstGeom prst="wedgeRoundRectCallout">
                <a:avLst>
                  <a:gd name="adj1" fmla="val -29037"/>
                  <a:gd name="adj2" fmla="val -258962"/>
                  <a:gd name="adj3" fmla="val 16667"/>
                </a:avLst>
              </a:prstGeom>
              <a:blipFill rotWithShape="1">
                <a:blip r:embed="rId9"/>
                <a:stretch>
                  <a:fillRect b="-4984"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1584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/>
      <p:bldP spid="110" grpId="0"/>
      <p:bldP spid="111" grpId="0"/>
      <p:bldP spid="112" grpId="0"/>
      <p:bldP spid="113" grpId="0"/>
      <p:bldP spid="114" grpId="0" animBg="1"/>
      <p:bldP spid="1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二元樹</a:t>
            </a:r>
            <a:r>
              <a:rPr lang="zh-TW" altLang="en-US" dirty="0"/>
              <a:t>的表示</a:t>
            </a:r>
            <a:r>
              <a:rPr lang="zh-TW" altLang="en-US" dirty="0" smtClean="0"/>
              <a:t>方法 </a:t>
            </a:r>
            <a:r>
              <a:rPr lang="en-US" altLang="zh-TW" dirty="0" smtClean="0"/>
              <a:t>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278636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>
                <a:solidFill>
                  <a:srgbClr val="0000FF"/>
                </a:solidFill>
              </a:rPr>
              <a:t>一維陣列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zh-TW" altLang="en-US" dirty="0" smtClean="0">
                <a:solidFill>
                  <a:srgbClr val="C00000"/>
                </a:solidFill>
              </a:rPr>
              <a:t>優點</a:t>
            </a:r>
            <a:r>
              <a:rPr lang="zh-TW" altLang="en-US" dirty="0" smtClean="0"/>
              <a:t>：陣列位置即點在二元樹的位置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8" name="橢圓 7"/>
          <p:cNvSpPr/>
          <p:nvPr/>
        </p:nvSpPr>
        <p:spPr>
          <a:xfrm>
            <a:off x="5595000" y="350800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7355757" y="350800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7679747" y="350800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5438849" y="298736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7508571" y="299314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5781060" y="244102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7156596" y="244102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6456599" y="191193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/>
          <p:cNvCxnSpPr>
            <a:stCxn id="15" idx="4"/>
            <a:endCxn id="8" idx="0"/>
          </p:cNvCxnSpPr>
          <p:nvPr/>
        </p:nvCxnSpPr>
        <p:spPr>
          <a:xfrm>
            <a:off x="5582849" y="3275364"/>
            <a:ext cx="156151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18" idx="4"/>
            <a:endCxn id="13" idx="0"/>
          </p:cNvCxnSpPr>
          <p:nvPr/>
        </p:nvCxnSpPr>
        <p:spPr>
          <a:xfrm flipH="1">
            <a:off x="7499757" y="3281149"/>
            <a:ext cx="152814" cy="22685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>
            <a:stCxn id="18" idx="4"/>
            <a:endCxn id="14" idx="0"/>
          </p:cNvCxnSpPr>
          <p:nvPr/>
        </p:nvCxnSpPr>
        <p:spPr>
          <a:xfrm>
            <a:off x="7652571" y="3281149"/>
            <a:ext cx="171176" cy="22685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21" idx="4"/>
            <a:endCxn id="18" idx="0"/>
          </p:cNvCxnSpPr>
          <p:nvPr/>
        </p:nvCxnSpPr>
        <p:spPr>
          <a:xfrm>
            <a:off x="7300596" y="2729024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20" idx="4"/>
            <a:endCxn id="15" idx="0"/>
          </p:cNvCxnSpPr>
          <p:nvPr/>
        </p:nvCxnSpPr>
        <p:spPr>
          <a:xfrm flipH="1">
            <a:off x="5582849" y="2729024"/>
            <a:ext cx="34221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>
            <a:stCxn id="22" idx="4"/>
            <a:endCxn id="21" idx="0"/>
          </p:cNvCxnSpPr>
          <p:nvPr/>
        </p:nvCxnSpPr>
        <p:spPr>
          <a:xfrm>
            <a:off x="6600599" y="2199937"/>
            <a:ext cx="699997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>
            <a:stCxn id="22" idx="4"/>
            <a:endCxn id="20" idx="0"/>
          </p:cNvCxnSpPr>
          <p:nvPr/>
        </p:nvCxnSpPr>
        <p:spPr>
          <a:xfrm flipH="1">
            <a:off x="5925060" y="2199937"/>
            <a:ext cx="675539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/>
          <p:cNvSpPr/>
          <p:nvPr/>
        </p:nvSpPr>
        <p:spPr>
          <a:xfrm>
            <a:off x="1182060" y="350800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1341273" y="298736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橢圓 37"/>
          <p:cNvSpPr/>
          <p:nvPr/>
        </p:nvSpPr>
        <p:spPr>
          <a:xfrm>
            <a:off x="2033004" y="299314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橢圓 38"/>
          <p:cNvSpPr/>
          <p:nvPr/>
        </p:nvSpPr>
        <p:spPr>
          <a:xfrm>
            <a:off x="2719264" y="298736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橢圓 39"/>
          <p:cNvSpPr/>
          <p:nvPr/>
        </p:nvSpPr>
        <p:spPr>
          <a:xfrm>
            <a:off x="3410995" y="299314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直線接點 40"/>
          <p:cNvCxnSpPr>
            <a:stCxn id="37" idx="4"/>
            <a:endCxn id="36" idx="0"/>
          </p:cNvCxnSpPr>
          <p:nvPr/>
        </p:nvCxnSpPr>
        <p:spPr>
          <a:xfrm flipH="1">
            <a:off x="1326060" y="3275364"/>
            <a:ext cx="159213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橢圓 41"/>
          <p:cNvSpPr/>
          <p:nvPr/>
        </p:nvSpPr>
        <p:spPr>
          <a:xfrm>
            <a:off x="1683484" y="244102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/>
          <p:cNvSpPr/>
          <p:nvPr/>
        </p:nvSpPr>
        <p:spPr>
          <a:xfrm>
            <a:off x="3059020" y="244102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橢圓 43"/>
          <p:cNvSpPr/>
          <p:nvPr/>
        </p:nvSpPr>
        <p:spPr>
          <a:xfrm>
            <a:off x="2359023" y="191193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5" name="直線接點 44"/>
          <p:cNvCxnSpPr>
            <a:stCxn id="43" idx="4"/>
            <a:endCxn id="40" idx="0"/>
          </p:cNvCxnSpPr>
          <p:nvPr/>
        </p:nvCxnSpPr>
        <p:spPr>
          <a:xfrm>
            <a:off x="3203020" y="2729024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>
            <a:stCxn id="43" idx="4"/>
            <a:endCxn id="39" idx="0"/>
          </p:cNvCxnSpPr>
          <p:nvPr/>
        </p:nvCxnSpPr>
        <p:spPr>
          <a:xfrm flipH="1">
            <a:off x="2863264" y="2729024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>
            <a:stCxn id="42" idx="4"/>
            <a:endCxn id="38" idx="0"/>
          </p:cNvCxnSpPr>
          <p:nvPr/>
        </p:nvCxnSpPr>
        <p:spPr>
          <a:xfrm>
            <a:off x="1827484" y="2729024"/>
            <a:ext cx="349520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>
            <a:stCxn id="42" idx="4"/>
            <a:endCxn id="37" idx="0"/>
          </p:cNvCxnSpPr>
          <p:nvPr/>
        </p:nvCxnSpPr>
        <p:spPr>
          <a:xfrm flipH="1">
            <a:off x="1485273" y="2729024"/>
            <a:ext cx="34221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>
            <a:stCxn id="44" idx="4"/>
            <a:endCxn id="43" idx="0"/>
          </p:cNvCxnSpPr>
          <p:nvPr/>
        </p:nvCxnSpPr>
        <p:spPr>
          <a:xfrm>
            <a:off x="2503023" y="2199937"/>
            <a:ext cx="699997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>
            <a:stCxn id="44" idx="4"/>
            <a:endCxn id="42" idx="0"/>
          </p:cNvCxnSpPr>
          <p:nvPr/>
        </p:nvCxnSpPr>
        <p:spPr>
          <a:xfrm flipH="1">
            <a:off x="1827484" y="2199937"/>
            <a:ext cx="675539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表格 57"/>
          <p:cNvGraphicFramePr>
            <a:graphicFrameLocks noGrp="1"/>
          </p:cNvGraphicFramePr>
          <p:nvPr>
            <p:extLst/>
          </p:nvPr>
        </p:nvGraphicFramePr>
        <p:xfrm>
          <a:off x="782679" y="4364627"/>
          <a:ext cx="3452656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31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5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5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5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15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15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" name="群組 6"/>
          <p:cNvGrpSpPr/>
          <p:nvPr/>
        </p:nvGrpSpPr>
        <p:grpSpPr>
          <a:xfrm>
            <a:off x="781470" y="4002798"/>
            <a:ext cx="3468553" cy="369332"/>
            <a:chOff x="781470" y="3623122"/>
            <a:chExt cx="3468553" cy="369332"/>
          </a:xfrm>
        </p:grpSpPr>
        <p:sp>
          <p:nvSpPr>
            <p:cNvPr id="59" name="文字方塊 58"/>
            <p:cNvSpPr txBox="1"/>
            <p:nvPr/>
          </p:nvSpPr>
          <p:spPr>
            <a:xfrm>
              <a:off x="781470" y="3623122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[0]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文字方塊 59"/>
            <p:cNvSpPr txBox="1"/>
            <p:nvPr/>
          </p:nvSpPr>
          <p:spPr>
            <a:xfrm>
              <a:off x="1188044" y="3623122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1633388" y="3623122"/>
              <a:ext cx="4539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[2]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2068821" y="3623122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[3]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2500076" y="3623122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[4]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2915276" y="3623122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[5]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3351994" y="3623122"/>
              <a:ext cx="4539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[6]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3796053" y="3623122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[7]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7" name="文字方塊 66"/>
          <p:cNvSpPr txBox="1"/>
          <p:nvPr/>
        </p:nvSpPr>
        <p:spPr>
          <a:xfrm>
            <a:off x="2335960" y="1858575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1653562" y="238310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3033142" y="2383348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1322252" y="293191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2015214" y="292944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2709025" y="2926847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3378670" y="2935231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1150990" y="3458712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6422074" y="1862645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5748442" y="238310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7124906" y="2383348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字方塊 77"/>
          <p:cNvSpPr txBox="1"/>
          <p:nvPr/>
        </p:nvSpPr>
        <p:spPr>
          <a:xfrm>
            <a:off x="5408499" y="2935473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5573682" y="3458712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7499630" y="2946698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7326469" y="3467338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7643757" y="3467338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3" name="表格 82"/>
          <p:cNvGraphicFramePr>
            <a:graphicFrameLocks noGrp="1"/>
          </p:cNvGraphicFramePr>
          <p:nvPr>
            <p:extLst/>
          </p:nvPr>
        </p:nvGraphicFramePr>
        <p:xfrm>
          <a:off x="788741" y="5362416"/>
          <a:ext cx="6515085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34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3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43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43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43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43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43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43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43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43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43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43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433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9" name="群組 8"/>
          <p:cNvGrpSpPr/>
          <p:nvPr/>
        </p:nvGrpSpPr>
        <p:grpSpPr>
          <a:xfrm>
            <a:off x="787532" y="5000587"/>
            <a:ext cx="6581654" cy="380834"/>
            <a:chOff x="787532" y="4620911"/>
            <a:chExt cx="6581654" cy="380834"/>
          </a:xfrm>
        </p:grpSpPr>
        <p:sp>
          <p:nvSpPr>
            <p:cNvPr id="84" name="文字方塊 83"/>
            <p:cNvSpPr txBox="1"/>
            <p:nvPr/>
          </p:nvSpPr>
          <p:spPr>
            <a:xfrm>
              <a:off x="787532" y="4620911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[0]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文字方塊 84"/>
            <p:cNvSpPr txBox="1"/>
            <p:nvPr/>
          </p:nvSpPr>
          <p:spPr>
            <a:xfrm>
              <a:off x="1194106" y="4620911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文字方塊 85"/>
            <p:cNvSpPr txBox="1"/>
            <p:nvPr/>
          </p:nvSpPr>
          <p:spPr>
            <a:xfrm>
              <a:off x="1639450" y="4620911"/>
              <a:ext cx="4539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[2]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文字方塊 86"/>
            <p:cNvSpPr txBox="1"/>
            <p:nvPr/>
          </p:nvSpPr>
          <p:spPr>
            <a:xfrm>
              <a:off x="2074883" y="4620911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[3]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文字方塊 87"/>
            <p:cNvSpPr txBox="1"/>
            <p:nvPr/>
          </p:nvSpPr>
          <p:spPr>
            <a:xfrm>
              <a:off x="2506138" y="4620911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[4]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文字方塊 88"/>
            <p:cNvSpPr txBox="1"/>
            <p:nvPr/>
          </p:nvSpPr>
          <p:spPr>
            <a:xfrm>
              <a:off x="2921338" y="4620911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[5]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文字方塊 89"/>
            <p:cNvSpPr txBox="1"/>
            <p:nvPr/>
          </p:nvSpPr>
          <p:spPr>
            <a:xfrm>
              <a:off x="3358056" y="4620911"/>
              <a:ext cx="4539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[6]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文字方塊 90"/>
            <p:cNvSpPr txBox="1"/>
            <p:nvPr/>
          </p:nvSpPr>
          <p:spPr>
            <a:xfrm>
              <a:off x="3802115" y="4620911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[7]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文字方塊 91"/>
            <p:cNvSpPr txBox="1"/>
            <p:nvPr/>
          </p:nvSpPr>
          <p:spPr>
            <a:xfrm>
              <a:off x="4249498" y="4632413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[8]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文字方塊 92"/>
            <p:cNvSpPr txBox="1"/>
            <p:nvPr/>
          </p:nvSpPr>
          <p:spPr>
            <a:xfrm>
              <a:off x="4694842" y="4632413"/>
              <a:ext cx="4539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[9]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文字方塊 93"/>
            <p:cNvSpPr txBox="1"/>
            <p:nvPr/>
          </p:nvSpPr>
          <p:spPr>
            <a:xfrm>
              <a:off x="5072566" y="4632413"/>
              <a:ext cx="5693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[10]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文字方塊 94"/>
            <p:cNvSpPr txBox="1"/>
            <p:nvPr/>
          </p:nvSpPr>
          <p:spPr>
            <a:xfrm>
              <a:off x="5510202" y="4632413"/>
              <a:ext cx="556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[11]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文字方塊 95"/>
            <p:cNvSpPr txBox="1"/>
            <p:nvPr/>
          </p:nvSpPr>
          <p:spPr>
            <a:xfrm>
              <a:off x="5919021" y="4632413"/>
              <a:ext cx="5693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[12]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文字方塊 96"/>
            <p:cNvSpPr txBox="1"/>
            <p:nvPr/>
          </p:nvSpPr>
          <p:spPr>
            <a:xfrm>
              <a:off x="6355740" y="4632413"/>
              <a:ext cx="5693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[13]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文字方塊 97"/>
            <p:cNvSpPr txBox="1"/>
            <p:nvPr/>
          </p:nvSpPr>
          <p:spPr>
            <a:xfrm>
              <a:off x="6799798" y="4632413"/>
              <a:ext cx="5693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[14]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9" name="圓角矩形圖說文字 98"/>
          <p:cNvSpPr/>
          <p:nvPr/>
        </p:nvSpPr>
        <p:spPr>
          <a:xfrm>
            <a:off x="3643200" y="1718351"/>
            <a:ext cx="1666565" cy="675172"/>
          </a:xfrm>
          <a:prstGeom prst="wedgeRoundRectCallout">
            <a:avLst>
              <a:gd name="adj1" fmla="val -56143"/>
              <a:gd name="adj2" fmla="val 104372"/>
              <a:gd name="adj3" fmla="val 16667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趨近完整時</a:t>
            </a:r>
            <a:endParaRPr lang="en-US" altLang="zh-TW" b="1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空位很少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0" name="圓角矩形圖說文字 99"/>
          <p:cNvSpPr/>
          <p:nvPr/>
        </p:nvSpPr>
        <p:spPr>
          <a:xfrm>
            <a:off x="7411576" y="1707934"/>
            <a:ext cx="1666565" cy="675172"/>
          </a:xfrm>
          <a:prstGeom prst="wedgeRoundRectCallout">
            <a:avLst>
              <a:gd name="adj1" fmla="val -45791"/>
              <a:gd name="adj2" fmla="val 110760"/>
              <a:gd name="adj3" fmla="val 16667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很不完整時</a:t>
            </a:r>
            <a:endParaRPr lang="en-US" altLang="zh-TW" b="1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空間浪費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1" name="文字方塊 100"/>
          <p:cNvSpPr txBox="1"/>
          <p:nvPr/>
        </p:nvSpPr>
        <p:spPr>
          <a:xfrm>
            <a:off x="4687846" y="4204717"/>
            <a:ext cx="1338828" cy="64633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不易擴充</a:t>
            </a:r>
            <a:endParaRPr lang="en-US" altLang="zh-TW" b="1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需預估大小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67683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100" grpId="0" animBg="1"/>
      <p:bldP spid="10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二元樹</a:t>
            </a:r>
            <a:r>
              <a:rPr lang="zh-TW" altLang="en-US" dirty="0"/>
              <a:t>的表示</a:t>
            </a:r>
            <a:r>
              <a:rPr lang="zh-TW" altLang="en-US" dirty="0" smtClean="0"/>
              <a:t>方法 </a:t>
            </a:r>
            <a:r>
              <a:rPr lang="en-US" altLang="zh-TW" dirty="0" smtClean="0"/>
              <a:t>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>
                <a:solidFill>
                  <a:srgbClr val="0000FF"/>
                </a:solidFill>
              </a:rPr>
              <a:t>二維陣列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橢圓 7"/>
          <p:cNvSpPr/>
          <p:nvPr/>
        </p:nvSpPr>
        <p:spPr>
          <a:xfrm>
            <a:off x="5595000" y="31283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7355757" y="31283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7679747" y="31283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5438849" y="260768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7508571" y="261347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5781060" y="206134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7156596" y="206134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6456599" y="153226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/>
          <p:cNvCxnSpPr>
            <a:stCxn id="15" idx="4"/>
            <a:endCxn id="8" idx="0"/>
          </p:cNvCxnSpPr>
          <p:nvPr/>
        </p:nvCxnSpPr>
        <p:spPr>
          <a:xfrm>
            <a:off x="5582849" y="2895688"/>
            <a:ext cx="156151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18" idx="4"/>
            <a:endCxn id="13" idx="0"/>
          </p:cNvCxnSpPr>
          <p:nvPr/>
        </p:nvCxnSpPr>
        <p:spPr>
          <a:xfrm flipH="1">
            <a:off x="7499757" y="2901473"/>
            <a:ext cx="152814" cy="22685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>
            <a:stCxn id="18" idx="4"/>
            <a:endCxn id="14" idx="0"/>
          </p:cNvCxnSpPr>
          <p:nvPr/>
        </p:nvCxnSpPr>
        <p:spPr>
          <a:xfrm>
            <a:off x="7652571" y="2901473"/>
            <a:ext cx="171176" cy="22685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21" idx="4"/>
            <a:endCxn id="18" idx="0"/>
          </p:cNvCxnSpPr>
          <p:nvPr/>
        </p:nvCxnSpPr>
        <p:spPr>
          <a:xfrm>
            <a:off x="7300596" y="2349348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20" idx="4"/>
            <a:endCxn id="15" idx="0"/>
          </p:cNvCxnSpPr>
          <p:nvPr/>
        </p:nvCxnSpPr>
        <p:spPr>
          <a:xfrm flipH="1">
            <a:off x="5582849" y="2349348"/>
            <a:ext cx="34221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>
            <a:stCxn id="22" idx="4"/>
            <a:endCxn id="21" idx="0"/>
          </p:cNvCxnSpPr>
          <p:nvPr/>
        </p:nvCxnSpPr>
        <p:spPr>
          <a:xfrm>
            <a:off x="6600599" y="1820261"/>
            <a:ext cx="699997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>
            <a:stCxn id="22" idx="4"/>
            <a:endCxn id="20" idx="0"/>
          </p:cNvCxnSpPr>
          <p:nvPr/>
        </p:nvCxnSpPr>
        <p:spPr>
          <a:xfrm flipH="1">
            <a:off x="5925060" y="1820261"/>
            <a:ext cx="675539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/>
          <p:cNvSpPr/>
          <p:nvPr/>
        </p:nvSpPr>
        <p:spPr>
          <a:xfrm>
            <a:off x="1182060" y="31283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1341273" y="260768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橢圓 37"/>
          <p:cNvSpPr/>
          <p:nvPr/>
        </p:nvSpPr>
        <p:spPr>
          <a:xfrm>
            <a:off x="2033004" y="261347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橢圓 38"/>
          <p:cNvSpPr/>
          <p:nvPr/>
        </p:nvSpPr>
        <p:spPr>
          <a:xfrm>
            <a:off x="2719264" y="260768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橢圓 39"/>
          <p:cNvSpPr/>
          <p:nvPr/>
        </p:nvSpPr>
        <p:spPr>
          <a:xfrm>
            <a:off x="3410995" y="261347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直線接點 40"/>
          <p:cNvCxnSpPr>
            <a:stCxn id="37" idx="4"/>
            <a:endCxn id="36" idx="0"/>
          </p:cNvCxnSpPr>
          <p:nvPr/>
        </p:nvCxnSpPr>
        <p:spPr>
          <a:xfrm flipH="1">
            <a:off x="1326060" y="2895688"/>
            <a:ext cx="159213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橢圓 41"/>
          <p:cNvSpPr/>
          <p:nvPr/>
        </p:nvSpPr>
        <p:spPr>
          <a:xfrm>
            <a:off x="1683484" y="206134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/>
          <p:cNvSpPr/>
          <p:nvPr/>
        </p:nvSpPr>
        <p:spPr>
          <a:xfrm>
            <a:off x="3059020" y="206134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橢圓 43"/>
          <p:cNvSpPr/>
          <p:nvPr/>
        </p:nvSpPr>
        <p:spPr>
          <a:xfrm>
            <a:off x="2359023" y="153226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5" name="直線接點 44"/>
          <p:cNvCxnSpPr>
            <a:stCxn id="43" idx="4"/>
            <a:endCxn id="40" idx="0"/>
          </p:cNvCxnSpPr>
          <p:nvPr/>
        </p:nvCxnSpPr>
        <p:spPr>
          <a:xfrm>
            <a:off x="3203020" y="2349348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>
            <a:stCxn id="43" idx="4"/>
            <a:endCxn id="39" idx="0"/>
          </p:cNvCxnSpPr>
          <p:nvPr/>
        </p:nvCxnSpPr>
        <p:spPr>
          <a:xfrm flipH="1">
            <a:off x="2863264" y="2349348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>
            <a:stCxn id="42" idx="4"/>
            <a:endCxn id="38" idx="0"/>
          </p:cNvCxnSpPr>
          <p:nvPr/>
        </p:nvCxnSpPr>
        <p:spPr>
          <a:xfrm>
            <a:off x="1827484" y="2349348"/>
            <a:ext cx="349520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>
            <a:stCxn id="42" idx="4"/>
            <a:endCxn id="37" idx="0"/>
          </p:cNvCxnSpPr>
          <p:nvPr/>
        </p:nvCxnSpPr>
        <p:spPr>
          <a:xfrm flipH="1">
            <a:off x="1485273" y="2349348"/>
            <a:ext cx="34221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>
            <a:stCxn id="44" idx="4"/>
            <a:endCxn id="43" idx="0"/>
          </p:cNvCxnSpPr>
          <p:nvPr/>
        </p:nvCxnSpPr>
        <p:spPr>
          <a:xfrm>
            <a:off x="2503023" y="1820261"/>
            <a:ext cx="699997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>
            <a:stCxn id="44" idx="4"/>
            <a:endCxn id="42" idx="0"/>
          </p:cNvCxnSpPr>
          <p:nvPr/>
        </p:nvCxnSpPr>
        <p:spPr>
          <a:xfrm flipH="1">
            <a:off x="1827484" y="1820261"/>
            <a:ext cx="675539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表格 57"/>
          <p:cNvGraphicFramePr>
            <a:graphicFrameLocks noGrp="1"/>
          </p:cNvGraphicFramePr>
          <p:nvPr>
            <p:extLst/>
          </p:nvPr>
        </p:nvGraphicFramePr>
        <p:xfrm>
          <a:off x="1783859" y="3457262"/>
          <a:ext cx="1726328" cy="33375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31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5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[6]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[7]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7" name="文字方塊 66"/>
          <p:cNvSpPr txBox="1"/>
          <p:nvPr/>
        </p:nvSpPr>
        <p:spPr>
          <a:xfrm>
            <a:off x="2335960" y="147889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1653562" y="200343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3033142" y="2003672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1322252" y="255223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2015214" y="254977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2709025" y="2547171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3378670" y="2555555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1150990" y="3079036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6422074" y="148296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5748442" y="200343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7124906" y="2003672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字方塊 77"/>
          <p:cNvSpPr txBox="1"/>
          <p:nvPr/>
        </p:nvSpPr>
        <p:spPr>
          <a:xfrm>
            <a:off x="5408499" y="255579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5573682" y="307903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7499630" y="2567022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7326469" y="3087662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7643757" y="3087662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2" name="表格 101"/>
          <p:cNvGraphicFramePr>
            <a:graphicFrameLocks noGrp="1"/>
          </p:cNvGraphicFramePr>
          <p:nvPr>
            <p:extLst/>
          </p:nvPr>
        </p:nvGraphicFramePr>
        <p:xfrm>
          <a:off x="5618209" y="3468084"/>
          <a:ext cx="1726328" cy="33375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31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5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[6]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[7]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9" name="群組 8"/>
          <p:cNvGrpSpPr/>
          <p:nvPr/>
        </p:nvGrpSpPr>
        <p:grpSpPr>
          <a:xfrm>
            <a:off x="2647843" y="3079036"/>
            <a:ext cx="848248" cy="377958"/>
            <a:chOff x="2647843" y="3079036"/>
            <a:chExt cx="848248" cy="377958"/>
          </a:xfrm>
        </p:grpSpPr>
        <p:sp>
          <p:nvSpPr>
            <p:cNvPr id="103" name="文字方塊 102"/>
            <p:cNvSpPr txBox="1"/>
            <p:nvPr/>
          </p:nvSpPr>
          <p:spPr>
            <a:xfrm>
              <a:off x="2647843" y="3087662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b="1" dirty="0" smtClean="0">
                  <a:solidFill>
                    <a:srgbClr val="C00000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rPr>
                <a:t>左</a:t>
              </a:r>
              <a:endParaRPr lang="zh-TW" altLang="en-US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080593" y="3079036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 smtClean="0">
                  <a:solidFill>
                    <a:srgbClr val="C0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右</a:t>
              </a:r>
              <a:endParaRPr lang="zh-TW" altLang="en-US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6498883" y="3096288"/>
            <a:ext cx="848248" cy="377958"/>
            <a:chOff x="6498883" y="3096288"/>
            <a:chExt cx="848248" cy="377958"/>
          </a:xfrm>
        </p:grpSpPr>
        <p:sp>
          <p:nvSpPr>
            <p:cNvPr id="104" name="文字方塊 103"/>
            <p:cNvSpPr txBox="1"/>
            <p:nvPr/>
          </p:nvSpPr>
          <p:spPr>
            <a:xfrm>
              <a:off x="6498883" y="310491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b="1" dirty="0" smtClean="0">
                  <a:solidFill>
                    <a:srgbClr val="C00000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rPr>
                <a:t>左</a:t>
              </a:r>
              <a:endParaRPr lang="zh-TW" altLang="en-US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05" name="矩形 104"/>
            <p:cNvSpPr/>
            <p:nvPr/>
          </p:nvSpPr>
          <p:spPr>
            <a:xfrm>
              <a:off x="6931633" y="3096288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 smtClean="0">
                  <a:solidFill>
                    <a:srgbClr val="C0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右</a:t>
              </a:r>
              <a:endParaRPr lang="zh-TW" altLang="en-US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149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二元樹</a:t>
            </a:r>
            <a:r>
              <a:rPr lang="zh-TW" altLang="en-US" dirty="0" smtClean="0"/>
              <a:t>的表示方法 </a:t>
            </a:r>
            <a:r>
              <a:rPr lang="en-US" altLang="zh-TW" dirty="0" smtClean="0"/>
              <a:t>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>
                <a:solidFill>
                  <a:srgbClr val="0000FF"/>
                </a:solidFill>
              </a:rPr>
              <a:t>鏈結 </a:t>
            </a:r>
            <a:r>
              <a:rPr lang="en-US" altLang="zh-TW" dirty="0" smtClean="0">
                <a:solidFill>
                  <a:srgbClr val="0000FF"/>
                </a:solidFill>
              </a:rPr>
              <a:t>– </a:t>
            </a:r>
            <a:r>
              <a:rPr lang="zh-TW" altLang="en-US" dirty="0" smtClean="0">
                <a:solidFill>
                  <a:srgbClr val="0000FF"/>
                </a:solidFill>
              </a:rPr>
              <a:t>動態配置節點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20</a:t>
            </a:fld>
            <a:endParaRPr lang="en-US" dirty="0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/>
          </p:nvPr>
        </p:nvGraphicFramePr>
        <p:xfrm>
          <a:off x="3039372" y="1371120"/>
          <a:ext cx="474165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0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05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指向左子節點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資料欄位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指向右子節點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橢圓 17"/>
          <p:cNvSpPr/>
          <p:nvPr/>
        </p:nvSpPr>
        <p:spPr>
          <a:xfrm>
            <a:off x="5595000" y="360275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7355757" y="360275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7679747" y="360275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5438849" y="308211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7508571" y="308790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5781060" y="253577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7156596" y="253577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/>
          <p:cNvSpPr/>
          <p:nvPr/>
        </p:nvSpPr>
        <p:spPr>
          <a:xfrm>
            <a:off x="6456599" y="200669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/>
          <p:cNvCxnSpPr>
            <a:stCxn id="21" idx="4"/>
            <a:endCxn id="18" idx="0"/>
          </p:cNvCxnSpPr>
          <p:nvPr/>
        </p:nvCxnSpPr>
        <p:spPr>
          <a:xfrm>
            <a:off x="5582849" y="3370118"/>
            <a:ext cx="156151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22" idx="4"/>
            <a:endCxn id="19" idx="0"/>
          </p:cNvCxnSpPr>
          <p:nvPr/>
        </p:nvCxnSpPr>
        <p:spPr>
          <a:xfrm flipH="1">
            <a:off x="7499757" y="3375903"/>
            <a:ext cx="152814" cy="22685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22" idx="4"/>
            <a:endCxn id="20" idx="0"/>
          </p:cNvCxnSpPr>
          <p:nvPr/>
        </p:nvCxnSpPr>
        <p:spPr>
          <a:xfrm>
            <a:off x="7652571" y="3375903"/>
            <a:ext cx="171176" cy="22685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>
            <a:stCxn id="24" idx="4"/>
            <a:endCxn id="22" idx="0"/>
          </p:cNvCxnSpPr>
          <p:nvPr/>
        </p:nvCxnSpPr>
        <p:spPr>
          <a:xfrm>
            <a:off x="7300596" y="2823778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23" idx="4"/>
            <a:endCxn id="21" idx="0"/>
          </p:cNvCxnSpPr>
          <p:nvPr/>
        </p:nvCxnSpPr>
        <p:spPr>
          <a:xfrm flipH="1">
            <a:off x="5582849" y="2823778"/>
            <a:ext cx="34221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25" idx="4"/>
            <a:endCxn id="24" idx="0"/>
          </p:cNvCxnSpPr>
          <p:nvPr/>
        </p:nvCxnSpPr>
        <p:spPr>
          <a:xfrm>
            <a:off x="6600599" y="2294691"/>
            <a:ext cx="699997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>
            <a:stCxn id="25" idx="4"/>
            <a:endCxn id="23" idx="0"/>
          </p:cNvCxnSpPr>
          <p:nvPr/>
        </p:nvCxnSpPr>
        <p:spPr>
          <a:xfrm flipH="1">
            <a:off x="5925060" y="2294691"/>
            <a:ext cx="675539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橢圓 32"/>
          <p:cNvSpPr/>
          <p:nvPr/>
        </p:nvSpPr>
        <p:spPr>
          <a:xfrm>
            <a:off x="1182060" y="360275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1341273" y="308211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2033004" y="308790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2719264" y="308211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3410995" y="308790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8" name="直線接點 37"/>
          <p:cNvCxnSpPr>
            <a:stCxn id="34" idx="4"/>
            <a:endCxn id="33" idx="0"/>
          </p:cNvCxnSpPr>
          <p:nvPr/>
        </p:nvCxnSpPr>
        <p:spPr>
          <a:xfrm flipH="1">
            <a:off x="1326060" y="3370118"/>
            <a:ext cx="159213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橢圓 38"/>
          <p:cNvSpPr/>
          <p:nvPr/>
        </p:nvSpPr>
        <p:spPr>
          <a:xfrm>
            <a:off x="1683484" y="253577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橢圓 39"/>
          <p:cNvSpPr/>
          <p:nvPr/>
        </p:nvSpPr>
        <p:spPr>
          <a:xfrm>
            <a:off x="3059020" y="253577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橢圓 40"/>
          <p:cNvSpPr/>
          <p:nvPr/>
        </p:nvSpPr>
        <p:spPr>
          <a:xfrm>
            <a:off x="2359023" y="200669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2" name="直線接點 41"/>
          <p:cNvCxnSpPr>
            <a:stCxn id="40" idx="4"/>
            <a:endCxn id="37" idx="0"/>
          </p:cNvCxnSpPr>
          <p:nvPr/>
        </p:nvCxnSpPr>
        <p:spPr>
          <a:xfrm>
            <a:off x="3203020" y="2823778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>
            <a:stCxn id="40" idx="4"/>
            <a:endCxn id="36" idx="0"/>
          </p:cNvCxnSpPr>
          <p:nvPr/>
        </p:nvCxnSpPr>
        <p:spPr>
          <a:xfrm flipH="1">
            <a:off x="2863264" y="2823778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>
            <a:stCxn id="39" idx="4"/>
            <a:endCxn id="35" idx="0"/>
          </p:cNvCxnSpPr>
          <p:nvPr/>
        </p:nvCxnSpPr>
        <p:spPr>
          <a:xfrm>
            <a:off x="1827484" y="2823778"/>
            <a:ext cx="349520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>
            <a:stCxn id="39" idx="4"/>
            <a:endCxn id="34" idx="0"/>
          </p:cNvCxnSpPr>
          <p:nvPr/>
        </p:nvCxnSpPr>
        <p:spPr>
          <a:xfrm flipH="1">
            <a:off x="1485273" y="2823778"/>
            <a:ext cx="34221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>
            <a:stCxn id="41" idx="4"/>
            <a:endCxn id="40" idx="0"/>
          </p:cNvCxnSpPr>
          <p:nvPr/>
        </p:nvCxnSpPr>
        <p:spPr>
          <a:xfrm>
            <a:off x="2503023" y="2294691"/>
            <a:ext cx="699997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>
            <a:stCxn id="41" idx="4"/>
            <a:endCxn id="39" idx="0"/>
          </p:cNvCxnSpPr>
          <p:nvPr/>
        </p:nvCxnSpPr>
        <p:spPr>
          <a:xfrm flipH="1">
            <a:off x="1827484" y="2294691"/>
            <a:ext cx="675539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/>
          <p:cNvSpPr txBox="1"/>
          <p:nvPr/>
        </p:nvSpPr>
        <p:spPr>
          <a:xfrm>
            <a:off x="2335960" y="195332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1653562" y="247786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3033142" y="2478102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1322252" y="302666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2015214" y="30242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2709025" y="3021601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3378670" y="3029985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1150990" y="3553466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6422074" y="195739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5748442" y="247786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7124906" y="2478102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5408499" y="303022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5573682" y="355346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7499630" y="3041452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7326469" y="3562092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7643757" y="3562092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8" name="肘形接點 97"/>
          <p:cNvCxnSpPr>
            <a:stCxn id="7" idx="1"/>
            <a:endCxn id="67" idx="0"/>
          </p:cNvCxnSpPr>
          <p:nvPr/>
        </p:nvCxnSpPr>
        <p:spPr>
          <a:xfrm rot="10800000" flipV="1">
            <a:off x="1537029" y="4347709"/>
            <a:ext cx="529958" cy="501775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肘形接點 98"/>
          <p:cNvCxnSpPr>
            <a:stCxn id="7" idx="3"/>
            <a:endCxn id="71" idx="0"/>
          </p:cNvCxnSpPr>
          <p:nvPr/>
        </p:nvCxnSpPr>
        <p:spPr>
          <a:xfrm>
            <a:off x="2972760" y="4347710"/>
            <a:ext cx="579385" cy="501775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肘形接點 101"/>
          <p:cNvCxnSpPr>
            <a:stCxn id="67" idx="3"/>
            <a:endCxn id="79" idx="0"/>
          </p:cNvCxnSpPr>
          <p:nvPr/>
        </p:nvCxnSpPr>
        <p:spPr>
          <a:xfrm>
            <a:off x="1989915" y="5017700"/>
            <a:ext cx="65112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肘形接點 104"/>
          <p:cNvCxnSpPr>
            <a:stCxn id="67" idx="1"/>
            <a:endCxn id="75" idx="0"/>
          </p:cNvCxnSpPr>
          <p:nvPr/>
        </p:nvCxnSpPr>
        <p:spPr>
          <a:xfrm rot="10800000" flipV="1">
            <a:off x="1005496" y="5017699"/>
            <a:ext cx="78647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肘形接點 107"/>
          <p:cNvCxnSpPr>
            <a:stCxn id="75" idx="1"/>
            <a:endCxn id="91" idx="0"/>
          </p:cNvCxnSpPr>
          <p:nvPr/>
        </p:nvCxnSpPr>
        <p:spPr>
          <a:xfrm rot="10800000" flipV="1">
            <a:off x="484614" y="5739446"/>
            <a:ext cx="67994" cy="493144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肘形接點 110"/>
          <p:cNvCxnSpPr>
            <a:stCxn id="71" idx="1"/>
            <a:endCxn id="83" idx="0"/>
          </p:cNvCxnSpPr>
          <p:nvPr/>
        </p:nvCxnSpPr>
        <p:spPr>
          <a:xfrm rot="10800000" flipV="1">
            <a:off x="3033630" y="5017699"/>
            <a:ext cx="65628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肘形接點 113"/>
          <p:cNvCxnSpPr>
            <a:stCxn id="71" idx="3"/>
            <a:endCxn id="87" idx="0"/>
          </p:cNvCxnSpPr>
          <p:nvPr/>
        </p:nvCxnSpPr>
        <p:spPr>
          <a:xfrm>
            <a:off x="4005031" y="5017700"/>
            <a:ext cx="77848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肘形接點 148"/>
          <p:cNvCxnSpPr>
            <a:stCxn id="118" idx="1"/>
            <a:endCxn id="122" idx="0"/>
          </p:cNvCxnSpPr>
          <p:nvPr/>
        </p:nvCxnSpPr>
        <p:spPr>
          <a:xfrm rot="10800000" flipV="1">
            <a:off x="5792574" y="4347709"/>
            <a:ext cx="400568" cy="501775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肘形接點 149"/>
          <p:cNvCxnSpPr>
            <a:stCxn id="118" idx="3"/>
            <a:endCxn id="126" idx="0"/>
          </p:cNvCxnSpPr>
          <p:nvPr/>
        </p:nvCxnSpPr>
        <p:spPr>
          <a:xfrm>
            <a:off x="7098915" y="4347710"/>
            <a:ext cx="449995" cy="501775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肘形接點 150"/>
          <p:cNvCxnSpPr>
            <a:stCxn id="142" idx="3"/>
            <a:endCxn id="138" idx="0"/>
          </p:cNvCxnSpPr>
          <p:nvPr/>
        </p:nvCxnSpPr>
        <p:spPr>
          <a:xfrm>
            <a:off x="8532530" y="5739446"/>
            <a:ext cx="68385" cy="493144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肘形接點 151"/>
          <p:cNvCxnSpPr>
            <a:stCxn id="122" idx="1"/>
            <a:endCxn id="130" idx="0"/>
          </p:cNvCxnSpPr>
          <p:nvPr/>
        </p:nvCxnSpPr>
        <p:spPr>
          <a:xfrm rot="10800000" flipV="1">
            <a:off x="5261041" y="5017699"/>
            <a:ext cx="78647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肘形接點 152"/>
          <p:cNvCxnSpPr>
            <a:stCxn id="130" idx="3"/>
            <a:endCxn id="146" idx="0"/>
          </p:cNvCxnSpPr>
          <p:nvPr/>
        </p:nvCxnSpPr>
        <p:spPr>
          <a:xfrm>
            <a:off x="5713926" y="5739446"/>
            <a:ext cx="78649" cy="493144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肘形接點 153"/>
          <p:cNvCxnSpPr>
            <a:stCxn id="142" idx="1"/>
            <a:endCxn id="134" idx="0"/>
          </p:cNvCxnSpPr>
          <p:nvPr/>
        </p:nvCxnSpPr>
        <p:spPr>
          <a:xfrm rot="10800000" flipV="1">
            <a:off x="7540527" y="5739445"/>
            <a:ext cx="86230" cy="493145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肘形接點 154"/>
          <p:cNvCxnSpPr>
            <a:stCxn id="126" idx="3"/>
            <a:endCxn id="142" idx="0"/>
          </p:cNvCxnSpPr>
          <p:nvPr/>
        </p:nvCxnSpPr>
        <p:spPr>
          <a:xfrm>
            <a:off x="8001796" y="5017700"/>
            <a:ext cx="77848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7" name="群組 176"/>
          <p:cNvGrpSpPr/>
          <p:nvPr/>
        </p:nvGrpSpPr>
        <p:grpSpPr>
          <a:xfrm>
            <a:off x="2066987" y="4163043"/>
            <a:ext cx="905773" cy="369332"/>
            <a:chOff x="2066987" y="4163043"/>
            <a:chExt cx="905773" cy="369332"/>
          </a:xfrm>
        </p:grpSpPr>
        <p:grpSp>
          <p:nvGrpSpPr>
            <p:cNvPr id="15" name="群組 14"/>
            <p:cNvGrpSpPr/>
            <p:nvPr/>
          </p:nvGrpSpPr>
          <p:grpSpPr>
            <a:xfrm>
              <a:off x="2066987" y="4179495"/>
              <a:ext cx="905773" cy="336430"/>
              <a:chOff x="698740" y="2536166"/>
              <a:chExt cx="905773" cy="336430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9" name="直線接點 8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線接點 11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1" name="文字方塊 160"/>
            <p:cNvSpPr txBox="1"/>
            <p:nvPr/>
          </p:nvSpPr>
          <p:spPr>
            <a:xfrm>
              <a:off x="2350355" y="4163043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8" name="群組 177"/>
          <p:cNvGrpSpPr/>
          <p:nvPr/>
        </p:nvGrpSpPr>
        <p:grpSpPr>
          <a:xfrm>
            <a:off x="1084142" y="4816583"/>
            <a:ext cx="905773" cy="369332"/>
            <a:chOff x="1084142" y="4816583"/>
            <a:chExt cx="905773" cy="369332"/>
          </a:xfrm>
        </p:grpSpPr>
        <p:grpSp>
          <p:nvGrpSpPr>
            <p:cNvPr id="66" name="群組 65"/>
            <p:cNvGrpSpPr/>
            <p:nvPr/>
          </p:nvGrpSpPr>
          <p:grpSpPr>
            <a:xfrm>
              <a:off x="1084142" y="4849485"/>
              <a:ext cx="905773" cy="336430"/>
              <a:chOff x="698740" y="2536166"/>
              <a:chExt cx="905773" cy="336430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68" name="直線接點 67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接點 68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2" name="文字方塊 161"/>
            <p:cNvSpPr txBox="1"/>
            <p:nvPr/>
          </p:nvSpPr>
          <p:spPr>
            <a:xfrm>
              <a:off x="1361339" y="4816583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9" name="群組 178"/>
          <p:cNvGrpSpPr/>
          <p:nvPr/>
        </p:nvGrpSpPr>
        <p:grpSpPr>
          <a:xfrm>
            <a:off x="3099258" y="4833034"/>
            <a:ext cx="905773" cy="369332"/>
            <a:chOff x="3099258" y="4833034"/>
            <a:chExt cx="905773" cy="369332"/>
          </a:xfrm>
        </p:grpSpPr>
        <p:grpSp>
          <p:nvGrpSpPr>
            <p:cNvPr id="70" name="群組 69"/>
            <p:cNvGrpSpPr/>
            <p:nvPr/>
          </p:nvGrpSpPr>
          <p:grpSpPr>
            <a:xfrm>
              <a:off x="3099258" y="4849485"/>
              <a:ext cx="905773" cy="336430"/>
              <a:chOff x="698740" y="2536166"/>
              <a:chExt cx="905773" cy="336430"/>
            </a:xfrm>
          </p:grpSpPr>
          <p:sp>
            <p:nvSpPr>
              <p:cNvPr id="71" name="矩形 70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72" name="直線接點 71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線接點 72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3" name="文字方塊 162"/>
            <p:cNvSpPr txBox="1"/>
            <p:nvPr/>
          </p:nvSpPr>
          <p:spPr>
            <a:xfrm>
              <a:off x="3385081" y="4833034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0" name="群組 179"/>
          <p:cNvGrpSpPr/>
          <p:nvPr/>
        </p:nvGrpSpPr>
        <p:grpSpPr>
          <a:xfrm>
            <a:off x="552608" y="5547589"/>
            <a:ext cx="905773" cy="369332"/>
            <a:chOff x="552608" y="5547589"/>
            <a:chExt cx="905773" cy="369332"/>
          </a:xfrm>
        </p:grpSpPr>
        <p:grpSp>
          <p:nvGrpSpPr>
            <p:cNvPr id="74" name="群組 73"/>
            <p:cNvGrpSpPr/>
            <p:nvPr/>
          </p:nvGrpSpPr>
          <p:grpSpPr>
            <a:xfrm>
              <a:off x="552608" y="5571231"/>
              <a:ext cx="905773" cy="336430"/>
              <a:chOff x="698740" y="2536166"/>
              <a:chExt cx="905773" cy="336430"/>
            </a:xfrm>
          </p:grpSpPr>
          <p:sp>
            <p:nvSpPr>
              <p:cNvPr id="75" name="矩形 74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76" name="直線接點 75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線接點 76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4" name="文字方塊 163"/>
            <p:cNvSpPr txBox="1"/>
            <p:nvPr/>
          </p:nvSpPr>
          <p:spPr>
            <a:xfrm>
              <a:off x="830682" y="5547589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1" name="群組 180"/>
          <p:cNvGrpSpPr/>
          <p:nvPr/>
        </p:nvGrpSpPr>
        <p:grpSpPr>
          <a:xfrm>
            <a:off x="1602140" y="5539804"/>
            <a:ext cx="905773" cy="369332"/>
            <a:chOff x="1602140" y="5539804"/>
            <a:chExt cx="905773" cy="369332"/>
          </a:xfrm>
        </p:grpSpPr>
        <p:grpSp>
          <p:nvGrpSpPr>
            <p:cNvPr id="78" name="群組 77"/>
            <p:cNvGrpSpPr/>
            <p:nvPr/>
          </p:nvGrpSpPr>
          <p:grpSpPr>
            <a:xfrm>
              <a:off x="1602140" y="5571231"/>
              <a:ext cx="905773" cy="336430"/>
              <a:chOff x="698740" y="2536166"/>
              <a:chExt cx="905773" cy="336430"/>
            </a:xfrm>
          </p:grpSpPr>
          <p:sp>
            <p:nvSpPr>
              <p:cNvPr id="79" name="矩形 78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0" name="直線接點 79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線接點 80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5" name="文字方塊 164"/>
            <p:cNvSpPr txBox="1"/>
            <p:nvPr/>
          </p:nvSpPr>
          <p:spPr>
            <a:xfrm>
              <a:off x="1879337" y="5539804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2" name="群組 181"/>
          <p:cNvGrpSpPr/>
          <p:nvPr/>
        </p:nvGrpSpPr>
        <p:grpSpPr>
          <a:xfrm>
            <a:off x="2580743" y="5554780"/>
            <a:ext cx="905773" cy="369332"/>
            <a:chOff x="2580743" y="5554780"/>
            <a:chExt cx="905773" cy="369332"/>
          </a:xfrm>
        </p:grpSpPr>
        <p:grpSp>
          <p:nvGrpSpPr>
            <p:cNvPr id="82" name="群組 81"/>
            <p:cNvGrpSpPr/>
            <p:nvPr/>
          </p:nvGrpSpPr>
          <p:grpSpPr>
            <a:xfrm>
              <a:off x="2580743" y="5571231"/>
              <a:ext cx="905773" cy="336430"/>
              <a:chOff x="698740" y="2536166"/>
              <a:chExt cx="905773" cy="336430"/>
            </a:xfrm>
          </p:grpSpPr>
          <p:sp>
            <p:nvSpPr>
              <p:cNvPr id="83" name="矩形 82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4" name="直線接點 83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線接點 84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6" name="文字方塊 165"/>
            <p:cNvSpPr txBox="1"/>
            <p:nvPr/>
          </p:nvSpPr>
          <p:spPr>
            <a:xfrm>
              <a:off x="2883101" y="5554780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3" name="群組 182"/>
          <p:cNvGrpSpPr/>
          <p:nvPr/>
        </p:nvGrpSpPr>
        <p:grpSpPr>
          <a:xfrm>
            <a:off x="3629992" y="5547589"/>
            <a:ext cx="905773" cy="369332"/>
            <a:chOff x="3629992" y="5547589"/>
            <a:chExt cx="905773" cy="369332"/>
          </a:xfrm>
        </p:grpSpPr>
        <p:grpSp>
          <p:nvGrpSpPr>
            <p:cNvPr id="86" name="群組 85"/>
            <p:cNvGrpSpPr/>
            <p:nvPr/>
          </p:nvGrpSpPr>
          <p:grpSpPr>
            <a:xfrm>
              <a:off x="3629992" y="5571231"/>
              <a:ext cx="905773" cy="336430"/>
              <a:chOff x="698740" y="2536166"/>
              <a:chExt cx="905773" cy="336430"/>
            </a:xfrm>
          </p:grpSpPr>
          <p:sp>
            <p:nvSpPr>
              <p:cNvPr id="87" name="矩形 86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8" name="直線接點 87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接點 88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7" name="文字方塊 166"/>
            <p:cNvSpPr txBox="1"/>
            <p:nvPr/>
          </p:nvSpPr>
          <p:spPr>
            <a:xfrm>
              <a:off x="3900776" y="5547589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" name="群組 183"/>
          <p:cNvGrpSpPr/>
          <p:nvPr/>
        </p:nvGrpSpPr>
        <p:grpSpPr>
          <a:xfrm>
            <a:off x="31727" y="6232590"/>
            <a:ext cx="905773" cy="369332"/>
            <a:chOff x="31727" y="6232590"/>
            <a:chExt cx="905773" cy="369332"/>
          </a:xfrm>
        </p:grpSpPr>
        <p:grpSp>
          <p:nvGrpSpPr>
            <p:cNvPr id="90" name="群組 89"/>
            <p:cNvGrpSpPr/>
            <p:nvPr/>
          </p:nvGrpSpPr>
          <p:grpSpPr>
            <a:xfrm>
              <a:off x="31727" y="6232590"/>
              <a:ext cx="905773" cy="336430"/>
              <a:chOff x="698740" y="2536166"/>
              <a:chExt cx="905773" cy="336430"/>
            </a:xfrm>
          </p:grpSpPr>
          <p:sp>
            <p:nvSpPr>
              <p:cNvPr id="91" name="矩形 90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92" name="直線接點 91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線接點 92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8" name="文字方塊 167"/>
            <p:cNvSpPr txBox="1"/>
            <p:nvPr/>
          </p:nvSpPr>
          <p:spPr>
            <a:xfrm>
              <a:off x="302511" y="6232590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5" name="群組 184"/>
          <p:cNvGrpSpPr/>
          <p:nvPr/>
        </p:nvGrpSpPr>
        <p:grpSpPr>
          <a:xfrm>
            <a:off x="6193142" y="4163043"/>
            <a:ext cx="905773" cy="369332"/>
            <a:chOff x="6193142" y="4163043"/>
            <a:chExt cx="905773" cy="369332"/>
          </a:xfrm>
        </p:grpSpPr>
        <p:grpSp>
          <p:nvGrpSpPr>
            <p:cNvPr id="117" name="群組 116"/>
            <p:cNvGrpSpPr/>
            <p:nvPr/>
          </p:nvGrpSpPr>
          <p:grpSpPr>
            <a:xfrm>
              <a:off x="6193142" y="4179495"/>
              <a:ext cx="905773" cy="336430"/>
              <a:chOff x="698740" y="2536166"/>
              <a:chExt cx="905773" cy="336430"/>
            </a:xfrm>
          </p:grpSpPr>
          <p:sp>
            <p:nvSpPr>
              <p:cNvPr id="118" name="矩形 117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19" name="直線接點 118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線接點 119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9" name="文字方塊 168"/>
            <p:cNvSpPr txBox="1"/>
            <p:nvPr/>
          </p:nvSpPr>
          <p:spPr>
            <a:xfrm>
              <a:off x="6470339" y="4163043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6" name="群組 185"/>
          <p:cNvGrpSpPr/>
          <p:nvPr/>
        </p:nvGrpSpPr>
        <p:grpSpPr>
          <a:xfrm>
            <a:off x="5339687" y="4831128"/>
            <a:ext cx="905773" cy="369332"/>
            <a:chOff x="5339687" y="4831128"/>
            <a:chExt cx="905773" cy="369332"/>
          </a:xfrm>
        </p:grpSpPr>
        <p:grpSp>
          <p:nvGrpSpPr>
            <p:cNvPr id="121" name="群組 120"/>
            <p:cNvGrpSpPr/>
            <p:nvPr/>
          </p:nvGrpSpPr>
          <p:grpSpPr>
            <a:xfrm>
              <a:off x="5339687" y="4849485"/>
              <a:ext cx="905773" cy="336430"/>
              <a:chOff x="698740" y="2536166"/>
              <a:chExt cx="905773" cy="336430"/>
            </a:xfrm>
          </p:grpSpPr>
          <p:sp>
            <p:nvSpPr>
              <p:cNvPr id="122" name="矩形 121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23" name="直線接點 122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線接點 123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0" name="文字方塊 169"/>
            <p:cNvSpPr txBox="1"/>
            <p:nvPr/>
          </p:nvSpPr>
          <p:spPr>
            <a:xfrm>
              <a:off x="5614366" y="4831128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7" name="群組 186"/>
          <p:cNvGrpSpPr/>
          <p:nvPr/>
        </p:nvGrpSpPr>
        <p:grpSpPr>
          <a:xfrm>
            <a:off x="7096023" y="4822337"/>
            <a:ext cx="905773" cy="369332"/>
            <a:chOff x="7096023" y="4822337"/>
            <a:chExt cx="905773" cy="369332"/>
          </a:xfrm>
        </p:grpSpPr>
        <p:grpSp>
          <p:nvGrpSpPr>
            <p:cNvPr id="125" name="群組 124"/>
            <p:cNvGrpSpPr/>
            <p:nvPr/>
          </p:nvGrpSpPr>
          <p:grpSpPr>
            <a:xfrm>
              <a:off x="7096023" y="4849485"/>
              <a:ext cx="905773" cy="336430"/>
              <a:chOff x="698740" y="2536166"/>
              <a:chExt cx="905773" cy="336430"/>
            </a:xfrm>
          </p:grpSpPr>
          <p:sp>
            <p:nvSpPr>
              <p:cNvPr id="126" name="矩形 125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27" name="直線接點 126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直線接點 127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1" name="文字方塊 170"/>
            <p:cNvSpPr txBox="1"/>
            <p:nvPr/>
          </p:nvSpPr>
          <p:spPr>
            <a:xfrm>
              <a:off x="7373219" y="4822337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8" name="群組 187"/>
          <p:cNvGrpSpPr/>
          <p:nvPr/>
        </p:nvGrpSpPr>
        <p:grpSpPr>
          <a:xfrm>
            <a:off x="4808153" y="5551104"/>
            <a:ext cx="905773" cy="369332"/>
            <a:chOff x="4808153" y="5551104"/>
            <a:chExt cx="905773" cy="369332"/>
          </a:xfrm>
        </p:grpSpPr>
        <p:grpSp>
          <p:nvGrpSpPr>
            <p:cNvPr id="129" name="群組 128"/>
            <p:cNvGrpSpPr/>
            <p:nvPr/>
          </p:nvGrpSpPr>
          <p:grpSpPr>
            <a:xfrm>
              <a:off x="4808153" y="5571231"/>
              <a:ext cx="905773" cy="336430"/>
              <a:chOff x="698740" y="2536166"/>
              <a:chExt cx="905773" cy="336430"/>
            </a:xfrm>
          </p:grpSpPr>
          <p:sp>
            <p:nvSpPr>
              <p:cNvPr id="130" name="矩形 129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31" name="直線接點 130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線接點 131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2" name="文字方塊 171"/>
            <p:cNvSpPr txBox="1"/>
            <p:nvPr/>
          </p:nvSpPr>
          <p:spPr>
            <a:xfrm>
              <a:off x="5092291" y="5551104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0" name="群組 189"/>
          <p:cNvGrpSpPr/>
          <p:nvPr/>
        </p:nvGrpSpPr>
        <p:grpSpPr>
          <a:xfrm>
            <a:off x="5339688" y="6207513"/>
            <a:ext cx="905773" cy="369332"/>
            <a:chOff x="5339688" y="6207513"/>
            <a:chExt cx="905773" cy="369332"/>
          </a:xfrm>
        </p:grpSpPr>
        <p:grpSp>
          <p:nvGrpSpPr>
            <p:cNvPr id="145" name="群組 144"/>
            <p:cNvGrpSpPr/>
            <p:nvPr/>
          </p:nvGrpSpPr>
          <p:grpSpPr>
            <a:xfrm>
              <a:off x="5339688" y="6232590"/>
              <a:ext cx="905773" cy="336430"/>
              <a:chOff x="698740" y="2536166"/>
              <a:chExt cx="905773" cy="336430"/>
            </a:xfrm>
          </p:grpSpPr>
          <p:sp>
            <p:nvSpPr>
              <p:cNvPr id="146" name="矩形 145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47" name="直線接點 146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線接點 147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3" name="文字方塊 172"/>
            <p:cNvSpPr txBox="1"/>
            <p:nvPr/>
          </p:nvSpPr>
          <p:spPr>
            <a:xfrm>
              <a:off x="5616886" y="6207513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9" name="群組 188"/>
          <p:cNvGrpSpPr/>
          <p:nvPr/>
        </p:nvGrpSpPr>
        <p:grpSpPr>
          <a:xfrm>
            <a:off x="7626757" y="5551105"/>
            <a:ext cx="905773" cy="369332"/>
            <a:chOff x="7626757" y="5551105"/>
            <a:chExt cx="905773" cy="369332"/>
          </a:xfrm>
        </p:grpSpPr>
        <p:grpSp>
          <p:nvGrpSpPr>
            <p:cNvPr id="141" name="群組 140"/>
            <p:cNvGrpSpPr/>
            <p:nvPr/>
          </p:nvGrpSpPr>
          <p:grpSpPr>
            <a:xfrm>
              <a:off x="7626757" y="5571231"/>
              <a:ext cx="905773" cy="336430"/>
              <a:chOff x="698740" y="2536166"/>
              <a:chExt cx="905773" cy="336430"/>
            </a:xfrm>
          </p:grpSpPr>
          <p:sp>
            <p:nvSpPr>
              <p:cNvPr id="142" name="矩形 141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43" name="直線接點 142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直線接點 143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4" name="文字方塊 173"/>
            <p:cNvSpPr txBox="1"/>
            <p:nvPr/>
          </p:nvSpPr>
          <p:spPr>
            <a:xfrm>
              <a:off x="7925405" y="5551105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1" name="群組 190"/>
          <p:cNvGrpSpPr/>
          <p:nvPr/>
        </p:nvGrpSpPr>
        <p:grpSpPr>
          <a:xfrm>
            <a:off x="7087640" y="6216140"/>
            <a:ext cx="905773" cy="369332"/>
            <a:chOff x="7087640" y="6216140"/>
            <a:chExt cx="905773" cy="369332"/>
          </a:xfrm>
        </p:grpSpPr>
        <p:grpSp>
          <p:nvGrpSpPr>
            <p:cNvPr id="133" name="群組 132"/>
            <p:cNvGrpSpPr/>
            <p:nvPr/>
          </p:nvGrpSpPr>
          <p:grpSpPr>
            <a:xfrm>
              <a:off x="7087640" y="6232591"/>
              <a:ext cx="905773" cy="336430"/>
              <a:chOff x="698740" y="2536166"/>
              <a:chExt cx="905773" cy="336430"/>
            </a:xfrm>
          </p:grpSpPr>
          <p:sp>
            <p:nvSpPr>
              <p:cNvPr id="134" name="矩形 133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35" name="直線接點 134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線接點 135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5" name="文字方塊 174"/>
            <p:cNvSpPr txBox="1"/>
            <p:nvPr/>
          </p:nvSpPr>
          <p:spPr>
            <a:xfrm>
              <a:off x="7366806" y="6216140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2" name="群組 191"/>
          <p:cNvGrpSpPr/>
          <p:nvPr/>
        </p:nvGrpSpPr>
        <p:grpSpPr>
          <a:xfrm>
            <a:off x="8148028" y="6223970"/>
            <a:ext cx="905773" cy="369332"/>
            <a:chOff x="8148028" y="6223970"/>
            <a:chExt cx="905773" cy="369332"/>
          </a:xfrm>
        </p:grpSpPr>
        <p:grpSp>
          <p:nvGrpSpPr>
            <p:cNvPr id="137" name="群組 136"/>
            <p:cNvGrpSpPr/>
            <p:nvPr/>
          </p:nvGrpSpPr>
          <p:grpSpPr>
            <a:xfrm>
              <a:off x="8148028" y="6232590"/>
              <a:ext cx="905773" cy="336430"/>
              <a:chOff x="698740" y="2536166"/>
              <a:chExt cx="905773" cy="336430"/>
            </a:xfrm>
          </p:grpSpPr>
          <p:sp>
            <p:nvSpPr>
              <p:cNvPr id="138" name="矩形 137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39" name="直線接點 138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線接點 139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6" name="文字方塊 175"/>
            <p:cNvSpPr txBox="1"/>
            <p:nvPr/>
          </p:nvSpPr>
          <p:spPr>
            <a:xfrm>
              <a:off x="8418812" y="6223970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2941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0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5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000"/>
                            </p:stCondLst>
                            <p:childTnLst>
                              <p:par>
                                <p:cTn id="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500"/>
                            </p:stCondLst>
                            <p:childTnLst>
                              <p:par>
                                <p:cTn id="9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3000"/>
                            </p:stCondLst>
                            <p:childTnLst>
                              <p:par>
                                <p:cTn id="9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3500"/>
                            </p:stCondLst>
                            <p:childTnLst>
                              <p:par>
                                <p:cTn id="10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4000"/>
                            </p:stCondLst>
                            <p:childTnLst>
                              <p:par>
                                <p:cTn id="10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4500"/>
                            </p:stCondLst>
                            <p:childTnLst>
                              <p:par>
                                <p:cTn id="1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0"/>
                            </p:stCondLst>
                            <p:childTnLst>
                              <p:par>
                                <p:cTn id="1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500"/>
                            </p:stCondLst>
                            <p:childTnLst>
                              <p:par>
                                <p:cTn id="1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6000"/>
                            </p:stCondLst>
                            <p:childTnLst>
                              <p:par>
                                <p:cTn id="1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6500"/>
                            </p:stCondLst>
                            <p:childTnLst>
                              <p:par>
                                <p:cTn id="1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7000"/>
                            </p:stCondLst>
                            <p:childTnLst>
                              <p:par>
                                <p:cTn id="1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二元樹的建立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輸入資料：</a:t>
            </a:r>
            <a:r>
              <a:rPr lang="en-US" altLang="zh-TW" dirty="0" smtClean="0"/>
              <a:t>ABDH000E00CF00G00</a:t>
            </a:r>
          </a:p>
          <a:p>
            <a:pPr lvl="1"/>
            <a:r>
              <a:rPr lang="zh-TW" altLang="en-US" dirty="0" smtClean="0"/>
              <a:t>碰到</a:t>
            </a:r>
            <a:r>
              <a:rPr lang="en-US" altLang="zh-TW" dirty="0" smtClean="0"/>
              <a:t>“</a:t>
            </a:r>
            <a:r>
              <a:rPr lang="en-US" altLang="zh-TW" dirty="0" smtClean="0">
                <a:solidFill>
                  <a:srgbClr val="C00000"/>
                </a:solidFill>
              </a:rPr>
              <a:t>0</a:t>
            </a:r>
            <a:r>
              <a:rPr lang="en-US" altLang="zh-TW" dirty="0" smtClean="0"/>
              <a:t>”</a:t>
            </a:r>
            <a:r>
              <a:rPr lang="zh-TW" altLang="en-US" dirty="0" smtClean="0"/>
              <a:t>停止，否則建立節點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21</a:t>
            </a:fld>
            <a:endParaRPr lang="en-US" dirty="0"/>
          </a:p>
        </p:txBody>
      </p:sp>
      <p:cxnSp>
        <p:nvCxnSpPr>
          <p:cNvPr id="39" name="肘形接點 38"/>
          <p:cNvCxnSpPr>
            <a:stCxn id="8" idx="1"/>
            <a:endCxn id="12" idx="0"/>
          </p:cNvCxnSpPr>
          <p:nvPr/>
        </p:nvCxnSpPr>
        <p:spPr>
          <a:xfrm rot="10800000" flipV="1">
            <a:off x="3563085" y="3895544"/>
            <a:ext cx="529958" cy="501775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肘形接點 39"/>
          <p:cNvCxnSpPr>
            <a:stCxn id="8" idx="3"/>
            <a:endCxn id="16" idx="0"/>
          </p:cNvCxnSpPr>
          <p:nvPr/>
        </p:nvCxnSpPr>
        <p:spPr>
          <a:xfrm>
            <a:off x="4998816" y="3895545"/>
            <a:ext cx="579385" cy="501775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接點 40"/>
          <p:cNvCxnSpPr>
            <a:stCxn id="12" idx="3"/>
            <a:endCxn id="24" idx="0"/>
          </p:cNvCxnSpPr>
          <p:nvPr/>
        </p:nvCxnSpPr>
        <p:spPr>
          <a:xfrm>
            <a:off x="4015971" y="4565535"/>
            <a:ext cx="65112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肘形接點 41"/>
          <p:cNvCxnSpPr>
            <a:stCxn id="12" idx="1"/>
            <a:endCxn id="20" idx="0"/>
          </p:cNvCxnSpPr>
          <p:nvPr/>
        </p:nvCxnSpPr>
        <p:spPr>
          <a:xfrm rot="10800000" flipV="1">
            <a:off x="3031552" y="4565534"/>
            <a:ext cx="78647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肘形接點 42"/>
          <p:cNvCxnSpPr>
            <a:stCxn id="20" idx="1"/>
            <a:endCxn id="36" idx="0"/>
          </p:cNvCxnSpPr>
          <p:nvPr/>
        </p:nvCxnSpPr>
        <p:spPr>
          <a:xfrm rot="10800000" flipV="1">
            <a:off x="2510670" y="5287281"/>
            <a:ext cx="67994" cy="493144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肘形接點 43"/>
          <p:cNvCxnSpPr>
            <a:stCxn id="16" idx="1"/>
            <a:endCxn id="28" idx="0"/>
          </p:cNvCxnSpPr>
          <p:nvPr/>
        </p:nvCxnSpPr>
        <p:spPr>
          <a:xfrm rot="10800000" flipV="1">
            <a:off x="5059686" y="4565534"/>
            <a:ext cx="65628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肘形接點 44"/>
          <p:cNvCxnSpPr>
            <a:stCxn id="16" idx="3"/>
            <a:endCxn id="32" idx="0"/>
          </p:cNvCxnSpPr>
          <p:nvPr/>
        </p:nvCxnSpPr>
        <p:spPr>
          <a:xfrm>
            <a:off x="6031087" y="4565535"/>
            <a:ext cx="77848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群組 81"/>
          <p:cNvGrpSpPr/>
          <p:nvPr/>
        </p:nvGrpSpPr>
        <p:grpSpPr>
          <a:xfrm>
            <a:off x="4093043" y="3710878"/>
            <a:ext cx="905773" cy="369332"/>
            <a:chOff x="4093043" y="3710878"/>
            <a:chExt cx="905773" cy="369332"/>
          </a:xfrm>
        </p:grpSpPr>
        <p:grpSp>
          <p:nvGrpSpPr>
            <p:cNvPr id="7" name="群組 6"/>
            <p:cNvGrpSpPr/>
            <p:nvPr/>
          </p:nvGrpSpPr>
          <p:grpSpPr>
            <a:xfrm>
              <a:off x="4093043" y="3727330"/>
              <a:ext cx="905773" cy="336430"/>
              <a:chOff x="698740" y="2536166"/>
              <a:chExt cx="905773" cy="336430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9" name="直線接點 8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線接點 9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文字方塊 45"/>
            <p:cNvSpPr txBox="1"/>
            <p:nvPr/>
          </p:nvSpPr>
          <p:spPr>
            <a:xfrm>
              <a:off x="4376411" y="3710878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3" name="群組 82"/>
          <p:cNvGrpSpPr/>
          <p:nvPr/>
        </p:nvGrpSpPr>
        <p:grpSpPr>
          <a:xfrm>
            <a:off x="3110198" y="4364418"/>
            <a:ext cx="905773" cy="369332"/>
            <a:chOff x="3110198" y="4364418"/>
            <a:chExt cx="905773" cy="369332"/>
          </a:xfrm>
        </p:grpSpPr>
        <p:grpSp>
          <p:nvGrpSpPr>
            <p:cNvPr id="11" name="群組 10"/>
            <p:cNvGrpSpPr/>
            <p:nvPr/>
          </p:nvGrpSpPr>
          <p:grpSpPr>
            <a:xfrm>
              <a:off x="3110198" y="4397320"/>
              <a:ext cx="905773" cy="336430"/>
              <a:chOff x="698740" y="2536166"/>
              <a:chExt cx="905773" cy="33643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3" name="直線接點 12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線接點 13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文字方塊 46"/>
            <p:cNvSpPr txBox="1"/>
            <p:nvPr/>
          </p:nvSpPr>
          <p:spPr>
            <a:xfrm>
              <a:off x="3387395" y="4364418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4" name="群組 83"/>
          <p:cNvGrpSpPr/>
          <p:nvPr/>
        </p:nvGrpSpPr>
        <p:grpSpPr>
          <a:xfrm>
            <a:off x="5125314" y="4380869"/>
            <a:ext cx="905773" cy="369332"/>
            <a:chOff x="5125314" y="4380869"/>
            <a:chExt cx="905773" cy="369332"/>
          </a:xfrm>
        </p:grpSpPr>
        <p:grpSp>
          <p:nvGrpSpPr>
            <p:cNvPr id="15" name="群組 14"/>
            <p:cNvGrpSpPr/>
            <p:nvPr/>
          </p:nvGrpSpPr>
          <p:grpSpPr>
            <a:xfrm>
              <a:off x="5125314" y="4397320"/>
              <a:ext cx="905773" cy="336430"/>
              <a:chOff x="698740" y="2536166"/>
              <a:chExt cx="905773" cy="336430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7" name="直線接點 16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接點 17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文字方塊 47"/>
            <p:cNvSpPr txBox="1"/>
            <p:nvPr/>
          </p:nvSpPr>
          <p:spPr>
            <a:xfrm>
              <a:off x="5411137" y="4380869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5" name="群組 84"/>
          <p:cNvGrpSpPr/>
          <p:nvPr/>
        </p:nvGrpSpPr>
        <p:grpSpPr>
          <a:xfrm>
            <a:off x="2578664" y="5095424"/>
            <a:ext cx="905773" cy="369332"/>
            <a:chOff x="2578664" y="5095424"/>
            <a:chExt cx="905773" cy="369332"/>
          </a:xfrm>
        </p:grpSpPr>
        <p:grpSp>
          <p:nvGrpSpPr>
            <p:cNvPr id="19" name="群組 18"/>
            <p:cNvGrpSpPr/>
            <p:nvPr/>
          </p:nvGrpSpPr>
          <p:grpSpPr>
            <a:xfrm>
              <a:off x="2578664" y="5119066"/>
              <a:ext cx="905773" cy="336430"/>
              <a:chOff x="698740" y="2536166"/>
              <a:chExt cx="905773" cy="336430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21" name="直線接點 20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接點 21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文字方塊 48"/>
            <p:cNvSpPr txBox="1"/>
            <p:nvPr/>
          </p:nvSpPr>
          <p:spPr>
            <a:xfrm>
              <a:off x="2856738" y="5095424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6" name="群組 85"/>
          <p:cNvGrpSpPr/>
          <p:nvPr/>
        </p:nvGrpSpPr>
        <p:grpSpPr>
          <a:xfrm>
            <a:off x="3628196" y="5087639"/>
            <a:ext cx="905773" cy="369332"/>
            <a:chOff x="3628196" y="5087639"/>
            <a:chExt cx="905773" cy="369332"/>
          </a:xfrm>
        </p:grpSpPr>
        <p:grpSp>
          <p:nvGrpSpPr>
            <p:cNvPr id="23" name="群組 22"/>
            <p:cNvGrpSpPr/>
            <p:nvPr/>
          </p:nvGrpSpPr>
          <p:grpSpPr>
            <a:xfrm>
              <a:off x="3628196" y="5119066"/>
              <a:ext cx="905773" cy="336430"/>
              <a:chOff x="698740" y="2536166"/>
              <a:chExt cx="905773" cy="336430"/>
            </a:xfrm>
          </p:grpSpPr>
          <p:sp>
            <p:nvSpPr>
              <p:cNvPr id="24" name="矩形 23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25" name="直線接點 24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線接點 25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文字方塊 49"/>
            <p:cNvSpPr txBox="1"/>
            <p:nvPr/>
          </p:nvSpPr>
          <p:spPr>
            <a:xfrm>
              <a:off x="3905393" y="5087639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7" name="群組 86"/>
          <p:cNvGrpSpPr/>
          <p:nvPr/>
        </p:nvGrpSpPr>
        <p:grpSpPr>
          <a:xfrm>
            <a:off x="4606799" y="5102615"/>
            <a:ext cx="905773" cy="369332"/>
            <a:chOff x="4606799" y="5102615"/>
            <a:chExt cx="905773" cy="369332"/>
          </a:xfrm>
        </p:grpSpPr>
        <p:grpSp>
          <p:nvGrpSpPr>
            <p:cNvPr id="27" name="群組 26"/>
            <p:cNvGrpSpPr/>
            <p:nvPr/>
          </p:nvGrpSpPr>
          <p:grpSpPr>
            <a:xfrm>
              <a:off x="4606799" y="5119066"/>
              <a:ext cx="905773" cy="336430"/>
              <a:chOff x="698740" y="2536166"/>
              <a:chExt cx="905773" cy="336430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29" name="直線接點 28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線接點 29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文字方塊 50"/>
            <p:cNvSpPr txBox="1"/>
            <p:nvPr/>
          </p:nvSpPr>
          <p:spPr>
            <a:xfrm>
              <a:off x="4909157" y="5102615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8" name="群組 87"/>
          <p:cNvGrpSpPr/>
          <p:nvPr/>
        </p:nvGrpSpPr>
        <p:grpSpPr>
          <a:xfrm>
            <a:off x="5656048" y="5095424"/>
            <a:ext cx="905773" cy="369332"/>
            <a:chOff x="5656048" y="5095424"/>
            <a:chExt cx="905773" cy="369332"/>
          </a:xfrm>
        </p:grpSpPr>
        <p:grpSp>
          <p:nvGrpSpPr>
            <p:cNvPr id="31" name="群組 30"/>
            <p:cNvGrpSpPr/>
            <p:nvPr/>
          </p:nvGrpSpPr>
          <p:grpSpPr>
            <a:xfrm>
              <a:off x="5656048" y="5119066"/>
              <a:ext cx="905773" cy="336430"/>
              <a:chOff x="698740" y="2536166"/>
              <a:chExt cx="905773" cy="336430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33" name="直線接點 32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線接點 33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文字方塊 51"/>
            <p:cNvSpPr txBox="1"/>
            <p:nvPr/>
          </p:nvSpPr>
          <p:spPr>
            <a:xfrm>
              <a:off x="5926832" y="5095424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9" name="群組 88"/>
          <p:cNvGrpSpPr/>
          <p:nvPr/>
        </p:nvGrpSpPr>
        <p:grpSpPr>
          <a:xfrm>
            <a:off x="2057783" y="5780425"/>
            <a:ext cx="905773" cy="369332"/>
            <a:chOff x="2057783" y="5780425"/>
            <a:chExt cx="905773" cy="369332"/>
          </a:xfrm>
        </p:grpSpPr>
        <p:grpSp>
          <p:nvGrpSpPr>
            <p:cNvPr id="35" name="群組 34"/>
            <p:cNvGrpSpPr/>
            <p:nvPr/>
          </p:nvGrpSpPr>
          <p:grpSpPr>
            <a:xfrm>
              <a:off x="2057783" y="5780425"/>
              <a:ext cx="905773" cy="336430"/>
              <a:chOff x="698740" y="2536166"/>
              <a:chExt cx="905773" cy="336430"/>
            </a:xfrm>
          </p:grpSpPr>
          <p:sp>
            <p:nvSpPr>
              <p:cNvPr id="36" name="矩形 35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37" name="直線接點 36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線接點 37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文字方塊 52"/>
            <p:cNvSpPr txBox="1"/>
            <p:nvPr/>
          </p:nvSpPr>
          <p:spPr>
            <a:xfrm>
              <a:off x="2328567" y="5780425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5" name="文字方塊 64"/>
          <p:cNvSpPr txBox="1"/>
          <p:nvPr/>
        </p:nvSpPr>
        <p:spPr>
          <a:xfrm>
            <a:off x="1818364" y="260729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169742" y="260729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5088494" y="2607291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2521120" y="260729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4136950" y="260729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5439873" y="2607291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6368126" y="2607291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2872498" y="2607291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3236701" y="2607291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3536784" y="2607291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3836867" y="2607291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4488328" y="2607291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4788411" y="2607291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字方塊 77"/>
          <p:cNvSpPr txBox="1"/>
          <p:nvPr/>
        </p:nvSpPr>
        <p:spPr>
          <a:xfrm>
            <a:off x="5765602" y="2607291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6068043" y="2607291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6732329" y="2607291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7032412" y="2607291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4" name="直線單箭頭接點 93"/>
          <p:cNvCxnSpPr/>
          <p:nvPr/>
        </p:nvCxnSpPr>
        <p:spPr>
          <a:xfrm>
            <a:off x="2169742" y="6116855"/>
            <a:ext cx="0" cy="3688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/>
          <p:nvPr/>
        </p:nvCxnSpPr>
        <p:spPr>
          <a:xfrm>
            <a:off x="2843416" y="6116855"/>
            <a:ext cx="0" cy="3688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/>
          <p:nvPr/>
        </p:nvCxnSpPr>
        <p:spPr>
          <a:xfrm>
            <a:off x="3356061" y="5448345"/>
            <a:ext cx="0" cy="3688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>
            <a:off x="3754493" y="5456130"/>
            <a:ext cx="0" cy="3688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/>
          <p:nvPr/>
        </p:nvCxnSpPr>
        <p:spPr>
          <a:xfrm>
            <a:off x="4428167" y="5456130"/>
            <a:ext cx="0" cy="3688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單箭頭接點 98"/>
          <p:cNvCxnSpPr/>
          <p:nvPr/>
        </p:nvCxnSpPr>
        <p:spPr>
          <a:xfrm>
            <a:off x="4727789" y="5440847"/>
            <a:ext cx="0" cy="3688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單箭頭接點 99"/>
          <p:cNvCxnSpPr/>
          <p:nvPr/>
        </p:nvCxnSpPr>
        <p:spPr>
          <a:xfrm>
            <a:off x="5401463" y="5440847"/>
            <a:ext cx="0" cy="3688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單箭頭接點 100"/>
          <p:cNvCxnSpPr/>
          <p:nvPr/>
        </p:nvCxnSpPr>
        <p:spPr>
          <a:xfrm>
            <a:off x="5775866" y="5448345"/>
            <a:ext cx="0" cy="3688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單箭頭接點 101"/>
          <p:cNvCxnSpPr/>
          <p:nvPr/>
        </p:nvCxnSpPr>
        <p:spPr>
          <a:xfrm>
            <a:off x="6449540" y="5448345"/>
            <a:ext cx="0" cy="3688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033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2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3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4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5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00"/>
                            </p:stCondLst>
                            <p:childTnLst>
                              <p:par>
                                <p:cTn id="1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00"/>
                            </p:stCondLst>
                            <p:childTnLst>
                              <p:par>
                                <p:cTn id="1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7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00"/>
                            </p:stCondLst>
                            <p:childTnLst>
                              <p:par>
                                <p:cTn id="1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二元樹的走訪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TW" altLang="en-US" dirty="0" smtClean="0">
                <a:solidFill>
                  <a:srgbClr val="C00000"/>
                </a:solidFill>
              </a:rPr>
              <a:t>前序</a:t>
            </a:r>
            <a:r>
              <a:rPr lang="en-US" altLang="zh-TW" dirty="0" smtClean="0">
                <a:solidFill>
                  <a:srgbClr val="C00000"/>
                </a:solidFill>
              </a:rPr>
              <a:t>(preorder traverse)</a:t>
            </a:r>
            <a:r>
              <a:rPr lang="zh-TW" altLang="en-US" dirty="0" smtClean="0"/>
              <a:t>：中左右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拜訪目前節點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依前序拜訪左子樹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依前序拜訪右子樹</a:t>
            </a:r>
            <a:endParaRPr lang="en-US" altLang="zh-TW" dirty="0" smtClean="0"/>
          </a:p>
          <a:p>
            <a:r>
              <a:rPr lang="zh-TW" altLang="en-US" dirty="0" smtClean="0">
                <a:solidFill>
                  <a:srgbClr val="C00000"/>
                </a:solidFill>
              </a:rPr>
              <a:t>中序</a:t>
            </a:r>
            <a:r>
              <a:rPr lang="en-US" altLang="zh-TW" dirty="0" smtClean="0">
                <a:solidFill>
                  <a:srgbClr val="C00000"/>
                </a:solidFill>
              </a:rPr>
              <a:t>(</a:t>
            </a:r>
            <a:r>
              <a:rPr lang="en-US" altLang="zh-TW" dirty="0" err="1" smtClean="0">
                <a:solidFill>
                  <a:srgbClr val="C00000"/>
                </a:solidFill>
              </a:rPr>
              <a:t>inorder</a:t>
            </a:r>
            <a:r>
              <a:rPr lang="en-US" altLang="zh-TW" dirty="0" smtClean="0">
                <a:solidFill>
                  <a:srgbClr val="C00000"/>
                </a:solidFill>
              </a:rPr>
              <a:t> traverse)</a:t>
            </a:r>
            <a:r>
              <a:rPr lang="zh-TW" altLang="en-US" dirty="0" smtClean="0"/>
              <a:t>：左中右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依中序拜訪左子樹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拜訪目前節點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依中序拜訪右子樹</a:t>
            </a:r>
            <a:endParaRPr lang="en-US" altLang="zh-TW" dirty="0" smtClean="0"/>
          </a:p>
          <a:p>
            <a:r>
              <a:rPr lang="zh-TW" altLang="en-US" dirty="0" smtClean="0">
                <a:solidFill>
                  <a:srgbClr val="C00000"/>
                </a:solidFill>
              </a:rPr>
              <a:t>後序</a:t>
            </a:r>
            <a:r>
              <a:rPr lang="en-US" altLang="zh-TW" dirty="0" smtClean="0">
                <a:solidFill>
                  <a:srgbClr val="C00000"/>
                </a:solidFill>
              </a:rPr>
              <a:t>(</a:t>
            </a:r>
            <a:r>
              <a:rPr lang="en-US" altLang="zh-TW" dirty="0" err="1" smtClean="0">
                <a:solidFill>
                  <a:srgbClr val="C00000"/>
                </a:solidFill>
              </a:rPr>
              <a:t>postorder</a:t>
            </a:r>
            <a:r>
              <a:rPr lang="en-US" altLang="zh-TW" dirty="0" smtClean="0">
                <a:solidFill>
                  <a:srgbClr val="C00000"/>
                </a:solidFill>
              </a:rPr>
              <a:t> traverse)</a:t>
            </a:r>
            <a:r>
              <a:rPr lang="zh-TW" altLang="en-US" dirty="0" smtClean="0"/>
              <a:t>：左右中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依後序拜訪左子樹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依後序拜訪右子樹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拜訪目前節點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6146004" y="307189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6771078" y="307189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6450625" y="254280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接點 9"/>
          <p:cNvCxnSpPr>
            <a:stCxn id="9" idx="4"/>
            <a:endCxn id="8" idx="0"/>
          </p:cNvCxnSpPr>
          <p:nvPr/>
        </p:nvCxnSpPr>
        <p:spPr>
          <a:xfrm>
            <a:off x="6594625" y="2830806"/>
            <a:ext cx="3204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>
            <a:stCxn id="9" idx="4"/>
            <a:endCxn id="7" idx="0"/>
          </p:cNvCxnSpPr>
          <p:nvPr/>
        </p:nvCxnSpPr>
        <p:spPr>
          <a:xfrm flipH="1">
            <a:off x="6290004" y="2830806"/>
            <a:ext cx="304621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6427562" y="248944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116082" y="3013975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6745200" y="3014217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845862" y="3735237"/>
            <a:ext cx="14975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前序：</a:t>
            </a:r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BC</a:t>
            </a:r>
          </a:p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中序：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</a:p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後序：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BC</a:t>
            </a:r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218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前序走訪 </a:t>
            </a:r>
            <a:r>
              <a:rPr lang="en-US" altLang="zh-TW" dirty="0" smtClean="0"/>
              <a:t>Preorder traverse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中左右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2558747" y="251496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2527058" y="245088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1414539" y="492150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1052227" y="43866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1414539" y="382595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接點 17"/>
          <p:cNvCxnSpPr>
            <a:stCxn id="16" idx="5"/>
            <a:endCxn id="15" idx="0"/>
          </p:cNvCxnSpPr>
          <p:nvPr/>
        </p:nvCxnSpPr>
        <p:spPr>
          <a:xfrm>
            <a:off x="1298050" y="4632495"/>
            <a:ext cx="260489" cy="289013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7" idx="3"/>
            <a:endCxn id="16" idx="0"/>
          </p:cNvCxnSpPr>
          <p:nvPr/>
        </p:nvCxnSpPr>
        <p:spPr>
          <a:xfrm flipH="1">
            <a:off x="1196227" y="4071779"/>
            <a:ext cx="260489" cy="314893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2100022" y="382595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/>
          <p:cNvSpPr/>
          <p:nvPr/>
        </p:nvSpPr>
        <p:spPr>
          <a:xfrm>
            <a:off x="1762695" y="319335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8" name="直線接點 27"/>
          <p:cNvCxnSpPr>
            <a:stCxn id="27" idx="4"/>
            <a:endCxn id="17" idx="0"/>
          </p:cNvCxnSpPr>
          <p:nvPr/>
        </p:nvCxnSpPr>
        <p:spPr>
          <a:xfrm flipH="1">
            <a:off x="1558539" y="3481352"/>
            <a:ext cx="348156" cy="34460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27" idx="4"/>
            <a:endCxn id="26" idx="0"/>
          </p:cNvCxnSpPr>
          <p:nvPr/>
        </p:nvCxnSpPr>
        <p:spPr>
          <a:xfrm>
            <a:off x="1906695" y="3481352"/>
            <a:ext cx="337327" cy="34460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/>
          <p:cNvSpPr/>
          <p:nvPr/>
        </p:nvSpPr>
        <p:spPr>
          <a:xfrm>
            <a:off x="3016176" y="382595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3701659" y="382595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橢圓 37"/>
          <p:cNvSpPr/>
          <p:nvPr/>
        </p:nvSpPr>
        <p:spPr>
          <a:xfrm>
            <a:off x="3364332" y="319335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9" name="直線接點 38"/>
          <p:cNvCxnSpPr>
            <a:stCxn id="38" idx="4"/>
            <a:endCxn id="36" idx="0"/>
          </p:cNvCxnSpPr>
          <p:nvPr/>
        </p:nvCxnSpPr>
        <p:spPr>
          <a:xfrm flipH="1">
            <a:off x="3160176" y="3481352"/>
            <a:ext cx="348156" cy="34460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>
            <a:stCxn id="38" idx="4"/>
            <a:endCxn id="37" idx="0"/>
          </p:cNvCxnSpPr>
          <p:nvPr/>
        </p:nvCxnSpPr>
        <p:spPr>
          <a:xfrm>
            <a:off x="3508332" y="3481352"/>
            <a:ext cx="337327" cy="34460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橢圓 40"/>
          <p:cNvSpPr/>
          <p:nvPr/>
        </p:nvSpPr>
        <p:spPr>
          <a:xfrm>
            <a:off x="2659617" y="438249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2" name="直線接點 41"/>
          <p:cNvCxnSpPr>
            <a:stCxn id="36" idx="3"/>
            <a:endCxn id="41" idx="0"/>
          </p:cNvCxnSpPr>
          <p:nvPr/>
        </p:nvCxnSpPr>
        <p:spPr>
          <a:xfrm flipH="1">
            <a:off x="2803617" y="4071779"/>
            <a:ext cx="254736" cy="31072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橢圓 44"/>
          <p:cNvSpPr/>
          <p:nvPr/>
        </p:nvSpPr>
        <p:spPr>
          <a:xfrm>
            <a:off x="4080107" y="438249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6" name="直線接點 45"/>
          <p:cNvCxnSpPr>
            <a:stCxn id="37" idx="5"/>
            <a:endCxn id="45" idx="0"/>
          </p:cNvCxnSpPr>
          <p:nvPr/>
        </p:nvCxnSpPr>
        <p:spPr>
          <a:xfrm>
            <a:off x="3947482" y="4071779"/>
            <a:ext cx="276625" cy="31072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>
            <a:stCxn id="7" idx="5"/>
            <a:endCxn id="38" idx="0"/>
          </p:cNvCxnSpPr>
          <p:nvPr/>
        </p:nvCxnSpPr>
        <p:spPr>
          <a:xfrm>
            <a:off x="2804570" y="2760791"/>
            <a:ext cx="703762" cy="432561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>
            <a:stCxn id="7" idx="3"/>
            <a:endCxn id="27" idx="0"/>
          </p:cNvCxnSpPr>
          <p:nvPr/>
        </p:nvCxnSpPr>
        <p:spPr>
          <a:xfrm flipH="1">
            <a:off x="1906695" y="2760791"/>
            <a:ext cx="694229" cy="432561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1732617" y="315268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3335494" y="3144060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1400323" y="3779128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2091396" y="3767595"/>
            <a:ext cx="338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2997310" y="3776222"/>
            <a:ext cx="325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3672183" y="3768038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1054811" y="4331218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2624481" y="4328754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4095515" y="4332091"/>
            <a:ext cx="274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385063" y="4866054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4935024" y="351953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5286402" y="351953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8243626" y="3519536"/>
            <a:ext cx="274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5637780" y="351953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7266434" y="3519536"/>
            <a:ext cx="325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6003966" y="3519536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6321301" y="3519536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6634208" y="3519536"/>
            <a:ext cx="338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6927879" y="3519536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7572928" y="3519536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7873011" y="3519536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4940153" y="308124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前序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36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2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5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2" grpId="0"/>
      <p:bldP spid="73" grpId="0"/>
      <p:bldP spid="74" grpId="0"/>
      <p:bldP spid="75" grpId="0"/>
      <p:bldP spid="76" grpId="0"/>
      <p:bldP spid="7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中序走訪 </a:t>
            </a:r>
            <a:r>
              <a:rPr lang="en-US" altLang="zh-TW" dirty="0" err="1" smtClean="0"/>
              <a:t>Inorder</a:t>
            </a:r>
            <a:r>
              <a:rPr lang="en-US" altLang="zh-TW" dirty="0" smtClean="0"/>
              <a:t> traverse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左中右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2558747" y="251496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2527058" y="245088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1414539" y="492150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1052227" y="43866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1414539" y="382595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接點 17"/>
          <p:cNvCxnSpPr>
            <a:stCxn id="16" idx="5"/>
            <a:endCxn id="15" idx="0"/>
          </p:cNvCxnSpPr>
          <p:nvPr/>
        </p:nvCxnSpPr>
        <p:spPr>
          <a:xfrm>
            <a:off x="1298050" y="4632495"/>
            <a:ext cx="260489" cy="289013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7" idx="3"/>
            <a:endCxn id="16" idx="0"/>
          </p:cNvCxnSpPr>
          <p:nvPr/>
        </p:nvCxnSpPr>
        <p:spPr>
          <a:xfrm flipH="1">
            <a:off x="1196227" y="4071779"/>
            <a:ext cx="260489" cy="314893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2100022" y="382595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/>
          <p:cNvSpPr/>
          <p:nvPr/>
        </p:nvSpPr>
        <p:spPr>
          <a:xfrm>
            <a:off x="1762695" y="319335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8" name="直線接點 27"/>
          <p:cNvCxnSpPr>
            <a:stCxn id="27" idx="4"/>
            <a:endCxn id="17" idx="0"/>
          </p:cNvCxnSpPr>
          <p:nvPr/>
        </p:nvCxnSpPr>
        <p:spPr>
          <a:xfrm flipH="1">
            <a:off x="1558539" y="3481352"/>
            <a:ext cx="348156" cy="34460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27" idx="4"/>
            <a:endCxn id="26" idx="0"/>
          </p:cNvCxnSpPr>
          <p:nvPr/>
        </p:nvCxnSpPr>
        <p:spPr>
          <a:xfrm>
            <a:off x="1906695" y="3481352"/>
            <a:ext cx="337327" cy="34460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/>
          <p:cNvSpPr/>
          <p:nvPr/>
        </p:nvSpPr>
        <p:spPr>
          <a:xfrm>
            <a:off x="3016176" y="382595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3701659" y="382595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橢圓 37"/>
          <p:cNvSpPr/>
          <p:nvPr/>
        </p:nvSpPr>
        <p:spPr>
          <a:xfrm>
            <a:off x="3364332" y="319335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9" name="直線接點 38"/>
          <p:cNvCxnSpPr>
            <a:stCxn id="38" idx="4"/>
            <a:endCxn id="36" idx="0"/>
          </p:cNvCxnSpPr>
          <p:nvPr/>
        </p:nvCxnSpPr>
        <p:spPr>
          <a:xfrm flipH="1">
            <a:off x="3160176" y="3481352"/>
            <a:ext cx="348156" cy="34460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>
            <a:stCxn id="38" idx="4"/>
            <a:endCxn id="37" idx="0"/>
          </p:cNvCxnSpPr>
          <p:nvPr/>
        </p:nvCxnSpPr>
        <p:spPr>
          <a:xfrm>
            <a:off x="3508332" y="3481352"/>
            <a:ext cx="337327" cy="34460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橢圓 40"/>
          <p:cNvSpPr/>
          <p:nvPr/>
        </p:nvSpPr>
        <p:spPr>
          <a:xfrm>
            <a:off x="2659617" y="438249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2" name="直線接點 41"/>
          <p:cNvCxnSpPr>
            <a:stCxn id="36" idx="3"/>
            <a:endCxn id="41" idx="0"/>
          </p:cNvCxnSpPr>
          <p:nvPr/>
        </p:nvCxnSpPr>
        <p:spPr>
          <a:xfrm flipH="1">
            <a:off x="2803617" y="4071779"/>
            <a:ext cx="254736" cy="31072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橢圓 44"/>
          <p:cNvSpPr/>
          <p:nvPr/>
        </p:nvSpPr>
        <p:spPr>
          <a:xfrm>
            <a:off x="4080107" y="438249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6" name="直線接點 45"/>
          <p:cNvCxnSpPr>
            <a:stCxn id="37" idx="5"/>
            <a:endCxn id="45" idx="0"/>
          </p:cNvCxnSpPr>
          <p:nvPr/>
        </p:nvCxnSpPr>
        <p:spPr>
          <a:xfrm>
            <a:off x="3947482" y="4071779"/>
            <a:ext cx="276625" cy="31072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>
            <a:stCxn id="7" idx="5"/>
            <a:endCxn id="38" idx="0"/>
          </p:cNvCxnSpPr>
          <p:nvPr/>
        </p:nvCxnSpPr>
        <p:spPr>
          <a:xfrm>
            <a:off x="2804570" y="2760791"/>
            <a:ext cx="703762" cy="432561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>
            <a:stCxn id="7" idx="3"/>
            <a:endCxn id="27" idx="0"/>
          </p:cNvCxnSpPr>
          <p:nvPr/>
        </p:nvCxnSpPr>
        <p:spPr>
          <a:xfrm flipH="1">
            <a:off x="1906695" y="2760791"/>
            <a:ext cx="694229" cy="432561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1732617" y="315268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3335494" y="3144060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1400323" y="3779128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2091396" y="3767595"/>
            <a:ext cx="338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2997310" y="3776222"/>
            <a:ext cx="325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3672183" y="3768038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1054811" y="4331218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2624481" y="4328754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4095515" y="4332091"/>
            <a:ext cx="274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385063" y="4866054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4960672" y="3519536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5279990" y="3519536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8243626" y="3519536"/>
            <a:ext cx="274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5637780" y="351953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7266434" y="3519536"/>
            <a:ext cx="325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5984730" y="3519536"/>
            <a:ext cx="338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6334125" y="3519536"/>
            <a:ext cx="338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6627796" y="3519536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6921467" y="3519536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7579340" y="3519536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7873011" y="3519536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4940153" y="308124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中序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095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5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2" grpId="0"/>
      <p:bldP spid="73" grpId="0"/>
      <p:bldP spid="74" grpId="0"/>
      <p:bldP spid="75" grpId="0"/>
      <p:bldP spid="76" grpId="0"/>
      <p:bldP spid="7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後序走訪 </a:t>
            </a:r>
            <a:r>
              <a:rPr lang="en-US" altLang="zh-TW" dirty="0" err="1" smtClean="0"/>
              <a:t>Postorder</a:t>
            </a:r>
            <a:r>
              <a:rPr lang="en-US" altLang="zh-TW" dirty="0" smtClean="0"/>
              <a:t> traverse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左右</a:t>
            </a:r>
            <a:r>
              <a:rPr lang="zh-TW" altLang="en-US" dirty="0"/>
              <a:t>中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2558747" y="251496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2527058" y="245088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1414539" y="492150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1052227" y="43866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1414539" y="382595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接點 17"/>
          <p:cNvCxnSpPr>
            <a:stCxn id="16" idx="5"/>
            <a:endCxn id="15" idx="0"/>
          </p:cNvCxnSpPr>
          <p:nvPr/>
        </p:nvCxnSpPr>
        <p:spPr>
          <a:xfrm>
            <a:off x="1298050" y="4632495"/>
            <a:ext cx="260489" cy="289013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7" idx="3"/>
            <a:endCxn id="16" idx="0"/>
          </p:cNvCxnSpPr>
          <p:nvPr/>
        </p:nvCxnSpPr>
        <p:spPr>
          <a:xfrm flipH="1">
            <a:off x="1196227" y="4071779"/>
            <a:ext cx="260489" cy="314893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2100022" y="382595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/>
          <p:cNvSpPr/>
          <p:nvPr/>
        </p:nvSpPr>
        <p:spPr>
          <a:xfrm>
            <a:off x="1762695" y="319335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8" name="直線接點 27"/>
          <p:cNvCxnSpPr>
            <a:stCxn id="27" idx="4"/>
            <a:endCxn id="17" idx="0"/>
          </p:cNvCxnSpPr>
          <p:nvPr/>
        </p:nvCxnSpPr>
        <p:spPr>
          <a:xfrm flipH="1">
            <a:off x="1558539" y="3481352"/>
            <a:ext cx="348156" cy="34460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27" idx="4"/>
            <a:endCxn id="26" idx="0"/>
          </p:cNvCxnSpPr>
          <p:nvPr/>
        </p:nvCxnSpPr>
        <p:spPr>
          <a:xfrm>
            <a:off x="1906695" y="3481352"/>
            <a:ext cx="337327" cy="34460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/>
          <p:cNvSpPr/>
          <p:nvPr/>
        </p:nvSpPr>
        <p:spPr>
          <a:xfrm>
            <a:off x="3016176" y="382595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3701659" y="382595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橢圓 37"/>
          <p:cNvSpPr/>
          <p:nvPr/>
        </p:nvSpPr>
        <p:spPr>
          <a:xfrm>
            <a:off x="3364332" y="319335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9" name="直線接點 38"/>
          <p:cNvCxnSpPr>
            <a:stCxn id="38" idx="4"/>
            <a:endCxn id="36" idx="0"/>
          </p:cNvCxnSpPr>
          <p:nvPr/>
        </p:nvCxnSpPr>
        <p:spPr>
          <a:xfrm flipH="1">
            <a:off x="3160176" y="3481352"/>
            <a:ext cx="348156" cy="34460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>
            <a:stCxn id="38" idx="4"/>
            <a:endCxn id="37" idx="0"/>
          </p:cNvCxnSpPr>
          <p:nvPr/>
        </p:nvCxnSpPr>
        <p:spPr>
          <a:xfrm>
            <a:off x="3508332" y="3481352"/>
            <a:ext cx="337327" cy="34460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橢圓 40"/>
          <p:cNvSpPr/>
          <p:nvPr/>
        </p:nvSpPr>
        <p:spPr>
          <a:xfrm>
            <a:off x="2659617" y="438249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2" name="直線接點 41"/>
          <p:cNvCxnSpPr>
            <a:stCxn id="36" idx="3"/>
            <a:endCxn id="41" idx="0"/>
          </p:cNvCxnSpPr>
          <p:nvPr/>
        </p:nvCxnSpPr>
        <p:spPr>
          <a:xfrm flipH="1">
            <a:off x="2803617" y="4071779"/>
            <a:ext cx="254736" cy="31072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橢圓 44"/>
          <p:cNvSpPr/>
          <p:nvPr/>
        </p:nvSpPr>
        <p:spPr>
          <a:xfrm>
            <a:off x="4080107" y="438249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6" name="直線接點 45"/>
          <p:cNvCxnSpPr>
            <a:stCxn id="37" idx="5"/>
            <a:endCxn id="45" idx="0"/>
          </p:cNvCxnSpPr>
          <p:nvPr/>
        </p:nvCxnSpPr>
        <p:spPr>
          <a:xfrm>
            <a:off x="3947482" y="4071779"/>
            <a:ext cx="276625" cy="31072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>
            <a:stCxn id="7" idx="5"/>
            <a:endCxn id="38" idx="0"/>
          </p:cNvCxnSpPr>
          <p:nvPr/>
        </p:nvCxnSpPr>
        <p:spPr>
          <a:xfrm>
            <a:off x="2804570" y="2760791"/>
            <a:ext cx="703762" cy="432561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>
            <a:stCxn id="7" idx="3"/>
            <a:endCxn id="27" idx="0"/>
          </p:cNvCxnSpPr>
          <p:nvPr/>
        </p:nvCxnSpPr>
        <p:spPr>
          <a:xfrm flipH="1">
            <a:off x="1906695" y="2760791"/>
            <a:ext cx="694229" cy="432561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1732617" y="315268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3335494" y="3144060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1400323" y="3779128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2091396" y="3767595"/>
            <a:ext cx="338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2997310" y="3776222"/>
            <a:ext cx="325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3672183" y="3768038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1054811" y="4331218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2624481" y="4328754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4095515" y="4332091"/>
            <a:ext cx="274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1385063" y="4866054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4928612" y="3519536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5312050" y="351953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8205154" y="3519536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5637780" y="351953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7292082" y="3519536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5984730" y="3519536"/>
            <a:ext cx="338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6334125" y="3519536"/>
            <a:ext cx="338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6621384" y="3519536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6940703" y="3519536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7572928" y="3519536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7873011" y="3519536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4940153" y="308124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序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116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5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2" grpId="0"/>
      <p:bldP spid="73" grpId="0"/>
      <p:bldP spid="74" grpId="0"/>
      <p:bldP spid="75" grpId="0"/>
      <p:bldP spid="76" grpId="0"/>
      <p:bldP spid="7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二元樹走訪的應用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二元算式樹</a:t>
            </a:r>
            <a:r>
              <a:rPr lang="en-US" altLang="zh-TW" dirty="0" smtClean="0"/>
              <a:t>(binary expression tree)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2903931" y="2123661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287370" y="212366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225357" y="212366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613099" y="212366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228929" y="2123661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971270" y="2123661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300818" y="2123661"/>
            <a:ext cx="338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628763" y="212366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948082" y="212366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5605955" y="2123661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848330" y="2123661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直線接點 20"/>
          <p:cNvCxnSpPr>
            <a:stCxn id="20" idx="4"/>
            <a:endCxn id="18" idx="0"/>
          </p:cNvCxnSpPr>
          <p:nvPr/>
        </p:nvCxnSpPr>
        <p:spPr>
          <a:xfrm flipH="1">
            <a:off x="5562014" y="4413017"/>
            <a:ext cx="348156" cy="34460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20" idx="4"/>
            <a:endCxn id="19" idx="0"/>
          </p:cNvCxnSpPr>
          <p:nvPr/>
        </p:nvCxnSpPr>
        <p:spPr>
          <a:xfrm>
            <a:off x="5910170" y="4413017"/>
            <a:ext cx="337327" cy="34460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群組 55"/>
          <p:cNvGrpSpPr/>
          <p:nvPr/>
        </p:nvGrpSpPr>
        <p:grpSpPr>
          <a:xfrm>
            <a:off x="5766170" y="4076168"/>
            <a:ext cx="288000" cy="369332"/>
            <a:chOff x="5766170" y="4076168"/>
            <a:chExt cx="288000" cy="369332"/>
          </a:xfrm>
        </p:grpSpPr>
        <p:sp>
          <p:nvSpPr>
            <p:cNvPr id="20" name="橢圓 19"/>
            <p:cNvSpPr/>
            <p:nvPr/>
          </p:nvSpPr>
          <p:spPr>
            <a:xfrm>
              <a:off x="5766170" y="412501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5779362" y="4076168"/>
              <a:ext cx="2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群組 54"/>
          <p:cNvGrpSpPr/>
          <p:nvPr/>
        </p:nvGrpSpPr>
        <p:grpSpPr>
          <a:xfrm>
            <a:off x="5378520" y="4711236"/>
            <a:ext cx="351379" cy="369332"/>
            <a:chOff x="5378520" y="4711236"/>
            <a:chExt cx="351379" cy="369332"/>
          </a:xfrm>
        </p:grpSpPr>
        <p:sp>
          <p:nvSpPr>
            <p:cNvPr id="18" name="橢圓 17"/>
            <p:cNvSpPr/>
            <p:nvPr/>
          </p:nvSpPr>
          <p:spPr>
            <a:xfrm>
              <a:off x="5418014" y="475762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5378520" y="4711236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4" name="群組 53"/>
          <p:cNvGrpSpPr/>
          <p:nvPr/>
        </p:nvGrpSpPr>
        <p:grpSpPr>
          <a:xfrm>
            <a:off x="6080433" y="4708329"/>
            <a:ext cx="351379" cy="369332"/>
            <a:chOff x="6080433" y="4708329"/>
            <a:chExt cx="351379" cy="369332"/>
          </a:xfrm>
        </p:grpSpPr>
        <p:sp>
          <p:nvSpPr>
            <p:cNvPr id="19" name="橢圓 18"/>
            <p:cNvSpPr/>
            <p:nvPr/>
          </p:nvSpPr>
          <p:spPr>
            <a:xfrm>
              <a:off x="6103497" y="475762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6080433" y="4708329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8" name="直線接點 27"/>
          <p:cNvCxnSpPr>
            <a:stCxn id="27" idx="4"/>
            <a:endCxn id="26" idx="0"/>
          </p:cNvCxnSpPr>
          <p:nvPr/>
        </p:nvCxnSpPr>
        <p:spPr>
          <a:xfrm flipH="1">
            <a:off x="4930188" y="3797668"/>
            <a:ext cx="489682" cy="32734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27" idx="4"/>
            <a:endCxn id="20" idx="0"/>
          </p:cNvCxnSpPr>
          <p:nvPr/>
        </p:nvCxnSpPr>
        <p:spPr>
          <a:xfrm>
            <a:off x="5419870" y="3797668"/>
            <a:ext cx="490300" cy="32734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/>
          <p:cNvCxnSpPr>
            <a:stCxn id="36" idx="4"/>
            <a:endCxn id="35" idx="0"/>
          </p:cNvCxnSpPr>
          <p:nvPr/>
        </p:nvCxnSpPr>
        <p:spPr>
          <a:xfrm flipH="1">
            <a:off x="3154119" y="3797668"/>
            <a:ext cx="489682" cy="32734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>
            <a:stCxn id="36" idx="4"/>
            <a:endCxn id="34" idx="0"/>
          </p:cNvCxnSpPr>
          <p:nvPr/>
        </p:nvCxnSpPr>
        <p:spPr>
          <a:xfrm>
            <a:off x="3643801" y="3797668"/>
            <a:ext cx="490300" cy="32734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>
            <a:stCxn id="39" idx="4"/>
            <a:endCxn id="27" idx="0"/>
          </p:cNvCxnSpPr>
          <p:nvPr/>
        </p:nvCxnSpPr>
        <p:spPr>
          <a:xfrm>
            <a:off x="4548132" y="3061544"/>
            <a:ext cx="871738" cy="44812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>
            <a:stCxn id="39" idx="4"/>
            <a:endCxn id="36" idx="0"/>
          </p:cNvCxnSpPr>
          <p:nvPr/>
        </p:nvCxnSpPr>
        <p:spPr>
          <a:xfrm flipH="1">
            <a:off x="3643801" y="3061544"/>
            <a:ext cx="904331" cy="44812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群組 57"/>
          <p:cNvGrpSpPr/>
          <p:nvPr/>
        </p:nvGrpSpPr>
        <p:grpSpPr>
          <a:xfrm>
            <a:off x="4754499" y="4076168"/>
            <a:ext cx="351379" cy="369332"/>
            <a:chOff x="4754499" y="4076168"/>
            <a:chExt cx="351379" cy="369332"/>
          </a:xfrm>
        </p:grpSpPr>
        <p:sp>
          <p:nvSpPr>
            <p:cNvPr id="26" name="橢圓 25"/>
            <p:cNvSpPr/>
            <p:nvPr/>
          </p:nvSpPr>
          <p:spPr>
            <a:xfrm>
              <a:off x="4786188" y="412501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4754499" y="4076168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7" name="群組 56"/>
          <p:cNvGrpSpPr/>
          <p:nvPr/>
        </p:nvGrpSpPr>
        <p:grpSpPr>
          <a:xfrm>
            <a:off x="5275870" y="3494427"/>
            <a:ext cx="308708" cy="369332"/>
            <a:chOff x="5275870" y="3494427"/>
            <a:chExt cx="308708" cy="369332"/>
          </a:xfrm>
        </p:grpSpPr>
        <p:sp>
          <p:nvSpPr>
            <p:cNvPr id="27" name="橢圓 26"/>
            <p:cNvSpPr/>
            <p:nvPr/>
          </p:nvSpPr>
          <p:spPr>
            <a:xfrm>
              <a:off x="5275870" y="350966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文字方塊 47"/>
            <p:cNvSpPr txBox="1"/>
            <p:nvPr/>
          </p:nvSpPr>
          <p:spPr>
            <a:xfrm>
              <a:off x="5284496" y="349442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0" name="群組 59"/>
          <p:cNvGrpSpPr/>
          <p:nvPr/>
        </p:nvGrpSpPr>
        <p:grpSpPr>
          <a:xfrm>
            <a:off x="2976342" y="4066647"/>
            <a:ext cx="364203" cy="369332"/>
            <a:chOff x="2976342" y="4066647"/>
            <a:chExt cx="364203" cy="369332"/>
          </a:xfrm>
        </p:grpSpPr>
        <p:sp>
          <p:nvSpPr>
            <p:cNvPr id="35" name="橢圓 34"/>
            <p:cNvSpPr/>
            <p:nvPr/>
          </p:nvSpPr>
          <p:spPr>
            <a:xfrm>
              <a:off x="3010119" y="412501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2976342" y="4066647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群組 58"/>
          <p:cNvGrpSpPr/>
          <p:nvPr/>
        </p:nvGrpSpPr>
        <p:grpSpPr>
          <a:xfrm>
            <a:off x="3967038" y="4069563"/>
            <a:ext cx="351378" cy="369332"/>
            <a:chOff x="3967038" y="4069563"/>
            <a:chExt cx="351378" cy="369332"/>
          </a:xfrm>
        </p:grpSpPr>
        <p:sp>
          <p:nvSpPr>
            <p:cNvPr id="34" name="橢圓 33"/>
            <p:cNvSpPr/>
            <p:nvPr/>
          </p:nvSpPr>
          <p:spPr>
            <a:xfrm>
              <a:off x="3990101" y="412501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文字方塊 49"/>
            <p:cNvSpPr txBox="1"/>
            <p:nvPr/>
          </p:nvSpPr>
          <p:spPr>
            <a:xfrm>
              <a:off x="3967038" y="4069563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" name="群組 60"/>
          <p:cNvGrpSpPr/>
          <p:nvPr/>
        </p:nvGrpSpPr>
        <p:grpSpPr>
          <a:xfrm>
            <a:off x="3499801" y="3443124"/>
            <a:ext cx="301883" cy="369332"/>
            <a:chOff x="3499801" y="3443124"/>
            <a:chExt cx="301883" cy="369332"/>
          </a:xfrm>
        </p:grpSpPr>
        <p:sp>
          <p:nvSpPr>
            <p:cNvPr id="36" name="橢圓 35"/>
            <p:cNvSpPr/>
            <p:nvPr/>
          </p:nvSpPr>
          <p:spPr>
            <a:xfrm>
              <a:off x="3499801" y="350966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3501602" y="344312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2" name="群組 61"/>
          <p:cNvGrpSpPr/>
          <p:nvPr/>
        </p:nvGrpSpPr>
        <p:grpSpPr>
          <a:xfrm>
            <a:off x="4391515" y="2732878"/>
            <a:ext cx="316112" cy="369332"/>
            <a:chOff x="4391515" y="2732878"/>
            <a:chExt cx="316112" cy="369332"/>
          </a:xfrm>
        </p:grpSpPr>
        <p:sp>
          <p:nvSpPr>
            <p:cNvPr id="39" name="橢圓 38"/>
            <p:cNvSpPr/>
            <p:nvPr/>
          </p:nvSpPr>
          <p:spPr>
            <a:xfrm>
              <a:off x="4404132" y="277354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4391515" y="2732878"/>
              <a:ext cx="316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3" name="文字方塊 52"/>
          <p:cNvSpPr txBox="1"/>
          <p:nvPr/>
        </p:nvSpPr>
        <p:spPr>
          <a:xfrm>
            <a:off x="2512252" y="5339749"/>
            <a:ext cx="4346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前序：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 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TW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E * B / C D (</a:t>
            </a:r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前序表示式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sz="2000" b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後序：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 E 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 C D / * +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後序表示式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88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引線二元樹 </a:t>
            </a:r>
            <a:r>
              <a:rPr lang="en-US" altLang="zh-TW" dirty="0" smtClean="0"/>
              <a:t>(1/5)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將原本接地的指標稱為引線</a:t>
            </a:r>
            <a:endParaRPr lang="en-US" altLang="zh-TW" dirty="0" smtClean="0"/>
          </a:p>
          <a:p>
            <a:pPr lvl="1"/>
            <a:r>
              <a:rPr lang="zh-TW" altLang="en-US" dirty="0" smtClean="0">
                <a:solidFill>
                  <a:srgbClr val="C00000"/>
                </a:solidFill>
              </a:rPr>
              <a:t>左</a:t>
            </a:r>
            <a:r>
              <a:rPr lang="zh-TW" altLang="en-US" dirty="0" smtClean="0"/>
              <a:t>引線：指向</a:t>
            </a:r>
            <a:r>
              <a:rPr lang="zh-TW" altLang="en-US" dirty="0" smtClean="0">
                <a:solidFill>
                  <a:srgbClr val="0000FF"/>
                </a:solidFill>
              </a:rPr>
              <a:t>中序</a:t>
            </a:r>
            <a:r>
              <a:rPr lang="zh-TW" altLang="en-US" dirty="0" smtClean="0">
                <a:solidFill>
                  <a:srgbClr val="C00000"/>
                </a:solidFill>
              </a:rPr>
              <a:t>立即前行者</a:t>
            </a:r>
            <a:endParaRPr lang="en-US" altLang="zh-TW" dirty="0" smtClean="0">
              <a:solidFill>
                <a:srgbClr val="C00000"/>
              </a:solidFill>
            </a:endParaRPr>
          </a:p>
          <a:p>
            <a:pPr lvl="1"/>
            <a:r>
              <a:rPr lang="zh-TW" altLang="en-US" dirty="0" smtClean="0">
                <a:solidFill>
                  <a:srgbClr val="C00000"/>
                </a:solidFill>
              </a:rPr>
              <a:t>右</a:t>
            </a:r>
            <a:r>
              <a:rPr lang="zh-TW" altLang="en-US" dirty="0" smtClean="0"/>
              <a:t>引線：指向</a:t>
            </a:r>
            <a:r>
              <a:rPr lang="zh-TW" altLang="en-US" dirty="0" smtClean="0">
                <a:solidFill>
                  <a:srgbClr val="0000FF"/>
                </a:solidFill>
              </a:rPr>
              <a:t>中序</a:t>
            </a:r>
            <a:r>
              <a:rPr lang="zh-TW" altLang="en-US" dirty="0" smtClean="0">
                <a:solidFill>
                  <a:srgbClr val="C00000"/>
                </a:solidFill>
              </a:rPr>
              <a:t>立即後繼者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27</a:t>
            </a:fld>
            <a:endParaRPr lang="en-US" dirty="0"/>
          </a:p>
        </p:txBody>
      </p:sp>
      <p:cxnSp>
        <p:nvCxnSpPr>
          <p:cNvPr id="39" name="肘形接點 38"/>
          <p:cNvCxnSpPr>
            <a:stCxn id="8" idx="1"/>
            <a:endCxn id="12" idx="0"/>
          </p:cNvCxnSpPr>
          <p:nvPr/>
        </p:nvCxnSpPr>
        <p:spPr>
          <a:xfrm rot="10800000" flipV="1">
            <a:off x="2950639" y="3050196"/>
            <a:ext cx="1202786" cy="501775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肘形接點 39"/>
          <p:cNvCxnSpPr>
            <a:stCxn id="8" idx="3"/>
            <a:endCxn id="16" idx="0"/>
          </p:cNvCxnSpPr>
          <p:nvPr/>
        </p:nvCxnSpPr>
        <p:spPr>
          <a:xfrm>
            <a:off x="5059198" y="3050197"/>
            <a:ext cx="1191831" cy="501775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接點 40"/>
          <p:cNvCxnSpPr>
            <a:stCxn id="12" idx="3"/>
            <a:endCxn id="24" idx="0"/>
          </p:cNvCxnSpPr>
          <p:nvPr/>
        </p:nvCxnSpPr>
        <p:spPr>
          <a:xfrm>
            <a:off x="3403525" y="3720187"/>
            <a:ext cx="185876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肘形接點 41"/>
          <p:cNvCxnSpPr>
            <a:stCxn id="12" idx="1"/>
            <a:endCxn id="20" idx="0"/>
          </p:cNvCxnSpPr>
          <p:nvPr/>
        </p:nvCxnSpPr>
        <p:spPr>
          <a:xfrm rot="10800000" flipV="1">
            <a:off x="2306968" y="3720186"/>
            <a:ext cx="190785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肘形接點 42"/>
          <p:cNvCxnSpPr>
            <a:stCxn id="20" idx="1"/>
            <a:endCxn id="36" idx="0"/>
          </p:cNvCxnSpPr>
          <p:nvPr/>
        </p:nvCxnSpPr>
        <p:spPr>
          <a:xfrm rot="10800000" flipV="1">
            <a:off x="1786086" y="4441933"/>
            <a:ext cx="67994" cy="493144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肘形接點 43"/>
          <p:cNvCxnSpPr>
            <a:stCxn id="16" idx="1"/>
            <a:endCxn id="28" idx="0"/>
          </p:cNvCxnSpPr>
          <p:nvPr/>
        </p:nvCxnSpPr>
        <p:spPr>
          <a:xfrm rot="10800000" flipV="1">
            <a:off x="5603124" y="3720186"/>
            <a:ext cx="195018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肘形接點 44"/>
          <p:cNvCxnSpPr>
            <a:stCxn id="16" idx="3"/>
            <a:endCxn id="32" idx="0"/>
          </p:cNvCxnSpPr>
          <p:nvPr/>
        </p:nvCxnSpPr>
        <p:spPr>
          <a:xfrm>
            <a:off x="6703915" y="3720187"/>
            <a:ext cx="207238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群組 81"/>
          <p:cNvGrpSpPr/>
          <p:nvPr/>
        </p:nvGrpSpPr>
        <p:grpSpPr>
          <a:xfrm>
            <a:off x="4153425" y="2865530"/>
            <a:ext cx="905773" cy="369332"/>
            <a:chOff x="4093043" y="3710878"/>
            <a:chExt cx="905773" cy="369332"/>
          </a:xfrm>
        </p:grpSpPr>
        <p:grpSp>
          <p:nvGrpSpPr>
            <p:cNvPr id="7" name="群組 6"/>
            <p:cNvGrpSpPr/>
            <p:nvPr/>
          </p:nvGrpSpPr>
          <p:grpSpPr>
            <a:xfrm>
              <a:off x="4093043" y="3727330"/>
              <a:ext cx="905773" cy="336430"/>
              <a:chOff x="698740" y="2536166"/>
              <a:chExt cx="905773" cy="336430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9" name="直線接點 8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線接點 9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文字方塊 45"/>
            <p:cNvSpPr txBox="1"/>
            <p:nvPr/>
          </p:nvSpPr>
          <p:spPr>
            <a:xfrm>
              <a:off x="4376411" y="3710878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3" name="群組 82"/>
          <p:cNvGrpSpPr/>
          <p:nvPr/>
        </p:nvGrpSpPr>
        <p:grpSpPr>
          <a:xfrm>
            <a:off x="2497752" y="3519070"/>
            <a:ext cx="905773" cy="369332"/>
            <a:chOff x="3110198" y="4364418"/>
            <a:chExt cx="905773" cy="369332"/>
          </a:xfrm>
        </p:grpSpPr>
        <p:grpSp>
          <p:nvGrpSpPr>
            <p:cNvPr id="11" name="群組 10"/>
            <p:cNvGrpSpPr/>
            <p:nvPr/>
          </p:nvGrpSpPr>
          <p:grpSpPr>
            <a:xfrm>
              <a:off x="3110198" y="4397320"/>
              <a:ext cx="905773" cy="336430"/>
              <a:chOff x="698740" y="2536166"/>
              <a:chExt cx="905773" cy="33643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3" name="直線接點 12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線接點 13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文字方塊 46"/>
            <p:cNvSpPr txBox="1"/>
            <p:nvPr/>
          </p:nvSpPr>
          <p:spPr>
            <a:xfrm>
              <a:off x="3387395" y="4364418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4" name="群組 83"/>
          <p:cNvGrpSpPr/>
          <p:nvPr/>
        </p:nvGrpSpPr>
        <p:grpSpPr>
          <a:xfrm>
            <a:off x="5798142" y="3535521"/>
            <a:ext cx="905773" cy="369332"/>
            <a:chOff x="5125314" y="4380869"/>
            <a:chExt cx="905773" cy="369332"/>
          </a:xfrm>
        </p:grpSpPr>
        <p:grpSp>
          <p:nvGrpSpPr>
            <p:cNvPr id="15" name="群組 14"/>
            <p:cNvGrpSpPr/>
            <p:nvPr/>
          </p:nvGrpSpPr>
          <p:grpSpPr>
            <a:xfrm>
              <a:off x="5125314" y="4397320"/>
              <a:ext cx="905773" cy="336430"/>
              <a:chOff x="698740" y="2536166"/>
              <a:chExt cx="905773" cy="336430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" name="直線接點 16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接點 17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文字方塊 47"/>
            <p:cNvSpPr txBox="1"/>
            <p:nvPr/>
          </p:nvSpPr>
          <p:spPr>
            <a:xfrm>
              <a:off x="5411137" y="4380869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5" name="群組 84"/>
          <p:cNvGrpSpPr/>
          <p:nvPr/>
        </p:nvGrpSpPr>
        <p:grpSpPr>
          <a:xfrm>
            <a:off x="1854080" y="4250076"/>
            <a:ext cx="905773" cy="369332"/>
            <a:chOff x="2578664" y="5095424"/>
            <a:chExt cx="905773" cy="369332"/>
          </a:xfrm>
        </p:grpSpPr>
        <p:grpSp>
          <p:nvGrpSpPr>
            <p:cNvPr id="19" name="群組 18"/>
            <p:cNvGrpSpPr/>
            <p:nvPr/>
          </p:nvGrpSpPr>
          <p:grpSpPr>
            <a:xfrm>
              <a:off x="2578664" y="5119066"/>
              <a:ext cx="905773" cy="336430"/>
              <a:chOff x="698740" y="2536166"/>
              <a:chExt cx="905773" cy="336430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1" name="直線接點 20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接點 21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文字方塊 48"/>
            <p:cNvSpPr txBox="1"/>
            <p:nvPr/>
          </p:nvSpPr>
          <p:spPr>
            <a:xfrm>
              <a:off x="2856738" y="5095424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6" name="群組 85"/>
          <p:cNvGrpSpPr/>
          <p:nvPr/>
        </p:nvGrpSpPr>
        <p:grpSpPr>
          <a:xfrm>
            <a:off x="3136514" y="4242291"/>
            <a:ext cx="905773" cy="369332"/>
            <a:chOff x="3628196" y="5087639"/>
            <a:chExt cx="905773" cy="369332"/>
          </a:xfrm>
        </p:grpSpPr>
        <p:grpSp>
          <p:nvGrpSpPr>
            <p:cNvPr id="23" name="群組 22"/>
            <p:cNvGrpSpPr/>
            <p:nvPr/>
          </p:nvGrpSpPr>
          <p:grpSpPr>
            <a:xfrm>
              <a:off x="3628196" y="5119066"/>
              <a:ext cx="905773" cy="336430"/>
              <a:chOff x="698740" y="2536166"/>
              <a:chExt cx="905773" cy="336430"/>
            </a:xfrm>
          </p:grpSpPr>
          <p:sp>
            <p:nvSpPr>
              <p:cNvPr id="24" name="矩形 23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5" name="直線接點 24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線接點 25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文字方塊 49"/>
            <p:cNvSpPr txBox="1"/>
            <p:nvPr/>
          </p:nvSpPr>
          <p:spPr>
            <a:xfrm>
              <a:off x="3905393" y="5087639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7" name="群組 86"/>
          <p:cNvGrpSpPr/>
          <p:nvPr/>
        </p:nvGrpSpPr>
        <p:grpSpPr>
          <a:xfrm>
            <a:off x="5150237" y="4257267"/>
            <a:ext cx="905773" cy="369332"/>
            <a:chOff x="4606799" y="5102615"/>
            <a:chExt cx="905773" cy="369332"/>
          </a:xfrm>
        </p:grpSpPr>
        <p:grpSp>
          <p:nvGrpSpPr>
            <p:cNvPr id="27" name="群組 26"/>
            <p:cNvGrpSpPr/>
            <p:nvPr/>
          </p:nvGrpSpPr>
          <p:grpSpPr>
            <a:xfrm>
              <a:off x="4606799" y="5119066"/>
              <a:ext cx="905773" cy="336430"/>
              <a:chOff x="698740" y="2536166"/>
              <a:chExt cx="905773" cy="336430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9" name="直線接點 28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線接點 29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文字方塊 50"/>
            <p:cNvSpPr txBox="1"/>
            <p:nvPr/>
          </p:nvSpPr>
          <p:spPr>
            <a:xfrm>
              <a:off x="4909157" y="5102615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8" name="群組 87"/>
          <p:cNvGrpSpPr/>
          <p:nvPr/>
        </p:nvGrpSpPr>
        <p:grpSpPr>
          <a:xfrm>
            <a:off x="6458266" y="4250076"/>
            <a:ext cx="905773" cy="369332"/>
            <a:chOff x="5656048" y="5095424"/>
            <a:chExt cx="905773" cy="369332"/>
          </a:xfrm>
        </p:grpSpPr>
        <p:grpSp>
          <p:nvGrpSpPr>
            <p:cNvPr id="31" name="群組 30"/>
            <p:cNvGrpSpPr/>
            <p:nvPr/>
          </p:nvGrpSpPr>
          <p:grpSpPr>
            <a:xfrm>
              <a:off x="5656048" y="5119066"/>
              <a:ext cx="905773" cy="336430"/>
              <a:chOff x="698740" y="2536166"/>
              <a:chExt cx="905773" cy="336430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3" name="直線接點 32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線接點 33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文字方塊 51"/>
            <p:cNvSpPr txBox="1"/>
            <p:nvPr/>
          </p:nvSpPr>
          <p:spPr>
            <a:xfrm>
              <a:off x="5926832" y="5095424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9" name="群組 88"/>
          <p:cNvGrpSpPr/>
          <p:nvPr/>
        </p:nvGrpSpPr>
        <p:grpSpPr>
          <a:xfrm>
            <a:off x="1333199" y="4935077"/>
            <a:ext cx="905773" cy="369332"/>
            <a:chOff x="2057783" y="5780425"/>
            <a:chExt cx="905773" cy="369332"/>
          </a:xfrm>
        </p:grpSpPr>
        <p:grpSp>
          <p:nvGrpSpPr>
            <p:cNvPr id="35" name="群組 34"/>
            <p:cNvGrpSpPr/>
            <p:nvPr/>
          </p:nvGrpSpPr>
          <p:grpSpPr>
            <a:xfrm>
              <a:off x="2057783" y="5780425"/>
              <a:ext cx="905773" cy="336430"/>
              <a:chOff x="698740" y="2536166"/>
              <a:chExt cx="905773" cy="336430"/>
            </a:xfrm>
          </p:grpSpPr>
          <p:sp>
            <p:nvSpPr>
              <p:cNvPr id="36" name="矩形 35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7" name="直線接點 36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線接點 37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文字方塊 52"/>
            <p:cNvSpPr txBox="1"/>
            <p:nvPr/>
          </p:nvSpPr>
          <p:spPr>
            <a:xfrm>
              <a:off x="2360627" y="5780425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4" name="直線單箭頭接點 93"/>
          <p:cNvCxnSpPr/>
          <p:nvPr/>
        </p:nvCxnSpPr>
        <p:spPr>
          <a:xfrm>
            <a:off x="1445158" y="5271507"/>
            <a:ext cx="0" cy="3688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/>
          <p:nvPr/>
        </p:nvCxnSpPr>
        <p:spPr>
          <a:xfrm>
            <a:off x="2631477" y="4602997"/>
            <a:ext cx="0" cy="3688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>
            <a:off x="3262811" y="4610782"/>
            <a:ext cx="0" cy="3688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/>
          <p:nvPr/>
        </p:nvCxnSpPr>
        <p:spPr>
          <a:xfrm>
            <a:off x="3936485" y="4610782"/>
            <a:ext cx="0" cy="3688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單箭頭接點 99"/>
          <p:cNvCxnSpPr/>
          <p:nvPr/>
        </p:nvCxnSpPr>
        <p:spPr>
          <a:xfrm>
            <a:off x="5944901" y="4595499"/>
            <a:ext cx="0" cy="3688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單箭頭接點 100"/>
          <p:cNvCxnSpPr/>
          <p:nvPr/>
        </p:nvCxnSpPr>
        <p:spPr>
          <a:xfrm>
            <a:off x="6578084" y="4602997"/>
            <a:ext cx="0" cy="3688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群組 89"/>
          <p:cNvGrpSpPr/>
          <p:nvPr/>
        </p:nvGrpSpPr>
        <p:grpSpPr>
          <a:xfrm>
            <a:off x="4613137" y="4971862"/>
            <a:ext cx="905773" cy="369332"/>
            <a:chOff x="2057783" y="5780425"/>
            <a:chExt cx="905773" cy="369332"/>
          </a:xfrm>
        </p:grpSpPr>
        <p:grpSp>
          <p:nvGrpSpPr>
            <p:cNvPr id="91" name="群組 90"/>
            <p:cNvGrpSpPr/>
            <p:nvPr/>
          </p:nvGrpSpPr>
          <p:grpSpPr>
            <a:xfrm>
              <a:off x="2057783" y="5780425"/>
              <a:ext cx="905773" cy="336430"/>
              <a:chOff x="698740" y="2536166"/>
              <a:chExt cx="905773" cy="336430"/>
            </a:xfrm>
          </p:grpSpPr>
          <p:sp>
            <p:nvSpPr>
              <p:cNvPr id="93" name="矩形 92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03" name="直線接點 102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線接點 103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文字方塊 91"/>
            <p:cNvSpPr txBox="1"/>
            <p:nvPr/>
          </p:nvSpPr>
          <p:spPr>
            <a:xfrm>
              <a:off x="2328567" y="5780425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5" name="群組 104"/>
          <p:cNvGrpSpPr/>
          <p:nvPr/>
        </p:nvGrpSpPr>
        <p:grpSpPr>
          <a:xfrm>
            <a:off x="7014521" y="4979647"/>
            <a:ext cx="905773" cy="369332"/>
            <a:chOff x="2057783" y="5780425"/>
            <a:chExt cx="905773" cy="369332"/>
          </a:xfrm>
        </p:grpSpPr>
        <p:grpSp>
          <p:nvGrpSpPr>
            <p:cNvPr id="106" name="群組 105"/>
            <p:cNvGrpSpPr/>
            <p:nvPr/>
          </p:nvGrpSpPr>
          <p:grpSpPr>
            <a:xfrm>
              <a:off x="2057783" y="5780425"/>
              <a:ext cx="905773" cy="336430"/>
              <a:chOff x="698740" y="2536166"/>
              <a:chExt cx="905773" cy="336430"/>
            </a:xfrm>
          </p:grpSpPr>
          <p:sp>
            <p:nvSpPr>
              <p:cNvPr id="108" name="矩形 107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09" name="直線接點 108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線接點 109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7" name="文字方塊 106"/>
            <p:cNvSpPr txBox="1"/>
            <p:nvPr/>
          </p:nvSpPr>
          <p:spPr>
            <a:xfrm>
              <a:off x="2382077" y="5780425"/>
              <a:ext cx="2744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1" name="群組 110"/>
          <p:cNvGrpSpPr/>
          <p:nvPr/>
        </p:nvGrpSpPr>
        <p:grpSpPr>
          <a:xfrm>
            <a:off x="1881595" y="5640372"/>
            <a:ext cx="905773" cy="369332"/>
            <a:chOff x="2057783" y="5780425"/>
            <a:chExt cx="905773" cy="369332"/>
          </a:xfrm>
        </p:grpSpPr>
        <p:grpSp>
          <p:nvGrpSpPr>
            <p:cNvPr id="112" name="群組 111"/>
            <p:cNvGrpSpPr/>
            <p:nvPr/>
          </p:nvGrpSpPr>
          <p:grpSpPr>
            <a:xfrm>
              <a:off x="2057783" y="5780425"/>
              <a:ext cx="905773" cy="336430"/>
              <a:chOff x="698740" y="2536166"/>
              <a:chExt cx="905773" cy="336430"/>
            </a:xfrm>
          </p:grpSpPr>
          <p:sp>
            <p:nvSpPr>
              <p:cNvPr id="114" name="矩形 113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5" name="直線接點 114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線接點 115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3" name="文字方塊 112"/>
            <p:cNvSpPr txBox="1"/>
            <p:nvPr/>
          </p:nvSpPr>
          <p:spPr>
            <a:xfrm>
              <a:off x="2328567" y="5780425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17" name="肘形接點 116"/>
          <p:cNvCxnSpPr>
            <a:stCxn id="28" idx="1"/>
            <a:endCxn id="93" idx="0"/>
          </p:cNvCxnSpPr>
          <p:nvPr/>
        </p:nvCxnSpPr>
        <p:spPr>
          <a:xfrm rot="10800000" flipV="1">
            <a:off x="5066025" y="4441932"/>
            <a:ext cx="84213" cy="529929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肘形接點 117"/>
          <p:cNvCxnSpPr>
            <a:stCxn id="32" idx="3"/>
            <a:endCxn id="107" idx="0"/>
          </p:cNvCxnSpPr>
          <p:nvPr/>
        </p:nvCxnSpPr>
        <p:spPr>
          <a:xfrm>
            <a:off x="7364039" y="4441933"/>
            <a:ext cx="111994" cy="537714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肘形接點 118"/>
          <p:cNvCxnSpPr>
            <a:stCxn id="36" idx="3"/>
            <a:endCxn id="113" idx="0"/>
          </p:cNvCxnSpPr>
          <p:nvPr/>
        </p:nvCxnSpPr>
        <p:spPr>
          <a:xfrm>
            <a:off x="2238972" y="5103292"/>
            <a:ext cx="95509" cy="537080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群組 61"/>
          <p:cNvGrpSpPr/>
          <p:nvPr/>
        </p:nvGrpSpPr>
        <p:grpSpPr>
          <a:xfrm>
            <a:off x="5179381" y="1528487"/>
            <a:ext cx="3577908" cy="807626"/>
            <a:chOff x="4929313" y="1623378"/>
            <a:chExt cx="3577908" cy="807626"/>
          </a:xfrm>
        </p:grpSpPr>
        <p:sp>
          <p:nvSpPr>
            <p:cNvPr id="120" name="文字方塊 119"/>
            <p:cNvSpPr txBox="1"/>
            <p:nvPr/>
          </p:nvSpPr>
          <p:spPr>
            <a:xfrm>
              <a:off x="4949832" y="2061672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文字方塊 120"/>
            <p:cNvSpPr txBox="1"/>
            <p:nvPr/>
          </p:nvSpPr>
          <p:spPr>
            <a:xfrm>
              <a:off x="5269150" y="2061672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文字方塊 121"/>
            <p:cNvSpPr txBox="1"/>
            <p:nvPr/>
          </p:nvSpPr>
          <p:spPr>
            <a:xfrm>
              <a:off x="8232786" y="2061672"/>
              <a:ext cx="2744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文字方塊 122"/>
            <p:cNvSpPr txBox="1"/>
            <p:nvPr/>
          </p:nvSpPr>
          <p:spPr>
            <a:xfrm>
              <a:off x="5626940" y="2061672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4" name="文字方塊 123"/>
            <p:cNvSpPr txBox="1"/>
            <p:nvPr/>
          </p:nvSpPr>
          <p:spPr>
            <a:xfrm>
              <a:off x="7255594" y="2061672"/>
              <a:ext cx="325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文字方塊 124"/>
            <p:cNvSpPr txBox="1"/>
            <p:nvPr/>
          </p:nvSpPr>
          <p:spPr>
            <a:xfrm>
              <a:off x="5973890" y="2061672"/>
              <a:ext cx="3385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6" name="文字方塊 125"/>
            <p:cNvSpPr txBox="1"/>
            <p:nvPr/>
          </p:nvSpPr>
          <p:spPr>
            <a:xfrm>
              <a:off x="6323285" y="2061672"/>
              <a:ext cx="3385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文字方塊 126"/>
            <p:cNvSpPr txBox="1"/>
            <p:nvPr/>
          </p:nvSpPr>
          <p:spPr>
            <a:xfrm>
              <a:off x="6616956" y="2061672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8" name="文字方塊 127"/>
            <p:cNvSpPr txBox="1"/>
            <p:nvPr/>
          </p:nvSpPr>
          <p:spPr>
            <a:xfrm>
              <a:off x="6910627" y="2061672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9" name="文字方塊 128"/>
            <p:cNvSpPr txBox="1"/>
            <p:nvPr/>
          </p:nvSpPr>
          <p:spPr>
            <a:xfrm>
              <a:off x="7568500" y="2061672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0" name="文字方塊 129"/>
            <p:cNvSpPr txBox="1"/>
            <p:nvPr/>
          </p:nvSpPr>
          <p:spPr>
            <a:xfrm>
              <a:off x="7862171" y="2061672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1" name="文字方塊 130"/>
            <p:cNvSpPr txBox="1"/>
            <p:nvPr/>
          </p:nvSpPr>
          <p:spPr>
            <a:xfrm>
              <a:off x="4929313" y="1623378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中序</a:t>
              </a:r>
              <a:endPara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32" name="直線單箭頭接點 131"/>
          <p:cNvCxnSpPr/>
          <p:nvPr/>
        </p:nvCxnSpPr>
        <p:spPr>
          <a:xfrm>
            <a:off x="2009488" y="5976802"/>
            <a:ext cx="0" cy="3688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單箭頭接點 132"/>
          <p:cNvCxnSpPr/>
          <p:nvPr/>
        </p:nvCxnSpPr>
        <p:spPr>
          <a:xfrm>
            <a:off x="2683162" y="5976802"/>
            <a:ext cx="0" cy="3688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單箭頭接點 133"/>
          <p:cNvCxnSpPr/>
          <p:nvPr/>
        </p:nvCxnSpPr>
        <p:spPr>
          <a:xfrm>
            <a:off x="4733223" y="5308292"/>
            <a:ext cx="0" cy="3688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單箭頭接點 134"/>
          <p:cNvCxnSpPr/>
          <p:nvPr/>
        </p:nvCxnSpPr>
        <p:spPr>
          <a:xfrm>
            <a:off x="5406897" y="5308292"/>
            <a:ext cx="0" cy="3688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單箭頭接點 135"/>
          <p:cNvCxnSpPr/>
          <p:nvPr/>
        </p:nvCxnSpPr>
        <p:spPr>
          <a:xfrm>
            <a:off x="7145281" y="5315316"/>
            <a:ext cx="0" cy="3688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線單箭頭接點 136"/>
          <p:cNvCxnSpPr/>
          <p:nvPr/>
        </p:nvCxnSpPr>
        <p:spPr>
          <a:xfrm>
            <a:off x="7818955" y="5315316"/>
            <a:ext cx="0" cy="3688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肘形接點 138"/>
          <p:cNvCxnSpPr>
            <a:stCxn id="36" idx="1"/>
          </p:cNvCxnSpPr>
          <p:nvPr/>
        </p:nvCxnSpPr>
        <p:spPr>
          <a:xfrm rot="10800000">
            <a:off x="1124525" y="3251314"/>
            <a:ext cx="208674" cy="1851978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肘形接點 140"/>
          <p:cNvCxnSpPr>
            <a:stCxn id="108" idx="3"/>
          </p:cNvCxnSpPr>
          <p:nvPr/>
        </p:nvCxnSpPr>
        <p:spPr>
          <a:xfrm flipV="1">
            <a:off x="7920294" y="3218412"/>
            <a:ext cx="508432" cy="1929450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肘形接點 143"/>
          <p:cNvCxnSpPr>
            <a:stCxn id="114" idx="1"/>
            <a:endCxn id="53" idx="2"/>
          </p:cNvCxnSpPr>
          <p:nvPr/>
        </p:nvCxnSpPr>
        <p:spPr>
          <a:xfrm rot="10800000">
            <a:off x="1786085" y="5304409"/>
            <a:ext cx="95510" cy="504178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肘形接點 146"/>
          <p:cNvCxnSpPr>
            <a:stCxn id="114" idx="3"/>
            <a:endCxn id="49" idx="2"/>
          </p:cNvCxnSpPr>
          <p:nvPr/>
        </p:nvCxnSpPr>
        <p:spPr>
          <a:xfrm flipH="1" flipV="1">
            <a:off x="2307843" y="4619408"/>
            <a:ext cx="479525" cy="1189179"/>
          </a:xfrm>
          <a:prstGeom prst="bentConnector4">
            <a:avLst>
              <a:gd name="adj1" fmla="val -27884"/>
              <a:gd name="adj2" fmla="val 64327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肘形接點 152"/>
          <p:cNvCxnSpPr>
            <a:stCxn id="24" idx="1"/>
          </p:cNvCxnSpPr>
          <p:nvPr/>
        </p:nvCxnSpPr>
        <p:spPr>
          <a:xfrm rot="10800000">
            <a:off x="3051282" y="3885535"/>
            <a:ext cx="85232" cy="556399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肘形接點 155"/>
          <p:cNvCxnSpPr>
            <a:stCxn id="20" idx="3"/>
          </p:cNvCxnSpPr>
          <p:nvPr/>
        </p:nvCxnSpPr>
        <p:spPr>
          <a:xfrm flipV="1">
            <a:off x="2759853" y="3888403"/>
            <a:ext cx="92398" cy="553530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肘形接點 164"/>
          <p:cNvCxnSpPr>
            <a:stCxn id="24" idx="3"/>
          </p:cNvCxnSpPr>
          <p:nvPr/>
        </p:nvCxnSpPr>
        <p:spPr>
          <a:xfrm flipV="1">
            <a:off x="4042287" y="3240620"/>
            <a:ext cx="481067" cy="1201313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肘形接點 171"/>
          <p:cNvCxnSpPr>
            <a:stCxn id="93" idx="1"/>
          </p:cNvCxnSpPr>
          <p:nvPr/>
        </p:nvCxnSpPr>
        <p:spPr>
          <a:xfrm rot="10800000" flipH="1">
            <a:off x="4613136" y="3237753"/>
            <a:ext cx="97121" cy="1902325"/>
          </a:xfrm>
          <a:prstGeom prst="bentConnector4">
            <a:avLst>
              <a:gd name="adj1" fmla="val -119908"/>
              <a:gd name="adj2" fmla="val 2948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肘形接點 176"/>
          <p:cNvCxnSpPr>
            <a:stCxn id="93" idx="3"/>
            <a:endCxn id="51" idx="2"/>
          </p:cNvCxnSpPr>
          <p:nvPr/>
        </p:nvCxnSpPr>
        <p:spPr>
          <a:xfrm flipV="1">
            <a:off x="5518910" y="4626599"/>
            <a:ext cx="96550" cy="513478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肘形接點 179"/>
          <p:cNvCxnSpPr>
            <a:stCxn id="108" idx="1"/>
            <a:endCxn id="52" idx="2"/>
          </p:cNvCxnSpPr>
          <p:nvPr/>
        </p:nvCxnSpPr>
        <p:spPr>
          <a:xfrm rot="10800000">
            <a:off x="6911153" y="4619408"/>
            <a:ext cx="103369" cy="528454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肘形接點 184"/>
          <p:cNvCxnSpPr>
            <a:stCxn id="28" idx="3"/>
          </p:cNvCxnSpPr>
          <p:nvPr/>
        </p:nvCxnSpPr>
        <p:spPr>
          <a:xfrm flipV="1">
            <a:off x="6056010" y="3899117"/>
            <a:ext cx="94397" cy="542816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肘形接點 191"/>
          <p:cNvCxnSpPr>
            <a:stCxn id="32" idx="1"/>
          </p:cNvCxnSpPr>
          <p:nvPr/>
        </p:nvCxnSpPr>
        <p:spPr>
          <a:xfrm rot="10800000">
            <a:off x="6377552" y="3901985"/>
            <a:ext cx="80715" cy="539948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9849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50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500"/>
                            </p:stCondLst>
                            <p:childTnLst>
                              <p:par>
                                <p:cTn id="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0"/>
                            </p:stCondLst>
                            <p:childTnLst>
                              <p:par>
                                <p:cTn id="72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500"/>
                            </p:stCondLst>
                            <p:childTnLst>
                              <p:par>
                                <p:cTn id="7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000"/>
                            </p:stCondLst>
                            <p:childTnLst>
                              <p:par>
                                <p:cTn id="80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6500"/>
                            </p:stCondLst>
                            <p:childTnLst>
                              <p:par>
                                <p:cTn id="8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7000"/>
                            </p:stCondLst>
                            <p:childTnLst>
                              <p:par>
                                <p:cTn id="88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500"/>
                            </p:stCondLst>
                            <p:childTnLst>
                              <p:par>
                                <p:cTn id="9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8000"/>
                            </p:stCondLst>
                            <p:childTnLst>
                              <p:par>
                                <p:cTn id="96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500"/>
                            </p:stCondLst>
                            <p:childTnLst>
                              <p:par>
                                <p:cTn id="10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引線二元樹 </a:t>
            </a:r>
            <a:r>
              <a:rPr lang="en-US" altLang="zh-TW" dirty="0" smtClean="0"/>
              <a:t>(2/5)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節點結構</a:t>
            </a:r>
            <a:endParaRPr lang="en-US" altLang="zh-TW" dirty="0" smtClean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28</a:t>
            </a:fld>
            <a:endParaRPr lang="en-US" dirty="0"/>
          </a:p>
        </p:txBody>
      </p:sp>
      <p:graphicFrame>
        <p:nvGraphicFramePr>
          <p:cNvPr id="138" name="表格 137"/>
          <p:cNvGraphicFramePr>
            <a:graphicFrameLocks noGrp="1"/>
          </p:cNvGraphicFramePr>
          <p:nvPr>
            <p:extLst/>
          </p:nvPr>
        </p:nvGraphicFramePr>
        <p:xfrm>
          <a:off x="2407972" y="1405506"/>
          <a:ext cx="4606549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7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1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4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  <a:latin typeface="+mj-lt"/>
                          <a:ea typeface="標楷體" panose="03000509000000000000" pitchFamily="65" charset="-12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  <a:latin typeface="+mj-lt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dirty="0">
                        <a:solidFill>
                          <a:srgbClr val="C00000"/>
                        </a:solidFill>
                        <a:latin typeface="+mj-lt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+mj-lt"/>
                          <a:ea typeface="標楷體" panose="03000509000000000000" pitchFamily="65" charset="-120"/>
                        </a:rPr>
                        <a:t>指向左子節點</a:t>
                      </a:r>
                      <a:endParaRPr lang="en-US" altLang="zh-TW" dirty="0" smtClean="0">
                        <a:solidFill>
                          <a:schemeClr val="tx1"/>
                        </a:solidFill>
                        <a:latin typeface="+mj-lt"/>
                        <a:ea typeface="標楷體" panose="03000509000000000000" pitchFamily="65" charset="-12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+mj-lt"/>
                          <a:ea typeface="標楷體" panose="03000509000000000000" pitchFamily="65" charset="-120"/>
                        </a:rPr>
                        <a:t>左引線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+mj-lt"/>
                          <a:ea typeface="標楷體" panose="03000509000000000000" pitchFamily="65" charset="-120"/>
                        </a:rPr>
                        <a:t>資料</a:t>
                      </a:r>
                      <a:endParaRPr lang="en-US" altLang="zh-TW" dirty="0" smtClean="0">
                        <a:solidFill>
                          <a:schemeClr val="tx1"/>
                        </a:solidFill>
                        <a:latin typeface="+mj-lt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+mj-lt"/>
                          <a:ea typeface="標楷體" panose="03000509000000000000" pitchFamily="65" charset="-120"/>
                        </a:rPr>
                        <a:t>欄位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+mj-lt"/>
                          <a:ea typeface="標楷體" panose="03000509000000000000" pitchFamily="65" charset="-120"/>
                        </a:rPr>
                        <a:t>指向右子節點</a:t>
                      </a:r>
                      <a:endParaRPr lang="en-US" altLang="zh-TW" dirty="0" smtClean="0">
                        <a:solidFill>
                          <a:schemeClr val="tx1"/>
                        </a:solidFill>
                        <a:latin typeface="+mj-lt"/>
                        <a:ea typeface="標楷體" panose="03000509000000000000" pitchFamily="65" charset="-12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+mj-lt"/>
                          <a:ea typeface="標楷體" panose="03000509000000000000" pitchFamily="65" charset="-120"/>
                        </a:rPr>
                        <a:t>右引線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  <a:latin typeface="+mj-lt"/>
                          <a:ea typeface="標楷體" panose="03000509000000000000" pitchFamily="65" charset="-12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  <a:latin typeface="+mj-lt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dirty="0">
                        <a:solidFill>
                          <a:srgbClr val="C00000"/>
                        </a:solidFill>
                        <a:latin typeface="+mj-lt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0" name="肘形接點 139"/>
          <p:cNvCxnSpPr>
            <a:stCxn id="154" idx="1"/>
            <a:endCxn id="161" idx="0"/>
          </p:cNvCxnSpPr>
          <p:nvPr/>
        </p:nvCxnSpPr>
        <p:spPr>
          <a:xfrm rot="10800000" flipV="1">
            <a:off x="2950639" y="3421820"/>
            <a:ext cx="1202786" cy="501775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肘形接點 141"/>
          <p:cNvCxnSpPr>
            <a:stCxn id="154" idx="3"/>
            <a:endCxn id="168" idx="0"/>
          </p:cNvCxnSpPr>
          <p:nvPr/>
        </p:nvCxnSpPr>
        <p:spPr>
          <a:xfrm>
            <a:off x="5059198" y="3421821"/>
            <a:ext cx="1191831" cy="501775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肘形接點 142"/>
          <p:cNvCxnSpPr>
            <a:stCxn id="161" idx="3"/>
            <a:endCxn id="181" idx="0"/>
          </p:cNvCxnSpPr>
          <p:nvPr/>
        </p:nvCxnSpPr>
        <p:spPr>
          <a:xfrm>
            <a:off x="3403525" y="4091811"/>
            <a:ext cx="185876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肘形接點 144"/>
          <p:cNvCxnSpPr>
            <a:stCxn id="161" idx="1"/>
            <a:endCxn id="175" idx="0"/>
          </p:cNvCxnSpPr>
          <p:nvPr/>
        </p:nvCxnSpPr>
        <p:spPr>
          <a:xfrm rot="10800000" flipV="1">
            <a:off x="2306968" y="4091810"/>
            <a:ext cx="190785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肘形接點 145"/>
          <p:cNvCxnSpPr>
            <a:stCxn id="175" idx="1"/>
            <a:endCxn id="199" idx="0"/>
          </p:cNvCxnSpPr>
          <p:nvPr/>
        </p:nvCxnSpPr>
        <p:spPr>
          <a:xfrm rot="10800000" flipV="1">
            <a:off x="1786086" y="4813557"/>
            <a:ext cx="67994" cy="493144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肘形接點 147"/>
          <p:cNvCxnSpPr>
            <a:stCxn id="168" idx="1"/>
            <a:endCxn id="187" idx="0"/>
          </p:cNvCxnSpPr>
          <p:nvPr/>
        </p:nvCxnSpPr>
        <p:spPr>
          <a:xfrm rot="10800000" flipV="1">
            <a:off x="5603124" y="4091810"/>
            <a:ext cx="195018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肘形接點 148"/>
          <p:cNvCxnSpPr>
            <a:stCxn id="168" idx="3"/>
            <a:endCxn id="193" idx="0"/>
          </p:cNvCxnSpPr>
          <p:nvPr/>
        </p:nvCxnSpPr>
        <p:spPr>
          <a:xfrm>
            <a:off x="6703915" y="4091811"/>
            <a:ext cx="207238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0" name="群組 149"/>
          <p:cNvGrpSpPr/>
          <p:nvPr/>
        </p:nvGrpSpPr>
        <p:grpSpPr>
          <a:xfrm>
            <a:off x="4153425" y="3237154"/>
            <a:ext cx="905773" cy="369332"/>
            <a:chOff x="4093043" y="3710878"/>
            <a:chExt cx="905773" cy="369332"/>
          </a:xfrm>
        </p:grpSpPr>
        <p:grpSp>
          <p:nvGrpSpPr>
            <p:cNvPr id="151" name="群組 150"/>
            <p:cNvGrpSpPr/>
            <p:nvPr/>
          </p:nvGrpSpPr>
          <p:grpSpPr>
            <a:xfrm>
              <a:off x="4093043" y="3727330"/>
              <a:ext cx="905773" cy="336430"/>
              <a:chOff x="698740" y="2536166"/>
              <a:chExt cx="905773" cy="336430"/>
            </a:xfrm>
          </p:grpSpPr>
          <p:sp>
            <p:nvSpPr>
              <p:cNvPr id="154" name="矩形 153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5" name="直線接點 154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線接點 156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2" name="文字方塊 151"/>
            <p:cNvSpPr txBox="1"/>
            <p:nvPr/>
          </p:nvSpPr>
          <p:spPr>
            <a:xfrm>
              <a:off x="4376411" y="3710878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8" name="群組 157"/>
          <p:cNvGrpSpPr/>
          <p:nvPr/>
        </p:nvGrpSpPr>
        <p:grpSpPr>
          <a:xfrm>
            <a:off x="2497752" y="3890694"/>
            <a:ext cx="905773" cy="369332"/>
            <a:chOff x="3110198" y="4364418"/>
            <a:chExt cx="905773" cy="369332"/>
          </a:xfrm>
        </p:grpSpPr>
        <p:grpSp>
          <p:nvGrpSpPr>
            <p:cNvPr id="159" name="群組 158"/>
            <p:cNvGrpSpPr/>
            <p:nvPr/>
          </p:nvGrpSpPr>
          <p:grpSpPr>
            <a:xfrm>
              <a:off x="3110198" y="4397320"/>
              <a:ext cx="905773" cy="336430"/>
              <a:chOff x="698740" y="2536166"/>
              <a:chExt cx="905773" cy="336430"/>
            </a:xfrm>
          </p:grpSpPr>
          <p:sp>
            <p:nvSpPr>
              <p:cNvPr id="161" name="矩形 160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2" name="直線接點 161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線接點 162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0" name="文字方塊 159"/>
            <p:cNvSpPr txBox="1"/>
            <p:nvPr/>
          </p:nvSpPr>
          <p:spPr>
            <a:xfrm>
              <a:off x="3387395" y="4364418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4" name="群組 163"/>
          <p:cNvGrpSpPr/>
          <p:nvPr/>
        </p:nvGrpSpPr>
        <p:grpSpPr>
          <a:xfrm>
            <a:off x="5798142" y="3907145"/>
            <a:ext cx="905773" cy="369332"/>
            <a:chOff x="5125314" y="4380869"/>
            <a:chExt cx="905773" cy="369332"/>
          </a:xfrm>
        </p:grpSpPr>
        <p:grpSp>
          <p:nvGrpSpPr>
            <p:cNvPr id="166" name="群組 165"/>
            <p:cNvGrpSpPr/>
            <p:nvPr/>
          </p:nvGrpSpPr>
          <p:grpSpPr>
            <a:xfrm>
              <a:off x="5125314" y="4397320"/>
              <a:ext cx="905773" cy="336430"/>
              <a:chOff x="698740" y="2536166"/>
              <a:chExt cx="905773" cy="336430"/>
            </a:xfrm>
          </p:grpSpPr>
          <p:sp>
            <p:nvSpPr>
              <p:cNvPr id="168" name="矩形 167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9" name="直線接點 168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直線接點 169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7" name="文字方塊 166"/>
            <p:cNvSpPr txBox="1"/>
            <p:nvPr/>
          </p:nvSpPr>
          <p:spPr>
            <a:xfrm>
              <a:off x="5411137" y="4380869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1" name="群組 170"/>
          <p:cNvGrpSpPr/>
          <p:nvPr/>
        </p:nvGrpSpPr>
        <p:grpSpPr>
          <a:xfrm>
            <a:off x="1854080" y="4621700"/>
            <a:ext cx="905773" cy="369332"/>
            <a:chOff x="2578664" y="5095424"/>
            <a:chExt cx="905773" cy="369332"/>
          </a:xfrm>
        </p:grpSpPr>
        <p:grpSp>
          <p:nvGrpSpPr>
            <p:cNvPr id="173" name="群組 172"/>
            <p:cNvGrpSpPr/>
            <p:nvPr/>
          </p:nvGrpSpPr>
          <p:grpSpPr>
            <a:xfrm>
              <a:off x="2578664" y="5119066"/>
              <a:ext cx="905773" cy="336430"/>
              <a:chOff x="698740" y="2536166"/>
              <a:chExt cx="905773" cy="336430"/>
            </a:xfrm>
          </p:grpSpPr>
          <p:sp>
            <p:nvSpPr>
              <p:cNvPr id="175" name="矩形 174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6" name="直線接點 175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線接點 176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4" name="文字方塊 173"/>
            <p:cNvSpPr txBox="1"/>
            <p:nvPr/>
          </p:nvSpPr>
          <p:spPr>
            <a:xfrm>
              <a:off x="2856738" y="5095424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8" name="群組 177"/>
          <p:cNvGrpSpPr/>
          <p:nvPr/>
        </p:nvGrpSpPr>
        <p:grpSpPr>
          <a:xfrm>
            <a:off x="3136514" y="4613915"/>
            <a:ext cx="905773" cy="369332"/>
            <a:chOff x="3628196" y="5087639"/>
            <a:chExt cx="905773" cy="369332"/>
          </a:xfrm>
        </p:grpSpPr>
        <p:grpSp>
          <p:nvGrpSpPr>
            <p:cNvPr id="179" name="群組 178"/>
            <p:cNvGrpSpPr/>
            <p:nvPr/>
          </p:nvGrpSpPr>
          <p:grpSpPr>
            <a:xfrm>
              <a:off x="3628196" y="5119066"/>
              <a:ext cx="905773" cy="336430"/>
              <a:chOff x="698740" y="2536166"/>
              <a:chExt cx="905773" cy="336430"/>
            </a:xfrm>
          </p:grpSpPr>
          <p:sp>
            <p:nvSpPr>
              <p:cNvPr id="181" name="矩形 180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2" name="直線接點 181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線接點 182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0" name="文字方塊 179"/>
            <p:cNvSpPr txBox="1"/>
            <p:nvPr/>
          </p:nvSpPr>
          <p:spPr>
            <a:xfrm>
              <a:off x="3905393" y="5087639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" name="群組 183"/>
          <p:cNvGrpSpPr/>
          <p:nvPr/>
        </p:nvGrpSpPr>
        <p:grpSpPr>
          <a:xfrm>
            <a:off x="5150237" y="4628891"/>
            <a:ext cx="905773" cy="369332"/>
            <a:chOff x="4606799" y="5102615"/>
            <a:chExt cx="905773" cy="369332"/>
          </a:xfrm>
        </p:grpSpPr>
        <p:grpSp>
          <p:nvGrpSpPr>
            <p:cNvPr id="185" name="群組 184"/>
            <p:cNvGrpSpPr/>
            <p:nvPr/>
          </p:nvGrpSpPr>
          <p:grpSpPr>
            <a:xfrm>
              <a:off x="4606799" y="5119066"/>
              <a:ext cx="905773" cy="336430"/>
              <a:chOff x="698740" y="2536166"/>
              <a:chExt cx="905773" cy="336430"/>
            </a:xfrm>
          </p:grpSpPr>
          <p:sp>
            <p:nvSpPr>
              <p:cNvPr id="187" name="矩形 186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8" name="直線接點 187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線接點 188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6" name="文字方塊 185"/>
            <p:cNvSpPr txBox="1"/>
            <p:nvPr/>
          </p:nvSpPr>
          <p:spPr>
            <a:xfrm>
              <a:off x="4909157" y="5102615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0" name="群組 189"/>
          <p:cNvGrpSpPr/>
          <p:nvPr/>
        </p:nvGrpSpPr>
        <p:grpSpPr>
          <a:xfrm>
            <a:off x="6458266" y="4621700"/>
            <a:ext cx="905773" cy="369332"/>
            <a:chOff x="5656048" y="5095424"/>
            <a:chExt cx="905773" cy="369332"/>
          </a:xfrm>
        </p:grpSpPr>
        <p:grpSp>
          <p:nvGrpSpPr>
            <p:cNvPr id="191" name="群組 190"/>
            <p:cNvGrpSpPr/>
            <p:nvPr/>
          </p:nvGrpSpPr>
          <p:grpSpPr>
            <a:xfrm>
              <a:off x="5656048" y="5119066"/>
              <a:ext cx="905773" cy="336430"/>
              <a:chOff x="698740" y="2536166"/>
              <a:chExt cx="905773" cy="336430"/>
            </a:xfrm>
          </p:grpSpPr>
          <p:sp>
            <p:nvSpPr>
              <p:cNvPr id="193" name="矩形 192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4" name="直線接點 193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直線接點 194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2" name="文字方塊 191"/>
            <p:cNvSpPr txBox="1"/>
            <p:nvPr/>
          </p:nvSpPr>
          <p:spPr>
            <a:xfrm>
              <a:off x="5926832" y="5095424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6" name="群組 195"/>
          <p:cNvGrpSpPr/>
          <p:nvPr/>
        </p:nvGrpSpPr>
        <p:grpSpPr>
          <a:xfrm>
            <a:off x="1333199" y="5306701"/>
            <a:ext cx="905773" cy="369332"/>
            <a:chOff x="2057783" y="5780425"/>
            <a:chExt cx="905773" cy="369332"/>
          </a:xfrm>
        </p:grpSpPr>
        <p:grpSp>
          <p:nvGrpSpPr>
            <p:cNvPr id="197" name="群組 196"/>
            <p:cNvGrpSpPr/>
            <p:nvPr/>
          </p:nvGrpSpPr>
          <p:grpSpPr>
            <a:xfrm>
              <a:off x="2057783" y="5780425"/>
              <a:ext cx="905773" cy="336430"/>
              <a:chOff x="698740" y="2536166"/>
              <a:chExt cx="905773" cy="336430"/>
            </a:xfrm>
          </p:grpSpPr>
          <p:sp>
            <p:nvSpPr>
              <p:cNvPr id="199" name="矩形 198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0" name="直線接點 199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直線接點 200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8" name="文字方塊 197"/>
            <p:cNvSpPr txBox="1"/>
            <p:nvPr/>
          </p:nvSpPr>
          <p:spPr>
            <a:xfrm>
              <a:off x="2360627" y="5780425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8" name="群組 207"/>
          <p:cNvGrpSpPr/>
          <p:nvPr/>
        </p:nvGrpSpPr>
        <p:grpSpPr>
          <a:xfrm>
            <a:off x="4613137" y="5343486"/>
            <a:ext cx="905773" cy="369332"/>
            <a:chOff x="2057783" y="5780425"/>
            <a:chExt cx="905773" cy="369332"/>
          </a:xfrm>
        </p:grpSpPr>
        <p:grpSp>
          <p:nvGrpSpPr>
            <p:cNvPr id="209" name="群組 208"/>
            <p:cNvGrpSpPr/>
            <p:nvPr/>
          </p:nvGrpSpPr>
          <p:grpSpPr>
            <a:xfrm>
              <a:off x="2057783" y="5780425"/>
              <a:ext cx="905773" cy="336430"/>
              <a:chOff x="698740" y="2536166"/>
              <a:chExt cx="905773" cy="336430"/>
            </a:xfrm>
          </p:grpSpPr>
          <p:sp>
            <p:nvSpPr>
              <p:cNvPr id="211" name="矩形 210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12" name="直線接點 211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直線接點 212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0" name="文字方塊 209"/>
            <p:cNvSpPr txBox="1"/>
            <p:nvPr/>
          </p:nvSpPr>
          <p:spPr>
            <a:xfrm>
              <a:off x="2328567" y="5780425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4" name="群組 213"/>
          <p:cNvGrpSpPr/>
          <p:nvPr/>
        </p:nvGrpSpPr>
        <p:grpSpPr>
          <a:xfrm>
            <a:off x="7014521" y="5351271"/>
            <a:ext cx="905773" cy="369332"/>
            <a:chOff x="2057783" y="5780425"/>
            <a:chExt cx="905773" cy="369332"/>
          </a:xfrm>
        </p:grpSpPr>
        <p:grpSp>
          <p:nvGrpSpPr>
            <p:cNvPr id="215" name="群組 214"/>
            <p:cNvGrpSpPr/>
            <p:nvPr/>
          </p:nvGrpSpPr>
          <p:grpSpPr>
            <a:xfrm>
              <a:off x="2057783" y="5780425"/>
              <a:ext cx="905773" cy="336430"/>
              <a:chOff x="698740" y="2536166"/>
              <a:chExt cx="905773" cy="336430"/>
            </a:xfrm>
          </p:grpSpPr>
          <p:sp>
            <p:nvSpPr>
              <p:cNvPr id="217" name="矩形 216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18" name="直線接點 217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直線接點 218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6" name="文字方塊 215"/>
            <p:cNvSpPr txBox="1"/>
            <p:nvPr/>
          </p:nvSpPr>
          <p:spPr>
            <a:xfrm>
              <a:off x="2382077" y="5780425"/>
              <a:ext cx="2744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0" name="群組 219"/>
          <p:cNvGrpSpPr/>
          <p:nvPr/>
        </p:nvGrpSpPr>
        <p:grpSpPr>
          <a:xfrm>
            <a:off x="1881595" y="6011996"/>
            <a:ext cx="905773" cy="369332"/>
            <a:chOff x="2057783" y="5780425"/>
            <a:chExt cx="905773" cy="369332"/>
          </a:xfrm>
        </p:grpSpPr>
        <p:grpSp>
          <p:nvGrpSpPr>
            <p:cNvPr id="221" name="群組 220"/>
            <p:cNvGrpSpPr/>
            <p:nvPr/>
          </p:nvGrpSpPr>
          <p:grpSpPr>
            <a:xfrm>
              <a:off x="2057783" y="5780425"/>
              <a:ext cx="905773" cy="336430"/>
              <a:chOff x="698740" y="2536166"/>
              <a:chExt cx="905773" cy="336430"/>
            </a:xfrm>
          </p:grpSpPr>
          <p:sp>
            <p:nvSpPr>
              <p:cNvPr id="223" name="矩形 222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24" name="直線接點 223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直線接點 224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2" name="文字方塊 221"/>
            <p:cNvSpPr txBox="1"/>
            <p:nvPr/>
          </p:nvSpPr>
          <p:spPr>
            <a:xfrm>
              <a:off x="2328567" y="5780425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26" name="肘形接點 225"/>
          <p:cNvCxnSpPr>
            <a:stCxn id="187" idx="1"/>
            <a:endCxn id="211" idx="0"/>
          </p:cNvCxnSpPr>
          <p:nvPr/>
        </p:nvCxnSpPr>
        <p:spPr>
          <a:xfrm rot="10800000" flipV="1">
            <a:off x="5066025" y="4813556"/>
            <a:ext cx="84213" cy="529929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肘形接點 226"/>
          <p:cNvCxnSpPr>
            <a:stCxn id="193" idx="3"/>
            <a:endCxn id="216" idx="0"/>
          </p:cNvCxnSpPr>
          <p:nvPr/>
        </p:nvCxnSpPr>
        <p:spPr>
          <a:xfrm>
            <a:off x="7364039" y="4813557"/>
            <a:ext cx="111994" cy="537714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肘形接點 227"/>
          <p:cNvCxnSpPr>
            <a:stCxn id="199" idx="3"/>
            <a:endCxn id="222" idx="0"/>
          </p:cNvCxnSpPr>
          <p:nvPr/>
        </p:nvCxnSpPr>
        <p:spPr>
          <a:xfrm>
            <a:off x="2238972" y="5474916"/>
            <a:ext cx="95509" cy="537080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肘形接點 234"/>
          <p:cNvCxnSpPr>
            <a:stCxn id="199" idx="1"/>
            <a:endCxn id="250" idx="1"/>
          </p:cNvCxnSpPr>
          <p:nvPr/>
        </p:nvCxnSpPr>
        <p:spPr>
          <a:xfrm rot="10800000" flipH="1">
            <a:off x="1333199" y="2771962"/>
            <a:ext cx="2826396" cy="2702954"/>
          </a:xfrm>
          <a:prstGeom prst="bentConnector3">
            <a:avLst>
              <a:gd name="adj1" fmla="val -8088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肘形接點 235"/>
          <p:cNvCxnSpPr>
            <a:stCxn id="217" idx="3"/>
            <a:endCxn id="250" idx="3"/>
          </p:cNvCxnSpPr>
          <p:nvPr/>
        </p:nvCxnSpPr>
        <p:spPr>
          <a:xfrm flipH="1" flipV="1">
            <a:off x="5065368" y="2771962"/>
            <a:ext cx="2854926" cy="2747524"/>
          </a:xfrm>
          <a:prstGeom prst="bentConnector3">
            <a:avLst>
              <a:gd name="adj1" fmla="val -8007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肘形接點 236"/>
          <p:cNvCxnSpPr>
            <a:stCxn id="223" idx="1"/>
            <a:endCxn id="198" idx="2"/>
          </p:cNvCxnSpPr>
          <p:nvPr/>
        </p:nvCxnSpPr>
        <p:spPr>
          <a:xfrm rot="10800000">
            <a:off x="1786085" y="5676033"/>
            <a:ext cx="95510" cy="504178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肘形接點 237"/>
          <p:cNvCxnSpPr>
            <a:stCxn id="223" idx="3"/>
            <a:endCxn id="174" idx="2"/>
          </p:cNvCxnSpPr>
          <p:nvPr/>
        </p:nvCxnSpPr>
        <p:spPr>
          <a:xfrm flipH="1" flipV="1">
            <a:off x="2307843" y="4991032"/>
            <a:ext cx="479525" cy="1189179"/>
          </a:xfrm>
          <a:prstGeom prst="bentConnector4">
            <a:avLst>
              <a:gd name="adj1" fmla="val -27884"/>
              <a:gd name="adj2" fmla="val 64327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肘形接點 238"/>
          <p:cNvCxnSpPr>
            <a:stCxn id="181" idx="1"/>
          </p:cNvCxnSpPr>
          <p:nvPr/>
        </p:nvCxnSpPr>
        <p:spPr>
          <a:xfrm rot="10800000">
            <a:off x="3051282" y="4257159"/>
            <a:ext cx="85232" cy="556399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肘形接點 239"/>
          <p:cNvCxnSpPr>
            <a:stCxn id="175" idx="3"/>
          </p:cNvCxnSpPr>
          <p:nvPr/>
        </p:nvCxnSpPr>
        <p:spPr>
          <a:xfrm flipV="1">
            <a:off x="2759853" y="4260027"/>
            <a:ext cx="92398" cy="553530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肘形接點 240"/>
          <p:cNvCxnSpPr>
            <a:stCxn id="181" idx="3"/>
          </p:cNvCxnSpPr>
          <p:nvPr/>
        </p:nvCxnSpPr>
        <p:spPr>
          <a:xfrm flipV="1">
            <a:off x="4042287" y="3612244"/>
            <a:ext cx="481067" cy="1201313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肘形接點 241"/>
          <p:cNvCxnSpPr>
            <a:stCxn id="211" idx="1"/>
          </p:cNvCxnSpPr>
          <p:nvPr/>
        </p:nvCxnSpPr>
        <p:spPr>
          <a:xfrm rot="10800000" flipH="1">
            <a:off x="4613136" y="3609377"/>
            <a:ext cx="97121" cy="1902325"/>
          </a:xfrm>
          <a:prstGeom prst="bentConnector4">
            <a:avLst>
              <a:gd name="adj1" fmla="val -119908"/>
              <a:gd name="adj2" fmla="val 2948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肘形接點 242"/>
          <p:cNvCxnSpPr>
            <a:stCxn id="211" idx="3"/>
            <a:endCxn id="186" idx="2"/>
          </p:cNvCxnSpPr>
          <p:nvPr/>
        </p:nvCxnSpPr>
        <p:spPr>
          <a:xfrm flipV="1">
            <a:off x="5518910" y="4998223"/>
            <a:ext cx="96550" cy="513478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肘形接點 243"/>
          <p:cNvCxnSpPr>
            <a:stCxn id="217" idx="1"/>
            <a:endCxn id="192" idx="2"/>
          </p:cNvCxnSpPr>
          <p:nvPr/>
        </p:nvCxnSpPr>
        <p:spPr>
          <a:xfrm rot="10800000">
            <a:off x="6911153" y="4991032"/>
            <a:ext cx="103369" cy="528454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肘形接點 244"/>
          <p:cNvCxnSpPr>
            <a:stCxn id="187" idx="3"/>
          </p:cNvCxnSpPr>
          <p:nvPr/>
        </p:nvCxnSpPr>
        <p:spPr>
          <a:xfrm flipV="1">
            <a:off x="6056010" y="4270741"/>
            <a:ext cx="94397" cy="542816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肘形接點 245"/>
          <p:cNvCxnSpPr>
            <a:stCxn id="193" idx="1"/>
          </p:cNvCxnSpPr>
          <p:nvPr/>
        </p:nvCxnSpPr>
        <p:spPr>
          <a:xfrm rot="10800000">
            <a:off x="6377552" y="4273609"/>
            <a:ext cx="80715" cy="539948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8" name="群組 247"/>
          <p:cNvGrpSpPr/>
          <p:nvPr/>
        </p:nvGrpSpPr>
        <p:grpSpPr>
          <a:xfrm>
            <a:off x="4159595" y="2603747"/>
            <a:ext cx="905773" cy="336430"/>
            <a:chOff x="698740" y="2536166"/>
            <a:chExt cx="905773" cy="336430"/>
          </a:xfrm>
        </p:grpSpPr>
        <p:sp>
          <p:nvSpPr>
            <p:cNvPr id="250" name="矩形 249"/>
            <p:cNvSpPr/>
            <p:nvPr/>
          </p:nvSpPr>
          <p:spPr>
            <a:xfrm>
              <a:off x="698740" y="2536166"/>
              <a:ext cx="905773" cy="3364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51" name="直線接點 250"/>
            <p:cNvCxnSpPr/>
            <p:nvPr/>
          </p:nvCxnSpPr>
          <p:spPr>
            <a:xfrm>
              <a:off x="944603" y="2536166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線接點 251"/>
            <p:cNvCxnSpPr/>
            <p:nvPr/>
          </p:nvCxnSpPr>
          <p:spPr>
            <a:xfrm>
              <a:off x="1367277" y="2536166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直線接點 252"/>
          <p:cNvCxnSpPr/>
          <p:nvPr/>
        </p:nvCxnSpPr>
        <p:spPr>
          <a:xfrm>
            <a:off x="4281826" y="2609505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線接點 253"/>
          <p:cNvCxnSpPr/>
          <p:nvPr/>
        </p:nvCxnSpPr>
        <p:spPr>
          <a:xfrm>
            <a:off x="4954654" y="2609505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線接點 254"/>
          <p:cNvCxnSpPr/>
          <p:nvPr/>
        </p:nvCxnSpPr>
        <p:spPr>
          <a:xfrm>
            <a:off x="4281826" y="3253606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線接點 255"/>
          <p:cNvCxnSpPr/>
          <p:nvPr/>
        </p:nvCxnSpPr>
        <p:spPr>
          <a:xfrm>
            <a:off x="4954654" y="3253606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線接點 256"/>
          <p:cNvCxnSpPr/>
          <p:nvPr/>
        </p:nvCxnSpPr>
        <p:spPr>
          <a:xfrm>
            <a:off x="2614053" y="3922795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線接點 257"/>
          <p:cNvCxnSpPr/>
          <p:nvPr/>
        </p:nvCxnSpPr>
        <p:spPr>
          <a:xfrm>
            <a:off x="3286881" y="3922795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線接點 258"/>
          <p:cNvCxnSpPr/>
          <p:nvPr/>
        </p:nvCxnSpPr>
        <p:spPr>
          <a:xfrm>
            <a:off x="1975858" y="4644541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線接點 259"/>
          <p:cNvCxnSpPr/>
          <p:nvPr/>
        </p:nvCxnSpPr>
        <p:spPr>
          <a:xfrm>
            <a:off x="2648686" y="4644541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線接點 260"/>
          <p:cNvCxnSpPr/>
          <p:nvPr/>
        </p:nvCxnSpPr>
        <p:spPr>
          <a:xfrm>
            <a:off x="1449486" y="5306701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線接點 261"/>
          <p:cNvCxnSpPr/>
          <p:nvPr/>
        </p:nvCxnSpPr>
        <p:spPr>
          <a:xfrm>
            <a:off x="2122314" y="5306701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線接點 262"/>
          <p:cNvCxnSpPr/>
          <p:nvPr/>
        </p:nvCxnSpPr>
        <p:spPr>
          <a:xfrm>
            <a:off x="3252377" y="4644541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直線接點 263"/>
          <p:cNvCxnSpPr/>
          <p:nvPr/>
        </p:nvCxnSpPr>
        <p:spPr>
          <a:xfrm>
            <a:off x="3925205" y="4644541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線接點 264"/>
          <p:cNvCxnSpPr/>
          <p:nvPr/>
        </p:nvCxnSpPr>
        <p:spPr>
          <a:xfrm>
            <a:off x="5917969" y="392359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線接點 265"/>
          <p:cNvCxnSpPr/>
          <p:nvPr/>
        </p:nvCxnSpPr>
        <p:spPr>
          <a:xfrm>
            <a:off x="6590797" y="392359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線接點 266"/>
          <p:cNvCxnSpPr/>
          <p:nvPr/>
        </p:nvCxnSpPr>
        <p:spPr>
          <a:xfrm>
            <a:off x="5273297" y="4645976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直線接點 267"/>
          <p:cNvCxnSpPr/>
          <p:nvPr/>
        </p:nvCxnSpPr>
        <p:spPr>
          <a:xfrm>
            <a:off x="5946125" y="4645976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直線接點 268"/>
          <p:cNvCxnSpPr/>
          <p:nvPr/>
        </p:nvCxnSpPr>
        <p:spPr>
          <a:xfrm>
            <a:off x="6590797" y="4644541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線接點 269"/>
          <p:cNvCxnSpPr/>
          <p:nvPr/>
        </p:nvCxnSpPr>
        <p:spPr>
          <a:xfrm>
            <a:off x="7263625" y="4644541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線接點 270"/>
          <p:cNvCxnSpPr/>
          <p:nvPr/>
        </p:nvCxnSpPr>
        <p:spPr>
          <a:xfrm>
            <a:off x="4736135" y="5342685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線接點 271"/>
          <p:cNvCxnSpPr/>
          <p:nvPr/>
        </p:nvCxnSpPr>
        <p:spPr>
          <a:xfrm>
            <a:off x="5408963" y="5342685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線接點 272"/>
          <p:cNvCxnSpPr/>
          <p:nvPr/>
        </p:nvCxnSpPr>
        <p:spPr>
          <a:xfrm>
            <a:off x="7135429" y="5351311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線接點 273"/>
          <p:cNvCxnSpPr/>
          <p:nvPr/>
        </p:nvCxnSpPr>
        <p:spPr>
          <a:xfrm>
            <a:off x="7808257" y="5351311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線接點 274"/>
          <p:cNvCxnSpPr/>
          <p:nvPr/>
        </p:nvCxnSpPr>
        <p:spPr>
          <a:xfrm>
            <a:off x="2001985" y="6011996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線接點 275"/>
          <p:cNvCxnSpPr/>
          <p:nvPr/>
        </p:nvCxnSpPr>
        <p:spPr>
          <a:xfrm>
            <a:off x="2674813" y="6011996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 flipV="1">
            <a:off x="4436793" y="2609505"/>
            <a:ext cx="391339" cy="33067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肘形接點 276"/>
          <p:cNvCxnSpPr/>
          <p:nvPr/>
        </p:nvCxnSpPr>
        <p:spPr>
          <a:xfrm rot="16200000" flipH="1" flipV="1">
            <a:off x="4742088" y="2469121"/>
            <a:ext cx="23642" cy="252000"/>
          </a:xfrm>
          <a:prstGeom prst="bentConnector3">
            <a:avLst>
              <a:gd name="adj1" fmla="val -966923"/>
            </a:avLst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肘形接點 277"/>
          <p:cNvCxnSpPr>
            <a:endCxn id="154" idx="0"/>
          </p:cNvCxnSpPr>
          <p:nvPr/>
        </p:nvCxnSpPr>
        <p:spPr>
          <a:xfrm rot="16200000" flipH="1">
            <a:off x="4287355" y="2934648"/>
            <a:ext cx="313429" cy="324486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文字方塊 282"/>
          <p:cNvSpPr txBox="1"/>
          <p:nvPr/>
        </p:nvSpPr>
        <p:spPr>
          <a:xfrm>
            <a:off x="7164288" y="1365480"/>
            <a:ext cx="14879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1: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正常指標</a:t>
            </a:r>
            <a:endParaRPr lang="en-US" altLang="zh-TW" sz="2000" b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0: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引線</a:t>
            </a:r>
            <a:endParaRPr lang="en-US" altLang="zh-TW" sz="2000" b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3925205" y="6093296"/>
            <a:ext cx="4943982" cy="400110"/>
          </a:xfrm>
          <a:prstGeom prst="rect">
            <a:avLst/>
          </a:prstGeom>
          <a:solidFill>
            <a:srgbClr val="FFFFCC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+mj-lt"/>
                <a:ea typeface="標楷體" panose="03000509000000000000" pitchFamily="65" charset="-120"/>
              </a:rPr>
              <a:t>注意：</a:t>
            </a:r>
            <a:r>
              <a:rPr lang="en-US" altLang="zh-TW" sz="2000" b="1" dirty="0" smtClean="0">
                <a:latin typeface="+mj-lt"/>
                <a:ea typeface="標楷體" panose="03000509000000000000" pitchFamily="65" charset="-120"/>
              </a:rPr>
              <a:t>0</a:t>
            </a:r>
            <a:r>
              <a:rPr lang="zh-TW" altLang="en-US" sz="2000" b="1" dirty="0" smtClean="0">
                <a:latin typeface="+mj-lt"/>
                <a:ea typeface="標楷體" panose="03000509000000000000" pitchFamily="65" charset="-120"/>
              </a:rPr>
              <a:t>代表正常指標或引線是由自己設定</a:t>
            </a:r>
            <a:endParaRPr lang="zh-TW" altLang="en-US" sz="2000" b="1" dirty="0">
              <a:latin typeface="+mj-lt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3181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引線二元</a:t>
            </a:r>
            <a:r>
              <a:rPr lang="zh-TW" altLang="en-US" dirty="0" smtClean="0"/>
              <a:t>樹 </a:t>
            </a:r>
            <a:r>
              <a:rPr lang="en-US" altLang="zh-TW" dirty="0" smtClean="0"/>
              <a:t>(3/5)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3"/>
            <a:ext cx="8826061" cy="525478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TW" altLang="en-US" dirty="0" smtClean="0"/>
              <a:t>中序走訪</a:t>
            </a:r>
            <a:endParaRPr lang="en-US" altLang="zh-TW" dirty="0" smtClean="0"/>
          </a:p>
          <a:p>
            <a:pPr lvl="1"/>
            <a:r>
              <a:rPr lang="zh-TW" altLang="en-US" dirty="0" smtClean="0">
                <a:solidFill>
                  <a:srgbClr val="C00000"/>
                </a:solidFill>
              </a:rPr>
              <a:t>右引線</a:t>
            </a:r>
            <a:r>
              <a:rPr lang="zh-TW" altLang="en-US" dirty="0" smtClean="0"/>
              <a:t>指的就是立即後繼者</a:t>
            </a:r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r>
              <a:rPr lang="zh-TW" altLang="en-US" dirty="0" smtClean="0">
                <a:solidFill>
                  <a:srgbClr val="C00000"/>
                </a:solidFill>
              </a:rPr>
              <a:t>右指標</a:t>
            </a:r>
            <a:r>
              <a:rPr lang="zh-TW" altLang="en-US" dirty="0" smtClean="0"/>
              <a:t>：往右一步，一路向左直到</a:t>
            </a:r>
            <a:r>
              <a:rPr lang="zh-TW" altLang="en-US" dirty="0" smtClean="0">
                <a:solidFill>
                  <a:srgbClr val="C00000"/>
                </a:solidFill>
              </a:rPr>
              <a:t>左引線</a:t>
            </a:r>
            <a:r>
              <a:rPr lang="zh-TW" altLang="en-US" dirty="0" smtClean="0"/>
              <a:t>為止。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29</a:t>
            </a:fld>
            <a:endParaRPr lang="en-US" dirty="0"/>
          </a:p>
        </p:txBody>
      </p:sp>
      <p:cxnSp>
        <p:nvCxnSpPr>
          <p:cNvPr id="7" name="肘形接點 6"/>
          <p:cNvCxnSpPr>
            <a:stCxn id="17" idx="1"/>
            <a:endCxn id="23" idx="0"/>
          </p:cNvCxnSpPr>
          <p:nvPr/>
        </p:nvCxnSpPr>
        <p:spPr>
          <a:xfrm rot="10800000" flipV="1">
            <a:off x="2950639" y="3050196"/>
            <a:ext cx="1202786" cy="501775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肘形接點 7"/>
          <p:cNvCxnSpPr>
            <a:stCxn id="17" idx="3"/>
            <a:endCxn id="29" idx="0"/>
          </p:cNvCxnSpPr>
          <p:nvPr/>
        </p:nvCxnSpPr>
        <p:spPr>
          <a:xfrm>
            <a:off x="5059198" y="3050197"/>
            <a:ext cx="1191831" cy="501775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肘形接點 8"/>
          <p:cNvCxnSpPr>
            <a:stCxn id="23" idx="3"/>
            <a:endCxn id="41" idx="0"/>
          </p:cNvCxnSpPr>
          <p:nvPr/>
        </p:nvCxnSpPr>
        <p:spPr>
          <a:xfrm>
            <a:off x="3403525" y="3720187"/>
            <a:ext cx="185876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肘形接點 9"/>
          <p:cNvCxnSpPr>
            <a:stCxn id="23" idx="1"/>
            <a:endCxn id="35" idx="0"/>
          </p:cNvCxnSpPr>
          <p:nvPr/>
        </p:nvCxnSpPr>
        <p:spPr>
          <a:xfrm rot="10800000" flipV="1">
            <a:off x="2306968" y="3720186"/>
            <a:ext cx="190785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肘形接點 10"/>
          <p:cNvCxnSpPr>
            <a:stCxn id="35" idx="1"/>
            <a:endCxn id="59" idx="0"/>
          </p:cNvCxnSpPr>
          <p:nvPr/>
        </p:nvCxnSpPr>
        <p:spPr>
          <a:xfrm rot="10800000" flipV="1">
            <a:off x="1786086" y="4441933"/>
            <a:ext cx="67994" cy="493144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肘形接點 11"/>
          <p:cNvCxnSpPr>
            <a:stCxn id="29" idx="1"/>
            <a:endCxn id="47" idx="0"/>
          </p:cNvCxnSpPr>
          <p:nvPr/>
        </p:nvCxnSpPr>
        <p:spPr>
          <a:xfrm rot="10800000" flipV="1">
            <a:off x="5603124" y="3720186"/>
            <a:ext cx="195018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肘形接點 12"/>
          <p:cNvCxnSpPr>
            <a:stCxn id="29" idx="3"/>
            <a:endCxn id="53" idx="0"/>
          </p:cNvCxnSpPr>
          <p:nvPr/>
        </p:nvCxnSpPr>
        <p:spPr>
          <a:xfrm>
            <a:off x="6703915" y="3720187"/>
            <a:ext cx="207238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群組 13"/>
          <p:cNvGrpSpPr/>
          <p:nvPr/>
        </p:nvGrpSpPr>
        <p:grpSpPr>
          <a:xfrm>
            <a:off x="4153425" y="2865530"/>
            <a:ext cx="905773" cy="369332"/>
            <a:chOff x="4093043" y="3710878"/>
            <a:chExt cx="905773" cy="369332"/>
          </a:xfrm>
        </p:grpSpPr>
        <p:grpSp>
          <p:nvGrpSpPr>
            <p:cNvPr id="15" name="群組 14"/>
            <p:cNvGrpSpPr/>
            <p:nvPr/>
          </p:nvGrpSpPr>
          <p:grpSpPr>
            <a:xfrm>
              <a:off x="4093043" y="3727330"/>
              <a:ext cx="905773" cy="336430"/>
              <a:chOff x="698740" y="2536166"/>
              <a:chExt cx="905773" cy="336430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" name="直線接點 17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接點 18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文字方塊 15"/>
            <p:cNvSpPr txBox="1"/>
            <p:nvPr/>
          </p:nvSpPr>
          <p:spPr>
            <a:xfrm>
              <a:off x="4376411" y="3710878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2497752" y="3519070"/>
            <a:ext cx="905773" cy="369332"/>
            <a:chOff x="3110198" y="4364418"/>
            <a:chExt cx="905773" cy="369332"/>
          </a:xfrm>
        </p:grpSpPr>
        <p:grpSp>
          <p:nvGrpSpPr>
            <p:cNvPr id="21" name="群組 20"/>
            <p:cNvGrpSpPr/>
            <p:nvPr/>
          </p:nvGrpSpPr>
          <p:grpSpPr>
            <a:xfrm>
              <a:off x="3110198" y="4397320"/>
              <a:ext cx="905773" cy="336430"/>
              <a:chOff x="698740" y="2536166"/>
              <a:chExt cx="905773" cy="336430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4" name="直線接點 23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線接點 24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文字方塊 21"/>
            <p:cNvSpPr txBox="1"/>
            <p:nvPr/>
          </p:nvSpPr>
          <p:spPr>
            <a:xfrm>
              <a:off x="3387395" y="4364418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5798142" y="3535521"/>
            <a:ext cx="905773" cy="369332"/>
            <a:chOff x="5125314" y="4380869"/>
            <a:chExt cx="905773" cy="369332"/>
          </a:xfrm>
        </p:grpSpPr>
        <p:grpSp>
          <p:nvGrpSpPr>
            <p:cNvPr id="27" name="群組 26"/>
            <p:cNvGrpSpPr/>
            <p:nvPr/>
          </p:nvGrpSpPr>
          <p:grpSpPr>
            <a:xfrm>
              <a:off x="5125314" y="4397320"/>
              <a:ext cx="905773" cy="336430"/>
              <a:chOff x="698740" y="2536166"/>
              <a:chExt cx="905773" cy="336430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0" name="直線接點 29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接點 30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文字方塊 27"/>
            <p:cNvSpPr txBox="1"/>
            <p:nvPr/>
          </p:nvSpPr>
          <p:spPr>
            <a:xfrm>
              <a:off x="5411137" y="4380869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1854080" y="4250076"/>
            <a:ext cx="905773" cy="369332"/>
            <a:chOff x="2578664" y="5095424"/>
            <a:chExt cx="905773" cy="369332"/>
          </a:xfrm>
        </p:grpSpPr>
        <p:grpSp>
          <p:nvGrpSpPr>
            <p:cNvPr id="33" name="群組 32"/>
            <p:cNvGrpSpPr/>
            <p:nvPr/>
          </p:nvGrpSpPr>
          <p:grpSpPr>
            <a:xfrm>
              <a:off x="2578664" y="5119066"/>
              <a:ext cx="905773" cy="336430"/>
              <a:chOff x="698740" y="2536166"/>
              <a:chExt cx="905773" cy="336430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6" name="直線接點 35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線接點 36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文字方塊 33"/>
            <p:cNvSpPr txBox="1"/>
            <p:nvPr/>
          </p:nvSpPr>
          <p:spPr>
            <a:xfrm>
              <a:off x="2856738" y="5095424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3136514" y="4242291"/>
            <a:ext cx="905773" cy="369332"/>
            <a:chOff x="3628196" y="5087639"/>
            <a:chExt cx="905773" cy="369332"/>
          </a:xfrm>
        </p:grpSpPr>
        <p:grpSp>
          <p:nvGrpSpPr>
            <p:cNvPr id="39" name="群組 38"/>
            <p:cNvGrpSpPr/>
            <p:nvPr/>
          </p:nvGrpSpPr>
          <p:grpSpPr>
            <a:xfrm>
              <a:off x="3628196" y="5119066"/>
              <a:ext cx="905773" cy="336430"/>
              <a:chOff x="698740" y="2536166"/>
              <a:chExt cx="905773" cy="336430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2" name="直線接點 41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線接點 42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文字方塊 39"/>
            <p:cNvSpPr txBox="1"/>
            <p:nvPr/>
          </p:nvSpPr>
          <p:spPr>
            <a:xfrm>
              <a:off x="3905393" y="5087639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5150237" y="4257267"/>
            <a:ext cx="905773" cy="369332"/>
            <a:chOff x="4606799" y="5102615"/>
            <a:chExt cx="905773" cy="369332"/>
          </a:xfrm>
        </p:grpSpPr>
        <p:grpSp>
          <p:nvGrpSpPr>
            <p:cNvPr id="45" name="群組 44"/>
            <p:cNvGrpSpPr/>
            <p:nvPr/>
          </p:nvGrpSpPr>
          <p:grpSpPr>
            <a:xfrm>
              <a:off x="4606799" y="5119066"/>
              <a:ext cx="905773" cy="336430"/>
              <a:chOff x="698740" y="2536166"/>
              <a:chExt cx="905773" cy="336430"/>
            </a:xfrm>
          </p:grpSpPr>
          <p:sp>
            <p:nvSpPr>
              <p:cNvPr id="47" name="矩形 46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8" name="直線接點 47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線接點 48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文字方塊 45"/>
            <p:cNvSpPr txBox="1"/>
            <p:nvPr/>
          </p:nvSpPr>
          <p:spPr>
            <a:xfrm>
              <a:off x="4909157" y="5102615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6458266" y="4250076"/>
            <a:ext cx="905773" cy="369332"/>
            <a:chOff x="5656048" y="5095424"/>
            <a:chExt cx="905773" cy="369332"/>
          </a:xfrm>
        </p:grpSpPr>
        <p:grpSp>
          <p:nvGrpSpPr>
            <p:cNvPr id="51" name="群組 50"/>
            <p:cNvGrpSpPr/>
            <p:nvPr/>
          </p:nvGrpSpPr>
          <p:grpSpPr>
            <a:xfrm>
              <a:off x="5656048" y="5119066"/>
              <a:ext cx="905773" cy="336430"/>
              <a:chOff x="698740" y="2536166"/>
              <a:chExt cx="905773" cy="336430"/>
            </a:xfrm>
          </p:grpSpPr>
          <p:sp>
            <p:nvSpPr>
              <p:cNvPr id="53" name="矩形 52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4" name="直線接點 53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線接點 54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文字方塊 51"/>
            <p:cNvSpPr txBox="1"/>
            <p:nvPr/>
          </p:nvSpPr>
          <p:spPr>
            <a:xfrm>
              <a:off x="5926832" y="5095424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1333199" y="4935077"/>
            <a:ext cx="905773" cy="369332"/>
            <a:chOff x="2057783" y="5780425"/>
            <a:chExt cx="905773" cy="369332"/>
          </a:xfrm>
        </p:grpSpPr>
        <p:grpSp>
          <p:nvGrpSpPr>
            <p:cNvPr id="57" name="群組 56"/>
            <p:cNvGrpSpPr/>
            <p:nvPr/>
          </p:nvGrpSpPr>
          <p:grpSpPr>
            <a:xfrm>
              <a:off x="2057783" y="5780425"/>
              <a:ext cx="905773" cy="336430"/>
              <a:chOff x="698740" y="2536166"/>
              <a:chExt cx="905773" cy="336430"/>
            </a:xfrm>
          </p:grpSpPr>
          <p:sp>
            <p:nvSpPr>
              <p:cNvPr id="59" name="矩形 58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0" name="直線接點 59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線接點 60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文字方塊 57"/>
            <p:cNvSpPr txBox="1"/>
            <p:nvPr/>
          </p:nvSpPr>
          <p:spPr>
            <a:xfrm>
              <a:off x="2360627" y="5780425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2" name="群組 61"/>
          <p:cNvGrpSpPr/>
          <p:nvPr/>
        </p:nvGrpSpPr>
        <p:grpSpPr>
          <a:xfrm>
            <a:off x="4613137" y="4971862"/>
            <a:ext cx="905773" cy="369332"/>
            <a:chOff x="2057783" y="5780425"/>
            <a:chExt cx="905773" cy="369332"/>
          </a:xfrm>
        </p:grpSpPr>
        <p:grpSp>
          <p:nvGrpSpPr>
            <p:cNvPr id="63" name="群組 62"/>
            <p:cNvGrpSpPr/>
            <p:nvPr/>
          </p:nvGrpSpPr>
          <p:grpSpPr>
            <a:xfrm>
              <a:off x="2057783" y="5780425"/>
              <a:ext cx="905773" cy="336430"/>
              <a:chOff x="698740" y="2536166"/>
              <a:chExt cx="905773" cy="336430"/>
            </a:xfrm>
          </p:grpSpPr>
          <p:sp>
            <p:nvSpPr>
              <p:cNvPr id="65" name="矩形 64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6" name="直線接點 65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線接點 66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文字方塊 63"/>
            <p:cNvSpPr txBox="1"/>
            <p:nvPr/>
          </p:nvSpPr>
          <p:spPr>
            <a:xfrm>
              <a:off x="2328567" y="5780425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8" name="群組 67"/>
          <p:cNvGrpSpPr/>
          <p:nvPr/>
        </p:nvGrpSpPr>
        <p:grpSpPr>
          <a:xfrm>
            <a:off x="7014521" y="4979647"/>
            <a:ext cx="905773" cy="369332"/>
            <a:chOff x="2057783" y="5780425"/>
            <a:chExt cx="905773" cy="369332"/>
          </a:xfrm>
        </p:grpSpPr>
        <p:grpSp>
          <p:nvGrpSpPr>
            <p:cNvPr id="69" name="群組 68"/>
            <p:cNvGrpSpPr/>
            <p:nvPr/>
          </p:nvGrpSpPr>
          <p:grpSpPr>
            <a:xfrm>
              <a:off x="2057783" y="5780425"/>
              <a:ext cx="905773" cy="336430"/>
              <a:chOff x="698740" y="2536166"/>
              <a:chExt cx="905773" cy="336430"/>
            </a:xfrm>
          </p:grpSpPr>
          <p:sp>
            <p:nvSpPr>
              <p:cNvPr id="71" name="矩形 70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2" name="直線接點 71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線接點 72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" name="文字方塊 69"/>
            <p:cNvSpPr txBox="1"/>
            <p:nvPr/>
          </p:nvSpPr>
          <p:spPr>
            <a:xfrm>
              <a:off x="2382077" y="5780425"/>
              <a:ext cx="2744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4" name="群組 73"/>
          <p:cNvGrpSpPr/>
          <p:nvPr/>
        </p:nvGrpSpPr>
        <p:grpSpPr>
          <a:xfrm>
            <a:off x="1881595" y="5640372"/>
            <a:ext cx="905773" cy="369332"/>
            <a:chOff x="2057783" y="5780425"/>
            <a:chExt cx="905773" cy="369332"/>
          </a:xfrm>
        </p:grpSpPr>
        <p:grpSp>
          <p:nvGrpSpPr>
            <p:cNvPr id="75" name="群組 74"/>
            <p:cNvGrpSpPr/>
            <p:nvPr/>
          </p:nvGrpSpPr>
          <p:grpSpPr>
            <a:xfrm>
              <a:off x="2057783" y="5780425"/>
              <a:ext cx="905773" cy="336430"/>
              <a:chOff x="698740" y="2536166"/>
              <a:chExt cx="905773" cy="336430"/>
            </a:xfrm>
          </p:grpSpPr>
          <p:sp>
            <p:nvSpPr>
              <p:cNvPr id="77" name="矩形 76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8" name="直線接點 77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線接點 78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文字方塊 75"/>
            <p:cNvSpPr txBox="1"/>
            <p:nvPr/>
          </p:nvSpPr>
          <p:spPr>
            <a:xfrm>
              <a:off x="2328567" y="5780425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80" name="肘形接點 79"/>
          <p:cNvCxnSpPr>
            <a:stCxn id="47" idx="1"/>
            <a:endCxn id="65" idx="0"/>
          </p:cNvCxnSpPr>
          <p:nvPr/>
        </p:nvCxnSpPr>
        <p:spPr>
          <a:xfrm rot="10800000" flipV="1">
            <a:off x="5066025" y="4441932"/>
            <a:ext cx="84213" cy="529929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肘形接點 80"/>
          <p:cNvCxnSpPr>
            <a:stCxn id="53" idx="3"/>
            <a:endCxn id="70" idx="0"/>
          </p:cNvCxnSpPr>
          <p:nvPr/>
        </p:nvCxnSpPr>
        <p:spPr>
          <a:xfrm>
            <a:off x="7364039" y="4441933"/>
            <a:ext cx="111994" cy="537714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肘形接點 81"/>
          <p:cNvCxnSpPr>
            <a:stCxn id="59" idx="3"/>
            <a:endCxn id="76" idx="0"/>
          </p:cNvCxnSpPr>
          <p:nvPr/>
        </p:nvCxnSpPr>
        <p:spPr>
          <a:xfrm>
            <a:off x="2238972" y="5103292"/>
            <a:ext cx="95509" cy="537080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肘形接點 82"/>
          <p:cNvCxnSpPr>
            <a:stCxn id="59" idx="1"/>
            <a:endCxn id="96" idx="1"/>
          </p:cNvCxnSpPr>
          <p:nvPr/>
        </p:nvCxnSpPr>
        <p:spPr>
          <a:xfrm rot="10800000" flipH="1">
            <a:off x="1333199" y="2400338"/>
            <a:ext cx="2826396" cy="2702954"/>
          </a:xfrm>
          <a:prstGeom prst="bentConnector3">
            <a:avLst>
              <a:gd name="adj1" fmla="val -8088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肘形接點 83"/>
          <p:cNvCxnSpPr>
            <a:stCxn id="71" idx="3"/>
            <a:endCxn id="96" idx="3"/>
          </p:cNvCxnSpPr>
          <p:nvPr/>
        </p:nvCxnSpPr>
        <p:spPr>
          <a:xfrm flipH="1" flipV="1">
            <a:off x="5065368" y="2400338"/>
            <a:ext cx="2854926" cy="2747524"/>
          </a:xfrm>
          <a:prstGeom prst="bentConnector3">
            <a:avLst>
              <a:gd name="adj1" fmla="val -8007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肘形接點 84"/>
          <p:cNvCxnSpPr>
            <a:stCxn id="77" idx="1"/>
            <a:endCxn id="58" idx="2"/>
          </p:cNvCxnSpPr>
          <p:nvPr/>
        </p:nvCxnSpPr>
        <p:spPr>
          <a:xfrm rot="10800000">
            <a:off x="1786085" y="5304409"/>
            <a:ext cx="95510" cy="504178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肘形接點 85"/>
          <p:cNvCxnSpPr>
            <a:stCxn id="77" idx="3"/>
            <a:endCxn id="34" idx="2"/>
          </p:cNvCxnSpPr>
          <p:nvPr/>
        </p:nvCxnSpPr>
        <p:spPr>
          <a:xfrm flipH="1" flipV="1">
            <a:off x="2307843" y="4619408"/>
            <a:ext cx="479525" cy="1189179"/>
          </a:xfrm>
          <a:prstGeom prst="bentConnector4">
            <a:avLst>
              <a:gd name="adj1" fmla="val -27884"/>
              <a:gd name="adj2" fmla="val 64327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肘形接點 86"/>
          <p:cNvCxnSpPr>
            <a:stCxn id="41" idx="1"/>
          </p:cNvCxnSpPr>
          <p:nvPr/>
        </p:nvCxnSpPr>
        <p:spPr>
          <a:xfrm rot="10800000">
            <a:off x="3051282" y="3885535"/>
            <a:ext cx="85232" cy="556399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肘形接點 87"/>
          <p:cNvCxnSpPr>
            <a:stCxn id="35" idx="3"/>
          </p:cNvCxnSpPr>
          <p:nvPr/>
        </p:nvCxnSpPr>
        <p:spPr>
          <a:xfrm flipV="1">
            <a:off x="2759853" y="3888403"/>
            <a:ext cx="92398" cy="553530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肘形接點 88"/>
          <p:cNvCxnSpPr>
            <a:stCxn id="41" idx="3"/>
          </p:cNvCxnSpPr>
          <p:nvPr/>
        </p:nvCxnSpPr>
        <p:spPr>
          <a:xfrm flipV="1">
            <a:off x="4042287" y="3240620"/>
            <a:ext cx="481067" cy="1201313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肘形接點 89"/>
          <p:cNvCxnSpPr>
            <a:stCxn id="65" idx="1"/>
          </p:cNvCxnSpPr>
          <p:nvPr/>
        </p:nvCxnSpPr>
        <p:spPr>
          <a:xfrm rot="10800000" flipH="1">
            <a:off x="4613136" y="3237753"/>
            <a:ext cx="97121" cy="1902325"/>
          </a:xfrm>
          <a:prstGeom prst="bentConnector4">
            <a:avLst>
              <a:gd name="adj1" fmla="val -119908"/>
              <a:gd name="adj2" fmla="val 2948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肘形接點 90"/>
          <p:cNvCxnSpPr>
            <a:stCxn id="65" idx="3"/>
            <a:endCxn id="46" idx="2"/>
          </p:cNvCxnSpPr>
          <p:nvPr/>
        </p:nvCxnSpPr>
        <p:spPr>
          <a:xfrm flipV="1">
            <a:off x="5518910" y="4626599"/>
            <a:ext cx="96550" cy="513478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肘形接點 91"/>
          <p:cNvCxnSpPr>
            <a:stCxn id="71" idx="1"/>
            <a:endCxn id="52" idx="2"/>
          </p:cNvCxnSpPr>
          <p:nvPr/>
        </p:nvCxnSpPr>
        <p:spPr>
          <a:xfrm rot="10800000">
            <a:off x="6911153" y="4619408"/>
            <a:ext cx="103369" cy="528454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肘形接點 92"/>
          <p:cNvCxnSpPr>
            <a:stCxn id="47" idx="3"/>
          </p:cNvCxnSpPr>
          <p:nvPr/>
        </p:nvCxnSpPr>
        <p:spPr>
          <a:xfrm flipV="1">
            <a:off x="6056010" y="3899117"/>
            <a:ext cx="94397" cy="542816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肘形接點 93"/>
          <p:cNvCxnSpPr>
            <a:stCxn id="53" idx="1"/>
          </p:cNvCxnSpPr>
          <p:nvPr/>
        </p:nvCxnSpPr>
        <p:spPr>
          <a:xfrm rot="10800000">
            <a:off x="6377552" y="3901985"/>
            <a:ext cx="80715" cy="539948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群組 94"/>
          <p:cNvGrpSpPr/>
          <p:nvPr/>
        </p:nvGrpSpPr>
        <p:grpSpPr>
          <a:xfrm>
            <a:off x="4159595" y="2232123"/>
            <a:ext cx="905773" cy="336430"/>
            <a:chOff x="698740" y="2536166"/>
            <a:chExt cx="905773" cy="336430"/>
          </a:xfrm>
        </p:grpSpPr>
        <p:sp>
          <p:nvSpPr>
            <p:cNvPr id="96" name="矩形 95"/>
            <p:cNvSpPr/>
            <p:nvPr/>
          </p:nvSpPr>
          <p:spPr>
            <a:xfrm>
              <a:off x="698740" y="2536166"/>
              <a:ext cx="905773" cy="3364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7" name="直線接點 96"/>
            <p:cNvCxnSpPr/>
            <p:nvPr/>
          </p:nvCxnSpPr>
          <p:spPr>
            <a:xfrm>
              <a:off x="944603" y="2536166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線接點 97"/>
            <p:cNvCxnSpPr/>
            <p:nvPr/>
          </p:nvCxnSpPr>
          <p:spPr>
            <a:xfrm>
              <a:off x="1367277" y="2536166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9" name="直線接點 98"/>
          <p:cNvCxnSpPr/>
          <p:nvPr/>
        </p:nvCxnSpPr>
        <p:spPr>
          <a:xfrm>
            <a:off x="4281826" y="2237881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接點 99"/>
          <p:cNvCxnSpPr/>
          <p:nvPr/>
        </p:nvCxnSpPr>
        <p:spPr>
          <a:xfrm>
            <a:off x="4954654" y="2237881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接點 100"/>
          <p:cNvCxnSpPr/>
          <p:nvPr/>
        </p:nvCxnSpPr>
        <p:spPr>
          <a:xfrm>
            <a:off x="4281826" y="2881982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接點 101"/>
          <p:cNvCxnSpPr/>
          <p:nvPr/>
        </p:nvCxnSpPr>
        <p:spPr>
          <a:xfrm>
            <a:off x="4954654" y="2881982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接點 102"/>
          <p:cNvCxnSpPr/>
          <p:nvPr/>
        </p:nvCxnSpPr>
        <p:spPr>
          <a:xfrm>
            <a:off x="2614053" y="3551171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接點 103"/>
          <p:cNvCxnSpPr/>
          <p:nvPr/>
        </p:nvCxnSpPr>
        <p:spPr>
          <a:xfrm>
            <a:off x="3286881" y="3551171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/>
          <p:cNvCxnSpPr/>
          <p:nvPr/>
        </p:nvCxnSpPr>
        <p:spPr>
          <a:xfrm>
            <a:off x="1975858" y="427291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接點 105"/>
          <p:cNvCxnSpPr/>
          <p:nvPr/>
        </p:nvCxnSpPr>
        <p:spPr>
          <a:xfrm>
            <a:off x="2648686" y="427291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接點 106"/>
          <p:cNvCxnSpPr/>
          <p:nvPr/>
        </p:nvCxnSpPr>
        <p:spPr>
          <a:xfrm>
            <a:off x="1449486" y="493507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接點 107"/>
          <p:cNvCxnSpPr/>
          <p:nvPr/>
        </p:nvCxnSpPr>
        <p:spPr>
          <a:xfrm>
            <a:off x="2122314" y="493507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接點 108"/>
          <p:cNvCxnSpPr/>
          <p:nvPr/>
        </p:nvCxnSpPr>
        <p:spPr>
          <a:xfrm>
            <a:off x="3252377" y="427291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接點 109"/>
          <p:cNvCxnSpPr/>
          <p:nvPr/>
        </p:nvCxnSpPr>
        <p:spPr>
          <a:xfrm>
            <a:off x="3925205" y="427291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接點 110"/>
          <p:cNvCxnSpPr/>
          <p:nvPr/>
        </p:nvCxnSpPr>
        <p:spPr>
          <a:xfrm>
            <a:off x="5917969" y="3551973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/>
          <p:nvPr/>
        </p:nvCxnSpPr>
        <p:spPr>
          <a:xfrm>
            <a:off x="6590797" y="3551973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接點 112"/>
          <p:cNvCxnSpPr/>
          <p:nvPr/>
        </p:nvCxnSpPr>
        <p:spPr>
          <a:xfrm>
            <a:off x="5273297" y="4274352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接點 113"/>
          <p:cNvCxnSpPr/>
          <p:nvPr/>
        </p:nvCxnSpPr>
        <p:spPr>
          <a:xfrm>
            <a:off x="5946125" y="4274352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接點 114"/>
          <p:cNvCxnSpPr/>
          <p:nvPr/>
        </p:nvCxnSpPr>
        <p:spPr>
          <a:xfrm>
            <a:off x="6590797" y="427291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接點 115"/>
          <p:cNvCxnSpPr/>
          <p:nvPr/>
        </p:nvCxnSpPr>
        <p:spPr>
          <a:xfrm>
            <a:off x="7263625" y="427291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接點 116"/>
          <p:cNvCxnSpPr/>
          <p:nvPr/>
        </p:nvCxnSpPr>
        <p:spPr>
          <a:xfrm>
            <a:off x="4736135" y="4971061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接點 117"/>
          <p:cNvCxnSpPr/>
          <p:nvPr/>
        </p:nvCxnSpPr>
        <p:spPr>
          <a:xfrm>
            <a:off x="5408963" y="4971061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接點 118"/>
          <p:cNvCxnSpPr/>
          <p:nvPr/>
        </p:nvCxnSpPr>
        <p:spPr>
          <a:xfrm>
            <a:off x="7135429" y="497968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接點 119"/>
          <p:cNvCxnSpPr/>
          <p:nvPr/>
        </p:nvCxnSpPr>
        <p:spPr>
          <a:xfrm>
            <a:off x="7808257" y="497968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接點 120"/>
          <p:cNvCxnSpPr/>
          <p:nvPr/>
        </p:nvCxnSpPr>
        <p:spPr>
          <a:xfrm>
            <a:off x="2001985" y="5640372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接點 121"/>
          <p:cNvCxnSpPr/>
          <p:nvPr/>
        </p:nvCxnSpPr>
        <p:spPr>
          <a:xfrm>
            <a:off x="2674813" y="5640372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接點 122"/>
          <p:cNvCxnSpPr/>
          <p:nvPr/>
        </p:nvCxnSpPr>
        <p:spPr>
          <a:xfrm flipV="1">
            <a:off x="4436793" y="2237881"/>
            <a:ext cx="391339" cy="33067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肘形接點 123"/>
          <p:cNvCxnSpPr/>
          <p:nvPr/>
        </p:nvCxnSpPr>
        <p:spPr>
          <a:xfrm rot="16200000" flipH="1" flipV="1">
            <a:off x="4742088" y="2097497"/>
            <a:ext cx="23642" cy="252000"/>
          </a:xfrm>
          <a:prstGeom prst="bentConnector3">
            <a:avLst>
              <a:gd name="adj1" fmla="val -966923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肘形接點 124"/>
          <p:cNvCxnSpPr>
            <a:endCxn id="17" idx="0"/>
          </p:cNvCxnSpPr>
          <p:nvPr/>
        </p:nvCxnSpPr>
        <p:spPr>
          <a:xfrm rot="16200000" flipH="1">
            <a:off x="4287355" y="2563024"/>
            <a:ext cx="313429" cy="324486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6" name="群組 125"/>
          <p:cNvGrpSpPr/>
          <p:nvPr/>
        </p:nvGrpSpPr>
        <p:grpSpPr>
          <a:xfrm>
            <a:off x="5179381" y="1528487"/>
            <a:ext cx="3577908" cy="807626"/>
            <a:chOff x="4929313" y="1623378"/>
            <a:chExt cx="3577908" cy="807626"/>
          </a:xfrm>
        </p:grpSpPr>
        <p:sp>
          <p:nvSpPr>
            <p:cNvPr id="127" name="文字方塊 126"/>
            <p:cNvSpPr txBox="1"/>
            <p:nvPr/>
          </p:nvSpPr>
          <p:spPr>
            <a:xfrm>
              <a:off x="4949832" y="2061672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8" name="文字方塊 127"/>
            <p:cNvSpPr txBox="1"/>
            <p:nvPr/>
          </p:nvSpPr>
          <p:spPr>
            <a:xfrm>
              <a:off x="5269150" y="2061672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9" name="文字方塊 128"/>
            <p:cNvSpPr txBox="1"/>
            <p:nvPr/>
          </p:nvSpPr>
          <p:spPr>
            <a:xfrm>
              <a:off x="8232786" y="2061672"/>
              <a:ext cx="2744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0" name="文字方塊 129"/>
            <p:cNvSpPr txBox="1"/>
            <p:nvPr/>
          </p:nvSpPr>
          <p:spPr>
            <a:xfrm>
              <a:off x="5626940" y="2061672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1" name="文字方塊 130"/>
            <p:cNvSpPr txBox="1"/>
            <p:nvPr/>
          </p:nvSpPr>
          <p:spPr>
            <a:xfrm>
              <a:off x="7255594" y="2061672"/>
              <a:ext cx="325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" name="文字方塊 131"/>
            <p:cNvSpPr txBox="1"/>
            <p:nvPr/>
          </p:nvSpPr>
          <p:spPr>
            <a:xfrm>
              <a:off x="5973890" y="2061672"/>
              <a:ext cx="3385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文字方塊 132"/>
            <p:cNvSpPr txBox="1"/>
            <p:nvPr/>
          </p:nvSpPr>
          <p:spPr>
            <a:xfrm>
              <a:off x="6323285" y="2061672"/>
              <a:ext cx="3385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文字方塊 133"/>
            <p:cNvSpPr txBox="1"/>
            <p:nvPr/>
          </p:nvSpPr>
          <p:spPr>
            <a:xfrm>
              <a:off x="6616956" y="2061672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文字方塊 134"/>
            <p:cNvSpPr txBox="1"/>
            <p:nvPr/>
          </p:nvSpPr>
          <p:spPr>
            <a:xfrm>
              <a:off x="6910627" y="2061672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文字方塊 135"/>
            <p:cNvSpPr txBox="1"/>
            <p:nvPr/>
          </p:nvSpPr>
          <p:spPr>
            <a:xfrm>
              <a:off x="7568500" y="2061672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" name="文字方塊 136"/>
            <p:cNvSpPr txBox="1"/>
            <p:nvPr/>
          </p:nvSpPr>
          <p:spPr>
            <a:xfrm>
              <a:off x="7862171" y="2061672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8" name="文字方塊 137"/>
            <p:cNvSpPr txBox="1"/>
            <p:nvPr/>
          </p:nvSpPr>
          <p:spPr>
            <a:xfrm>
              <a:off x="4929313" y="1623378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中序</a:t>
              </a:r>
              <a:endPara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6748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引線二元</a:t>
            </a:r>
            <a:r>
              <a:rPr lang="zh-TW" altLang="en-US" dirty="0" smtClean="0"/>
              <a:t>樹 </a:t>
            </a:r>
            <a:r>
              <a:rPr lang="en-US" altLang="zh-TW" dirty="0" smtClean="0"/>
              <a:t>(4/5)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加入新節點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狀況一：右子節點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30</a:t>
            </a:fld>
            <a:endParaRPr lang="en-US" dirty="0"/>
          </a:p>
        </p:txBody>
      </p:sp>
      <p:cxnSp>
        <p:nvCxnSpPr>
          <p:cNvPr id="7" name="肘形接點 6"/>
          <p:cNvCxnSpPr>
            <a:stCxn id="17" idx="1"/>
            <a:endCxn id="23" idx="0"/>
          </p:cNvCxnSpPr>
          <p:nvPr/>
        </p:nvCxnSpPr>
        <p:spPr>
          <a:xfrm rot="10800000" flipV="1">
            <a:off x="2950639" y="3050196"/>
            <a:ext cx="1202786" cy="501775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肘形接點 7"/>
          <p:cNvCxnSpPr>
            <a:stCxn id="17" idx="3"/>
            <a:endCxn id="29" idx="0"/>
          </p:cNvCxnSpPr>
          <p:nvPr/>
        </p:nvCxnSpPr>
        <p:spPr>
          <a:xfrm>
            <a:off x="5059198" y="3050197"/>
            <a:ext cx="1191831" cy="501775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肘形接點 8"/>
          <p:cNvCxnSpPr>
            <a:stCxn id="23" idx="3"/>
            <a:endCxn id="41" idx="0"/>
          </p:cNvCxnSpPr>
          <p:nvPr/>
        </p:nvCxnSpPr>
        <p:spPr>
          <a:xfrm>
            <a:off x="3403525" y="3720187"/>
            <a:ext cx="185876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肘形接點 9"/>
          <p:cNvCxnSpPr>
            <a:stCxn id="23" idx="1"/>
            <a:endCxn id="35" idx="0"/>
          </p:cNvCxnSpPr>
          <p:nvPr/>
        </p:nvCxnSpPr>
        <p:spPr>
          <a:xfrm rot="10800000" flipV="1">
            <a:off x="2306968" y="3720186"/>
            <a:ext cx="190785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肘形接點 10"/>
          <p:cNvCxnSpPr>
            <a:stCxn id="35" idx="1"/>
            <a:endCxn id="59" idx="0"/>
          </p:cNvCxnSpPr>
          <p:nvPr/>
        </p:nvCxnSpPr>
        <p:spPr>
          <a:xfrm rot="10800000" flipV="1">
            <a:off x="1786086" y="4441933"/>
            <a:ext cx="67994" cy="493144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肘形接點 11"/>
          <p:cNvCxnSpPr>
            <a:stCxn id="29" idx="1"/>
            <a:endCxn id="47" idx="0"/>
          </p:cNvCxnSpPr>
          <p:nvPr/>
        </p:nvCxnSpPr>
        <p:spPr>
          <a:xfrm rot="10800000" flipV="1">
            <a:off x="5603124" y="3720186"/>
            <a:ext cx="195018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肘形接點 12"/>
          <p:cNvCxnSpPr>
            <a:stCxn id="29" idx="3"/>
            <a:endCxn id="53" idx="0"/>
          </p:cNvCxnSpPr>
          <p:nvPr/>
        </p:nvCxnSpPr>
        <p:spPr>
          <a:xfrm>
            <a:off x="6703915" y="3720187"/>
            <a:ext cx="207238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群組 13"/>
          <p:cNvGrpSpPr/>
          <p:nvPr/>
        </p:nvGrpSpPr>
        <p:grpSpPr>
          <a:xfrm>
            <a:off x="4153425" y="2865530"/>
            <a:ext cx="905773" cy="369332"/>
            <a:chOff x="4093043" y="3710878"/>
            <a:chExt cx="905773" cy="369332"/>
          </a:xfrm>
        </p:grpSpPr>
        <p:grpSp>
          <p:nvGrpSpPr>
            <p:cNvPr id="15" name="群組 14"/>
            <p:cNvGrpSpPr/>
            <p:nvPr/>
          </p:nvGrpSpPr>
          <p:grpSpPr>
            <a:xfrm>
              <a:off x="4093043" y="3727330"/>
              <a:ext cx="905773" cy="336430"/>
              <a:chOff x="698740" y="2536166"/>
              <a:chExt cx="905773" cy="336430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" name="直線接點 17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接點 18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文字方塊 15"/>
            <p:cNvSpPr txBox="1"/>
            <p:nvPr/>
          </p:nvSpPr>
          <p:spPr>
            <a:xfrm>
              <a:off x="4376411" y="3710878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2497752" y="3519070"/>
            <a:ext cx="905773" cy="369332"/>
            <a:chOff x="3110198" y="4364418"/>
            <a:chExt cx="905773" cy="369332"/>
          </a:xfrm>
        </p:grpSpPr>
        <p:grpSp>
          <p:nvGrpSpPr>
            <p:cNvPr id="21" name="群組 20"/>
            <p:cNvGrpSpPr/>
            <p:nvPr/>
          </p:nvGrpSpPr>
          <p:grpSpPr>
            <a:xfrm>
              <a:off x="3110198" y="4397320"/>
              <a:ext cx="905773" cy="336430"/>
              <a:chOff x="698740" y="2536166"/>
              <a:chExt cx="905773" cy="336430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4" name="直線接點 23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線接點 24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文字方塊 21"/>
            <p:cNvSpPr txBox="1"/>
            <p:nvPr/>
          </p:nvSpPr>
          <p:spPr>
            <a:xfrm>
              <a:off x="3387395" y="4364418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5798142" y="3535521"/>
            <a:ext cx="905773" cy="369332"/>
            <a:chOff x="5125314" y="4380869"/>
            <a:chExt cx="905773" cy="369332"/>
          </a:xfrm>
        </p:grpSpPr>
        <p:grpSp>
          <p:nvGrpSpPr>
            <p:cNvPr id="27" name="群組 26"/>
            <p:cNvGrpSpPr/>
            <p:nvPr/>
          </p:nvGrpSpPr>
          <p:grpSpPr>
            <a:xfrm>
              <a:off x="5125314" y="4397320"/>
              <a:ext cx="905773" cy="336430"/>
              <a:chOff x="698740" y="2536166"/>
              <a:chExt cx="905773" cy="336430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0" name="直線接點 29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接點 30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文字方塊 27"/>
            <p:cNvSpPr txBox="1"/>
            <p:nvPr/>
          </p:nvSpPr>
          <p:spPr>
            <a:xfrm>
              <a:off x="5411137" y="4380869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1854080" y="4250076"/>
            <a:ext cx="905773" cy="369332"/>
            <a:chOff x="2578664" y="5095424"/>
            <a:chExt cx="905773" cy="369332"/>
          </a:xfrm>
        </p:grpSpPr>
        <p:grpSp>
          <p:nvGrpSpPr>
            <p:cNvPr id="33" name="群組 32"/>
            <p:cNvGrpSpPr/>
            <p:nvPr/>
          </p:nvGrpSpPr>
          <p:grpSpPr>
            <a:xfrm>
              <a:off x="2578664" y="5119066"/>
              <a:ext cx="905773" cy="336430"/>
              <a:chOff x="698740" y="2536166"/>
              <a:chExt cx="905773" cy="336430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6" name="直線接點 35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線接點 36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文字方塊 33"/>
            <p:cNvSpPr txBox="1"/>
            <p:nvPr/>
          </p:nvSpPr>
          <p:spPr>
            <a:xfrm>
              <a:off x="2856738" y="5095424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3136514" y="4242291"/>
            <a:ext cx="905773" cy="369332"/>
            <a:chOff x="3628196" y="5087639"/>
            <a:chExt cx="905773" cy="369332"/>
          </a:xfrm>
        </p:grpSpPr>
        <p:grpSp>
          <p:nvGrpSpPr>
            <p:cNvPr id="39" name="群組 38"/>
            <p:cNvGrpSpPr/>
            <p:nvPr/>
          </p:nvGrpSpPr>
          <p:grpSpPr>
            <a:xfrm>
              <a:off x="3628196" y="5119066"/>
              <a:ext cx="905773" cy="336430"/>
              <a:chOff x="698740" y="2536166"/>
              <a:chExt cx="905773" cy="336430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2" name="直線接點 41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線接點 42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文字方塊 39"/>
            <p:cNvSpPr txBox="1"/>
            <p:nvPr/>
          </p:nvSpPr>
          <p:spPr>
            <a:xfrm>
              <a:off x="3905393" y="5087639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5150237" y="4257267"/>
            <a:ext cx="905773" cy="369332"/>
            <a:chOff x="4606799" y="5102615"/>
            <a:chExt cx="905773" cy="369332"/>
          </a:xfrm>
        </p:grpSpPr>
        <p:grpSp>
          <p:nvGrpSpPr>
            <p:cNvPr id="45" name="群組 44"/>
            <p:cNvGrpSpPr/>
            <p:nvPr/>
          </p:nvGrpSpPr>
          <p:grpSpPr>
            <a:xfrm>
              <a:off x="4606799" y="5119066"/>
              <a:ext cx="905773" cy="336430"/>
              <a:chOff x="698740" y="2536166"/>
              <a:chExt cx="905773" cy="336430"/>
            </a:xfrm>
          </p:grpSpPr>
          <p:sp>
            <p:nvSpPr>
              <p:cNvPr id="47" name="矩形 46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8" name="直線接點 47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線接點 48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文字方塊 45"/>
            <p:cNvSpPr txBox="1"/>
            <p:nvPr/>
          </p:nvSpPr>
          <p:spPr>
            <a:xfrm>
              <a:off x="4909157" y="5102615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6458266" y="4250076"/>
            <a:ext cx="905773" cy="369332"/>
            <a:chOff x="5656048" y="5095424"/>
            <a:chExt cx="905773" cy="369332"/>
          </a:xfrm>
        </p:grpSpPr>
        <p:grpSp>
          <p:nvGrpSpPr>
            <p:cNvPr id="51" name="群組 50"/>
            <p:cNvGrpSpPr/>
            <p:nvPr/>
          </p:nvGrpSpPr>
          <p:grpSpPr>
            <a:xfrm>
              <a:off x="5656048" y="5119066"/>
              <a:ext cx="905773" cy="336430"/>
              <a:chOff x="698740" y="2536166"/>
              <a:chExt cx="905773" cy="336430"/>
            </a:xfrm>
          </p:grpSpPr>
          <p:sp>
            <p:nvSpPr>
              <p:cNvPr id="53" name="矩形 52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4" name="直線接點 53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線接點 54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文字方塊 51"/>
            <p:cNvSpPr txBox="1"/>
            <p:nvPr/>
          </p:nvSpPr>
          <p:spPr>
            <a:xfrm>
              <a:off x="5926832" y="5095424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1333199" y="4935077"/>
            <a:ext cx="905773" cy="369332"/>
            <a:chOff x="2057783" y="5780425"/>
            <a:chExt cx="905773" cy="369332"/>
          </a:xfrm>
        </p:grpSpPr>
        <p:grpSp>
          <p:nvGrpSpPr>
            <p:cNvPr id="57" name="群組 56"/>
            <p:cNvGrpSpPr/>
            <p:nvPr/>
          </p:nvGrpSpPr>
          <p:grpSpPr>
            <a:xfrm>
              <a:off x="2057783" y="5780425"/>
              <a:ext cx="905773" cy="336430"/>
              <a:chOff x="698740" y="2536166"/>
              <a:chExt cx="905773" cy="336430"/>
            </a:xfrm>
          </p:grpSpPr>
          <p:sp>
            <p:nvSpPr>
              <p:cNvPr id="59" name="矩形 58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0" name="直線接點 59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線接點 60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文字方塊 57"/>
            <p:cNvSpPr txBox="1"/>
            <p:nvPr/>
          </p:nvSpPr>
          <p:spPr>
            <a:xfrm>
              <a:off x="2360627" y="5780425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2" name="群組 61"/>
          <p:cNvGrpSpPr/>
          <p:nvPr/>
        </p:nvGrpSpPr>
        <p:grpSpPr>
          <a:xfrm>
            <a:off x="4613137" y="4971862"/>
            <a:ext cx="905773" cy="369332"/>
            <a:chOff x="2057783" y="5780425"/>
            <a:chExt cx="905773" cy="369332"/>
          </a:xfrm>
        </p:grpSpPr>
        <p:grpSp>
          <p:nvGrpSpPr>
            <p:cNvPr id="63" name="群組 62"/>
            <p:cNvGrpSpPr/>
            <p:nvPr/>
          </p:nvGrpSpPr>
          <p:grpSpPr>
            <a:xfrm>
              <a:off x="2057783" y="5780425"/>
              <a:ext cx="905773" cy="336430"/>
              <a:chOff x="698740" y="2536166"/>
              <a:chExt cx="905773" cy="336430"/>
            </a:xfrm>
          </p:grpSpPr>
          <p:sp>
            <p:nvSpPr>
              <p:cNvPr id="65" name="矩形 64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6" name="直線接點 65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線接點 66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文字方塊 63"/>
            <p:cNvSpPr txBox="1"/>
            <p:nvPr/>
          </p:nvSpPr>
          <p:spPr>
            <a:xfrm>
              <a:off x="2328567" y="5780425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8" name="群組 67"/>
          <p:cNvGrpSpPr/>
          <p:nvPr/>
        </p:nvGrpSpPr>
        <p:grpSpPr>
          <a:xfrm>
            <a:off x="7014521" y="4979647"/>
            <a:ext cx="905773" cy="369332"/>
            <a:chOff x="2057783" y="5780425"/>
            <a:chExt cx="905773" cy="369332"/>
          </a:xfrm>
        </p:grpSpPr>
        <p:grpSp>
          <p:nvGrpSpPr>
            <p:cNvPr id="69" name="群組 68"/>
            <p:cNvGrpSpPr/>
            <p:nvPr/>
          </p:nvGrpSpPr>
          <p:grpSpPr>
            <a:xfrm>
              <a:off x="2057783" y="5780425"/>
              <a:ext cx="905773" cy="336430"/>
              <a:chOff x="698740" y="2536166"/>
              <a:chExt cx="905773" cy="336430"/>
            </a:xfrm>
          </p:grpSpPr>
          <p:sp>
            <p:nvSpPr>
              <p:cNvPr id="71" name="矩形 70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2" name="直線接點 71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線接點 72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" name="文字方塊 69"/>
            <p:cNvSpPr txBox="1"/>
            <p:nvPr/>
          </p:nvSpPr>
          <p:spPr>
            <a:xfrm>
              <a:off x="2382077" y="5780425"/>
              <a:ext cx="2744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4" name="群組 73"/>
          <p:cNvGrpSpPr/>
          <p:nvPr/>
        </p:nvGrpSpPr>
        <p:grpSpPr>
          <a:xfrm>
            <a:off x="1881595" y="5640372"/>
            <a:ext cx="905773" cy="369332"/>
            <a:chOff x="2057783" y="5780425"/>
            <a:chExt cx="905773" cy="369332"/>
          </a:xfrm>
        </p:grpSpPr>
        <p:grpSp>
          <p:nvGrpSpPr>
            <p:cNvPr id="75" name="群組 74"/>
            <p:cNvGrpSpPr/>
            <p:nvPr/>
          </p:nvGrpSpPr>
          <p:grpSpPr>
            <a:xfrm>
              <a:off x="2057783" y="5780425"/>
              <a:ext cx="905773" cy="336430"/>
              <a:chOff x="698740" y="2536166"/>
              <a:chExt cx="905773" cy="336430"/>
            </a:xfrm>
          </p:grpSpPr>
          <p:sp>
            <p:nvSpPr>
              <p:cNvPr id="77" name="矩形 76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8" name="直線接點 77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線接點 78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文字方塊 75"/>
            <p:cNvSpPr txBox="1"/>
            <p:nvPr/>
          </p:nvSpPr>
          <p:spPr>
            <a:xfrm>
              <a:off x="2328567" y="5780425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80" name="肘形接點 79"/>
          <p:cNvCxnSpPr>
            <a:stCxn id="47" idx="1"/>
            <a:endCxn id="65" idx="0"/>
          </p:cNvCxnSpPr>
          <p:nvPr/>
        </p:nvCxnSpPr>
        <p:spPr>
          <a:xfrm rot="10800000" flipV="1">
            <a:off x="5066025" y="4441932"/>
            <a:ext cx="84213" cy="529929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肘形接點 80"/>
          <p:cNvCxnSpPr>
            <a:stCxn id="53" idx="3"/>
            <a:endCxn id="70" idx="0"/>
          </p:cNvCxnSpPr>
          <p:nvPr/>
        </p:nvCxnSpPr>
        <p:spPr>
          <a:xfrm>
            <a:off x="7364039" y="4441933"/>
            <a:ext cx="111994" cy="537714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肘形接點 81"/>
          <p:cNvCxnSpPr>
            <a:stCxn id="59" idx="3"/>
            <a:endCxn id="76" idx="0"/>
          </p:cNvCxnSpPr>
          <p:nvPr/>
        </p:nvCxnSpPr>
        <p:spPr>
          <a:xfrm>
            <a:off x="2238972" y="5103292"/>
            <a:ext cx="95509" cy="537080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肘形接點 82"/>
          <p:cNvCxnSpPr>
            <a:stCxn id="59" idx="1"/>
            <a:endCxn id="96" idx="1"/>
          </p:cNvCxnSpPr>
          <p:nvPr/>
        </p:nvCxnSpPr>
        <p:spPr>
          <a:xfrm rot="10800000" flipH="1">
            <a:off x="1333199" y="2400338"/>
            <a:ext cx="2826396" cy="2702954"/>
          </a:xfrm>
          <a:prstGeom prst="bentConnector3">
            <a:avLst>
              <a:gd name="adj1" fmla="val -8088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肘形接點 83"/>
          <p:cNvCxnSpPr>
            <a:stCxn id="71" idx="3"/>
            <a:endCxn id="96" idx="3"/>
          </p:cNvCxnSpPr>
          <p:nvPr/>
        </p:nvCxnSpPr>
        <p:spPr>
          <a:xfrm flipH="1" flipV="1">
            <a:off x="5065368" y="2400338"/>
            <a:ext cx="2854926" cy="2747524"/>
          </a:xfrm>
          <a:prstGeom prst="bentConnector3">
            <a:avLst>
              <a:gd name="adj1" fmla="val -8007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肘形接點 84"/>
          <p:cNvCxnSpPr>
            <a:stCxn id="77" idx="1"/>
            <a:endCxn id="58" idx="2"/>
          </p:cNvCxnSpPr>
          <p:nvPr/>
        </p:nvCxnSpPr>
        <p:spPr>
          <a:xfrm rot="10800000">
            <a:off x="1786085" y="5304409"/>
            <a:ext cx="95510" cy="504178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肘形接點 85"/>
          <p:cNvCxnSpPr>
            <a:stCxn id="77" idx="3"/>
            <a:endCxn id="34" idx="2"/>
          </p:cNvCxnSpPr>
          <p:nvPr/>
        </p:nvCxnSpPr>
        <p:spPr>
          <a:xfrm flipH="1" flipV="1">
            <a:off x="2307843" y="4619408"/>
            <a:ext cx="479525" cy="1189179"/>
          </a:xfrm>
          <a:prstGeom prst="bentConnector4">
            <a:avLst>
              <a:gd name="adj1" fmla="val -27884"/>
              <a:gd name="adj2" fmla="val 64327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肘形接點 86"/>
          <p:cNvCxnSpPr>
            <a:stCxn id="41" idx="1"/>
          </p:cNvCxnSpPr>
          <p:nvPr/>
        </p:nvCxnSpPr>
        <p:spPr>
          <a:xfrm rot="10800000">
            <a:off x="3051282" y="3885535"/>
            <a:ext cx="85232" cy="556399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肘形接點 87"/>
          <p:cNvCxnSpPr>
            <a:stCxn id="35" idx="3"/>
          </p:cNvCxnSpPr>
          <p:nvPr/>
        </p:nvCxnSpPr>
        <p:spPr>
          <a:xfrm flipV="1">
            <a:off x="2759853" y="3888403"/>
            <a:ext cx="92398" cy="553530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肘形接點 88"/>
          <p:cNvCxnSpPr>
            <a:stCxn id="41" idx="3"/>
          </p:cNvCxnSpPr>
          <p:nvPr/>
        </p:nvCxnSpPr>
        <p:spPr>
          <a:xfrm flipV="1">
            <a:off x="4042287" y="3240620"/>
            <a:ext cx="481067" cy="1201313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肘形接點 89"/>
          <p:cNvCxnSpPr>
            <a:stCxn id="65" idx="1"/>
          </p:cNvCxnSpPr>
          <p:nvPr/>
        </p:nvCxnSpPr>
        <p:spPr>
          <a:xfrm rot="10800000" flipH="1">
            <a:off x="4613136" y="3237753"/>
            <a:ext cx="97121" cy="1902325"/>
          </a:xfrm>
          <a:prstGeom prst="bentConnector4">
            <a:avLst>
              <a:gd name="adj1" fmla="val -119908"/>
              <a:gd name="adj2" fmla="val 2948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肘形接點 90"/>
          <p:cNvCxnSpPr>
            <a:stCxn id="65" idx="3"/>
            <a:endCxn id="46" idx="2"/>
          </p:cNvCxnSpPr>
          <p:nvPr/>
        </p:nvCxnSpPr>
        <p:spPr>
          <a:xfrm flipV="1">
            <a:off x="5518910" y="4626599"/>
            <a:ext cx="96550" cy="513478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肘形接點 91"/>
          <p:cNvCxnSpPr>
            <a:stCxn id="71" idx="1"/>
            <a:endCxn id="52" idx="2"/>
          </p:cNvCxnSpPr>
          <p:nvPr/>
        </p:nvCxnSpPr>
        <p:spPr>
          <a:xfrm rot="10800000">
            <a:off x="6911153" y="4619408"/>
            <a:ext cx="103369" cy="528454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肘形接點 92"/>
          <p:cNvCxnSpPr>
            <a:stCxn id="47" idx="3"/>
          </p:cNvCxnSpPr>
          <p:nvPr/>
        </p:nvCxnSpPr>
        <p:spPr>
          <a:xfrm flipV="1">
            <a:off x="6056010" y="3899117"/>
            <a:ext cx="94397" cy="542816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肘形接點 93"/>
          <p:cNvCxnSpPr>
            <a:stCxn id="53" idx="1"/>
          </p:cNvCxnSpPr>
          <p:nvPr/>
        </p:nvCxnSpPr>
        <p:spPr>
          <a:xfrm rot="10800000">
            <a:off x="6377552" y="3901985"/>
            <a:ext cx="80715" cy="539948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群組 94"/>
          <p:cNvGrpSpPr/>
          <p:nvPr/>
        </p:nvGrpSpPr>
        <p:grpSpPr>
          <a:xfrm>
            <a:off x="4159595" y="2232123"/>
            <a:ext cx="905773" cy="336430"/>
            <a:chOff x="698740" y="2536166"/>
            <a:chExt cx="905773" cy="336430"/>
          </a:xfrm>
        </p:grpSpPr>
        <p:sp>
          <p:nvSpPr>
            <p:cNvPr id="96" name="矩形 95"/>
            <p:cNvSpPr/>
            <p:nvPr/>
          </p:nvSpPr>
          <p:spPr>
            <a:xfrm>
              <a:off x="698740" y="2536166"/>
              <a:ext cx="905773" cy="3364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7" name="直線接點 96"/>
            <p:cNvCxnSpPr/>
            <p:nvPr/>
          </p:nvCxnSpPr>
          <p:spPr>
            <a:xfrm>
              <a:off x="944603" y="2536166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線接點 97"/>
            <p:cNvCxnSpPr/>
            <p:nvPr/>
          </p:nvCxnSpPr>
          <p:spPr>
            <a:xfrm>
              <a:off x="1367277" y="2536166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9" name="直線接點 98"/>
          <p:cNvCxnSpPr/>
          <p:nvPr/>
        </p:nvCxnSpPr>
        <p:spPr>
          <a:xfrm>
            <a:off x="4281826" y="2237881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接點 99"/>
          <p:cNvCxnSpPr/>
          <p:nvPr/>
        </p:nvCxnSpPr>
        <p:spPr>
          <a:xfrm>
            <a:off x="4954654" y="2237881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接點 100"/>
          <p:cNvCxnSpPr/>
          <p:nvPr/>
        </p:nvCxnSpPr>
        <p:spPr>
          <a:xfrm>
            <a:off x="4281826" y="2881982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接點 101"/>
          <p:cNvCxnSpPr/>
          <p:nvPr/>
        </p:nvCxnSpPr>
        <p:spPr>
          <a:xfrm>
            <a:off x="4954654" y="2881982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接點 102"/>
          <p:cNvCxnSpPr/>
          <p:nvPr/>
        </p:nvCxnSpPr>
        <p:spPr>
          <a:xfrm>
            <a:off x="2614053" y="3551171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接點 103"/>
          <p:cNvCxnSpPr/>
          <p:nvPr/>
        </p:nvCxnSpPr>
        <p:spPr>
          <a:xfrm>
            <a:off x="3286881" y="3551171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/>
          <p:cNvCxnSpPr/>
          <p:nvPr/>
        </p:nvCxnSpPr>
        <p:spPr>
          <a:xfrm>
            <a:off x="1975858" y="427291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接點 105"/>
          <p:cNvCxnSpPr/>
          <p:nvPr/>
        </p:nvCxnSpPr>
        <p:spPr>
          <a:xfrm>
            <a:off x="2648686" y="427291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接點 106"/>
          <p:cNvCxnSpPr/>
          <p:nvPr/>
        </p:nvCxnSpPr>
        <p:spPr>
          <a:xfrm>
            <a:off x="1449486" y="493507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接點 107"/>
          <p:cNvCxnSpPr/>
          <p:nvPr/>
        </p:nvCxnSpPr>
        <p:spPr>
          <a:xfrm>
            <a:off x="2122314" y="493507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接點 108"/>
          <p:cNvCxnSpPr/>
          <p:nvPr/>
        </p:nvCxnSpPr>
        <p:spPr>
          <a:xfrm>
            <a:off x="3252377" y="427291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接點 109"/>
          <p:cNvCxnSpPr/>
          <p:nvPr/>
        </p:nvCxnSpPr>
        <p:spPr>
          <a:xfrm>
            <a:off x="3925205" y="427291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接點 110"/>
          <p:cNvCxnSpPr/>
          <p:nvPr/>
        </p:nvCxnSpPr>
        <p:spPr>
          <a:xfrm>
            <a:off x="5917969" y="3551973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/>
          <p:nvPr/>
        </p:nvCxnSpPr>
        <p:spPr>
          <a:xfrm>
            <a:off x="6590797" y="3551973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接點 112"/>
          <p:cNvCxnSpPr/>
          <p:nvPr/>
        </p:nvCxnSpPr>
        <p:spPr>
          <a:xfrm>
            <a:off x="5273297" y="4274352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接點 113"/>
          <p:cNvCxnSpPr/>
          <p:nvPr/>
        </p:nvCxnSpPr>
        <p:spPr>
          <a:xfrm>
            <a:off x="5946125" y="4274352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接點 114"/>
          <p:cNvCxnSpPr/>
          <p:nvPr/>
        </p:nvCxnSpPr>
        <p:spPr>
          <a:xfrm>
            <a:off x="6590797" y="427291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接點 115"/>
          <p:cNvCxnSpPr/>
          <p:nvPr/>
        </p:nvCxnSpPr>
        <p:spPr>
          <a:xfrm>
            <a:off x="7263625" y="427291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接點 116"/>
          <p:cNvCxnSpPr/>
          <p:nvPr/>
        </p:nvCxnSpPr>
        <p:spPr>
          <a:xfrm>
            <a:off x="4736135" y="4971061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接點 117"/>
          <p:cNvCxnSpPr/>
          <p:nvPr/>
        </p:nvCxnSpPr>
        <p:spPr>
          <a:xfrm>
            <a:off x="5408963" y="4971061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接點 118"/>
          <p:cNvCxnSpPr/>
          <p:nvPr/>
        </p:nvCxnSpPr>
        <p:spPr>
          <a:xfrm>
            <a:off x="7135429" y="497968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接點 119"/>
          <p:cNvCxnSpPr/>
          <p:nvPr/>
        </p:nvCxnSpPr>
        <p:spPr>
          <a:xfrm>
            <a:off x="7808257" y="497968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接點 120"/>
          <p:cNvCxnSpPr/>
          <p:nvPr/>
        </p:nvCxnSpPr>
        <p:spPr>
          <a:xfrm>
            <a:off x="2001985" y="5640372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接點 121"/>
          <p:cNvCxnSpPr/>
          <p:nvPr/>
        </p:nvCxnSpPr>
        <p:spPr>
          <a:xfrm>
            <a:off x="2674813" y="5640372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接點 122"/>
          <p:cNvCxnSpPr/>
          <p:nvPr/>
        </p:nvCxnSpPr>
        <p:spPr>
          <a:xfrm flipV="1">
            <a:off x="4436793" y="2237881"/>
            <a:ext cx="391339" cy="33067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肘形接點 123"/>
          <p:cNvCxnSpPr/>
          <p:nvPr/>
        </p:nvCxnSpPr>
        <p:spPr>
          <a:xfrm rot="16200000" flipH="1" flipV="1">
            <a:off x="4742088" y="2097497"/>
            <a:ext cx="23642" cy="252000"/>
          </a:xfrm>
          <a:prstGeom prst="bentConnector3">
            <a:avLst>
              <a:gd name="adj1" fmla="val -966923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肘形接點 124"/>
          <p:cNvCxnSpPr>
            <a:endCxn id="17" idx="0"/>
          </p:cNvCxnSpPr>
          <p:nvPr/>
        </p:nvCxnSpPr>
        <p:spPr>
          <a:xfrm rot="16200000" flipH="1">
            <a:off x="4287355" y="2563024"/>
            <a:ext cx="313429" cy="324486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5" name="群組 134"/>
          <p:cNvGrpSpPr/>
          <p:nvPr/>
        </p:nvGrpSpPr>
        <p:grpSpPr>
          <a:xfrm>
            <a:off x="5178994" y="5623921"/>
            <a:ext cx="905773" cy="369332"/>
            <a:chOff x="5178994" y="5623921"/>
            <a:chExt cx="905773" cy="369332"/>
          </a:xfrm>
        </p:grpSpPr>
        <p:grpSp>
          <p:nvGrpSpPr>
            <p:cNvPr id="126" name="群組 125"/>
            <p:cNvGrpSpPr/>
            <p:nvPr/>
          </p:nvGrpSpPr>
          <p:grpSpPr>
            <a:xfrm>
              <a:off x="5178994" y="5623921"/>
              <a:ext cx="905773" cy="369332"/>
              <a:chOff x="2057783" y="5780425"/>
              <a:chExt cx="905773" cy="369332"/>
            </a:xfrm>
          </p:grpSpPr>
          <p:grpSp>
            <p:nvGrpSpPr>
              <p:cNvPr id="127" name="群組 126"/>
              <p:cNvGrpSpPr/>
              <p:nvPr/>
            </p:nvGrpSpPr>
            <p:grpSpPr>
              <a:xfrm>
                <a:off x="2057783" y="5780425"/>
                <a:ext cx="905773" cy="336430"/>
                <a:chOff x="698740" y="2536166"/>
                <a:chExt cx="905773" cy="336430"/>
              </a:xfrm>
            </p:grpSpPr>
            <p:sp>
              <p:nvSpPr>
                <p:cNvPr id="129" name="矩形 128"/>
                <p:cNvSpPr/>
                <p:nvPr/>
              </p:nvSpPr>
              <p:spPr>
                <a:xfrm>
                  <a:off x="698740" y="2536166"/>
                  <a:ext cx="905773" cy="33643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30" name="直線接點 129"/>
                <p:cNvCxnSpPr/>
                <p:nvPr/>
              </p:nvCxnSpPr>
              <p:spPr>
                <a:xfrm>
                  <a:off x="944603" y="2536166"/>
                  <a:ext cx="0" cy="336430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直線接點 130"/>
                <p:cNvCxnSpPr/>
                <p:nvPr/>
              </p:nvCxnSpPr>
              <p:spPr>
                <a:xfrm>
                  <a:off x="1367277" y="2536166"/>
                  <a:ext cx="0" cy="336430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8" name="文字方塊 127"/>
              <p:cNvSpPr txBox="1"/>
              <p:nvPr/>
            </p:nvSpPr>
            <p:spPr>
              <a:xfrm>
                <a:off x="2341391" y="5780425"/>
                <a:ext cx="3385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32" name="直線接點 131"/>
            <p:cNvCxnSpPr/>
            <p:nvPr/>
          </p:nvCxnSpPr>
          <p:spPr>
            <a:xfrm>
              <a:off x="5295777" y="5623922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線接點 132"/>
            <p:cNvCxnSpPr/>
            <p:nvPr/>
          </p:nvCxnSpPr>
          <p:spPr>
            <a:xfrm>
              <a:off x="5968605" y="5623922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4" name="肘形接點 133"/>
          <p:cNvCxnSpPr>
            <a:stCxn id="65" idx="3"/>
            <a:endCxn id="129" idx="0"/>
          </p:cNvCxnSpPr>
          <p:nvPr/>
        </p:nvCxnSpPr>
        <p:spPr>
          <a:xfrm>
            <a:off x="5518910" y="5140077"/>
            <a:ext cx="112971" cy="483844"/>
          </a:xfrm>
          <a:prstGeom prst="bentConnector2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肘形接點 136"/>
          <p:cNvCxnSpPr>
            <a:stCxn id="129" idx="1"/>
            <a:endCxn id="64" idx="2"/>
          </p:cNvCxnSpPr>
          <p:nvPr/>
        </p:nvCxnSpPr>
        <p:spPr>
          <a:xfrm rot="10800000">
            <a:off x="5066024" y="5341194"/>
            <a:ext cx="112971" cy="450942"/>
          </a:xfrm>
          <a:prstGeom prst="bentConnector2">
            <a:avLst/>
          </a:prstGeom>
          <a:ln w="28575">
            <a:solidFill>
              <a:srgbClr val="C0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肘形接點 139"/>
          <p:cNvCxnSpPr>
            <a:stCxn id="129" idx="3"/>
            <a:endCxn id="46" idx="2"/>
          </p:cNvCxnSpPr>
          <p:nvPr/>
        </p:nvCxnSpPr>
        <p:spPr>
          <a:xfrm flipH="1" flipV="1">
            <a:off x="5615460" y="4626599"/>
            <a:ext cx="469307" cy="1165537"/>
          </a:xfrm>
          <a:prstGeom prst="bentConnector4">
            <a:avLst>
              <a:gd name="adj1" fmla="val -48710"/>
              <a:gd name="adj2" fmla="val 77939"/>
            </a:avLst>
          </a:prstGeom>
          <a:ln w="28575">
            <a:solidFill>
              <a:srgbClr val="C0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5277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引線二元</a:t>
            </a:r>
            <a:r>
              <a:rPr lang="zh-TW" altLang="en-US" dirty="0" smtClean="0"/>
              <a:t>樹 </a:t>
            </a:r>
            <a:r>
              <a:rPr lang="en-US" altLang="zh-TW" dirty="0" smtClean="0"/>
              <a:t>(5/5)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加入新節點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狀況二：左子節點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31</a:t>
            </a:fld>
            <a:endParaRPr lang="en-US" dirty="0"/>
          </a:p>
        </p:txBody>
      </p:sp>
      <p:cxnSp>
        <p:nvCxnSpPr>
          <p:cNvPr id="7" name="肘形接點 6"/>
          <p:cNvCxnSpPr>
            <a:stCxn id="17" idx="1"/>
            <a:endCxn id="23" idx="0"/>
          </p:cNvCxnSpPr>
          <p:nvPr/>
        </p:nvCxnSpPr>
        <p:spPr>
          <a:xfrm rot="10800000" flipV="1">
            <a:off x="2950639" y="3050196"/>
            <a:ext cx="1202786" cy="501775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肘形接點 7"/>
          <p:cNvCxnSpPr>
            <a:stCxn id="17" idx="3"/>
            <a:endCxn id="29" idx="0"/>
          </p:cNvCxnSpPr>
          <p:nvPr/>
        </p:nvCxnSpPr>
        <p:spPr>
          <a:xfrm>
            <a:off x="5059198" y="3050197"/>
            <a:ext cx="1191831" cy="501775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肘形接點 8"/>
          <p:cNvCxnSpPr>
            <a:stCxn id="23" idx="3"/>
            <a:endCxn id="41" idx="0"/>
          </p:cNvCxnSpPr>
          <p:nvPr/>
        </p:nvCxnSpPr>
        <p:spPr>
          <a:xfrm>
            <a:off x="3403525" y="3720187"/>
            <a:ext cx="185876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肘形接點 9"/>
          <p:cNvCxnSpPr>
            <a:stCxn id="23" idx="1"/>
            <a:endCxn id="35" idx="0"/>
          </p:cNvCxnSpPr>
          <p:nvPr/>
        </p:nvCxnSpPr>
        <p:spPr>
          <a:xfrm rot="10800000" flipV="1">
            <a:off x="2306968" y="3720186"/>
            <a:ext cx="190785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肘形接點 10"/>
          <p:cNvCxnSpPr>
            <a:stCxn id="35" idx="1"/>
            <a:endCxn id="59" idx="0"/>
          </p:cNvCxnSpPr>
          <p:nvPr/>
        </p:nvCxnSpPr>
        <p:spPr>
          <a:xfrm rot="10800000" flipV="1">
            <a:off x="1786086" y="4441933"/>
            <a:ext cx="67994" cy="493144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肘形接點 11"/>
          <p:cNvCxnSpPr>
            <a:stCxn id="29" idx="1"/>
            <a:endCxn id="47" idx="0"/>
          </p:cNvCxnSpPr>
          <p:nvPr/>
        </p:nvCxnSpPr>
        <p:spPr>
          <a:xfrm rot="10800000" flipV="1">
            <a:off x="5603124" y="3720186"/>
            <a:ext cx="195018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肘形接點 12"/>
          <p:cNvCxnSpPr>
            <a:stCxn id="29" idx="3"/>
            <a:endCxn id="53" idx="0"/>
          </p:cNvCxnSpPr>
          <p:nvPr/>
        </p:nvCxnSpPr>
        <p:spPr>
          <a:xfrm>
            <a:off x="6703915" y="3720187"/>
            <a:ext cx="207238" cy="553531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群組 13"/>
          <p:cNvGrpSpPr/>
          <p:nvPr/>
        </p:nvGrpSpPr>
        <p:grpSpPr>
          <a:xfrm>
            <a:off x="4153425" y="2865530"/>
            <a:ext cx="905773" cy="369332"/>
            <a:chOff x="4093043" y="3710878"/>
            <a:chExt cx="905773" cy="369332"/>
          </a:xfrm>
        </p:grpSpPr>
        <p:grpSp>
          <p:nvGrpSpPr>
            <p:cNvPr id="15" name="群組 14"/>
            <p:cNvGrpSpPr/>
            <p:nvPr/>
          </p:nvGrpSpPr>
          <p:grpSpPr>
            <a:xfrm>
              <a:off x="4093043" y="3727330"/>
              <a:ext cx="905773" cy="336430"/>
              <a:chOff x="698740" y="2536166"/>
              <a:chExt cx="905773" cy="336430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" name="直線接點 17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接點 18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文字方塊 15"/>
            <p:cNvSpPr txBox="1"/>
            <p:nvPr/>
          </p:nvSpPr>
          <p:spPr>
            <a:xfrm>
              <a:off x="4376411" y="3710878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2497752" y="3519070"/>
            <a:ext cx="905773" cy="369332"/>
            <a:chOff x="3110198" y="4364418"/>
            <a:chExt cx="905773" cy="369332"/>
          </a:xfrm>
        </p:grpSpPr>
        <p:grpSp>
          <p:nvGrpSpPr>
            <p:cNvPr id="21" name="群組 20"/>
            <p:cNvGrpSpPr/>
            <p:nvPr/>
          </p:nvGrpSpPr>
          <p:grpSpPr>
            <a:xfrm>
              <a:off x="3110198" y="4397320"/>
              <a:ext cx="905773" cy="336430"/>
              <a:chOff x="698740" y="2536166"/>
              <a:chExt cx="905773" cy="336430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4" name="直線接點 23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線接點 24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文字方塊 21"/>
            <p:cNvSpPr txBox="1"/>
            <p:nvPr/>
          </p:nvSpPr>
          <p:spPr>
            <a:xfrm>
              <a:off x="3387395" y="4364418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5798142" y="3535521"/>
            <a:ext cx="905773" cy="369332"/>
            <a:chOff x="5125314" y="4380869"/>
            <a:chExt cx="905773" cy="369332"/>
          </a:xfrm>
        </p:grpSpPr>
        <p:grpSp>
          <p:nvGrpSpPr>
            <p:cNvPr id="27" name="群組 26"/>
            <p:cNvGrpSpPr/>
            <p:nvPr/>
          </p:nvGrpSpPr>
          <p:grpSpPr>
            <a:xfrm>
              <a:off x="5125314" y="4397320"/>
              <a:ext cx="905773" cy="336430"/>
              <a:chOff x="698740" y="2536166"/>
              <a:chExt cx="905773" cy="336430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0" name="直線接點 29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接點 30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文字方塊 27"/>
            <p:cNvSpPr txBox="1"/>
            <p:nvPr/>
          </p:nvSpPr>
          <p:spPr>
            <a:xfrm>
              <a:off x="5411137" y="4380869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1854080" y="4250076"/>
            <a:ext cx="905773" cy="369332"/>
            <a:chOff x="2578664" y="5095424"/>
            <a:chExt cx="905773" cy="369332"/>
          </a:xfrm>
        </p:grpSpPr>
        <p:grpSp>
          <p:nvGrpSpPr>
            <p:cNvPr id="33" name="群組 32"/>
            <p:cNvGrpSpPr/>
            <p:nvPr/>
          </p:nvGrpSpPr>
          <p:grpSpPr>
            <a:xfrm>
              <a:off x="2578664" y="5119066"/>
              <a:ext cx="905773" cy="336430"/>
              <a:chOff x="698740" y="2536166"/>
              <a:chExt cx="905773" cy="336430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6" name="直線接點 35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線接點 36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文字方塊 33"/>
            <p:cNvSpPr txBox="1"/>
            <p:nvPr/>
          </p:nvSpPr>
          <p:spPr>
            <a:xfrm>
              <a:off x="2856738" y="5095424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3136514" y="4242291"/>
            <a:ext cx="905773" cy="369332"/>
            <a:chOff x="3628196" y="5087639"/>
            <a:chExt cx="905773" cy="369332"/>
          </a:xfrm>
        </p:grpSpPr>
        <p:grpSp>
          <p:nvGrpSpPr>
            <p:cNvPr id="39" name="群組 38"/>
            <p:cNvGrpSpPr/>
            <p:nvPr/>
          </p:nvGrpSpPr>
          <p:grpSpPr>
            <a:xfrm>
              <a:off x="3628196" y="5119066"/>
              <a:ext cx="905773" cy="336430"/>
              <a:chOff x="698740" y="2536166"/>
              <a:chExt cx="905773" cy="336430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2" name="直線接點 41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線接點 42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文字方塊 39"/>
            <p:cNvSpPr txBox="1"/>
            <p:nvPr/>
          </p:nvSpPr>
          <p:spPr>
            <a:xfrm>
              <a:off x="3905393" y="5087639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5150237" y="4257267"/>
            <a:ext cx="905773" cy="369332"/>
            <a:chOff x="4606799" y="5102615"/>
            <a:chExt cx="905773" cy="369332"/>
          </a:xfrm>
        </p:grpSpPr>
        <p:grpSp>
          <p:nvGrpSpPr>
            <p:cNvPr id="45" name="群組 44"/>
            <p:cNvGrpSpPr/>
            <p:nvPr/>
          </p:nvGrpSpPr>
          <p:grpSpPr>
            <a:xfrm>
              <a:off x="4606799" y="5119066"/>
              <a:ext cx="905773" cy="336430"/>
              <a:chOff x="698740" y="2536166"/>
              <a:chExt cx="905773" cy="336430"/>
            </a:xfrm>
          </p:grpSpPr>
          <p:sp>
            <p:nvSpPr>
              <p:cNvPr id="47" name="矩形 46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8" name="直線接點 47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線接點 48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文字方塊 45"/>
            <p:cNvSpPr txBox="1"/>
            <p:nvPr/>
          </p:nvSpPr>
          <p:spPr>
            <a:xfrm>
              <a:off x="4909157" y="5102615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6458266" y="4250076"/>
            <a:ext cx="905773" cy="369332"/>
            <a:chOff x="5656048" y="5095424"/>
            <a:chExt cx="905773" cy="369332"/>
          </a:xfrm>
        </p:grpSpPr>
        <p:grpSp>
          <p:nvGrpSpPr>
            <p:cNvPr id="51" name="群組 50"/>
            <p:cNvGrpSpPr/>
            <p:nvPr/>
          </p:nvGrpSpPr>
          <p:grpSpPr>
            <a:xfrm>
              <a:off x="5656048" y="5119066"/>
              <a:ext cx="905773" cy="336430"/>
              <a:chOff x="698740" y="2536166"/>
              <a:chExt cx="905773" cy="336430"/>
            </a:xfrm>
          </p:grpSpPr>
          <p:sp>
            <p:nvSpPr>
              <p:cNvPr id="53" name="矩形 52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4" name="直線接點 53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線接點 54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文字方塊 51"/>
            <p:cNvSpPr txBox="1"/>
            <p:nvPr/>
          </p:nvSpPr>
          <p:spPr>
            <a:xfrm>
              <a:off x="5926832" y="5095424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1333199" y="4935077"/>
            <a:ext cx="905773" cy="369332"/>
            <a:chOff x="2057783" y="5780425"/>
            <a:chExt cx="905773" cy="369332"/>
          </a:xfrm>
        </p:grpSpPr>
        <p:grpSp>
          <p:nvGrpSpPr>
            <p:cNvPr id="57" name="群組 56"/>
            <p:cNvGrpSpPr/>
            <p:nvPr/>
          </p:nvGrpSpPr>
          <p:grpSpPr>
            <a:xfrm>
              <a:off x="2057783" y="5780425"/>
              <a:ext cx="905773" cy="336430"/>
              <a:chOff x="698740" y="2536166"/>
              <a:chExt cx="905773" cy="336430"/>
            </a:xfrm>
          </p:grpSpPr>
          <p:sp>
            <p:nvSpPr>
              <p:cNvPr id="59" name="矩形 58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0" name="直線接點 59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線接點 60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文字方塊 57"/>
            <p:cNvSpPr txBox="1"/>
            <p:nvPr/>
          </p:nvSpPr>
          <p:spPr>
            <a:xfrm>
              <a:off x="2360627" y="5780425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2" name="群組 61"/>
          <p:cNvGrpSpPr/>
          <p:nvPr/>
        </p:nvGrpSpPr>
        <p:grpSpPr>
          <a:xfrm>
            <a:off x="4613137" y="4971862"/>
            <a:ext cx="905773" cy="369332"/>
            <a:chOff x="2057783" y="5780425"/>
            <a:chExt cx="905773" cy="369332"/>
          </a:xfrm>
        </p:grpSpPr>
        <p:grpSp>
          <p:nvGrpSpPr>
            <p:cNvPr id="63" name="群組 62"/>
            <p:cNvGrpSpPr/>
            <p:nvPr/>
          </p:nvGrpSpPr>
          <p:grpSpPr>
            <a:xfrm>
              <a:off x="2057783" y="5780425"/>
              <a:ext cx="905773" cy="336430"/>
              <a:chOff x="698740" y="2536166"/>
              <a:chExt cx="905773" cy="336430"/>
            </a:xfrm>
          </p:grpSpPr>
          <p:sp>
            <p:nvSpPr>
              <p:cNvPr id="65" name="矩形 64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6" name="直線接點 65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線接點 66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文字方塊 63"/>
            <p:cNvSpPr txBox="1"/>
            <p:nvPr/>
          </p:nvSpPr>
          <p:spPr>
            <a:xfrm>
              <a:off x="2328567" y="5780425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8" name="群組 67"/>
          <p:cNvGrpSpPr/>
          <p:nvPr/>
        </p:nvGrpSpPr>
        <p:grpSpPr>
          <a:xfrm>
            <a:off x="7014521" y="4979647"/>
            <a:ext cx="905773" cy="369332"/>
            <a:chOff x="2057783" y="5780425"/>
            <a:chExt cx="905773" cy="369332"/>
          </a:xfrm>
        </p:grpSpPr>
        <p:grpSp>
          <p:nvGrpSpPr>
            <p:cNvPr id="69" name="群組 68"/>
            <p:cNvGrpSpPr/>
            <p:nvPr/>
          </p:nvGrpSpPr>
          <p:grpSpPr>
            <a:xfrm>
              <a:off x="2057783" y="5780425"/>
              <a:ext cx="905773" cy="336430"/>
              <a:chOff x="698740" y="2536166"/>
              <a:chExt cx="905773" cy="336430"/>
            </a:xfrm>
          </p:grpSpPr>
          <p:sp>
            <p:nvSpPr>
              <p:cNvPr id="71" name="矩形 70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2" name="直線接點 71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線接點 72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" name="文字方塊 69"/>
            <p:cNvSpPr txBox="1"/>
            <p:nvPr/>
          </p:nvSpPr>
          <p:spPr>
            <a:xfrm>
              <a:off x="2382077" y="5780425"/>
              <a:ext cx="2744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4" name="群組 73"/>
          <p:cNvGrpSpPr/>
          <p:nvPr/>
        </p:nvGrpSpPr>
        <p:grpSpPr>
          <a:xfrm>
            <a:off x="1881595" y="5640372"/>
            <a:ext cx="905773" cy="369332"/>
            <a:chOff x="2057783" y="5780425"/>
            <a:chExt cx="905773" cy="369332"/>
          </a:xfrm>
        </p:grpSpPr>
        <p:grpSp>
          <p:nvGrpSpPr>
            <p:cNvPr id="75" name="群組 74"/>
            <p:cNvGrpSpPr/>
            <p:nvPr/>
          </p:nvGrpSpPr>
          <p:grpSpPr>
            <a:xfrm>
              <a:off x="2057783" y="5780425"/>
              <a:ext cx="905773" cy="336430"/>
              <a:chOff x="698740" y="2536166"/>
              <a:chExt cx="905773" cy="336430"/>
            </a:xfrm>
          </p:grpSpPr>
          <p:sp>
            <p:nvSpPr>
              <p:cNvPr id="77" name="矩形 76"/>
              <p:cNvSpPr/>
              <p:nvPr/>
            </p:nvSpPr>
            <p:spPr>
              <a:xfrm>
                <a:off x="698740" y="2536166"/>
                <a:ext cx="905773" cy="33643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8" name="直線接點 77"/>
              <p:cNvCxnSpPr/>
              <p:nvPr/>
            </p:nvCxnSpPr>
            <p:spPr>
              <a:xfrm>
                <a:off x="944603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線接點 78"/>
              <p:cNvCxnSpPr/>
              <p:nvPr/>
            </p:nvCxnSpPr>
            <p:spPr>
              <a:xfrm>
                <a:off x="1367277" y="2536166"/>
                <a:ext cx="0" cy="33643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文字方塊 75"/>
            <p:cNvSpPr txBox="1"/>
            <p:nvPr/>
          </p:nvSpPr>
          <p:spPr>
            <a:xfrm>
              <a:off x="2328567" y="5780425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80" name="肘形接點 79"/>
          <p:cNvCxnSpPr>
            <a:stCxn id="47" idx="1"/>
            <a:endCxn id="65" idx="0"/>
          </p:cNvCxnSpPr>
          <p:nvPr/>
        </p:nvCxnSpPr>
        <p:spPr>
          <a:xfrm rot="10800000" flipV="1">
            <a:off x="5066025" y="4441932"/>
            <a:ext cx="84213" cy="529929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肘形接點 80"/>
          <p:cNvCxnSpPr>
            <a:stCxn id="53" idx="3"/>
            <a:endCxn id="70" idx="0"/>
          </p:cNvCxnSpPr>
          <p:nvPr/>
        </p:nvCxnSpPr>
        <p:spPr>
          <a:xfrm>
            <a:off x="7364039" y="4441933"/>
            <a:ext cx="111994" cy="537714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肘形接點 81"/>
          <p:cNvCxnSpPr>
            <a:stCxn id="59" idx="3"/>
            <a:endCxn id="76" idx="0"/>
          </p:cNvCxnSpPr>
          <p:nvPr/>
        </p:nvCxnSpPr>
        <p:spPr>
          <a:xfrm>
            <a:off x="2238972" y="5103292"/>
            <a:ext cx="95509" cy="537080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肘形接點 82"/>
          <p:cNvCxnSpPr>
            <a:stCxn id="59" idx="1"/>
            <a:endCxn id="96" idx="1"/>
          </p:cNvCxnSpPr>
          <p:nvPr/>
        </p:nvCxnSpPr>
        <p:spPr>
          <a:xfrm rot="10800000" flipH="1">
            <a:off x="1333199" y="2400338"/>
            <a:ext cx="2826396" cy="2702954"/>
          </a:xfrm>
          <a:prstGeom prst="bentConnector3">
            <a:avLst>
              <a:gd name="adj1" fmla="val -8088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肘形接點 83"/>
          <p:cNvCxnSpPr>
            <a:stCxn id="71" idx="3"/>
            <a:endCxn id="96" idx="3"/>
          </p:cNvCxnSpPr>
          <p:nvPr/>
        </p:nvCxnSpPr>
        <p:spPr>
          <a:xfrm flipH="1" flipV="1">
            <a:off x="5065368" y="2400338"/>
            <a:ext cx="2854926" cy="2747524"/>
          </a:xfrm>
          <a:prstGeom prst="bentConnector3">
            <a:avLst>
              <a:gd name="adj1" fmla="val -8007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肘形接點 84"/>
          <p:cNvCxnSpPr>
            <a:stCxn id="77" idx="1"/>
            <a:endCxn id="58" idx="2"/>
          </p:cNvCxnSpPr>
          <p:nvPr/>
        </p:nvCxnSpPr>
        <p:spPr>
          <a:xfrm rot="10800000">
            <a:off x="1786085" y="5304409"/>
            <a:ext cx="95510" cy="504178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肘形接點 85"/>
          <p:cNvCxnSpPr>
            <a:stCxn id="77" idx="3"/>
            <a:endCxn id="34" idx="2"/>
          </p:cNvCxnSpPr>
          <p:nvPr/>
        </p:nvCxnSpPr>
        <p:spPr>
          <a:xfrm flipH="1" flipV="1">
            <a:off x="2307843" y="4619408"/>
            <a:ext cx="479525" cy="1189179"/>
          </a:xfrm>
          <a:prstGeom prst="bentConnector4">
            <a:avLst>
              <a:gd name="adj1" fmla="val -27884"/>
              <a:gd name="adj2" fmla="val 64327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肘形接點 86"/>
          <p:cNvCxnSpPr>
            <a:stCxn id="41" idx="1"/>
          </p:cNvCxnSpPr>
          <p:nvPr/>
        </p:nvCxnSpPr>
        <p:spPr>
          <a:xfrm rot="10800000">
            <a:off x="3051282" y="3885535"/>
            <a:ext cx="85232" cy="556399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肘形接點 87"/>
          <p:cNvCxnSpPr>
            <a:stCxn id="35" idx="3"/>
          </p:cNvCxnSpPr>
          <p:nvPr/>
        </p:nvCxnSpPr>
        <p:spPr>
          <a:xfrm flipV="1">
            <a:off x="2759853" y="3888403"/>
            <a:ext cx="92398" cy="553530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肘形接點 88"/>
          <p:cNvCxnSpPr>
            <a:stCxn id="41" idx="3"/>
          </p:cNvCxnSpPr>
          <p:nvPr/>
        </p:nvCxnSpPr>
        <p:spPr>
          <a:xfrm flipV="1">
            <a:off x="4042287" y="3240620"/>
            <a:ext cx="481067" cy="1201313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肘形接點 89"/>
          <p:cNvCxnSpPr>
            <a:stCxn id="65" idx="1"/>
          </p:cNvCxnSpPr>
          <p:nvPr/>
        </p:nvCxnSpPr>
        <p:spPr>
          <a:xfrm rot="10800000" flipH="1">
            <a:off x="4613136" y="3237753"/>
            <a:ext cx="97121" cy="1902325"/>
          </a:xfrm>
          <a:prstGeom prst="bentConnector4">
            <a:avLst>
              <a:gd name="adj1" fmla="val -119908"/>
              <a:gd name="adj2" fmla="val 2948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肘形接點 90"/>
          <p:cNvCxnSpPr>
            <a:stCxn id="65" idx="3"/>
            <a:endCxn id="46" idx="2"/>
          </p:cNvCxnSpPr>
          <p:nvPr/>
        </p:nvCxnSpPr>
        <p:spPr>
          <a:xfrm flipV="1">
            <a:off x="5518910" y="4626599"/>
            <a:ext cx="96550" cy="513478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肘形接點 91"/>
          <p:cNvCxnSpPr>
            <a:stCxn id="71" idx="1"/>
            <a:endCxn id="52" idx="2"/>
          </p:cNvCxnSpPr>
          <p:nvPr/>
        </p:nvCxnSpPr>
        <p:spPr>
          <a:xfrm rot="10800000">
            <a:off x="6911153" y="4619408"/>
            <a:ext cx="103369" cy="528454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肘形接點 92"/>
          <p:cNvCxnSpPr>
            <a:stCxn id="47" idx="3"/>
          </p:cNvCxnSpPr>
          <p:nvPr/>
        </p:nvCxnSpPr>
        <p:spPr>
          <a:xfrm flipV="1">
            <a:off x="6056010" y="3899117"/>
            <a:ext cx="94397" cy="542816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肘形接點 93"/>
          <p:cNvCxnSpPr>
            <a:stCxn id="53" idx="1"/>
          </p:cNvCxnSpPr>
          <p:nvPr/>
        </p:nvCxnSpPr>
        <p:spPr>
          <a:xfrm rot="10800000">
            <a:off x="6377552" y="3901985"/>
            <a:ext cx="80715" cy="539948"/>
          </a:xfrm>
          <a:prstGeom prst="bentConnector2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群組 94"/>
          <p:cNvGrpSpPr/>
          <p:nvPr/>
        </p:nvGrpSpPr>
        <p:grpSpPr>
          <a:xfrm>
            <a:off x="4159595" y="2232123"/>
            <a:ext cx="905773" cy="336430"/>
            <a:chOff x="698740" y="2536166"/>
            <a:chExt cx="905773" cy="336430"/>
          </a:xfrm>
        </p:grpSpPr>
        <p:sp>
          <p:nvSpPr>
            <p:cNvPr id="96" name="矩形 95"/>
            <p:cNvSpPr/>
            <p:nvPr/>
          </p:nvSpPr>
          <p:spPr>
            <a:xfrm>
              <a:off x="698740" y="2536166"/>
              <a:ext cx="905773" cy="3364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7" name="直線接點 96"/>
            <p:cNvCxnSpPr/>
            <p:nvPr/>
          </p:nvCxnSpPr>
          <p:spPr>
            <a:xfrm>
              <a:off x="944603" y="2536166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線接點 97"/>
            <p:cNvCxnSpPr/>
            <p:nvPr/>
          </p:nvCxnSpPr>
          <p:spPr>
            <a:xfrm>
              <a:off x="1367277" y="2536166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9" name="直線接點 98"/>
          <p:cNvCxnSpPr/>
          <p:nvPr/>
        </p:nvCxnSpPr>
        <p:spPr>
          <a:xfrm>
            <a:off x="4281826" y="2237881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接點 99"/>
          <p:cNvCxnSpPr/>
          <p:nvPr/>
        </p:nvCxnSpPr>
        <p:spPr>
          <a:xfrm>
            <a:off x="4954654" y="2237881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接點 100"/>
          <p:cNvCxnSpPr/>
          <p:nvPr/>
        </p:nvCxnSpPr>
        <p:spPr>
          <a:xfrm>
            <a:off x="4281826" y="2881982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接點 101"/>
          <p:cNvCxnSpPr/>
          <p:nvPr/>
        </p:nvCxnSpPr>
        <p:spPr>
          <a:xfrm>
            <a:off x="4954654" y="2881982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接點 102"/>
          <p:cNvCxnSpPr/>
          <p:nvPr/>
        </p:nvCxnSpPr>
        <p:spPr>
          <a:xfrm>
            <a:off x="2614053" y="3551171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接點 103"/>
          <p:cNvCxnSpPr/>
          <p:nvPr/>
        </p:nvCxnSpPr>
        <p:spPr>
          <a:xfrm>
            <a:off x="3286881" y="3551171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/>
          <p:cNvCxnSpPr/>
          <p:nvPr/>
        </p:nvCxnSpPr>
        <p:spPr>
          <a:xfrm>
            <a:off x="1975858" y="427291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接點 105"/>
          <p:cNvCxnSpPr/>
          <p:nvPr/>
        </p:nvCxnSpPr>
        <p:spPr>
          <a:xfrm>
            <a:off x="2648686" y="427291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接點 106"/>
          <p:cNvCxnSpPr/>
          <p:nvPr/>
        </p:nvCxnSpPr>
        <p:spPr>
          <a:xfrm>
            <a:off x="1449486" y="493507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接點 107"/>
          <p:cNvCxnSpPr/>
          <p:nvPr/>
        </p:nvCxnSpPr>
        <p:spPr>
          <a:xfrm>
            <a:off x="2122314" y="493507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接點 108"/>
          <p:cNvCxnSpPr/>
          <p:nvPr/>
        </p:nvCxnSpPr>
        <p:spPr>
          <a:xfrm>
            <a:off x="3252377" y="427291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接點 109"/>
          <p:cNvCxnSpPr/>
          <p:nvPr/>
        </p:nvCxnSpPr>
        <p:spPr>
          <a:xfrm>
            <a:off x="3925205" y="427291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接點 110"/>
          <p:cNvCxnSpPr/>
          <p:nvPr/>
        </p:nvCxnSpPr>
        <p:spPr>
          <a:xfrm>
            <a:off x="5917969" y="3551973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/>
          <p:nvPr/>
        </p:nvCxnSpPr>
        <p:spPr>
          <a:xfrm>
            <a:off x="6590797" y="3551973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接點 112"/>
          <p:cNvCxnSpPr/>
          <p:nvPr/>
        </p:nvCxnSpPr>
        <p:spPr>
          <a:xfrm>
            <a:off x="5273297" y="4274352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接點 113"/>
          <p:cNvCxnSpPr/>
          <p:nvPr/>
        </p:nvCxnSpPr>
        <p:spPr>
          <a:xfrm>
            <a:off x="5946125" y="4274352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接點 114"/>
          <p:cNvCxnSpPr/>
          <p:nvPr/>
        </p:nvCxnSpPr>
        <p:spPr>
          <a:xfrm>
            <a:off x="6590797" y="427291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接點 115"/>
          <p:cNvCxnSpPr/>
          <p:nvPr/>
        </p:nvCxnSpPr>
        <p:spPr>
          <a:xfrm>
            <a:off x="7263625" y="427291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接點 116"/>
          <p:cNvCxnSpPr/>
          <p:nvPr/>
        </p:nvCxnSpPr>
        <p:spPr>
          <a:xfrm>
            <a:off x="4736135" y="4971061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接點 117"/>
          <p:cNvCxnSpPr/>
          <p:nvPr/>
        </p:nvCxnSpPr>
        <p:spPr>
          <a:xfrm>
            <a:off x="5408963" y="4971061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接點 118"/>
          <p:cNvCxnSpPr/>
          <p:nvPr/>
        </p:nvCxnSpPr>
        <p:spPr>
          <a:xfrm>
            <a:off x="7135429" y="497968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接點 119"/>
          <p:cNvCxnSpPr/>
          <p:nvPr/>
        </p:nvCxnSpPr>
        <p:spPr>
          <a:xfrm>
            <a:off x="7808257" y="4979687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接點 120"/>
          <p:cNvCxnSpPr/>
          <p:nvPr/>
        </p:nvCxnSpPr>
        <p:spPr>
          <a:xfrm>
            <a:off x="2001985" y="5640372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接點 121"/>
          <p:cNvCxnSpPr/>
          <p:nvPr/>
        </p:nvCxnSpPr>
        <p:spPr>
          <a:xfrm>
            <a:off x="2674813" y="5640372"/>
            <a:ext cx="0" cy="33643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接點 122"/>
          <p:cNvCxnSpPr/>
          <p:nvPr/>
        </p:nvCxnSpPr>
        <p:spPr>
          <a:xfrm flipV="1">
            <a:off x="4436793" y="2237881"/>
            <a:ext cx="391339" cy="33067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肘形接點 123"/>
          <p:cNvCxnSpPr/>
          <p:nvPr/>
        </p:nvCxnSpPr>
        <p:spPr>
          <a:xfrm rot="16200000" flipH="1" flipV="1">
            <a:off x="4742088" y="2097497"/>
            <a:ext cx="23642" cy="252000"/>
          </a:xfrm>
          <a:prstGeom prst="bentConnector3">
            <a:avLst>
              <a:gd name="adj1" fmla="val -966923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肘形接點 124"/>
          <p:cNvCxnSpPr>
            <a:endCxn id="17" idx="0"/>
          </p:cNvCxnSpPr>
          <p:nvPr/>
        </p:nvCxnSpPr>
        <p:spPr>
          <a:xfrm rot="16200000" flipH="1">
            <a:off x="4287355" y="2563024"/>
            <a:ext cx="313429" cy="324486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5" name="群組 134"/>
          <p:cNvGrpSpPr/>
          <p:nvPr/>
        </p:nvGrpSpPr>
        <p:grpSpPr>
          <a:xfrm>
            <a:off x="4042287" y="5640372"/>
            <a:ext cx="905773" cy="369332"/>
            <a:chOff x="4042287" y="5640372"/>
            <a:chExt cx="905773" cy="369332"/>
          </a:xfrm>
        </p:grpSpPr>
        <p:grpSp>
          <p:nvGrpSpPr>
            <p:cNvPr id="126" name="群組 125"/>
            <p:cNvGrpSpPr/>
            <p:nvPr/>
          </p:nvGrpSpPr>
          <p:grpSpPr>
            <a:xfrm>
              <a:off x="4042287" y="5640372"/>
              <a:ext cx="905773" cy="369332"/>
              <a:chOff x="2057783" y="5780425"/>
              <a:chExt cx="905773" cy="369332"/>
            </a:xfrm>
          </p:grpSpPr>
          <p:grpSp>
            <p:nvGrpSpPr>
              <p:cNvPr id="127" name="群組 126"/>
              <p:cNvGrpSpPr/>
              <p:nvPr/>
            </p:nvGrpSpPr>
            <p:grpSpPr>
              <a:xfrm>
                <a:off x="2057783" y="5780425"/>
                <a:ext cx="905773" cy="336430"/>
                <a:chOff x="698740" y="2536166"/>
                <a:chExt cx="905773" cy="336430"/>
              </a:xfrm>
            </p:grpSpPr>
            <p:sp>
              <p:nvSpPr>
                <p:cNvPr id="129" name="矩形 128"/>
                <p:cNvSpPr/>
                <p:nvPr/>
              </p:nvSpPr>
              <p:spPr>
                <a:xfrm>
                  <a:off x="698740" y="2536166"/>
                  <a:ext cx="905773" cy="33643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30" name="直線接點 129"/>
                <p:cNvCxnSpPr/>
                <p:nvPr/>
              </p:nvCxnSpPr>
              <p:spPr>
                <a:xfrm>
                  <a:off x="944603" y="2536166"/>
                  <a:ext cx="0" cy="336430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直線接點 130"/>
                <p:cNvCxnSpPr/>
                <p:nvPr/>
              </p:nvCxnSpPr>
              <p:spPr>
                <a:xfrm>
                  <a:off x="1367277" y="2536166"/>
                  <a:ext cx="0" cy="336430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8" name="文字方塊 127"/>
              <p:cNvSpPr txBox="1"/>
              <p:nvPr/>
            </p:nvSpPr>
            <p:spPr>
              <a:xfrm>
                <a:off x="2341391" y="5780425"/>
                <a:ext cx="3385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32" name="直線接點 131"/>
            <p:cNvCxnSpPr/>
            <p:nvPr/>
          </p:nvCxnSpPr>
          <p:spPr>
            <a:xfrm>
              <a:off x="4162468" y="5640372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線接點 132"/>
            <p:cNvCxnSpPr/>
            <p:nvPr/>
          </p:nvCxnSpPr>
          <p:spPr>
            <a:xfrm>
              <a:off x="4835296" y="5640372"/>
              <a:ext cx="0" cy="33643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4" name="肘形接點 133"/>
          <p:cNvCxnSpPr>
            <a:stCxn id="65" idx="1"/>
            <a:endCxn id="128" idx="0"/>
          </p:cNvCxnSpPr>
          <p:nvPr/>
        </p:nvCxnSpPr>
        <p:spPr>
          <a:xfrm rot="10800000" flipV="1">
            <a:off x="4495173" y="5140076"/>
            <a:ext cx="117964" cy="500295"/>
          </a:xfrm>
          <a:prstGeom prst="bentConnector2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肘形接點 136"/>
          <p:cNvCxnSpPr>
            <a:stCxn id="129" idx="1"/>
            <a:endCxn id="17" idx="2"/>
          </p:cNvCxnSpPr>
          <p:nvPr/>
        </p:nvCxnSpPr>
        <p:spPr>
          <a:xfrm rot="10800000" flipH="1">
            <a:off x="4042286" y="3218413"/>
            <a:ext cx="564025" cy="2590175"/>
          </a:xfrm>
          <a:prstGeom prst="bentConnector4">
            <a:avLst>
              <a:gd name="adj1" fmla="val -40530"/>
              <a:gd name="adj2" fmla="val 39259"/>
            </a:avLst>
          </a:prstGeom>
          <a:ln w="28575">
            <a:solidFill>
              <a:srgbClr val="C0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肘形接點 139"/>
          <p:cNvCxnSpPr>
            <a:stCxn id="129" idx="3"/>
            <a:endCxn id="64" idx="2"/>
          </p:cNvCxnSpPr>
          <p:nvPr/>
        </p:nvCxnSpPr>
        <p:spPr>
          <a:xfrm flipV="1">
            <a:off x="4948060" y="5341194"/>
            <a:ext cx="117963" cy="467393"/>
          </a:xfrm>
          <a:prstGeom prst="bentConnector2">
            <a:avLst/>
          </a:prstGeom>
          <a:ln w="28575">
            <a:solidFill>
              <a:srgbClr val="C0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129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將一般樹轉為二元樹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Step 1.</a:t>
            </a:r>
            <a:r>
              <a:rPr lang="zh-TW" altLang="en-US" dirty="0" smtClean="0"/>
              <a:t> 將節點的所有兄弟</a:t>
            </a:r>
            <a:r>
              <a:rPr lang="en-US" altLang="zh-TW" dirty="0" smtClean="0"/>
              <a:t>(sibling)</a:t>
            </a:r>
            <a:r>
              <a:rPr lang="zh-TW" altLang="en-US" dirty="0" smtClean="0"/>
              <a:t>連接在一起</a:t>
            </a:r>
            <a:endParaRPr lang="en-US" altLang="zh-TW" dirty="0" smtClean="0"/>
          </a:p>
          <a:p>
            <a:r>
              <a:rPr lang="en-US" altLang="zh-TW" dirty="0" smtClean="0"/>
              <a:t>Step 2. </a:t>
            </a:r>
            <a:r>
              <a:rPr lang="zh-TW" altLang="en-US" dirty="0" smtClean="0"/>
              <a:t>保留最左邊的子節點鏈結，其餘刪除</a:t>
            </a:r>
            <a:endParaRPr lang="en-US" altLang="zh-TW" dirty="0" smtClean="0"/>
          </a:p>
          <a:p>
            <a:r>
              <a:rPr lang="en-US" altLang="zh-TW" dirty="0" smtClean="0"/>
              <a:t>Step 3.</a:t>
            </a:r>
            <a:r>
              <a:rPr lang="zh-TW" altLang="en-US" dirty="0" smtClean="0"/>
              <a:t> 順時針旋轉</a:t>
            </a:r>
            <a:r>
              <a:rPr lang="en-US" altLang="zh-TW" dirty="0" smtClean="0"/>
              <a:t>45</a:t>
            </a:r>
            <a:r>
              <a:rPr lang="zh-TW" altLang="en-US" dirty="0" smtClean="0"/>
              <a:t>度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32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4180585" y="355240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4180585" y="430003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4180585" y="50505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620985" y="50505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3746389" y="50505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3246057" y="355240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3534057" y="430003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2958057" y="430003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5097861" y="355240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26" idx="4"/>
            <a:endCxn id="7" idx="0"/>
          </p:cNvCxnSpPr>
          <p:nvPr/>
        </p:nvCxnSpPr>
        <p:spPr>
          <a:xfrm>
            <a:off x="4324585" y="3115568"/>
            <a:ext cx="0" cy="43684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26" idx="3"/>
            <a:endCxn id="12" idx="7"/>
          </p:cNvCxnSpPr>
          <p:nvPr/>
        </p:nvCxnSpPr>
        <p:spPr>
          <a:xfrm flipH="1">
            <a:off x="3491880" y="3073391"/>
            <a:ext cx="730882" cy="52119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26" idx="5"/>
            <a:endCxn id="15" idx="1"/>
          </p:cNvCxnSpPr>
          <p:nvPr/>
        </p:nvCxnSpPr>
        <p:spPr>
          <a:xfrm>
            <a:off x="4426408" y="3073391"/>
            <a:ext cx="713630" cy="52119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7" idx="4"/>
            <a:endCxn id="8" idx="0"/>
          </p:cNvCxnSpPr>
          <p:nvPr/>
        </p:nvCxnSpPr>
        <p:spPr>
          <a:xfrm>
            <a:off x="4324585" y="3840408"/>
            <a:ext cx="0" cy="4596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2" idx="4"/>
            <a:endCxn id="14" idx="0"/>
          </p:cNvCxnSpPr>
          <p:nvPr/>
        </p:nvCxnSpPr>
        <p:spPr>
          <a:xfrm flipH="1">
            <a:off x="3102057" y="3840408"/>
            <a:ext cx="288000" cy="4596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2" idx="4"/>
            <a:endCxn id="13" idx="0"/>
          </p:cNvCxnSpPr>
          <p:nvPr/>
        </p:nvCxnSpPr>
        <p:spPr>
          <a:xfrm>
            <a:off x="3390057" y="3840408"/>
            <a:ext cx="288000" cy="4596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8" idx="4"/>
            <a:endCxn id="9" idx="0"/>
          </p:cNvCxnSpPr>
          <p:nvPr/>
        </p:nvCxnSpPr>
        <p:spPr>
          <a:xfrm>
            <a:off x="4324585" y="4588033"/>
            <a:ext cx="0" cy="46249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8" idx="5"/>
            <a:endCxn id="10" idx="0"/>
          </p:cNvCxnSpPr>
          <p:nvPr/>
        </p:nvCxnSpPr>
        <p:spPr>
          <a:xfrm>
            <a:off x="4426408" y="4545856"/>
            <a:ext cx="338577" cy="50467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8" idx="3"/>
            <a:endCxn id="11" idx="0"/>
          </p:cNvCxnSpPr>
          <p:nvPr/>
        </p:nvCxnSpPr>
        <p:spPr>
          <a:xfrm flipH="1">
            <a:off x="3890389" y="4545856"/>
            <a:ext cx="332373" cy="50467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群組 24"/>
          <p:cNvGrpSpPr/>
          <p:nvPr/>
        </p:nvGrpSpPr>
        <p:grpSpPr>
          <a:xfrm>
            <a:off x="4177129" y="2761024"/>
            <a:ext cx="300082" cy="369332"/>
            <a:chOff x="4177129" y="2180529"/>
            <a:chExt cx="300082" cy="369332"/>
          </a:xfrm>
        </p:grpSpPr>
        <p:sp>
          <p:nvSpPr>
            <p:cNvPr id="26" name="橢圓 25"/>
            <p:cNvSpPr/>
            <p:nvPr/>
          </p:nvSpPr>
          <p:spPr>
            <a:xfrm>
              <a:off x="4180585" y="224707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4177129" y="218052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文字方塊 27"/>
          <p:cNvSpPr txBox="1"/>
          <p:nvPr/>
        </p:nvSpPr>
        <p:spPr>
          <a:xfrm>
            <a:off x="3239301" y="351174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4183787" y="3486047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082478" y="34944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2952043" y="4224863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547252" y="4233489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4182829" y="421007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3733936" y="50012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4199344" y="5003884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4657844" y="4983984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直線接點 36"/>
          <p:cNvCxnSpPr>
            <a:stCxn id="7" idx="2"/>
            <a:endCxn id="12" idx="6"/>
          </p:cNvCxnSpPr>
          <p:nvPr/>
        </p:nvCxnSpPr>
        <p:spPr>
          <a:xfrm flipH="1">
            <a:off x="3534057" y="3696408"/>
            <a:ext cx="646528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>
            <a:stCxn id="15" idx="2"/>
            <a:endCxn id="7" idx="6"/>
          </p:cNvCxnSpPr>
          <p:nvPr/>
        </p:nvCxnSpPr>
        <p:spPr>
          <a:xfrm flipH="1">
            <a:off x="4468585" y="3696408"/>
            <a:ext cx="629276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>
            <a:stCxn id="13" idx="2"/>
            <a:endCxn id="14" idx="6"/>
          </p:cNvCxnSpPr>
          <p:nvPr/>
        </p:nvCxnSpPr>
        <p:spPr>
          <a:xfrm flipH="1">
            <a:off x="3246057" y="4444033"/>
            <a:ext cx="288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>
            <a:stCxn id="9" idx="2"/>
            <a:endCxn id="11" idx="6"/>
          </p:cNvCxnSpPr>
          <p:nvPr/>
        </p:nvCxnSpPr>
        <p:spPr>
          <a:xfrm flipH="1">
            <a:off x="4034389" y="5194528"/>
            <a:ext cx="146196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>
            <a:stCxn id="10" idx="2"/>
            <a:endCxn id="9" idx="6"/>
          </p:cNvCxnSpPr>
          <p:nvPr/>
        </p:nvCxnSpPr>
        <p:spPr>
          <a:xfrm flipH="1">
            <a:off x="4468585" y="5194528"/>
            <a:ext cx="1524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727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將樹林轉為二元樹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Step 1.</a:t>
            </a:r>
            <a:r>
              <a:rPr lang="zh-TW" altLang="en-US" dirty="0" smtClean="0"/>
              <a:t> 將樹林中的每棵樹轉為二元樹</a:t>
            </a:r>
            <a:r>
              <a:rPr lang="en-US" altLang="zh-TW" dirty="0" smtClean="0"/>
              <a:t>(</a:t>
            </a:r>
            <a:r>
              <a:rPr lang="zh-TW" altLang="en-US" dirty="0" smtClean="0"/>
              <a:t>不旋轉</a:t>
            </a:r>
            <a:r>
              <a:rPr lang="en-US" altLang="zh-TW" dirty="0" smtClean="0"/>
              <a:t>45</a:t>
            </a:r>
            <a:r>
              <a:rPr lang="zh-TW" altLang="en-US" dirty="0" smtClean="0"/>
              <a:t>度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Step 2. </a:t>
            </a:r>
            <a:r>
              <a:rPr lang="zh-TW" altLang="en-US" dirty="0" smtClean="0"/>
              <a:t>把所有二元樹的樹根節點鏈結在一起</a:t>
            </a:r>
            <a:endParaRPr lang="en-US" altLang="zh-TW" dirty="0" smtClean="0"/>
          </a:p>
          <a:p>
            <a:r>
              <a:rPr lang="en-US" altLang="zh-TW" dirty="0" smtClean="0"/>
              <a:t>Step 3.</a:t>
            </a:r>
            <a:r>
              <a:rPr lang="zh-TW" altLang="en-US" dirty="0" smtClean="0"/>
              <a:t> 順時針旋轉</a:t>
            </a:r>
            <a:r>
              <a:rPr lang="en-US" altLang="zh-TW" dirty="0" smtClean="0"/>
              <a:t>45</a:t>
            </a:r>
            <a:r>
              <a:rPr lang="zh-TW" altLang="en-US" dirty="0" smtClean="0"/>
              <a:t>度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33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4180585" y="355240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4180585" y="430003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4180585" y="50505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620985" y="50505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3746389" y="50505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3246057" y="355240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3534057" y="430003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2958057" y="430003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5097861" y="355240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接點 17"/>
          <p:cNvCxnSpPr>
            <a:stCxn id="26" idx="0"/>
            <a:endCxn id="15" idx="4"/>
          </p:cNvCxnSpPr>
          <p:nvPr/>
        </p:nvCxnSpPr>
        <p:spPr>
          <a:xfrm flipV="1">
            <a:off x="5233810" y="3840408"/>
            <a:ext cx="8051" cy="48550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7" idx="4"/>
            <a:endCxn id="8" idx="0"/>
          </p:cNvCxnSpPr>
          <p:nvPr/>
        </p:nvCxnSpPr>
        <p:spPr>
          <a:xfrm>
            <a:off x="4324585" y="3840408"/>
            <a:ext cx="0" cy="4596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2" idx="4"/>
            <a:endCxn id="14" idx="0"/>
          </p:cNvCxnSpPr>
          <p:nvPr/>
        </p:nvCxnSpPr>
        <p:spPr>
          <a:xfrm flipH="1">
            <a:off x="3102057" y="3840408"/>
            <a:ext cx="288000" cy="4596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2" idx="4"/>
            <a:endCxn id="13" idx="0"/>
          </p:cNvCxnSpPr>
          <p:nvPr/>
        </p:nvCxnSpPr>
        <p:spPr>
          <a:xfrm>
            <a:off x="3390057" y="3840408"/>
            <a:ext cx="288000" cy="4596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8" idx="4"/>
            <a:endCxn id="9" idx="0"/>
          </p:cNvCxnSpPr>
          <p:nvPr/>
        </p:nvCxnSpPr>
        <p:spPr>
          <a:xfrm>
            <a:off x="4324585" y="4588033"/>
            <a:ext cx="0" cy="46249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8" idx="5"/>
            <a:endCxn id="10" idx="0"/>
          </p:cNvCxnSpPr>
          <p:nvPr/>
        </p:nvCxnSpPr>
        <p:spPr>
          <a:xfrm>
            <a:off x="4426408" y="4545856"/>
            <a:ext cx="338577" cy="50467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8" idx="3"/>
            <a:endCxn id="11" idx="0"/>
          </p:cNvCxnSpPr>
          <p:nvPr/>
        </p:nvCxnSpPr>
        <p:spPr>
          <a:xfrm flipH="1">
            <a:off x="3890389" y="4545856"/>
            <a:ext cx="332373" cy="50467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5089810" y="432591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/>
          <p:cNvSpPr txBox="1"/>
          <p:nvPr/>
        </p:nvSpPr>
        <p:spPr>
          <a:xfrm>
            <a:off x="5074751" y="426730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3239301" y="351174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4183787" y="348604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082478" y="349449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2952043" y="42248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547252" y="4233489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4182829" y="4210075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3733936" y="50012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4199344" y="5003884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4657844" y="4983984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直線接點 36"/>
          <p:cNvCxnSpPr>
            <a:stCxn id="7" idx="2"/>
            <a:endCxn id="12" idx="6"/>
          </p:cNvCxnSpPr>
          <p:nvPr/>
        </p:nvCxnSpPr>
        <p:spPr>
          <a:xfrm flipH="1">
            <a:off x="3534057" y="3696408"/>
            <a:ext cx="64652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>
            <a:stCxn id="15" idx="2"/>
            <a:endCxn id="7" idx="6"/>
          </p:cNvCxnSpPr>
          <p:nvPr/>
        </p:nvCxnSpPr>
        <p:spPr>
          <a:xfrm flipH="1">
            <a:off x="4468585" y="3696408"/>
            <a:ext cx="62927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>
            <a:stCxn id="13" idx="2"/>
            <a:endCxn id="14" idx="6"/>
          </p:cNvCxnSpPr>
          <p:nvPr/>
        </p:nvCxnSpPr>
        <p:spPr>
          <a:xfrm flipH="1">
            <a:off x="3246057" y="4444033"/>
            <a:ext cx="288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>
            <a:stCxn id="9" idx="2"/>
            <a:endCxn id="11" idx="6"/>
          </p:cNvCxnSpPr>
          <p:nvPr/>
        </p:nvCxnSpPr>
        <p:spPr>
          <a:xfrm flipH="1">
            <a:off x="4034389" y="5194528"/>
            <a:ext cx="146196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>
            <a:stCxn id="10" idx="2"/>
            <a:endCxn id="9" idx="6"/>
          </p:cNvCxnSpPr>
          <p:nvPr/>
        </p:nvCxnSpPr>
        <p:spPr>
          <a:xfrm flipH="1">
            <a:off x="4468585" y="5194528"/>
            <a:ext cx="1524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60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決定唯一的二元樹 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每一棵二元樹皆有</a:t>
            </a:r>
            <a:r>
              <a:rPr lang="zh-TW" altLang="en-US" dirty="0" smtClean="0">
                <a:solidFill>
                  <a:srgbClr val="C00000"/>
                </a:solidFill>
              </a:rPr>
              <a:t>唯一的一對中序與前序</a:t>
            </a:r>
            <a:endParaRPr lang="en-US" altLang="zh-TW" dirty="0" smtClean="0">
              <a:solidFill>
                <a:srgbClr val="C00000"/>
              </a:solidFill>
            </a:endParaRP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給予中序與前序，可決定一棵二元</a:t>
            </a:r>
            <a:r>
              <a:rPr lang="zh-TW" altLang="en-US" dirty="0">
                <a:solidFill>
                  <a:srgbClr val="0000FF"/>
                </a:solidFill>
              </a:rPr>
              <a:t>樹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34</a:t>
            </a:fld>
            <a:endParaRPr lang="en-US" altLang="zh-TW" dirty="0"/>
          </a:p>
        </p:txBody>
      </p:sp>
      <p:sp>
        <p:nvSpPr>
          <p:cNvPr id="7" name="文字方塊 6"/>
          <p:cNvSpPr txBox="1"/>
          <p:nvPr/>
        </p:nvSpPr>
        <p:spPr>
          <a:xfrm>
            <a:off x="1763688" y="2564904"/>
            <a:ext cx="22576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F D H G I B E A C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860032" y="2564904"/>
            <a:ext cx="22288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A B D F G H I E C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543677" y="217174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中序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625658" y="2164001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前序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4913506" y="2655446"/>
            <a:ext cx="252000" cy="252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3412228" y="2655446"/>
            <a:ext cx="252000" cy="252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2627784" y="3964994"/>
            <a:ext cx="1807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F D H G I B E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434817" y="3964994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C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217017" y="3158118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A</a:t>
            </a:r>
            <a:endParaRPr lang="zh-TW" altLang="en-US" sz="2000" b="1" dirty="0">
              <a:latin typeface="+mj-lt"/>
            </a:endParaRPr>
          </a:p>
        </p:txBody>
      </p:sp>
      <p:cxnSp>
        <p:nvCxnSpPr>
          <p:cNvPr id="17" name="直線接點 16"/>
          <p:cNvCxnSpPr>
            <a:stCxn id="15" idx="2"/>
            <a:endCxn id="14" idx="0"/>
          </p:cNvCxnSpPr>
          <p:nvPr/>
        </p:nvCxnSpPr>
        <p:spPr>
          <a:xfrm>
            <a:off x="4402324" y="3558228"/>
            <a:ext cx="217800" cy="406766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5" idx="2"/>
            <a:endCxn id="13" idx="0"/>
          </p:cNvCxnSpPr>
          <p:nvPr/>
        </p:nvCxnSpPr>
        <p:spPr>
          <a:xfrm flipH="1">
            <a:off x="3531301" y="3558228"/>
            <a:ext cx="871023" cy="406766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>
            <a:off x="5165506" y="2907446"/>
            <a:ext cx="1584000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6798930" y="2908994"/>
            <a:ext cx="216000" cy="0"/>
          </a:xfrm>
          <a:prstGeom prst="line">
            <a:avLst/>
          </a:prstGeom>
          <a:ln w="19050">
            <a:solidFill>
              <a:srgbClr val="00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3354584" y="3963407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B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611382" y="4797152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E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2339752" y="4797152"/>
            <a:ext cx="1271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F D H G I</a:t>
            </a:r>
            <a:endParaRPr lang="zh-TW" altLang="en-US" sz="2000" b="1" dirty="0">
              <a:latin typeface="+mj-lt"/>
            </a:endParaRPr>
          </a:p>
        </p:txBody>
      </p:sp>
      <p:cxnSp>
        <p:nvCxnSpPr>
          <p:cNvPr id="28" name="直線接點 27"/>
          <p:cNvCxnSpPr>
            <a:stCxn id="13" idx="2"/>
            <a:endCxn id="27" idx="0"/>
          </p:cNvCxnSpPr>
          <p:nvPr/>
        </p:nvCxnSpPr>
        <p:spPr>
          <a:xfrm flipH="1">
            <a:off x="2975567" y="4365104"/>
            <a:ext cx="555734" cy="43204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13" idx="2"/>
            <a:endCxn id="26" idx="0"/>
          </p:cNvCxnSpPr>
          <p:nvPr/>
        </p:nvCxnSpPr>
        <p:spPr>
          <a:xfrm>
            <a:off x="3531301" y="4365104"/>
            <a:ext cx="258175" cy="43204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橢圓 34"/>
          <p:cNvSpPr/>
          <p:nvPr/>
        </p:nvSpPr>
        <p:spPr>
          <a:xfrm>
            <a:off x="5141178" y="2658883"/>
            <a:ext cx="252000" cy="252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2959594" y="2655446"/>
            <a:ext cx="252000" cy="252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7" name="直線接點 36"/>
          <p:cNvCxnSpPr/>
          <p:nvPr/>
        </p:nvCxnSpPr>
        <p:spPr>
          <a:xfrm>
            <a:off x="5384952" y="2912588"/>
            <a:ext cx="1116000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橢圓 38"/>
          <p:cNvSpPr/>
          <p:nvPr/>
        </p:nvSpPr>
        <p:spPr>
          <a:xfrm>
            <a:off x="5364088" y="2655446"/>
            <a:ext cx="252000" cy="252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橢圓 39"/>
          <p:cNvSpPr/>
          <p:nvPr/>
        </p:nvSpPr>
        <p:spPr>
          <a:xfrm>
            <a:off x="2015744" y="2650948"/>
            <a:ext cx="252000" cy="252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2790260" y="4792657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D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2627784" y="5492057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F</a:t>
            </a:r>
            <a:endParaRPr lang="zh-TW" altLang="en-US" sz="2000" b="1" dirty="0">
              <a:latin typeface="+mj-lt"/>
            </a:endParaRPr>
          </a:p>
        </p:txBody>
      </p:sp>
      <p:cxnSp>
        <p:nvCxnSpPr>
          <p:cNvPr id="43" name="直線接點 42"/>
          <p:cNvCxnSpPr/>
          <p:nvPr/>
        </p:nvCxnSpPr>
        <p:spPr>
          <a:xfrm>
            <a:off x="6552040" y="2912588"/>
            <a:ext cx="216000" cy="0"/>
          </a:xfrm>
          <a:prstGeom prst="line">
            <a:avLst/>
          </a:prstGeom>
          <a:ln w="19050">
            <a:solidFill>
              <a:srgbClr val="00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/>
          <p:cNvSpPr txBox="1"/>
          <p:nvPr/>
        </p:nvSpPr>
        <p:spPr>
          <a:xfrm>
            <a:off x="2973988" y="5492057"/>
            <a:ext cx="8098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H G I</a:t>
            </a:r>
            <a:endParaRPr lang="zh-TW" altLang="en-US" sz="2000" b="1" dirty="0">
              <a:latin typeface="+mj-lt"/>
            </a:endParaRPr>
          </a:p>
        </p:txBody>
      </p:sp>
      <p:cxnSp>
        <p:nvCxnSpPr>
          <p:cNvPr id="46" name="直線接點 45"/>
          <p:cNvCxnSpPr>
            <a:stCxn id="41" idx="2"/>
            <a:endCxn id="42" idx="0"/>
          </p:cNvCxnSpPr>
          <p:nvPr/>
        </p:nvCxnSpPr>
        <p:spPr>
          <a:xfrm flipH="1">
            <a:off x="2798664" y="5192767"/>
            <a:ext cx="176903" cy="29929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>
            <a:stCxn id="41" idx="2"/>
            <a:endCxn id="45" idx="0"/>
          </p:cNvCxnSpPr>
          <p:nvPr/>
        </p:nvCxnSpPr>
        <p:spPr>
          <a:xfrm>
            <a:off x="2975567" y="5192767"/>
            <a:ext cx="403340" cy="29929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5639788" y="2912588"/>
            <a:ext cx="216000" cy="0"/>
          </a:xfrm>
          <a:prstGeom prst="line">
            <a:avLst/>
          </a:prstGeom>
          <a:ln w="19050">
            <a:solidFill>
              <a:srgbClr val="00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5904835" y="2912588"/>
            <a:ext cx="612000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橢圓 56"/>
          <p:cNvSpPr/>
          <p:nvPr/>
        </p:nvSpPr>
        <p:spPr>
          <a:xfrm>
            <a:off x="5853378" y="2658883"/>
            <a:ext cx="252000" cy="252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橢圓 57"/>
          <p:cNvSpPr/>
          <p:nvPr/>
        </p:nvSpPr>
        <p:spPr>
          <a:xfrm>
            <a:off x="2544292" y="2646940"/>
            <a:ext cx="252000" cy="252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/>
          <p:cNvSpPr txBox="1"/>
          <p:nvPr/>
        </p:nvSpPr>
        <p:spPr>
          <a:xfrm>
            <a:off x="3236737" y="5482990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G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2983321" y="6120700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H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3499773" y="6125234"/>
            <a:ext cx="284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I</a:t>
            </a:r>
            <a:endParaRPr lang="zh-TW" altLang="en-US" sz="2000" b="1" dirty="0">
              <a:latin typeface="+mj-lt"/>
            </a:endParaRPr>
          </a:p>
        </p:txBody>
      </p:sp>
      <p:cxnSp>
        <p:nvCxnSpPr>
          <p:cNvPr id="62" name="直線接點 61"/>
          <p:cNvCxnSpPr>
            <a:stCxn id="59" idx="2"/>
            <a:endCxn id="60" idx="0"/>
          </p:cNvCxnSpPr>
          <p:nvPr/>
        </p:nvCxnSpPr>
        <p:spPr>
          <a:xfrm flipH="1">
            <a:off x="3175040" y="5883100"/>
            <a:ext cx="253416" cy="23760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/>
          <p:cNvCxnSpPr>
            <a:stCxn id="59" idx="2"/>
            <a:endCxn id="61" idx="0"/>
          </p:cNvCxnSpPr>
          <p:nvPr/>
        </p:nvCxnSpPr>
        <p:spPr>
          <a:xfrm>
            <a:off x="3428456" y="5883100"/>
            <a:ext cx="213343" cy="24213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806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500"/>
                            </p:stCondLst>
                            <p:childTnLst>
                              <p:par>
                                <p:cTn id="1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2000"/>
                            </p:stCondLst>
                            <p:childTnLst>
                              <p:par>
                                <p:cTn id="1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500"/>
                            </p:stCondLst>
                            <p:childTnLst>
                              <p:par>
                                <p:cTn id="1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000"/>
                            </p:stCondLst>
                            <p:childTnLst>
                              <p:par>
                                <p:cTn id="1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00"/>
                            </p:stCondLst>
                            <p:childTnLst>
                              <p:par>
                                <p:cTn id="1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00"/>
                            </p:stCondLst>
                            <p:childTnLst>
                              <p:par>
                                <p:cTn id="1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000"/>
                            </p:stCondLst>
                            <p:childTnLst>
                              <p:par>
                                <p:cTn id="18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500"/>
                            </p:stCondLst>
                            <p:childTnLst>
                              <p:par>
                                <p:cTn id="1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2000"/>
                            </p:stCondLst>
                            <p:childTnLst>
                              <p:par>
                                <p:cTn id="1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2500"/>
                            </p:stCondLst>
                            <p:childTnLst>
                              <p:par>
                                <p:cTn id="1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/>
      <p:bldP spid="13" grpId="1"/>
      <p:bldP spid="14" grpId="0"/>
      <p:bldP spid="15" grpId="0"/>
      <p:bldP spid="25" grpId="0"/>
      <p:bldP spid="26" grpId="0"/>
      <p:bldP spid="27" grpId="0"/>
      <p:bldP spid="27" grpId="1"/>
      <p:bldP spid="35" grpId="0" animBg="1"/>
      <p:bldP spid="35" grpId="1" animBg="1"/>
      <p:bldP spid="36" grpId="0" animBg="1"/>
      <p:bldP spid="36" grpId="1" animBg="1"/>
      <p:bldP spid="39" grpId="0" animBg="1"/>
      <p:bldP spid="39" grpId="1" animBg="1"/>
      <p:bldP spid="40" grpId="0" animBg="1"/>
      <p:bldP spid="40" grpId="1" animBg="1"/>
      <p:bldP spid="41" grpId="0"/>
      <p:bldP spid="42" grpId="0"/>
      <p:bldP spid="45" grpId="0"/>
      <p:bldP spid="45" grpId="1"/>
      <p:bldP spid="57" grpId="0" animBg="1"/>
      <p:bldP spid="58" grpId="0" animBg="1"/>
      <p:bldP spid="59" grpId="0"/>
      <p:bldP spid="60" grpId="0"/>
      <p:bldP spid="6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決定唯一的二元樹 </a:t>
            </a:r>
            <a:r>
              <a:rPr lang="en-US" altLang="zh-TW" dirty="0" smtClean="0"/>
              <a:t>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每一棵二元樹皆有</a:t>
            </a:r>
            <a:r>
              <a:rPr lang="zh-TW" altLang="en-US" dirty="0" smtClean="0">
                <a:solidFill>
                  <a:srgbClr val="C00000"/>
                </a:solidFill>
              </a:rPr>
              <a:t>唯一的一對中序與後序</a:t>
            </a:r>
            <a:endParaRPr lang="en-US" altLang="zh-TW" dirty="0" smtClean="0">
              <a:solidFill>
                <a:srgbClr val="C00000"/>
              </a:solidFill>
            </a:endParaRP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給予中序與後序，可決定一棵二元</a:t>
            </a:r>
            <a:r>
              <a:rPr lang="zh-TW" altLang="en-US" dirty="0">
                <a:solidFill>
                  <a:srgbClr val="0000FF"/>
                </a:solidFill>
              </a:rPr>
              <a:t>樹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2026/03/11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35</a:t>
            </a:fld>
            <a:endParaRPr lang="en-US" altLang="zh-TW" dirty="0"/>
          </a:p>
        </p:txBody>
      </p:sp>
      <p:sp>
        <p:nvSpPr>
          <p:cNvPr id="7" name="文字方塊 6"/>
          <p:cNvSpPr txBox="1"/>
          <p:nvPr/>
        </p:nvSpPr>
        <p:spPr>
          <a:xfrm>
            <a:off x="1763688" y="2564904"/>
            <a:ext cx="22576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B C D A F E H I G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860032" y="2564904"/>
            <a:ext cx="22288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D</a:t>
            </a:r>
            <a:r>
              <a:rPr lang="zh-TW" altLang="en-US" sz="2000" b="1" dirty="0" smtClean="0">
                <a:latin typeface="+mj-lt"/>
              </a:rPr>
              <a:t> </a:t>
            </a:r>
            <a:r>
              <a:rPr lang="en-US" altLang="zh-TW" sz="2000" b="1" dirty="0" smtClean="0">
                <a:latin typeface="+mj-lt"/>
              </a:rPr>
              <a:t>C</a:t>
            </a:r>
            <a:r>
              <a:rPr lang="zh-TW" altLang="en-US" sz="2000" b="1" dirty="0" smtClean="0">
                <a:latin typeface="+mj-lt"/>
              </a:rPr>
              <a:t> </a:t>
            </a:r>
            <a:r>
              <a:rPr lang="en-US" altLang="zh-TW" sz="2000" b="1" dirty="0" smtClean="0">
                <a:latin typeface="+mj-lt"/>
              </a:rPr>
              <a:t>B</a:t>
            </a:r>
            <a:r>
              <a:rPr lang="zh-TW" altLang="en-US" sz="2000" b="1" dirty="0" smtClean="0">
                <a:latin typeface="+mj-lt"/>
              </a:rPr>
              <a:t> </a:t>
            </a:r>
            <a:r>
              <a:rPr lang="en-US" altLang="zh-TW" sz="2000" b="1" dirty="0" smtClean="0">
                <a:latin typeface="+mj-lt"/>
              </a:rPr>
              <a:t>F</a:t>
            </a:r>
            <a:r>
              <a:rPr lang="zh-TW" altLang="en-US" sz="2000" b="1" dirty="0" smtClean="0">
                <a:latin typeface="+mj-lt"/>
              </a:rPr>
              <a:t> </a:t>
            </a:r>
            <a:r>
              <a:rPr lang="en-US" altLang="zh-TW" sz="2000" b="1" dirty="0" smtClean="0">
                <a:latin typeface="+mj-lt"/>
              </a:rPr>
              <a:t>I</a:t>
            </a:r>
            <a:r>
              <a:rPr lang="zh-TW" altLang="en-US" sz="2000" b="1" dirty="0" smtClean="0">
                <a:latin typeface="+mj-lt"/>
              </a:rPr>
              <a:t> </a:t>
            </a:r>
            <a:r>
              <a:rPr lang="en-US" altLang="zh-TW" sz="2000" b="1" dirty="0" smtClean="0">
                <a:latin typeface="+mj-lt"/>
              </a:rPr>
              <a:t>H</a:t>
            </a:r>
            <a:r>
              <a:rPr lang="zh-TW" altLang="en-US" sz="2000" b="1" dirty="0" smtClean="0">
                <a:latin typeface="+mj-lt"/>
              </a:rPr>
              <a:t> </a:t>
            </a:r>
            <a:r>
              <a:rPr lang="en-US" altLang="zh-TW" sz="2000" b="1" dirty="0" smtClean="0">
                <a:latin typeface="+mj-lt"/>
              </a:rPr>
              <a:t>G</a:t>
            </a:r>
            <a:r>
              <a:rPr lang="zh-TW" altLang="en-US" sz="2000" b="1" dirty="0" smtClean="0">
                <a:latin typeface="+mj-lt"/>
              </a:rPr>
              <a:t> </a:t>
            </a:r>
            <a:r>
              <a:rPr lang="en-US" altLang="zh-TW" sz="2000" b="1" dirty="0" smtClean="0">
                <a:latin typeface="+mj-lt"/>
              </a:rPr>
              <a:t>E</a:t>
            </a:r>
            <a:r>
              <a:rPr lang="zh-TW" altLang="en-US" sz="2000" b="1" dirty="0" smtClean="0">
                <a:latin typeface="+mj-lt"/>
              </a:rPr>
              <a:t> </a:t>
            </a:r>
            <a:r>
              <a:rPr lang="en-US" altLang="zh-TW" sz="2000" b="1" dirty="0" smtClean="0">
                <a:latin typeface="+mj-lt"/>
              </a:rPr>
              <a:t>A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543677" y="217174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中序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625658" y="2164001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後序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" name="橢圓 24"/>
          <p:cNvSpPr/>
          <p:nvPr/>
        </p:nvSpPr>
        <p:spPr>
          <a:xfrm>
            <a:off x="6761738" y="2657493"/>
            <a:ext cx="252000" cy="252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/>
          <p:cNvSpPr/>
          <p:nvPr/>
        </p:nvSpPr>
        <p:spPr>
          <a:xfrm>
            <a:off x="2527201" y="2657493"/>
            <a:ext cx="252000" cy="252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/>
          <p:cNvSpPr txBox="1"/>
          <p:nvPr/>
        </p:nvSpPr>
        <p:spPr>
          <a:xfrm>
            <a:off x="3203848" y="3964994"/>
            <a:ext cx="856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B</a:t>
            </a:r>
            <a:r>
              <a:rPr lang="zh-TW" altLang="en-US" sz="2000" b="1" dirty="0" smtClean="0">
                <a:latin typeface="+mj-lt"/>
              </a:rPr>
              <a:t> </a:t>
            </a:r>
            <a:r>
              <a:rPr lang="en-US" altLang="zh-TW" sz="2000" b="1" dirty="0" smtClean="0">
                <a:latin typeface="+mj-lt"/>
              </a:rPr>
              <a:t>C</a:t>
            </a:r>
            <a:r>
              <a:rPr lang="zh-TW" altLang="en-US" sz="2000" b="1" dirty="0" smtClean="0">
                <a:latin typeface="+mj-lt"/>
              </a:rPr>
              <a:t> </a:t>
            </a:r>
            <a:r>
              <a:rPr lang="en-US" altLang="zh-TW" sz="2000" b="1" dirty="0" smtClean="0">
                <a:latin typeface="+mj-lt"/>
              </a:rPr>
              <a:t>D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4434817" y="3964994"/>
            <a:ext cx="12572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F</a:t>
            </a:r>
            <a:r>
              <a:rPr lang="zh-TW" altLang="en-US" sz="2000" b="1" dirty="0" smtClean="0">
                <a:latin typeface="+mj-lt"/>
              </a:rPr>
              <a:t> </a:t>
            </a:r>
            <a:r>
              <a:rPr lang="en-US" altLang="zh-TW" sz="2000" b="1" dirty="0" smtClean="0">
                <a:latin typeface="+mj-lt"/>
              </a:rPr>
              <a:t>E</a:t>
            </a:r>
            <a:r>
              <a:rPr lang="zh-TW" altLang="en-US" sz="2000" b="1" dirty="0" smtClean="0">
                <a:latin typeface="+mj-lt"/>
              </a:rPr>
              <a:t> </a:t>
            </a:r>
            <a:r>
              <a:rPr lang="en-US" altLang="zh-TW" sz="2000" b="1" dirty="0" smtClean="0">
                <a:latin typeface="+mj-lt"/>
              </a:rPr>
              <a:t>H</a:t>
            </a:r>
            <a:r>
              <a:rPr lang="zh-TW" altLang="en-US" sz="2000" b="1" dirty="0" smtClean="0">
                <a:latin typeface="+mj-lt"/>
              </a:rPr>
              <a:t> </a:t>
            </a:r>
            <a:r>
              <a:rPr lang="en-US" altLang="zh-TW" sz="2000" b="1" dirty="0" smtClean="0">
                <a:latin typeface="+mj-lt"/>
              </a:rPr>
              <a:t>I</a:t>
            </a:r>
            <a:r>
              <a:rPr lang="zh-TW" altLang="en-US" sz="2000" b="1" dirty="0" smtClean="0">
                <a:latin typeface="+mj-lt"/>
              </a:rPr>
              <a:t> </a:t>
            </a:r>
            <a:r>
              <a:rPr lang="en-US" altLang="zh-TW" sz="2000" b="1" dirty="0" smtClean="0">
                <a:latin typeface="+mj-lt"/>
              </a:rPr>
              <a:t>G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4217017" y="3158118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+mj-lt"/>
              </a:rPr>
              <a:t>A</a:t>
            </a:r>
            <a:endParaRPr lang="zh-TW" altLang="en-US" sz="2000" b="1" dirty="0">
              <a:latin typeface="+mj-lt"/>
            </a:endParaRPr>
          </a:p>
        </p:txBody>
      </p:sp>
      <p:cxnSp>
        <p:nvCxnSpPr>
          <p:cNvPr id="30" name="直線接點 29"/>
          <p:cNvCxnSpPr>
            <a:stCxn id="29" idx="2"/>
            <a:endCxn id="28" idx="0"/>
          </p:cNvCxnSpPr>
          <p:nvPr/>
        </p:nvCxnSpPr>
        <p:spPr>
          <a:xfrm>
            <a:off x="4402324" y="3558228"/>
            <a:ext cx="661095" cy="406766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29" idx="2"/>
            <a:endCxn id="27" idx="0"/>
          </p:cNvCxnSpPr>
          <p:nvPr/>
        </p:nvCxnSpPr>
        <p:spPr>
          <a:xfrm flipH="1">
            <a:off x="3632011" y="3558228"/>
            <a:ext cx="770313" cy="406766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5676832" y="2908994"/>
            <a:ext cx="1044000" cy="0"/>
          </a:xfrm>
          <a:prstGeom prst="line">
            <a:avLst/>
          </a:prstGeom>
          <a:ln w="19050">
            <a:solidFill>
              <a:srgbClr val="00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>
            <a:off x="4932040" y="2912588"/>
            <a:ext cx="684000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337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/>
      <p:bldP spid="28" grpId="0"/>
      <p:bldP spid="29" grpId="0"/>
    </p:bldLst>
  </p:timing>
</p:sld>
</file>

<file path=ppt/theme/theme1.xml><?xml version="1.0" encoding="utf-8"?>
<a:theme xmlns:a="http://schemas.openxmlformats.org/drawingml/2006/main" name="NCKU3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CKU3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CKU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簡報1" id="{1D2088C2-DF28-403B-A142-ABEFFB73DCD1}" vid="{F9685623-F412-4155-8B4F-1E431000369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NTTU</Template>
  <TotalTime>14345</TotalTime>
  <Words>2714</Words>
  <Application>Microsoft Office PowerPoint</Application>
  <PresentationFormat>如螢幕大小 (4:3)</PresentationFormat>
  <Paragraphs>977</Paragraphs>
  <Slides>35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46" baseType="lpstr">
      <vt:lpstr>新細明體</vt:lpstr>
      <vt:lpstr>標楷體</vt:lpstr>
      <vt:lpstr>Angsana New</vt:lpstr>
      <vt:lpstr>Arial</vt:lpstr>
      <vt:lpstr>Calibri</vt:lpstr>
      <vt:lpstr>Cambria Math</vt:lpstr>
      <vt:lpstr>Monotype Corsiva</vt:lpstr>
      <vt:lpstr>Nirmala UI</vt:lpstr>
      <vt:lpstr>Symbol</vt:lpstr>
      <vt:lpstr>Times New Roman</vt:lpstr>
      <vt:lpstr>NCKU3</vt:lpstr>
      <vt:lpstr>DATA STRUCTURES 資料結構</vt:lpstr>
      <vt:lpstr>樹狀結構專有名詞 (1/2)</vt:lpstr>
      <vt:lpstr>樹狀結構專有名詞 (2/2)</vt:lpstr>
      <vt:lpstr>樹的表示方法 (1/2)</vt:lpstr>
      <vt:lpstr>樹的表示方法 (2/2)</vt:lpstr>
      <vt:lpstr>二元樹 binary tree</vt:lpstr>
      <vt:lpstr>二元樹的種類</vt:lpstr>
      <vt:lpstr>二元樹性質 (1/5)</vt:lpstr>
      <vt:lpstr>二元樹性質 (2/5)</vt:lpstr>
      <vt:lpstr>二元樹性質 (3/5)</vt:lpstr>
      <vt:lpstr>二元樹性質 (4/5)</vt:lpstr>
      <vt:lpstr>二元樹性質 (5/5)</vt:lpstr>
      <vt:lpstr>正規二元樹</vt:lpstr>
      <vt:lpstr>完整二元樹性質 (1/4)</vt:lpstr>
      <vt:lpstr>完整二元樹性質 (2/4)</vt:lpstr>
      <vt:lpstr>完整二元樹性質 (3/4)</vt:lpstr>
      <vt:lpstr>完整二元樹性質 (4/4)</vt:lpstr>
      <vt:lpstr>二元樹的表示方法 (1/3)</vt:lpstr>
      <vt:lpstr>二元樹的表示方法 (2/3)</vt:lpstr>
      <vt:lpstr>二元樹的表示方法 (3/3)</vt:lpstr>
      <vt:lpstr>二元樹的建立</vt:lpstr>
      <vt:lpstr>二元樹的走訪</vt:lpstr>
      <vt:lpstr>前序走訪 Preorder traverse</vt:lpstr>
      <vt:lpstr>中序走訪 Inorder traverse</vt:lpstr>
      <vt:lpstr>後序走訪 Postorder traverse</vt:lpstr>
      <vt:lpstr>二元樹走訪的應用</vt:lpstr>
      <vt:lpstr>引線二元樹 (1/5)</vt:lpstr>
      <vt:lpstr>引線二元樹 (2/5)</vt:lpstr>
      <vt:lpstr>引線二元樹 (3/5)</vt:lpstr>
      <vt:lpstr>引線二元樹 (4/5)</vt:lpstr>
      <vt:lpstr>引線二元樹 (5/5)</vt:lpstr>
      <vt:lpstr>將一般樹轉為二元樹</vt:lpstr>
      <vt:lpstr>將樹林轉為二元樹</vt:lpstr>
      <vt:lpstr>決定唯一的二元樹 (1/2)</vt:lpstr>
      <vt:lpstr>決定唯一的二元樹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資料結構 Data Structure</dc:title>
  <dc:creator>C.-W. Lee</dc:creator>
  <cp:lastModifiedBy>admin</cp:lastModifiedBy>
  <cp:revision>90</cp:revision>
  <cp:lastPrinted>2026-03-11T10:07:16Z</cp:lastPrinted>
  <dcterms:created xsi:type="dcterms:W3CDTF">2018-01-10T03:26:15Z</dcterms:created>
  <dcterms:modified xsi:type="dcterms:W3CDTF">2026-03-11T10:10:29Z</dcterms:modified>
</cp:coreProperties>
</file>