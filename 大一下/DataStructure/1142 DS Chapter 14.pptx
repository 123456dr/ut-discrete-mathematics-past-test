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397" r:id="rId34"/>
    <p:sldId id="398" r:id="rId35"/>
    <p:sldId id="399" r:id="rId36"/>
    <p:sldId id="400" r:id="rId37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CDDE"/>
    <a:srgbClr val="E8E8EF"/>
    <a:srgbClr val="FFFFCC"/>
    <a:srgbClr val="820000"/>
    <a:srgbClr val="700000"/>
    <a:srgbClr val="9E0000"/>
    <a:srgbClr val="323232"/>
    <a:srgbClr val="33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0932" autoAdjust="0"/>
  </p:normalViewPr>
  <p:slideViewPr>
    <p:cSldViewPr>
      <p:cViewPr varScale="1">
        <p:scale>
          <a:sx n="82" d="100"/>
          <a:sy n="82" d="100"/>
        </p:scale>
        <p:origin x="14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2026/4/8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0930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2026/04/15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2026/04/15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2026/04/15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2026/04/15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2026/04/15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2026/04/15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2026/04/15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2026/04/15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2026/04/15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2026/04/15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2026/04/15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/>
              <a:t>2026/04/15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DATA</a:t>
            </a:r>
            <a:r>
              <a:rPr lang="zh-TW" altLang="en-US" dirty="0"/>
              <a:t> </a:t>
            </a:r>
            <a:r>
              <a:rPr lang="en-US" altLang="zh-TW" dirty="0"/>
              <a:t>STRUCTURES</a:t>
            </a:r>
            <a:br>
              <a:rPr lang="en-US" altLang="zh-TW" dirty="0"/>
            </a:br>
            <a:r>
              <a:rPr lang="zh-TW" altLang="en-US" dirty="0"/>
              <a:t>資料結構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Chia-Wei Lee </a:t>
            </a:r>
            <a:r>
              <a:rPr lang="zh-TW" altLang="en-US" dirty="0"/>
              <a:t>李佳衛</a:t>
            </a:r>
          </a:p>
          <a:p>
            <a:pPr algn="r"/>
            <a:r>
              <a:rPr lang="en-US" altLang="zh-TW" dirty="0"/>
              <a:t>cwlee@utaipei.edu.tw</a:t>
            </a:r>
          </a:p>
          <a:p>
            <a:pPr algn="r"/>
            <a:r>
              <a:rPr lang="en-US" altLang="zh-TW" dirty="0"/>
              <a:t>Department of Computer Science</a:t>
            </a:r>
          </a:p>
          <a:p>
            <a:pPr algn="r"/>
            <a:r>
              <a:rPr lang="en-US" altLang="zh-TW" dirty="0"/>
              <a:t>University of Taipei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搜尋及定義 </a:t>
            </a:r>
            <a:r>
              <a:rPr lang="en-US" altLang="zh-TW" dirty="0"/>
              <a:t>(1/5)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搜尋</a:t>
            </a:r>
            <a:r>
              <a:rPr lang="en-US" altLang="zh-TW" dirty="0">
                <a:solidFill>
                  <a:srgbClr val="0000FF"/>
                </a:solidFill>
              </a:rPr>
              <a:t>(search)</a:t>
            </a:r>
            <a:r>
              <a:rPr lang="zh-TW" altLang="en-US" dirty="0"/>
              <a:t>：用某些欄位為依據來找出記錄，進而得到同一筆記錄的其他屬性</a:t>
            </a:r>
            <a:endParaRPr lang="en-US" altLang="zh-TW" dirty="0"/>
          </a:p>
          <a:p>
            <a:pPr lvl="1"/>
            <a:r>
              <a:rPr lang="zh-TW" altLang="en-US" dirty="0"/>
              <a:t>搜尋首要的考慮是</a:t>
            </a:r>
            <a:r>
              <a:rPr lang="zh-TW" altLang="en-US" dirty="0">
                <a:solidFill>
                  <a:srgbClr val="C00000"/>
                </a:solidFill>
              </a:rPr>
              <a:t>速度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以通訊錄為例：找出</a:t>
            </a:r>
            <a:r>
              <a:rPr lang="zh-TW" altLang="en-US" u="sng" dirty="0"/>
              <a:t>李五</a:t>
            </a:r>
            <a:r>
              <a:rPr lang="zh-TW" altLang="en-US" dirty="0"/>
              <a:t>的相關資料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153064" y="3277560"/>
          <a:ext cx="6688348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0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年齡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電話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住址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張四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(02)2334----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李五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(02)2999----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王六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(03)3444----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桃園縣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趙大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(02)2887----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陳文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(04)2333----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台中市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江水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(03)5341----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新竹市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圓角矩形圖說文字 8"/>
          <p:cNvSpPr/>
          <p:nvPr/>
        </p:nvSpPr>
        <p:spPr>
          <a:xfrm>
            <a:off x="8031192" y="3554086"/>
            <a:ext cx="1000665" cy="517584"/>
          </a:xfrm>
          <a:prstGeom prst="wedgeRoundRectCallout">
            <a:avLst>
              <a:gd name="adj1" fmla="val -62212"/>
              <a:gd name="adj2" fmla="val 7750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紀錄</a:t>
            </a:r>
            <a:endParaRPr lang="zh-TW" altLang="en-US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1140163" y="3292416"/>
            <a:ext cx="1529750" cy="2754703"/>
          </a:xfrm>
          <a:prstGeom prst="roundRect">
            <a:avLst/>
          </a:prstGeom>
          <a:noFill/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圖說文字 10"/>
          <p:cNvSpPr/>
          <p:nvPr/>
        </p:nvSpPr>
        <p:spPr>
          <a:xfrm>
            <a:off x="2669913" y="6130508"/>
            <a:ext cx="1000665" cy="517584"/>
          </a:xfrm>
          <a:prstGeom prst="wedgeRoundRectCallout">
            <a:avLst>
              <a:gd name="adj1" fmla="val -69108"/>
              <a:gd name="adj2" fmla="val -59167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欄位</a:t>
            </a:r>
          </a:p>
        </p:txBody>
      </p:sp>
      <p:sp>
        <p:nvSpPr>
          <p:cNvPr id="8" name="圓角矩形 7"/>
          <p:cNvSpPr/>
          <p:nvPr/>
        </p:nvSpPr>
        <p:spPr>
          <a:xfrm>
            <a:off x="1138687" y="4071670"/>
            <a:ext cx="6719977" cy="396000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889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搜尋及定義 </a:t>
            </a:r>
            <a:r>
              <a:rPr lang="en-US" altLang="zh-TW" dirty="0"/>
              <a:t>(2/5)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搜尋</a:t>
            </a:r>
            <a:r>
              <a:rPr lang="en-US" altLang="zh-TW" dirty="0">
                <a:solidFill>
                  <a:srgbClr val="0000FF"/>
                </a:solidFill>
              </a:rPr>
              <a:t>(search)</a:t>
            </a:r>
            <a:r>
              <a:rPr lang="zh-TW" altLang="en-US" dirty="0"/>
              <a:t>：用某些欄位為依據來找出記錄，進而得到同一筆記錄的其他屬性</a:t>
            </a:r>
            <a:endParaRPr lang="en-US" altLang="zh-TW" dirty="0"/>
          </a:p>
          <a:p>
            <a:pPr lvl="1"/>
            <a:r>
              <a:rPr lang="zh-TW" altLang="en-US" dirty="0"/>
              <a:t>以符號表</a:t>
            </a:r>
            <a:r>
              <a:rPr lang="en-US" altLang="zh-TW" dirty="0"/>
              <a:t>(symbol table)</a:t>
            </a:r>
            <a:r>
              <a:rPr lang="zh-TW" altLang="en-US" dirty="0"/>
              <a:t>為例：根據搜尋鍵來獲得此符號在符號表中的位置，進而得到此符號的其它屬性值，例如符號在</a:t>
            </a:r>
            <a:r>
              <a:rPr lang="zh-TW" altLang="en-US" dirty="0">
                <a:solidFill>
                  <a:srgbClr val="C00000"/>
                </a:solidFill>
              </a:rPr>
              <a:t>記憶體中的位址</a:t>
            </a:r>
            <a:r>
              <a:rPr lang="zh-TW" altLang="en-US" dirty="0"/>
              <a:t>，或符號的</a:t>
            </a:r>
            <a:r>
              <a:rPr lang="zh-TW" altLang="en-US" dirty="0">
                <a:solidFill>
                  <a:srgbClr val="C00000"/>
                </a:solidFill>
              </a:rPr>
              <a:t>內含值</a:t>
            </a:r>
            <a:r>
              <a:rPr lang="zh-TW" altLang="en-US" dirty="0"/>
              <a:t>等。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「</a:t>
            </a:r>
            <a:r>
              <a:rPr lang="zh-TW" altLang="zh-TW" dirty="0">
                <a:solidFill>
                  <a:srgbClr val="0000FF"/>
                </a:solidFill>
              </a:rPr>
              <a:t>鍵</a:t>
            </a:r>
            <a:r>
              <a:rPr lang="en-US" altLang="zh-TW" dirty="0">
                <a:solidFill>
                  <a:srgbClr val="0000FF"/>
                </a:solidFill>
              </a:rPr>
              <a:t>-</a:t>
            </a:r>
            <a:r>
              <a:rPr lang="zh-TW" altLang="zh-TW" dirty="0">
                <a:solidFill>
                  <a:srgbClr val="0000FF"/>
                </a:solidFill>
              </a:rPr>
              <a:t>值配對</a:t>
            </a:r>
            <a:r>
              <a:rPr lang="zh-TW" altLang="zh-TW" dirty="0"/>
              <a:t>」</a:t>
            </a:r>
            <a:r>
              <a:rPr lang="en-US" altLang="zh-TW" dirty="0"/>
              <a:t>( </a:t>
            </a:r>
            <a:r>
              <a:rPr lang="en-US" altLang="zh-TW" dirty="0">
                <a:solidFill>
                  <a:srgbClr val="0000FF"/>
                </a:solidFill>
              </a:rPr>
              <a:t>key-value pairs </a:t>
            </a:r>
            <a:r>
              <a:rPr lang="en-US" altLang="zh-TW" dirty="0"/>
              <a:t>)</a:t>
            </a:r>
            <a:r>
              <a:rPr lang="zh-TW" altLang="en-US" dirty="0"/>
              <a:t>：根據 </a:t>
            </a:r>
            <a:r>
              <a:rPr lang="en-US" altLang="zh-TW" i="1" dirty="0"/>
              <a:t>key</a:t>
            </a:r>
            <a:r>
              <a:rPr lang="en-US" altLang="zh-TW" dirty="0"/>
              <a:t> </a:t>
            </a:r>
            <a:r>
              <a:rPr lang="zh-TW" altLang="en-US" dirty="0"/>
              <a:t>找出對應的 </a:t>
            </a:r>
            <a:r>
              <a:rPr lang="en-US" altLang="zh-TW" i="1" dirty="0"/>
              <a:t>value</a:t>
            </a:r>
            <a:endParaRPr lang="en-US" altLang="zh-TW" dirty="0"/>
          </a:p>
          <a:p>
            <a:pPr lvl="1"/>
            <a:r>
              <a:rPr lang="zh-TW" altLang="en-US" dirty="0"/>
              <a:t>以水果價格表為例：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748256" y="4312727"/>
          <a:ext cx="5057955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水果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價錢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單位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apple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banana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guava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mango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圓角矩形 7"/>
          <p:cNvSpPr/>
          <p:nvPr/>
        </p:nvSpPr>
        <p:spPr>
          <a:xfrm>
            <a:off x="1733910" y="5080961"/>
            <a:ext cx="5063706" cy="396000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22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搜尋及定義 </a:t>
            </a:r>
            <a:r>
              <a:rPr lang="en-US" altLang="zh-TW" dirty="0"/>
              <a:t>(3/5)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zh-TW" dirty="0"/>
              <a:t>「</a:t>
            </a:r>
            <a:r>
              <a:rPr lang="zh-TW" altLang="zh-TW" dirty="0">
                <a:solidFill>
                  <a:srgbClr val="0000FF"/>
                </a:solidFill>
              </a:rPr>
              <a:t>搜尋引擎</a:t>
            </a:r>
            <a:r>
              <a:rPr lang="zh-TW" altLang="zh-TW" dirty="0"/>
              <a:t>」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0000FF"/>
                </a:solidFill>
              </a:rPr>
              <a:t>search engine</a:t>
            </a:r>
            <a:r>
              <a:rPr lang="en-US" altLang="zh-TW" dirty="0"/>
              <a:t>)</a:t>
            </a:r>
            <a:r>
              <a:rPr lang="zh-TW" altLang="en-US" dirty="0"/>
              <a:t>：</a:t>
            </a:r>
            <a:r>
              <a:rPr lang="zh-TW" altLang="zh-TW" dirty="0"/>
              <a:t>根據使用者輸入的「</a:t>
            </a:r>
            <a:r>
              <a:rPr lang="zh-TW" altLang="zh-TW" dirty="0">
                <a:solidFill>
                  <a:srgbClr val="C00000"/>
                </a:solidFill>
              </a:rPr>
              <a:t>關鍵字</a:t>
            </a:r>
            <a:r>
              <a:rPr lang="zh-TW" altLang="zh-TW" dirty="0"/>
              <a:t>」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C00000"/>
                </a:solidFill>
              </a:rPr>
              <a:t>key words</a:t>
            </a:r>
            <a:r>
              <a:rPr lang="en-US" altLang="zh-TW" dirty="0"/>
              <a:t>)</a:t>
            </a:r>
            <a:r>
              <a:rPr lang="zh-TW" altLang="zh-TW" dirty="0"/>
              <a:t>當作搜尋鍵，藉</a:t>
            </a:r>
            <a:r>
              <a:rPr lang="zh-TW" altLang="en-US" dirty="0"/>
              <a:t>助於</a:t>
            </a:r>
            <a:r>
              <a:rPr lang="zh-TW" altLang="zh-TW" dirty="0"/>
              <a:t>事先整理好的索引結構，搜尋出與輸入關鍵字相關的網頁列表</a:t>
            </a:r>
            <a:r>
              <a:rPr lang="zh-TW" altLang="en-US" dirty="0"/>
              <a:t>作為</a:t>
            </a:r>
            <a:r>
              <a:rPr lang="zh-TW" altLang="en-US" dirty="0">
                <a:solidFill>
                  <a:srgbClr val="C00000"/>
                </a:solidFill>
              </a:rPr>
              <a:t>搜尋結果</a:t>
            </a:r>
            <a:r>
              <a:rPr lang="zh-TW" altLang="zh-TW" dirty="0"/>
              <a:t>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872" y="2531194"/>
            <a:ext cx="7090034" cy="398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3357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搜尋及定義 </a:t>
            </a:r>
            <a:r>
              <a:rPr lang="en-US" altLang="zh-TW" dirty="0"/>
              <a:t>(4/5)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TW" altLang="en-US" dirty="0"/>
              <a:t>搜尋，首要考慮的是搜尋</a:t>
            </a:r>
            <a:r>
              <a:rPr lang="zh-TW" altLang="en-US" dirty="0">
                <a:solidFill>
                  <a:srgbClr val="C00000"/>
                </a:solidFill>
              </a:rPr>
              <a:t>速度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搜尋的</a:t>
            </a:r>
            <a:r>
              <a:rPr lang="zh-TW" altLang="en-US" dirty="0">
                <a:solidFill>
                  <a:srgbClr val="C00000"/>
                </a:solidFill>
              </a:rPr>
              <a:t>方法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檔案或符號表的</a:t>
            </a:r>
            <a:r>
              <a:rPr lang="zh-TW" altLang="en-US" dirty="0">
                <a:solidFill>
                  <a:srgbClr val="C00000"/>
                </a:solidFill>
              </a:rPr>
              <a:t>儲存方式</a:t>
            </a:r>
            <a:endParaRPr lang="en-US" altLang="zh-TW" dirty="0">
              <a:solidFill>
                <a:srgbClr val="C00000"/>
              </a:solidFill>
            </a:endParaRPr>
          </a:p>
          <a:p>
            <a:pPr lvl="2"/>
            <a:r>
              <a:rPr lang="zh-TW" altLang="en-US" dirty="0"/>
              <a:t>預先花時間整理</a:t>
            </a:r>
            <a:endParaRPr lang="en-US" altLang="zh-TW" dirty="0"/>
          </a:p>
          <a:p>
            <a:pPr lvl="2"/>
            <a:r>
              <a:rPr lang="zh-TW" altLang="en-US" dirty="0"/>
              <a:t>通常決定採用的</a:t>
            </a:r>
            <a:r>
              <a:rPr lang="zh-TW" altLang="en-US" dirty="0">
                <a:solidFill>
                  <a:srgbClr val="C00000"/>
                </a:solidFill>
              </a:rPr>
              <a:t>搜尋方法</a:t>
            </a:r>
            <a:endParaRPr lang="en-US" altLang="zh-TW" dirty="0">
              <a:solidFill>
                <a:srgbClr val="C00000"/>
              </a:solidFill>
            </a:endParaRPr>
          </a:p>
          <a:p>
            <a:r>
              <a:rPr lang="zh-TW" altLang="en-US" dirty="0"/>
              <a:t>整理檔案或符號表的儲存方式</a:t>
            </a:r>
            <a:endParaRPr lang="en-US" altLang="zh-TW" dirty="0"/>
          </a:p>
          <a:p>
            <a:pPr lvl="1"/>
            <a:r>
              <a:rPr lang="zh-TW" altLang="en-US" dirty="0"/>
              <a:t>循序結構</a:t>
            </a:r>
            <a:endParaRPr lang="en-US" altLang="zh-TW" dirty="0"/>
          </a:p>
          <a:p>
            <a:pPr lvl="2"/>
            <a:r>
              <a:rPr lang="zh-TW" altLang="en-US" dirty="0"/>
              <a:t>紀錄</a:t>
            </a:r>
            <a:r>
              <a:rPr lang="en-US" altLang="zh-TW" dirty="0"/>
              <a:t>(</a:t>
            </a:r>
            <a:r>
              <a:rPr lang="zh-TW" altLang="en-US" dirty="0"/>
              <a:t>或符號</a:t>
            </a:r>
            <a:r>
              <a:rPr lang="en-US" altLang="zh-TW" dirty="0"/>
              <a:t>)</a:t>
            </a:r>
            <a:r>
              <a:rPr lang="zh-TW" altLang="en-US" dirty="0"/>
              <a:t>循序排列</a:t>
            </a:r>
            <a:endParaRPr lang="en-US" altLang="zh-TW" dirty="0"/>
          </a:p>
          <a:p>
            <a:pPr lvl="2"/>
            <a:r>
              <a:rPr lang="zh-TW" altLang="en-US" dirty="0"/>
              <a:t>沒有排序過、根據鍵欄排序過</a:t>
            </a:r>
            <a:endParaRPr lang="en-US" altLang="zh-TW" dirty="0"/>
          </a:p>
          <a:p>
            <a:pPr lvl="1"/>
            <a:r>
              <a:rPr lang="zh-TW" altLang="en-US" dirty="0"/>
              <a:t>索引結構</a:t>
            </a:r>
            <a:endParaRPr lang="en-US" altLang="zh-TW" dirty="0"/>
          </a:p>
          <a:p>
            <a:pPr lvl="2"/>
            <a:r>
              <a:rPr lang="zh-TW" altLang="en-US" dirty="0"/>
              <a:t>加上其他輔助的工具，稱為索引</a:t>
            </a:r>
            <a:r>
              <a:rPr lang="en-US" altLang="zh-TW" dirty="0"/>
              <a:t>(index)</a:t>
            </a:r>
          </a:p>
          <a:p>
            <a:pPr lvl="2"/>
            <a:r>
              <a:rPr lang="zh-TW" altLang="en-US" dirty="0"/>
              <a:t>章節的目錄、關鍵字的索引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56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搜尋及定義 </a:t>
            </a:r>
            <a:r>
              <a:rPr lang="en-US" altLang="zh-TW" dirty="0"/>
              <a:t>(5/5)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整理檔案或符號表的主要處理動作</a:t>
            </a:r>
            <a:endParaRPr lang="en-US" altLang="zh-TW" dirty="0"/>
          </a:p>
          <a:p>
            <a:pPr lvl="1"/>
            <a:r>
              <a:rPr lang="zh-TW" altLang="en-US" dirty="0"/>
              <a:t>排序</a:t>
            </a:r>
            <a:endParaRPr lang="en-US" altLang="zh-TW" dirty="0"/>
          </a:p>
          <a:p>
            <a:pPr lvl="1"/>
            <a:r>
              <a:rPr lang="zh-TW" altLang="en-US" dirty="0"/>
              <a:t>插入新紀錄或新符號</a:t>
            </a:r>
            <a:endParaRPr lang="en-US" altLang="zh-TW" dirty="0"/>
          </a:p>
          <a:p>
            <a:pPr lvl="1"/>
            <a:r>
              <a:rPr lang="zh-TW" altLang="en-US" dirty="0"/>
              <a:t>刪除紀錄或符號</a:t>
            </a:r>
            <a:endParaRPr lang="en-US" altLang="zh-TW" dirty="0"/>
          </a:p>
          <a:p>
            <a:pPr lvl="1"/>
            <a:r>
              <a:rPr lang="zh-TW" altLang="en-US" dirty="0"/>
              <a:t>搜尋</a:t>
            </a:r>
            <a:r>
              <a:rPr lang="zh-TW" altLang="en-US" dirty="0">
                <a:solidFill>
                  <a:srgbClr val="000000"/>
                </a:solidFill>
              </a:rPr>
              <a:t>某特定記錄或符號是否存在</a:t>
            </a:r>
            <a:endParaRPr lang="en-US" altLang="zh-TW" dirty="0">
              <a:solidFill>
                <a:srgbClr val="000000"/>
              </a:solidFill>
            </a:endParaRPr>
          </a:p>
          <a:p>
            <a:pPr lvl="1"/>
            <a:r>
              <a:rPr lang="zh-TW" altLang="en-US" dirty="0"/>
              <a:t>取得該特定記錄或符號的其他屬性</a:t>
            </a:r>
            <a:endParaRPr lang="en-US" altLang="zh-TW" dirty="0"/>
          </a:p>
          <a:p>
            <a:endParaRPr lang="en-US" altLang="zh-TW" dirty="0">
              <a:solidFill>
                <a:srgbClr val="C00000"/>
              </a:solidFill>
            </a:endParaRPr>
          </a:p>
          <a:p>
            <a:r>
              <a:rPr lang="zh-TW" altLang="en-US" dirty="0">
                <a:solidFill>
                  <a:srgbClr val="C00000"/>
                </a:solidFill>
              </a:rPr>
              <a:t>靜態</a:t>
            </a:r>
            <a:r>
              <a:rPr lang="en-US" altLang="zh-TW" dirty="0"/>
              <a:t>(static)</a:t>
            </a:r>
            <a:r>
              <a:rPr lang="zh-TW" altLang="en-US" dirty="0"/>
              <a:t>結構</a:t>
            </a:r>
            <a:endParaRPr lang="en-US" altLang="zh-TW" dirty="0"/>
          </a:p>
          <a:p>
            <a:pPr lvl="1"/>
            <a:r>
              <a:rPr lang="zh-TW" altLang="en-US" dirty="0"/>
              <a:t>一個檔案或符號表的資料儲存妥當之後，就不會再有插入及刪除的動作</a:t>
            </a:r>
            <a:endParaRPr lang="en-US" altLang="zh-TW" dirty="0"/>
          </a:p>
          <a:p>
            <a:endParaRPr lang="en-US" altLang="zh-TW" dirty="0">
              <a:solidFill>
                <a:srgbClr val="C00000"/>
              </a:solidFill>
            </a:endParaRPr>
          </a:p>
          <a:p>
            <a:r>
              <a:rPr lang="zh-TW" altLang="en-US" dirty="0">
                <a:solidFill>
                  <a:srgbClr val="C00000"/>
                </a:solidFill>
              </a:rPr>
              <a:t>動態</a:t>
            </a:r>
            <a:r>
              <a:rPr lang="en-US" altLang="zh-TW" dirty="0"/>
              <a:t>(dynamic)</a:t>
            </a:r>
            <a:r>
              <a:rPr lang="zh-TW" altLang="en-US" dirty="0"/>
              <a:t>的結構</a:t>
            </a:r>
            <a:endParaRPr lang="en-US" altLang="zh-TW" dirty="0"/>
          </a:p>
          <a:p>
            <a:pPr lvl="1"/>
            <a:r>
              <a:rPr lang="zh-TW" altLang="en-US" dirty="0"/>
              <a:t>可能會有插入或刪除的動作</a:t>
            </a:r>
            <a:endParaRPr lang="en-US" altLang="zh-TW" dirty="0"/>
          </a:p>
          <a:p>
            <a:pPr lvl="1"/>
            <a:r>
              <a:rPr lang="zh-TW" altLang="en-US" dirty="0"/>
              <a:t>同時還要考慮</a:t>
            </a:r>
            <a:r>
              <a:rPr lang="zh-TW" altLang="en-US" dirty="0">
                <a:solidFill>
                  <a:srgbClr val="C00000"/>
                </a:solidFill>
              </a:rPr>
              <a:t>動態維護</a:t>
            </a:r>
            <a:r>
              <a:rPr lang="en-US" altLang="zh-TW" dirty="0"/>
              <a:t>(</a:t>
            </a:r>
            <a:r>
              <a:rPr lang="zh-TW" altLang="en-US" dirty="0"/>
              <a:t>插入及刪除資料</a:t>
            </a:r>
            <a:r>
              <a:rPr lang="en-US" altLang="zh-TW" dirty="0"/>
              <a:t>)</a:t>
            </a:r>
            <a:r>
              <a:rPr lang="zh-TW" altLang="en-US" dirty="0"/>
              <a:t>的效率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17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循序搜尋法 </a:t>
            </a:r>
            <a:r>
              <a:rPr lang="en-US" altLang="zh-TW" dirty="0"/>
              <a:t>sequential search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逐一掃瞄直到找到為止，或是找遍所有紀錄仍找不到</a:t>
            </a:r>
            <a:endParaRPr lang="en-US" altLang="zh-TW" dirty="0"/>
          </a:p>
          <a:p>
            <a:pPr lvl="1"/>
            <a:r>
              <a:rPr lang="zh-TW" altLang="en-US" dirty="0"/>
              <a:t>又稱為線性搜尋法</a:t>
            </a:r>
            <a:r>
              <a:rPr lang="en-US" altLang="zh-TW" dirty="0"/>
              <a:t>(linear search)</a:t>
            </a:r>
          </a:p>
          <a:p>
            <a:pPr lvl="1"/>
            <a:r>
              <a:rPr lang="zh-TW" altLang="en-US" dirty="0"/>
              <a:t>通常用在未經排序的檔案或符號表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搜尋效率：不論搜尋成功或失敗，都需要</a:t>
            </a:r>
            <a:r>
              <a:rPr lang="en-US" altLang="zh-TW" dirty="0"/>
              <a:t>O(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整理效率：不需要整理</a:t>
            </a:r>
            <a:endParaRPr lang="en-US" altLang="zh-TW" dirty="0"/>
          </a:p>
          <a:p>
            <a:r>
              <a:rPr lang="zh-TW" altLang="en-US" dirty="0"/>
              <a:t>應用場合：未經排序的資料或是資料經常變動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77355" y="3320678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向下箭號 7"/>
          <p:cNvSpPr/>
          <p:nvPr/>
        </p:nvSpPr>
        <p:spPr>
          <a:xfrm>
            <a:off x="1686324" y="312161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331977" y="292332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搜尋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31977" y="369682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搜尋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向下箭號 10"/>
          <p:cNvSpPr/>
          <p:nvPr/>
        </p:nvSpPr>
        <p:spPr>
          <a:xfrm flipV="1">
            <a:off x="1686324" y="3727201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下箭號 11"/>
          <p:cNvSpPr/>
          <p:nvPr/>
        </p:nvSpPr>
        <p:spPr>
          <a:xfrm>
            <a:off x="2408067" y="3120312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下箭號 12"/>
          <p:cNvSpPr/>
          <p:nvPr/>
        </p:nvSpPr>
        <p:spPr>
          <a:xfrm>
            <a:off x="3172942" y="3120312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下箭號 13"/>
          <p:cNvSpPr/>
          <p:nvPr/>
        </p:nvSpPr>
        <p:spPr>
          <a:xfrm>
            <a:off x="3957946" y="3120312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向下箭號 14"/>
          <p:cNvSpPr/>
          <p:nvPr/>
        </p:nvSpPr>
        <p:spPr>
          <a:xfrm>
            <a:off x="4722821" y="3120312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下箭號 17"/>
          <p:cNvSpPr/>
          <p:nvPr/>
        </p:nvSpPr>
        <p:spPr>
          <a:xfrm flipV="1">
            <a:off x="2408067" y="3728712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向下箭號 18"/>
          <p:cNvSpPr/>
          <p:nvPr/>
        </p:nvSpPr>
        <p:spPr>
          <a:xfrm flipV="1">
            <a:off x="3172942" y="3728712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向下箭號 19"/>
          <p:cNvSpPr/>
          <p:nvPr/>
        </p:nvSpPr>
        <p:spPr>
          <a:xfrm flipV="1">
            <a:off x="3957946" y="3728712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向下箭號 20"/>
          <p:cNvSpPr/>
          <p:nvPr/>
        </p:nvSpPr>
        <p:spPr>
          <a:xfrm flipV="1">
            <a:off x="4722821" y="3728712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向下箭號 21"/>
          <p:cNvSpPr/>
          <p:nvPr/>
        </p:nvSpPr>
        <p:spPr>
          <a:xfrm flipV="1">
            <a:off x="5504951" y="3728712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向下箭號 22"/>
          <p:cNvSpPr/>
          <p:nvPr/>
        </p:nvSpPr>
        <p:spPr>
          <a:xfrm flipV="1">
            <a:off x="6255449" y="3728712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向下箭號 23"/>
          <p:cNvSpPr/>
          <p:nvPr/>
        </p:nvSpPr>
        <p:spPr>
          <a:xfrm flipV="1">
            <a:off x="7023199" y="3728712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806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0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500"/>
                            </p:stCondLst>
                            <p:childTnLst>
                              <p:par>
                                <p:cTn id="88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500"/>
                            </p:stCondLst>
                            <p:childTnLst>
                              <p:par>
                                <p:cTn id="96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6000"/>
                            </p:stCondLst>
                            <p:childTnLst>
                              <p:par>
                                <p:cTn id="10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6500"/>
                            </p:stCondLst>
                            <p:childTnLst>
                              <p:par>
                                <p:cTn id="10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7000"/>
                            </p:stCondLst>
                            <p:childTnLst>
                              <p:par>
                                <p:cTn id="10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/>
      <p:bldP spid="10" grpId="0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二分搜尋法 </a:t>
            </a:r>
            <a:r>
              <a:rPr lang="en-US" altLang="zh-TW" dirty="0"/>
              <a:t>binary search (1/6)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二</a:t>
            </a:r>
            <a:r>
              <a:rPr lang="zh-TW" altLang="en-US" dirty="0">
                <a:solidFill>
                  <a:srgbClr val="C00000"/>
                </a:solidFill>
              </a:rPr>
              <a:t>元</a:t>
            </a:r>
            <a:r>
              <a:rPr lang="zh-TW" altLang="en-US" dirty="0"/>
              <a:t>搜尋法</a:t>
            </a:r>
            <a:endParaRPr lang="en-US" altLang="zh-TW" dirty="0"/>
          </a:p>
          <a:p>
            <a:r>
              <a:rPr lang="zh-TW" altLang="en-US" dirty="0"/>
              <a:t>已經按照鍵值排序過，可以有更快的搜尋方式</a:t>
            </a:r>
            <a:endParaRPr lang="en-US" altLang="zh-TW" dirty="0"/>
          </a:p>
          <a:p>
            <a:r>
              <a:rPr lang="zh-TW" altLang="en-US" dirty="0"/>
              <a:t>在整個搜尋範圍</a:t>
            </a:r>
            <a:r>
              <a:rPr lang="en-US" altLang="zh-TW" dirty="0"/>
              <a:t>(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l</a:t>
            </a:r>
            <a:r>
              <a:rPr lang="en-US" altLang="zh-TW" dirty="0"/>
              <a:t>] ~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r</a:t>
            </a:r>
            <a:r>
              <a:rPr lang="en-US" altLang="zh-TW" dirty="0"/>
              <a:t>])</a:t>
            </a:r>
            <a:r>
              <a:rPr lang="zh-TW" altLang="en-US" dirty="0"/>
              <a:t>內，選取</a:t>
            </a:r>
            <a:r>
              <a:rPr lang="zh-TW" altLang="en-US" dirty="0">
                <a:solidFill>
                  <a:srgbClr val="C00000"/>
                </a:solidFill>
              </a:rPr>
              <a:t>中間位置</a:t>
            </a:r>
            <a:r>
              <a:rPr lang="zh-TW" altLang="en-US" dirty="0"/>
              <a:t>的元素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]</a:t>
            </a:r>
            <a:r>
              <a:rPr lang="zh-TW" altLang="en-US" dirty="0"/>
              <a:t>與</a:t>
            </a:r>
            <a:r>
              <a:rPr lang="zh-TW" altLang="en-US" dirty="0">
                <a:solidFill>
                  <a:srgbClr val="C00000"/>
                </a:solidFill>
              </a:rPr>
              <a:t>鍵值</a:t>
            </a:r>
            <a:r>
              <a:rPr lang="en-US" altLang="zh-TW" dirty="0"/>
              <a:t>(</a:t>
            </a:r>
            <a:r>
              <a:rPr lang="en-US" altLang="zh-TW" i="1" dirty="0"/>
              <a:t>key</a:t>
            </a:r>
            <a:r>
              <a:rPr lang="en-US" altLang="zh-TW" dirty="0"/>
              <a:t>)</a:t>
            </a:r>
            <a:r>
              <a:rPr lang="zh-TW" altLang="en-US" dirty="0">
                <a:solidFill>
                  <a:srgbClr val="C00000"/>
                </a:solidFill>
              </a:rPr>
              <a:t>比較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en-US" altLang="zh-TW" i="1" dirty="0"/>
              <a:t>key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=</a:t>
            </a:r>
            <a:r>
              <a:rPr lang="en-US" altLang="zh-TW" dirty="0"/>
              <a:t>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]</a:t>
            </a:r>
            <a:r>
              <a:rPr lang="zh-TW" altLang="en-US" dirty="0"/>
              <a:t>：搜尋</a:t>
            </a:r>
            <a:r>
              <a:rPr lang="zh-TW" altLang="en-US" dirty="0">
                <a:solidFill>
                  <a:srgbClr val="C00000"/>
                </a:solidFill>
              </a:rPr>
              <a:t>成功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en-US" altLang="zh-TW" i="1" dirty="0"/>
              <a:t>key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&gt;</a:t>
            </a:r>
            <a:r>
              <a:rPr lang="en-US" altLang="zh-TW" dirty="0"/>
              <a:t>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]</a:t>
            </a:r>
            <a:r>
              <a:rPr lang="zh-TW" altLang="en-US" dirty="0"/>
              <a:t>：</a:t>
            </a:r>
            <a:r>
              <a:rPr lang="en-US" altLang="zh-TW" dirty="0"/>
              <a:t>key</a:t>
            </a:r>
            <a:r>
              <a:rPr lang="zh-TW" altLang="en-US" dirty="0"/>
              <a:t>只可能出現在</a:t>
            </a:r>
            <a:r>
              <a:rPr lang="zh-TW" altLang="en-US" dirty="0">
                <a:solidFill>
                  <a:srgbClr val="C00000"/>
                </a:solidFill>
              </a:rPr>
              <a:t>右半部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 + 1] ~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r</a:t>
            </a:r>
            <a:r>
              <a:rPr lang="en-US" altLang="zh-TW" dirty="0"/>
              <a:t>]</a:t>
            </a:r>
          </a:p>
          <a:p>
            <a:pPr lvl="1"/>
            <a:r>
              <a:rPr lang="en-US" altLang="zh-TW" i="1" dirty="0"/>
              <a:t>key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&lt;</a:t>
            </a:r>
            <a:r>
              <a:rPr lang="en-US" altLang="zh-TW" dirty="0"/>
              <a:t>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]</a:t>
            </a:r>
            <a:r>
              <a:rPr lang="zh-TW" altLang="en-US" dirty="0"/>
              <a:t>：</a:t>
            </a:r>
            <a:r>
              <a:rPr lang="en-US" altLang="zh-TW" dirty="0"/>
              <a:t>key</a:t>
            </a:r>
            <a:r>
              <a:rPr lang="zh-TW" altLang="en-US" dirty="0"/>
              <a:t>只可能出現在</a:t>
            </a:r>
            <a:r>
              <a:rPr lang="zh-TW" altLang="en-US" dirty="0">
                <a:solidFill>
                  <a:srgbClr val="C00000"/>
                </a:solidFill>
              </a:rPr>
              <a:t>左半部</a:t>
            </a:r>
            <a:r>
              <a:rPr lang="zh-TW" altLang="en-US" dirty="0"/>
              <a:t>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l</a:t>
            </a:r>
            <a:r>
              <a:rPr lang="en-US" altLang="zh-TW" dirty="0"/>
              <a:t>] ~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m</a:t>
            </a:r>
            <a:r>
              <a:rPr lang="en-US" altLang="zh-TW" dirty="0"/>
              <a:t> – 1]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85981" y="4606010"/>
          <a:ext cx="609599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" name="群組 9"/>
          <p:cNvGrpSpPr/>
          <p:nvPr/>
        </p:nvGrpSpPr>
        <p:grpSpPr>
          <a:xfrm>
            <a:off x="3943842" y="3967727"/>
            <a:ext cx="954107" cy="605836"/>
            <a:chOff x="3943842" y="3967727"/>
            <a:chExt cx="954107" cy="605836"/>
          </a:xfrm>
        </p:grpSpPr>
        <p:sp>
          <p:nvSpPr>
            <p:cNvPr id="8" name="文字方塊 7"/>
            <p:cNvSpPr txBox="1"/>
            <p:nvPr/>
          </p:nvSpPr>
          <p:spPr>
            <a:xfrm>
              <a:off x="3943842" y="3967727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搜尋</a:t>
              </a:r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10</a:t>
              </a:r>
              <a:endPara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向下箭號 8"/>
            <p:cNvSpPr/>
            <p:nvPr/>
          </p:nvSpPr>
          <p:spPr>
            <a:xfrm>
              <a:off x="4334632" y="4397523"/>
              <a:ext cx="172528" cy="176040"/>
            </a:xfrm>
            <a:prstGeom prst="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2" name="矩形 11"/>
          <p:cNvSpPr/>
          <p:nvPr/>
        </p:nvSpPr>
        <p:spPr>
          <a:xfrm>
            <a:off x="4097547" y="4599441"/>
            <a:ext cx="672860" cy="403875"/>
          </a:xfrm>
          <a:prstGeom prst="rect">
            <a:avLst/>
          </a:prstGeom>
          <a:noFill/>
          <a:ln w="38100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3" name="群組 12"/>
          <p:cNvGrpSpPr/>
          <p:nvPr/>
        </p:nvGrpSpPr>
        <p:grpSpPr>
          <a:xfrm>
            <a:off x="2572473" y="3862711"/>
            <a:ext cx="316112" cy="2700000"/>
            <a:chOff x="2131270" y="4908197"/>
            <a:chExt cx="316112" cy="1800000"/>
          </a:xfrm>
        </p:grpSpPr>
        <p:sp>
          <p:nvSpPr>
            <p:cNvPr id="14" name="矩形 13"/>
            <p:cNvSpPr/>
            <p:nvPr/>
          </p:nvSpPr>
          <p:spPr>
            <a:xfrm>
              <a:off x="2131270" y="5888156"/>
              <a:ext cx="3161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&lt;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左大括弧 14"/>
            <p:cNvSpPr/>
            <p:nvPr/>
          </p:nvSpPr>
          <p:spPr>
            <a:xfrm>
              <a:off x="2147697" y="4908197"/>
              <a:ext cx="288000" cy="1800000"/>
            </a:xfrm>
            <a:prstGeom prst="leftBrace">
              <a:avLst>
                <a:gd name="adj1" fmla="val 52519"/>
                <a:gd name="adj2" fmla="val 50000"/>
              </a:avLst>
            </a:prstGeom>
            <a:ln w="28575">
              <a:solidFill>
                <a:srgbClr val="0000FF"/>
              </a:solidFill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971244" y="3862454"/>
            <a:ext cx="316112" cy="2700000"/>
            <a:chOff x="5469659" y="3984958"/>
            <a:chExt cx="316112" cy="3636000"/>
          </a:xfrm>
        </p:grpSpPr>
        <p:sp>
          <p:nvSpPr>
            <p:cNvPr id="17" name="矩形 16"/>
            <p:cNvSpPr/>
            <p:nvPr/>
          </p:nvSpPr>
          <p:spPr>
            <a:xfrm>
              <a:off x="5469659" y="5888156"/>
              <a:ext cx="316112" cy="4973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&gt;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左大括弧 17"/>
            <p:cNvSpPr/>
            <p:nvPr/>
          </p:nvSpPr>
          <p:spPr>
            <a:xfrm>
              <a:off x="5485614" y="3984958"/>
              <a:ext cx="288000" cy="3636000"/>
            </a:xfrm>
            <a:prstGeom prst="leftBrace">
              <a:avLst>
                <a:gd name="adj1" fmla="val 52519"/>
                <a:gd name="adj2" fmla="val 50000"/>
              </a:avLst>
            </a:prstGeom>
            <a:ln w="28575">
              <a:solidFill>
                <a:srgbClr val="0000FF"/>
              </a:solidFill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9" name="文字方塊 18"/>
          <p:cNvSpPr txBox="1"/>
          <p:nvPr/>
        </p:nvSpPr>
        <p:spPr>
          <a:xfrm>
            <a:off x="2319966" y="5677967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搜尋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5654145" y="567796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搜尋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3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二分搜尋法 </a:t>
            </a:r>
            <a:r>
              <a:rPr lang="en-US" altLang="zh-TW" dirty="0"/>
              <a:t>binary search (2/6)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i="1" dirty="0"/>
              <a:t>key</a:t>
            </a:r>
            <a:r>
              <a:rPr lang="en-US" altLang="zh-TW" dirty="0"/>
              <a:t> = </a:t>
            </a:r>
            <a:r>
              <a:rPr lang="en-US" altLang="zh-TW" dirty="0">
                <a:solidFill>
                  <a:srgbClr val="C00000"/>
                </a:solidFill>
              </a:rPr>
              <a:t>78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89498" y="240628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552756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161847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70939" y="200175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380030" y="200175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998002" y="200217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607093" y="200217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216185" y="200260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825276" y="200260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431569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40660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表格 17"/>
              <p:cNvGraphicFramePr>
                <a:graphicFrameLocks noGrp="1"/>
              </p:cNvGraphicFramePr>
              <p:nvPr/>
            </p:nvGraphicFramePr>
            <p:xfrm>
              <a:off x="819522" y="3389702"/>
              <a:ext cx="7404735" cy="17236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2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00850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第</a:t>
                          </a:r>
                          <a:r>
                            <a:rPr lang="en-US" altLang="zh-TW" sz="2000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次比較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𝒍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𝒓</m:t>
                                  </m:r>
                                </m:num>
                                <m:den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 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比較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新範圍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表格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3001600"/>
                  </p:ext>
                </p:extLst>
              </p:nvPr>
            </p:nvGraphicFramePr>
            <p:xfrm>
              <a:off x="819522" y="3389702"/>
              <a:ext cx="7404735" cy="17236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230"/>
                    <a:gridCol w="1016000"/>
                    <a:gridCol w="1016000"/>
                    <a:gridCol w="1016000"/>
                    <a:gridCol w="2008505"/>
                    <a:gridCol w="1016000"/>
                  </a:tblGrid>
                  <a:tr h="5349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第</a:t>
                          </a:r>
                          <a:r>
                            <a:rPr lang="en-US" altLang="zh-TW" sz="2000" b="1" i="1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次比較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33133" t="-1136" r="-402410" b="-2238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 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比較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新範圍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3230606" y="3886200"/>
                <a:ext cx="875560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𝟒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606" y="3886200"/>
                <a:ext cx="875560" cy="460062"/>
              </a:xfrm>
              <a:prstGeom prst="rect">
                <a:avLst/>
              </a:prstGeom>
              <a:blipFill rotWithShape="1"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/>
          <p:cNvSpPr txBox="1"/>
          <p:nvPr/>
        </p:nvSpPr>
        <p:spPr>
          <a:xfrm>
            <a:off x="5376917" y="3916176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 &gt;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= 52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525022" y="391617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右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2485759" y="39161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535599" y="39161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326944" y="39161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3230606" y="4294707"/>
                <a:ext cx="875561" cy="464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𝟓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𝟕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606" y="4294707"/>
                <a:ext cx="875561" cy="464614"/>
              </a:xfrm>
              <a:prstGeom prst="rect">
                <a:avLst/>
              </a:prstGeom>
              <a:blipFill rotWithShape="1"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/>
          <p:cNvSpPr txBox="1"/>
          <p:nvPr/>
        </p:nvSpPr>
        <p:spPr>
          <a:xfrm>
            <a:off x="5376917" y="4324683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 &gt;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= 77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525022" y="432468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右</a:t>
            </a:r>
          </a:p>
        </p:txBody>
      </p:sp>
      <p:sp>
        <p:nvSpPr>
          <p:cNvPr id="28" name="文字方塊 27"/>
          <p:cNvSpPr txBox="1"/>
          <p:nvPr/>
        </p:nvSpPr>
        <p:spPr>
          <a:xfrm>
            <a:off x="2485759" y="43246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535599" y="43246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1326944" y="43246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3228758" y="4697461"/>
                <a:ext cx="875560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𝟖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𝟖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758" y="4697461"/>
                <a:ext cx="875560" cy="460062"/>
              </a:xfrm>
              <a:prstGeom prst="rect">
                <a:avLst/>
              </a:prstGeom>
              <a:blipFill rotWithShape="1">
                <a:blip r:embed="rId5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31"/>
          <p:cNvSpPr txBox="1"/>
          <p:nvPr/>
        </p:nvSpPr>
        <p:spPr>
          <a:xfrm>
            <a:off x="5375069" y="4727437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= 78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411036" y="4727437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成功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2483911" y="47274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533751" y="47274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25096" y="47274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815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二分搜尋法 </a:t>
            </a:r>
            <a:r>
              <a:rPr lang="en-US" altLang="zh-TW" dirty="0"/>
              <a:t>binary search (3/6)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i="1" dirty="0"/>
              <a:t>key</a:t>
            </a:r>
            <a:r>
              <a:rPr lang="en-US" altLang="zh-TW" dirty="0"/>
              <a:t> = </a:t>
            </a:r>
            <a:r>
              <a:rPr lang="en-US" altLang="zh-TW" dirty="0">
                <a:solidFill>
                  <a:srgbClr val="C00000"/>
                </a:solidFill>
              </a:rPr>
              <a:t>41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89498" y="240628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552756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161847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70939" y="200175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380030" y="200175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998002" y="200217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607093" y="200217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216185" y="200260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825276" y="200260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431569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40660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表格 17"/>
              <p:cNvGraphicFramePr>
                <a:graphicFrameLocks noGrp="1"/>
              </p:cNvGraphicFramePr>
              <p:nvPr/>
            </p:nvGraphicFramePr>
            <p:xfrm>
              <a:off x="819522" y="3389702"/>
              <a:ext cx="7404735" cy="21198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2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00850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第</a:t>
                          </a:r>
                          <a:r>
                            <a:rPr lang="en-US" altLang="zh-TW" sz="2000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次比較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𝒍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𝒓</m:t>
                                  </m:r>
                                </m:num>
                                <m:den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 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比較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新範圍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表格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7978608"/>
                  </p:ext>
                </p:extLst>
              </p:nvPr>
            </p:nvGraphicFramePr>
            <p:xfrm>
              <a:off x="819522" y="3389702"/>
              <a:ext cx="7404735" cy="21198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230"/>
                    <a:gridCol w="1016000"/>
                    <a:gridCol w="1016000"/>
                    <a:gridCol w="1016000"/>
                    <a:gridCol w="2008505"/>
                    <a:gridCol w="1016000"/>
                  </a:tblGrid>
                  <a:tr h="5349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第</a:t>
                          </a:r>
                          <a:r>
                            <a:rPr lang="en-US" altLang="zh-TW" sz="2000" b="1" i="1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次比較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33133" t="-1136" r="-402410" b="-297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 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比較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新範圍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3230606" y="3886200"/>
                <a:ext cx="875560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𝟒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606" y="3886200"/>
                <a:ext cx="875560" cy="460062"/>
              </a:xfrm>
              <a:prstGeom prst="rect">
                <a:avLst/>
              </a:prstGeom>
              <a:blipFill rotWithShape="1"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/>
          <p:cNvSpPr txBox="1"/>
          <p:nvPr/>
        </p:nvSpPr>
        <p:spPr>
          <a:xfrm>
            <a:off x="5376917" y="3916176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 &lt;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= 52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525022" y="391617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左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2485759" y="39161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535599" y="39161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326944" y="39161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3230606" y="4294707"/>
                <a:ext cx="875561" cy="464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𝟏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606" y="4294707"/>
                <a:ext cx="875561" cy="464614"/>
              </a:xfrm>
              <a:prstGeom prst="rect">
                <a:avLst/>
              </a:prstGeom>
              <a:blipFill rotWithShape="1"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/>
          <p:cNvSpPr txBox="1"/>
          <p:nvPr/>
        </p:nvSpPr>
        <p:spPr>
          <a:xfrm>
            <a:off x="5376917" y="4324683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 &gt;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= 33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525022" y="432468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右</a:t>
            </a:r>
          </a:p>
        </p:txBody>
      </p:sp>
      <p:sp>
        <p:nvSpPr>
          <p:cNvPr id="28" name="文字方塊 27"/>
          <p:cNvSpPr txBox="1"/>
          <p:nvPr/>
        </p:nvSpPr>
        <p:spPr>
          <a:xfrm>
            <a:off x="2485759" y="43246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535599" y="43246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1326944" y="43246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3228758" y="4697461"/>
                <a:ext cx="875560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𝟐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758" y="4697461"/>
                <a:ext cx="875560" cy="460062"/>
              </a:xfrm>
              <a:prstGeom prst="rect">
                <a:avLst/>
              </a:prstGeom>
              <a:blipFill rotWithShape="1">
                <a:blip r:embed="rId5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31"/>
          <p:cNvSpPr txBox="1"/>
          <p:nvPr/>
        </p:nvSpPr>
        <p:spPr>
          <a:xfrm>
            <a:off x="5375069" y="4727437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 &gt;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= 39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531800" y="472743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右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2483911" y="47274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533751" y="47274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25096" y="47274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3230606" y="5079892"/>
                <a:ext cx="875560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𝟑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𝟑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606" y="5079892"/>
                <a:ext cx="875560" cy="460062"/>
              </a:xfrm>
              <a:prstGeom prst="rect">
                <a:avLst/>
              </a:prstGeom>
              <a:blipFill rotWithShape="1"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/>
          <p:cNvSpPr txBox="1"/>
          <p:nvPr/>
        </p:nvSpPr>
        <p:spPr>
          <a:xfrm>
            <a:off x="5376917" y="5109868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= 41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412884" y="510986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成功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2485759" y="510986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535599" y="510986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1326944" y="510986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651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二分搜尋法 </a:t>
            </a:r>
            <a:r>
              <a:rPr lang="en-US" altLang="zh-TW" dirty="0"/>
              <a:t>binary search (4/6)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i="1" dirty="0"/>
              <a:t>key</a:t>
            </a:r>
            <a:r>
              <a:rPr lang="en-US" altLang="zh-TW" dirty="0"/>
              <a:t> = </a:t>
            </a:r>
            <a:r>
              <a:rPr lang="en-US" altLang="zh-TW" dirty="0">
                <a:solidFill>
                  <a:srgbClr val="C00000"/>
                </a:solidFill>
              </a:rPr>
              <a:t>35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89498" y="240628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552756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161847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70939" y="200175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380030" y="200175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998002" y="200217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607093" y="200217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216185" y="200260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825276" y="200260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431569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40660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表格 17"/>
              <p:cNvGraphicFramePr>
                <a:graphicFrameLocks noGrp="1"/>
              </p:cNvGraphicFramePr>
              <p:nvPr/>
            </p:nvGraphicFramePr>
            <p:xfrm>
              <a:off x="819522" y="3389702"/>
              <a:ext cx="7404735" cy="21198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2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00850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第</a:t>
                          </a:r>
                          <a:r>
                            <a:rPr lang="en-US" altLang="zh-TW" sz="2000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次比較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𝒍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𝒓</m:t>
                                  </m:r>
                                </m:num>
                                <m:den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 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比較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新範圍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表格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937265"/>
                  </p:ext>
                </p:extLst>
              </p:nvPr>
            </p:nvGraphicFramePr>
            <p:xfrm>
              <a:off x="819522" y="3389702"/>
              <a:ext cx="7404735" cy="21198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230"/>
                    <a:gridCol w="1016000"/>
                    <a:gridCol w="1016000"/>
                    <a:gridCol w="1016000"/>
                    <a:gridCol w="2008505"/>
                    <a:gridCol w="1016000"/>
                  </a:tblGrid>
                  <a:tr h="5349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第</a:t>
                          </a:r>
                          <a:r>
                            <a:rPr lang="en-US" altLang="zh-TW" sz="2000" b="1" i="1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次比較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33133" t="-1136" r="-402410" b="-297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 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比較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新範圍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3230606" y="3886200"/>
                <a:ext cx="875560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𝟒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606" y="3886200"/>
                <a:ext cx="875560" cy="460062"/>
              </a:xfrm>
              <a:prstGeom prst="rect">
                <a:avLst/>
              </a:prstGeom>
              <a:blipFill rotWithShape="1"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/>
          <p:cNvSpPr txBox="1"/>
          <p:nvPr/>
        </p:nvSpPr>
        <p:spPr>
          <a:xfrm>
            <a:off x="5376917" y="3916176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 &lt;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= 52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525022" y="391617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左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2485759" y="39161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535599" y="39161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326944" y="39161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3230606" y="4294707"/>
                <a:ext cx="875561" cy="464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𝟏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606" y="4294707"/>
                <a:ext cx="875561" cy="464614"/>
              </a:xfrm>
              <a:prstGeom prst="rect">
                <a:avLst/>
              </a:prstGeom>
              <a:blipFill rotWithShape="1"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/>
          <p:cNvSpPr txBox="1"/>
          <p:nvPr/>
        </p:nvSpPr>
        <p:spPr>
          <a:xfrm>
            <a:off x="5376917" y="4324683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 &gt;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= 33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525022" y="432468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右</a:t>
            </a:r>
          </a:p>
        </p:txBody>
      </p:sp>
      <p:sp>
        <p:nvSpPr>
          <p:cNvPr id="28" name="文字方塊 27"/>
          <p:cNvSpPr txBox="1"/>
          <p:nvPr/>
        </p:nvSpPr>
        <p:spPr>
          <a:xfrm>
            <a:off x="2485759" y="43246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535599" y="43246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1326944" y="43246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3228758" y="4697461"/>
                <a:ext cx="875560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𝟐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758" y="4697461"/>
                <a:ext cx="875560" cy="460062"/>
              </a:xfrm>
              <a:prstGeom prst="rect">
                <a:avLst/>
              </a:prstGeom>
              <a:blipFill rotWithShape="1">
                <a:blip r:embed="rId5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31"/>
          <p:cNvSpPr txBox="1"/>
          <p:nvPr/>
        </p:nvSpPr>
        <p:spPr>
          <a:xfrm>
            <a:off x="5375069" y="4727437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 &lt;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= 39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531800" y="472743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左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2483911" y="47274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533751" y="47274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25096" y="472743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346823" y="5139204"/>
            <a:ext cx="643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412884" y="510986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失敗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2485759" y="510986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535599" y="510986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1326944" y="510986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62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/>
      <p:bldP spid="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二分搜尋法 </a:t>
            </a:r>
            <a:r>
              <a:rPr lang="en-US" altLang="zh-TW" dirty="0"/>
              <a:t>binary search (5/6)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搜尋效率</a:t>
            </a:r>
            <a:endParaRPr lang="en-US" altLang="zh-TW" dirty="0"/>
          </a:p>
          <a:p>
            <a:pPr lvl="1"/>
            <a:r>
              <a:rPr lang="zh-TW" altLang="en-US" dirty="0"/>
              <a:t>每作一次比較，規模減半</a:t>
            </a:r>
            <a:endParaRPr lang="en-US" altLang="zh-TW" dirty="0"/>
          </a:p>
          <a:p>
            <a:pPr lvl="1"/>
            <a:r>
              <a:rPr lang="zh-TW" altLang="en-US" dirty="0"/>
              <a:t>各個擊破法 </a:t>
            </a:r>
            <a:r>
              <a:rPr lang="en-US" altLang="zh-TW" dirty="0"/>
              <a:t>divide and conquer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944767" y="3683475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218601" y="2938728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218601" y="4376464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808731" y="2538618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/4)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808731" y="3338838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/4)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808730" y="3976354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/4)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808729" y="4776574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/4)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/>
          <p:cNvCxnSpPr>
            <a:stCxn id="7" idx="3"/>
            <a:endCxn id="8" idx="1"/>
          </p:cNvCxnSpPr>
          <p:nvPr/>
        </p:nvCxnSpPr>
        <p:spPr>
          <a:xfrm flipV="1">
            <a:off x="2616746" y="3138783"/>
            <a:ext cx="601855" cy="7447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7" idx="3"/>
            <a:endCxn id="9" idx="1"/>
          </p:cNvCxnSpPr>
          <p:nvPr/>
        </p:nvCxnSpPr>
        <p:spPr>
          <a:xfrm>
            <a:off x="2616746" y="3883530"/>
            <a:ext cx="601855" cy="69298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8" idx="3"/>
            <a:endCxn id="10" idx="1"/>
          </p:cNvCxnSpPr>
          <p:nvPr/>
        </p:nvCxnSpPr>
        <p:spPr>
          <a:xfrm flipV="1">
            <a:off x="4071720" y="2738673"/>
            <a:ext cx="737011" cy="4001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8" idx="3"/>
            <a:endCxn id="11" idx="1"/>
          </p:cNvCxnSpPr>
          <p:nvPr/>
        </p:nvCxnSpPr>
        <p:spPr>
          <a:xfrm>
            <a:off x="4071720" y="3138783"/>
            <a:ext cx="737011" cy="4001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9" idx="3"/>
            <a:endCxn id="12" idx="1"/>
          </p:cNvCxnSpPr>
          <p:nvPr/>
        </p:nvCxnSpPr>
        <p:spPr>
          <a:xfrm flipV="1">
            <a:off x="4071720" y="4176409"/>
            <a:ext cx="737010" cy="4001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9" idx="3"/>
            <a:endCxn id="13" idx="1"/>
          </p:cNvCxnSpPr>
          <p:nvPr/>
        </p:nvCxnSpPr>
        <p:spPr>
          <a:xfrm>
            <a:off x="4071720" y="4576519"/>
            <a:ext cx="737009" cy="4001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0" idx="3"/>
          </p:cNvCxnSpPr>
          <p:nvPr/>
        </p:nvCxnSpPr>
        <p:spPr>
          <a:xfrm flipV="1">
            <a:off x="5661850" y="2538618"/>
            <a:ext cx="855901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0" idx="3"/>
          </p:cNvCxnSpPr>
          <p:nvPr/>
        </p:nvCxnSpPr>
        <p:spPr>
          <a:xfrm>
            <a:off x="5661850" y="2738673"/>
            <a:ext cx="855901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1" idx="3"/>
          </p:cNvCxnSpPr>
          <p:nvPr/>
        </p:nvCxnSpPr>
        <p:spPr>
          <a:xfrm>
            <a:off x="5661850" y="3538893"/>
            <a:ext cx="855901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1" idx="3"/>
          </p:cNvCxnSpPr>
          <p:nvPr/>
        </p:nvCxnSpPr>
        <p:spPr>
          <a:xfrm flipV="1">
            <a:off x="5661850" y="3338838"/>
            <a:ext cx="855901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2" idx="3"/>
          </p:cNvCxnSpPr>
          <p:nvPr/>
        </p:nvCxnSpPr>
        <p:spPr>
          <a:xfrm flipV="1">
            <a:off x="5661849" y="3976354"/>
            <a:ext cx="861656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2" idx="3"/>
          </p:cNvCxnSpPr>
          <p:nvPr/>
        </p:nvCxnSpPr>
        <p:spPr>
          <a:xfrm>
            <a:off x="5661849" y="4176409"/>
            <a:ext cx="861656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13" idx="3"/>
          </p:cNvCxnSpPr>
          <p:nvPr/>
        </p:nvCxnSpPr>
        <p:spPr>
          <a:xfrm flipV="1">
            <a:off x="5661848" y="4776574"/>
            <a:ext cx="861656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13" idx="3"/>
          </p:cNvCxnSpPr>
          <p:nvPr/>
        </p:nvCxnSpPr>
        <p:spPr>
          <a:xfrm>
            <a:off x="5661848" y="4976629"/>
            <a:ext cx="861656" cy="20005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745413" y="5207480"/>
            <a:ext cx="25458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/2) + 1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 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/4) + 1) + 1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       …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        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/2</a:t>
            </a:r>
            <a:r>
              <a:rPr lang="en-US" altLang="zh-TW" sz="20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k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)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k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3570457" y="5799901"/>
            <a:ext cx="104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= 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6583890" y="5653272"/>
            <a:ext cx="1702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O(</a:t>
            </a:r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lg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n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向右箭號 30"/>
          <p:cNvSpPr/>
          <p:nvPr/>
        </p:nvSpPr>
        <p:spPr>
          <a:xfrm>
            <a:off x="5745192" y="5708326"/>
            <a:ext cx="534389" cy="345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/>
          <p:cNvSpPr txBox="1"/>
          <p:nvPr/>
        </p:nvSpPr>
        <p:spPr>
          <a:xfrm>
            <a:off x="3684269" y="5438432"/>
            <a:ext cx="814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altLang="zh-TW" sz="2000" b="1" i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sz="2000" b="1" i="1" baseline="30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4620942" y="5435500"/>
            <a:ext cx="992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73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 animBg="1"/>
      <p:bldP spid="32" grpId="0"/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二分搜尋法 </a:t>
            </a:r>
            <a:r>
              <a:rPr lang="en-US" altLang="zh-TW" dirty="0"/>
              <a:t>binary search (6/6)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整理效率</a:t>
            </a:r>
            <a:endParaRPr lang="en-US" altLang="zh-TW" dirty="0"/>
          </a:p>
          <a:p>
            <a:pPr lvl="1"/>
            <a:r>
              <a:rPr lang="zh-TW" altLang="en-US" dirty="0"/>
              <a:t>採用二分搜尋法之前，必須先作</a:t>
            </a:r>
            <a:r>
              <a:rPr lang="zh-TW" altLang="en-US" dirty="0">
                <a:solidFill>
                  <a:srgbClr val="C00000"/>
                </a:solidFill>
              </a:rPr>
              <a:t>排序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endParaRPr lang="en-US" altLang="zh-TW" dirty="0"/>
          </a:p>
          <a:p>
            <a:r>
              <a:rPr lang="zh-TW" altLang="en-US" dirty="0"/>
              <a:t>應用場合</a:t>
            </a:r>
            <a:endParaRPr lang="en-US" altLang="zh-TW" dirty="0"/>
          </a:p>
          <a:p>
            <a:pPr lvl="1"/>
            <a:r>
              <a:rPr lang="zh-TW" altLang="en-US" dirty="0"/>
              <a:t>資料極少變動，插入和刪除極少發生的情況</a:t>
            </a:r>
            <a:endParaRPr lang="en-US" altLang="zh-TW" dirty="0"/>
          </a:p>
          <a:p>
            <a:pPr lvl="1"/>
            <a:r>
              <a:rPr lang="zh-TW" altLang="en-US" dirty="0"/>
              <a:t>一次排序，可做多次搜尋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377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雜湊法 </a:t>
            </a:r>
            <a:r>
              <a:rPr lang="en-US" altLang="zh-TW" dirty="0"/>
              <a:t>Hashing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不藉助索引：循序搜尋法、二分搜尋法、</a:t>
            </a:r>
            <a:r>
              <a:rPr lang="zh-TW" altLang="en-US" u="sng" dirty="0">
                <a:solidFill>
                  <a:srgbClr val="0000FF"/>
                </a:solidFill>
              </a:rPr>
              <a:t>內插搜尋法</a:t>
            </a:r>
            <a:endParaRPr lang="en-US" altLang="zh-TW" u="sng" dirty="0">
              <a:solidFill>
                <a:srgbClr val="0000FF"/>
              </a:solidFill>
            </a:endParaRPr>
          </a:p>
          <a:p>
            <a:r>
              <a:rPr lang="zh-TW" altLang="en-US" dirty="0"/>
              <a:t>藉助索引：</a:t>
            </a:r>
            <a:r>
              <a:rPr lang="zh-TW" altLang="en-US" u="sng" dirty="0">
                <a:solidFill>
                  <a:srgbClr val="0000FF"/>
                </a:solidFill>
              </a:rPr>
              <a:t>直接索引搜尋法</a:t>
            </a:r>
            <a:r>
              <a:rPr lang="zh-TW" altLang="en-US" dirty="0"/>
              <a:t>、</a:t>
            </a:r>
            <a:r>
              <a:rPr lang="zh-TW" altLang="en-US" u="sng" dirty="0">
                <a:solidFill>
                  <a:srgbClr val="0000FF"/>
                </a:solidFill>
              </a:rPr>
              <a:t>二元搜尋樹索引法</a:t>
            </a:r>
            <a:r>
              <a:rPr lang="zh-TW" altLang="en-US" dirty="0"/>
              <a:t>、</a:t>
            </a:r>
            <a:r>
              <a:rPr lang="en-US" altLang="zh-TW" u="sng" dirty="0">
                <a:solidFill>
                  <a:srgbClr val="0000FF"/>
                </a:solidFill>
              </a:rPr>
              <a:t>B</a:t>
            </a:r>
            <a:r>
              <a:rPr lang="zh-TW" altLang="en-US" u="sng" dirty="0">
                <a:solidFill>
                  <a:srgbClr val="0000FF"/>
                </a:solidFill>
              </a:rPr>
              <a:t>樹索引法</a:t>
            </a:r>
            <a:endParaRPr lang="en-US" altLang="zh-TW" u="sng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搜尋的效率取決於</a:t>
            </a:r>
            <a:r>
              <a:rPr lang="zh-TW" altLang="en-US" dirty="0">
                <a:solidFill>
                  <a:srgbClr val="C00000"/>
                </a:solidFill>
              </a:rPr>
              <a:t>比較的總次數</a:t>
            </a:r>
            <a:endParaRPr lang="en-US" altLang="zh-TW" dirty="0">
              <a:solidFill>
                <a:srgbClr val="C00000"/>
              </a:solidFill>
            </a:endParaRPr>
          </a:p>
          <a:p>
            <a:endParaRPr lang="en-US" altLang="zh-TW" dirty="0"/>
          </a:p>
          <a:p>
            <a:r>
              <a:rPr lang="zh-TW" altLang="en-US" dirty="0"/>
              <a:t>雜湊法</a:t>
            </a:r>
            <a:endParaRPr lang="en-US" altLang="zh-TW" dirty="0"/>
          </a:p>
          <a:p>
            <a:pPr lvl="1"/>
            <a:r>
              <a:rPr lang="zh-TW" altLang="en-US" dirty="0"/>
              <a:t>不必經過比較，直接</a:t>
            </a:r>
            <a:r>
              <a:rPr lang="zh-TW" altLang="en-US" dirty="0">
                <a:solidFill>
                  <a:srgbClr val="C00000"/>
                </a:solidFill>
              </a:rPr>
              <a:t>經由計算鍵值</a:t>
            </a:r>
            <a:r>
              <a:rPr lang="zh-TW" altLang="en-US" dirty="0"/>
              <a:t>而得到紀錄所在的位置</a:t>
            </a:r>
            <a:endParaRPr lang="en-US" altLang="zh-TW" dirty="0"/>
          </a:p>
          <a:p>
            <a:pPr lvl="1"/>
            <a:r>
              <a:rPr lang="zh-TW" altLang="en-US" dirty="0"/>
              <a:t>鍵值和位置有著對應的關係</a:t>
            </a:r>
            <a:endParaRPr lang="en-US" altLang="zh-TW" dirty="0"/>
          </a:p>
          <a:p>
            <a:pPr lvl="2"/>
            <a:r>
              <a:rPr lang="zh-TW" altLang="en-US" dirty="0"/>
              <a:t>計算鍵值得到位置</a:t>
            </a:r>
            <a:endParaRPr lang="en-US" altLang="zh-TW" dirty="0"/>
          </a:p>
          <a:p>
            <a:pPr lvl="2"/>
            <a:r>
              <a:rPr lang="zh-TW" altLang="en-US" dirty="0"/>
              <a:t>位置 </a:t>
            </a:r>
            <a:r>
              <a:rPr lang="en-US" altLang="zh-TW" dirty="0"/>
              <a:t>= </a:t>
            </a:r>
            <a:r>
              <a:rPr lang="en-US" altLang="zh-TW" i="1" dirty="0"/>
              <a:t>f</a:t>
            </a:r>
            <a:r>
              <a:rPr lang="en-US" altLang="zh-TW" dirty="0"/>
              <a:t>(</a:t>
            </a:r>
            <a:r>
              <a:rPr lang="zh-TW" altLang="en-US" dirty="0"/>
              <a:t>鍵值</a:t>
            </a:r>
            <a:r>
              <a:rPr lang="en-US" altLang="zh-TW" dirty="0"/>
              <a:t>)</a:t>
            </a:r>
          </a:p>
          <a:p>
            <a:pPr lvl="3"/>
            <a:r>
              <a:rPr lang="zh-TW" altLang="en-US" dirty="0">
                <a:solidFill>
                  <a:srgbClr val="C00000"/>
                </a:solidFill>
              </a:rPr>
              <a:t>雜湊函數 </a:t>
            </a:r>
            <a:r>
              <a:rPr lang="en-US" altLang="zh-TW" dirty="0">
                <a:solidFill>
                  <a:srgbClr val="C00000"/>
                </a:solidFill>
              </a:rPr>
              <a:t>hash function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947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除法 </a:t>
            </a:r>
            <a:r>
              <a:rPr lang="en-US" altLang="zh-TW" dirty="0"/>
              <a:t>division method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除法 </a:t>
            </a:r>
            <a:r>
              <a:rPr lang="en-US" altLang="zh-TW" dirty="0"/>
              <a:t>division method</a:t>
            </a:r>
          </a:p>
          <a:p>
            <a:pPr lvl="1"/>
            <a:r>
              <a:rPr lang="zh-TW" altLang="en-US" dirty="0"/>
              <a:t>資料量</a:t>
            </a:r>
            <a:r>
              <a:rPr lang="en-US" altLang="zh-TW" dirty="0"/>
              <a:t>(</a:t>
            </a:r>
            <a:r>
              <a:rPr lang="zh-TW" altLang="en-US" dirty="0"/>
              <a:t>鍵值數目</a:t>
            </a:r>
            <a:r>
              <a:rPr lang="en-US" altLang="zh-TW" dirty="0"/>
              <a:t>)</a:t>
            </a:r>
            <a:r>
              <a:rPr lang="zh-TW" altLang="en-US" dirty="0"/>
              <a:t>大小為</a:t>
            </a:r>
            <a:r>
              <a:rPr lang="en-US" altLang="zh-TW" i="1" dirty="0"/>
              <a:t>n</a:t>
            </a:r>
            <a:r>
              <a:rPr lang="zh-TW" altLang="en-US" dirty="0"/>
              <a:t>，取一個大於</a:t>
            </a:r>
            <a:r>
              <a:rPr lang="en-US" altLang="zh-TW" i="1" dirty="0"/>
              <a:t>n</a:t>
            </a:r>
            <a:r>
              <a:rPr lang="zh-TW" altLang="en-US" dirty="0"/>
              <a:t>的</a:t>
            </a:r>
            <a:r>
              <a:rPr lang="zh-TW" altLang="en-US" dirty="0">
                <a:solidFill>
                  <a:srgbClr val="C00000"/>
                </a:solidFill>
              </a:rPr>
              <a:t>質數</a:t>
            </a:r>
            <a:r>
              <a:rPr lang="en-US" altLang="zh-TW" i="1" dirty="0"/>
              <a:t>m</a:t>
            </a:r>
          </a:p>
          <a:p>
            <a:pPr lvl="2"/>
            <a:r>
              <a:rPr lang="zh-TW" altLang="en-US" dirty="0"/>
              <a:t>選擇質數原因：減少碰撞</a:t>
            </a:r>
            <a:endParaRPr lang="en-US" altLang="zh-TW" dirty="0"/>
          </a:p>
          <a:p>
            <a:pPr lvl="1"/>
            <a:r>
              <a:rPr lang="zh-TW" altLang="en-US" dirty="0"/>
              <a:t>位置 </a:t>
            </a:r>
            <a:r>
              <a:rPr lang="en-US" altLang="zh-TW" dirty="0"/>
              <a:t>= </a:t>
            </a:r>
            <a:r>
              <a:rPr lang="zh-TW" altLang="en-US" dirty="0"/>
              <a:t>鍵值 </a:t>
            </a:r>
            <a:r>
              <a:rPr lang="en-US" altLang="zh-TW" dirty="0"/>
              <a:t>MOD</a:t>
            </a:r>
            <a:r>
              <a:rPr lang="zh-TW" altLang="en-US" dirty="0"/>
              <a:t> </a:t>
            </a:r>
            <a:r>
              <a:rPr lang="en-US" altLang="zh-TW" i="1" dirty="0"/>
              <a:t>m</a:t>
            </a:r>
          </a:p>
          <a:p>
            <a:pPr lvl="2"/>
            <a:r>
              <a:rPr lang="zh-TW" altLang="en-US" dirty="0"/>
              <a:t>儲存資料的表格大小必須為</a:t>
            </a:r>
            <a:r>
              <a:rPr lang="en-US" altLang="zh-TW" i="1" dirty="0"/>
              <a:t>m</a:t>
            </a:r>
          </a:p>
          <a:p>
            <a:endParaRPr lang="en-US" altLang="zh-TW" i="1" dirty="0"/>
          </a:p>
          <a:p>
            <a:r>
              <a:rPr lang="zh-TW" altLang="en-US" dirty="0"/>
              <a:t>鍵值數目</a:t>
            </a:r>
            <a:r>
              <a:rPr lang="en-US" altLang="zh-TW" i="1" dirty="0"/>
              <a:t>n</a:t>
            </a:r>
            <a:r>
              <a:rPr lang="en-US" altLang="zh-TW" dirty="0"/>
              <a:t> = 6</a:t>
            </a:r>
            <a:r>
              <a:rPr lang="zh-TW" altLang="en-US" dirty="0"/>
              <a:t>，鍵值為</a:t>
            </a:r>
            <a:r>
              <a:rPr lang="en-US" altLang="zh-TW" dirty="0"/>
              <a:t>57, 8, 62 ,26, 77, 42</a:t>
            </a:r>
            <a:r>
              <a:rPr lang="zh-TW" altLang="en-US" dirty="0"/>
              <a:t>，表格大小</a:t>
            </a:r>
            <a:r>
              <a:rPr lang="en-US" altLang="zh-TW" i="1" dirty="0"/>
              <a:t>m</a:t>
            </a:r>
            <a:r>
              <a:rPr lang="en-US" altLang="zh-TW" dirty="0"/>
              <a:t> = 13</a:t>
            </a:r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83177" y="5167812"/>
          <a:ext cx="6095999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68923">
                  <a:extLst>
                    <a:ext uri="{9D8B030D-6E8A-4147-A177-3AD203B41FA5}">
                      <a16:colId xmlns:a16="http://schemas.microsoft.com/office/drawing/2014/main" val="184995094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17797542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313059258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10458281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343154968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5936485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111258442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7982686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14634902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2345729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05855203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9060096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81944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523477"/>
                  </a:ext>
                </a:extLst>
              </a:tr>
            </a:tbl>
          </a:graphicData>
        </a:graphic>
      </p:graphicFrame>
      <p:grpSp>
        <p:nvGrpSpPr>
          <p:cNvPr id="33" name="群組 32"/>
          <p:cNvGrpSpPr/>
          <p:nvPr/>
        </p:nvGrpSpPr>
        <p:grpSpPr>
          <a:xfrm>
            <a:off x="383177" y="4765955"/>
            <a:ext cx="6165550" cy="405352"/>
            <a:chOff x="383177" y="4765955"/>
            <a:chExt cx="6165550" cy="405352"/>
          </a:xfrm>
        </p:grpSpPr>
        <p:sp>
          <p:nvSpPr>
            <p:cNvPr id="8" name="文字方塊 7"/>
            <p:cNvSpPr txBox="1"/>
            <p:nvPr/>
          </p:nvSpPr>
          <p:spPr>
            <a:xfrm>
              <a:off x="383177" y="4767702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[0]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843727" y="4767702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1313110" y="4767702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1787101" y="4771197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2247651" y="4771197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[4]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2708325" y="4771197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[5]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3173483" y="4765955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[6]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3634033" y="4765955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[7]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4103416" y="4765955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[8]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4577407" y="4769450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[9]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4994412" y="4769450"/>
              <a:ext cx="6110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[10]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5472504" y="4769450"/>
              <a:ext cx="5968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[11]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5937662" y="4765955"/>
              <a:ext cx="6110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[12]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文字方塊 20"/>
          <p:cNvSpPr txBox="1"/>
          <p:nvPr/>
        </p:nvSpPr>
        <p:spPr>
          <a:xfrm>
            <a:off x="6765029" y="4474105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 MOD 13 = 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2746582" y="517654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761608" y="4812720"/>
            <a:ext cx="17267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MOD 13 = 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765028" y="5150877"/>
            <a:ext cx="1983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 MOD 13 = 10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768334" y="5489034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 MOD 13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765029" y="5813868"/>
            <a:ext cx="1983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 MOD 13 = 12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768334" y="6110529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 MOD 13 = 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205772" y="51787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093880" y="518192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399940" y="516246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6017287" y="517595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804578" y="516246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95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平方取中法 </a:t>
            </a:r>
            <a:r>
              <a:rPr lang="en-US" altLang="zh-TW" sz="3600" dirty="0" err="1"/>
              <a:t>midsquare</a:t>
            </a:r>
            <a:r>
              <a:rPr lang="en-US" altLang="zh-TW" sz="3600" dirty="0"/>
              <a:t> method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平方取中法 </a:t>
            </a:r>
            <a:r>
              <a:rPr lang="en-US" altLang="zh-TW" dirty="0" err="1"/>
              <a:t>midsquare</a:t>
            </a:r>
            <a:r>
              <a:rPr lang="en-US" altLang="zh-TW" dirty="0"/>
              <a:t> method</a:t>
            </a:r>
          </a:p>
          <a:p>
            <a:pPr lvl="1"/>
            <a:r>
              <a:rPr lang="zh-TW" altLang="en-US" dirty="0"/>
              <a:t>鍵值平方後，取</a:t>
            </a:r>
            <a:r>
              <a:rPr lang="zh-TW" altLang="en-US" dirty="0">
                <a:solidFill>
                  <a:srgbClr val="C00000"/>
                </a:solidFill>
              </a:rPr>
              <a:t>中間</a:t>
            </a:r>
            <a:r>
              <a:rPr lang="en-US" altLang="zh-TW" i="1" dirty="0">
                <a:solidFill>
                  <a:srgbClr val="C00000"/>
                </a:solidFill>
              </a:rPr>
              <a:t>k</a:t>
            </a:r>
            <a:r>
              <a:rPr lang="zh-TW" altLang="en-US" dirty="0">
                <a:solidFill>
                  <a:srgbClr val="C00000"/>
                </a:solidFill>
              </a:rPr>
              <a:t>位數</a:t>
            </a:r>
            <a:r>
              <a:rPr lang="zh-TW" altLang="en-US" dirty="0"/>
              <a:t>當作位置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取千、百、十這三個位數作為位置</a:t>
            </a:r>
            <a:endParaRPr lang="en-US" altLang="zh-TW" dirty="0"/>
          </a:p>
          <a:p>
            <a:pPr lvl="1"/>
            <a:r>
              <a:rPr lang="en-US" altLang="zh-TW" dirty="0"/>
              <a:t>key = 5762</a:t>
            </a:r>
          </a:p>
          <a:p>
            <a:pPr lvl="2"/>
            <a:r>
              <a:rPr lang="en-US" altLang="zh-TW" dirty="0"/>
              <a:t>key</a:t>
            </a:r>
            <a:r>
              <a:rPr lang="en-US" altLang="zh-TW" baseline="30000" dirty="0"/>
              <a:t>2</a:t>
            </a:r>
            <a:r>
              <a:rPr lang="en-US" altLang="zh-TW" dirty="0"/>
              <a:t> = 33200644</a:t>
            </a:r>
          </a:p>
          <a:p>
            <a:pPr lvl="1"/>
            <a:r>
              <a:rPr lang="en-US" altLang="zh-TW" dirty="0"/>
              <a:t>key = 2642</a:t>
            </a:r>
          </a:p>
          <a:p>
            <a:pPr lvl="2"/>
            <a:r>
              <a:rPr lang="en-US" altLang="zh-TW" dirty="0"/>
              <a:t>key</a:t>
            </a:r>
            <a:r>
              <a:rPr lang="en-US" altLang="zh-TW" baseline="30000" dirty="0"/>
              <a:t>2</a:t>
            </a:r>
            <a:r>
              <a:rPr lang="en-US" altLang="zh-TW" dirty="0"/>
              <a:t> = 6980164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2656546" y="3243866"/>
            <a:ext cx="383177" cy="21771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2514658" y="3974174"/>
            <a:ext cx="383177" cy="21771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515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位數分析法 </a:t>
            </a:r>
            <a:r>
              <a:rPr lang="en-US" altLang="zh-TW" sz="3600" dirty="0"/>
              <a:t>digit analysis method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位數分析法 </a:t>
            </a:r>
            <a:r>
              <a:rPr lang="en-US" altLang="zh-TW" dirty="0"/>
              <a:t>digit analysis method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00592" y="2189881"/>
          <a:ext cx="6095999" cy="3566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5676097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95615955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84759399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13212464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973029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9572701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76451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百萬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十萬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56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878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50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321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288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341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518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311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681892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391883" y="2190582"/>
            <a:ext cx="864000" cy="3564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273301" y="2190582"/>
            <a:ext cx="864000" cy="35640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3884946" y="2189881"/>
            <a:ext cx="864000" cy="3564000"/>
          </a:xfrm>
          <a:prstGeom prst="rect">
            <a:avLst/>
          </a:prstGeom>
          <a:noFill/>
          <a:ln w="38100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6691367" y="2187721"/>
          <a:ext cx="870857" cy="3566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4156564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67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1111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226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0153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744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9337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60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3239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921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1318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60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0432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381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9554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194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9525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320574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7666910" y="3770746"/>
            <a:ext cx="1260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 101</a:t>
            </a:r>
          </a:p>
        </p:txBody>
      </p:sp>
    </p:spTree>
    <p:extLst>
      <p:ext uri="{BB962C8B-B14F-4D97-AF65-F5344CB8AC3E}">
        <p14:creationId xmlns:p14="http://schemas.microsoft.com/office/powerpoint/2010/main" val="378059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摺疊法 </a:t>
            </a:r>
            <a:r>
              <a:rPr lang="en-US" altLang="zh-TW" dirty="0"/>
              <a:t>folding method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摺疊法 </a:t>
            </a:r>
            <a:r>
              <a:rPr lang="en-US" altLang="zh-TW" dirty="0"/>
              <a:t>folding method</a:t>
            </a:r>
          </a:p>
          <a:p>
            <a:pPr lvl="1"/>
            <a:r>
              <a:rPr lang="zh-TW" altLang="en-US" dirty="0"/>
              <a:t>鍵值的位數很多</a:t>
            </a:r>
            <a:endParaRPr lang="en-US" altLang="zh-TW" dirty="0"/>
          </a:p>
          <a:p>
            <a:pPr lvl="1"/>
            <a:r>
              <a:rPr lang="zh-TW" altLang="en-US" dirty="0"/>
              <a:t>將鍵值</a:t>
            </a:r>
            <a:r>
              <a:rPr lang="zh-TW" altLang="en-US" dirty="0">
                <a:solidFill>
                  <a:srgbClr val="C00000"/>
                </a:solidFill>
              </a:rPr>
              <a:t>折成若干段</a:t>
            </a:r>
            <a:r>
              <a:rPr lang="zh-TW" altLang="en-US" dirty="0"/>
              <a:t>，再相加之後 </a:t>
            </a:r>
            <a:r>
              <a:rPr lang="en-US" altLang="zh-TW" dirty="0"/>
              <a:t>MOD</a:t>
            </a:r>
            <a:r>
              <a:rPr lang="zh-TW" altLang="en-US" dirty="0"/>
              <a:t> 表格大小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i="1" dirty="0"/>
              <a:t>m</a:t>
            </a:r>
            <a:r>
              <a:rPr lang="en-US" altLang="zh-TW" dirty="0"/>
              <a:t> = 101, key = 381231596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64824" y="3899336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381231596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接點 8"/>
          <p:cNvCxnSpPr/>
          <p:nvPr/>
        </p:nvCxnSpPr>
        <p:spPr>
          <a:xfrm>
            <a:off x="1216523" y="3899336"/>
            <a:ext cx="0" cy="40011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599705" y="3899336"/>
            <a:ext cx="0" cy="40011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5629772" y="3899336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381231596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接點 13"/>
          <p:cNvCxnSpPr/>
          <p:nvPr/>
        </p:nvCxnSpPr>
        <p:spPr>
          <a:xfrm>
            <a:off x="5985672" y="3899336"/>
            <a:ext cx="0" cy="40011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6464653" y="3899336"/>
            <a:ext cx="0" cy="40011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群組 45"/>
          <p:cNvGrpSpPr/>
          <p:nvPr/>
        </p:nvGrpSpPr>
        <p:grpSpPr>
          <a:xfrm>
            <a:off x="840258" y="4439537"/>
            <a:ext cx="899927" cy="1238098"/>
            <a:chOff x="840258" y="4439537"/>
            <a:chExt cx="899927" cy="1238098"/>
          </a:xfrm>
        </p:grpSpPr>
        <p:sp>
          <p:nvSpPr>
            <p:cNvPr id="16" name="文字方塊 15"/>
            <p:cNvSpPr txBox="1"/>
            <p:nvPr/>
          </p:nvSpPr>
          <p:spPr>
            <a:xfrm>
              <a:off x="1170798" y="4439537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381</a:t>
              </a: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1170798" y="4688458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231</a:t>
              </a: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1170798" y="4937379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596</a:t>
              </a: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840258" y="4937379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cxnSp>
          <p:nvCxnSpPr>
            <p:cNvPr id="20" name="直線接點 19"/>
            <p:cNvCxnSpPr/>
            <p:nvPr/>
          </p:nvCxnSpPr>
          <p:spPr>
            <a:xfrm>
              <a:off x="840258" y="5285484"/>
              <a:ext cx="89992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1042558" y="5277525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1208</a:t>
              </a:r>
            </a:p>
          </p:txBody>
        </p:sp>
      </p:grpSp>
      <p:sp>
        <p:nvSpPr>
          <p:cNvPr id="24" name="文字方塊 23"/>
          <p:cNvSpPr txBox="1"/>
          <p:nvPr/>
        </p:nvSpPr>
        <p:spPr>
          <a:xfrm>
            <a:off x="172859" y="5813273"/>
            <a:ext cx="23679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1208 MOD 101 = 97</a:t>
            </a:r>
          </a:p>
        </p:txBody>
      </p:sp>
      <p:grpSp>
        <p:nvGrpSpPr>
          <p:cNvPr id="47" name="群組 46"/>
          <p:cNvGrpSpPr/>
          <p:nvPr/>
        </p:nvGrpSpPr>
        <p:grpSpPr>
          <a:xfrm>
            <a:off x="3615992" y="4432686"/>
            <a:ext cx="899927" cy="1245080"/>
            <a:chOff x="3615992" y="4432686"/>
            <a:chExt cx="899927" cy="1245080"/>
          </a:xfrm>
        </p:grpSpPr>
        <p:sp>
          <p:nvSpPr>
            <p:cNvPr id="25" name="文字方塊 24"/>
            <p:cNvSpPr txBox="1"/>
            <p:nvPr/>
          </p:nvSpPr>
          <p:spPr>
            <a:xfrm>
              <a:off x="4065955" y="4432686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38</a:t>
              </a:r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3815403" y="4679921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1231</a:t>
              </a: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3946532" y="4937510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596</a:t>
              </a: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3615992" y="4937510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cxnSp>
          <p:nvCxnSpPr>
            <p:cNvPr id="29" name="直線接點 28"/>
            <p:cNvCxnSpPr/>
            <p:nvPr/>
          </p:nvCxnSpPr>
          <p:spPr>
            <a:xfrm>
              <a:off x="3615992" y="5285615"/>
              <a:ext cx="89992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29"/>
            <p:cNvSpPr txBox="1"/>
            <p:nvPr/>
          </p:nvSpPr>
          <p:spPr>
            <a:xfrm>
              <a:off x="3818292" y="5277656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1865</a:t>
              </a:r>
            </a:p>
          </p:txBody>
        </p:sp>
      </p:grpSp>
      <p:sp>
        <p:nvSpPr>
          <p:cNvPr id="31" name="文字方塊 30"/>
          <p:cNvSpPr txBox="1"/>
          <p:nvPr/>
        </p:nvSpPr>
        <p:spPr>
          <a:xfrm>
            <a:off x="2948593" y="5813404"/>
            <a:ext cx="23679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1865 MOD 101 = 47</a:t>
            </a:r>
          </a:p>
        </p:txBody>
      </p:sp>
      <p:grpSp>
        <p:nvGrpSpPr>
          <p:cNvPr id="48" name="群組 47"/>
          <p:cNvGrpSpPr/>
          <p:nvPr/>
        </p:nvGrpSpPr>
        <p:grpSpPr>
          <a:xfrm>
            <a:off x="5674867" y="4435084"/>
            <a:ext cx="1028168" cy="1238098"/>
            <a:chOff x="5674867" y="4435084"/>
            <a:chExt cx="1028168" cy="1238098"/>
          </a:xfrm>
        </p:grpSpPr>
        <p:sp>
          <p:nvSpPr>
            <p:cNvPr id="32" name="文字方塊 31"/>
            <p:cNvSpPr txBox="1"/>
            <p:nvPr/>
          </p:nvSpPr>
          <p:spPr>
            <a:xfrm>
              <a:off x="6005408" y="4435084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38</a:t>
              </a:r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6005408" y="4684005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1231</a:t>
              </a: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6005408" y="4932926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596</a:t>
              </a: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674868" y="4932926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cxnSp>
          <p:nvCxnSpPr>
            <p:cNvPr id="36" name="直線接點 35"/>
            <p:cNvCxnSpPr/>
            <p:nvPr/>
          </p:nvCxnSpPr>
          <p:spPr>
            <a:xfrm>
              <a:off x="5674867" y="5281031"/>
              <a:ext cx="10080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5877168" y="5273072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10991</a:t>
              </a:r>
            </a:p>
          </p:txBody>
        </p:sp>
      </p:grpSp>
      <p:grpSp>
        <p:nvGrpSpPr>
          <p:cNvPr id="49" name="群組 48"/>
          <p:cNvGrpSpPr/>
          <p:nvPr/>
        </p:nvGrpSpPr>
        <p:grpSpPr>
          <a:xfrm>
            <a:off x="7707791" y="4429546"/>
            <a:ext cx="1038621" cy="1238829"/>
            <a:chOff x="7707791" y="4429546"/>
            <a:chExt cx="1038621" cy="1238829"/>
          </a:xfrm>
        </p:grpSpPr>
        <p:sp>
          <p:nvSpPr>
            <p:cNvPr id="39" name="文字方塊 38"/>
            <p:cNvSpPr txBox="1"/>
            <p:nvPr/>
          </p:nvSpPr>
          <p:spPr>
            <a:xfrm>
              <a:off x="8305266" y="4429546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83</a:t>
              </a: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8038332" y="4684005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1321</a:t>
              </a: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8168873" y="4932926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695</a:t>
              </a: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7707792" y="4932926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cxnSp>
          <p:nvCxnSpPr>
            <p:cNvPr id="43" name="直線接點 42"/>
            <p:cNvCxnSpPr/>
            <p:nvPr/>
          </p:nvCxnSpPr>
          <p:spPr>
            <a:xfrm>
              <a:off x="7707791" y="5281031"/>
              <a:ext cx="10080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8038332" y="5268265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2099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858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24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解決碰撞的方法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解決</a:t>
            </a:r>
            <a:r>
              <a:rPr lang="zh-TW" altLang="en-US" dirty="0">
                <a:solidFill>
                  <a:srgbClr val="C00000"/>
                </a:solidFill>
              </a:rPr>
              <a:t>碰撞</a:t>
            </a:r>
            <a:r>
              <a:rPr lang="en-US" altLang="zh-TW" dirty="0"/>
              <a:t>/</a:t>
            </a:r>
            <a:r>
              <a:rPr lang="zh-TW" altLang="en-US" dirty="0"/>
              <a:t>溢位的方法</a:t>
            </a:r>
            <a:endParaRPr lang="en-US" altLang="zh-TW" dirty="0"/>
          </a:p>
          <a:p>
            <a:r>
              <a:rPr lang="zh-TW" altLang="en-US" dirty="0"/>
              <a:t>開放位址法 </a:t>
            </a:r>
            <a:r>
              <a:rPr lang="en-US" altLang="zh-TW" dirty="0"/>
              <a:t>open addressing</a:t>
            </a:r>
          </a:p>
          <a:p>
            <a:pPr lvl="1"/>
            <a:r>
              <a:rPr lang="zh-TW" altLang="en-US" dirty="0"/>
              <a:t>利用表格的空位來輔助化解碰撞</a:t>
            </a:r>
            <a:endParaRPr lang="en-US" altLang="zh-TW" dirty="0"/>
          </a:p>
          <a:p>
            <a:pPr lvl="2"/>
            <a:r>
              <a:rPr lang="zh-TW" altLang="en-US" dirty="0"/>
              <a:t>線性探測 </a:t>
            </a:r>
            <a:r>
              <a:rPr lang="en-US" altLang="zh-TW" dirty="0"/>
              <a:t>linear probing</a:t>
            </a:r>
          </a:p>
          <a:p>
            <a:pPr lvl="2"/>
            <a:r>
              <a:rPr lang="zh-TW" altLang="en-US" dirty="0"/>
              <a:t>重雜湊 </a:t>
            </a:r>
            <a:r>
              <a:rPr lang="en-US" altLang="zh-TW" dirty="0"/>
              <a:t>rehashing</a:t>
            </a:r>
          </a:p>
          <a:p>
            <a:pPr lvl="2"/>
            <a:r>
              <a:rPr lang="zh-TW" altLang="en-US" dirty="0"/>
              <a:t>平方探測 </a:t>
            </a:r>
            <a:r>
              <a:rPr lang="en-US" altLang="zh-TW" dirty="0"/>
              <a:t>quadratic probing</a:t>
            </a:r>
          </a:p>
          <a:p>
            <a:endParaRPr lang="en-US" altLang="zh-TW" dirty="0"/>
          </a:p>
          <a:p>
            <a:r>
              <a:rPr lang="zh-TW" altLang="en-US" dirty="0"/>
              <a:t>分別鏈結法 </a:t>
            </a:r>
            <a:r>
              <a:rPr lang="en-US" altLang="zh-TW" dirty="0"/>
              <a:t>separate chaining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751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線性探測 </a:t>
            </a:r>
            <a:r>
              <a:rPr lang="en-US" altLang="zh-TW" dirty="0"/>
              <a:t>linear probing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發生碰撞</a:t>
            </a:r>
            <a:endParaRPr lang="en-US" altLang="zh-TW" dirty="0"/>
          </a:p>
          <a:p>
            <a:pPr lvl="1"/>
            <a:r>
              <a:rPr lang="zh-TW" altLang="en-US" dirty="0"/>
              <a:t>往下探測下一個位置</a:t>
            </a:r>
            <a:endParaRPr lang="en-US" altLang="zh-TW" dirty="0"/>
          </a:p>
          <a:p>
            <a:pPr lvl="1"/>
            <a:r>
              <a:rPr lang="zh-TW" altLang="en-US" dirty="0"/>
              <a:t>如果找不到空格，代表表格數目</a:t>
            </a:r>
            <a:r>
              <a:rPr lang="en-US" altLang="zh-TW" i="1" dirty="0"/>
              <a:t>m</a:t>
            </a:r>
            <a:r>
              <a:rPr lang="zh-TW" altLang="en-US" dirty="0"/>
              <a:t>太小，必須加大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i="1" dirty="0"/>
              <a:t>m</a:t>
            </a:r>
            <a:r>
              <a:rPr lang="en-US" altLang="zh-TW" dirty="0"/>
              <a:t> = 13,</a:t>
            </a:r>
            <a:r>
              <a:rPr lang="zh-TW" altLang="en-US" dirty="0"/>
              <a:t> 鍵值為</a:t>
            </a:r>
            <a:r>
              <a:rPr lang="en-US" altLang="zh-TW" dirty="0"/>
              <a:t>62, 42, 13, 57, 8, 60, 73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725783" y="4664188"/>
          <a:ext cx="6095999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68923">
                  <a:extLst>
                    <a:ext uri="{9D8B030D-6E8A-4147-A177-3AD203B41FA5}">
                      <a16:colId xmlns:a16="http://schemas.microsoft.com/office/drawing/2014/main" val="184995094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17797542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313059258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10458281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343154968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5936485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111258442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7982686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14634902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2345729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05855203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9060096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81944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523477"/>
                  </a:ext>
                </a:extLst>
              </a:tr>
            </a:tbl>
          </a:graphicData>
        </a:graphic>
      </p:graphicFrame>
      <p:grpSp>
        <p:nvGrpSpPr>
          <p:cNvPr id="41" name="群組 40"/>
          <p:cNvGrpSpPr/>
          <p:nvPr/>
        </p:nvGrpSpPr>
        <p:grpSpPr>
          <a:xfrm>
            <a:off x="2725783" y="4262331"/>
            <a:ext cx="6165550" cy="405352"/>
            <a:chOff x="2725783" y="4262331"/>
            <a:chExt cx="6165550" cy="405352"/>
          </a:xfrm>
        </p:grpSpPr>
        <p:sp>
          <p:nvSpPr>
            <p:cNvPr id="8" name="文字方塊 7"/>
            <p:cNvSpPr txBox="1"/>
            <p:nvPr/>
          </p:nvSpPr>
          <p:spPr>
            <a:xfrm>
              <a:off x="2725783" y="4264078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[0]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3186333" y="4264078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3655716" y="4264078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4129707" y="4267573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4590257" y="4267573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[4]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5050931" y="4267573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[5]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5516089" y="4262331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[6]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5976639" y="4262331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[7]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6446022" y="4262331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[8]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6920013" y="4265826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[9]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337018" y="4265826"/>
              <a:ext cx="6110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[10]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7815110" y="4265826"/>
              <a:ext cx="5968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[11]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8280268" y="4262331"/>
              <a:ext cx="6110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[12]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文字方塊 20"/>
          <p:cNvSpPr txBox="1"/>
          <p:nvPr/>
        </p:nvSpPr>
        <p:spPr>
          <a:xfrm>
            <a:off x="390352" y="3838373"/>
            <a:ext cx="1983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 MOD 13 = 10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089188" y="467292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86931" y="4176988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 MOD 13 = 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90351" y="4515145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MOD 13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93657" y="4853302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 MOD 13 = 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90352" y="5178136"/>
            <a:ext cx="17267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MOD 13 = 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548378" y="467507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436486" y="467829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742546" y="465884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6958906" y="467507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147184" y="465884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90236" y="5516293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MOD 13 = 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386931" y="5841127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 MOD 13 = 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7884686" y="467268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向下箭號 34"/>
          <p:cNvSpPr/>
          <p:nvPr/>
        </p:nvSpPr>
        <p:spPr>
          <a:xfrm flipV="1">
            <a:off x="6618567" y="5084332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向下箭號 35"/>
          <p:cNvSpPr/>
          <p:nvPr/>
        </p:nvSpPr>
        <p:spPr>
          <a:xfrm flipV="1">
            <a:off x="7093215" y="5084332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向下箭號 36"/>
          <p:cNvSpPr/>
          <p:nvPr/>
        </p:nvSpPr>
        <p:spPr>
          <a:xfrm flipV="1">
            <a:off x="6621122" y="5088173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向下箭號 37"/>
          <p:cNvSpPr/>
          <p:nvPr/>
        </p:nvSpPr>
        <p:spPr>
          <a:xfrm flipV="1">
            <a:off x="7093215" y="5091518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向下箭號 38"/>
          <p:cNvSpPr/>
          <p:nvPr/>
        </p:nvSpPr>
        <p:spPr>
          <a:xfrm flipV="1">
            <a:off x="8018241" y="5088173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向下箭號 39"/>
          <p:cNvSpPr/>
          <p:nvPr/>
        </p:nvSpPr>
        <p:spPr>
          <a:xfrm flipV="1">
            <a:off x="7556702" y="5091518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95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13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40" grpId="0" animBg="1"/>
      <p:bldP spid="40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重雜湊 </a:t>
            </a:r>
            <a:r>
              <a:rPr lang="en-US" altLang="zh-TW" dirty="0"/>
              <a:t>rehashing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發生碰撞時，利用</a:t>
            </a:r>
            <a:r>
              <a:rPr lang="zh-TW" altLang="en-US" dirty="0">
                <a:solidFill>
                  <a:srgbClr val="C00000"/>
                </a:solidFill>
              </a:rPr>
              <a:t>第二個</a:t>
            </a:r>
            <a:r>
              <a:rPr lang="zh-TW" altLang="en-US" dirty="0"/>
              <a:t>雜湊函數</a:t>
            </a:r>
            <a:endParaRPr lang="en-US" altLang="zh-TW" dirty="0"/>
          </a:p>
          <a:p>
            <a:r>
              <a:rPr lang="zh-TW" altLang="en-US" dirty="0"/>
              <a:t>又發生碰撞，利用</a:t>
            </a:r>
            <a:r>
              <a:rPr lang="zh-TW" altLang="en-US" dirty="0">
                <a:solidFill>
                  <a:srgbClr val="C00000"/>
                </a:solidFill>
              </a:rPr>
              <a:t>第三個</a:t>
            </a:r>
            <a:r>
              <a:rPr lang="zh-TW" altLang="en-US" dirty="0"/>
              <a:t>雜湊函數</a:t>
            </a:r>
            <a:endParaRPr lang="en-US" altLang="zh-TW" dirty="0"/>
          </a:p>
          <a:p>
            <a:r>
              <a:rPr lang="zh-TW" altLang="en-US" dirty="0"/>
              <a:t>又發生碰撞，</a:t>
            </a:r>
            <a:r>
              <a:rPr lang="en-US" altLang="zh-TW" dirty="0"/>
              <a:t>…………</a:t>
            </a:r>
          </a:p>
          <a:p>
            <a:endParaRPr lang="en-US" altLang="zh-TW" dirty="0"/>
          </a:p>
          <a:p>
            <a:r>
              <a:rPr lang="en-US" altLang="zh-TW" i="1" dirty="0"/>
              <a:t>m</a:t>
            </a:r>
            <a:r>
              <a:rPr lang="en-US" altLang="zh-TW" dirty="0"/>
              <a:t> = 13,</a:t>
            </a:r>
            <a:r>
              <a:rPr lang="zh-TW" altLang="en-US" dirty="0"/>
              <a:t> 鍵值為</a:t>
            </a:r>
            <a:r>
              <a:rPr lang="en-US" altLang="zh-TW" dirty="0"/>
              <a:t>62, 42, 13, 57, 8, 60, 73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725783" y="4664188"/>
          <a:ext cx="6095999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68923">
                  <a:extLst>
                    <a:ext uri="{9D8B030D-6E8A-4147-A177-3AD203B41FA5}">
                      <a16:colId xmlns:a16="http://schemas.microsoft.com/office/drawing/2014/main" val="184995094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17797542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313059258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10458281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343154968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5936485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111258442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7982686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14634902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2345729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05855203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9060096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481944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523477"/>
                  </a:ext>
                </a:extLst>
              </a:tr>
            </a:tbl>
          </a:graphicData>
        </a:graphic>
      </p:graphicFrame>
      <p:grpSp>
        <p:nvGrpSpPr>
          <p:cNvPr id="50" name="群組 49"/>
          <p:cNvGrpSpPr/>
          <p:nvPr/>
        </p:nvGrpSpPr>
        <p:grpSpPr>
          <a:xfrm>
            <a:off x="2725783" y="4262331"/>
            <a:ext cx="6165550" cy="405352"/>
            <a:chOff x="2725783" y="4262331"/>
            <a:chExt cx="6165550" cy="405352"/>
          </a:xfrm>
        </p:grpSpPr>
        <p:sp>
          <p:nvSpPr>
            <p:cNvPr id="8" name="文字方塊 7"/>
            <p:cNvSpPr txBox="1"/>
            <p:nvPr/>
          </p:nvSpPr>
          <p:spPr>
            <a:xfrm>
              <a:off x="2725783" y="4264078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[0]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3186333" y="4264078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3655716" y="4264078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4129707" y="4267573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4590257" y="4267573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[4]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5050931" y="4267573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[5]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5516089" y="4262331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[6]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5976639" y="4262331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[7]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6446022" y="4262331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[8]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6920013" y="4265826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[9]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337018" y="4265826"/>
              <a:ext cx="6110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[10]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7815110" y="4265826"/>
              <a:ext cx="5968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[11]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8280268" y="4262331"/>
              <a:ext cx="6110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[12]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文字方塊 20"/>
          <p:cNvSpPr txBox="1"/>
          <p:nvPr/>
        </p:nvSpPr>
        <p:spPr>
          <a:xfrm>
            <a:off x="163926" y="3925463"/>
            <a:ext cx="1983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 MOD 13 = 10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089188" y="467292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160505" y="4264078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 MOD 13 = 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63925" y="4602235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MOD 13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67231" y="4940392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 MOD 13 = 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63926" y="5265226"/>
            <a:ext cx="17267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MOD 13 = 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548378" y="467507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436486" y="467829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742546" y="465884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8352060" y="46665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147184" y="465884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63810" y="5603383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MOD 13 = 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160505" y="5928217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 MOD 13 = 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216812" y="466566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向下箭號 34"/>
          <p:cNvSpPr/>
          <p:nvPr/>
        </p:nvSpPr>
        <p:spPr>
          <a:xfrm flipV="1">
            <a:off x="6618567" y="5084332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向下箭號 35"/>
          <p:cNvSpPr/>
          <p:nvPr/>
        </p:nvSpPr>
        <p:spPr>
          <a:xfrm flipV="1">
            <a:off x="8499536" y="5084332"/>
            <a:ext cx="172528" cy="176040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向下箭號 36"/>
          <p:cNvSpPr/>
          <p:nvPr/>
        </p:nvSpPr>
        <p:spPr>
          <a:xfrm flipV="1">
            <a:off x="6621122" y="5088164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向下箭號 37"/>
          <p:cNvSpPr/>
          <p:nvPr/>
        </p:nvSpPr>
        <p:spPr>
          <a:xfrm flipV="1">
            <a:off x="5223497" y="5095344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向下箭號 38"/>
          <p:cNvSpPr/>
          <p:nvPr/>
        </p:nvSpPr>
        <p:spPr>
          <a:xfrm flipV="1">
            <a:off x="8496981" y="508463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/>
          <p:cNvSpPr txBox="1"/>
          <p:nvPr/>
        </p:nvSpPr>
        <p:spPr>
          <a:xfrm>
            <a:off x="2171968" y="5603383"/>
            <a:ext cx="2550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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60) MOD 13 = 12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179022" y="5928217"/>
            <a:ext cx="2550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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73) MOD 13 = 12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050931" y="5928217"/>
            <a:ext cx="2550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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73) MOD 13 = 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5057985" y="6331266"/>
            <a:ext cx="2422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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73) MOD 13 = 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向下箭號 43"/>
          <p:cNvSpPr/>
          <p:nvPr/>
        </p:nvSpPr>
        <p:spPr>
          <a:xfrm flipV="1">
            <a:off x="3361053" y="5094093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/>
          <p:cNvSpPr txBox="1"/>
          <p:nvPr/>
        </p:nvSpPr>
        <p:spPr>
          <a:xfrm>
            <a:off x="4896810" y="1349591"/>
            <a:ext cx="29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1: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key MOD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4894085" y="1745691"/>
            <a:ext cx="3611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2: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key) MOD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901443" y="2141791"/>
            <a:ext cx="3611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3: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key) MOD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4894085" y="251279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4901443" y="2891501"/>
            <a:ext cx="37433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key) MOD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79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/>
      <p:bldP spid="41" grpId="0"/>
      <p:bldP spid="42" grpId="0"/>
      <p:bldP spid="43" grpId="0"/>
      <p:bldP spid="44" grpId="0" animBg="1"/>
      <p:bldP spid="45" grpId="0"/>
      <p:bldP spid="46" grpId="0"/>
      <p:bldP spid="47" grpId="0"/>
      <p:bldP spid="48" grpId="0"/>
      <p:bldP spid="4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分別鏈結法 </a:t>
            </a:r>
            <a:r>
              <a:rPr lang="en-US" altLang="zh-TW" dirty="0"/>
              <a:t>separate chaining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利用</a:t>
            </a:r>
            <a:r>
              <a:rPr lang="zh-TW" altLang="en-US" dirty="0">
                <a:solidFill>
                  <a:srgbClr val="C00000"/>
                </a:solidFill>
              </a:rPr>
              <a:t>串列</a:t>
            </a:r>
            <a:r>
              <a:rPr lang="zh-TW" altLang="en-US" dirty="0"/>
              <a:t>將雜湊值相同的鍵值串在一起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i="1" dirty="0"/>
              <a:t>m</a:t>
            </a:r>
            <a:r>
              <a:rPr lang="en-US" altLang="zh-TW" dirty="0"/>
              <a:t> = 13</a:t>
            </a:r>
          </a:p>
          <a:p>
            <a:r>
              <a:rPr lang="zh-TW" altLang="en-US" dirty="0"/>
              <a:t>鍵值為</a:t>
            </a:r>
            <a:r>
              <a:rPr lang="en-US" altLang="zh-TW" dirty="0"/>
              <a:t>62, 42, 13, 57, 8, 60, 73, 26, 49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868089" y="1596972"/>
          <a:ext cx="1104357" cy="48209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21030">
                  <a:extLst>
                    <a:ext uri="{9D8B030D-6E8A-4147-A177-3AD203B41FA5}">
                      <a16:colId xmlns:a16="http://schemas.microsoft.com/office/drawing/2014/main" val="3197891192"/>
                    </a:ext>
                  </a:extLst>
                </a:gridCol>
                <a:gridCol w="483327">
                  <a:extLst>
                    <a:ext uri="{9D8B030D-6E8A-4147-A177-3AD203B41FA5}">
                      <a16:colId xmlns:a16="http://schemas.microsoft.com/office/drawing/2014/main" val="3275432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370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749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301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65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494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88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347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343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[8]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186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[9]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502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[10]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46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[11]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542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[12]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203995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174121" y="3246194"/>
            <a:ext cx="1983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 MOD 13 = 10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170700" y="3584809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 MOD 13 = 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174120" y="3922966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MOD 13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177426" y="4261123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 MOD 13 = 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174121" y="4585957"/>
            <a:ext cx="17267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MOD 13 = 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174005" y="4924114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MOD 13 = 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170700" y="5248948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 MOD 13 = 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1170700" y="5587105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 MOD 13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167395" y="5911939"/>
            <a:ext cx="1983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 MOD 13 = 10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518312" y="344264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568087" y="45626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503967" y="529023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5505173" y="158366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503967" y="268860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群組 33"/>
          <p:cNvGrpSpPr/>
          <p:nvPr/>
        </p:nvGrpSpPr>
        <p:grpSpPr>
          <a:xfrm>
            <a:off x="5946319" y="1579554"/>
            <a:ext cx="901209" cy="400110"/>
            <a:chOff x="5946319" y="1579554"/>
            <a:chExt cx="901209" cy="400110"/>
          </a:xfrm>
        </p:grpSpPr>
        <p:sp>
          <p:nvSpPr>
            <p:cNvPr id="24" name="文字方塊 23"/>
            <p:cNvSpPr txBox="1"/>
            <p:nvPr/>
          </p:nvSpPr>
          <p:spPr>
            <a:xfrm>
              <a:off x="6406382" y="1579554"/>
              <a:ext cx="441146" cy="400110"/>
            </a:xfrm>
            <a:prstGeom prst="rect">
              <a:avLst/>
            </a:prstGeom>
            <a:solidFill>
              <a:srgbClr val="E8F0FC"/>
            </a:solidFill>
            <a:ln w="19050">
              <a:solidFill>
                <a:srgbClr val="2FA3EE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26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7" name="直線單箭頭接點 26"/>
            <p:cNvCxnSpPr>
              <a:stCxn id="20" idx="3"/>
              <a:endCxn id="24" idx="1"/>
            </p:cNvCxnSpPr>
            <p:nvPr/>
          </p:nvCxnSpPr>
          <p:spPr>
            <a:xfrm flipV="1">
              <a:off x="5946319" y="1779609"/>
              <a:ext cx="460063" cy="411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群組 34"/>
          <p:cNvGrpSpPr/>
          <p:nvPr/>
        </p:nvGrpSpPr>
        <p:grpSpPr>
          <a:xfrm>
            <a:off x="5959533" y="4561888"/>
            <a:ext cx="887995" cy="400110"/>
            <a:chOff x="5959533" y="4561888"/>
            <a:chExt cx="887995" cy="400110"/>
          </a:xfrm>
        </p:grpSpPr>
        <p:sp>
          <p:nvSpPr>
            <p:cNvPr id="21" name="文字方塊 20"/>
            <p:cNvSpPr txBox="1"/>
            <p:nvPr/>
          </p:nvSpPr>
          <p:spPr>
            <a:xfrm>
              <a:off x="6406382" y="4561888"/>
              <a:ext cx="441146" cy="400110"/>
            </a:xfrm>
            <a:prstGeom prst="rect">
              <a:avLst/>
            </a:prstGeom>
            <a:solidFill>
              <a:srgbClr val="E8F0FC"/>
            </a:solidFill>
            <a:ln w="19050">
              <a:solidFill>
                <a:srgbClr val="2FA3EE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" name="直線單箭頭接點 27"/>
            <p:cNvCxnSpPr/>
            <p:nvPr/>
          </p:nvCxnSpPr>
          <p:spPr>
            <a:xfrm>
              <a:off x="5959533" y="4759885"/>
              <a:ext cx="47059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群組 35"/>
          <p:cNvGrpSpPr/>
          <p:nvPr/>
        </p:nvGrpSpPr>
        <p:grpSpPr>
          <a:xfrm>
            <a:off x="6847528" y="4559830"/>
            <a:ext cx="866376" cy="400110"/>
            <a:chOff x="6847528" y="4559830"/>
            <a:chExt cx="866376" cy="400110"/>
          </a:xfrm>
        </p:grpSpPr>
        <p:sp>
          <p:nvSpPr>
            <p:cNvPr id="23" name="文字方塊 22"/>
            <p:cNvSpPr txBox="1"/>
            <p:nvPr/>
          </p:nvSpPr>
          <p:spPr>
            <a:xfrm>
              <a:off x="7272758" y="4559830"/>
              <a:ext cx="441146" cy="400110"/>
            </a:xfrm>
            <a:prstGeom prst="rect">
              <a:avLst/>
            </a:prstGeom>
            <a:solidFill>
              <a:srgbClr val="E8F0FC"/>
            </a:solidFill>
            <a:ln w="19050">
              <a:solidFill>
                <a:srgbClr val="2FA3EE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73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" name="直線單箭頭接點 29"/>
            <p:cNvCxnSpPr>
              <a:stCxn id="21" idx="3"/>
              <a:endCxn id="23" idx="1"/>
            </p:cNvCxnSpPr>
            <p:nvPr/>
          </p:nvCxnSpPr>
          <p:spPr>
            <a:xfrm flipV="1">
              <a:off x="6847528" y="4759885"/>
              <a:ext cx="425230" cy="205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群組 36"/>
          <p:cNvGrpSpPr/>
          <p:nvPr/>
        </p:nvGrpSpPr>
        <p:grpSpPr>
          <a:xfrm>
            <a:off x="5959383" y="5286487"/>
            <a:ext cx="905864" cy="400110"/>
            <a:chOff x="5959383" y="5286487"/>
            <a:chExt cx="905864" cy="400110"/>
          </a:xfrm>
        </p:grpSpPr>
        <p:sp>
          <p:nvSpPr>
            <p:cNvPr id="25" name="文字方塊 24"/>
            <p:cNvSpPr txBox="1"/>
            <p:nvPr/>
          </p:nvSpPr>
          <p:spPr>
            <a:xfrm>
              <a:off x="6424101" y="5286487"/>
              <a:ext cx="441146" cy="400110"/>
            </a:xfrm>
            <a:prstGeom prst="rect">
              <a:avLst/>
            </a:prstGeom>
            <a:solidFill>
              <a:srgbClr val="E8F0FC"/>
            </a:solidFill>
            <a:ln w="19050">
              <a:solidFill>
                <a:srgbClr val="2FA3EE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49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直線單箭頭接點 32"/>
            <p:cNvCxnSpPr/>
            <p:nvPr/>
          </p:nvCxnSpPr>
          <p:spPr>
            <a:xfrm flipV="1">
              <a:off x="5959383" y="5501675"/>
              <a:ext cx="460063" cy="411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4916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內插搜尋法 </a:t>
            </a:r>
            <a:r>
              <a:rPr lang="en-US" altLang="zh-TW" sz="3600" dirty="0"/>
              <a:t>interpolation search (1/7)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嘗試更精準預測鍵值所在位置</a:t>
            </a:r>
            <a:endParaRPr lang="en-US" altLang="zh-TW" dirty="0"/>
          </a:p>
          <a:p>
            <a:r>
              <a:rPr lang="en-US" altLang="zh-TW" i="1" dirty="0"/>
              <a:t>key</a:t>
            </a:r>
            <a:r>
              <a:rPr lang="en-US" altLang="zh-TW" dirty="0"/>
              <a:t> = </a:t>
            </a:r>
            <a:r>
              <a:rPr lang="en-US" altLang="zh-TW" dirty="0">
                <a:solidFill>
                  <a:srgbClr val="C00000"/>
                </a:solidFill>
              </a:rPr>
              <a:t>81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32826" y="2889376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496084" y="2484432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105175" y="2484432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14267" y="2484853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323358" y="2484853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941330" y="2485274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550421" y="2485274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159513" y="2485695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768604" y="2485695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374897" y="2484432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983988" y="2484432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表格 17"/>
              <p:cNvGraphicFramePr>
                <a:graphicFrameLocks noGrp="1"/>
              </p:cNvGraphicFramePr>
              <p:nvPr/>
            </p:nvGraphicFramePr>
            <p:xfrm>
              <a:off x="819522" y="3570848"/>
              <a:ext cx="7404735" cy="21198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2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00850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第</a:t>
                          </a:r>
                          <a:r>
                            <a:rPr lang="en-US" altLang="zh-TW" sz="2000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次比較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𝒍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𝒓</m:t>
                                  </m:r>
                                </m:num>
                                <m:den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 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比較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新範圍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表格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521543"/>
                  </p:ext>
                </p:extLst>
              </p:nvPr>
            </p:nvGraphicFramePr>
            <p:xfrm>
              <a:off x="819522" y="3570848"/>
              <a:ext cx="7404735" cy="21198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230"/>
                    <a:gridCol w="1016000"/>
                    <a:gridCol w="1016000"/>
                    <a:gridCol w="1016000"/>
                    <a:gridCol w="2008505"/>
                    <a:gridCol w="1016000"/>
                  </a:tblGrid>
                  <a:tr h="5349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第</a:t>
                          </a:r>
                          <a:r>
                            <a:rPr lang="en-US" altLang="zh-TW" sz="2000" b="1" i="1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次比較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33133" t="-1136" r="-402410" b="-2988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 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比較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新範圍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3230606" y="4067346"/>
                <a:ext cx="875560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𝟒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606" y="4067346"/>
                <a:ext cx="875560" cy="460062"/>
              </a:xfrm>
              <a:prstGeom prst="rect">
                <a:avLst/>
              </a:prstGeom>
              <a:blipFill rotWithShape="1"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/>
          <p:cNvSpPr txBox="1"/>
          <p:nvPr/>
        </p:nvSpPr>
        <p:spPr>
          <a:xfrm>
            <a:off x="5376917" y="4097322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 &gt;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= 52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525022" y="409732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右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2485759" y="409732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535599" y="409732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326944" y="409732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3230606" y="4475853"/>
                <a:ext cx="875561" cy="4646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𝟓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𝟕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606" y="4475853"/>
                <a:ext cx="875561" cy="464614"/>
              </a:xfrm>
              <a:prstGeom prst="rect">
                <a:avLst/>
              </a:prstGeom>
              <a:blipFill rotWithShape="1"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/>
          <p:cNvSpPr txBox="1"/>
          <p:nvPr/>
        </p:nvSpPr>
        <p:spPr>
          <a:xfrm>
            <a:off x="5376917" y="4505829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 &gt;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= 77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525022" y="450582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右</a:t>
            </a:r>
          </a:p>
        </p:txBody>
      </p:sp>
      <p:sp>
        <p:nvSpPr>
          <p:cNvPr id="28" name="文字方塊 27"/>
          <p:cNvSpPr txBox="1"/>
          <p:nvPr/>
        </p:nvSpPr>
        <p:spPr>
          <a:xfrm>
            <a:off x="2485759" y="45058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535599" y="45058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1326944" y="45058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3228758" y="4878607"/>
                <a:ext cx="875560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𝟖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𝟖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758" y="4878607"/>
                <a:ext cx="875560" cy="460062"/>
              </a:xfrm>
              <a:prstGeom prst="rect">
                <a:avLst/>
              </a:prstGeom>
              <a:blipFill rotWithShape="1"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31"/>
          <p:cNvSpPr txBox="1"/>
          <p:nvPr/>
        </p:nvSpPr>
        <p:spPr>
          <a:xfrm>
            <a:off x="5375069" y="4908583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 &gt;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= 78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531800" y="490858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右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2483911" y="49085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533751" y="49085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25096" y="49085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3230606" y="5261038"/>
                <a:ext cx="875560" cy="460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𝟗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𝟗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𝟗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606" y="5261038"/>
                <a:ext cx="875560" cy="460062"/>
              </a:xfrm>
              <a:prstGeom prst="rect">
                <a:avLst/>
              </a:prstGeom>
              <a:blipFill rotWithShape="1"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/>
          <p:cNvSpPr txBox="1"/>
          <p:nvPr/>
        </p:nvSpPr>
        <p:spPr>
          <a:xfrm>
            <a:off x="5376917" y="5291014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= 81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412884" y="529101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成功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2485759" y="52910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535599" y="52910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1326944" y="52910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46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內插搜尋法 </a:t>
            </a:r>
            <a:r>
              <a:rPr lang="en-US" altLang="zh-TW" sz="3600" dirty="0"/>
              <a:t>interpolation search (2/7)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二分搜尋法的</a:t>
            </a:r>
            <a:r>
              <a:rPr lang="en-US" altLang="zh-TW" i="1" dirty="0"/>
              <a:t>m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27547" y="2191146"/>
            <a:ext cx="2584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482845" y="2191146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441023" y="2191146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362081" y="2985184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/>
          <p:cNvCxnSpPr>
            <a:stCxn id="11" idx="1"/>
          </p:cNvCxnSpPr>
          <p:nvPr/>
        </p:nvCxnSpPr>
        <p:spPr>
          <a:xfrm flipH="1">
            <a:off x="2639309" y="3185239"/>
            <a:ext cx="1722772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11" idx="3"/>
          </p:cNvCxnSpPr>
          <p:nvPr/>
        </p:nvCxnSpPr>
        <p:spPr>
          <a:xfrm>
            <a:off x="4973146" y="3185239"/>
            <a:ext cx="1640397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2656749" y="2703394"/>
            <a:ext cx="392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3147163" y="3344608"/>
                <a:ext cx="787588" cy="6749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altLang="zh-TW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𝒓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𝒍</m:t>
                              </m:r>
                            </m:num>
                            <m:den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163" y="3344608"/>
                <a:ext cx="787588" cy="67492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單箭頭接點 22"/>
          <p:cNvCxnSpPr>
            <a:stCxn id="22" idx="1"/>
          </p:cNvCxnSpPr>
          <p:nvPr/>
        </p:nvCxnSpPr>
        <p:spPr>
          <a:xfrm flipH="1">
            <a:off x="2645067" y="3682072"/>
            <a:ext cx="502096" cy="60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22" idx="3"/>
          </p:cNvCxnSpPr>
          <p:nvPr/>
        </p:nvCxnSpPr>
        <p:spPr>
          <a:xfrm>
            <a:off x="3934751" y="3682072"/>
            <a:ext cx="433088" cy="60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2656749" y="2556751"/>
            <a:ext cx="0" cy="144000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4664565" y="2545032"/>
            <a:ext cx="0" cy="144000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580749" y="2570910"/>
            <a:ext cx="0" cy="144000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3794259" y="4538579"/>
                <a:ext cx="1760610" cy="6749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altLang="zh-TW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oxPr>
                        <m:e>
                          <m:r>
                            <a:rPr lang="en-US" altLang="zh-TW" sz="2000" b="1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𝒎</m:t>
                          </m:r>
                          <m:r>
                            <a:rPr lang="en-US" altLang="zh-TW" sz="2000" b="1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sz="2000" b="1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𝒍</m:t>
                          </m:r>
                          <m:r>
                            <a:rPr lang="en-US" altLang="zh-TW" sz="2000" b="1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2000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𝒓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𝒍</m:t>
                              </m:r>
                            </m:num>
                            <m:den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259" y="4538579"/>
                <a:ext cx="1760610" cy="67492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5220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內插搜尋法 </a:t>
            </a:r>
            <a:r>
              <a:rPr lang="en-US" altLang="zh-TW" sz="3600" dirty="0"/>
              <a:t>interpolation search (3/7)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假設鍵值平均分佈</a:t>
            </a:r>
            <a:endParaRPr lang="en-US" altLang="zh-TW" dirty="0"/>
          </a:p>
          <a:p>
            <a:pPr lvl="1"/>
            <a:r>
              <a:rPr lang="zh-TW" altLang="en-US" dirty="0"/>
              <a:t>採用比例</a:t>
            </a:r>
            <a:r>
              <a:rPr lang="en-US" altLang="zh-TW" i="1" dirty="0"/>
              <a:t>x</a:t>
            </a:r>
            <a:r>
              <a:rPr lang="zh-TW" altLang="en-US" dirty="0"/>
              <a:t>來預測</a:t>
            </a:r>
            <a:r>
              <a:rPr lang="en-US" altLang="zh-TW" i="1" dirty="0"/>
              <a:t>key</a:t>
            </a:r>
            <a:r>
              <a:rPr lang="zh-TW" altLang="en-US" dirty="0"/>
              <a:t>的落點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i="1" dirty="0"/>
          </a:p>
          <a:p>
            <a:r>
              <a:rPr lang="en-US" altLang="zh-TW" i="1" dirty="0"/>
              <a:t>key</a:t>
            </a:r>
            <a:r>
              <a:rPr lang="en-US" altLang="zh-TW" dirty="0"/>
              <a:t> =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r</a:t>
            </a:r>
            <a:r>
              <a:rPr lang="en-US" altLang="zh-TW" dirty="0"/>
              <a:t>], </a:t>
            </a:r>
            <a:r>
              <a:rPr lang="en-US" altLang="zh-TW" i="1" dirty="0"/>
              <a:t>x</a:t>
            </a:r>
            <a:r>
              <a:rPr lang="en-US" altLang="zh-TW" dirty="0"/>
              <a:t> = 1</a:t>
            </a:r>
            <a:r>
              <a:rPr lang="zh-TW" altLang="en-US" dirty="0"/>
              <a:t>；</a:t>
            </a:r>
            <a:r>
              <a:rPr lang="en-US" altLang="zh-TW" i="1" dirty="0"/>
              <a:t>key</a:t>
            </a:r>
            <a:r>
              <a:rPr lang="en-US" altLang="zh-TW" dirty="0"/>
              <a:t> =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l</a:t>
            </a:r>
            <a:r>
              <a:rPr lang="en-US" altLang="zh-TW" dirty="0"/>
              <a:t>], </a:t>
            </a:r>
            <a:r>
              <a:rPr lang="en-US" altLang="zh-TW" i="1" dirty="0"/>
              <a:t>x</a:t>
            </a:r>
            <a:r>
              <a:rPr lang="en-US" altLang="zh-TW" dirty="0"/>
              <a:t> = 0</a:t>
            </a:r>
          </a:p>
          <a:p>
            <a:pPr lvl="1"/>
            <a:r>
              <a:rPr lang="en-US" altLang="zh-TW" i="1" dirty="0"/>
              <a:t>key</a:t>
            </a:r>
            <a:r>
              <a:rPr lang="zh-TW" altLang="en-US" dirty="0"/>
              <a:t> 靠近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r</a:t>
            </a:r>
            <a:r>
              <a:rPr lang="en-US" altLang="zh-TW" dirty="0"/>
              <a:t>]</a:t>
            </a:r>
            <a:r>
              <a:rPr lang="zh-TW" altLang="en-US" dirty="0"/>
              <a:t>，</a:t>
            </a:r>
            <a:r>
              <a:rPr lang="en-US" altLang="zh-TW" i="1" dirty="0"/>
              <a:t>x</a:t>
            </a:r>
            <a:r>
              <a:rPr lang="en-US" altLang="zh-TW" dirty="0"/>
              <a:t> </a:t>
            </a:r>
            <a:r>
              <a:rPr lang="zh-TW" altLang="en-US" dirty="0"/>
              <a:t>會較大而接近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r</a:t>
            </a:r>
            <a:r>
              <a:rPr lang="en-US" altLang="zh-TW" dirty="0"/>
              <a:t>]</a:t>
            </a:r>
          </a:p>
          <a:p>
            <a:pPr lvl="1"/>
            <a:r>
              <a:rPr lang="en-US" altLang="zh-TW" i="1" dirty="0"/>
              <a:t>key</a:t>
            </a:r>
            <a:r>
              <a:rPr lang="zh-TW" altLang="en-US" dirty="0"/>
              <a:t> 靠近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l</a:t>
            </a:r>
            <a:r>
              <a:rPr lang="en-US" altLang="zh-TW" dirty="0"/>
              <a:t>]</a:t>
            </a:r>
            <a:r>
              <a:rPr lang="zh-TW" altLang="en-US" dirty="0"/>
              <a:t>，</a:t>
            </a:r>
            <a:r>
              <a:rPr lang="en-US" altLang="zh-TW" i="1" dirty="0"/>
              <a:t>x</a:t>
            </a:r>
            <a:r>
              <a:rPr lang="zh-TW" altLang="en-US" dirty="0"/>
              <a:t> 會較小而接近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l</a:t>
            </a:r>
            <a:r>
              <a:rPr lang="en-US" altLang="zh-TW" dirty="0"/>
              <a:t>]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3484357" y="2211134"/>
                <a:ext cx="1946367" cy="7344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altLang="zh-TW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oxPr>
                        <m:e>
                          <m:r>
                            <a:rPr lang="en-US" altLang="zh-TW" sz="2000" b="1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𝒙</m:t>
                          </m:r>
                          <m:r>
                            <a:rPr lang="en-US" altLang="zh-TW" sz="2000" b="1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TW" sz="2000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𝒌𝒆𝒚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𝒍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num>
                            <m:den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dirty="0" smtClean="0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𝒓</m:t>
                                  </m:r>
                                </m:e>
                              </m:d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𝒍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357" y="2211134"/>
                <a:ext cx="1946367" cy="7344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2715428" y="5068717"/>
                <a:ext cx="3484224" cy="7344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altLang="zh-TW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oxPr>
                        <m:e>
                          <m:r>
                            <a:rPr lang="en-US" altLang="zh-TW" sz="2000" b="1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𝒎</m:t>
                          </m:r>
                          <m:r>
                            <a:rPr lang="en-US" altLang="zh-TW" sz="2000" b="1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sz="2000" b="1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𝒍</m:t>
                          </m:r>
                          <m:r>
                            <a:rPr lang="en-US" altLang="zh-TW" sz="2000" b="1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2000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𝒌𝒆𝒚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𝒍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num>
                            <m:den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dirty="0" smtClean="0"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𝒓</m:t>
                                  </m:r>
                                </m:e>
                              </m:d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𝒍</m:t>
                              </m:r>
                              <m:r>
                                <a:rPr lang="en-US" altLang="zh-TW" sz="2000" b="1" i="1" dirty="0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den>
                          </m:f>
                          <m:r>
                            <a:rPr lang="en-US" altLang="zh-TW" sz="2000" b="1" i="1" dirty="0" smtClean="0">
                              <a:latin typeface="Cambria Math"/>
                              <a:ea typeface="Cambria Math"/>
                              <a:cs typeface="Times New Roman" panose="02020603050405020304" pitchFamily="18" charset="0"/>
                            </a:rPr>
                            <m:t>×(</m:t>
                          </m:r>
                          <m:r>
                            <a:rPr lang="en-US" altLang="zh-TW" sz="2000" b="1" i="1" dirty="0" smtClean="0">
                              <a:latin typeface="Cambria Math"/>
                              <a:ea typeface="Cambria Math"/>
                              <a:cs typeface="Times New Roman" panose="02020603050405020304" pitchFamily="18" charset="0"/>
                            </a:rPr>
                            <m:t>𝒓</m:t>
                          </m:r>
                          <m:r>
                            <a:rPr lang="en-US" altLang="zh-TW" sz="2000" b="1" i="1" dirty="0" smtClean="0">
                              <a:latin typeface="Cambria Math"/>
                              <a:ea typeface="Cambria Math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TW" sz="2000" b="1" i="1" dirty="0" smtClean="0">
                              <a:latin typeface="Cambria Math"/>
                              <a:ea typeface="Cambria Math"/>
                              <a:cs typeface="Times New Roman" panose="02020603050405020304" pitchFamily="18" charset="0"/>
                            </a:rPr>
                            <m:t>𝒍</m:t>
                          </m:r>
                          <m:r>
                            <a:rPr lang="en-US" altLang="zh-TW" sz="2000" b="1" i="1" dirty="0" smtClean="0">
                              <a:latin typeface="Cambria Math"/>
                              <a:ea typeface="Cambria Math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box>
                    </m:oMath>
                  </m:oMathPara>
                </a14:m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428" y="5068717"/>
                <a:ext cx="3484224" cy="7344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759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內插搜尋法 </a:t>
            </a:r>
            <a:r>
              <a:rPr lang="en-US" altLang="zh-TW" sz="3600" dirty="0"/>
              <a:t>interpolation search (4/7)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i="1" dirty="0"/>
              <a:t>key</a:t>
            </a:r>
            <a:r>
              <a:rPr lang="en-US" altLang="zh-TW" dirty="0"/>
              <a:t> = </a:t>
            </a:r>
            <a:r>
              <a:rPr lang="en-US" altLang="zh-TW" dirty="0">
                <a:solidFill>
                  <a:srgbClr val="C00000"/>
                </a:solidFill>
              </a:rPr>
              <a:t>78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89498" y="240628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552756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161847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70939" y="200175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380030" y="200175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998002" y="200217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607093" y="200217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216185" y="200260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825276" y="200260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431569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40660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表格 17"/>
              <p:cNvGraphicFramePr>
                <a:graphicFrameLocks noGrp="1"/>
              </p:cNvGraphicFramePr>
              <p:nvPr/>
            </p:nvGraphicFramePr>
            <p:xfrm>
              <a:off x="362344" y="3389702"/>
              <a:ext cx="8466909" cy="10356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2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7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4373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53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00850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0838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第</a:t>
                          </a:r>
                          <a:r>
                            <a:rPr lang="en-US" altLang="zh-TW" sz="2000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次比較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 =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𝒍</m:t>
                              </m:r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𝒌𝒆𝒚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𝒍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num>
                                <m:den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𝒍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den>
                              </m:f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Times New Roman" panose="02020603050405020304" pitchFamily="18" charset="0"/>
                                </a:rPr>
                                <m:t>×(</m:t>
                              </m:r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Times New Roman" panose="02020603050405020304" pitchFamily="18" charset="0"/>
                                </a:rPr>
                                <m:t>𝒓</m:t>
                              </m:r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Times New Roman" panose="02020603050405020304" pitchFamily="18" charset="0"/>
                                </a:rPr>
                                <m:t>𝒍</m:t>
                              </m:r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 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比較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新範圍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73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表格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7354010"/>
                  </p:ext>
                </p:extLst>
              </p:nvPr>
            </p:nvGraphicFramePr>
            <p:xfrm>
              <a:off x="362344" y="3389702"/>
              <a:ext cx="8466909" cy="10356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230"/>
                    <a:gridCol w="608701"/>
                    <a:gridCol w="2943733"/>
                    <a:gridCol w="565360"/>
                    <a:gridCol w="2008505"/>
                    <a:gridCol w="1008380"/>
                  </a:tblGrid>
                  <a:tr h="5779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第</a:t>
                          </a:r>
                          <a:r>
                            <a:rPr lang="en-US" altLang="zh-TW" sz="2000" b="1" i="1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次比較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66253" t="-1053" r="-122567" b="-8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 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比較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新範圍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45773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2648515" y="3963064"/>
                <a:ext cx="2265448" cy="461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/>
                        </a:rPr>
                        <m:t>𝟎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+</m:t>
                      </m:r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𝟕𝟖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𝟔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𝟖𝟏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𝟔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×(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𝟗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)=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𝟖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515" y="3963064"/>
                <a:ext cx="2265448" cy="461601"/>
              </a:xfrm>
              <a:prstGeom prst="rect">
                <a:avLst/>
              </a:prstGeom>
              <a:blipFill rotWithShape="1"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/>
          <p:cNvSpPr txBox="1"/>
          <p:nvPr/>
        </p:nvSpPr>
        <p:spPr>
          <a:xfrm>
            <a:off x="5979676" y="4002436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= 78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983443" y="4002436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成功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1835417" y="40024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5386103" y="40024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869766" y="40024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46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內插搜尋法 </a:t>
            </a:r>
            <a:r>
              <a:rPr lang="en-US" altLang="zh-TW" sz="3600" dirty="0"/>
              <a:t>interpolation search (5/7)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i="1" dirty="0"/>
              <a:t>key</a:t>
            </a:r>
            <a:r>
              <a:rPr lang="en-US" altLang="zh-TW" dirty="0"/>
              <a:t> = </a:t>
            </a:r>
            <a:r>
              <a:rPr lang="en-US" altLang="zh-TW" dirty="0">
                <a:solidFill>
                  <a:srgbClr val="C00000"/>
                </a:solidFill>
              </a:rPr>
              <a:t>41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89498" y="240628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552756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161847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70939" y="200175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380030" y="200175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998002" y="200217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607093" y="200217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216185" y="200260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825276" y="200260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431569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40660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表格 42"/>
              <p:cNvGraphicFramePr>
                <a:graphicFrameLocks noGrp="1"/>
              </p:cNvGraphicFramePr>
              <p:nvPr/>
            </p:nvGraphicFramePr>
            <p:xfrm>
              <a:off x="362344" y="3389702"/>
              <a:ext cx="8466909" cy="14933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2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7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4373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53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00850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0838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第</a:t>
                          </a:r>
                          <a:r>
                            <a:rPr lang="en-US" altLang="zh-TW" sz="2000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次比較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 =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𝒍</m:t>
                              </m:r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𝒌𝒆𝒚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𝒍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num>
                                <m:den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𝒍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den>
                              </m:f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Times New Roman" panose="02020603050405020304" pitchFamily="18" charset="0"/>
                                </a:rPr>
                                <m:t>×(</m:t>
                              </m:r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Times New Roman" panose="02020603050405020304" pitchFamily="18" charset="0"/>
                                </a:rPr>
                                <m:t>𝒓</m:t>
                              </m:r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Times New Roman" panose="02020603050405020304" pitchFamily="18" charset="0"/>
                                </a:rPr>
                                <m:t>𝒍</m:t>
                              </m:r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 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比較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新範圍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73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73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表格 4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2342116"/>
                  </p:ext>
                </p:extLst>
              </p:nvPr>
            </p:nvGraphicFramePr>
            <p:xfrm>
              <a:off x="362344" y="3389702"/>
              <a:ext cx="8466909" cy="14933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23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608701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  <a:gridCol w="2943733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2"/>
                        </a:ext>
                      </a:extLst>
                    </a:gridCol>
                    <a:gridCol w="56536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3"/>
                        </a:ext>
                      </a:extLst>
                    </a:gridCol>
                    <a:gridCol w="200850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4"/>
                        </a:ext>
                      </a:extLst>
                    </a:gridCol>
                    <a:gridCol w="100838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5"/>
                        </a:ext>
                      </a:extLst>
                    </a:gridCol>
                  </a:tblGrid>
                  <a:tr h="5779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第</a:t>
                          </a:r>
                          <a:r>
                            <a:rPr lang="en-US" altLang="zh-TW" sz="2000" b="1" i="1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次比較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66253" t="-1053" r="-122567" b="-16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 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比較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新範圍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  <a:tr h="45773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1"/>
                      </a:ext>
                    </a:extLst>
                  </a:tr>
                  <a:tr h="45773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2648515" y="3963064"/>
                <a:ext cx="2265448" cy="461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/>
                        </a:rPr>
                        <m:t>𝟎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+</m:t>
                      </m:r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𝟒𝟏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𝟔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𝟖𝟏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𝟔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×(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𝟗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)=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𝟒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515" y="3963064"/>
                <a:ext cx="2265448" cy="461601"/>
              </a:xfrm>
              <a:prstGeom prst="rect">
                <a:avLst/>
              </a:prstGeom>
              <a:blipFill rotWithShape="1"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/>
          <p:cNvSpPr txBox="1"/>
          <p:nvPr/>
        </p:nvSpPr>
        <p:spPr>
          <a:xfrm>
            <a:off x="5979676" y="4002436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 &lt;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= 52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8121459" y="400243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左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1835417" y="40024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5386103" y="40024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869766" y="40024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2644462" y="4419797"/>
                <a:ext cx="2265448" cy="461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/>
                        </a:rPr>
                        <m:t>𝟎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+</m:t>
                      </m:r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𝟒𝟏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𝟔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𝟒𝟏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𝟔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×(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)=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462" y="4419797"/>
                <a:ext cx="2265448" cy="461601"/>
              </a:xfrm>
              <a:prstGeom prst="rect">
                <a:avLst/>
              </a:prstGeom>
              <a:blipFill rotWithShape="0"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字方塊 50"/>
          <p:cNvSpPr txBox="1"/>
          <p:nvPr/>
        </p:nvSpPr>
        <p:spPr>
          <a:xfrm>
            <a:off x="5975623" y="4459169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= 41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1831364" y="445916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5382050" y="445916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865713" y="445916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8009321" y="443711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成功</a:t>
            </a:r>
          </a:p>
        </p:txBody>
      </p:sp>
    </p:spTree>
    <p:extLst>
      <p:ext uri="{BB962C8B-B14F-4D97-AF65-F5344CB8AC3E}">
        <p14:creationId xmlns:p14="http://schemas.microsoft.com/office/powerpoint/2010/main" val="268452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3" grpId="0"/>
      <p:bldP spid="54" grpId="0"/>
      <p:bldP spid="55" grpId="0"/>
      <p:bldP spid="5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內插搜尋法 </a:t>
            </a:r>
            <a:r>
              <a:rPr lang="en-US" altLang="zh-TW" sz="3600" dirty="0"/>
              <a:t>interpolation search (6/7)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i="1" dirty="0"/>
              <a:t>key</a:t>
            </a:r>
            <a:r>
              <a:rPr lang="en-US" altLang="zh-TW" dirty="0"/>
              <a:t> = </a:t>
            </a:r>
            <a:r>
              <a:rPr lang="en-US" altLang="zh-TW" dirty="0">
                <a:solidFill>
                  <a:srgbClr val="C00000"/>
                </a:solidFill>
              </a:rPr>
              <a:t>35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89498" y="2406281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552756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161847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70939" y="200175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380030" y="2001758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998002" y="200217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607093" y="2002179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216185" y="200260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825276" y="2002600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431569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40660" y="2001337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表格 42"/>
              <p:cNvGraphicFramePr>
                <a:graphicFrameLocks noGrp="1"/>
              </p:cNvGraphicFramePr>
              <p:nvPr/>
            </p:nvGraphicFramePr>
            <p:xfrm>
              <a:off x="362344" y="3389702"/>
              <a:ext cx="8466909" cy="19511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2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7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4373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53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00850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0838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第</a:t>
                          </a:r>
                          <a:r>
                            <a:rPr lang="en-US" altLang="zh-TW" sz="2000" b="1" i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次比較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 =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𝒍</m:t>
                              </m:r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𝒌𝒆𝒚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𝒍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num>
                                <m:den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𝒍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den>
                              </m:f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Times New Roman" panose="02020603050405020304" pitchFamily="18" charset="0"/>
                                </a:rPr>
                                <m:t>×(</m:t>
                              </m:r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Times New Roman" panose="02020603050405020304" pitchFamily="18" charset="0"/>
                                </a:rPr>
                                <m:t>𝒓</m:t>
                              </m:r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Times New Roman" panose="02020603050405020304" pitchFamily="18" charset="0"/>
                                </a:rPr>
                                <m:t>𝒍</m:t>
                              </m:r>
                              <m:r>
                                <a:rPr lang="en-US" altLang="zh-TW" sz="20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 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比較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新範圍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73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73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73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表格 4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8869892"/>
                  </p:ext>
                </p:extLst>
              </p:nvPr>
            </p:nvGraphicFramePr>
            <p:xfrm>
              <a:off x="362344" y="3389702"/>
              <a:ext cx="8466909" cy="19511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2230"/>
                    <a:gridCol w="608701"/>
                    <a:gridCol w="2943733"/>
                    <a:gridCol w="565360"/>
                    <a:gridCol w="2008505"/>
                    <a:gridCol w="1008380"/>
                  </a:tblGrid>
                  <a:tr h="5779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第</a:t>
                          </a:r>
                          <a:r>
                            <a:rPr lang="en-US" altLang="zh-TW" sz="2000" b="1" i="1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次比較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66253" t="-1053" r="-122567" b="-2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zh-TW" altLang="en-US" sz="2000" b="1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 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與</a:t>
                          </a:r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[</a:t>
                          </a:r>
                          <a: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]</a:t>
                          </a:r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比較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0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新範圍</a:t>
                          </a:r>
                          <a:endParaRPr lang="zh-TW" altLang="en-US" sz="20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45773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5773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57735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000" b="1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2648515" y="3963064"/>
                <a:ext cx="2265448" cy="466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/>
                        </a:rPr>
                        <m:t>𝟎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+</m:t>
                      </m:r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𝟑𝟓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𝟔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𝟖𝟏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𝟔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×(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𝟗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)=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𝟑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515" y="3963064"/>
                <a:ext cx="2265448" cy="466153"/>
              </a:xfrm>
              <a:prstGeom prst="rect">
                <a:avLst/>
              </a:prstGeom>
              <a:blipFill rotWithShape="1">
                <a:blip r:embed="rId3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/>
          <p:cNvSpPr txBox="1"/>
          <p:nvPr/>
        </p:nvSpPr>
        <p:spPr>
          <a:xfrm>
            <a:off x="5979676" y="4002436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 &lt;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= 41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8121459" y="400243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左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1835417" y="40024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5386103" y="40024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869766" y="40024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2644462" y="4419797"/>
                <a:ext cx="2265448" cy="467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/>
                        </a:rPr>
                        <m:t>𝟎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+</m:t>
                      </m:r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𝟑𝟓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𝟔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𝟑𝟗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𝟔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×(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𝟎</m:t>
                          </m:r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)=</m:t>
                          </m:r>
                          <m:r>
                            <a:rPr lang="en-US" altLang="zh-TW" sz="2000" b="1" i="1" smtClean="0">
                              <a:latin typeface="Cambria Math"/>
                            </a:rPr>
                            <m:t>𝟏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462" y="4419797"/>
                <a:ext cx="2265448" cy="467500"/>
              </a:xfrm>
              <a:prstGeom prst="rect">
                <a:avLst/>
              </a:prstGeom>
              <a:blipFill rotWithShape="1">
                <a:blip r:embed="rId4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字方塊 50"/>
          <p:cNvSpPr txBox="1"/>
          <p:nvPr/>
        </p:nvSpPr>
        <p:spPr>
          <a:xfrm>
            <a:off x="5975623" y="4459169"/>
            <a:ext cx="1672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 &gt;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= 33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8117406" y="445916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右</a:t>
            </a:r>
          </a:p>
        </p:txBody>
      </p:sp>
      <p:sp>
        <p:nvSpPr>
          <p:cNvPr id="53" name="文字方塊 52"/>
          <p:cNvSpPr txBox="1"/>
          <p:nvPr/>
        </p:nvSpPr>
        <p:spPr>
          <a:xfrm>
            <a:off x="1831364" y="445916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5382050" y="445916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865713" y="445916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2648515" y="4885156"/>
                <a:ext cx="2265448" cy="467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1" i="1" smtClean="0">
                          <a:latin typeface="Cambria Math"/>
                        </a:rPr>
                        <m:t>𝟐</m:t>
                      </m:r>
                      <m:r>
                        <a:rPr lang="en-US" altLang="zh-TW" sz="2000" b="1" i="1" smtClean="0">
                          <a:latin typeface="Cambria Math"/>
                        </a:rPr>
                        <m:t>+</m:t>
                      </m:r>
                      <m:box>
                        <m:boxPr>
                          <m:ctrlPr>
                            <a:rPr lang="zh-TW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𝟑𝟓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</a:rPr>
                                <m:t>𝟑𝟗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𝟑𝟗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𝟑𝟗</m:t>
                              </m:r>
                            </m:den>
                          </m:f>
                          <m:r>
                            <a:rPr lang="en-US" altLang="zh-TW" sz="2000" b="1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latin typeface="Cambria Math"/>
                                  <a:ea typeface="Cambria Math"/>
                                </a:rPr>
                                <m:t>𝟐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latin typeface="Cambria Math"/>
                                  <a:ea typeface="Cambria Math"/>
                                </a:rPr>
                                <m:t>𝟐</m:t>
                              </m:r>
                            </m:e>
                          </m:d>
                          <m:r>
                            <a:rPr lang="en-US" altLang="zh-TW" sz="2000" b="1" i="1" smtClean="0">
                              <a:latin typeface="Cambria Math"/>
                            </a:rPr>
                            <m:t>=?</m:t>
                          </m:r>
                        </m:e>
                      </m:box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515" y="4885156"/>
                <a:ext cx="2265448" cy="467500"/>
              </a:xfrm>
              <a:prstGeom prst="rect">
                <a:avLst/>
              </a:prstGeom>
              <a:blipFill rotWithShape="1">
                <a:blip r:embed="rId5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字方塊 57"/>
          <p:cNvSpPr txBox="1"/>
          <p:nvPr/>
        </p:nvSpPr>
        <p:spPr>
          <a:xfrm>
            <a:off x="8009321" y="492452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失敗</a:t>
            </a:r>
          </a:p>
        </p:txBody>
      </p:sp>
      <p:sp>
        <p:nvSpPr>
          <p:cNvPr id="59" name="文字方塊 58"/>
          <p:cNvSpPr txBox="1"/>
          <p:nvPr/>
        </p:nvSpPr>
        <p:spPr>
          <a:xfrm>
            <a:off x="1835417" y="492452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386103" y="492452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869766" y="492452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52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8" grpId="0"/>
      <p:bldP spid="59" grpId="0"/>
      <p:bldP spid="60" grpId="0"/>
      <p:bldP spid="6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內插搜尋法 </a:t>
            </a:r>
            <a:r>
              <a:rPr lang="en-US" altLang="zh-TW" sz="3600" dirty="0"/>
              <a:t>interpolation search (7/7)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搜尋效率</a:t>
            </a:r>
            <a:endParaRPr lang="en-US" altLang="zh-TW" dirty="0"/>
          </a:p>
          <a:p>
            <a:pPr lvl="1"/>
            <a:r>
              <a:rPr lang="en-US" altLang="zh-TW" dirty="0"/>
              <a:t>O(</a:t>
            </a:r>
            <a:r>
              <a:rPr lang="en-US" altLang="zh-TW" dirty="0" err="1"/>
              <a:t>lg</a:t>
            </a:r>
            <a:r>
              <a:rPr lang="en-US" altLang="zh-TW" dirty="0"/>
              <a:t>(</a:t>
            </a:r>
            <a:r>
              <a:rPr lang="en-US" altLang="zh-TW" dirty="0" err="1"/>
              <a:t>lg</a:t>
            </a:r>
            <a:r>
              <a:rPr lang="en-US" altLang="zh-TW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))</a:t>
            </a:r>
          </a:p>
          <a:p>
            <a:endParaRPr lang="en-US" altLang="zh-TW" dirty="0"/>
          </a:p>
          <a:p>
            <a:r>
              <a:rPr lang="zh-TW" altLang="en-US" dirty="0"/>
              <a:t>整理效率</a:t>
            </a:r>
            <a:endParaRPr lang="en-US" altLang="zh-TW" dirty="0"/>
          </a:p>
          <a:p>
            <a:pPr lvl="1"/>
            <a:r>
              <a:rPr lang="zh-TW" altLang="en-US" dirty="0"/>
              <a:t>需要先經過</a:t>
            </a:r>
            <a:r>
              <a:rPr lang="zh-TW" altLang="en-US" dirty="0">
                <a:solidFill>
                  <a:srgbClr val="C00000"/>
                </a:solidFill>
              </a:rPr>
              <a:t>排序</a:t>
            </a:r>
            <a:endParaRPr lang="en-US" altLang="zh-TW" dirty="0">
              <a:solidFill>
                <a:srgbClr val="C00000"/>
              </a:solidFill>
            </a:endParaRPr>
          </a:p>
          <a:p>
            <a:endParaRPr lang="en-US" altLang="zh-TW" dirty="0"/>
          </a:p>
          <a:p>
            <a:r>
              <a:rPr lang="zh-TW" altLang="en-US" dirty="0"/>
              <a:t>應用場合</a:t>
            </a:r>
            <a:endParaRPr lang="en-US" altLang="zh-TW" dirty="0"/>
          </a:p>
          <a:p>
            <a:pPr lvl="1"/>
            <a:r>
              <a:rPr lang="zh-TW" altLang="en-US" dirty="0"/>
              <a:t>與二分搜尋法相同</a:t>
            </a:r>
            <a:endParaRPr lang="en-US" altLang="zh-TW" dirty="0"/>
          </a:p>
          <a:p>
            <a:pPr lvl="1"/>
            <a:r>
              <a:rPr lang="zh-TW" altLang="en-US" dirty="0"/>
              <a:t>鍵值分佈極端不平均，效率變差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3025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直接索引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在檔案或符號表之外，將各紀錄或符號的鍵值提出來另成一個結構。</a:t>
            </a:r>
            <a:endParaRPr lang="en-US" altLang="zh-TW" dirty="0"/>
          </a:p>
          <a:p>
            <a:pPr lvl="1"/>
            <a:r>
              <a:rPr lang="zh-TW" altLang="en-US" dirty="0"/>
              <a:t>根據章節來建立目錄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001418" y="2205075"/>
          <a:ext cx="4819333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0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Record #</a:t>
                      </a:r>
                      <a:endParaRPr lang="zh-TW" altLang="en-US" sz="20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Number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Name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Address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王五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張三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江水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新竹市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陳文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李四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趙大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新竹市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黃扁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李九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新竹市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陳七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張林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新竹市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60548" y="2204410"/>
          <a:ext cx="237712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Number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Record #</a:t>
                      </a:r>
                      <a:endParaRPr lang="zh-TW" altLang="en-US" sz="20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10" name="直線單箭頭接點 9"/>
          <p:cNvCxnSpPr>
            <a:stCxn id="8" idx="3"/>
            <a:endCxn id="7" idx="1"/>
          </p:cNvCxnSpPr>
          <p:nvPr/>
        </p:nvCxnSpPr>
        <p:spPr>
          <a:xfrm>
            <a:off x="3037670" y="4383730"/>
            <a:ext cx="963748" cy="6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3037670" y="4004503"/>
            <a:ext cx="963748" cy="6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3037670" y="3611097"/>
            <a:ext cx="963748" cy="6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3037670" y="3231870"/>
            <a:ext cx="963748" cy="6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3037670" y="5174083"/>
            <a:ext cx="963748" cy="6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3037670" y="4794856"/>
            <a:ext cx="963748" cy="6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3037670" y="5950260"/>
            <a:ext cx="963748" cy="6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>
            <a:off x="3037670" y="5571033"/>
            <a:ext cx="963748" cy="6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3037670" y="2842011"/>
            <a:ext cx="963748" cy="6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3037670" y="6350753"/>
            <a:ext cx="963748" cy="6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92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5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7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25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直接索引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針對索引排序</a:t>
            </a:r>
            <a:endParaRPr lang="en-US" altLang="zh-TW" dirty="0"/>
          </a:p>
          <a:p>
            <a:pPr lvl="1"/>
            <a:r>
              <a:rPr lang="zh-TW" altLang="en-US" dirty="0"/>
              <a:t>索引的資料量小，排序時需要搬移的資料量也較小，排序速度較快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001418" y="2205075"/>
          <a:ext cx="4819333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0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Record #</a:t>
                      </a:r>
                      <a:endParaRPr lang="zh-TW" altLang="en-US" sz="20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Number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Name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Address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王五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張三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江水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新竹市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陳文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李四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趙大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新竹市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黃扁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李九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新竹市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陳七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張林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新竹市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60548" y="2204410"/>
          <a:ext cx="237712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Number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Record #</a:t>
                      </a:r>
                      <a:endParaRPr lang="zh-TW" altLang="en-US" sz="20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10" name="直線單箭頭接點 9"/>
          <p:cNvCxnSpPr>
            <a:stCxn id="8" idx="3"/>
          </p:cNvCxnSpPr>
          <p:nvPr/>
        </p:nvCxnSpPr>
        <p:spPr>
          <a:xfrm>
            <a:off x="3037670" y="4383730"/>
            <a:ext cx="963748" cy="156719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3037670" y="4004503"/>
            <a:ext cx="963748" cy="79068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3037670" y="3611097"/>
            <a:ext cx="963748" cy="6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3037670" y="3231870"/>
            <a:ext cx="963748" cy="77329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7" idx="1"/>
          </p:cNvCxnSpPr>
          <p:nvPr/>
        </p:nvCxnSpPr>
        <p:spPr>
          <a:xfrm flipV="1">
            <a:off x="3037670" y="4384395"/>
            <a:ext cx="963748" cy="7896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V="1">
            <a:off x="3037670" y="2842011"/>
            <a:ext cx="963748" cy="195284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3037670" y="5174083"/>
            <a:ext cx="963748" cy="77617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3037670" y="3231870"/>
            <a:ext cx="963748" cy="233916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3037670" y="2842011"/>
            <a:ext cx="963748" cy="272968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3037670" y="6350753"/>
            <a:ext cx="963748" cy="6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53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直接索引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搜尋效率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索引排序過</a:t>
            </a:r>
            <a:r>
              <a:rPr lang="zh-TW" altLang="en-US" dirty="0"/>
              <a:t>：二分搜尋的效率是</a:t>
            </a:r>
            <a:r>
              <a:rPr lang="en-US" altLang="zh-TW" dirty="0"/>
              <a:t>O(</a:t>
            </a:r>
            <a:r>
              <a:rPr lang="en-US" altLang="zh-TW" dirty="0" err="1"/>
              <a:t>lg</a:t>
            </a:r>
            <a:r>
              <a:rPr lang="en-US" altLang="zh-TW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  <a:r>
              <a:rPr lang="zh-TW" altLang="en-US" dirty="0"/>
              <a:t>；內插搜尋的效率是</a:t>
            </a:r>
            <a:r>
              <a:rPr lang="en-US" altLang="zh-TW" dirty="0"/>
              <a:t>O(</a:t>
            </a:r>
            <a:r>
              <a:rPr lang="en-US" altLang="zh-TW" dirty="0" err="1"/>
              <a:t>lg</a:t>
            </a:r>
            <a:r>
              <a:rPr lang="en-US" altLang="zh-TW" dirty="0"/>
              <a:t>(</a:t>
            </a:r>
            <a:r>
              <a:rPr lang="en-US" altLang="zh-TW" dirty="0" err="1"/>
              <a:t>lg</a:t>
            </a:r>
            <a:r>
              <a:rPr lang="en-US" altLang="zh-TW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))</a:t>
            </a:r>
          </a:p>
          <a:p>
            <a:endParaRPr lang="en-US" altLang="zh-TW" dirty="0"/>
          </a:p>
          <a:p>
            <a:r>
              <a:rPr lang="zh-TW" altLang="en-US" dirty="0"/>
              <a:t>整理效率</a:t>
            </a:r>
            <a:endParaRPr lang="en-US" altLang="zh-TW" dirty="0"/>
          </a:p>
          <a:p>
            <a:pPr lvl="1"/>
            <a:r>
              <a:rPr lang="zh-TW" altLang="en-US" dirty="0"/>
              <a:t>建立索引並排序：</a:t>
            </a:r>
            <a:r>
              <a:rPr lang="en-US" altLang="zh-TW" dirty="0"/>
              <a:t>O(</a:t>
            </a:r>
            <a:r>
              <a:rPr lang="en-US" altLang="zh-TW" i="1" dirty="0" err="1"/>
              <a:t>n</a:t>
            </a:r>
            <a:r>
              <a:rPr lang="en-US" altLang="zh-TW" dirty="0" err="1"/>
              <a:t>lg</a:t>
            </a:r>
            <a:r>
              <a:rPr lang="en-US" altLang="zh-TW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執行完插入或刪除後都必須重新排序索引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應用場合</a:t>
            </a:r>
            <a:endParaRPr lang="en-US" altLang="zh-TW" dirty="0"/>
          </a:p>
          <a:p>
            <a:pPr lvl="1"/>
            <a:r>
              <a:rPr lang="zh-TW" altLang="en-US" dirty="0"/>
              <a:t>實際應用少</a:t>
            </a:r>
            <a:endParaRPr lang="en-US" altLang="zh-TW" dirty="0"/>
          </a:p>
          <a:p>
            <a:pPr lvl="1"/>
            <a:r>
              <a:rPr lang="zh-TW" altLang="en-US" dirty="0"/>
              <a:t>排序索引比排序檔案的代價小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以額外的索引空間來換取排序的時間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5294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二元搜尋樹索引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在檔案或符號表之外，根據各紀錄或符號的鍵值建立</a:t>
            </a:r>
            <a:r>
              <a:rPr lang="zh-TW" altLang="en-US" dirty="0">
                <a:solidFill>
                  <a:srgbClr val="C00000"/>
                </a:solidFill>
              </a:rPr>
              <a:t>二元搜尋樹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確保</a:t>
            </a:r>
            <a:r>
              <a:rPr lang="zh-TW" altLang="en-US" dirty="0">
                <a:solidFill>
                  <a:srgbClr val="C00000"/>
                </a:solidFill>
              </a:rPr>
              <a:t>高度平衡</a:t>
            </a:r>
            <a:r>
              <a:rPr lang="en-US" altLang="zh-TW" dirty="0">
                <a:solidFill>
                  <a:srgbClr val="C00000"/>
                </a:solidFill>
              </a:rPr>
              <a:t>(AVL</a:t>
            </a:r>
            <a:r>
              <a:rPr lang="zh-TW" altLang="en-US" dirty="0">
                <a:solidFill>
                  <a:srgbClr val="C00000"/>
                </a:solidFill>
              </a:rPr>
              <a:t>樹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en-US" dirty="0"/>
              <a:t>下，二元搜尋樹的插入、刪除、搜尋都是</a:t>
            </a:r>
            <a:r>
              <a:rPr lang="en-US" altLang="zh-TW" dirty="0"/>
              <a:t>O(</a:t>
            </a:r>
            <a:r>
              <a:rPr lang="en-US" altLang="zh-TW" dirty="0" err="1"/>
              <a:t>lg</a:t>
            </a:r>
            <a:r>
              <a:rPr lang="en-US" altLang="zh-TW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9896" y="2215707"/>
          <a:ext cx="4520883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Record #</a:t>
                      </a:r>
                      <a:endParaRPr lang="zh-TW" altLang="en-US" sz="20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Number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Name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Address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王五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張三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江水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新竹市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陳文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李四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趙大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新竹市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黃扁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李九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新竹市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陳七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台北市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98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張林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新竹市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4" name="群組 13"/>
          <p:cNvGrpSpPr/>
          <p:nvPr/>
        </p:nvGrpSpPr>
        <p:grpSpPr>
          <a:xfrm>
            <a:off x="6622282" y="2447909"/>
            <a:ext cx="648000" cy="735384"/>
            <a:chOff x="6666614" y="2447909"/>
            <a:chExt cx="648000" cy="735384"/>
          </a:xfrm>
        </p:grpSpPr>
        <p:sp>
          <p:nvSpPr>
            <p:cNvPr id="8" name="橢圓 7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" name="直線接點 10"/>
            <p:cNvCxnSpPr>
              <a:stCxn id="8" idx="2"/>
              <a:endCxn id="8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5298575" y="4344049"/>
            <a:ext cx="648000" cy="735384"/>
            <a:chOff x="6666614" y="2447909"/>
            <a:chExt cx="648000" cy="735384"/>
          </a:xfrm>
        </p:grpSpPr>
        <p:sp>
          <p:nvSpPr>
            <p:cNvPr id="16" name="橢圓 15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接點 16"/>
            <p:cNvCxnSpPr>
              <a:stCxn id="16" idx="2"/>
              <a:endCxn id="16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6098975" y="4341627"/>
            <a:ext cx="648000" cy="735384"/>
            <a:chOff x="6666614" y="2447909"/>
            <a:chExt cx="648000" cy="735384"/>
          </a:xfrm>
        </p:grpSpPr>
        <p:sp>
          <p:nvSpPr>
            <p:cNvPr id="21" name="橢圓 20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2" name="直線接點 21"/>
            <p:cNvCxnSpPr>
              <a:stCxn id="21" idx="2"/>
              <a:endCxn id="21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7116802" y="4344049"/>
            <a:ext cx="648000" cy="735384"/>
            <a:chOff x="6666614" y="2447909"/>
            <a:chExt cx="648000" cy="735384"/>
          </a:xfrm>
        </p:grpSpPr>
        <p:sp>
          <p:nvSpPr>
            <p:cNvPr id="26" name="橢圓 25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7" name="直線接點 26"/>
            <p:cNvCxnSpPr>
              <a:stCxn id="26" idx="2"/>
              <a:endCxn id="26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7917202" y="4341627"/>
            <a:ext cx="648000" cy="735384"/>
            <a:chOff x="6666614" y="2447909"/>
            <a:chExt cx="648000" cy="735384"/>
          </a:xfrm>
        </p:grpSpPr>
        <p:sp>
          <p:nvSpPr>
            <p:cNvPr id="31" name="橢圓 30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2" name="直線接點 31"/>
            <p:cNvCxnSpPr>
              <a:stCxn id="31" idx="2"/>
              <a:endCxn id="31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5715230" y="3397714"/>
            <a:ext cx="648000" cy="735384"/>
            <a:chOff x="6666614" y="2447909"/>
            <a:chExt cx="648000" cy="735384"/>
          </a:xfrm>
        </p:grpSpPr>
        <p:sp>
          <p:nvSpPr>
            <p:cNvPr id="36" name="橢圓 35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7" name="直線接點 36"/>
            <p:cNvCxnSpPr>
              <a:stCxn id="36" idx="2"/>
              <a:endCxn id="36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7508062" y="3401296"/>
            <a:ext cx="648000" cy="735384"/>
            <a:chOff x="6666614" y="2447909"/>
            <a:chExt cx="648000" cy="735384"/>
          </a:xfrm>
        </p:grpSpPr>
        <p:sp>
          <p:nvSpPr>
            <p:cNvPr id="41" name="橢圓 40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2" name="直線接點 41"/>
            <p:cNvCxnSpPr>
              <a:stCxn id="41" idx="2"/>
              <a:endCxn id="41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字方塊 42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4889511" y="5306878"/>
            <a:ext cx="648000" cy="735384"/>
            <a:chOff x="6666614" y="2447909"/>
            <a:chExt cx="648000" cy="735384"/>
          </a:xfrm>
        </p:grpSpPr>
        <p:sp>
          <p:nvSpPr>
            <p:cNvPr id="46" name="橢圓 45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7" name="直線接點 46"/>
            <p:cNvCxnSpPr>
              <a:stCxn id="46" idx="2"/>
              <a:endCxn id="46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字方塊 47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6516479" y="5303296"/>
            <a:ext cx="648000" cy="735384"/>
            <a:chOff x="6666614" y="2447909"/>
            <a:chExt cx="648000" cy="735384"/>
          </a:xfrm>
        </p:grpSpPr>
        <p:sp>
          <p:nvSpPr>
            <p:cNvPr id="51" name="橢圓 50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2" name="直線接點 51"/>
            <p:cNvCxnSpPr>
              <a:stCxn id="51" idx="2"/>
              <a:endCxn id="51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群組 54"/>
          <p:cNvGrpSpPr/>
          <p:nvPr/>
        </p:nvGrpSpPr>
        <p:grpSpPr>
          <a:xfrm>
            <a:off x="8334179" y="5306878"/>
            <a:ext cx="648000" cy="735384"/>
            <a:chOff x="6666614" y="2447909"/>
            <a:chExt cx="648000" cy="735384"/>
          </a:xfrm>
        </p:grpSpPr>
        <p:sp>
          <p:nvSpPr>
            <p:cNvPr id="56" name="橢圓 55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7" name="直線接點 56"/>
            <p:cNvCxnSpPr>
              <a:stCxn id="56" idx="2"/>
              <a:endCxn id="56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字方塊 57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98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6770363" y="2783183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1" name="直線單箭頭接點 60"/>
          <p:cNvCxnSpPr>
            <a:stCxn id="8" idx="3"/>
            <a:endCxn id="36" idx="7"/>
          </p:cNvCxnSpPr>
          <p:nvPr/>
        </p:nvCxnSpPr>
        <p:spPr>
          <a:xfrm flipH="1">
            <a:off x="6268333" y="3041122"/>
            <a:ext cx="448846" cy="49159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>
            <a:stCxn id="8" idx="5"/>
            <a:endCxn id="41" idx="1"/>
          </p:cNvCxnSpPr>
          <p:nvPr/>
        </p:nvCxnSpPr>
        <p:spPr>
          <a:xfrm>
            <a:off x="7175385" y="3041122"/>
            <a:ext cx="427574" cy="49518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stCxn id="36" idx="3"/>
            <a:endCxn id="18" idx="0"/>
          </p:cNvCxnSpPr>
          <p:nvPr/>
        </p:nvCxnSpPr>
        <p:spPr>
          <a:xfrm flipH="1">
            <a:off x="5622575" y="3990927"/>
            <a:ext cx="187552" cy="35312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stCxn id="36" idx="5"/>
            <a:endCxn id="23" idx="0"/>
          </p:cNvCxnSpPr>
          <p:nvPr/>
        </p:nvCxnSpPr>
        <p:spPr>
          <a:xfrm>
            <a:off x="6268333" y="3990927"/>
            <a:ext cx="154642" cy="3507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>
            <a:stCxn id="41" idx="3"/>
            <a:endCxn id="28" idx="0"/>
          </p:cNvCxnSpPr>
          <p:nvPr/>
        </p:nvCxnSpPr>
        <p:spPr>
          <a:xfrm flipH="1">
            <a:off x="7440802" y="3994509"/>
            <a:ext cx="162157" cy="34954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stCxn id="41" idx="5"/>
            <a:endCxn id="33" idx="0"/>
          </p:cNvCxnSpPr>
          <p:nvPr/>
        </p:nvCxnSpPr>
        <p:spPr>
          <a:xfrm>
            <a:off x="8061165" y="3994509"/>
            <a:ext cx="180037" cy="3471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stCxn id="16" idx="3"/>
            <a:endCxn id="48" idx="0"/>
          </p:cNvCxnSpPr>
          <p:nvPr/>
        </p:nvCxnSpPr>
        <p:spPr>
          <a:xfrm flipH="1">
            <a:off x="5213511" y="4937262"/>
            <a:ext cx="179961" cy="36961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stCxn id="21" idx="5"/>
            <a:endCxn id="53" idx="0"/>
          </p:cNvCxnSpPr>
          <p:nvPr/>
        </p:nvCxnSpPr>
        <p:spPr>
          <a:xfrm>
            <a:off x="6652078" y="4934840"/>
            <a:ext cx="188401" cy="36845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stCxn id="31" idx="5"/>
            <a:endCxn id="58" idx="0"/>
          </p:cNvCxnSpPr>
          <p:nvPr/>
        </p:nvCxnSpPr>
        <p:spPr>
          <a:xfrm>
            <a:off x="8470305" y="4934840"/>
            <a:ext cx="187874" cy="37203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34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二元搜尋樹索引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搜尋效率</a:t>
            </a:r>
            <a:endParaRPr lang="en-US" altLang="zh-TW" dirty="0"/>
          </a:p>
          <a:p>
            <a:pPr lvl="1"/>
            <a:r>
              <a:rPr lang="zh-TW" altLang="en-US" dirty="0"/>
              <a:t>確保高度平衡</a:t>
            </a:r>
            <a:r>
              <a:rPr lang="en-US" altLang="zh-TW" dirty="0"/>
              <a:t>(AVL</a:t>
            </a:r>
            <a:r>
              <a:rPr lang="zh-TW" altLang="en-US" dirty="0"/>
              <a:t>樹</a:t>
            </a:r>
            <a:r>
              <a:rPr lang="en-US" altLang="zh-TW" dirty="0"/>
              <a:t>)</a:t>
            </a:r>
            <a:r>
              <a:rPr lang="zh-TW" altLang="en-US" dirty="0"/>
              <a:t>下：</a:t>
            </a:r>
            <a:r>
              <a:rPr lang="en-US" altLang="zh-TW" dirty="0"/>
              <a:t>O(</a:t>
            </a:r>
            <a:r>
              <a:rPr lang="en-US" altLang="zh-TW" dirty="0" err="1"/>
              <a:t>lg</a:t>
            </a:r>
            <a:r>
              <a:rPr lang="en-US" altLang="zh-TW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整理效率</a:t>
            </a:r>
            <a:endParaRPr lang="en-US" altLang="zh-TW" dirty="0"/>
          </a:p>
          <a:p>
            <a:pPr lvl="1"/>
            <a:r>
              <a:rPr lang="zh-TW" altLang="en-US" dirty="0"/>
              <a:t>建立二元搜尋樹：</a:t>
            </a:r>
            <a:r>
              <a:rPr lang="en-US" altLang="zh-TW" dirty="0"/>
              <a:t>O(</a:t>
            </a:r>
            <a:r>
              <a:rPr lang="en-US" altLang="zh-TW" i="1" dirty="0" err="1"/>
              <a:t>n</a:t>
            </a:r>
            <a:r>
              <a:rPr lang="en-US" altLang="zh-TW" dirty="0" err="1"/>
              <a:t>lg</a:t>
            </a:r>
            <a:r>
              <a:rPr lang="en-US" altLang="zh-TW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) ~ O(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維持高度平衡下：</a:t>
            </a:r>
            <a:r>
              <a:rPr lang="en-US" altLang="zh-TW" dirty="0"/>
              <a:t>O(</a:t>
            </a:r>
            <a:r>
              <a:rPr lang="en-US" altLang="zh-TW" i="1" dirty="0" err="1"/>
              <a:t>n</a:t>
            </a:r>
            <a:r>
              <a:rPr lang="en-US" altLang="zh-TW" dirty="0" err="1"/>
              <a:t>lg</a:t>
            </a:r>
            <a:r>
              <a:rPr lang="en-US" altLang="zh-TW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動態插入和刪除：</a:t>
            </a:r>
            <a:r>
              <a:rPr lang="en-US" altLang="zh-TW" dirty="0"/>
              <a:t>O(</a:t>
            </a:r>
            <a:r>
              <a:rPr lang="en-US" altLang="zh-TW" dirty="0" err="1"/>
              <a:t>lg</a:t>
            </a:r>
            <a:r>
              <a:rPr lang="en-US" altLang="zh-TW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應用場合</a:t>
            </a:r>
            <a:endParaRPr lang="en-US" altLang="zh-TW" dirty="0"/>
          </a:p>
          <a:p>
            <a:pPr lvl="1"/>
            <a:r>
              <a:rPr lang="zh-TW" altLang="en-US" dirty="0"/>
              <a:t>資料較常動態維護的狀況</a:t>
            </a:r>
            <a:endParaRPr lang="en-US" altLang="zh-TW" dirty="0"/>
          </a:p>
          <a:p>
            <a:pPr lvl="1"/>
            <a:r>
              <a:rPr lang="zh-TW" altLang="en-US" dirty="0"/>
              <a:t>避免經常搬動大量的檔案資料，建立二元搜尋樹索引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34</a:t>
            </a:fld>
            <a:endParaRPr lang="en-US" dirty="0"/>
          </a:p>
        </p:txBody>
      </p:sp>
      <p:grpSp>
        <p:nvGrpSpPr>
          <p:cNvPr id="14" name="群組 13"/>
          <p:cNvGrpSpPr/>
          <p:nvPr/>
        </p:nvGrpSpPr>
        <p:grpSpPr>
          <a:xfrm>
            <a:off x="6622282" y="1268760"/>
            <a:ext cx="648000" cy="735384"/>
            <a:chOff x="6666614" y="2447909"/>
            <a:chExt cx="648000" cy="735384"/>
          </a:xfrm>
        </p:grpSpPr>
        <p:sp>
          <p:nvSpPr>
            <p:cNvPr id="8" name="橢圓 7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" name="直線接點 10"/>
            <p:cNvCxnSpPr>
              <a:stCxn id="8" idx="2"/>
              <a:endCxn id="8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5298575" y="3164900"/>
            <a:ext cx="648000" cy="735384"/>
            <a:chOff x="6666614" y="2447909"/>
            <a:chExt cx="648000" cy="735384"/>
          </a:xfrm>
        </p:grpSpPr>
        <p:sp>
          <p:nvSpPr>
            <p:cNvPr id="16" name="橢圓 15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接點 16"/>
            <p:cNvCxnSpPr>
              <a:stCxn id="16" idx="2"/>
              <a:endCxn id="16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6098975" y="3162478"/>
            <a:ext cx="648000" cy="735384"/>
            <a:chOff x="6666614" y="2447909"/>
            <a:chExt cx="648000" cy="735384"/>
          </a:xfrm>
        </p:grpSpPr>
        <p:sp>
          <p:nvSpPr>
            <p:cNvPr id="21" name="橢圓 20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2" name="直線接點 21"/>
            <p:cNvCxnSpPr>
              <a:stCxn id="21" idx="2"/>
              <a:endCxn id="21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7116802" y="3164900"/>
            <a:ext cx="648000" cy="735384"/>
            <a:chOff x="6666614" y="2447909"/>
            <a:chExt cx="648000" cy="735384"/>
          </a:xfrm>
        </p:grpSpPr>
        <p:sp>
          <p:nvSpPr>
            <p:cNvPr id="26" name="橢圓 25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7" name="直線接點 26"/>
            <p:cNvCxnSpPr>
              <a:stCxn id="26" idx="2"/>
              <a:endCxn id="26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7917202" y="3162478"/>
            <a:ext cx="648000" cy="735384"/>
            <a:chOff x="6666614" y="2447909"/>
            <a:chExt cx="648000" cy="735384"/>
          </a:xfrm>
        </p:grpSpPr>
        <p:sp>
          <p:nvSpPr>
            <p:cNvPr id="31" name="橢圓 30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2" name="直線接點 31"/>
            <p:cNvCxnSpPr>
              <a:stCxn id="31" idx="2"/>
              <a:endCxn id="31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5715230" y="2218565"/>
            <a:ext cx="648000" cy="735384"/>
            <a:chOff x="6666614" y="2447909"/>
            <a:chExt cx="648000" cy="735384"/>
          </a:xfrm>
        </p:grpSpPr>
        <p:sp>
          <p:nvSpPr>
            <p:cNvPr id="36" name="橢圓 35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7" name="直線接點 36"/>
            <p:cNvCxnSpPr>
              <a:stCxn id="36" idx="2"/>
              <a:endCxn id="36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7508062" y="2222147"/>
            <a:ext cx="648000" cy="735384"/>
            <a:chOff x="6666614" y="2447909"/>
            <a:chExt cx="648000" cy="735384"/>
          </a:xfrm>
        </p:grpSpPr>
        <p:sp>
          <p:nvSpPr>
            <p:cNvPr id="41" name="橢圓 40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2" name="直線接點 41"/>
            <p:cNvCxnSpPr>
              <a:stCxn id="41" idx="2"/>
              <a:endCxn id="41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字方塊 42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4889511" y="4127729"/>
            <a:ext cx="648000" cy="735384"/>
            <a:chOff x="6666614" y="2447909"/>
            <a:chExt cx="648000" cy="735384"/>
          </a:xfrm>
        </p:grpSpPr>
        <p:sp>
          <p:nvSpPr>
            <p:cNvPr id="46" name="橢圓 45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7" name="直線接點 46"/>
            <p:cNvCxnSpPr>
              <a:stCxn id="46" idx="2"/>
              <a:endCxn id="46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字方塊 47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6516479" y="4124147"/>
            <a:ext cx="648000" cy="735384"/>
            <a:chOff x="6666614" y="2447909"/>
            <a:chExt cx="648000" cy="735384"/>
          </a:xfrm>
        </p:grpSpPr>
        <p:sp>
          <p:nvSpPr>
            <p:cNvPr id="51" name="橢圓 50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2" name="直線接點 51"/>
            <p:cNvCxnSpPr>
              <a:stCxn id="51" idx="2"/>
              <a:endCxn id="51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6834161" y="27831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群組 54"/>
          <p:cNvGrpSpPr/>
          <p:nvPr/>
        </p:nvGrpSpPr>
        <p:grpSpPr>
          <a:xfrm>
            <a:off x="8334179" y="4127729"/>
            <a:ext cx="648000" cy="735384"/>
            <a:chOff x="6666614" y="2447909"/>
            <a:chExt cx="648000" cy="735384"/>
          </a:xfrm>
        </p:grpSpPr>
        <p:sp>
          <p:nvSpPr>
            <p:cNvPr id="56" name="橢圓 55"/>
            <p:cNvSpPr/>
            <p:nvPr/>
          </p:nvSpPr>
          <p:spPr>
            <a:xfrm>
              <a:off x="6666614" y="2488019"/>
              <a:ext cx="648000" cy="648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7" name="直線接點 56"/>
            <p:cNvCxnSpPr>
              <a:stCxn id="56" idx="2"/>
              <a:endCxn id="56" idx="6"/>
            </p:cNvCxnSpPr>
            <p:nvPr/>
          </p:nvCxnSpPr>
          <p:spPr>
            <a:xfrm>
              <a:off x="6666614" y="2812019"/>
              <a:ext cx="6480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字方塊 57"/>
            <p:cNvSpPr txBox="1"/>
            <p:nvPr/>
          </p:nvSpPr>
          <p:spPr>
            <a:xfrm>
              <a:off x="6770041" y="244790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98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6770363" y="2783183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1" name="直線單箭頭接點 60"/>
          <p:cNvCxnSpPr>
            <a:stCxn id="8" idx="3"/>
            <a:endCxn id="36" idx="7"/>
          </p:cNvCxnSpPr>
          <p:nvPr/>
        </p:nvCxnSpPr>
        <p:spPr>
          <a:xfrm flipH="1">
            <a:off x="6268333" y="1861973"/>
            <a:ext cx="448846" cy="49159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>
            <a:stCxn id="8" idx="5"/>
            <a:endCxn id="41" idx="1"/>
          </p:cNvCxnSpPr>
          <p:nvPr/>
        </p:nvCxnSpPr>
        <p:spPr>
          <a:xfrm>
            <a:off x="7175385" y="1861973"/>
            <a:ext cx="427574" cy="49518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stCxn id="36" idx="3"/>
            <a:endCxn id="18" idx="0"/>
          </p:cNvCxnSpPr>
          <p:nvPr/>
        </p:nvCxnSpPr>
        <p:spPr>
          <a:xfrm flipH="1">
            <a:off x="5622575" y="2811778"/>
            <a:ext cx="187552" cy="35312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stCxn id="36" idx="5"/>
            <a:endCxn id="23" idx="0"/>
          </p:cNvCxnSpPr>
          <p:nvPr/>
        </p:nvCxnSpPr>
        <p:spPr>
          <a:xfrm>
            <a:off x="6268333" y="2811778"/>
            <a:ext cx="154642" cy="3507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>
            <a:stCxn id="41" idx="3"/>
            <a:endCxn id="28" idx="0"/>
          </p:cNvCxnSpPr>
          <p:nvPr/>
        </p:nvCxnSpPr>
        <p:spPr>
          <a:xfrm flipH="1">
            <a:off x="7440802" y="2815360"/>
            <a:ext cx="162157" cy="34954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stCxn id="41" idx="5"/>
            <a:endCxn id="33" idx="0"/>
          </p:cNvCxnSpPr>
          <p:nvPr/>
        </p:nvCxnSpPr>
        <p:spPr>
          <a:xfrm>
            <a:off x="8061165" y="2815360"/>
            <a:ext cx="180037" cy="3471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stCxn id="16" idx="3"/>
            <a:endCxn id="48" idx="0"/>
          </p:cNvCxnSpPr>
          <p:nvPr/>
        </p:nvCxnSpPr>
        <p:spPr>
          <a:xfrm flipH="1">
            <a:off x="5213511" y="3758113"/>
            <a:ext cx="179961" cy="36961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stCxn id="21" idx="5"/>
            <a:endCxn id="53" idx="0"/>
          </p:cNvCxnSpPr>
          <p:nvPr/>
        </p:nvCxnSpPr>
        <p:spPr>
          <a:xfrm>
            <a:off x="6652078" y="3755691"/>
            <a:ext cx="188401" cy="36845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stCxn id="31" idx="5"/>
            <a:endCxn id="58" idx="0"/>
          </p:cNvCxnSpPr>
          <p:nvPr/>
        </p:nvCxnSpPr>
        <p:spPr>
          <a:xfrm>
            <a:off x="8470305" y="3755691"/>
            <a:ext cx="187874" cy="37203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6407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</a:t>
            </a:r>
            <a:r>
              <a:rPr lang="zh-TW" altLang="en-US" dirty="0"/>
              <a:t>樹索引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3061" y="1758488"/>
          <a:ext cx="3089593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Rec.</a:t>
                      </a:r>
                      <a:endParaRPr lang="zh-TW" altLang="en-US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No.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Name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Address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王五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71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張三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69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江水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陳文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30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李四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60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趙大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47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黃扁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77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李九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陳七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63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張林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湯姆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內容版面配置區 8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利用</a:t>
            </a:r>
            <a:r>
              <a:rPr lang="en-US" altLang="zh-TW" dirty="0"/>
              <a:t>B</a:t>
            </a:r>
            <a:r>
              <a:rPr lang="zh-TW" altLang="en-US" dirty="0"/>
              <a:t>樹建立索引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3544177" y="2043867"/>
            <a:ext cx="5482055" cy="4119962"/>
            <a:chOff x="3544177" y="2043867"/>
            <a:chExt cx="5482055" cy="4119962"/>
          </a:xfrm>
        </p:grpSpPr>
        <p:grpSp>
          <p:nvGrpSpPr>
            <p:cNvPr id="53" name="群組 52"/>
            <p:cNvGrpSpPr/>
            <p:nvPr/>
          </p:nvGrpSpPr>
          <p:grpSpPr>
            <a:xfrm>
              <a:off x="6289620" y="2043867"/>
              <a:ext cx="818494" cy="799829"/>
              <a:chOff x="5904950" y="2160830"/>
              <a:chExt cx="818494" cy="799829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5943600" y="2200940"/>
                <a:ext cx="720000" cy="72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2" name="直線接點 11"/>
              <p:cNvCxnSpPr>
                <a:stCxn id="10" idx="1"/>
                <a:endCxn id="10" idx="3"/>
              </p:cNvCxnSpPr>
              <p:nvPr/>
            </p:nvCxnSpPr>
            <p:spPr>
              <a:xfrm>
                <a:off x="5943600" y="2560940"/>
                <a:ext cx="720000" cy="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線接點 12"/>
              <p:cNvCxnSpPr>
                <a:stCxn id="10" idx="0"/>
                <a:endCxn id="10" idx="2"/>
              </p:cNvCxnSpPr>
              <p:nvPr/>
            </p:nvCxnSpPr>
            <p:spPr>
              <a:xfrm>
                <a:off x="6303600" y="2200940"/>
                <a:ext cx="0" cy="72000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字方塊 15"/>
              <p:cNvSpPr txBox="1"/>
              <p:nvPr/>
            </p:nvSpPr>
            <p:spPr>
              <a:xfrm>
                <a:off x="5904950" y="216083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文字方塊 16"/>
              <p:cNvSpPr txBox="1"/>
              <p:nvPr/>
            </p:nvSpPr>
            <p:spPr>
              <a:xfrm>
                <a:off x="6282298" y="216083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文字方塊 17"/>
              <p:cNvSpPr txBox="1"/>
              <p:nvPr/>
            </p:nvSpPr>
            <p:spPr>
              <a:xfrm>
                <a:off x="5967261" y="2560549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文字方塊 18"/>
              <p:cNvSpPr txBox="1"/>
              <p:nvPr/>
            </p:nvSpPr>
            <p:spPr>
              <a:xfrm>
                <a:off x="6333976" y="2560549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4" name="群組 53"/>
            <p:cNvGrpSpPr/>
            <p:nvPr/>
          </p:nvGrpSpPr>
          <p:grpSpPr>
            <a:xfrm>
              <a:off x="3544177" y="5364000"/>
              <a:ext cx="779844" cy="799829"/>
              <a:chOff x="5943600" y="2160830"/>
              <a:chExt cx="779844" cy="799829"/>
            </a:xfrm>
          </p:grpSpPr>
          <p:sp>
            <p:nvSpPr>
              <p:cNvPr id="55" name="矩形 54"/>
              <p:cNvSpPr/>
              <p:nvPr/>
            </p:nvSpPr>
            <p:spPr>
              <a:xfrm>
                <a:off x="5943600" y="2200940"/>
                <a:ext cx="720000" cy="72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6" name="直線接點 55"/>
              <p:cNvCxnSpPr>
                <a:stCxn id="55" idx="1"/>
                <a:endCxn id="55" idx="3"/>
              </p:cNvCxnSpPr>
              <p:nvPr/>
            </p:nvCxnSpPr>
            <p:spPr>
              <a:xfrm>
                <a:off x="5943600" y="2560940"/>
                <a:ext cx="720000" cy="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線接點 56"/>
              <p:cNvCxnSpPr>
                <a:stCxn id="55" idx="0"/>
                <a:endCxn id="55" idx="2"/>
              </p:cNvCxnSpPr>
              <p:nvPr/>
            </p:nvCxnSpPr>
            <p:spPr>
              <a:xfrm>
                <a:off x="6303600" y="2200940"/>
                <a:ext cx="0" cy="72000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文字方塊 57"/>
              <p:cNvSpPr txBox="1"/>
              <p:nvPr/>
            </p:nvSpPr>
            <p:spPr>
              <a:xfrm>
                <a:off x="5968748" y="2160830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文字方塊 58"/>
              <p:cNvSpPr txBox="1"/>
              <p:nvPr/>
            </p:nvSpPr>
            <p:spPr>
              <a:xfrm>
                <a:off x="6282298" y="216083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文字方塊 59"/>
              <p:cNvSpPr txBox="1"/>
              <p:nvPr/>
            </p:nvSpPr>
            <p:spPr>
              <a:xfrm>
                <a:off x="5967261" y="2560549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文字方塊 60"/>
              <p:cNvSpPr txBox="1"/>
              <p:nvPr/>
            </p:nvSpPr>
            <p:spPr>
              <a:xfrm>
                <a:off x="6280811" y="2560549"/>
                <a:ext cx="4269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2" name="群組 61"/>
            <p:cNvGrpSpPr/>
            <p:nvPr/>
          </p:nvGrpSpPr>
          <p:grpSpPr>
            <a:xfrm>
              <a:off x="4290635" y="5364000"/>
              <a:ext cx="770770" cy="799829"/>
              <a:chOff x="5892830" y="2160830"/>
              <a:chExt cx="770770" cy="799829"/>
            </a:xfrm>
          </p:grpSpPr>
          <p:sp>
            <p:nvSpPr>
              <p:cNvPr id="63" name="矩形 62"/>
              <p:cNvSpPr/>
              <p:nvPr/>
            </p:nvSpPr>
            <p:spPr>
              <a:xfrm>
                <a:off x="5943600" y="2200940"/>
                <a:ext cx="720000" cy="72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64" name="直線接點 63"/>
              <p:cNvCxnSpPr>
                <a:stCxn id="63" idx="1"/>
                <a:endCxn id="63" idx="3"/>
              </p:cNvCxnSpPr>
              <p:nvPr/>
            </p:nvCxnSpPr>
            <p:spPr>
              <a:xfrm>
                <a:off x="5943600" y="2560940"/>
                <a:ext cx="720000" cy="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線接點 64"/>
              <p:cNvCxnSpPr>
                <a:stCxn id="63" idx="0"/>
                <a:endCxn id="63" idx="2"/>
              </p:cNvCxnSpPr>
              <p:nvPr/>
            </p:nvCxnSpPr>
            <p:spPr>
              <a:xfrm>
                <a:off x="6303600" y="2200940"/>
                <a:ext cx="0" cy="72000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文字方塊 65"/>
              <p:cNvSpPr txBox="1"/>
              <p:nvPr/>
            </p:nvSpPr>
            <p:spPr>
              <a:xfrm>
                <a:off x="5904950" y="216083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文字方塊 67"/>
              <p:cNvSpPr txBox="1"/>
              <p:nvPr/>
            </p:nvSpPr>
            <p:spPr>
              <a:xfrm>
                <a:off x="5892830" y="2560549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0" name="群組 69"/>
            <p:cNvGrpSpPr/>
            <p:nvPr/>
          </p:nvGrpSpPr>
          <p:grpSpPr>
            <a:xfrm>
              <a:off x="5087863" y="5364000"/>
              <a:ext cx="830614" cy="799829"/>
              <a:chOff x="5892830" y="2160830"/>
              <a:chExt cx="830614" cy="799829"/>
            </a:xfrm>
          </p:grpSpPr>
          <p:sp>
            <p:nvSpPr>
              <p:cNvPr id="71" name="矩形 70"/>
              <p:cNvSpPr/>
              <p:nvPr/>
            </p:nvSpPr>
            <p:spPr>
              <a:xfrm>
                <a:off x="5943600" y="2200940"/>
                <a:ext cx="720000" cy="72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2" name="直線接點 71"/>
              <p:cNvCxnSpPr>
                <a:stCxn id="71" idx="1"/>
                <a:endCxn id="71" idx="3"/>
              </p:cNvCxnSpPr>
              <p:nvPr/>
            </p:nvCxnSpPr>
            <p:spPr>
              <a:xfrm>
                <a:off x="5943600" y="2560940"/>
                <a:ext cx="720000" cy="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接點 72"/>
              <p:cNvCxnSpPr>
                <a:stCxn id="71" idx="0"/>
                <a:endCxn id="71" idx="2"/>
              </p:cNvCxnSpPr>
              <p:nvPr/>
            </p:nvCxnSpPr>
            <p:spPr>
              <a:xfrm>
                <a:off x="6303600" y="2200940"/>
                <a:ext cx="0" cy="72000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文字方塊 73"/>
              <p:cNvSpPr txBox="1"/>
              <p:nvPr/>
            </p:nvSpPr>
            <p:spPr>
              <a:xfrm>
                <a:off x="5904950" y="216083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文字方塊 74"/>
              <p:cNvSpPr txBox="1"/>
              <p:nvPr/>
            </p:nvSpPr>
            <p:spPr>
              <a:xfrm>
                <a:off x="6282298" y="216083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27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文字方塊 75"/>
              <p:cNvSpPr txBox="1"/>
              <p:nvPr/>
            </p:nvSpPr>
            <p:spPr>
              <a:xfrm>
                <a:off x="5892830" y="2560549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文字方塊 76"/>
              <p:cNvSpPr txBox="1"/>
              <p:nvPr/>
            </p:nvSpPr>
            <p:spPr>
              <a:xfrm>
                <a:off x="6270178" y="2560549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8" name="群組 77"/>
            <p:cNvGrpSpPr/>
            <p:nvPr/>
          </p:nvGrpSpPr>
          <p:grpSpPr>
            <a:xfrm>
              <a:off x="5874458" y="5364000"/>
              <a:ext cx="841247" cy="799829"/>
              <a:chOff x="5882197" y="2160830"/>
              <a:chExt cx="841247" cy="799829"/>
            </a:xfrm>
          </p:grpSpPr>
          <p:sp>
            <p:nvSpPr>
              <p:cNvPr id="79" name="矩形 78"/>
              <p:cNvSpPr/>
              <p:nvPr/>
            </p:nvSpPr>
            <p:spPr>
              <a:xfrm>
                <a:off x="5943600" y="2200940"/>
                <a:ext cx="720000" cy="72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0" name="直線接點 79"/>
              <p:cNvCxnSpPr>
                <a:stCxn id="79" idx="1"/>
                <a:endCxn id="79" idx="3"/>
              </p:cNvCxnSpPr>
              <p:nvPr/>
            </p:nvCxnSpPr>
            <p:spPr>
              <a:xfrm>
                <a:off x="5943600" y="2560940"/>
                <a:ext cx="720000" cy="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接點 80"/>
              <p:cNvCxnSpPr>
                <a:stCxn id="79" idx="0"/>
                <a:endCxn id="79" idx="2"/>
              </p:cNvCxnSpPr>
              <p:nvPr/>
            </p:nvCxnSpPr>
            <p:spPr>
              <a:xfrm>
                <a:off x="6303600" y="2200940"/>
                <a:ext cx="0" cy="72000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文字方塊 81"/>
              <p:cNvSpPr txBox="1"/>
              <p:nvPr/>
            </p:nvSpPr>
            <p:spPr>
              <a:xfrm>
                <a:off x="5904950" y="216083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33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文字方塊 82"/>
              <p:cNvSpPr txBox="1"/>
              <p:nvPr/>
            </p:nvSpPr>
            <p:spPr>
              <a:xfrm>
                <a:off x="6282298" y="216083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文字方塊 83"/>
              <p:cNvSpPr txBox="1"/>
              <p:nvPr/>
            </p:nvSpPr>
            <p:spPr>
              <a:xfrm>
                <a:off x="5882197" y="2560549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文字方塊 84"/>
              <p:cNvSpPr txBox="1"/>
              <p:nvPr/>
            </p:nvSpPr>
            <p:spPr>
              <a:xfrm>
                <a:off x="6270178" y="2560549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6" name="群組 85"/>
            <p:cNvGrpSpPr/>
            <p:nvPr/>
          </p:nvGrpSpPr>
          <p:grpSpPr>
            <a:xfrm>
              <a:off x="6683806" y="5364000"/>
              <a:ext cx="758650" cy="799829"/>
              <a:chOff x="5904950" y="2160830"/>
              <a:chExt cx="758650" cy="799829"/>
            </a:xfrm>
          </p:grpSpPr>
          <p:sp>
            <p:nvSpPr>
              <p:cNvPr id="87" name="矩形 86"/>
              <p:cNvSpPr/>
              <p:nvPr/>
            </p:nvSpPr>
            <p:spPr>
              <a:xfrm>
                <a:off x="5943600" y="2200940"/>
                <a:ext cx="720000" cy="72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8" name="直線接點 87"/>
              <p:cNvCxnSpPr>
                <a:stCxn id="87" idx="1"/>
                <a:endCxn id="87" idx="3"/>
              </p:cNvCxnSpPr>
              <p:nvPr/>
            </p:nvCxnSpPr>
            <p:spPr>
              <a:xfrm>
                <a:off x="5943600" y="2560940"/>
                <a:ext cx="720000" cy="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接點 88"/>
              <p:cNvCxnSpPr>
                <a:stCxn id="87" idx="0"/>
                <a:endCxn id="87" idx="2"/>
              </p:cNvCxnSpPr>
              <p:nvPr/>
            </p:nvCxnSpPr>
            <p:spPr>
              <a:xfrm>
                <a:off x="6303600" y="2200940"/>
                <a:ext cx="0" cy="72000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文字方塊 89"/>
              <p:cNvSpPr txBox="1"/>
              <p:nvPr/>
            </p:nvSpPr>
            <p:spPr>
              <a:xfrm>
                <a:off x="5904950" y="216083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49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" name="文字方塊 91"/>
              <p:cNvSpPr txBox="1"/>
              <p:nvPr/>
            </p:nvSpPr>
            <p:spPr>
              <a:xfrm>
                <a:off x="5967261" y="2560549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4" name="群組 93"/>
            <p:cNvGrpSpPr/>
            <p:nvPr/>
          </p:nvGrpSpPr>
          <p:grpSpPr>
            <a:xfrm>
              <a:off x="7468914" y="5364000"/>
              <a:ext cx="830614" cy="799829"/>
              <a:chOff x="5892830" y="2160830"/>
              <a:chExt cx="830614" cy="799829"/>
            </a:xfrm>
          </p:grpSpPr>
          <p:sp>
            <p:nvSpPr>
              <p:cNvPr id="95" name="矩形 94"/>
              <p:cNvSpPr/>
              <p:nvPr/>
            </p:nvSpPr>
            <p:spPr>
              <a:xfrm>
                <a:off x="5943600" y="2200940"/>
                <a:ext cx="720000" cy="72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96" name="直線接點 95"/>
              <p:cNvCxnSpPr>
                <a:stCxn id="95" idx="1"/>
                <a:endCxn id="95" idx="3"/>
              </p:cNvCxnSpPr>
              <p:nvPr/>
            </p:nvCxnSpPr>
            <p:spPr>
              <a:xfrm>
                <a:off x="5943600" y="2560940"/>
                <a:ext cx="720000" cy="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線接點 96"/>
              <p:cNvCxnSpPr>
                <a:stCxn id="95" idx="0"/>
                <a:endCxn id="95" idx="2"/>
              </p:cNvCxnSpPr>
              <p:nvPr/>
            </p:nvCxnSpPr>
            <p:spPr>
              <a:xfrm>
                <a:off x="6303600" y="2200940"/>
                <a:ext cx="0" cy="72000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文字方塊 97"/>
              <p:cNvSpPr txBox="1"/>
              <p:nvPr/>
            </p:nvSpPr>
            <p:spPr>
              <a:xfrm>
                <a:off x="5904950" y="216083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63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文字方塊 98"/>
              <p:cNvSpPr txBox="1"/>
              <p:nvPr/>
            </p:nvSpPr>
            <p:spPr>
              <a:xfrm>
                <a:off x="6282298" y="216083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69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文字方塊 99"/>
              <p:cNvSpPr txBox="1"/>
              <p:nvPr/>
            </p:nvSpPr>
            <p:spPr>
              <a:xfrm>
                <a:off x="5892830" y="2560549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文字方塊 100"/>
              <p:cNvSpPr txBox="1"/>
              <p:nvPr/>
            </p:nvSpPr>
            <p:spPr>
              <a:xfrm>
                <a:off x="6333976" y="2560549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2" name="群組 101"/>
            <p:cNvGrpSpPr/>
            <p:nvPr/>
          </p:nvGrpSpPr>
          <p:grpSpPr>
            <a:xfrm>
              <a:off x="8267582" y="5364000"/>
              <a:ext cx="758650" cy="799829"/>
              <a:chOff x="5904950" y="2160830"/>
              <a:chExt cx="758650" cy="799829"/>
            </a:xfrm>
          </p:grpSpPr>
          <p:sp>
            <p:nvSpPr>
              <p:cNvPr id="103" name="矩形 102"/>
              <p:cNvSpPr/>
              <p:nvPr/>
            </p:nvSpPr>
            <p:spPr>
              <a:xfrm>
                <a:off x="5943600" y="2200940"/>
                <a:ext cx="720000" cy="72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4" name="直線接點 103"/>
              <p:cNvCxnSpPr>
                <a:stCxn id="103" idx="1"/>
                <a:endCxn id="103" idx="3"/>
              </p:cNvCxnSpPr>
              <p:nvPr/>
            </p:nvCxnSpPr>
            <p:spPr>
              <a:xfrm>
                <a:off x="5943600" y="2560940"/>
                <a:ext cx="720000" cy="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接點 104"/>
              <p:cNvCxnSpPr>
                <a:stCxn id="103" idx="0"/>
                <a:endCxn id="103" idx="2"/>
              </p:cNvCxnSpPr>
              <p:nvPr/>
            </p:nvCxnSpPr>
            <p:spPr>
              <a:xfrm>
                <a:off x="6303600" y="2200940"/>
                <a:ext cx="0" cy="72000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文字方塊 105"/>
              <p:cNvSpPr txBox="1"/>
              <p:nvPr/>
            </p:nvSpPr>
            <p:spPr>
              <a:xfrm>
                <a:off x="5904950" y="216083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77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文字方塊 107"/>
              <p:cNvSpPr txBox="1"/>
              <p:nvPr/>
            </p:nvSpPr>
            <p:spPr>
              <a:xfrm>
                <a:off x="5967261" y="2560549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0" name="群組 109"/>
            <p:cNvGrpSpPr/>
            <p:nvPr/>
          </p:nvGrpSpPr>
          <p:grpSpPr>
            <a:xfrm>
              <a:off x="4292158" y="3652932"/>
              <a:ext cx="818494" cy="799829"/>
              <a:chOff x="5904950" y="2160830"/>
              <a:chExt cx="818494" cy="799829"/>
            </a:xfrm>
          </p:grpSpPr>
          <p:sp>
            <p:nvSpPr>
              <p:cNvPr id="111" name="矩形 110"/>
              <p:cNvSpPr/>
              <p:nvPr/>
            </p:nvSpPr>
            <p:spPr>
              <a:xfrm>
                <a:off x="5943600" y="2200940"/>
                <a:ext cx="720000" cy="72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12" name="直線接點 111"/>
              <p:cNvCxnSpPr>
                <a:stCxn id="111" idx="1"/>
                <a:endCxn id="111" idx="3"/>
              </p:cNvCxnSpPr>
              <p:nvPr/>
            </p:nvCxnSpPr>
            <p:spPr>
              <a:xfrm>
                <a:off x="5943600" y="2560940"/>
                <a:ext cx="720000" cy="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線接點 112"/>
              <p:cNvCxnSpPr>
                <a:stCxn id="111" idx="0"/>
                <a:endCxn id="111" idx="2"/>
              </p:cNvCxnSpPr>
              <p:nvPr/>
            </p:nvCxnSpPr>
            <p:spPr>
              <a:xfrm>
                <a:off x="6303600" y="2200940"/>
                <a:ext cx="0" cy="72000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文字方塊 113"/>
              <p:cNvSpPr txBox="1"/>
              <p:nvPr/>
            </p:nvSpPr>
            <p:spPr>
              <a:xfrm>
                <a:off x="5904950" y="216083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文字方塊 114"/>
              <p:cNvSpPr txBox="1"/>
              <p:nvPr/>
            </p:nvSpPr>
            <p:spPr>
              <a:xfrm>
                <a:off x="6282298" y="216083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文字方塊 115"/>
              <p:cNvSpPr txBox="1"/>
              <p:nvPr/>
            </p:nvSpPr>
            <p:spPr>
              <a:xfrm>
                <a:off x="5967261" y="2560549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文字方塊 116"/>
              <p:cNvSpPr txBox="1"/>
              <p:nvPr/>
            </p:nvSpPr>
            <p:spPr>
              <a:xfrm>
                <a:off x="6270178" y="2560549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8" name="群組 117"/>
            <p:cNvGrpSpPr/>
            <p:nvPr/>
          </p:nvGrpSpPr>
          <p:grpSpPr>
            <a:xfrm>
              <a:off x="6300253" y="3652932"/>
              <a:ext cx="758650" cy="799829"/>
              <a:chOff x="5904950" y="2160830"/>
              <a:chExt cx="758650" cy="799829"/>
            </a:xfrm>
          </p:grpSpPr>
          <p:sp>
            <p:nvSpPr>
              <p:cNvPr id="119" name="矩形 118"/>
              <p:cNvSpPr/>
              <p:nvPr/>
            </p:nvSpPr>
            <p:spPr>
              <a:xfrm>
                <a:off x="5943600" y="2200940"/>
                <a:ext cx="720000" cy="72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20" name="直線接點 119"/>
              <p:cNvCxnSpPr>
                <a:stCxn id="119" idx="1"/>
                <a:endCxn id="119" idx="3"/>
              </p:cNvCxnSpPr>
              <p:nvPr/>
            </p:nvCxnSpPr>
            <p:spPr>
              <a:xfrm>
                <a:off x="5943600" y="2560940"/>
                <a:ext cx="720000" cy="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接點 120"/>
              <p:cNvCxnSpPr>
                <a:stCxn id="119" idx="0"/>
                <a:endCxn id="119" idx="2"/>
              </p:cNvCxnSpPr>
              <p:nvPr/>
            </p:nvCxnSpPr>
            <p:spPr>
              <a:xfrm>
                <a:off x="6303600" y="2200940"/>
                <a:ext cx="0" cy="72000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文字方塊 121"/>
              <p:cNvSpPr txBox="1"/>
              <p:nvPr/>
            </p:nvSpPr>
            <p:spPr>
              <a:xfrm>
                <a:off x="5904950" y="216083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47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4" name="文字方塊 123"/>
              <p:cNvSpPr txBox="1"/>
              <p:nvPr/>
            </p:nvSpPr>
            <p:spPr>
              <a:xfrm>
                <a:off x="5967261" y="2560549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7" name="群組 126"/>
            <p:cNvGrpSpPr/>
            <p:nvPr/>
          </p:nvGrpSpPr>
          <p:grpSpPr>
            <a:xfrm>
              <a:off x="7883499" y="3653127"/>
              <a:ext cx="758650" cy="799829"/>
              <a:chOff x="5904950" y="2160830"/>
              <a:chExt cx="758650" cy="799829"/>
            </a:xfrm>
          </p:grpSpPr>
          <p:sp>
            <p:nvSpPr>
              <p:cNvPr id="128" name="矩形 127"/>
              <p:cNvSpPr/>
              <p:nvPr/>
            </p:nvSpPr>
            <p:spPr>
              <a:xfrm>
                <a:off x="5943600" y="2200940"/>
                <a:ext cx="720000" cy="72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29" name="直線接點 128"/>
              <p:cNvCxnSpPr>
                <a:stCxn id="128" idx="1"/>
                <a:endCxn id="128" idx="3"/>
              </p:cNvCxnSpPr>
              <p:nvPr/>
            </p:nvCxnSpPr>
            <p:spPr>
              <a:xfrm>
                <a:off x="5943600" y="2560940"/>
                <a:ext cx="720000" cy="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接點 129"/>
              <p:cNvCxnSpPr>
                <a:stCxn id="128" idx="0"/>
                <a:endCxn id="128" idx="2"/>
              </p:cNvCxnSpPr>
              <p:nvPr/>
            </p:nvCxnSpPr>
            <p:spPr>
              <a:xfrm>
                <a:off x="6303600" y="2200940"/>
                <a:ext cx="0" cy="72000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文字方塊 130"/>
              <p:cNvSpPr txBox="1"/>
              <p:nvPr/>
            </p:nvSpPr>
            <p:spPr>
              <a:xfrm>
                <a:off x="5904950" y="2160830"/>
                <a:ext cx="441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" name="文字方塊 131"/>
              <p:cNvSpPr txBox="1"/>
              <p:nvPr/>
            </p:nvSpPr>
            <p:spPr>
              <a:xfrm>
                <a:off x="5967261" y="2560549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33" name="直線單箭頭接點 132"/>
            <p:cNvCxnSpPr/>
            <p:nvPr/>
          </p:nvCxnSpPr>
          <p:spPr>
            <a:xfrm flipH="1">
              <a:off x="4669507" y="2803977"/>
              <a:ext cx="1668850" cy="88926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單箭頭接點 135"/>
            <p:cNvCxnSpPr>
              <a:stCxn id="10" idx="2"/>
            </p:cNvCxnSpPr>
            <p:nvPr/>
          </p:nvCxnSpPr>
          <p:spPr>
            <a:xfrm>
              <a:off x="6688270" y="2803977"/>
              <a:ext cx="10633" cy="88926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/>
            <p:nvPr/>
          </p:nvCxnSpPr>
          <p:spPr>
            <a:xfrm>
              <a:off x="7031553" y="2803977"/>
              <a:ext cx="1227163" cy="88926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111" idx="2"/>
            </p:cNvCxnSpPr>
            <p:nvPr/>
          </p:nvCxnSpPr>
          <p:spPr>
            <a:xfrm>
              <a:off x="4690808" y="4413042"/>
              <a:ext cx="10597" cy="99106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線單箭頭接點 144"/>
            <p:cNvCxnSpPr/>
            <p:nvPr/>
          </p:nvCxnSpPr>
          <p:spPr>
            <a:xfrm>
              <a:off x="5050809" y="4413042"/>
              <a:ext cx="426522" cy="99106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/>
            <p:nvPr/>
          </p:nvCxnSpPr>
          <p:spPr>
            <a:xfrm flipH="1">
              <a:off x="3904177" y="4413042"/>
              <a:ext cx="426631" cy="99106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單箭頭接點 151"/>
            <p:cNvCxnSpPr/>
            <p:nvPr/>
          </p:nvCxnSpPr>
          <p:spPr>
            <a:xfrm flipH="1">
              <a:off x="6289620" y="4410109"/>
              <a:ext cx="62347" cy="994001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單箭頭接點 153"/>
            <p:cNvCxnSpPr>
              <a:stCxn id="119" idx="2"/>
            </p:cNvCxnSpPr>
            <p:nvPr/>
          </p:nvCxnSpPr>
          <p:spPr>
            <a:xfrm>
              <a:off x="6698903" y="4413042"/>
              <a:ext cx="383553" cy="99106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線單箭頭接點 156"/>
            <p:cNvCxnSpPr/>
            <p:nvPr/>
          </p:nvCxnSpPr>
          <p:spPr>
            <a:xfrm flipH="1">
              <a:off x="7867741" y="4413237"/>
              <a:ext cx="62347" cy="994001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線單箭頭接點 157"/>
            <p:cNvCxnSpPr/>
            <p:nvPr/>
          </p:nvCxnSpPr>
          <p:spPr>
            <a:xfrm>
              <a:off x="8282679" y="4410109"/>
              <a:ext cx="383553" cy="99106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800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</a:t>
            </a:r>
            <a:r>
              <a:rPr lang="zh-TW" altLang="en-US" dirty="0"/>
              <a:t>樹索引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2026/04/15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搜尋效率</a:t>
            </a:r>
            <a:endParaRPr lang="en-US" altLang="zh-TW" dirty="0"/>
          </a:p>
          <a:p>
            <a:pPr lvl="1"/>
            <a:r>
              <a:rPr lang="en-US" altLang="zh-TW" i="1" dirty="0"/>
              <a:t>m</a:t>
            </a:r>
            <a:r>
              <a:rPr lang="zh-TW" altLang="en-US" dirty="0"/>
              <a:t>元</a:t>
            </a:r>
            <a:r>
              <a:rPr lang="en-US" altLang="zh-TW" dirty="0"/>
              <a:t>B</a:t>
            </a:r>
            <a:r>
              <a:rPr lang="zh-TW" altLang="en-US" dirty="0"/>
              <a:t>樹高度為</a:t>
            </a:r>
            <a:r>
              <a:rPr lang="en-US" altLang="zh-TW" dirty="0"/>
              <a:t>O(</a:t>
            </a:r>
            <a:r>
              <a:rPr lang="en-US" altLang="zh-TW" dirty="0" err="1"/>
              <a:t>log</a:t>
            </a:r>
            <a:r>
              <a:rPr lang="en-US" altLang="zh-TW" i="1" baseline="-25000" dirty="0" err="1"/>
              <a:t>m</a:t>
            </a:r>
            <a:r>
              <a:rPr lang="en-US" altLang="zh-TW" i="1" dirty="0" err="1"/>
              <a:t>n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效率為</a:t>
            </a:r>
            <a:r>
              <a:rPr lang="en-US" altLang="zh-TW" dirty="0"/>
              <a:t>O(</a:t>
            </a:r>
            <a:r>
              <a:rPr lang="en-US" altLang="zh-TW" dirty="0" err="1"/>
              <a:t>log</a:t>
            </a:r>
            <a:r>
              <a:rPr lang="en-US" altLang="zh-TW" i="1" baseline="-25000" dirty="0" err="1"/>
              <a:t>m</a:t>
            </a:r>
            <a:r>
              <a:rPr lang="en-US" altLang="zh-TW" i="1" dirty="0" err="1"/>
              <a:t>n</a:t>
            </a:r>
            <a:r>
              <a:rPr lang="en-US" altLang="zh-TW" dirty="0"/>
              <a:t>) = O(</a:t>
            </a:r>
            <a:r>
              <a:rPr lang="en-US" altLang="zh-TW" dirty="0" err="1"/>
              <a:t>lg</a:t>
            </a:r>
            <a:r>
              <a:rPr lang="en-US" altLang="zh-TW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整理效率</a:t>
            </a:r>
            <a:endParaRPr lang="en-US" altLang="zh-TW" dirty="0"/>
          </a:p>
          <a:p>
            <a:pPr lvl="1"/>
            <a:r>
              <a:rPr lang="zh-TW" altLang="en-US" dirty="0"/>
              <a:t>插入或刪除：</a:t>
            </a:r>
            <a:r>
              <a:rPr lang="en-US" altLang="zh-TW" dirty="0"/>
              <a:t> O(</a:t>
            </a:r>
            <a:r>
              <a:rPr lang="en-US" altLang="zh-TW" dirty="0" err="1"/>
              <a:t>log</a:t>
            </a:r>
            <a:r>
              <a:rPr lang="en-US" altLang="zh-TW" i="1" baseline="-25000" dirty="0" err="1"/>
              <a:t>m</a:t>
            </a:r>
            <a:r>
              <a:rPr lang="en-US" altLang="zh-TW" i="1" dirty="0" err="1"/>
              <a:t>n</a:t>
            </a:r>
            <a:r>
              <a:rPr lang="en-US" altLang="zh-TW" dirty="0"/>
              <a:t>) = O(</a:t>
            </a:r>
            <a:r>
              <a:rPr lang="en-US" altLang="zh-TW" dirty="0" err="1"/>
              <a:t>lg</a:t>
            </a:r>
            <a:r>
              <a:rPr lang="en-US" altLang="zh-TW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應用場合</a:t>
            </a:r>
            <a:endParaRPr lang="en-US" altLang="zh-TW" dirty="0"/>
          </a:p>
          <a:p>
            <a:pPr lvl="1"/>
            <a:r>
              <a:rPr lang="zh-TW" altLang="en-US" dirty="0"/>
              <a:t>與二元搜尋樹相同</a:t>
            </a:r>
            <a:endParaRPr lang="en-US" altLang="zh-TW" dirty="0"/>
          </a:p>
          <a:p>
            <a:pPr lvl="1"/>
            <a:r>
              <a:rPr lang="zh-TW" altLang="en-US" dirty="0"/>
              <a:t>建立、動態維護與搜尋的代價，都比二元搜尋樹小</a:t>
            </a:r>
            <a:endParaRPr lang="en-US" altLang="zh-TW" dirty="0"/>
          </a:p>
          <a:p>
            <a:pPr lvl="1"/>
            <a:r>
              <a:rPr lang="zh-TW" altLang="en-US" dirty="0"/>
              <a:t>同樣資料量，</a:t>
            </a:r>
            <a:r>
              <a:rPr lang="en-US" altLang="zh-TW" dirty="0"/>
              <a:t>B</a:t>
            </a:r>
            <a:r>
              <a:rPr lang="zh-TW" altLang="en-US" dirty="0"/>
              <a:t>樹高度小於二元搜尋樹的高度</a:t>
            </a:r>
          </a:p>
        </p:txBody>
      </p:sp>
    </p:spTree>
    <p:extLst>
      <p:ext uri="{BB962C8B-B14F-4D97-AF65-F5344CB8AC3E}">
        <p14:creationId xmlns:p14="http://schemas.microsoft.com/office/powerpoint/2010/main" val="2866760862"/>
      </p:ext>
    </p:extLst>
  </p:cSld>
  <p:clrMapOvr>
    <a:masterClrMapping/>
  </p:clrMapOvr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14351</TotalTime>
  <Words>3906</Words>
  <Application>Microsoft Office PowerPoint</Application>
  <PresentationFormat>如螢幕大小 (4:3)</PresentationFormat>
  <Paragraphs>1234</Paragraphs>
  <Slides>36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3" baseType="lpstr">
      <vt:lpstr>標楷體</vt:lpstr>
      <vt:lpstr>Arial</vt:lpstr>
      <vt:lpstr>Calibri</vt:lpstr>
      <vt:lpstr>Cambria Math</vt:lpstr>
      <vt:lpstr>Monotype Corsiva</vt:lpstr>
      <vt:lpstr>Times New Roman</vt:lpstr>
      <vt:lpstr>NCKU3</vt:lpstr>
      <vt:lpstr>DATA STRUCTURES 資料結構</vt:lpstr>
      <vt:lpstr>搜尋及定義 (1/5)</vt:lpstr>
      <vt:lpstr>搜尋及定義 (2/5)</vt:lpstr>
      <vt:lpstr>搜尋及定義 (3/5)</vt:lpstr>
      <vt:lpstr>搜尋及定義 (4/5)</vt:lpstr>
      <vt:lpstr>搜尋及定義 (5/5)</vt:lpstr>
      <vt:lpstr>循序搜尋法 sequential search</vt:lpstr>
      <vt:lpstr>二分搜尋法 binary search (1/6)</vt:lpstr>
      <vt:lpstr>二分搜尋法 binary search (2/6)</vt:lpstr>
      <vt:lpstr>二分搜尋法 binary search (3/6)</vt:lpstr>
      <vt:lpstr>二分搜尋法 binary search (4/6)</vt:lpstr>
      <vt:lpstr>二分搜尋法 binary search (5/6)</vt:lpstr>
      <vt:lpstr>二分搜尋法 binary search (6/6)</vt:lpstr>
      <vt:lpstr>雜湊法 Hashing</vt:lpstr>
      <vt:lpstr>除法 division method</vt:lpstr>
      <vt:lpstr>平方取中法 midsquare method</vt:lpstr>
      <vt:lpstr>位數分析法 digit analysis method</vt:lpstr>
      <vt:lpstr>摺疊法 folding method</vt:lpstr>
      <vt:lpstr>解決碰撞的方法</vt:lpstr>
      <vt:lpstr>線性探測 linear probing</vt:lpstr>
      <vt:lpstr>重雜湊 rehashing</vt:lpstr>
      <vt:lpstr>分別鏈結法 separate chaining</vt:lpstr>
      <vt:lpstr>內插搜尋法 interpolation search (1/7)</vt:lpstr>
      <vt:lpstr>內插搜尋法 interpolation search (2/7)</vt:lpstr>
      <vt:lpstr>內插搜尋法 interpolation search (3/7)</vt:lpstr>
      <vt:lpstr>內插搜尋法 interpolation search (4/7)</vt:lpstr>
      <vt:lpstr>內插搜尋法 interpolation search (5/7)</vt:lpstr>
      <vt:lpstr>內插搜尋法 interpolation search (6/7)</vt:lpstr>
      <vt:lpstr>內插搜尋法 interpolation search (7/7)</vt:lpstr>
      <vt:lpstr>直接索引 (1/3)</vt:lpstr>
      <vt:lpstr>直接索引 (2/3)</vt:lpstr>
      <vt:lpstr>直接索引 (3/3)</vt:lpstr>
      <vt:lpstr>二元搜尋樹索引 (1/2)</vt:lpstr>
      <vt:lpstr>二元搜尋樹索引 (2/2)</vt:lpstr>
      <vt:lpstr>B樹索引 (1/2)</vt:lpstr>
      <vt:lpstr>B樹索引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李佳衛</cp:lastModifiedBy>
  <cp:revision>103</cp:revision>
  <cp:lastPrinted>2022-09-24T09:12:24Z</cp:lastPrinted>
  <dcterms:created xsi:type="dcterms:W3CDTF">2018-01-10T03:26:15Z</dcterms:created>
  <dcterms:modified xsi:type="dcterms:W3CDTF">2026-04-08T10:52:52Z</dcterms:modified>
</cp:coreProperties>
</file>